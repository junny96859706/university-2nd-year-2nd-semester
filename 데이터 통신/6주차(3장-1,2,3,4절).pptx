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8"/>
  </p:notesMasterIdLst>
  <p:sldIdLst>
    <p:sldId id="256" r:id="rId2"/>
    <p:sldId id="273" r:id="rId3"/>
    <p:sldId id="278" r:id="rId4"/>
    <p:sldId id="311" r:id="rId5"/>
    <p:sldId id="310" r:id="rId6"/>
    <p:sldId id="312" r:id="rId7"/>
    <p:sldId id="313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58" r:id="rId17"/>
    <p:sldId id="324" r:id="rId18"/>
    <p:sldId id="325" r:id="rId19"/>
    <p:sldId id="326" r:id="rId20"/>
    <p:sldId id="360" r:id="rId21"/>
    <p:sldId id="359" r:id="rId22"/>
    <p:sldId id="329" r:id="rId23"/>
    <p:sldId id="334" r:id="rId24"/>
    <p:sldId id="335" r:id="rId25"/>
    <p:sldId id="336" r:id="rId26"/>
    <p:sldId id="337" r:id="rId27"/>
    <p:sldId id="338" r:id="rId28"/>
    <p:sldId id="339" r:id="rId29"/>
    <p:sldId id="340" r:id="rId30"/>
    <p:sldId id="341" r:id="rId31"/>
    <p:sldId id="342" r:id="rId32"/>
    <p:sldId id="343" r:id="rId33"/>
    <p:sldId id="344" r:id="rId34"/>
    <p:sldId id="345" r:id="rId35"/>
    <p:sldId id="346" r:id="rId36"/>
    <p:sldId id="347" r:id="rId37"/>
    <p:sldId id="348" r:id="rId38"/>
    <p:sldId id="349" r:id="rId39"/>
    <p:sldId id="350" r:id="rId40"/>
    <p:sldId id="351" r:id="rId41"/>
    <p:sldId id="352" r:id="rId42"/>
    <p:sldId id="353" r:id="rId43"/>
    <p:sldId id="354" r:id="rId44"/>
    <p:sldId id="355" r:id="rId45"/>
    <p:sldId id="361" r:id="rId46"/>
    <p:sldId id="357" r:id="rId47"/>
  </p:sldIdLst>
  <p:sldSz cx="12192000" cy="6858000"/>
  <p:notesSz cx="6858000" cy="9144000"/>
  <p:embeddedFontLst>
    <p:embeddedFont>
      <p:font typeface="ＭＳ Ｐゴシック" panose="020B0600070205080204" pitchFamily="34" charset="-128"/>
      <p:regular r:id="rId49"/>
    </p:embeddedFont>
    <p:embeddedFont>
      <p:font typeface="넥슨Lv1고딕" panose="020B0604020202020204" charset="-127"/>
      <p:regular r:id="rId50"/>
    </p:embeddedFont>
    <p:embeddedFont>
      <p:font typeface="넥슨Lv1고딕 Bold" panose="020B0604020202020204" charset="-127"/>
      <p:bold r:id="rId5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1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8983"/>
    <a:srgbClr val="105BA0"/>
    <a:srgbClr val="F27037"/>
    <a:srgbClr val="DF177A"/>
    <a:srgbClr val="83C4C1"/>
    <a:srgbClr val="BDD7EE"/>
    <a:srgbClr val="E1ECF7"/>
    <a:srgbClr val="D0F1F0"/>
    <a:srgbClr val="F2FBFB"/>
    <a:srgbClr val="F8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3252" autoAdjust="0"/>
  </p:normalViewPr>
  <p:slideViewPr>
    <p:cSldViewPr snapToGrid="0">
      <p:cViewPr varScale="1">
        <p:scale>
          <a:sx n="89" d="100"/>
          <a:sy n="89" d="100"/>
        </p:scale>
        <p:origin x="470" y="72"/>
      </p:cViewPr>
      <p:guideLst>
        <p:guide pos="61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E140C150-30F4-4EB8-A68E-9542B6266399}" type="datetimeFigureOut">
              <a:rPr lang="ko-KR" altLang="en-US" smtClean="0"/>
              <a:pPr/>
              <a:t>2026-10-15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83CE925C-F659-44E3-9F87-D3B4F55FEB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924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922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Best-effort</a:t>
            </a:r>
            <a:r>
              <a:rPr lang="ko-KR" altLang="en-US" dirty="0"/>
              <a:t>는 </a:t>
            </a:r>
            <a:r>
              <a:rPr lang="ko-KR" altLang="en-US" dirty="0" err="1"/>
              <a:t>좋은게</a:t>
            </a:r>
            <a:r>
              <a:rPr lang="ko-KR" altLang="en-US" dirty="0"/>
              <a:t> 아니다</a:t>
            </a:r>
            <a:r>
              <a:rPr lang="en-US" altLang="ko-KR" dirty="0"/>
              <a:t>!!!!(</a:t>
            </a:r>
            <a:r>
              <a:rPr lang="ko-KR" altLang="en-US" dirty="0"/>
              <a:t>그냥 최선만 </a:t>
            </a:r>
            <a:r>
              <a:rPr lang="ko-KR" altLang="en-US" dirty="0" err="1"/>
              <a:t>다한다는것</a:t>
            </a:r>
            <a:r>
              <a:rPr lang="ko-KR" altLang="en-US" dirty="0"/>
              <a:t> </a:t>
            </a:r>
            <a:r>
              <a:rPr lang="en-US" altLang="ko-KR" dirty="0"/>
              <a:t>ex)</a:t>
            </a:r>
            <a:r>
              <a:rPr lang="ko-KR" altLang="en-US" dirty="0" err="1"/>
              <a:t>주식열심히</a:t>
            </a:r>
            <a:r>
              <a:rPr lang="ko-KR" altLang="en-US" dirty="0"/>
              <a:t> </a:t>
            </a:r>
            <a:r>
              <a:rPr lang="ko-KR" altLang="en-US" dirty="0" err="1"/>
              <a:t>한다했지만</a:t>
            </a:r>
            <a:r>
              <a:rPr lang="ko-KR" altLang="en-US" dirty="0"/>
              <a:t> 돈 다 잃음</a:t>
            </a:r>
            <a:r>
              <a:rPr lang="en-US" altLang="ko-KR" dirty="0"/>
              <a:t>;;; 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199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cs typeface="+mn-cs"/>
              </a:rPr>
              <a:t>Kurose and Ross forgot to say anything about wrapping the carry and adding it to low order bit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833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700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165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044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8E58B23-F003-438F-9390-0AE2D7CD0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텍스트 개체 틀 19">
            <a:extLst>
              <a:ext uri="{FF2B5EF4-FFF2-40B4-BE49-F238E27FC236}">
                <a16:creationId xmlns:a16="http://schemas.microsoft.com/office/drawing/2014/main" id="{86EBB590-FEE8-401E-8EA0-BCE5353BDCD0}"/>
              </a:ext>
            </a:extLst>
          </p:cNvPr>
          <p:cNvSpPr txBox="1">
            <a:spLocks/>
          </p:cNvSpPr>
          <p:nvPr/>
        </p:nvSpPr>
        <p:spPr>
          <a:xfrm>
            <a:off x="846203" y="2397206"/>
            <a:ext cx="5249797" cy="114492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ko-KR" altLang="en-US" sz="6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66CC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  <a:sym typeface="Arial"/>
              </a:rPr>
              <a:t>데이터</a:t>
            </a:r>
            <a:r>
              <a:rPr lang="ko-KR" altLang="en-US" sz="6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  <a:sym typeface="Arial"/>
              </a:rPr>
              <a:t>통신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EC8F8-3EF6-4B10-A06F-EC62C7E0CD3E}"/>
              </a:ext>
            </a:extLst>
          </p:cNvPr>
          <p:cNvSpPr txBox="1"/>
          <p:nvPr/>
        </p:nvSpPr>
        <p:spPr>
          <a:xfrm>
            <a:off x="846203" y="5458844"/>
            <a:ext cx="3851275" cy="39395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atinLnBrk="1">
              <a:lnSpc>
                <a:spcPct val="130000"/>
              </a:lnSpc>
              <a:spcBef>
                <a:spcPts val="600"/>
              </a:spcBef>
              <a:defRPr/>
            </a:pP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한성대학교 </a:t>
            </a: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황 호 영 </a:t>
            </a: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교수 </a:t>
            </a:r>
          </a:p>
        </p:txBody>
      </p:sp>
      <p:pic>
        <p:nvPicPr>
          <p:cNvPr id="12" name="그림 11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84D97AAB-4486-4F3F-86BE-841ABC35D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202" y="770137"/>
            <a:ext cx="1068323" cy="422954"/>
          </a:xfrm>
          <a:prstGeom prst="rect">
            <a:avLst/>
          </a:prstGeom>
        </p:spPr>
      </p:pic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7B09D02F-4765-492A-A03F-2CC73DC21629}"/>
              </a:ext>
            </a:extLst>
          </p:cNvPr>
          <p:cNvSpPr/>
          <p:nvPr/>
        </p:nvSpPr>
        <p:spPr>
          <a:xfrm>
            <a:off x="561974" y="2337557"/>
            <a:ext cx="354331" cy="354331"/>
          </a:xfrm>
          <a:custGeom>
            <a:avLst/>
            <a:gdLst>
              <a:gd name="connsiteX0" fmla="*/ 0 w 646331"/>
              <a:gd name="connsiteY0" fmla="*/ 0 h 646331"/>
              <a:gd name="connsiteX1" fmla="*/ 646331 w 646331"/>
              <a:gd name="connsiteY1" fmla="*/ 0 h 646331"/>
              <a:gd name="connsiteX2" fmla="*/ 646331 w 646331"/>
              <a:gd name="connsiteY2" fmla="*/ 278601 h 646331"/>
              <a:gd name="connsiteX3" fmla="*/ 323165 w 646331"/>
              <a:gd name="connsiteY3" fmla="*/ 278601 h 646331"/>
              <a:gd name="connsiteX4" fmla="*/ 323165 w 646331"/>
              <a:gd name="connsiteY4" fmla="*/ 646331 h 646331"/>
              <a:gd name="connsiteX5" fmla="*/ 0 w 646331"/>
              <a:gd name="connsiteY5" fmla="*/ 646331 h 646331"/>
              <a:gd name="connsiteX0" fmla="*/ 323165 w 646331"/>
              <a:gd name="connsiteY0" fmla="*/ 278601 h 646331"/>
              <a:gd name="connsiteX1" fmla="*/ 323165 w 646331"/>
              <a:gd name="connsiteY1" fmla="*/ 646331 h 646331"/>
              <a:gd name="connsiteX2" fmla="*/ 0 w 646331"/>
              <a:gd name="connsiteY2" fmla="*/ 646331 h 646331"/>
              <a:gd name="connsiteX3" fmla="*/ 0 w 646331"/>
              <a:gd name="connsiteY3" fmla="*/ 0 h 646331"/>
              <a:gd name="connsiteX4" fmla="*/ 646331 w 646331"/>
              <a:gd name="connsiteY4" fmla="*/ 0 h 646331"/>
              <a:gd name="connsiteX5" fmla="*/ 646331 w 646331"/>
              <a:gd name="connsiteY5" fmla="*/ 278601 h 646331"/>
              <a:gd name="connsiteX6" fmla="*/ 414605 w 646331"/>
              <a:gd name="connsiteY6" fmla="*/ 370041 h 646331"/>
              <a:gd name="connsiteX0" fmla="*/ 323165 w 646331"/>
              <a:gd name="connsiteY0" fmla="*/ 278601 h 646331"/>
              <a:gd name="connsiteX1" fmla="*/ 323165 w 646331"/>
              <a:gd name="connsiteY1" fmla="*/ 646331 h 646331"/>
              <a:gd name="connsiteX2" fmla="*/ 0 w 646331"/>
              <a:gd name="connsiteY2" fmla="*/ 646331 h 646331"/>
              <a:gd name="connsiteX3" fmla="*/ 0 w 646331"/>
              <a:gd name="connsiteY3" fmla="*/ 0 h 646331"/>
              <a:gd name="connsiteX4" fmla="*/ 646331 w 646331"/>
              <a:gd name="connsiteY4" fmla="*/ 0 h 646331"/>
              <a:gd name="connsiteX5" fmla="*/ 646331 w 646331"/>
              <a:gd name="connsiteY5" fmla="*/ 278601 h 646331"/>
              <a:gd name="connsiteX0" fmla="*/ 323165 w 646331"/>
              <a:gd name="connsiteY0" fmla="*/ 646331 h 646331"/>
              <a:gd name="connsiteX1" fmla="*/ 0 w 646331"/>
              <a:gd name="connsiteY1" fmla="*/ 646331 h 646331"/>
              <a:gd name="connsiteX2" fmla="*/ 0 w 646331"/>
              <a:gd name="connsiteY2" fmla="*/ 0 h 646331"/>
              <a:gd name="connsiteX3" fmla="*/ 646331 w 646331"/>
              <a:gd name="connsiteY3" fmla="*/ 0 h 646331"/>
              <a:gd name="connsiteX4" fmla="*/ 646331 w 646331"/>
              <a:gd name="connsiteY4" fmla="*/ 278601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6331" h="646331">
                <a:moveTo>
                  <a:pt x="323165" y="646331"/>
                </a:moveTo>
                <a:lnTo>
                  <a:pt x="0" y="646331"/>
                </a:lnTo>
                <a:lnTo>
                  <a:pt x="0" y="0"/>
                </a:lnTo>
                <a:lnTo>
                  <a:pt x="646331" y="0"/>
                </a:lnTo>
                <a:lnTo>
                  <a:pt x="646331" y="278601"/>
                </a:lnTo>
              </a:path>
            </a:pathLst>
          </a:custGeom>
          <a:noFill/>
          <a:ln w="28575"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latinLnBrk="0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406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98E84835-0DF2-4DD9-A283-A656C61EAB8C}"/>
              </a:ext>
            </a:extLst>
          </p:cNvPr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74EBD87E-3A54-41C8-9F34-AED9EBD1CB9B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B23F09C4-A7CA-4012-8905-5AEF03E222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7625" b="570"/>
              <a:stretch/>
            </p:blipFill>
            <p:spPr>
              <a:xfrm>
                <a:off x="0" y="0"/>
                <a:ext cx="12192000" cy="2867025"/>
              </a:xfrm>
              <a:prstGeom prst="rect">
                <a:avLst/>
              </a:prstGeom>
            </p:spPr>
          </p:pic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6BDC9A2E-AA5F-4680-A3C9-D6DD489125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472" b="8334"/>
              <a:stretch/>
            </p:blipFill>
            <p:spPr>
              <a:xfrm>
                <a:off x="0" y="2867025"/>
                <a:ext cx="12192000" cy="3990975"/>
              </a:xfrm>
              <a:prstGeom prst="rect">
                <a:avLst/>
              </a:prstGeom>
            </p:spPr>
          </p:pic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DF38D8D-6B96-4687-9813-B6F30BDFF1A1}"/>
                </a:ext>
              </a:extLst>
            </p:cNvPr>
            <p:cNvSpPr/>
            <p:nvPr/>
          </p:nvSpPr>
          <p:spPr>
            <a:xfrm flipH="1">
              <a:off x="0" y="0"/>
              <a:ext cx="12189534" cy="6858001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95000"/>
                    <a:lumOff val="5000"/>
                    <a:alpha val="65000"/>
                  </a:schemeClr>
                </a:gs>
                <a:gs pos="100000">
                  <a:srgbClr val="09C9A9">
                    <a:alpha val="86000"/>
                  </a:srgbClr>
                </a:gs>
                <a:gs pos="76000">
                  <a:srgbClr val="00AFEF">
                    <a:alpha val="80000"/>
                  </a:srgbClr>
                </a:gs>
                <a:gs pos="42000">
                  <a:srgbClr val="0058A2">
                    <a:alpha val="51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endParaRPr>
            </a:p>
          </p:txBody>
        </p:sp>
      </p:grp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5F0A33CB-60D6-4F92-BEB3-7CA6E3DF02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1pPr>
            <a:lvl2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2pPr>
            <a:lvl3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3pPr>
            <a:lvl4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4pPr>
            <a:lvl5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</a:t>
            </a:r>
            <a:r>
              <a:rPr lang="ko-KR" altLang="en-US"/>
              <a:t>편집하려면 클릭</a:t>
            </a:r>
            <a:endParaRPr lang="ko-KR" altLang="en-US" dirty="0"/>
          </a:p>
        </p:txBody>
      </p:sp>
      <p:pic>
        <p:nvPicPr>
          <p:cNvPr id="18" name="그림 17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104391FA-D3E0-4D50-B6D1-6871FE0B13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492" y="357964"/>
            <a:ext cx="904917" cy="358261"/>
          </a:xfrm>
          <a:prstGeom prst="rect">
            <a:avLst/>
          </a:prstGeom>
        </p:spPr>
      </p:pic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95E1FDB4-6084-4885-9561-CE889B62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>
            <a:lvl1pPr algn="l">
              <a:defRPr lang="ko-KR" altLang="en-US" sz="800" kern="120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Times New Roman"/>
              </a:defRPr>
            </a:lvl1pPr>
          </a:lstStyle>
          <a:p>
            <a:fld id="{F1F9D73E-270F-475A-B1DB-D9B489A24756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66FD91E-E9A9-4A78-A932-60E362AB8C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2900" y="828676"/>
            <a:ext cx="11510246" cy="57551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651E18-9580-41DF-9CB3-892837D9F4EE}"/>
              </a:ext>
            </a:extLst>
          </p:cNvPr>
          <p:cNvSpPr txBox="1"/>
          <p:nvPr userDrawn="1"/>
        </p:nvSpPr>
        <p:spPr>
          <a:xfrm>
            <a:off x="696915" y="6166170"/>
            <a:ext cx="6113504" cy="323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lvl="3" indent="-144000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ko-KR" altLang="en-US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*출처 </a:t>
            </a:r>
            <a:r>
              <a:rPr lang="en-US" altLang="ko-KR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 『Computer Networking : A Top Down  Approach Eighth Edition』 </a:t>
            </a:r>
          </a:p>
          <a:p>
            <a:pPr marL="144000" lvl="3" indent="-144000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en-US" altLang="ko-KR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© All material copyright 1996-2016 J.F Kurose and K.W. Ross,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132321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59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그룹 69">
            <a:extLst>
              <a:ext uri="{FF2B5EF4-FFF2-40B4-BE49-F238E27FC236}">
                <a16:creationId xmlns:a16="http://schemas.microsoft.com/office/drawing/2014/main" id="{D418C24D-CC88-4BC0-957E-0F8F8C78A2AC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B3B77CFE-DABC-4859-BAEC-3077D0B8EB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625" b="570"/>
            <a:stretch/>
          </p:blipFill>
          <p:spPr>
            <a:xfrm>
              <a:off x="0" y="0"/>
              <a:ext cx="12192000" cy="2867025"/>
            </a:xfrm>
            <a:prstGeom prst="rect">
              <a:avLst/>
            </a:prstGeom>
          </p:spPr>
        </p:pic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E42761C8-18CA-4130-B2F4-62F40C4D2D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472" b="8334"/>
            <a:stretch/>
          </p:blipFill>
          <p:spPr>
            <a:xfrm>
              <a:off x="0" y="2867025"/>
              <a:ext cx="12192000" cy="3990975"/>
            </a:xfrm>
            <a:prstGeom prst="rect">
              <a:avLst/>
            </a:prstGeom>
          </p:spPr>
        </p:pic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526B65B-B533-49E0-844F-3A380A12D9EA}"/>
              </a:ext>
            </a:extLst>
          </p:cNvPr>
          <p:cNvSpPr/>
          <p:nvPr/>
        </p:nvSpPr>
        <p:spPr>
          <a:xfrm flipH="1">
            <a:off x="0" y="0"/>
            <a:ext cx="12189534" cy="6858001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65000"/>
                </a:schemeClr>
              </a:gs>
              <a:gs pos="100000">
                <a:srgbClr val="09C9A9">
                  <a:alpha val="86000"/>
                </a:srgbClr>
              </a:gs>
              <a:gs pos="76000">
                <a:srgbClr val="00AFEF">
                  <a:alpha val="80000"/>
                </a:srgbClr>
              </a:gs>
              <a:gs pos="42000">
                <a:srgbClr val="0058A2">
                  <a:alpha val="51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 Bold" panose="00000800000000000000" pitchFamily="2" charset="-127"/>
              <a:ea typeface="넥슨Lv1고딕 Bold" panose="00000800000000000000" pitchFamily="2" charset="-127"/>
              <a:cs typeface="+mn-cs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CD982A44-53CC-437A-B1F2-363FE9109416}"/>
              </a:ext>
            </a:extLst>
          </p:cNvPr>
          <p:cNvGrpSpPr/>
          <p:nvPr/>
        </p:nvGrpSpPr>
        <p:grpSpPr>
          <a:xfrm>
            <a:off x="7029061" y="187414"/>
            <a:ext cx="5194689" cy="656355"/>
            <a:chOff x="7199219" y="187414"/>
            <a:chExt cx="5046121" cy="656355"/>
          </a:xfrm>
        </p:grpSpPr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2154770F-0A7B-41FD-A565-0836865DDE4E}"/>
                </a:ext>
              </a:extLst>
            </p:cNvPr>
            <p:cNvSpPr/>
            <p:nvPr/>
          </p:nvSpPr>
          <p:spPr>
            <a:xfrm>
              <a:off x="7540777" y="187414"/>
              <a:ext cx="4704563" cy="436126"/>
            </a:xfrm>
            <a:custGeom>
              <a:avLst/>
              <a:gdLst>
                <a:gd name="connsiteX0" fmla="*/ 265745 w 4547246"/>
                <a:gd name="connsiteY0" fmla="*/ 0 h 419100"/>
                <a:gd name="connsiteX1" fmla="*/ 995371 w 4547246"/>
                <a:gd name="connsiteY1" fmla="*/ 0 h 419100"/>
                <a:gd name="connsiteX2" fmla="*/ 1436134 w 4547246"/>
                <a:gd name="connsiteY2" fmla="*/ 0 h 419100"/>
                <a:gd name="connsiteX3" fmla="*/ 2165760 w 4547246"/>
                <a:gd name="connsiteY3" fmla="*/ 0 h 419100"/>
                <a:gd name="connsiteX4" fmla="*/ 2379395 w 4547246"/>
                <a:gd name="connsiteY4" fmla="*/ 0 h 419100"/>
                <a:gd name="connsiteX5" fmla="*/ 3109021 w 4547246"/>
                <a:gd name="connsiteY5" fmla="*/ 0 h 419100"/>
                <a:gd name="connsiteX6" fmla="*/ 3817620 w 4547246"/>
                <a:gd name="connsiteY6" fmla="*/ 0 h 419100"/>
                <a:gd name="connsiteX7" fmla="*/ 4547246 w 4547246"/>
                <a:gd name="connsiteY7" fmla="*/ 0 h 419100"/>
                <a:gd name="connsiteX8" fmla="*/ 4547246 w 4547246"/>
                <a:gd name="connsiteY8" fmla="*/ 419100 h 419100"/>
                <a:gd name="connsiteX9" fmla="*/ 3817620 w 4547246"/>
                <a:gd name="connsiteY9" fmla="*/ 419100 h 419100"/>
                <a:gd name="connsiteX10" fmla="*/ 2165760 w 4547246"/>
                <a:gd name="connsiteY10" fmla="*/ 419100 h 419100"/>
                <a:gd name="connsiteX11" fmla="*/ 1436134 w 4547246"/>
                <a:gd name="connsiteY11" fmla="*/ 419100 h 419100"/>
                <a:gd name="connsiteX12" fmla="*/ 1436134 w 4547246"/>
                <a:gd name="connsiteY12" fmla="*/ 417862 h 419100"/>
                <a:gd name="connsiteX13" fmla="*/ 729626 w 4547246"/>
                <a:gd name="connsiteY13" fmla="*/ 417862 h 419100"/>
                <a:gd name="connsiteX14" fmla="*/ 0 w 4547246"/>
                <a:gd name="connsiteY14" fmla="*/ 417862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547246" h="419100">
                  <a:moveTo>
                    <a:pt x="265745" y="0"/>
                  </a:moveTo>
                  <a:lnTo>
                    <a:pt x="995371" y="0"/>
                  </a:lnTo>
                  <a:lnTo>
                    <a:pt x="1436134" y="0"/>
                  </a:lnTo>
                  <a:lnTo>
                    <a:pt x="2165760" y="0"/>
                  </a:lnTo>
                  <a:lnTo>
                    <a:pt x="2379395" y="0"/>
                  </a:lnTo>
                  <a:lnTo>
                    <a:pt x="3109021" y="0"/>
                  </a:lnTo>
                  <a:lnTo>
                    <a:pt x="3817620" y="0"/>
                  </a:lnTo>
                  <a:lnTo>
                    <a:pt x="4547246" y="0"/>
                  </a:lnTo>
                  <a:lnTo>
                    <a:pt x="4547246" y="419100"/>
                  </a:lnTo>
                  <a:lnTo>
                    <a:pt x="3817620" y="419100"/>
                  </a:lnTo>
                  <a:lnTo>
                    <a:pt x="2165760" y="419100"/>
                  </a:lnTo>
                  <a:lnTo>
                    <a:pt x="1436134" y="419100"/>
                  </a:lnTo>
                  <a:lnTo>
                    <a:pt x="1436134" y="417862"/>
                  </a:lnTo>
                  <a:lnTo>
                    <a:pt x="729626" y="417862"/>
                  </a:lnTo>
                  <a:lnTo>
                    <a:pt x="0" y="417862"/>
                  </a:lnTo>
                  <a:close/>
                </a:path>
              </a:pathLst>
            </a:custGeom>
            <a:gradFill>
              <a:gsLst>
                <a:gs pos="0">
                  <a:srgbClr val="CAD3DC"/>
                </a:gs>
                <a:gs pos="68000">
                  <a:srgbClr val="EDF0F3"/>
                </a:gs>
                <a:gs pos="100000">
                  <a:schemeClr val="bg1"/>
                </a:gs>
              </a:gsLst>
              <a:lin ang="5400000" scaled="1"/>
            </a:gra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AE9A2CA9-A205-4255-9267-D4309E033CC6}"/>
                </a:ext>
              </a:extLst>
            </p:cNvPr>
            <p:cNvSpPr/>
            <p:nvPr/>
          </p:nvSpPr>
          <p:spPr>
            <a:xfrm>
              <a:off x="7199219" y="267834"/>
              <a:ext cx="5046120" cy="575935"/>
            </a:xfrm>
            <a:custGeom>
              <a:avLst/>
              <a:gdLst>
                <a:gd name="connsiteX0" fmla="*/ 336567 w 5046120"/>
                <a:gd name="connsiteY0" fmla="*/ 0 h 575935"/>
                <a:gd name="connsiteX1" fmla="*/ 1216719 w 5046120"/>
                <a:gd name="connsiteY1" fmla="*/ 0 h 575935"/>
                <a:gd name="connsiteX2" fmla="*/ 1818865 w 5046120"/>
                <a:gd name="connsiteY2" fmla="*/ 0 h 575935"/>
                <a:gd name="connsiteX3" fmla="*/ 2699017 w 5046120"/>
                <a:gd name="connsiteY3" fmla="*/ 0 h 575935"/>
                <a:gd name="connsiteX4" fmla="*/ 3013506 w 5046120"/>
                <a:gd name="connsiteY4" fmla="*/ 0 h 575935"/>
                <a:gd name="connsiteX5" fmla="*/ 3893658 w 5046120"/>
                <a:gd name="connsiteY5" fmla="*/ 0 h 575935"/>
                <a:gd name="connsiteX6" fmla="*/ 4835020 w 5046120"/>
                <a:gd name="connsiteY6" fmla="*/ 0 h 575935"/>
                <a:gd name="connsiteX7" fmla="*/ 5046120 w 5046120"/>
                <a:gd name="connsiteY7" fmla="*/ 0 h 575935"/>
                <a:gd name="connsiteX8" fmla="*/ 5046120 w 5046120"/>
                <a:gd name="connsiteY8" fmla="*/ 575935 h 575935"/>
                <a:gd name="connsiteX9" fmla="*/ 4835020 w 5046120"/>
                <a:gd name="connsiteY9" fmla="*/ 575935 h 575935"/>
                <a:gd name="connsiteX10" fmla="*/ 2699017 w 5046120"/>
                <a:gd name="connsiteY10" fmla="*/ 575935 h 575935"/>
                <a:gd name="connsiteX11" fmla="*/ 1818865 w 5046120"/>
                <a:gd name="connsiteY11" fmla="*/ 575935 h 575935"/>
                <a:gd name="connsiteX12" fmla="*/ 1818865 w 5046120"/>
                <a:gd name="connsiteY12" fmla="*/ 574234 h 575935"/>
                <a:gd name="connsiteX13" fmla="*/ 880153 w 5046120"/>
                <a:gd name="connsiteY13" fmla="*/ 574234 h 575935"/>
                <a:gd name="connsiteX14" fmla="*/ 0 w 5046120"/>
                <a:gd name="connsiteY14" fmla="*/ 574234 h 575935"/>
                <a:gd name="connsiteX15" fmla="*/ 336567 w 5046120"/>
                <a:gd name="connsiteY15" fmla="*/ 0 h 5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046120" h="575935">
                  <a:moveTo>
                    <a:pt x="336567" y="0"/>
                  </a:moveTo>
                  <a:lnTo>
                    <a:pt x="1216719" y="0"/>
                  </a:lnTo>
                  <a:lnTo>
                    <a:pt x="1818865" y="0"/>
                  </a:lnTo>
                  <a:lnTo>
                    <a:pt x="2699017" y="0"/>
                  </a:lnTo>
                  <a:lnTo>
                    <a:pt x="3013506" y="0"/>
                  </a:lnTo>
                  <a:lnTo>
                    <a:pt x="3893658" y="0"/>
                  </a:lnTo>
                  <a:lnTo>
                    <a:pt x="4835020" y="0"/>
                  </a:lnTo>
                  <a:lnTo>
                    <a:pt x="5046120" y="0"/>
                  </a:lnTo>
                  <a:lnTo>
                    <a:pt x="5046120" y="575935"/>
                  </a:lnTo>
                  <a:lnTo>
                    <a:pt x="4835020" y="575935"/>
                  </a:lnTo>
                  <a:lnTo>
                    <a:pt x="2699017" y="575935"/>
                  </a:lnTo>
                  <a:lnTo>
                    <a:pt x="1818865" y="575935"/>
                  </a:lnTo>
                  <a:lnTo>
                    <a:pt x="1818865" y="574234"/>
                  </a:lnTo>
                  <a:lnTo>
                    <a:pt x="880153" y="574234"/>
                  </a:lnTo>
                  <a:lnTo>
                    <a:pt x="0" y="574234"/>
                  </a:lnTo>
                  <a:lnTo>
                    <a:pt x="336567" y="0"/>
                  </a:lnTo>
                  <a:close/>
                </a:path>
              </a:pathLst>
            </a:custGeom>
            <a:gradFill>
              <a:gsLst>
                <a:gs pos="32000">
                  <a:srgbClr val="EDF0F3"/>
                </a:gs>
                <a:gs pos="100000">
                  <a:schemeClr val="bg1"/>
                </a:gs>
              </a:gsLst>
              <a:lin ang="5400000" scaled="1"/>
            </a:gra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pic>
        <p:nvPicPr>
          <p:cNvPr id="75" name="그림 74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FCA79763-5F57-4F6F-B6F4-E6BC8E9AF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660" y="392547"/>
            <a:ext cx="904918" cy="35826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419D1B3F-476C-4A72-B5FB-4FB156D7CB7A}"/>
              </a:ext>
            </a:extLst>
          </p:cNvPr>
          <p:cNvSpPr txBox="1"/>
          <p:nvPr/>
        </p:nvSpPr>
        <p:spPr>
          <a:xfrm>
            <a:off x="7449340" y="426823"/>
            <a:ext cx="31706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Chapter 3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트랜스포트 계층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157300C3-1155-49E7-9A80-E2A1FD129979}"/>
              </a:ext>
            </a:extLst>
          </p:cNvPr>
          <p:cNvCxnSpPr/>
          <p:nvPr/>
        </p:nvCxnSpPr>
        <p:spPr>
          <a:xfrm>
            <a:off x="10693542" y="440813"/>
            <a:ext cx="0" cy="279797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텍스트 개체 틀 25">
            <a:extLst>
              <a:ext uri="{FF2B5EF4-FFF2-40B4-BE49-F238E27FC236}">
                <a16:creationId xmlns:a16="http://schemas.microsoft.com/office/drawing/2014/main" id="{185B5DF7-1CC0-4AEC-B4B5-50A9AFD059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7038331" cy="4889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0" dirty="0" smtClean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defRPr>
            </a:lvl1pPr>
            <a:lvl2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2pPr>
            <a:lvl3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3pPr>
            <a:lvl4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4pPr>
            <a:lvl5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D9EB6305-F0F6-4138-906E-FA19AC5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>
            <a:lvl1pPr algn="l">
              <a:defRPr lang="ko-KR" altLang="en-US" sz="800" kern="120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Times New Roman"/>
              </a:defRPr>
            </a:lvl1pPr>
          </a:lstStyle>
          <a:p>
            <a:fld id="{F1F9D73E-270F-475A-B1DB-D9B489A24756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2BAA3B7-9251-44F2-B84D-DBA0CFF48C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2900" y="828675"/>
            <a:ext cx="11882134" cy="60355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9C727D4-D598-4747-AA1E-625BCD4AAC8C}"/>
              </a:ext>
            </a:extLst>
          </p:cNvPr>
          <p:cNvSpPr txBox="1"/>
          <p:nvPr userDrawn="1"/>
        </p:nvSpPr>
        <p:spPr>
          <a:xfrm>
            <a:off x="658813" y="6413303"/>
            <a:ext cx="6113504" cy="3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lvl="3" indent="-144000" algn="l" defTabSz="914400" rtl="0" eaLnBrk="1" latinLnBrk="1" hangingPunct="1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ko-KR" altLang="en-US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*출처 </a:t>
            </a:r>
            <a:r>
              <a:rPr lang="en-US" altLang="ko-KR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:  『Computer Networking : A Top Down  Approach Eighth Edition』 </a:t>
            </a:r>
          </a:p>
          <a:p>
            <a:pPr marL="144000" lvl="3" indent="-144000" algn="l" defTabSz="914400" rtl="0" eaLnBrk="1" latinLnBrk="1" hangingPunct="1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en-US" altLang="ko-KR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© All material copyright 1996-2016 J.F Kurose and K.W. Ross,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5617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61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756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36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5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5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2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microsoft.com/office/2007/relationships/hdphoto" Target="../media/hdphoto2.wdp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microsoft.com/office/2007/relationships/hdphoto" Target="../media/hdphoto2.wdp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microsoft.com/office/2007/relationships/hdphoto" Target="../media/hdphoto3.wdp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Relationship Id="rId4" Type="http://schemas.microsoft.com/office/2007/relationships/hdphoto" Target="../media/hdphoto3.wdp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047945F8-6079-4A77-8827-8D891FF7F40B}"/>
              </a:ext>
            </a:extLst>
          </p:cNvPr>
          <p:cNvGrpSpPr/>
          <p:nvPr/>
        </p:nvGrpSpPr>
        <p:grpSpPr>
          <a:xfrm>
            <a:off x="818582" y="3564481"/>
            <a:ext cx="1327718" cy="351599"/>
            <a:chOff x="880493" y="3554956"/>
            <a:chExt cx="1630298" cy="351599"/>
          </a:xfrm>
        </p:grpSpPr>
        <p:sp>
          <p:nvSpPr>
            <p:cNvPr id="15" name="사각형: 잘린 대각선 방향 모서리 14">
              <a:extLst>
                <a:ext uri="{FF2B5EF4-FFF2-40B4-BE49-F238E27FC236}">
                  <a16:creationId xmlns:a16="http://schemas.microsoft.com/office/drawing/2014/main" id="{5DC8F214-0E99-4614-BFA2-E88E4BD9962A}"/>
                </a:ext>
              </a:extLst>
            </p:cNvPr>
            <p:cNvSpPr/>
            <p:nvPr/>
          </p:nvSpPr>
          <p:spPr bwMode="auto">
            <a:xfrm>
              <a:off x="880493" y="3554956"/>
              <a:ext cx="1630298" cy="351599"/>
            </a:xfrm>
            <a:prstGeom prst="snip2DiagRect">
              <a:avLst>
                <a:gd name="adj1" fmla="val 0"/>
                <a:gd name="adj2" fmla="val 23443"/>
              </a:avLst>
            </a:prstGeom>
            <a:solidFill>
              <a:srgbClr val="47FFD1">
                <a:alpha val="90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넥슨Lv1고딕 Bold" panose="00000800000000000000" pitchFamily="2" charset="-127"/>
                <a:ea typeface="굴림" pitchFamily="50" charset="-127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AC3E2ECC-989E-4137-85AD-EDA2E7C21B7D}"/>
                </a:ext>
              </a:extLst>
            </p:cNvPr>
            <p:cNvSpPr txBox="1">
              <a:spLocks/>
            </p:cNvSpPr>
            <p:nvPr/>
          </p:nvSpPr>
          <p:spPr>
            <a:xfrm>
              <a:off x="983123" y="3609623"/>
              <a:ext cx="1425038" cy="253916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>
                <a:lnSpc>
                  <a:spcPct val="110000"/>
                </a:lnSpc>
                <a:spcBef>
                  <a:spcPts val="600"/>
                </a:spcBef>
              </a:pPr>
              <a:r>
                <a:rPr lang="en-US" altLang="ko-KR" sz="1500" b="0" spc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81846"/>
                  </a:solidFill>
                  <a:effectLst/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Microsoft GothicNeo" panose="020B0503020000020004" pitchFamily="34" charset="-127"/>
                </a:rPr>
                <a:t>Chapter 3</a:t>
              </a:r>
              <a:endParaRPr lang="ko-KR" altLang="en-US" sz="1500" b="0" spc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81846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0DB3BC5-EF37-4421-A7D9-CA29AAD5DC6B}"/>
              </a:ext>
            </a:extLst>
          </p:cNvPr>
          <p:cNvSpPr txBox="1"/>
          <p:nvPr/>
        </p:nvSpPr>
        <p:spPr>
          <a:xfrm>
            <a:off x="2189092" y="3483502"/>
            <a:ext cx="4391731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ko-KR" altLang="en-US" sz="2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트랜스포트 계층</a:t>
            </a:r>
            <a:endParaRPr lang="en-US" altLang="ko-KR" sz="22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47FFD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83625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F8B570B3-2060-4160-B7DE-609613E55785}"/>
              </a:ext>
            </a:extLst>
          </p:cNvPr>
          <p:cNvGrpSpPr/>
          <p:nvPr/>
        </p:nvGrpSpPr>
        <p:grpSpPr>
          <a:xfrm>
            <a:off x="4280829" y="2703831"/>
            <a:ext cx="1976873" cy="3685564"/>
            <a:chOff x="4280829" y="2703831"/>
            <a:chExt cx="1976873" cy="3685564"/>
          </a:xfrm>
        </p:grpSpPr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4F83B2EF-920E-4BF2-85D5-004664915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6419">
              <a:off x="4453825" y="5890524"/>
              <a:ext cx="1803877" cy="498871"/>
            </a:xfrm>
            <a:prstGeom prst="rect">
              <a:avLst/>
            </a:prstGeom>
          </p:spPr>
        </p:pic>
        <p:pic>
          <p:nvPicPr>
            <p:cNvPr id="5" name="그림 4" descr="텍스트이(가) 표시된 사진&#10;&#10;자동 생성된 설명">
              <a:extLst>
                <a:ext uri="{FF2B5EF4-FFF2-40B4-BE49-F238E27FC236}">
                  <a16:creationId xmlns:a16="http://schemas.microsoft.com/office/drawing/2014/main" id="{6DE10CC6-BABE-4BC5-914F-0F9734B89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0829" y="2703831"/>
              <a:ext cx="1970681" cy="3434420"/>
            </a:xfrm>
            <a:prstGeom prst="rect">
              <a:avLst/>
            </a:prstGeom>
          </p:spPr>
        </p:pic>
      </p:grp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8B39ABA6-A20C-459C-8A96-A6AB51FBD2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r>
              <a:rPr lang="en-US" altLang="ko-KR"/>
              <a:t>PowerPoint </a:t>
            </a:r>
            <a:r>
              <a:rPr lang="ko-KR" altLang="en-US"/>
              <a:t>슬라이드 사용에 대한 참고 사항</a:t>
            </a:r>
          </a:p>
        </p:txBody>
      </p:sp>
      <p:sp>
        <p:nvSpPr>
          <p:cNvPr id="51" name="Text Box 6">
            <a:extLst>
              <a:ext uri="{FF2B5EF4-FFF2-40B4-BE49-F238E27FC236}">
                <a16:creationId xmlns:a16="http://schemas.microsoft.com/office/drawing/2014/main" id="{E673632B-4D7C-4C62-88E3-96251C0B1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1037991"/>
            <a:ext cx="5378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4579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 note on the use of these Powerpoint slides</a:t>
            </a:r>
          </a:p>
        </p:txBody>
      </p:sp>
      <p:sp>
        <p:nvSpPr>
          <p:cNvPr id="52" name="Text Box 7">
            <a:extLst>
              <a:ext uri="{FF2B5EF4-FFF2-40B4-BE49-F238E27FC236}">
                <a16:creationId xmlns:a16="http://schemas.microsoft.com/office/drawing/2014/main" id="{0FAFB9CF-D695-484E-9829-67CFF9C51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68" y="2762425"/>
            <a:ext cx="3533511" cy="1705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If you use these slides (e.g., in a class) that you mention their source (after all, we’d like people to use our book!)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If you post any slides on a www site, that you note that they are adapted from (or perhaps identical to) our slides, and note our copyright of this material.</a:t>
            </a:r>
          </a:p>
        </p:txBody>
      </p:sp>
      <p:sp>
        <p:nvSpPr>
          <p:cNvPr id="53" name="Text Box 6">
            <a:extLst>
              <a:ext uri="{FF2B5EF4-FFF2-40B4-BE49-F238E27FC236}">
                <a16:creationId xmlns:a16="http://schemas.microsoft.com/office/drawing/2014/main" id="{35CA874C-8DA5-4CE5-B63D-12B407B1F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1483831"/>
            <a:ext cx="7434262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We’re making these slides freely available to all (faculty, students, readers). </a:t>
            </a:r>
            <a:b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</a:b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They’re in PowerPoint form so you see the animations; and can add, modify, and delete slides  (including this one) and slide content to suit your needs. They obviously represent a lot of work on our part. In return for use, we only ask the following:</a:t>
            </a:r>
          </a:p>
        </p:txBody>
      </p:sp>
      <p:sp>
        <p:nvSpPr>
          <p:cNvPr id="54" name="Text Box 7">
            <a:extLst>
              <a:ext uri="{FF2B5EF4-FFF2-40B4-BE49-F238E27FC236}">
                <a16:creationId xmlns:a16="http://schemas.microsoft.com/office/drawing/2014/main" id="{F963933E-20EA-4687-9354-CE391FB95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4893230"/>
            <a:ext cx="4541837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</a:pPr>
            <a:r>
              <a:rPr lang="en-US" altLang="ko-KR" sz="9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Thanks and enjoy!  JFK/KWR</a:t>
            </a:r>
          </a:p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</a:pPr>
            <a:endParaRPr lang="en-US" altLang="ko-KR" sz="9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25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  <a:cs typeface="+mj-cs"/>
            </a:endParaRPr>
          </a:p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</a:pPr>
            <a:r>
              <a:rPr lang="en-US" altLang="ko-KR" sz="9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 © All material copyright 1996-2016</a:t>
            </a:r>
          </a:p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</a:pPr>
            <a:r>
              <a:rPr lang="en-US" altLang="ko-KR" sz="9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J.F Kurose and K.W. Ross, All Rights Reserved</a:t>
            </a:r>
          </a:p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</a:pPr>
            <a:r>
              <a:rPr lang="en-US" altLang="ko-KR" sz="9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Korean translation by K. Park (2018.9.3)</a:t>
            </a:r>
          </a:p>
        </p:txBody>
      </p:sp>
      <p:sp>
        <p:nvSpPr>
          <p:cNvPr id="59" name="Rectangle 4">
            <a:extLst>
              <a:ext uri="{FF2B5EF4-FFF2-40B4-BE49-F238E27FC236}">
                <a16:creationId xmlns:a16="http://schemas.microsoft.com/office/drawing/2014/main" id="{6F6345AF-10DD-4B9C-8A09-B9A2CCA1A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222" y="2762425"/>
            <a:ext cx="2171923" cy="125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4579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Computer Networking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: A Top Down    </a:t>
            </a:r>
            <a:b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</a:b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  Approach </a:t>
            </a:r>
          </a:p>
        </p:txBody>
      </p:sp>
      <p:sp>
        <p:nvSpPr>
          <p:cNvPr id="60" name="Rectangle 4">
            <a:extLst>
              <a:ext uri="{FF2B5EF4-FFF2-40B4-BE49-F238E27FC236}">
                <a16:creationId xmlns:a16="http://schemas.microsoft.com/office/drawing/2014/main" id="{710A088E-FA6E-4D24-89E2-9C049EEC3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222" y="5167550"/>
            <a:ext cx="2097711" cy="633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</a:pPr>
            <a:r>
              <a:rPr lang="en-US" altLang="ko-KR" sz="1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8</a:t>
            </a:r>
            <a:r>
              <a:rPr lang="en-US" altLang="ko-KR" sz="1100" baseline="30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th</a:t>
            </a:r>
            <a:r>
              <a:rPr lang="en-US" altLang="ko-KR" sz="1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 Edition, Global Edition </a:t>
            </a:r>
            <a:br>
              <a:rPr lang="en-US" altLang="ko-KR" sz="1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</a:br>
            <a:r>
              <a:rPr lang="en-US" altLang="ko-KR" sz="1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Jim Kurose, Keith Ross</a:t>
            </a:r>
            <a:br>
              <a:rPr lang="en-US" altLang="ko-KR" sz="1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</a:br>
            <a:r>
              <a:rPr lang="en-US" altLang="ko-KR" sz="1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Pearson, 2022</a:t>
            </a:r>
          </a:p>
        </p:txBody>
      </p:sp>
      <p:pic>
        <p:nvPicPr>
          <p:cNvPr id="19" name="그림 18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6F069480-D57E-428F-AE8E-3B10DAEDE61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492" y="357964"/>
            <a:ext cx="904917" cy="358261"/>
          </a:xfrm>
          <a:prstGeom prst="rect">
            <a:avLst/>
          </a:prstGeom>
        </p:spPr>
      </p:pic>
      <p:sp>
        <p:nvSpPr>
          <p:cNvPr id="13" name="슬라이드 번호 개체 틀 2">
            <a:extLst>
              <a:ext uri="{FF2B5EF4-FFF2-40B4-BE49-F238E27FC236}">
                <a16:creationId xmlns:a16="http://schemas.microsoft.com/office/drawing/2014/main" id="{ECB7C0A2-EB30-4846-AB4B-949F96DB1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</p:spPr>
        <p:txBody>
          <a:bodyPr/>
          <a:lstStyle/>
          <a:p>
            <a:fld id="{F1F9D73E-270F-475A-B1DB-D9B489A24756}" type="slidenum">
              <a:rPr lang="en-US" altLang="ko-KR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044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85FC5E-88D4-4D96-932B-D2573F1D448A}"/>
              </a:ext>
            </a:extLst>
          </p:cNvPr>
          <p:cNvSpPr txBox="1"/>
          <p:nvPr/>
        </p:nvSpPr>
        <p:spPr>
          <a:xfrm>
            <a:off x="1167853" y="1772204"/>
            <a:ext cx="5770332" cy="401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>
              <a:lnSpc>
                <a:spcPct val="120000"/>
              </a:lnSpc>
              <a:spcBef>
                <a:spcPts val="600"/>
              </a:spcBef>
              <a:buClr>
                <a:srgbClr val="0B9D96"/>
              </a:buClr>
              <a:buSzPct val="80000"/>
            </a:pPr>
            <a:r>
              <a:rPr lang="ko-KR" altLang="en-US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트랜스포트 계층 서비스 이면의 원리를 이해한다</a:t>
            </a:r>
            <a:endParaRPr lang="en-US" altLang="ko-KR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006B003-058C-466D-870A-73CAEA8CFC8A}"/>
              </a:ext>
            </a:extLst>
          </p:cNvPr>
          <p:cNvGrpSpPr/>
          <p:nvPr/>
        </p:nvGrpSpPr>
        <p:grpSpPr>
          <a:xfrm>
            <a:off x="947738" y="1880493"/>
            <a:ext cx="171105" cy="171646"/>
            <a:chOff x="1029671" y="3159333"/>
            <a:chExt cx="387927" cy="389152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6A11BE67-B193-49B6-B2E5-D231ECFF91E6}"/>
                </a:ext>
              </a:extLst>
            </p:cNvPr>
            <p:cNvSpPr/>
            <p:nvPr/>
          </p:nvSpPr>
          <p:spPr>
            <a:xfrm>
              <a:off x="1029671" y="3159333"/>
              <a:ext cx="387927" cy="389152"/>
            </a:xfrm>
            <a:prstGeom prst="ellipse">
              <a:avLst/>
            </a:prstGeom>
            <a:solidFill>
              <a:srgbClr val="DCF5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" name="그래픽 40">
              <a:extLst>
                <a:ext uri="{FF2B5EF4-FFF2-40B4-BE49-F238E27FC236}">
                  <a16:creationId xmlns:a16="http://schemas.microsoft.com/office/drawing/2014/main" id="{8C9D2A65-4BC0-4C5B-B7CE-78FDABF1BD39}"/>
                </a:ext>
              </a:extLst>
            </p:cNvPr>
            <p:cNvSpPr/>
            <p:nvPr/>
          </p:nvSpPr>
          <p:spPr>
            <a:xfrm>
              <a:off x="1157596" y="3246355"/>
              <a:ext cx="132078" cy="215105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0BA59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816055-BC11-4805-80C0-E429793CDC24}"/>
              </a:ext>
            </a:extLst>
          </p:cNvPr>
          <p:cNvGrpSpPr/>
          <p:nvPr/>
        </p:nvGrpSpPr>
        <p:grpSpPr>
          <a:xfrm>
            <a:off x="696915" y="1007487"/>
            <a:ext cx="1420800" cy="590566"/>
            <a:chOff x="696915" y="1055112"/>
            <a:chExt cx="1420800" cy="590566"/>
          </a:xfrm>
        </p:grpSpPr>
        <p:sp>
          <p:nvSpPr>
            <p:cNvPr id="13" name="사각형: 잘린 한쪽 모서리 12">
              <a:extLst>
                <a:ext uri="{FF2B5EF4-FFF2-40B4-BE49-F238E27FC236}">
                  <a16:creationId xmlns:a16="http://schemas.microsoft.com/office/drawing/2014/main" id="{06DFC635-F61E-4BD2-86C3-D0407E785AAD}"/>
                </a:ext>
              </a:extLst>
            </p:cNvPr>
            <p:cNvSpPr/>
            <p:nvPr/>
          </p:nvSpPr>
          <p:spPr>
            <a:xfrm>
              <a:off x="923793" y="1143310"/>
              <a:ext cx="1109795" cy="391715"/>
            </a:xfrm>
            <a:prstGeom prst="snip1Rect">
              <a:avLst>
                <a:gd name="adj" fmla="val 26946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4" name="텍스트 개체 틀 19">
              <a:extLst>
                <a:ext uri="{FF2B5EF4-FFF2-40B4-BE49-F238E27FC236}">
                  <a16:creationId xmlns:a16="http://schemas.microsoft.com/office/drawing/2014/main" id="{142B3221-F0A4-4AFA-9949-CEC36559964B}"/>
                </a:ext>
              </a:extLst>
            </p:cNvPr>
            <p:cNvSpPr txBox="1">
              <a:spLocks/>
            </p:cNvSpPr>
            <p:nvPr/>
          </p:nvSpPr>
          <p:spPr>
            <a:xfrm>
              <a:off x="1333507" y="1158376"/>
              <a:ext cx="784208" cy="330283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ko-KR" altLang="en-US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목 표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63FAAE6-9078-4289-9D3E-4091DD811460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6" name="그래픽 15">
              <a:extLst>
                <a:ext uri="{FF2B5EF4-FFF2-40B4-BE49-F238E27FC236}">
                  <a16:creationId xmlns:a16="http://schemas.microsoft.com/office/drawing/2014/main" id="{6ED2069C-2ADD-4EAD-99CA-14F788D89C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E1681892-2909-42EF-B653-9B80F173E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/>
          </p:blipFill>
          <p:spPr>
            <a:xfrm>
              <a:off x="803272" y="1151143"/>
              <a:ext cx="290090" cy="345821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1FF0BEB-34B5-4968-BA9F-6C5AC2A128DE}"/>
              </a:ext>
            </a:extLst>
          </p:cNvPr>
          <p:cNvSpPr txBox="1"/>
          <p:nvPr/>
        </p:nvSpPr>
        <p:spPr>
          <a:xfrm>
            <a:off x="1167853" y="2219393"/>
            <a:ext cx="5770332" cy="148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다중화와 </a:t>
            </a:r>
            <a:r>
              <a:rPr lang="ko-KR" altLang="en-US" sz="16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역다중화</a:t>
            </a:r>
            <a:endParaRPr lang="ko-KR" altLang="en-US" sz="16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신뢰성 있는 데이터 전송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흐름 제어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혼잡 제어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B79DFA-FF55-412F-8A51-7E8DF2F1C18D}"/>
              </a:ext>
            </a:extLst>
          </p:cNvPr>
          <p:cNvSpPr txBox="1"/>
          <p:nvPr/>
        </p:nvSpPr>
        <p:spPr>
          <a:xfrm>
            <a:off x="1167853" y="4005064"/>
            <a:ext cx="5770332" cy="401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>
              <a:lnSpc>
                <a:spcPct val="120000"/>
              </a:lnSpc>
              <a:spcBef>
                <a:spcPts val="600"/>
              </a:spcBef>
              <a:buClr>
                <a:srgbClr val="0B9D96"/>
              </a:buClr>
              <a:buSzPct val="80000"/>
            </a:pPr>
            <a:r>
              <a:rPr lang="ko-KR" altLang="en-US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인터넷 트랜스포트 계층의 프로토콜에 대해 공부한다</a:t>
            </a:r>
            <a:endParaRPr lang="en-US" altLang="ko-KR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0717BE-3F27-4F2A-BEE1-7DF51163F7B7}"/>
              </a:ext>
            </a:extLst>
          </p:cNvPr>
          <p:cNvGrpSpPr/>
          <p:nvPr/>
        </p:nvGrpSpPr>
        <p:grpSpPr>
          <a:xfrm>
            <a:off x="947738" y="4113353"/>
            <a:ext cx="171105" cy="171646"/>
            <a:chOff x="1029671" y="3159333"/>
            <a:chExt cx="387927" cy="389152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8F87B52A-A8BA-45CB-AE95-668D281173B6}"/>
                </a:ext>
              </a:extLst>
            </p:cNvPr>
            <p:cNvSpPr/>
            <p:nvPr/>
          </p:nvSpPr>
          <p:spPr>
            <a:xfrm>
              <a:off x="1029671" y="3159333"/>
              <a:ext cx="387927" cy="389152"/>
            </a:xfrm>
            <a:prstGeom prst="ellipse">
              <a:avLst/>
            </a:prstGeom>
            <a:solidFill>
              <a:srgbClr val="DCF5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2" name="그래픽 40">
              <a:extLst>
                <a:ext uri="{FF2B5EF4-FFF2-40B4-BE49-F238E27FC236}">
                  <a16:creationId xmlns:a16="http://schemas.microsoft.com/office/drawing/2014/main" id="{FF05350D-7FE1-4A30-8FC3-B43649EA96BC}"/>
                </a:ext>
              </a:extLst>
            </p:cNvPr>
            <p:cNvSpPr/>
            <p:nvPr/>
          </p:nvSpPr>
          <p:spPr>
            <a:xfrm>
              <a:off x="1157596" y="3246355"/>
              <a:ext cx="132078" cy="215105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0BA59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423147A-3DCB-4AEF-BD13-2A9225863B89}"/>
              </a:ext>
            </a:extLst>
          </p:cNvPr>
          <p:cNvSpPr txBox="1"/>
          <p:nvPr/>
        </p:nvSpPr>
        <p:spPr>
          <a:xfrm>
            <a:off x="1167853" y="4452253"/>
            <a:ext cx="5770332" cy="1112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UDP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비연결형 트랜스포트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TCP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연결 지향형 트랜스포트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TCP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혼잡 제어</a:t>
            </a:r>
          </a:p>
        </p:txBody>
      </p:sp>
    </p:spTree>
    <p:extLst>
      <p:ext uri="{BB962C8B-B14F-4D97-AF65-F5344CB8AC3E}">
        <p14:creationId xmlns:p14="http://schemas.microsoft.com/office/powerpoint/2010/main" val="271489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56B70-66C1-4257-91C9-928E9E72BC88}"/>
              </a:ext>
            </a:extLst>
          </p:cNvPr>
          <p:cNvSpPr txBox="1"/>
          <p:nvPr/>
        </p:nvSpPr>
        <p:spPr>
          <a:xfrm>
            <a:off x="1419224" y="1642686"/>
            <a:ext cx="6929719" cy="2050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4CEC9-E69E-421B-9909-FB8FF597893D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5FAE1F1-5684-44F6-AD96-1924769FC886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15" name="사각형: 잘린 한쪽 모서리 14">
              <a:extLst>
                <a:ext uri="{FF2B5EF4-FFF2-40B4-BE49-F238E27FC236}">
                  <a16:creationId xmlns:a16="http://schemas.microsoft.com/office/drawing/2014/main" id="{45BF07AB-5618-481B-88AE-44840C0BF85E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D75128DC-39F1-47A6-8422-5C5D55755CB2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B9E0C4D-9091-48C7-8788-DD4EE6D3ED1E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75D824C6-C4C1-411B-B2C5-8F925DBC75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5F07BB2-52EE-4B67-9501-26B04B6F0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9919038-FACA-4050-9E0D-E35026729EAB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537B0C19-077B-4DF4-BC88-DD4DEC98EAD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437D81E-7DCD-4263-8CCA-D229808966D1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B2F48981-DC2F-4C20-B339-6F526A03565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4CC25D0E-9E9E-4DFE-9CD5-3E593667B520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F2503D0-CE94-4C0C-8C5A-983704847607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B0E46BFD-2F5E-4C63-9E95-05495CDECC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신뢰적인 데이터 전달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E4DCAB9-9119-49E3-9574-B4A8E629C41D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49AB4024-624A-4E72-B07F-9A6FFB6DF0A1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1" name="그래픽 40">
                <a:extLst>
                  <a:ext uri="{FF2B5EF4-FFF2-40B4-BE49-F238E27FC236}">
                    <a16:creationId xmlns:a16="http://schemas.microsoft.com/office/drawing/2014/main" id="{36B06E4A-EB8A-47ED-8941-99ACE9006F0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5C07EAC-8D24-43EA-B0F0-13C35DAAE69C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E2A85775-1A87-4190-BAA4-7F5E1BD5B85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흐름 제어</a:t>
              </a: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BA7F596-4541-46AD-9D49-889DC33C5D57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1D4E5F55-AF2A-46AF-BA18-0A25407EF2EB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5" name="그래픽 40">
                <a:extLst>
                  <a:ext uri="{FF2B5EF4-FFF2-40B4-BE49-F238E27FC236}">
                    <a16:creationId xmlns:a16="http://schemas.microsoft.com/office/drawing/2014/main" id="{18003BC0-1F5A-4CEB-92E2-F2C6A9F486F8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3CFC05-AB33-4997-AD91-E29E8F61DDC8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36" name="Rectangle 3">
              <a:extLst>
                <a:ext uri="{FF2B5EF4-FFF2-40B4-BE49-F238E27FC236}">
                  <a16:creationId xmlns:a16="http://schemas.microsoft.com/office/drawing/2014/main" id="{BE142833-0096-4612-9F11-6B2ACBE8C74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 관리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EDF3711-5AC6-4D29-B6DB-AE6E61C79C85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B9ADD2C8-6866-4B04-AB9C-155C1D4DA9D2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9" name="그래픽 40">
                <a:extLst>
                  <a:ext uri="{FF2B5EF4-FFF2-40B4-BE49-F238E27FC236}">
                    <a16:creationId xmlns:a16="http://schemas.microsoft.com/office/drawing/2014/main" id="{A99C57CE-3F76-43D2-8E9D-8B81D1D13D2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E3EF05-8B88-4182-AFCD-9E356DF1F9AA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5C4EEE-4470-4F4F-A28F-0F33549EF48B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01484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>
                <a:cs typeface="+mj-cs"/>
              </a:rPr>
              <a:t>트랜스포트 서비스</a:t>
            </a:r>
            <a:r>
              <a:rPr lang="ko-KR" altLang="en-US" sz="20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와</a:t>
            </a:r>
            <a:r>
              <a:rPr lang="ko-KR" altLang="en-US" sz="2000">
                <a:cs typeface="+mj-cs"/>
              </a:rPr>
              <a:t> </a:t>
            </a:r>
            <a:r>
              <a:rPr lang="ko-KR" altLang="en-US" sz="2000">
                <a:solidFill>
                  <a:schemeClr val="bg1"/>
                </a:solidFill>
                <a:cs typeface="+mj-cs"/>
              </a:rPr>
              <a:t>프로토콜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5</a:t>
            </a:fld>
            <a:endParaRPr 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81A14E4-544A-4E83-AF08-A5FFBD6EF137}"/>
              </a:ext>
            </a:extLst>
          </p:cNvPr>
          <p:cNvGrpSpPr/>
          <p:nvPr/>
        </p:nvGrpSpPr>
        <p:grpSpPr>
          <a:xfrm>
            <a:off x="664920" y="1065581"/>
            <a:ext cx="2972026" cy="5371777"/>
            <a:chOff x="578679" y="1064717"/>
            <a:chExt cx="2972026" cy="5371777"/>
          </a:xfrm>
        </p:grpSpPr>
        <p:sp>
          <p:nvSpPr>
            <p:cNvPr id="5" name="Google Shape;245;p4">
              <a:extLst>
                <a:ext uri="{FF2B5EF4-FFF2-40B4-BE49-F238E27FC236}">
                  <a16:creationId xmlns:a16="http://schemas.microsoft.com/office/drawing/2014/main" id="{7B82589E-4649-41B1-823C-41B7198722FA}"/>
                </a:ext>
              </a:extLst>
            </p:cNvPr>
            <p:cNvSpPr/>
            <p:nvPr/>
          </p:nvSpPr>
          <p:spPr>
            <a:xfrm>
              <a:off x="578679" y="1064717"/>
              <a:ext cx="2972026" cy="5371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6" name="Google Shape;245;p4">
              <a:extLst>
                <a:ext uri="{FF2B5EF4-FFF2-40B4-BE49-F238E27FC236}">
                  <a16:creationId xmlns:a16="http://schemas.microsoft.com/office/drawing/2014/main" id="{F8223F77-8D6F-410B-86F5-7ED3F9982C38}"/>
                </a:ext>
              </a:extLst>
            </p:cNvPr>
            <p:cNvSpPr/>
            <p:nvPr/>
          </p:nvSpPr>
          <p:spPr>
            <a:xfrm>
              <a:off x="685958" y="4836708"/>
              <a:ext cx="2745613" cy="11260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7" name="Google Shape;245;p4">
              <a:extLst>
                <a:ext uri="{FF2B5EF4-FFF2-40B4-BE49-F238E27FC236}">
                  <a16:creationId xmlns:a16="http://schemas.microsoft.com/office/drawing/2014/main" id="{561C7548-A19A-4EFE-9382-0D6042A0F9C6}"/>
                </a:ext>
              </a:extLst>
            </p:cNvPr>
            <p:cNvSpPr/>
            <p:nvPr/>
          </p:nvSpPr>
          <p:spPr>
            <a:xfrm>
              <a:off x="2195173" y="2202009"/>
              <a:ext cx="1280841" cy="80334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8" name="Google Shape;245;p4">
              <a:extLst>
                <a:ext uri="{FF2B5EF4-FFF2-40B4-BE49-F238E27FC236}">
                  <a16:creationId xmlns:a16="http://schemas.microsoft.com/office/drawing/2014/main" id="{E23E6F21-9E16-435C-B7E9-E71893E61D43}"/>
                </a:ext>
              </a:extLst>
            </p:cNvPr>
            <p:cNvSpPr/>
            <p:nvPr/>
          </p:nvSpPr>
          <p:spPr>
            <a:xfrm>
              <a:off x="686275" y="1443737"/>
              <a:ext cx="1514440" cy="881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01C86E00-5504-4293-A170-C8B5796A99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69060" y="2338388"/>
              <a:ext cx="984675" cy="16102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BEA8A06E-C62B-4E22-BDD2-24B8E13C64CB}"/>
                </a:ext>
              </a:extLst>
            </p:cNvPr>
            <p:cNvGrpSpPr/>
            <p:nvPr/>
          </p:nvGrpSpPr>
          <p:grpSpPr>
            <a:xfrm>
              <a:off x="1290550" y="1517650"/>
              <a:ext cx="306852" cy="504850"/>
              <a:chOff x="1159683" y="3308166"/>
              <a:chExt cx="415912" cy="684280"/>
            </a:xfrm>
          </p:grpSpPr>
          <p:pic>
            <p:nvPicPr>
              <p:cNvPr id="80" name="그림 79">
                <a:extLst>
                  <a:ext uri="{FF2B5EF4-FFF2-40B4-BE49-F238E27FC236}">
                    <a16:creationId xmlns:a16="http://schemas.microsoft.com/office/drawing/2014/main" id="{370FD500-78B7-418A-B585-F39B77515A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683" y="3308166"/>
                <a:ext cx="415912" cy="266790"/>
              </a:xfrm>
              <a:prstGeom prst="rect">
                <a:avLst/>
              </a:prstGeom>
            </p:spPr>
          </p:pic>
          <p:pic>
            <p:nvPicPr>
              <p:cNvPr id="81" name="그림 80">
                <a:extLst>
                  <a:ext uri="{FF2B5EF4-FFF2-40B4-BE49-F238E27FC236}">
                    <a16:creationId xmlns:a16="http://schemas.microsoft.com/office/drawing/2014/main" id="{AD8D2905-8DAC-445F-BB93-01CCAE3C81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14729" y="3443786"/>
                <a:ext cx="307465" cy="548660"/>
              </a:xfrm>
              <a:prstGeom prst="rect">
                <a:avLst/>
              </a:prstGeom>
            </p:spPr>
          </p:pic>
        </p:grp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93905BA-7237-470B-947E-FCA4BE763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4536" y="1780238"/>
              <a:ext cx="207997" cy="192081"/>
            </a:xfrm>
            <a:prstGeom prst="rect">
              <a:avLst/>
            </a:prstGeom>
          </p:spPr>
        </p:pic>
        <p:pic>
          <p:nvPicPr>
            <p:cNvPr id="12" name="그림 11" descr="텍스트, 전자기기, 컴퓨터, 노트북이(가) 표시된 사진&#10;&#10;자동 생성된 설명">
              <a:extLst>
                <a:ext uri="{FF2B5EF4-FFF2-40B4-BE49-F238E27FC236}">
                  <a16:creationId xmlns:a16="http://schemas.microsoft.com/office/drawing/2014/main" id="{41D0DF4F-0685-44C1-A972-E23412B0C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7217" y="1801724"/>
              <a:ext cx="363879" cy="349669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1822E48-3755-4F1B-A660-289849499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4537" y="1420060"/>
              <a:ext cx="207997" cy="192081"/>
            </a:xfrm>
            <a:prstGeom prst="rect">
              <a:avLst/>
            </a:prstGeom>
          </p:spPr>
        </p:pic>
        <p:pic>
          <p:nvPicPr>
            <p:cNvPr id="14" name="그림 13" descr="텍스트, 전자기기이(가) 표시된 사진&#10;&#10;자동 생성된 설명">
              <a:extLst>
                <a:ext uri="{FF2B5EF4-FFF2-40B4-BE49-F238E27FC236}">
                  <a16:creationId xmlns:a16="http://schemas.microsoft.com/office/drawing/2014/main" id="{EE8F51F7-9EA2-4B65-B534-5EF44BDA9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060" y="1546217"/>
              <a:ext cx="337826" cy="20507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1463A3D-F10C-43F2-BFA0-B2D4A4014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75837" y="1686998"/>
              <a:ext cx="207997" cy="192081"/>
            </a:xfrm>
            <a:prstGeom prst="rect">
              <a:avLst/>
            </a:prstGeom>
          </p:spPr>
        </p:pic>
        <p:pic>
          <p:nvPicPr>
            <p:cNvPr id="16" name="그림 15" descr="밴이(가) 표시된 사진&#10;&#10;자동 생성된 설명">
              <a:extLst>
                <a:ext uri="{FF2B5EF4-FFF2-40B4-BE49-F238E27FC236}">
                  <a16:creationId xmlns:a16="http://schemas.microsoft.com/office/drawing/2014/main" id="{A789867A-0EB5-4F17-9E5A-A17C12ACB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9963" y="1771952"/>
              <a:ext cx="316295" cy="246275"/>
            </a:xfrm>
            <a:prstGeom prst="rect">
              <a:avLst/>
            </a:prstGeom>
          </p:spPr>
        </p:pic>
        <p:sp>
          <p:nvSpPr>
            <p:cNvPr id="17" name="Line 841">
              <a:extLst>
                <a:ext uri="{FF2B5EF4-FFF2-40B4-BE49-F238E27FC236}">
                  <a16:creationId xmlns:a16="http://schemas.microsoft.com/office/drawing/2014/main" id="{D8A2EF4E-9619-4734-9F14-4CD3F867EB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3977" y="1838518"/>
              <a:ext cx="0" cy="3932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40C5BD2A-FD0F-4527-ABE7-7A3056B88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2947" y="2209218"/>
              <a:ext cx="322060" cy="207948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A4EB0BC2-4939-4B3E-8594-911AE7C39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2229628"/>
              <a:ext cx="307558" cy="198585"/>
            </a:xfrm>
            <a:prstGeom prst="rect">
              <a:avLst/>
            </a:prstGeom>
          </p:spPr>
        </p:pic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C889B315-A6A4-4C1A-8B37-9FE0AB6D5F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1738" y="2355056"/>
              <a:ext cx="318458" cy="992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1240447-6A9E-4DCE-8C9D-FE49238F6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02095" y="2424674"/>
              <a:ext cx="0" cy="35395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259BD1B0-517A-4A13-8BDA-C6CC02673C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467" y="2403428"/>
              <a:ext cx="444207" cy="38368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5C98EF1-AEA2-4113-A59C-E5B3F7B18004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514491" y="2576907"/>
              <a:ext cx="1" cy="12391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FB10E2AE-F412-4E65-9503-AB8242F56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60713" y="2700825"/>
              <a:ext cx="307558" cy="198585"/>
            </a:xfrm>
            <a:prstGeom prst="rect">
              <a:avLst/>
            </a:prstGeom>
          </p:spPr>
        </p:pic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C263725C-7714-4980-8130-BECD284C49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3614" y="2787115"/>
              <a:ext cx="324000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73C8049A-E7BF-4EB6-9E5B-083F8D4EAF4A}"/>
                </a:ext>
              </a:extLst>
            </p:cNvPr>
            <p:cNvGrpSpPr/>
            <p:nvPr/>
          </p:nvGrpSpPr>
          <p:grpSpPr>
            <a:xfrm>
              <a:off x="3140551" y="2787115"/>
              <a:ext cx="245542" cy="0"/>
              <a:chOff x="7865568" y="3042591"/>
              <a:chExt cx="285396" cy="0"/>
            </a:xfrm>
          </p:grpSpPr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C311DD36-7472-414C-9181-14326607F0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65568" y="3042591"/>
                <a:ext cx="164917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BE49321A-D729-47FC-BC1C-297304E7EF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43222" y="3042591"/>
                <a:ext cx="10774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</p:cxnSp>
        </p:grpSp>
        <p:sp>
          <p:nvSpPr>
            <p:cNvPr id="27" name="Google Shape;245;p4">
              <a:extLst>
                <a:ext uri="{FF2B5EF4-FFF2-40B4-BE49-F238E27FC236}">
                  <a16:creationId xmlns:a16="http://schemas.microsoft.com/office/drawing/2014/main" id="{9F6F1E83-2155-41D5-B5E7-188ECBD72FDB}"/>
                </a:ext>
              </a:extLst>
            </p:cNvPr>
            <p:cNvSpPr/>
            <p:nvPr/>
          </p:nvSpPr>
          <p:spPr>
            <a:xfrm>
              <a:off x="2265368" y="3681611"/>
              <a:ext cx="1115051" cy="6572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0B91601A-D774-4DFD-A080-06D128B6E57B}"/>
                </a:ext>
              </a:extLst>
            </p:cNvPr>
            <p:cNvCxnSpPr>
              <a:cxnSpLocks/>
              <a:endCxn id="24" idx="2"/>
            </p:cNvCxnSpPr>
            <p:nvPr/>
          </p:nvCxnSpPr>
          <p:spPr>
            <a:xfrm flipV="1">
              <a:off x="2513646" y="2899410"/>
              <a:ext cx="846" cy="94075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EC3F266-ECD0-4129-BB27-FB005E3DDA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1082" y="3978108"/>
              <a:ext cx="273164" cy="30618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F8F27DF7-27D2-4B06-ACA2-2AEF62A00D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0326" y="3834574"/>
              <a:ext cx="994093" cy="113958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5AB72E84-A820-40FA-92FB-FAAC185B4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0918" y="4094362"/>
              <a:ext cx="307558" cy="198585"/>
            </a:xfrm>
            <a:prstGeom prst="rect">
              <a:avLst/>
            </a:prstGeom>
          </p:spPr>
        </p:pic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C8E8CC3A-C461-4364-BFC0-E7D839000EFF}"/>
                </a:ext>
              </a:extLst>
            </p:cNvPr>
            <p:cNvSpPr/>
            <p:nvPr/>
          </p:nvSpPr>
          <p:spPr>
            <a:xfrm>
              <a:off x="698060" y="2691576"/>
              <a:ext cx="1490843" cy="1096272"/>
            </a:xfrm>
            <a:custGeom>
              <a:avLst/>
              <a:gdLst>
                <a:gd name="connsiteX0" fmla="*/ 1010352 w 2020704"/>
                <a:gd name="connsiteY0" fmla="*/ 0 h 1333262"/>
                <a:gd name="connsiteX1" fmla="*/ 2020704 w 2020704"/>
                <a:gd name="connsiteY1" fmla="*/ 375626 h 1333262"/>
                <a:gd name="connsiteX2" fmla="*/ 1892116 w 2020704"/>
                <a:gd name="connsiteY2" fmla="*/ 375626 h 1333262"/>
                <a:gd name="connsiteX3" fmla="*/ 1892116 w 2020704"/>
                <a:gd name="connsiteY3" fmla="*/ 1333262 h 1333262"/>
                <a:gd name="connsiteX4" fmla="*/ 121542 w 2020704"/>
                <a:gd name="connsiteY4" fmla="*/ 1333262 h 1333262"/>
                <a:gd name="connsiteX5" fmla="*/ 121542 w 2020704"/>
                <a:gd name="connsiteY5" fmla="*/ 375626 h 1333262"/>
                <a:gd name="connsiteX6" fmla="*/ 0 w 2020704"/>
                <a:gd name="connsiteY6" fmla="*/ 375626 h 1333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0704" h="1333262">
                  <a:moveTo>
                    <a:pt x="1010352" y="0"/>
                  </a:moveTo>
                  <a:lnTo>
                    <a:pt x="2020704" y="375626"/>
                  </a:lnTo>
                  <a:lnTo>
                    <a:pt x="1892116" y="375626"/>
                  </a:lnTo>
                  <a:lnTo>
                    <a:pt x="1892116" y="1333262"/>
                  </a:lnTo>
                  <a:lnTo>
                    <a:pt x="121542" y="1333262"/>
                  </a:lnTo>
                  <a:lnTo>
                    <a:pt x="121542" y="375626"/>
                  </a:lnTo>
                  <a:lnTo>
                    <a:pt x="0" y="37562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  <a:sym typeface="Arial"/>
                </a:rPr>
                <a:t>ㅋㅋㅋㅋㅋㅋ</a:t>
              </a: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2E3E9460-00D8-4169-A453-71FC62BC9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7259" y="2872220"/>
              <a:ext cx="207997" cy="192081"/>
            </a:xfrm>
            <a:prstGeom prst="rect">
              <a:avLst/>
            </a:prstGeom>
          </p:spPr>
        </p:pic>
        <p:pic>
          <p:nvPicPr>
            <p:cNvPr id="34" name="그림 33" descr="텍스트, 전자기기, 컴퓨터, 노트북이(가) 표시된 사진&#10;&#10;자동 생성된 설명">
              <a:extLst>
                <a:ext uri="{FF2B5EF4-FFF2-40B4-BE49-F238E27FC236}">
                  <a16:creationId xmlns:a16="http://schemas.microsoft.com/office/drawing/2014/main" id="{76631FF5-47E4-4366-8FA2-94D8207E7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11744" y="2937182"/>
              <a:ext cx="363879" cy="349669"/>
            </a:xfrm>
            <a:prstGeom prst="rect">
              <a:avLst/>
            </a:prstGeom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14C10028-3322-420D-B891-7EA9E937A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2700825"/>
              <a:ext cx="307558" cy="198585"/>
            </a:xfrm>
            <a:prstGeom prst="rect">
              <a:avLst/>
            </a:prstGeom>
          </p:spPr>
        </p:pic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34A5AC27-E7C0-4AE0-BEBC-25F90E8FA521}"/>
                </a:ext>
              </a:extLst>
            </p:cNvPr>
            <p:cNvCxnSpPr>
              <a:cxnSpLocks/>
            </p:cNvCxnSpPr>
            <p:nvPr/>
          </p:nvCxnSpPr>
          <p:spPr>
            <a:xfrm>
              <a:off x="1718938" y="3650079"/>
              <a:ext cx="793184" cy="2424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D725C912-4243-4170-BEFB-02E329D78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97304" y="3788175"/>
              <a:ext cx="307558" cy="198585"/>
            </a:xfrm>
            <a:prstGeom prst="rect">
              <a:avLst/>
            </a:prstGeom>
          </p:spPr>
        </p:pic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D52E5DEF-ECB0-4D0C-AF41-76C8924F52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3712" y="5314600"/>
              <a:ext cx="522092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2BEB2D34-BB81-4455-921A-BC903036DD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4684" y="5400182"/>
              <a:ext cx="0" cy="44897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40" name="그림 39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B83E7612-B2CF-469A-BC57-A88552CC7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4837" y="5055660"/>
              <a:ext cx="207523" cy="447198"/>
            </a:xfrm>
            <a:prstGeom prst="rect">
              <a:avLst/>
            </a:prstGeom>
          </p:spPr>
        </p:pic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34E4D882-A9F0-49D1-8A51-77482B52F3F6}"/>
                </a:ext>
              </a:extLst>
            </p:cNvPr>
            <p:cNvGrpSpPr/>
            <p:nvPr/>
          </p:nvGrpSpPr>
          <p:grpSpPr>
            <a:xfrm>
              <a:off x="2108294" y="5487248"/>
              <a:ext cx="314291" cy="382451"/>
              <a:chOff x="6912474" y="5263962"/>
              <a:chExt cx="422940" cy="514662"/>
            </a:xfrm>
          </p:grpSpPr>
          <p:pic>
            <p:nvPicPr>
              <p:cNvPr id="76" name="그림 75">
                <a:extLst>
                  <a:ext uri="{FF2B5EF4-FFF2-40B4-BE49-F238E27FC236}">
                    <a16:creationId xmlns:a16="http://schemas.microsoft.com/office/drawing/2014/main" id="{BF5A5689-D326-4799-B7EA-C2192891BC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32605" y="5263962"/>
                <a:ext cx="241757" cy="223258"/>
              </a:xfrm>
              <a:prstGeom prst="rect">
                <a:avLst/>
              </a:prstGeom>
            </p:spPr>
          </p:pic>
          <p:pic>
            <p:nvPicPr>
              <p:cNvPr id="77" name="그림 76" descr="텍스트, 전자기기, 컴퓨터, 노트북이(가) 표시된 사진&#10;&#10;자동 생성된 설명">
                <a:extLst>
                  <a:ext uri="{FF2B5EF4-FFF2-40B4-BE49-F238E27FC236}">
                    <a16:creationId xmlns:a16="http://schemas.microsoft.com/office/drawing/2014/main" id="{E71A34CB-E4BB-429D-8B44-D3051DFA4F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6912474" y="5372201"/>
                <a:ext cx="422940" cy="406423"/>
              </a:xfrm>
              <a:prstGeom prst="rect">
                <a:avLst/>
              </a:prstGeom>
            </p:spPr>
          </p:pic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34D52672-4509-46BC-A27C-38E99EB5A3D6}"/>
                </a:ext>
              </a:extLst>
            </p:cNvPr>
            <p:cNvGrpSpPr/>
            <p:nvPr/>
          </p:nvGrpSpPr>
          <p:grpSpPr>
            <a:xfrm>
              <a:off x="2447119" y="5487248"/>
              <a:ext cx="314291" cy="382451"/>
              <a:chOff x="7504476" y="5263962"/>
              <a:chExt cx="422940" cy="514662"/>
            </a:xfrm>
          </p:grpSpPr>
          <p:pic>
            <p:nvPicPr>
              <p:cNvPr id="74" name="그림 73">
                <a:extLst>
                  <a:ext uri="{FF2B5EF4-FFF2-40B4-BE49-F238E27FC236}">
                    <a16:creationId xmlns:a16="http://schemas.microsoft.com/office/drawing/2014/main" id="{4C984C17-1649-4652-BBAA-7780F1D14A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harpenSoften amount="-50000"/>
                        </a14:imgEffect>
                        <a14:imgEffect>
                          <a14:saturation sat="0"/>
                        </a14:imgEffect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24608" y="5263962"/>
                <a:ext cx="241757" cy="223258"/>
              </a:xfrm>
              <a:prstGeom prst="rect">
                <a:avLst/>
              </a:prstGeom>
            </p:spPr>
          </p:pic>
          <p:pic>
            <p:nvPicPr>
              <p:cNvPr id="75" name="그림 74" descr="텍스트, 전자기기, 컴퓨터, 노트북이(가) 표시된 사진&#10;&#10;자동 생성된 설명">
                <a:extLst>
                  <a:ext uri="{FF2B5EF4-FFF2-40B4-BE49-F238E27FC236}">
                    <a16:creationId xmlns:a16="http://schemas.microsoft.com/office/drawing/2014/main" id="{DF4D102D-D397-48A4-8226-A6A9287CE6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504476" y="5372201"/>
                <a:ext cx="422940" cy="406423"/>
              </a:xfrm>
              <a:prstGeom prst="rect">
                <a:avLst/>
              </a:prstGeom>
            </p:spPr>
          </p:pic>
        </p:grpSp>
        <p:pic>
          <p:nvPicPr>
            <p:cNvPr id="43" name="그림 42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B7D0B836-646E-42DD-A0C0-1129ABBC3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5804" y="5055660"/>
              <a:ext cx="207523" cy="447198"/>
            </a:xfrm>
            <a:prstGeom prst="rect">
              <a:avLst/>
            </a:prstGeom>
          </p:spPr>
        </p:pic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BFDE38CD-3FD2-4E39-8E6C-DD121FE30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65140" y="4916930"/>
              <a:ext cx="307558" cy="198585"/>
            </a:xfrm>
            <a:prstGeom prst="rect">
              <a:avLst/>
            </a:prstGeom>
          </p:spPr>
        </p:pic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BAA4F0B6-632E-4233-9C8D-3BF0FAE9D8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12160" y="5079775"/>
              <a:ext cx="189817" cy="198859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96552BD7-B7E4-4010-88E4-44EC5A858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76397" y="5208344"/>
              <a:ext cx="307558" cy="198585"/>
            </a:xfrm>
            <a:prstGeom prst="rect">
              <a:avLst/>
            </a:prstGeom>
          </p:spPr>
        </p:pic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A7D11D-E771-44FF-82DF-FE41AA144A1A}"/>
                </a:ext>
              </a:extLst>
            </p:cNvPr>
            <p:cNvCxnSpPr>
              <a:cxnSpLocks/>
            </p:cNvCxnSpPr>
            <p:nvPr/>
          </p:nvCxnSpPr>
          <p:spPr>
            <a:xfrm>
              <a:off x="1960948" y="5314600"/>
              <a:ext cx="309164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4C1E42D8-AE37-4DEA-B2BA-BDACB77AF7E7}"/>
                </a:ext>
              </a:extLst>
            </p:cNvPr>
            <p:cNvCxnSpPr>
              <a:cxnSpLocks/>
            </p:cNvCxnSpPr>
            <p:nvPr/>
          </p:nvCxnSpPr>
          <p:spPr>
            <a:xfrm>
              <a:off x="988044" y="5314600"/>
              <a:ext cx="66376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676D603D-0C87-4413-AD79-CA2FCA9EF61F}"/>
                </a:ext>
              </a:extLst>
            </p:cNvPr>
            <p:cNvCxnSpPr>
              <a:cxnSpLocks/>
            </p:cNvCxnSpPr>
            <p:nvPr/>
          </p:nvCxnSpPr>
          <p:spPr>
            <a:xfrm>
              <a:off x="1574600" y="4980235"/>
              <a:ext cx="149958" cy="21632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0CBD14FD-841F-4597-9A2C-F81B1A2490E4}"/>
                </a:ext>
              </a:extLst>
            </p:cNvPr>
            <p:cNvCxnSpPr>
              <a:cxnSpLocks/>
            </p:cNvCxnSpPr>
            <p:nvPr/>
          </p:nvCxnSpPr>
          <p:spPr>
            <a:xfrm>
              <a:off x="1240038" y="5049851"/>
              <a:ext cx="487290" cy="20743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DE95ADE3-DC20-4603-844B-8E255FD54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2183" y="5354427"/>
              <a:ext cx="442525" cy="207605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52" name="그림 51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D61D8E28-D08F-4EFA-8F92-E742211E6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432239" y="4651807"/>
              <a:ext cx="267254" cy="393253"/>
            </a:xfrm>
            <a:prstGeom prst="rect">
              <a:avLst/>
            </a:prstGeom>
          </p:spPr>
        </p:pic>
        <p:pic>
          <p:nvPicPr>
            <p:cNvPr id="53" name="그림 52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08171650-E0F6-4AA5-8FFE-B21E6A2B1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66533" y="4825794"/>
              <a:ext cx="267254" cy="393253"/>
            </a:xfrm>
            <a:prstGeom prst="rect">
              <a:avLst/>
            </a:prstGeom>
          </p:spPr>
        </p:pic>
        <p:pic>
          <p:nvPicPr>
            <p:cNvPr id="54" name="그림 53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29654E04-5BF6-45E8-9C0E-52066CB23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48834" y="5159586"/>
              <a:ext cx="267254" cy="393253"/>
            </a:xfrm>
            <a:prstGeom prst="rect">
              <a:avLst/>
            </a:prstGeom>
          </p:spPr>
        </p:pic>
        <p:pic>
          <p:nvPicPr>
            <p:cNvPr id="55" name="그림 54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1BF5EFE9-A4B4-496E-982D-5540B6961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204782" y="5387068"/>
              <a:ext cx="267254" cy="393253"/>
            </a:xfrm>
            <a:prstGeom prst="rect">
              <a:avLst/>
            </a:prstGeom>
          </p:spPr>
        </p:pic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48883E9D-E307-45FE-B065-03EFA4A33680}"/>
                </a:ext>
              </a:extLst>
            </p:cNvPr>
            <p:cNvGrpSpPr/>
            <p:nvPr/>
          </p:nvGrpSpPr>
          <p:grpSpPr>
            <a:xfrm>
              <a:off x="1675414" y="5455266"/>
              <a:ext cx="361090" cy="424180"/>
              <a:chOff x="973967" y="3727034"/>
              <a:chExt cx="489425" cy="574938"/>
            </a:xfrm>
          </p:grpSpPr>
          <p:pic>
            <p:nvPicPr>
              <p:cNvPr id="71" name="그림 70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828823D2-0FA0-4B53-A929-DE608F1EF5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1199" y="3791476"/>
                <a:ext cx="412193" cy="510496"/>
              </a:xfrm>
              <a:prstGeom prst="rect">
                <a:avLst/>
              </a:prstGeom>
            </p:spPr>
          </p:pic>
          <p:pic>
            <p:nvPicPr>
              <p:cNvPr id="72" name="그림 71">
                <a:extLst>
                  <a:ext uri="{FF2B5EF4-FFF2-40B4-BE49-F238E27FC236}">
                    <a16:creationId xmlns:a16="http://schemas.microsoft.com/office/drawing/2014/main" id="{93613E06-AFDA-4C24-B5B4-9F2FB4280D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3517" y="3727034"/>
                <a:ext cx="193890" cy="124372"/>
              </a:xfrm>
              <a:prstGeom prst="rect">
                <a:avLst/>
              </a:prstGeom>
            </p:spPr>
          </p:pic>
          <p:pic>
            <p:nvPicPr>
              <p:cNvPr id="73" name="그림 72">
                <a:extLst>
                  <a:ext uri="{FF2B5EF4-FFF2-40B4-BE49-F238E27FC236}">
                    <a16:creationId xmlns:a16="http://schemas.microsoft.com/office/drawing/2014/main" id="{7EC0A114-776A-4DDB-A1F6-1C5DDC4BA9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3967" y="3853240"/>
                <a:ext cx="193890" cy="124372"/>
              </a:xfrm>
              <a:prstGeom prst="rect">
                <a:avLst/>
              </a:prstGeom>
            </p:spPr>
          </p:pic>
        </p:grp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1F526211-4BB4-4F26-80B5-31CE8C542483}"/>
                </a:ext>
              </a:extLst>
            </p:cNvPr>
            <p:cNvCxnSpPr>
              <a:cxnSpLocks/>
              <a:stCxn id="58" idx="0"/>
              <a:endCxn id="35" idx="2"/>
            </p:cNvCxnSpPr>
            <p:nvPr/>
          </p:nvCxnSpPr>
          <p:spPr>
            <a:xfrm flipV="1">
              <a:off x="3097411" y="2899410"/>
              <a:ext cx="0" cy="888765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152C10F5-227E-42D2-A26A-ECD899D0A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3788175"/>
              <a:ext cx="307558" cy="198585"/>
            </a:xfrm>
            <a:prstGeom prst="rect">
              <a:avLst/>
            </a:prstGeom>
          </p:spPr>
        </p:pic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D9CC7F01-45FE-46E2-BF60-3C0498EE7B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60713" y="2384091"/>
              <a:ext cx="307558" cy="198585"/>
            </a:xfrm>
            <a:prstGeom prst="rect">
              <a:avLst/>
            </a:prstGeom>
          </p:spPr>
        </p:pic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DD965C01-2913-41EE-8D61-4FD3B0F39E48}"/>
                </a:ext>
              </a:extLst>
            </p:cNvPr>
            <p:cNvCxnSpPr/>
            <p:nvPr/>
          </p:nvCxnSpPr>
          <p:spPr>
            <a:xfrm flipH="1">
              <a:off x="1274445" y="3641726"/>
              <a:ext cx="263525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5B664E42-B904-4DA6-81B6-0E8D2DC4882A}"/>
                </a:ext>
              </a:extLst>
            </p:cNvPr>
            <p:cNvGrpSpPr/>
            <p:nvPr/>
          </p:nvGrpSpPr>
          <p:grpSpPr>
            <a:xfrm>
              <a:off x="985367" y="3338114"/>
              <a:ext cx="361090" cy="424180"/>
              <a:chOff x="973967" y="3727034"/>
              <a:chExt cx="489425" cy="574938"/>
            </a:xfrm>
          </p:grpSpPr>
          <p:pic>
            <p:nvPicPr>
              <p:cNvPr id="68" name="그림 67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98668487-7D3D-486F-98BD-8C31DFA28D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1199" y="3791476"/>
                <a:ext cx="412193" cy="510496"/>
              </a:xfrm>
              <a:prstGeom prst="rect">
                <a:avLst/>
              </a:prstGeom>
            </p:spPr>
          </p:pic>
          <p:pic>
            <p:nvPicPr>
              <p:cNvPr id="69" name="그림 68">
                <a:extLst>
                  <a:ext uri="{FF2B5EF4-FFF2-40B4-BE49-F238E27FC236}">
                    <a16:creationId xmlns:a16="http://schemas.microsoft.com/office/drawing/2014/main" id="{36A889F0-C1A4-4BFB-9072-CF03343B29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3517" y="3727034"/>
                <a:ext cx="193890" cy="124372"/>
              </a:xfrm>
              <a:prstGeom prst="rect">
                <a:avLst/>
              </a:prstGeom>
            </p:spPr>
          </p:pic>
          <p:pic>
            <p:nvPicPr>
              <p:cNvPr id="70" name="그림 69">
                <a:extLst>
                  <a:ext uri="{FF2B5EF4-FFF2-40B4-BE49-F238E27FC236}">
                    <a16:creationId xmlns:a16="http://schemas.microsoft.com/office/drawing/2014/main" id="{72CD4326-1305-46D4-B922-FE23D20323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3967" y="3853240"/>
                <a:ext cx="193890" cy="124372"/>
              </a:xfrm>
              <a:prstGeom prst="rect">
                <a:avLst/>
              </a:prstGeom>
            </p:spPr>
          </p:pic>
        </p:grp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961E66AA-C2D9-41CB-ADFE-D66FA2332D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9098" y="5086349"/>
              <a:ext cx="144000" cy="13312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A1B8D86D-B96C-493B-9D9A-90DA82318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53882" y="5208344"/>
              <a:ext cx="307558" cy="198585"/>
            </a:xfrm>
            <a:prstGeom prst="rect">
              <a:avLst/>
            </a:prstGeom>
          </p:spPr>
        </p:pic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6446ACD5-0EAC-437E-905F-E9F21D403B64}"/>
                </a:ext>
              </a:extLst>
            </p:cNvPr>
            <p:cNvCxnSpPr>
              <a:cxnSpLocks/>
              <a:endCxn id="67" idx="2"/>
            </p:cNvCxnSpPr>
            <p:nvPr/>
          </p:nvCxnSpPr>
          <p:spPr>
            <a:xfrm flipV="1">
              <a:off x="1704659" y="3286850"/>
              <a:ext cx="0" cy="267501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7BC442F7-8D3E-4DAE-BBEC-DDDA46394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41945" y="3551831"/>
              <a:ext cx="307558" cy="198585"/>
            </a:xfrm>
            <a:prstGeom prst="rect">
              <a:avLst/>
            </a:prstGeom>
          </p:spPr>
        </p:pic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9A86673B-8F87-486C-8675-AF807D2A5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76060" y="2872220"/>
              <a:ext cx="207997" cy="192081"/>
            </a:xfrm>
            <a:prstGeom prst="rect">
              <a:avLst/>
            </a:prstGeom>
          </p:spPr>
        </p:pic>
        <p:pic>
          <p:nvPicPr>
            <p:cNvPr id="67" name="그림 66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6BF672D1-1196-472D-B4ED-EF4199576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604868" y="2893597"/>
              <a:ext cx="267254" cy="393253"/>
            </a:xfrm>
            <a:prstGeom prst="rect">
              <a:avLst/>
            </a:prstGeom>
          </p:spPr>
        </p:pic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7D8F76F8-B076-47F5-97BB-7EE14288FAC2}"/>
              </a:ext>
            </a:extLst>
          </p:cNvPr>
          <p:cNvGrpSpPr/>
          <p:nvPr/>
        </p:nvGrpSpPr>
        <p:grpSpPr>
          <a:xfrm>
            <a:off x="1036988" y="980728"/>
            <a:ext cx="1361725" cy="1048492"/>
            <a:chOff x="1057459" y="980728"/>
            <a:chExt cx="1361725" cy="1048492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D7AB968E-9114-4013-BC24-98F5B1C6BE6E}"/>
                </a:ext>
              </a:extLst>
            </p:cNvPr>
            <p:cNvGrpSpPr/>
            <p:nvPr/>
          </p:nvGrpSpPr>
          <p:grpSpPr>
            <a:xfrm>
              <a:off x="1398439" y="980728"/>
              <a:ext cx="1020745" cy="1048492"/>
              <a:chOff x="4619307" y="1276118"/>
              <a:chExt cx="1098550" cy="1189630"/>
            </a:xfrm>
          </p:grpSpPr>
          <p:sp>
            <p:nvSpPr>
              <p:cNvPr id="83" name="Rectangle 228">
                <a:extLst>
                  <a:ext uri="{FF2B5EF4-FFF2-40B4-BE49-F238E27FC236}">
                    <a16:creationId xmlns:a16="http://schemas.microsoft.com/office/drawing/2014/main" id="{E2290BAD-EE36-4278-ABA3-16A44A79BB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20895" y="1322404"/>
                <a:ext cx="1095375" cy="1120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105B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sp>
            <p:nvSpPr>
              <p:cNvPr id="84" name="Line 231">
                <a:extLst>
                  <a:ext uri="{FF2B5EF4-FFF2-40B4-BE49-F238E27FC236}">
                    <a16:creationId xmlns:a16="http://schemas.microsoft.com/office/drawing/2014/main" id="{0A390B1A-374D-49B9-867A-5F760EB667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9307" y="1767150"/>
                <a:ext cx="1098550" cy="0"/>
              </a:xfrm>
              <a:prstGeom prst="line">
                <a:avLst/>
              </a:prstGeom>
              <a:solidFill>
                <a:srgbClr val="EFF5FB"/>
              </a:solidFill>
              <a:ln>
                <a:solidFill>
                  <a:srgbClr val="105B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sp>
            <p:nvSpPr>
              <p:cNvPr id="85" name="Line 231">
                <a:extLst>
                  <a:ext uri="{FF2B5EF4-FFF2-40B4-BE49-F238E27FC236}">
                    <a16:creationId xmlns:a16="http://schemas.microsoft.com/office/drawing/2014/main" id="{A5228950-F440-4AF1-9388-EED402B7AF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9307" y="1983866"/>
                <a:ext cx="1098550" cy="0"/>
              </a:xfrm>
              <a:prstGeom prst="line">
                <a:avLst/>
              </a:prstGeom>
              <a:solidFill>
                <a:srgbClr val="EFF5FB"/>
              </a:solidFill>
              <a:ln>
                <a:solidFill>
                  <a:srgbClr val="105B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sp>
            <p:nvSpPr>
              <p:cNvPr id="86" name="Line 231">
                <a:extLst>
                  <a:ext uri="{FF2B5EF4-FFF2-40B4-BE49-F238E27FC236}">
                    <a16:creationId xmlns:a16="http://schemas.microsoft.com/office/drawing/2014/main" id="{BB3C20D6-75EC-46A1-94F2-00E20C71CC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9307" y="2200583"/>
                <a:ext cx="1098550" cy="0"/>
              </a:xfrm>
              <a:prstGeom prst="line">
                <a:avLst/>
              </a:prstGeom>
              <a:solidFill>
                <a:srgbClr val="EFF5FB"/>
              </a:solidFill>
              <a:ln>
                <a:solidFill>
                  <a:srgbClr val="105B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BF28EB7A-19C5-48B4-8B8A-DB19D3C1F35E}"/>
                  </a:ext>
                </a:extLst>
              </p:cNvPr>
              <p:cNvSpPr/>
              <p:nvPr/>
            </p:nvSpPr>
            <p:spPr>
              <a:xfrm>
                <a:off x="4621990" y="1553147"/>
                <a:ext cx="1093184" cy="219076"/>
              </a:xfrm>
              <a:prstGeom prst="rect">
                <a:avLst/>
              </a:prstGeom>
              <a:solidFill>
                <a:srgbClr val="105B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  <a:sym typeface="Arial"/>
                </a:endParaRPr>
              </a:p>
            </p:txBody>
          </p:sp>
          <p:sp>
            <p:nvSpPr>
              <p:cNvPr id="88" name="Text Box 230">
                <a:extLst>
                  <a:ext uri="{FF2B5EF4-FFF2-40B4-BE49-F238E27FC236}">
                    <a16:creationId xmlns:a16="http://schemas.microsoft.com/office/drawing/2014/main" id="{5CEE1336-C2EA-486A-8606-F5A848BC57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6894" y="1276118"/>
                <a:ext cx="1043376" cy="11896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5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rgbClr val="E7E6E6">
                        <a:lumMod val="10000"/>
                      </a:srgbClr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application</a:t>
                </a:r>
              </a:p>
              <a:p>
                <a:pPr marL="0" marR="0" lvl="0" indent="0" algn="ctr" defTabSz="914400" rtl="0" eaLnBrk="1" fontAlgn="auto" latinLnBrk="1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5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transport</a:t>
                </a:r>
              </a:p>
              <a:p>
                <a:pPr marL="0" marR="0" lvl="0" indent="0" algn="ctr" defTabSz="914400" rtl="0" eaLnBrk="1" fontAlgn="auto" latinLnBrk="1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5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rgbClr val="E7E6E6">
                        <a:lumMod val="10000"/>
                      </a:srgbClr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network</a:t>
                </a:r>
              </a:p>
              <a:p>
                <a:pPr marL="0" marR="0" lvl="0" indent="0" algn="ctr" defTabSz="914400" rtl="0" eaLnBrk="1" fontAlgn="auto" latinLnBrk="1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5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rgbClr val="E7E6E6">
                        <a:lumMod val="10000"/>
                      </a:srgbClr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data link</a:t>
                </a:r>
              </a:p>
              <a:p>
                <a:pPr marL="0" marR="0" lvl="0" indent="0" algn="ctr" defTabSz="914400" rtl="0" eaLnBrk="1" fontAlgn="auto" latinLnBrk="1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5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rgbClr val="E7E6E6">
                        <a:lumMod val="10000"/>
                      </a:srgbClr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physical</a:t>
                </a:r>
              </a:p>
            </p:txBody>
          </p:sp>
        </p:grpSp>
        <p:sp>
          <p:nvSpPr>
            <p:cNvPr id="89" name="Freeform 917">
              <a:extLst>
                <a:ext uri="{FF2B5EF4-FFF2-40B4-BE49-F238E27FC236}">
                  <a16:creationId xmlns:a16="http://schemas.microsoft.com/office/drawing/2014/main" id="{8B4D5FBD-A17A-439F-B50C-9659FDA06C2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747095" y="1338227"/>
              <a:ext cx="961123" cy="340396"/>
            </a:xfrm>
            <a:prstGeom prst="triangle">
              <a:avLst>
                <a:gd name="adj" fmla="val 0"/>
              </a:avLst>
            </a:prstGeom>
            <a:gradFill flip="none" rotWithShape="1">
              <a:gsLst>
                <a:gs pos="1000">
                  <a:srgbClr val="105BA0">
                    <a:alpha val="28000"/>
                  </a:srgbClr>
                </a:gs>
                <a:gs pos="100000">
                  <a:srgbClr val="105BA0">
                    <a:alpha val="48000"/>
                  </a:srgbClr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419C7E50-DFD5-44C1-8938-9F2D99575867}"/>
              </a:ext>
            </a:extLst>
          </p:cNvPr>
          <p:cNvGrpSpPr/>
          <p:nvPr/>
        </p:nvGrpSpPr>
        <p:grpSpPr>
          <a:xfrm>
            <a:off x="2879656" y="5250258"/>
            <a:ext cx="1361725" cy="1048492"/>
            <a:chOff x="2879656" y="5250258"/>
            <a:chExt cx="1361725" cy="1048492"/>
          </a:xfrm>
        </p:grpSpPr>
        <p:sp>
          <p:nvSpPr>
            <p:cNvPr id="90" name="Rectangle 228">
              <a:extLst>
                <a:ext uri="{FF2B5EF4-FFF2-40B4-BE49-F238E27FC236}">
                  <a16:creationId xmlns:a16="http://schemas.microsoft.com/office/drawing/2014/main" id="{B47DFB9D-737E-4BA9-817D-51B8E9D89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2112" y="5291053"/>
              <a:ext cx="1017795" cy="98765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BE9F57FF-F1EB-4D27-A679-87F2A02396F3}"/>
                </a:ext>
              </a:extLst>
            </p:cNvPr>
            <p:cNvSpPr/>
            <p:nvPr/>
          </p:nvSpPr>
          <p:spPr>
            <a:xfrm>
              <a:off x="3223129" y="5487277"/>
              <a:ext cx="1015759" cy="193085"/>
            </a:xfrm>
            <a:prstGeom prst="rect">
              <a:avLst/>
            </a:prstGeom>
            <a:solidFill>
              <a:srgbClr val="105B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92" name="Line 231">
              <a:extLst>
                <a:ext uri="{FF2B5EF4-FFF2-40B4-BE49-F238E27FC236}">
                  <a16:creationId xmlns:a16="http://schemas.microsoft.com/office/drawing/2014/main" id="{0B92C2D5-A3DB-4E43-A77C-0A25966FC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0636" y="56830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93" name="Line 231">
              <a:extLst>
                <a:ext uri="{FF2B5EF4-FFF2-40B4-BE49-F238E27FC236}">
                  <a16:creationId xmlns:a16="http://schemas.microsoft.com/office/drawing/2014/main" id="{634C60D2-5513-4A8D-BA06-32B9A72E6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0636" y="5874038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94" name="Line 231">
              <a:extLst>
                <a:ext uri="{FF2B5EF4-FFF2-40B4-BE49-F238E27FC236}">
                  <a16:creationId xmlns:a16="http://schemas.microsoft.com/office/drawing/2014/main" id="{75B6413A-FBA8-425C-BCE2-97C405FC61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0636" y="606504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95" name="Text Box 230">
              <a:extLst>
                <a:ext uri="{FF2B5EF4-FFF2-40B4-BE49-F238E27FC236}">
                  <a16:creationId xmlns:a16="http://schemas.microsoft.com/office/drawing/2014/main" id="{7033A400-6CD2-4A76-9035-F44DE57419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6269" y="5250258"/>
              <a:ext cx="969479" cy="10484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application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transport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  <p:sp>
          <p:nvSpPr>
            <p:cNvPr id="96" name="Freeform 917">
              <a:extLst>
                <a:ext uri="{FF2B5EF4-FFF2-40B4-BE49-F238E27FC236}">
                  <a16:creationId xmlns:a16="http://schemas.microsoft.com/office/drawing/2014/main" id="{4A742846-A1AC-418B-AD09-68EB9DDCA9EB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2569292" y="5607757"/>
              <a:ext cx="961123" cy="340396"/>
            </a:xfrm>
            <a:prstGeom prst="triangle">
              <a:avLst>
                <a:gd name="adj" fmla="val 0"/>
              </a:avLst>
            </a:prstGeom>
            <a:gradFill flip="none" rotWithShape="1">
              <a:gsLst>
                <a:gs pos="1000">
                  <a:srgbClr val="105BA0">
                    <a:alpha val="28000"/>
                  </a:srgbClr>
                </a:gs>
                <a:gs pos="100000">
                  <a:srgbClr val="105BA0">
                    <a:alpha val="48000"/>
                  </a:srgbClr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8ECB300B-1A6A-457C-8575-AF82473F7C82}"/>
              </a:ext>
            </a:extLst>
          </p:cNvPr>
          <p:cNvGrpSpPr/>
          <p:nvPr/>
        </p:nvGrpSpPr>
        <p:grpSpPr>
          <a:xfrm>
            <a:off x="2269376" y="1845028"/>
            <a:ext cx="706437" cy="3619363"/>
            <a:chOff x="2269376" y="1845028"/>
            <a:chExt cx="706437" cy="3619363"/>
          </a:xfrm>
        </p:grpSpPr>
        <p:sp>
          <p:nvSpPr>
            <p:cNvPr id="97" name="화살표: 위쪽/아래쪽 96">
              <a:extLst>
                <a:ext uri="{FF2B5EF4-FFF2-40B4-BE49-F238E27FC236}">
                  <a16:creationId xmlns:a16="http://schemas.microsoft.com/office/drawing/2014/main" id="{2B9B7223-3299-4E91-91B6-7F70388A7C2D}"/>
                </a:ext>
              </a:extLst>
            </p:cNvPr>
            <p:cNvSpPr/>
            <p:nvPr/>
          </p:nvSpPr>
          <p:spPr>
            <a:xfrm rot="19759429">
              <a:off x="2269376" y="1845028"/>
              <a:ext cx="706437" cy="3619363"/>
            </a:xfrm>
            <a:prstGeom prst="upDownArrow">
              <a:avLst>
                <a:gd name="adj1" fmla="val 53812"/>
                <a:gd name="adj2" fmla="val 50000"/>
              </a:avLst>
            </a:prstGeom>
            <a:solidFill>
              <a:srgbClr val="105B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1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98" name="Text Box 293">
              <a:extLst>
                <a:ext uri="{FF2B5EF4-FFF2-40B4-BE49-F238E27FC236}">
                  <a16:creationId xmlns:a16="http://schemas.microsoft.com/office/drawing/2014/main" id="{9ABCC6EF-1FB4-4DDC-90AD-0A8BF9AB5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539623">
              <a:off x="1372241" y="3458467"/>
              <a:ext cx="246016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logical end-end transport</a:t>
              </a:r>
            </a:p>
          </p:txBody>
        </p:sp>
      </p:grpSp>
      <p:sp>
        <p:nvSpPr>
          <p:cNvPr id="99" name="Rectangle 3">
            <a:extLst>
              <a:ext uri="{FF2B5EF4-FFF2-40B4-BE49-F238E27FC236}">
                <a16:creationId xmlns:a16="http://schemas.microsoft.com/office/drawing/2014/main" id="{441CDC71-4D5A-4864-8D78-1EB5CA64EBCE}"/>
              </a:ext>
            </a:extLst>
          </p:cNvPr>
          <p:cNvSpPr txBox="1">
            <a:spLocks noChangeArrowheads="1"/>
          </p:cNvSpPr>
          <p:nvPr/>
        </p:nvSpPr>
        <p:spPr>
          <a:xfrm>
            <a:off x="3761026" y="1078722"/>
            <a:ext cx="44546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18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서로 다른 호스트의 프로세스들 간에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논리적 통신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(logical communication)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 제공한다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18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트랜스포트 프로토콜은 종단 시스템에서 수행된다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</a:p>
        </p:txBody>
      </p:sp>
      <p:sp>
        <p:nvSpPr>
          <p:cNvPr id="101" name="Rectangle 3">
            <a:extLst>
              <a:ext uri="{FF2B5EF4-FFF2-40B4-BE49-F238E27FC236}">
                <a16:creationId xmlns:a16="http://schemas.microsoft.com/office/drawing/2014/main" id="{62C13BC5-E944-4CD0-A5F5-8FF15CB4700A}"/>
              </a:ext>
            </a:extLst>
          </p:cNvPr>
          <p:cNvSpPr txBox="1">
            <a:spLocks noChangeArrowheads="1"/>
          </p:cNvSpPr>
          <p:nvPr/>
        </p:nvSpPr>
        <p:spPr>
          <a:xfrm>
            <a:off x="4111068" y="2629567"/>
            <a:ext cx="4042332" cy="127669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메시지를 세그먼트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(segment)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로 쪼개서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계층에 전달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세그먼트를 메시지로 재조립해서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애플리케이션 계층에 전달</a:t>
            </a:r>
          </a:p>
        </p:txBody>
      </p:sp>
      <p:sp>
        <p:nvSpPr>
          <p:cNvPr id="102" name="Rectangle 3">
            <a:extLst>
              <a:ext uri="{FF2B5EF4-FFF2-40B4-BE49-F238E27FC236}">
                <a16:creationId xmlns:a16="http://schemas.microsoft.com/office/drawing/2014/main" id="{9E407AFA-D308-4222-ACAB-402A7659A9E3}"/>
              </a:ext>
            </a:extLst>
          </p:cNvPr>
          <p:cNvSpPr txBox="1">
            <a:spLocks noChangeArrowheads="1"/>
          </p:cNvSpPr>
          <p:nvPr/>
        </p:nvSpPr>
        <p:spPr>
          <a:xfrm>
            <a:off x="3761026" y="4062202"/>
            <a:ext cx="44546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18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하나 이상의 트랜스포트 프로토콜이 제공된다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sp>
        <p:nvSpPr>
          <p:cNvPr id="103" name="Rectangle 3">
            <a:extLst>
              <a:ext uri="{FF2B5EF4-FFF2-40B4-BE49-F238E27FC236}">
                <a16:creationId xmlns:a16="http://schemas.microsoft.com/office/drawing/2014/main" id="{31B8DBE7-63DC-48E6-ADAF-F40ACF81F2B8}"/>
              </a:ext>
            </a:extLst>
          </p:cNvPr>
          <p:cNvSpPr txBox="1">
            <a:spLocks noChangeArrowheads="1"/>
          </p:cNvSpPr>
          <p:nvPr/>
        </p:nvSpPr>
        <p:spPr>
          <a:xfrm>
            <a:off x="4111068" y="4478390"/>
            <a:ext cx="404233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인터넷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TCP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와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UDP</a:t>
            </a:r>
          </a:p>
        </p:txBody>
      </p:sp>
    </p:spTree>
    <p:extLst>
      <p:ext uri="{BB962C8B-B14F-4D97-AF65-F5344CB8AC3E}">
        <p14:creationId xmlns:p14="http://schemas.microsoft.com/office/powerpoint/2010/main" val="285990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DFBD4616-A093-426C-9BE6-C11F11957D69}"/>
              </a:ext>
            </a:extLst>
          </p:cNvPr>
          <p:cNvSpPr/>
          <p:nvPr/>
        </p:nvSpPr>
        <p:spPr>
          <a:xfrm>
            <a:off x="844234" y="2636912"/>
            <a:ext cx="7080565" cy="3445226"/>
          </a:xfrm>
          <a:prstGeom prst="snip1Rect">
            <a:avLst>
              <a:gd name="adj" fmla="val 4496"/>
            </a:avLst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1C76AB-3D7D-49B4-A022-6817A88FFD38}"/>
              </a:ext>
            </a:extLst>
          </p:cNvPr>
          <p:cNvSpPr/>
          <p:nvPr/>
        </p:nvSpPr>
        <p:spPr>
          <a:xfrm>
            <a:off x="996612" y="3757717"/>
            <a:ext cx="6683564" cy="2115801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>
                <a:cs typeface="+mj-cs"/>
              </a:rPr>
              <a:t>트랜스포트 계층 </a:t>
            </a:r>
            <a:r>
              <a:rPr lang="en-US" altLang="ko-KR" sz="2000">
                <a:solidFill>
                  <a:schemeClr val="bg1"/>
                </a:solidFill>
                <a:cs typeface="+mj-cs"/>
              </a:rPr>
              <a:t>vs.</a:t>
            </a:r>
            <a:r>
              <a:rPr lang="en-US" altLang="ko-KR" sz="2000">
                <a:cs typeface="+mj-cs"/>
              </a:rPr>
              <a:t> </a:t>
            </a:r>
            <a:r>
              <a:rPr lang="ko-KR" altLang="en-US" sz="2000">
                <a:cs typeface="+mj-cs"/>
              </a:rPr>
              <a:t>네트워크 계층</a:t>
            </a:r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2BAA03-243B-4DC0-AA3F-0A5CBF2330B8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78722"/>
            <a:ext cx="44546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 계층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호스트 간의 논리적 통신</a:t>
            </a:r>
            <a:endParaRPr lang="en-US" altLang="ko-KR" sz="16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0DC78DF-4AC2-4C99-85CE-B66CC80F395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556792"/>
            <a:ext cx="44546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프로세스 간의 논리적 통신</a:t>
            </a:r>
            <a:endParaRPr lang="en-US" altLang="ko-KR" sz="16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6C970E9-54EC-4AB9-80B7-93BE354BCB70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974234"/>
            <a:ext cx="651121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계층의 서비스에 의존하여 추가적 서비스 제공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066865F-94A2-4EA1-BEDB-40F450FC991F}"/>
              </a:ext>
            </a:extLst>
          </p:cNvPr>
          <p:cNvSpPr/>
          <p:nvPr/>
        </p:nvSpPr>
        <p:spPr>
          <a:xfrm>
            <a:off x="693394" y="3213976"/>
            <a:ext cx="314384" cy="8442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그래픽 10">
            <a:extLst>
              <a:ext uri="{FF2B5EF4-FFF2-40B4-BE49-F238E27FC236}">
                <a16:creationId xmlns:a16="http://schemas.microsoft.com/office/drawing/2014/main" id="{03CC0148-97E0-4B0A-9738-7896C93A907B}"/>
              </a:ext>
            </a:extLst>
          </p:cNvPr>
          <p:cNvSpPr/>
          <p:nvPr/>
        </p:nvSpPr>
        <p:spPr>
          <a:xfrm rot="5400000">
            <a:off x="572801" y="2735764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105BA0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B76663B-5028-421A-A6FE-D8466F444A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25" y="2807211"/>
            <a:ext cx="299920" cy="350048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74F347BA-EB7B-4053-BB05-E5BB50066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052" y="3261986"/>
            <a:ext cx="6826930" cy="385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Ann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의 집의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12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명의 아이가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Bill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의 집의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12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명에게 편지를 보낼 때 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780F496A-DF25-4506-9817-013988A84E86}"/>
              </a:ext>
            </a:extLst>
          </p:cNvPr>
          <p:cNvSpPr txBox="1">
            <a:spLocks noChangeArrowheads="1"/>
          </p:cNvSpPr>
          <p:nvPr/>
        </p:nvSpPr>
        <p:spPr>
          <a:xfrm>
            <a:off x="1200228" y="3932587"/>
            <a:ext cx="6369496" cy="176606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호스트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=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집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프로세스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=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아이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메시지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=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봉투 속의 편지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트랜스포트 프로토콜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=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자기 형제들에게 편지를 취합 전달하는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Ann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과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Bill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프로토콜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=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우편 서비스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A16020-C49B-4676-98BB-263EF90C4FBE}"/>
              </a:ext>
            </a:extLst>
          </p:cNvPr>
          <p:cNvSpPr txBox="1"/>
          <p:nvPr/>
        </p:nvSpPr>
        <p:spPr>
          <a:xfrm>
            <a:off x="1188052" y="2913031"/>
            <a:ext cx="2009010" cy="31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45000"/>
              </a:spcBef>
              <a:buSzPct val="65000"/>
              <a:buFont typeface="Wingdings" panose="05000000000000000000" pitchFamily="2" charset="2"/>
              <a:buNone/>
            </a:pPr>
            <a:r>
              <a:rPr lang="ko-KR" altLang="en-US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실생활에서의 비유</a:t>
            </a:r>
            <a:endParaRPr lang="en-US" altLang="ko-KR" sz="17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7480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>
                <a:cs typeface="+mj-cs"/>
              </a:rPr>
              <a:t>인터넷 트랜스포트 계층 프로토콜</a:t>
            </a:r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7</a:t>
            </a:fld>
            <a:endParaRPr lang="en-US" dirty="0"/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4EAC3C51-98C3-44ED-8F20-57254BE55AE5}"/>
              </a:ext>
            </a:extLst>
          </p:cNvPr>
          <p:cNvGrpSpPr/>
          <p:nvPr/>
        </p:nvGrpSpPr>
        <p:grpSpPr>
          <a:xfrm>
            <a:off x="664920" y="1065581"/>
            <a:ext cx="2972026" cy="5371777"/>
            <a:chOff x="578679" y="1064717"/>
            <a:chExt cx="2972026" cy="5371777"/>
          </a:xfrm>
        </p:grpSpPr>
        <p:sp>
          <p:nvSpPr>
            <p:cNvPr id="194" name="Google Shape;245;p4">
              <a:extLst>
                <a:ext uri="{FF2B5EF4-FFF2-40B4-BE49-F238E27FC236}">
                  <a16:creationId xmlns:a16="http://schemas.microsoft.com/office/drawing/2014/main" id="{C680EB71-A449-46C4-A26D-9680D0A8B52B}"/>
                </a:ext>
              </a:extLst>
            </p:cNvPr>
            <p:cNvSpPr/>
            <p:nvPr/>
          </p:nvSpPr>
          <p:spPr>
            <a:xfrm>
              <a:off x="578679" y="1064717"/>
              <a:ext cx="2972026" cy="5371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195" name="Google Shape;245;p4">
              <a:extLst>
                <a:ext uri="{FF2B5EF4-FFF2-40B4-BE49-F238E27FC236}">
                  <a16:creationId xmlns:a16="http://schemas.microsoft.com/office/drawing/2014/main" id="{F7FCE2FD-F5EF-43FD-A827-06F8CF4914E2}"/>
                </a:ext>
              </a:extLst>
            </p:cNvPr>
            <p:cNvSpPr/>
            <p:nvPr/>
          </p:nvSpPr>
          <p:spPr>
            <a:xfrm>
              <a:off x="685958" y="4836708"/>
              <a:ext cx="2745613" cy="11260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196" name="Google Shape;245;p4">
              <a:extLst>
                <a:ext uri="{FF2B5EF4-FFF2-40B4-BE49-F238E27FC236}">
                  <a16:creationId xmlns:a16="http://schemas.microsoft.com/office/drawing/2014/main" id="{32FF158C-3FEA-45A0-B2DD-70C346DF7038}"/>
                </a:ext>
              </a:extLst>
            </p:cNvPr>
            <p:cNvSpPr/>
            <p:nvPr/>
          </p:nvSpPr>
          <p:spPr>
            <a:xfrm>
              <a:off x="2195173" y="2202009"/>
              <a:ext cx="1280841" cy="80334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197" name="Google Shape;245;p4">
              <a:extLst>
                <a:ext uri="{FF2B5EF4-FFF2-40B4-BE49-F238E27FC236}">
                  <a16:creationId xmlns:a16="http://schemas.microsoft.com/office/drawing/2014/main" id="{C47627D2-8866-4D43-8CC6-C30F56194C2D}"/>
                </a:ext>
              </a:extLst>
            </p:cNvPr>
            <p:cNvSpPr/>
            <p:nvPr/>
          </p:nvSpPr>
          <p:spPr>
            <a:xfrm>
              <a:off x="686275" y="1443737"/>
              <a:ext cx="1514440" cy="881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BFA06D41-F005-42C5-AC60-E98F715A51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69060" y="2338388"/>
              <a:ext cx="984675" cy="16102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926A8144-960C-422D-AEF9-549BF3419922}"/>
                </a:ext>
              </a:extLst>
            </p:cNvPr>
            <p:cNvGrpSpPr/>
            <p:nvPr/>
          </p:nvGrpSpPr>
          <p:grpSpPr>
            <a:xfrm>
              <a:off x="1290550" y="1517650"/>
              <a:ext cx="306852" cy="504850"/>
              <a:chOff x="1159683" y="3308166"/>
              <a:chExt cx="415912" cy="684280"/>
            </a:xfrm>
          </p:grpSpPr>
          <p:pic>
            <p:nvPicPr>
              <p:cNvPr id="269" name="그림 268">
                <a:extLst>
                  <a:ext uri="{FF2B5EF4-FFF2-40B4-BE49-F238E27FC236}">
                    <a16:creationId xmlns:a16="http://schemas.microsoft.com/office/drawing/2014/main" id="{6EA42E26-9B63-4232-83AA-2A66785F18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683" y="3308166"/>
                <a:ext cx="415912" cy="266790"/>
              </a:xfrm>
              <a:prstGeom prst="rect">
                <a:avLst/>
              </a:prstGeom>
            </p:spPr>
          </p:pic>
          <p:pic>
            <p:nvPicPr>
              <p:cNvPr id="270" name="그림 269">
                <a:extLst>
                  <a:ext uri="{FF2B5EF4-FFF2-40B4-BE49-F238E27FC236}">
                    <a16:creationId xmlns:a16="http://schemas.microsoft.com/office/drawing/2014/main" id="{28C0E602-C4FE-4885-A1ED-A078F71B33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14729" y="3443786"/>
                <a:ext cx="307465" cy="548660"/>
              </a:xfrm>
              <a:prstGeom prst="rect">
                <a:avLst/>
              </a:prstGeom>
            </p:spPr>
          </p:pic>
        </p:grpSp>
        <p:pic>
          <p:nvPicPr>
            <p:cNvPr id="200" name="그림 199">
              <a:extLst>
                <a:ext uri="{FF2B5EF4-FFF2-40B4-BE49-F238E27FC236}">
                  <a16:creationId xmlns:a16="http://schemas.microsoft.com/office/drawing/2014/main" id="{F41F77A7-15C1-4685-9589-329112C8C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4536" y="1780238"/>
              <a:ext cx="207997" cy="192081"/>
            </a:xfrm>
            <a:prstGeom prst="rect">
              <a:avLst/>
            </a:prstGeom>
          </p:spPr>
        </p:pic>
        <p:pic>
          <p:nvPicPr>
            <p:cNvPr id="201" name="그림 200" descr="텍스트, 전자기기, 컴퓨터, 노트북이(가) 표시된 사진&#10;&#10;자동 생성된 설명">
              <a:extLst>
                <a:ext uri="{FF2B5EF4-FFF2-40B4-BE49-F238E27FC236}">
                  <a16:creationId xmlns:a16="http://schemas.microsoft.com/office/drawing/2014/main" id="{A0BE0750-C7D0-47F2-B61B-DD0806C3A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7217" y="1801724"/>
              <a:ext cx="363879" cy="349669"/>
            </a:xfrm>
            <a:prstGeom prst="rect">
              <a:avLst/>
            </a:prstGeom>
          </p:spPr>
        </p:pic>
        <p:pic>
          <p:nvPicPr>
            <p:cNvPr id="202" name="그림 201">
              <a:extLst>
                <a:ext uri="{FF2B5EF4-FFF2-40B4-BE49-F238E27FC236}">
                  <a16:creationId xmlns:a16="http://schemas.microsoft.com/office/drawing/2014/main" id="{D2623C73-9035-4293-AFB2-57585D215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4537" y="1420060"/>
              <a:ext cx="207997" cy="192081"/>
            </a:xfrm>
            <a:prstGeom prst="rect">
              <a:avLst/>
            </a:prstGeom>
          </p:spPr>
        </p:pic>
        <p:pic>
          <p:nvPicPr>
            <p:cNvPr id="203" name="그림 202" descr="텍스트, 전자기기이(가) 표시된 사진&#10;&#10;자동 생성된 설명">
              <a:extLst>
                <a:ext uri="{FF2B5EF4-FFF2-40B4-BE49-F238E27FC236}">
                  <a16:creationId xmlns:a16="http://schemas.microsoft.com/office/drawing/2014/main" id="{D5CC2C8D-323C-4F10-8441-E9563C781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060" y="1546217"/>
              <a:ext cx="337826" cy="205071"/>
            </a:xfrm>
            <a:prstGeom prst="rect">
              <a:avLst/>
            </a:prstGeom>
          </p:spPr>
        </p:pic>
        <p:pic>
          <p:nvPicPr>
            <p:cNvPr id="204" name="그림 203">
              <a:extLst>
                <a:ext uri="{FF2B5EF4-FFF2-40B4-BE49-F238E27FC236}">
                  <a16:creationId xmlns:a16="http://schemas.microsoft.com/office/drawing/2014/main" id="{EB47FB5C-8E7C-4BB0-9ACD-C6B955B96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75837" y="1686998"/>
              <a:ext cx="207997" cy="192081"/>
            </a:xfrm>
            <a:prstGeom prst="rect">
              <a:avLst/>
            </a:prstGeom>
          </p:spPr>
        </p:pic>
        <p:pic>
          <p:nvPicPr>
            <p:cNvPr id="205" name="그림 204" descr="밴이(가) 표시된 사진&#10;&#10;자동 생성된 설명">
              <a:extLst>
                <a:ext uri="{FF2B5EF4-FFF2-40B4-BE49-F238E27FC236}">
                  <a16:creationId xmlns:a16="http://schemas.microsoft.com/office/drawing/2014/main" id="{C5BE462D-23A0-417D-AE08-2BE6A9ECF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9963" y="1771952"/>
              <a:ext cx="316295" cy="246275"/>
            </a:xfrm>
            <a:prstGeom prst="rect">
              <a:avLst/>
            </a:prstGeom>
          </p:spPr>
        </p:pic>
        <p:sp>
          <p:nvSpPr>
            <p:cNvPr id="206" name="Line 841">
              <a:extLst>
                <a:ext uri="{FF2B5EF4-FFF2-40B4-BE49-F238E27FC236}">
                  <a16:creationId xmlns:a16="http://schemas.microsoft.com/office/drawing/2014/main" id="{63B689D5-9CDB-4FFA-BAC6-07BF159394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3977" y="1838518"/>
              <a:ext cx="0" cy="3932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pic>
          <p:nvPicPr>
            <p:cNvPr id="207" name="그림 206">
              <a:extLst>
                <a:ext uri="{FF2B5EF4-FFF2-40B4-BE49-F238E27FC236}">
                  <a16:creationId xmlns:a16="http://schemas.microsoft.com/office/drawing/2014/main" id="{4CC9BD63-5F35-45A2-8072-51E18C52F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2947" y="2209218"/>
              <a:ext cx="322060" cy="207948"/>
            </a:xfrm>
            <a:prstGeom prst="rect">
              <a:avLst/>
            </a:prstGeom>
          </p:spPr>
        </p:pic>
        <p:pic>
          <p:nvPicPr>
            <p:cNvPr id="208" name="그림 207">
              <a:extLst>
                <a:ext uri="{FF2B5EF4-FFF2-40B4-BE49-F238E27FC236}">
                  <a16:creationId xmlns:a16="http://schemas.microsoft.com/office/drawing/2014/main" id="{BF16778C-7480-47EC-A131-272607522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2229628"/>
              <a:ext cx="307558" cy="198585"/>
            </a:xfrm>
            <a:prstGeom prst="rect">
              <a:avLst/>
            </a:prstGeom>
          </p:spPr>
        </p:pic>
        <p:cxnSp>
          <p:nvCxnSpPr>
            <p:cNvPr id="209" name="직선 연결선 208">
              <a:extLst>
                <a:ext uri="{FF2B5EF4-FFF2-40B4-BE49-F238E27FC236}">
                  <a16:creationId xmlns:a16="http://schemas.microsoft.com/office/drawing/2014/main" id="{0A951607-3CBD-4866-A5E9-754408BE66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1738" y="2355056"/>
              <a:ext cx="318458" cy="992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DBC14F73-C161-490B-82BE-139C2FC84B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02095" y="2424674"/>
              <a:ext cx="0" cy="35395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7220AA7C-9653-4ABF-B24A-B611F70E40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467" y="2403428"/>
              <a:ext cx="444207" cy="38368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2" name="직선 연결선 211">
              <a:extLst>
                <a:ext uri="{FF2B5EF4-FFF2-40B4-BE49-F238E27FC236}">
                  <a16:creationId xmlns:a16="http://schemas.microsoft.com/office/drawing/2014/main" id="{310735C8-2C55-4A7B-A62B-37753FC8272B}"/>
                </a:ext>
              </a:extLst>
            </p:cNvPr>
            <p:cNvCxnSpPr>
              <a:cxnSpLocks/>
              <a:stCxn id="213" idx="0"/>
            </p:cNvCxnSpPr>
            <p:nvPr/>
          </p:nvCxnSpPr>
          <p:spPr>
            <a:xfrm flipH="1" flipV="1">
              <a:off x="2514491" y="2576907"/>
              <a:ext cx="1" cy="12391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13" name="그림 212">
              <a:extLst>
                <a:ext uri="{FF2B5EF4-FFF2-40B4-BE49-F238E27FC236}">
                  <a16:creationId xmlns:a16="http://schemas.microsoft.com/office/drawing/2014/main" id="{7D486D41-96A1-4FB2-9648-DF7E7EFAC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60713" y="2700825"/>
              <a:ext cx="307558" cy="198585"/>
            </a:xfrm>
            <a:prstGeom prst="rect">
              <a:avLst/>
            </a:prstGeom>
          </p:spPr>
        </p:pic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0AF856ED-1B13-46FE-BDB6-EE09DB4BE7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3614" y="2787115"/>
              <a:ext cx="324000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15" name="그룹 214">
              <a:extLst>
                <a:ext uri="{FF2B5EF4-FFF2-40B4-BE49-F238E27FC236}">
                  <a16:creationId xmlns:a16="http://schemas.microsoft.com/office/drawing/2014/main" id="{C6FF7D8D-E451-4C0F-B0F7-0A4DA4249AA2}"/>
                </a:ext>
              </a:extLst>
            </p:cNvPr>
            <p:cNvGrpSpPr/>
            <p:nvPr/>
          </p:nvGrpSpPr>
          <p:grpSpPr>
            <a:xfrm>
              <a:off x="3140551" y="2787115"/>
              <a:ext cx="245542" cy="0"/>
              <a:chOff x="7865568" y="3042591"/>
              <a:chExt cx="285396" cy="0"/>
            </a:xfrm>
          </p:grpSpPr>
          <p:cxnSp>
            <p:nvCxnSpPr>
              <p:cNvPr id="267" name="직선 연결선 266">
                <a:extLst>
                  <a:ext uri="{FF2B5EF4-FFF2-40B4-BE49-F238E27FC236}">
                    <a16:creationId xmlns:a16="http://schemas.microsoft.com/office/drawing/2014/main" id="{F86A868A-8E69-4143-8137-8A5411F094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65568" y="3042591"/>
                <a:ext cx="164917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68" name="직선 연결선 267">
                <a:extLst>
                  <a:ext uri="{FF2B5EF4-FFF2-40B4-BE49-F238E27FC236}">
                    <a16:creationId xmlns:a16="http://schemas.microsoft.com/office/drawing/2014/main" id="{6FF4CEE9-7047-4936-BE7A-D8F94C8D95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43222" y="3042591"/>
                <a:ext cx="10774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</p:cxnSp>
        </p:grpSp>
        <p:sp>
          <p:nvSpPr>
            <p:cNvPr id="216" name="Google Shape;245;p4">
              <a:extLst>
                <a:ext uri="{FF2B5EF4-FFF2-40B4-BE49-F238E27FC236}">
                  <a16:creationId xmlns:a16="http://schemas.microsoft.com/office/drawing/2014/main" id="{0274D0C5-C0C3-45FD-B57B-D438B8EB79B8}"/>
                </a:ext>
              </a:extLst>
            </p:cNvPr>
            <p:cNvSpPr/>
            <p:nvPr/>
          </p:nvSpPr>
          <p:spPr>
            <a:xfrm>
              <a:off x="2265368" y="3681611"/>
              <a:ext cx="1115051" cy="6572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cxnSp>
          <p:nvCxnSpPr>
            <p:cNvPr id="217" name="직선 연결선 216">
              <a:extLst>
                <a:ext uri="{FF2B5EF4-FFF2-40B4-BE49-F238E27FC236}">
                  <a16:creationId xmlns:a16="http://schemas.microsoft.com/office/drawing/2014/main" id="{FDE2F37C-9B98-4BD4-A3F4-8BE88A58CE36}"/>
                </a:ext>
              </a:extLst>
            </p:cNvPr>
            <p:cNvCxnSpPr>
              <a:cxnSpLocks/>
              <a:endCxn id="213" idx="2"/>
            </p:cNvCxnSpPr>
            <p:nvPr/>
          </p:nvCxnSpPr>
          <p:spPr>
            <a:xfrm flipV="1">
              <a:off x="2513646" y="2899410"/>
              <a:ext cx="846" cy="94075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BA87080E-DFAA-4F19-B628-54F81CDE72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1082" y="3978108"/>
              <a:ext cx="273164" cy="30618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9" name="직선 연결선 218">
              <a:extLst>
                <a:ext uri="{FF2B5EF4-FFF2-40B4-BE49-F238E27FC236}">
                  <a16:creationId xmlns:a16="http://schemas.microsoft.com/office/drawing/2014/main" id="{7642FD4C-075F-4C24-A91C-BDB2FC22F1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0326" y="3834574"/>
              <a:ext cx="994093" cy="113958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20" name="그림 219">
              <a:extLst>
                <a:ext uri="{FF2B5EF4-FFF2-40B4-BE49-F238E27FC236}">
                  <a16:creationId xmlns:a16="http://schemas.microsoft.com/office/drawing/2014/main" id="{E0BC1F21-1232-4E43-994D-96A3EE68B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0918" y="4094362"/>
              <a:ext cx="307558" cy="198585"/>
            </a:xfrm>
            <a:prstGeom prst="rect">
              <a:avLst/>
            </a:prstGeom>
          </p:spPr>
        </p:pic>
        <p:sp>
          <p:nvSpPr>
            <p:cNvPr id="221" name="자유형: 도형 220">
              <a:extLst>
                <a:ext uri="{FF2B5EF4-FFF2-40B4-BE49-F238E27FC236}">
                  <a16:creationId xmlns:a16="http://schemas.microsoft.com/office/drawing/2014/main" id="{1309B575-BE95-4D50-94A4-55DFBC895063}"/>
                </a:ext>
              </a:extLst>
            </p:cNvPr>
            <p:cNvSpPr/>
            <p:nvPr/>
          </p:nvSpPr>
          <p:spPr>
            <a:xfrm>
              <a:off x="698060" y="2691576"/>
              <a:ext cx="1490843" cy="1096272"/>
            </a:xfrm>
            <a:custGeom>
              <a:avLst/>
              <a:gdLst>
                <a:gd name="connsiteX0" fmla="*/ 1010352 w 2020704"/>
                <a:gd name="connsiteY0" fmla="*/ 0 h 1333262"/>
                <a:gd name="connsiteX1" fmla="*/ 2020704 w 2020704"/>
                <a:gd name="connsiteY1" fmla="*/ 375626 h 1333262"/>
                <a:gd name="connsiteX2" fmla="*/ 1892116 w 2020704"/>
                <a:gd name="connsiteY2" fmla="*/ 375626 h 1333262"/>
                <a:gd name="connsiteX3" fmla="*/ 1892116 w 2020704"/>
                <a:gd name="connsiteY3" fmla="*/ 1333262 h 1333262"/>
                <a:gd name="connsiteX4" fmla="*/ 121542 w 2020704"/>
                <a:gd name="connsiteY4" fmla="*/ 1333262 h 1333262"/>
                <a:gd name="connsiteX5" fmla="*/ 121542 w 2020704"/>
                <a:gd name="connsiteY5" fmla="*/ 375626 h 1333262"/>
                <a:gd name="connsiteX6" fmla="*/ 0 w 2020704"/>
                <a:gd name="connsiteY6" fmla="*/ 375626 h 1333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0704" h="1333262">
                  <a:moveTo>
                    <a:pt x="1010352" y="0"/>
                  </a:moveTo>
                  <a:lnTo>
                    <a:pt x="2020704" y="375626"/>
                  </a:lnTo>
                  <a:lnTo>
                    <a:pt x="1892116" y="375626"/>
                  </a:lnTo>
                  <a:lnTo>
                    <a:pt x="1892116" y="1333262"/>
                  </a:lnTo>
                  <a:lnTo>
                    <a:pt x="121542" y="1333262"/>
                  </a:lnTo>
                  <a:lnTo>
                    <a:pt x="121542" y="375626"/>
                  </a:lnTo>
                  <a:lnTo>
                    <a:pt x="0" y="37562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  <a:sym typeface="Arial"/>
                </a:rPr>
                <a:t>ㅋㅋㅋㅋㅋㅋ</a:t>
              </a: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pic>
          <p:nvPicPr>
            <p:cNvPr id="222" name="그림 221">
              <a:extLst>
                <a:ext uri="{FF2B5EF4-FFF2-40B4-BE49-F238E27FC236}">
                  <a16:creationId xmlns:a16="http://schemas.microsoft.com/office/drawing/2014/main" id="{60CDABEB-A736-45E0-A16D-0B588A5E6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7259" y="2872220"/>
              <a:ext cx="207997" cy="192081"/>
            </a:xfrm>
            <a:prstGeom prst="rect">
              <a:avLst/>
            </a:prstGeom>
          </p:spPr>
        </p:pic>
        <p:pic>
          <p:nvPicPr>
            <p:cNvPr id="223" name="그림 222" descr="텍스트, 전자기기, 컴퓨터, 노트북이(가) 표시된 사진&#10;&#10;자동 생성된 설명">
              <a:extLst>
                <a:ext uri="{FF2B5EF4-FFF2-40B4-BE49-F238E27FC236}">
                  <a16:creationId xmlns:a16="http://schemas.microsoft.com/office/drawing/2014/main" id="{32BC37E7-2468-4A90-BE28-F8E3E03AD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11744" y="2937182"/>
              <a:ext cx="363879" cy="349669"/>
            </a:xfrm>
            <a:prstGeom prst="rect">
              <a:avLst/>
            </a:prstGeom>
          </p:spPr>
        </p:pic>
        <p:pic>
          <p:nvPicPr>
            <p:cNvPr id="224" name="그림 223">
              <a:extLst>
                <a:ext uri="{FF2B5EF4-FFF2-40B4-BE49-F238E27FC236}">
                  <a16:creationId xmlns:a16="http://schemas.microsoft.com/office/drawing/2014/main" id="{2E491F16-C578-418E-9FAB-B0684C799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2700825"/>
              <a:ext cx="307558" cy="198585"/>
            </a:xfrm>
            <a:prstGeom prst="rect">
              <a:avLst/>
            </a:prstGeom>
          </p:spPr>
        </p:pic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7BE14B54-D9C9-4B6E-9136-F6CFC83F60EE}"/>
                </a:ext>
              </a:extLst>
            </p:cNvPr>
            <p:cNvCxnSpPr>
              <a:cxnSpLocks/>
            </p:cNvCxnSpPr>
            <p:nvPr/>
          </p:nvCxnSpPr>
          <p:spPr>
            <a:xfrm>
              <a:off x="1718938" y="3650079"/>
              <a:ext cx="793184" cy="2424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26" name="그림 225">
              <a:extLst>
                <a:ext uri="{FF2B5EF4-FFF2-40B4-BE49-F238E27FC236}">
                  <a16:creationId xmlns:a16="http://schemas.microsoft.com/office/drawing/2014/main" id="{F7881108-88FC-4409-876D-C795B7F6E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97304" y="3788175"/>
              <a:ext cx="307558" cy="198585"/>
            </a:xfrm>
            <a:prstGeom prst="rect">
              <a:avLst/>
            </a:prstGeom>
          </p:spPr>
        </p:pic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E892C466-A612-4CB6-9904-0B2BA1E8CF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3712" y="5314600"/>
              <a:ext cx="522092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8" name="직선 연결선 227">
              <a:extLst>
                <a:ext uri="{FF2B5EF4-FFF2-40B4-BE49-F238E27FC236}">
                  <a16:creationId xmlns:a16="http://schemas.microsoft.com/office/drawing/2014/main" id="{64966EE2-6A2D-48D9-B93C-DE8C6E3B1A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4684" y="5400182"/>
              <a:ext cx="0" cy="44897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29" name="그림 228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D3DA5CE3-8215-45B6-BE67-AB505B03B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4837" y="5055660"/>
              <a:ext cx="207523" cy="447198"/>
            </a:xfrm>
            <a:prstGeom prst="rect">
              <a:avLst/>
            </a:prstGeom>
          </p:spPr>
        </p:pic>
        <p:grpSp>
          <p:nvGrpSpPr>
            <p:cNvPr id="230" name="그룹 229">
              <a:extLst>
                <a:ext uri="{FF2B5EF4-FFF2-40B4-BE49-F238E27FC236}">
                  <a16:creationId xmlns:a16="http://schemas.microsoft.com/office/drawing/2014/main" id="{31E5D113-EA14-4DF7-8D41-8C49633451D8}"/>
                </a:ext>
              </a:extLst>
            </p:cNvPr>
            <p:cNvGrpSpPr/>
            <p:nvPr/>
          </p:nvGrpSpPr>
          <p:grpSpPr>
            <a:xfrm>
              <a:off x="2108294" y="5487248"/>
              <a:ext cx="314291" cy="382451"/>
              <a:chOff x="6912474" y="5263962"/>
              <a:chExt cx="422940" cy="514662"/>
            </a:xfrm>
          </p:grpSpPr>
          <p:pic>
            <p:nvPicPr>
              <p:cNvPr id="265" name="그림 264">
                <a:extLst>
                  <a:ext uri="{FF2B5EF4-FFF2-40B4-BE49-F238E27FC236}">
                    <a16:creationId xmlns:a16="http://schemas.microsoft.com/office/drawing/2014/main" id="{50F649CB-F614-451A-91C4-366321AD27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0"/>
                        </a14:imgEffect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32605" y="5263962"/>
                <a:ext cx="241757" cy="223258"/>
              </a:xfrm>
              <a:prstGeom prst="rect">
                <a:avLst/>
              </a:prstGeom>
            </p:spPr>
          </p:pic>
          <p:pic>
            <p:nvPicPr>
              <p:cNvPr id="266" name="그림 265" descr="텍스트, 전자기기, 컴퓨터, 노트북이(가) 표시된 사진&#10;&#10;자동 생성된 설명">
                <a:extLst>
                  <a:ext uri="{FF2B5EF4-FFF2-40B4-BE49-F238E27FC236}">
                    <a16:creationId xmlns:a16="http://schemas.microsoft.com/office/drawing/2014/main" id="{13575A9F-8FA8-4FA1-9170-4896371813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6912474" y="5372201"/>
                <a:ext cx="422940" cy="406423"/>
              </a:xfrm>
              <a:prstGeom prst="rect">
                <a:avLst/>
              </a:prstGeom>
            </p:spPr>
          </p:pic>
        </p:grpSp>
        <p:grpSp>
          <p:nvGrpSpPr>
            <p:cNvPr id="231" name="그룹 230">
              <a:extLst>
                <a:ext uri="{FF2B5EF4-FFF2-40B4-BE49-F238E27FC236}">
                  <a16:creationId xmlns:a16="http://schemas.microsoft.com/office/drawing/2014/main" id="{EDAC2BA8-E42B-4A15-812B-683E1C263798}"/>
                </a:ext>
              </a:extLst>
            </p:cNvPr>
            <p:cNvGrpSpPr/>
            <p:nvPr/>
          </p:nvGrpSpPr>
          <p:grpSpPr>
            <a:xfrm>
              <a:off x="2447119" y="5487248"/>
              <a:ext cx="314291" cy="382451"/>
              <a:chOff x="7504476" y="5263962"/>
              <a:chExt cx="422940" cy="514662"/>
            </a:xfrm>
          </p:grpSpPr>
          <p:pic>
            <p:nvPicPr>
              <p:cNvPr id="263" name="그림 262">
                <a:extLst>
                  <a:ext uri="{FF2B5EF4-FFF2-40B4-BE49-F238E27FC236}">
                    <a16:creationId xmlns:a16="http://schemas.microsoft.com/office/drawing/2014/main" id="{A6530B4D-33E5-4913-8044-AF5F2B1843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harpenSoften amount="-50000"/>
                        </a14:imgEffect>
                        <a14:imgEffect>
                          <a14:saturation sat="0"/>
                        </a14:imgEffect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24608" y="5263962"/>
                <a:ext cx="241757" cy="223258"/>
              </a:xfrm>
              <a:prstGeom prst="rect">
                <a:avLst/>
              </a:prstGeom>
            </p:spPr>
          </p:pic>
          <p:pic>
            <p:nvPicPr>
              <p:cNvPr id="264" name="그림 263" descr="텍스트, 전자기기, 컴퓨터, 노트북이(가) 표시된 사진&#10;&#10;자동 생성된 설명">
                <a:extLst>
                  <a:ext uri="{FF2B5EF4-FFF2-40B4-BE49-F238E27FC236}">
                    <a16:creationId xmlns:a16="http://schemas.microsoft.com/office/drawing/2014/main" id="{A8FB91F4-05BD-45A4-9B32-33CEC69981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504476" y="5372201"/>
                <a:ext cx="422940" cy="406423"/>
              </a:xfrm>
              <a:prstGeom prst="rect">
                <a:avLst/>
              </a:prstGeom>
            </p:spPr>
          </p:pic>
        </p:grpSp>
        <p:pic>
          <p:nvPicPr>
            <p:cNvPr id="232" name="그림 231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ADD8B359-5984-4146-935A-83AB197BE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5804" y="5055660"/>
              <a:ext cx="207523" cy="447198"/>
            </a:xfrm>
            <a:prstGeom prst="rect">
              <a:avLst/>
            </a:prstGeom>
          </p:spPr>
        </p:pic>
        <p:pic>
          <p:nvPicPr>
            <p:cNvPr id="233" name="그림 232">
              <a:extLst>
                <a:ext uri="{FF2B5EF4-FFF2-40B4-BE49-F238E27FC236}">
                  <a16:creationId xmlns:a16="http://schemas.microsoft.com/office/drawing/2014/main" id="{759BD3A4-70D1-498C-B59B-7CA192E5A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65140" y="4916930"/>
              <a:ext cx="307558" cy="198585"/>
            </a:xfrm>
            <a:prstGeom prst="rect">
              <a:avLst/>
            </a:prstGeom>
          </p:spPr>
        </p:pic>
        <p:cxnSp>
          <p:nvCxnSpPr>
            <p:cNvPr id="234" name="직선 연결선 233">
              <a:extLst>
                <a:ext uri="{FF2B5EF4-FFF2-40B4-BE49-F238E27FC236}">
                  <a16:creationId xmlns:a16="http://schemas.microsoft.com/office/drawing/2014/main" id="{B4EF9A89-8E13-40EA-B2DD-FE6D4F63EF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12160" y="5079775"/>
              <a:ext cx="189817" cy="198859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35" name="그림 234">
              <a:extLst>
                <a:ext uri="{FF2B5EF4-FFF2-40B4-BE49-F238E27FC236}">
                  <a16:creationId xmlns:a16="http://schemas.microsoft.com/office/drawing/2014/main" id="{6E06C476-70E8-4DC0-A50E-4CE4138AB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76397" y="5208344"/>
              <a:ext cx="307558" cy="198585"/>
            </a:xfrm>
            <a:prstGeom prst="rect">
              <a:avLst/>
            </a:prstGeom>
          </p:spPr>
        </p:pic>
        <p:cxnSp>
          <p:nvCxnSpPr>
            <p:cNvPr id="236" name="직선 연결선 235">
              <a:extLst>
                <a:ext uri="{FF2B5EF4-FFF2-40B4-BE49-F238E27FC236}">
                  <a16:creationId xmlns:a16="http://schemas.microsoft.com/office/drawing/2014/main" id="{AAC0F43B-6F81-4370-BCF4-1A590EF45F65}"/>
                </a:ext>
              </a:extLst>
            </p:cNvPr>
            <p:cNvCxnSpPr>
              <a:cxnSpLocks/>
            </p:cNvCxnSpPr>
            <p:nvPr/>
          </p:nvCxnSpPr>
          <p:spPr>
            <a:xfrm>
              <a:off x="1960948" y="5314600"/>
              <a:ext cx="309164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CC351F28-A05E-458D-B622-E0F83DFDE9E9}"/>
                </a:ext>
              </a:extLst>
            </p:cNvPr>
            <p:cNvCxnSpPr>
              <a:cxnSpLocks/>
            </p:cNvCxnSpPr>
            <p:nvPr/>
          </p:nvCxnSpPr>
          <p:spPr>
            <a:xfrm>
              <a:off x="988044" y="5314600"/>
              <a:ext cx="66376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8" name="직선 연결선 237">
              <a:extLst>
                <a:ext uri="{FF2B5EF4-FFF2-40B4-BE49-F238E27FC236}">
                  <a16:creationId xmlns:a16="http://schemas.microsoft.com/office/drawing/2014/main" id="{5CDCA48F-330F-4A2E-A3BC-299F099C65F4}"/>
                </a:ext>
              </a:extLst>
            </p:cNvPr>
            <p:cNvCxnSpPr>
              <a:cxnSpLocks/>
            </p:cNvCxnSpPr>
            <p:nvPr/>
          </p:nvCxnSpPr>
          <p:spPr>
            <a:xfrm>
              <a:off x="1574600" y="4980235"/>
              <a:ext cx="149958" cy="21632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9" name="직선 연결선 238">
              <a:extLst>
                <a:ext uri="{FF2B5EF4-FFF2-40B4-BE49-F238E27FC236}">
                  <a16:creationId xmlns:a16="http://schemas.microsoft.com/office/drawing/2014/main" id="{795E0B10-A382-4E02-8574-0F6EF7A4848E}"/>
                </a:ext>
              </a:extLst>
            </p:cNvPr>
            <p:cNvCxnSpPr>
              <a:cxnSpLocks/>
            </p:cNvCxnSpPr>
            <p:nvPr/>
          </p:nvCxnSpPr>
          <p:spPr>
            <a:xfrm>
              <a:off x="1240038" y="5049851"/>
              <a:ext cx="487290" cy="20743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40" name="직선 연결선 239">
              <a:extLst>
                <a:ext uri="{FF2B5EF4-FFF2-40B4-BE49-F238E27FC236}">
                  <a16:creationId xmlns:a16="http://schemas.microsoft.com/office/drawing/2014/main" id="{AF9D7E6A-539F-4D21-ABC4-D56B61AD40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2183" y="5354427"/>
              <a:ext cx="442525" cy="207605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41" name="그림 240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69634460-5CEB-4EF6-8442-87C5E8A73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432239" y="4651807"/>
              <a:ext cx="267254" cy="393253"/>
            </a:xfrm>
            <a:prstGeom prst="rect">
              <a:avLst/>
            </a:prstGeom>
          </p:spPr>
        </p:pic>
        <p:pic>
          <p:nvPicPr>
            <p:cNvPr id="242" name="그림 241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7B672D63-BC30-445A-BFFB-23191F55F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66533" y="4825794"/>
              <a:ext cx="267254" cy="393253"/>
            </a:xfrm>
            <a:prstGeom prst="rect">
              <a:avLst/>
            </a:prstGeom>
          </p:spPr>
        </p:pic>
        <p:pic>
          <p:nvPicPr>
            <p:cNvPr id="243" name="그림 242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568C47A2-67E7-4BD7-B983-E588AB73E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48834" y="5159586"/>
              <a:ext cx="267254" cy="393253"/>
            </a:xfrm>
            <a:prstGeom prst="rect">
              <a:avLst/>
            </a:prstGeom>
          </p:spPr>
        </p:pic>
        <p:pic>
          <p:nvPicPr>
            <p:cNvPr id="244" name="그림 243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94B4237E-83AE-4A26-9266-164E73087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204782" y="5387068"/>
              <a:ext cx="267254" cy="393253"/>
            </a:xfrm>
            <a:prstGeom prst="rect">
              <a:avLst/>
            </a:prstGeom>
          </p:spPr>
        </p:pic>
        <p:grpSp>
          <p:nvGrpSpPr>
            <p:cNvPr id="245" name="그룹 244">
              <a:extLst>
                <a:ext uri="{FF2B5EF4-FFF2-40B4-BE49-F238E27FC236}">
                  <a16:creationId xmlns:a16="http://schemas.microsoft.com/office/drawing/2014/main" id="{DA425536-54D6-4298-AF75-BAB1041F02B3}"/>
                </a:ext>
              </a:extLst>
            </p:cNvPr>
            <p:cNvGrpSpPr/>
            <p:nvPr/>
          </p:nvGrpSpPr>
          <p:grpSpPr>
            <a:xfrm>
              <a:off x="1675414" y="5455266"/>
              <a:ext cx="361090" cy="424180"/>
              <a:chOff x="973967" y="3727034"/>
              <a:chExt cx="489425" cy="574938"/>
            </a:xfrm>
          </p:grpSpPr>
          <p:pic>
            <p:nvPicPr>
              <p:cNvPr id="260" name="그림 259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CDE879FD-C85D-4FD5-B6B7-5CDCAA48E4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1199" y="3791476"/>
                <a:ext cx="412193" cy="510496"/>
              </a:xfrm>
              <a:prstGeom prst="rect">
                <a:avLst/>
              </a:prstGeom>
            </p:spPr>
          </p:pic>
          <p:pic>
            <p:nvPicPr>
              <p:cNvPr id="261" name="그림 260">
                <a:extLst>
                  <a:ext uri="{FF2B5EF4-FFF2-40B4-BE49-F238E27FC236}">
                    <a16:creationId xmlns:a16="http://schemas.microsoft.com/office/drawing/2014/main" id="{64C524C3-FA22-47D0-8FDF-2509E6497A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3517" y="3727034"/>
                <a:ext cx="193890" cy="124372"/>
              </a:xfrm>
              <a:prstGeom prst="rect">
                <a:avLst/>
              </a:prstGeom>
            </p:spPr>
          </p:pic>
          <p:pic>
            <p:nvPicPr>
              <p:cNvPr id="262" name="그림 261">
                <a:extLst>
                  <a:ext uri="{FF2B5EF4-FFF2-40B4-BE49-F238E27FC236}">
                    <a16:creationId xmlns:a16="http://schemas.microsoft.com/office/drawing/2014/main" id="{C0A059F2-DDEB-4489-8454-F24C858ECB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3967" y="3853240"/>
                <a:ext cx="193890" cy="124372"/>
              </a:xfrm>
              <a:prstGeom prst="rect">
                <a:avLst/>
              </a:prstGeom>
            </p:spPr>
          </p:pic>
        </p:grpSp>
        <p:cxnSp>
          <p:nvCxnSpPr>
            <p:cNvPr id="246" name="직선 연결선 245">
              <a:extLst>
                <a:ext uri="{FF2B5EF4-FFF2-40B4-BE49-F238E27FC236}">
                  <a16:creationId xmlns:a16="http://schemas.microsoft.com/office/drawing/2014/main" id="{F9B302AC-3015-4EC7-8845-D7A778C34562}"/>
                </a:ext>
              </a:extLst>
            </p:cNvPr>
            <p:cNvCxnSpPr>
              <a:cxnSpLocks/>
              <a:stCxn id="247" idx="0"/>
              <a:endCxn id="224" idx="2"/>
            </p:cNvCxnSpPr>
            <p:nvPr/>
          </p:nvCxnSpPr>
          <p:spPr>
            <a:xfrm flipV="1">
              <a:off x="3097411" y="2899410"/>
              <a:ext cx="0" cy="888765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47" name="그림 246">
              <a:extLst>
                <a:ext uri="{FF2B5EF4-FFF2-40B4-BE49-F238E27FC236}">
                  <a16:creationId xmlns:a16="http://schemas.microsoft.com/office/drawing/2014/main" id="{E076A2F5-D685-4BDF-BE84-F13BFCDB7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3788175"/>
              <a:ext cx="307558" cy="198585"/>
            </a:xfrm>
            <a:prstGeom prst="rect">
              <a:avLst/>
            </a:prstGeom>
          </p:spPr>
        </p:pic>
        <p:pic>
          <p:nvPicPr>
            <p:cNvPr id="248" name="그림 247">
              <a:extLst>
                <a:ext uri="{FF2B5EF4-FFF2-40B4-BE49-F238E27FC236}">
                  <a16:creationId xmlns:a16="http://schemas.microsoft.com/office/drawing/2014/main" id="{0DFA531D-D1E5-4B04-83AF-49C1A5E49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60713" y="2384091"/>
              <a:ext cx="307558" cy="198585"/>
            </a:xfrm>
            <a:prstGeom prst="rect">
              <a:avLst/>
            </a:prstGeom>
          </p:spPr>
        </p:pic>
        <p:cxnSp>
          <p:nvCxnSpPr>
            <p:cNvPr id="249" name="직선 연결선 248">
              <a:extLst>
                <a:ext uri="{FF2B5EF4-FFF2-40B4-BE49-F238E27FC236}">
                  <a16:creationId xmlns:a16="http://schemas.microsoft.com/office/drawing/2014/main" id="{7566842D-DC6C-418D-89EC-F55685ACDC93}"/>
                </a:ext>
              </a:extLst>
            </p:cNvPr>
            <p:cNvCxnSpPr/>
            <p:nvPr/>
          </p:nvCxnSpPr>
          <p:spPr>
            <a:xfrm flipH="1">
              <a:off x="1274445" y="3641726"/>
              <a:ext cx="263525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50" name="그룹 249">
              <a:extLst>
                <a:ext uri="{FF2B5EF4-FFF2-40B4-BE49-F238E27FC236}">
                  <a16:creationId xmlns:a16="http://schemas.microsoft.com/office/drawing/2014/main" id="{16000E07-8ABB-4D11-B9E7-B3AFC79EB293}"/>
                </a:ext>
              </a:extLst>
            </p:cNvPr>
            <p:cNvGrpSpPr/>
            <p:nvPr/>
          </p:nvGrpSpPr>
          <p:grpSpPr>
            <a:xfrm>
              <a:off x="985367" y="3338114"/>
              <a:ext cx="361090" cy="424180"/>
              <a:chOff x="973967" y="3727034"/>
              <a:chExt cx="489425" cy="574938"/>
            </a:xfrm>
          </p:grpSpPr>
          <p:pic>
            <p:nvPicPr>
              <p:cNvPr id="257" name="그림 256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3E651200-1192-4415-8401-B79F5BDACE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1199" y="3791476"/>
                <a:ext cx="412193" cy="510496"/>
              </a:xfrm>
              <a:prstGeom prst="rect">
                <a:avLst/>
              </a:prstGeom>
            </p:spPr>
          </p:pic>
          <p:pic>
            <p:nvPicPr>
              <p:cNvPr id="258" name="그림 257">
                <a:extLst>
                  <a:ext uri="{FF2B5EF4-FFF2-40B4-BE49-F238E27FC236}">
                    <a16:creationId xmlns:a16="http://schemas.microsoft.com/office/drawing/2014/main" id="{047E6BF8-1394-4D24-9D7E-D6F7BCD917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3517" y="3727034"/>
                <a:ext cx="193890" cy="124372"/>
              </a:xfrm>
              <a:prstGeom prst="rect">
                <a:avLst/>
              </a:prstGeom>
            </p:spPr>
          </p:pic>
          <p:pic>
            <p:nvPicPr>
              <p:cNvPr id="259" name="그림 258">
                <a:extLst>
                  <a:ext uri="{FF2B5EF4-FFF2-40B4-BE49-F238E27FC236}">
                    <a16:creationId xmlns:a16="http://schemas.microsoft.com/office/drawing/2014/main" id="{DC6424F6-1FDF-474B-8D65-48A7BE5837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3967" y="3853240"/>
                <a:ext cx="193890" cy="124372"/>
              </a:xfrm>
              <a:prstGeom prst="rect">
                <a:avLst/>
              </a:prstGeom>
            </p:spPr>
          </p:pic>
        </p:grpSp>
        <p:cxnSp>
          <p:nvCxnSpPr>
            <p:cNvPr id="251" name="직선 연결선 250">
              <a:extLst>
                <a:ext uri="{FF2B5EF4-FFF2-40B4-BE49-F238E27FC236}">
                  <a16:creationId xmlns:a16="http://schemas.microsoft.com/office/drawing/2014/main" id="{7ECCB4BA-C51E-41D5-95CE-E6F83AC097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9098" y="5086349"/>
              <a:ext cx="144000" cy="13312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52" name="그림 251">
              <a:extLst>
                <a:ext uri="{FF2B5EF4-FFF2-40B4-BE49-F238E27FC236}">
                  <a16:creationId xmlns:a16="http://schemas.microsoft.com/office/drawing/2014/main" id="{01137BD3-7025-492A-9213-6AFC30A27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53882" y="5208344"/>
              <a:ext cx="307558" cy="198585"/>
            </a:xfrm>
            <a:prstGeom prst="rect">
              <a:avLst/>
            </a:prstGeom>
          </p:spPr>
        </p:pic>
        <p:cxnSp>
          <p:nvCxnSpPr>
            <p:cNvPr id="253" name="직선 연결선 252">
              <a:extLst>
                <a:ext uri="{FF2B5EF4-FFF2-40B4-BE49-F238E27FC236}">
                  <a16:creationId xmlns:a16="http://schemas.microsoft.com/office/drawing/2014/main" id="{D3DE9AD7-7A55-4F36-A193-E8E575F8595C}"/>
                </a:ext>
              </a:extLst>
            </p:cNvPr>
            <p:cNvCxnSpPr>
              <a:cxnSpLocks/>
              <a:endCxn id="256" idx="2"/>
            </p:cNvCxnSpPr>
            <p:nvPr/>
          </p:nvCxnSpPr>
          <p:spPr>
            <a:xfrm flipV="1">
              <a:off x="1704659" y="3286850"/>
              <a:ext cx="0" cy="267501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54" name="그림 253">
              <a:extLst>
                <a:ext uri="{FF2B5EF4-FFF2-40B4-BE49-F238E27FC236}">
                  <a16:creationId xmlns:a16="http://schemas.microsoft.com/office/drawing/2014/main" id="{1EA56323-6E02-41B1-B821-654E70579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41945" y="3551831"/>
              <a:ext cx="307558" cy="198585"/>
            </a:xfrm>
            <a:prstGeom prst="rect">
              <a:avLst/>
            </a:prstGeom>
          </p:spPr>
        </p:pic>
        <p:pic>
          <p:nvPicPr>
            <p:cNvPr id="255" name="그림 254">
              <a:extLst>
                <a:ext uri="{FF2B5EF4-FFF2-40B4-BE49-F238E27FC236}">
                  <a16:creationId xmlns:a16="http://schemas.microsoft.com/office/drawing/2014/main" id="{65FA5996-F993-46C7-921F-C17A4BB29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76060" y="2872220"/>
              <a:ext cx="207997" cy="192081"/>
            </a:xfrm>
            <a:prstGeom prst="rect">
              <a:avLst/>
            </a:prstGeom>
          </p:spPr>
        </p:pic>
        <p:pic>
          <p:nvPicPr>
            <p:cNvPr id="256" name="그림 255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DDC6973A-C3CD-4D57-9B70-CF628D97D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604868" y="2893597"/>
              <a:ext cx="267254" cy="393253"/>
            </a:xfrm>
            <a:prstGeom prst="rect">
              <a:avLst/>
            </a:prstGeom>
          </p:spPr>
        </p:pic>
      </p:grp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9337C82D-ADCB-4415-92D3-0CA75DC887DE}"/>
              </a:ext>
            </a:extLst>
          </p:cNvPr>
          <p:cNvGrpSpPr/>
          <p:nvPr/>
        </p:nvGrpSpPr>
        <p:grpSpPr>
          <a:xfrm>
            <a:off x="1398439" y="980728"/>
            <a:ext cx="1020745" cy="1048492"/>
            <a:chOff x="4619307" y="1276118"/>
            <a:chExt cx="1098550" cy="1189630"/>
          </a:xfrm>
        </p:grpSpPr>
        <p:sp>
          <p:nvSpPr>
            <p:cNvPr id="272" name="Rectangle 228">
              <a:extLst>
                <a:ext uri="{FF2B5EF4-FFF2-40B4-BE49-F238E27FC236}">
                  <a16:creationId xmlns:a16="http://schemas.microsoft.com/office/drawing/2014/main" id="{06851777-91BF-41D9-9A11-A2A3435D9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895" y="1322404"/>
              <a:ext cx="1095375" cy="11206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273" name="Line 231">
              <a:extLst>
                <a:ext uri="{FF2B5EF4-FFF2-40B4-BE49-F238E27FC236}">
                  <a16:creationId xmlns:a16="http://schemas.microsoft.com/office/drawing/2014/main" id="{3D28EBFC-6644-4442-9CB0-7968FE988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9307" y="1767150"/>
              <a:ext cx="1098550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274" name="Line 231">
              <a:extLst>
                <a:ext uri="{FF2B5EF4-FFF2-40B4-BE49-F238E27FC236}">
                  <a16:creationId xmlns:a16="http://schemas.microsoft.com/office/drawing/2014/main" id="{A4DB9783-88B1-4078-BC05-DCAC0DCC71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9307" y="1983866"/>
              <a:ext cx="1098550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275" name="Line 231">
              <a:extLst>
                <a:ext uri="{FF2B5EF4-FFF2-40B4-BE49-F238E27FC236}">
                  <a16:creationId xmlns:a16="http://schemas.microsoft.com/office/drawing/2014/main" id="{5637B352-0D67-4707-9F92-BE77768BA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9307" y="2200583"/>
              <a:ext cx="1098550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276" name="직사각형 275">
              <a:extLst>
                <a:ext uri="{FF2B5EF4-FFF2-40B4-BE49-F238E27FC236}">
                  <a16:creationId xmlns:a16="http://schemas.microsoft.com/office/drawing/2014/main" id="{634A3358-DF7A-4C25-BB3C-BD2729E39CD6}"/>
                </a:ext>
              </a:extLst>
            </p:cNvPr>
            <p:cNvSpPr/>
            <p:nvPr/>
          </p:nvSpPr>
          <p:spPr>
            <a:xfrm>
              <a:off x="4621990" y="1553147"/>
              <a:ext cx="1093184" cy="219076"/>
            </a:xfrm>
            <a:prstGeom prst="rect">
              <a:avLst/>
            </a:prstGeom>
            <a:solidFill>
              <a:srgbClr val="105B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277" name="Text Box 230">
              <a:extLst>
                <a:ext uri="{FF2B5EF4-FFF2-40B4-BE49-F238E27FC236}">
                  <a16:creationId xmlns:a16="http://schemas.microsoft.com/office/drawing/2014/main" id="{306D3153-3E6A-4961-A5E5-9681CC76EC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6894" y="1276118"/>
              <a:ext cx="1043376" cy="1189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application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transport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</p:grpSp>
      <p:sp>
        <p:nvSpPr>
          <p:cNvPr id="278" name="Freeform 917">
            <a:extLst>
              <a:ext uri="{FF2B5EF4-FFF2-40B4-BE49-F238E27FC236}">
                <a16:creationId xmlns:a16="http://schemas.microsoft.com/office/drawing/2014/main" id="{1F1024A4-D167-4821-AB0F-60EEEC4BD0E8}"/>
              </a:ext>
            </a:extLst>
          </p:cNvPr>
          <p:cNvSpPr>
            <a:spLocks/>
          </p:cNvSpPr>
          <p:nvPr/>
        </p:nvSpPr>
        <p:spPr bwMode="auto">
          <a:xfrm rot="16200000">
            <a:off x="747095" y="1338227"/>
            <a:ext cx="961123" cy="340396"/>
          </a:xfrm>
          <a:prstGeom prst="triangle">
            <a:avLst>
              <a:gd name="adj" fmla="val 0"/>
            </a:avLst>
          </a:prstGeom>
          <a:gradFill flip="none" rotWithShape="1">
            <a:gsLst>
              <a:gs pos="1000">
                <a:srgbClr val="105BA0">
                  <a:alpha val="28000"/>
                </a:srgbClr>
              </a:gs>
              <a:gs pos="100000">
                <a:srgbClr val="105BA0">
                  <a:alpha val="48000"/>
                </a:srgbClr>
              </a:gs>
            </a:gsLst>
            <a:lin ang="5400000" scaled="1"/>
            <a:tileRect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TTF Medium"/>
              <a:ea typeface="넥슨Lv1고딕"/>
              <a:cs typeface="+mn-cs"/>
            </a:endParaRPr>
          </a:p>
        </p:txBody>
      </p: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6691F6B7-EA66-4CC1-8D53-EDA6650357A3}"/>
              </a:ext>
            </a:extLst>
          </p:cNvPr>
          <p:cNvGrpSpPr/>
          <p:nvPr/>
        </p:nvGrpSpPr>
        <p:grpSpPr>
          <a:xfrm>
            <a:off x="3220636" y="5250258"/>
            <a:ext cx="1020745" cy="1048492"/>
            <a:chOff x="3220636" y="5250258"/>
            <a:chExt cx="1020745" cy="1048492"/>
          </a:xfrm>
        </p:grpSpPr>
        <p:sp>
          <p:nvSpPr>
            <p:cNvPr id="279" name="Rectangle 228">
              <a:extLst>
                <a:ext uri="{FF2B5EF4-FFF2-40B4-BE49-F238E27FC236}">
                  <a16:creationId xmlns:a16="http://schemas.microsoft.com/office/drawing/2014/main" id="{DB337977-5D09-403A-BB03-506CFA835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2112" y="5291053"/>
              <a:ext cx="1017795" cy="98765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280" name="직사각형 279">
              <a:extLst>
                <a:ext uri="{FF2B5EF4-FFF2-40B4-BE49-F238E27FC236}">
                  <a16:creationId xmlns:a16="http://schemas.microsoft.com/office/drawing/2014/main" id="{F336CDF1-C950-406C-8E37-93828F35F41D}"/>
                </a:ext>
              </a:extLst>
            </p:cNvPr>
            <p:cNvSpPr/>
            <p:nvPr/>
          </p:nvSpPr>
          <p:spPr>
            <a:xfrm>
              <a:off x="3223129" y="5487277"/>
              <a:ext cx="1015759" cy="193085"/>
            </a:xfrm>
            <a:prstGeom prst="rect">
              <a:avLst/>
            </a:prstGeom>
            <a:solidFill>
              <a:srgbClr val="105B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281" name="Line 231">
              <a:extLst>
                <a:ext uri="{FF2B5EF4-FFF2-40B4-BE49-F238E27FC236}">
                  <a16:creationId xmlns:a16="http://schemas.microsoft.com/office/drawing/2014/main" id="{2C734745-BB64-4C56-AD5F-F37A22DB97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0636" y="56830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282" name="Line 231">
              <a:extLst>
                <a:ext uri="{FF2B5EF4-FFF2-40B4-BE49-F238E27FC236}">
                  <a16:creationId xmlns:a16="http://schemas.microsoft.com/office/drawing/2014/main" id="{3CED2762-EED1-4888-B91E-0EDBAB87E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0636" y="5874038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283" name="Line 231">
              <a:extLst>
                <a:ext uri="{FF2B5EF4-FFF2-40B4-BE49-F238E27FC236}">
                  <a16:creationId xmlns:a16="http://schemas.microsoft.com/office/drawing/2014/main" id="{FC67F535-01CB-4802-9D82-7257662E8E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0636" y="606504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284" name="Text Box 230">
              <a:extLst>
                <a:ext uri="{FF2B5EF4-FFF2-40B4-BE49-F238E27FC236}">
                  <a16:creationId xmlns:a16="http://schemas.microsoft.com/office/drawing/2014/main" id="{20B5D262-2DFB-4CA8-BE77-A651EF7B35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6269" y="5250258"/>
              <a:ext cx="969479" cy="10484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application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transport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</p:grpSp>
      <p:sp>
        <p:nvSpPr>
          <p:cNvPr id="285" name="Freeform 917">
            <a:extLst>
              <a:ext uri="{FF2B5EF4-FFF2-40B4-BE49-F238E27FC236}">
                <a16:creationId xmlns:a16="http://schemas.microsoft.com/office/drawing/2014/main" id="{830A5395-236A-4BE9-8088-A2E6811C59A5}"/>
              </a:ext>
            </a:extLst>
          </p:cNvPr>
          <p:cNvSpPr>
            <a:spLocks/>
          </p:cNvSpPr>
          <p:nvPr/>
        </p:nvSpPr>
        <p:spPr bwMode="auto">
          <a:xfrm rot="5400000" flipV="1">
            <a:off x="2569292" y="5607757"/>
            <a:ext cx="961123" cy="340396"/>
          </a:xfrm>
          <a:prstGeom prst="triangle">
            <a:avLst>
              <a:gd name="adj" fmla="val 0"/>
            </a:avLst>
          </a:prstGeom>
          <a:gradFill flip="none" rotWithShape="1">
            <a:gsLst>
              <a:gs pos="1000">
                <a:srgbClr val="105BA0">
                  <a:alpha val="28000"/>
                </a:srgbClr>
              </a:gs>
              <a:gs pos="100000">
                <a:srgbClr val="105BA0">
                  <a:alpha val="48000"/>
                </a:srgbClr>
              </a:gs>
            </a:gsLst>
            <a:lin ang="5400000" scaled="1"/>
            <a:tileRect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TTF Medium"/>
              <a:ea typeface="넥슨Lv1고딕"/>
              <a:cs typeface="+mn-cs"/>
            </a:endParaRPr>
          </a:p>
        </p:txBody>
      </p:sp>
      <p:sp>
        <p:nvSpPr>
          <p:cNvPr id="288" name="Rectangle 3">
            <a:extLst>
              <a:ext uri="{FF2B5EF4-FFF2-40B4-BE49-F238E27FC236}">
                <a16:creationId xmlns:a16="http://schemas.microsoft.com/office/drawing/2014/main" id="{80979A21-7056-4695-BA36-60EEA0D60E0B}"/>
              </a:ext>
            </a:extLst>
          </p:cNvPr>
          <p:cNvSpPr txBox="1">
            <a:spLocks noChangeArrowheads="1"/>
          </p:cNvSpPr>
          <p:nvPr/>
        </p:nvSpPr>
        <p:spPr>
          <a:xfrm>
            <a:off x="3761026" y="1078722"/>
            <a:ext cx="44546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19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신뢰적이고 순차적인 전달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: TCP</a:t>
            </a:r>
          </a:p>
        </p:txBody>
      </p:sp>
      <p:sp>
        <p:nvSpPr>
          <p:cNvPr id="289" name="Rectangle 3">
            <a:extLst>
              <a:ext uri="{FF2B5EF4-FFF2-40B4-BE49-F238E27FC236}">
                <a16:creationId xmlns:a16="http://schemas.microsoft.com/office/drawing/2014/main" id="{C1DA9AAF-891E-4B47-A119-9315CFA2D8EB}"/>
              </a:ext>
            </a:extLst>
          </p:cNvPr>
          <p:cNvSpPr txBox="1">
            <a:spLocks noChangeArrowheads="1"/>
          </p:cNvSpPr>
          <p:nvPr/>
        </p:nvSpPr>
        <p:spPr>
          <a:xfrm>
            <a:off x="4111068" y="1514933"/>
            <a:ext cx="4042332" cy="10581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혼잡 제어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흐름 제어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연결 설정</a:t>
            </a:r>
          </a:p>
        </p:txBody>
      </p:sp>
      <p:sp>
        <p:nvSpPr>
          <p:cNvPr id="290" name="Rectangle 3">
            <a:extLst>
              <a:ext uri="{FF2B5EF4-FFF2-40B4-BE49-F238E27FC236}">
                <a16:creationId xmlns:a16="http://schemas.microsoft.com/office/drawing/2014/main" id="{F6FB59E4-677E-4441-A3BA-8E41587B7771}"/>
              </a:ext>
            </a:extLst>
          </p:cNvPr>
          <p:cNvSpPr txBox="1">
            <a:spLocks noChangeArrowheads="1"/>
          </p:cNvSpPr>
          <p:nvPr/>
        </p:nvSpPr>
        <p:spPr>
          <a:xfrm>
            <a:off x="3761026" y="2693939"/>
            <a:ext cx="44546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19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비신뢰적이고 비순차적인 전달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: UDP</a:t>
            </a:r>
          </a:p>
        </p:txBody>
      </p:sp>
      <p:sp>
        <p:nvSpPr>
          <p:cNvPr id="292" name="Rectangle 3">
            <a:extLst>
              <a:ext uri="{FF2B5EF4-FFF2-40B4-BE49-F238E27FC236}">
                <a16:creationId xmlns:a16="http://schemas.microsoft.com/office/drawing/2014/main" id="{B5248B67-1D18-4702-B3F7-6F19EC570791}"/>
              </a:ext>
            </a:extLst>
          </p:cNvPr>
          <p:cNvSpPr txBox="1">
            <a:spLocks noChangeArrowheads="1"/>
          </p:cNvSpPr>
          <p:nvPr/>
        </p:nvSpPr>
        <p:spPr>
          <a:xfrm>
            <a:off x="4111068" y="3143499"/>
            <a:ext cx="404233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“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best-effort” IP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약간의 기능만 추가</a:t>
            </a:r>
          </a:p>
        </p:txBody>
      </p:sp>
      <p:sp>
        <p:nvSpPr>
          <p:cNvPr id="293" name="Rectangle 3">
            <a:extLst>
              <a:ext uri="{FF2B5EF4-FFF2-40B4-BE49-F238E27FC236}">
                <a16:creationId xmlns:a16="http://schemas.microsoft.com/office/drawing/2014/main" id="{6F328FF7-516A-41FB-BF61-9EEAEF4B6A94}"/>
              </a:ext>
            </a:extLst>
          </p:cNvPr>
          <p:cNvSpPr txBox="1">
            <a:spLocks noChangeArrowheads="1"/>
          </p:cNvSpPr>
          <p:nvPr/>
        </p:nvSpPr>
        <p:spPr>
          <a:xfrm>
            <a:off x="3761026" y="3668409"/>
            <a:ext cx="44546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19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제공되지 않는 서비스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 </a:t>
            </a:r>
          </a:p>
        </p:txBody>
      </p:sp>
      <p:sp>
        <p:nvSpPr>
          <p:cNvPr id="294" name="Rectangle 3">
            <a:extLst>
              <a:ext uri="{FF2B5EF4-FFF2-40B4-BE49-F238E27FC236}">
                <a16:creationId xmlns:a16="http://schemas.microsoft.com/office/drawing/2014/main" id="{E24AF348-CA02-4CF1-8DCA-8F9189080A7E}"/>
              </a:ext>
            </a:extLst>
          </p:cNvPr>
          <p:cNvSpPr txBox="1">
            <a:spLocks noChangeArrowheads="1"/>
          </p:cNvSpPr>
          <p:nvPr/>
        </p:nvSpPr>
        <p:spPr>
          <a:xfrm>
            <a:off x="4111068" y="4117969"/>
            <a:ext cx="404233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지연 보장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대역폭 보장</a:t>
            </a:r>
          </a:p>
        </p:txBody>
      </p:sp>
      <p:grpSp>
        <p:nvGrpSpPr>
          <p:cNvPr id="304" name="그룹 303">
            <a:extLst>
              <a:ext uri="{FF2B5EF4-FFF2-40B4-BE49-F238E27FC236}">
                <a16:creationId xmlns:a16="http://schemas.microsoft.com/office/drawing/2014/main" id="{36A8AFB6-F0E9-4931-9F8E-E6553DFFE478}"/>
              </a:ext>
            </a:extLst>
          </p:cNvPr>
          <p:cNvGrpSpPr/>
          <p:nvPr/>
        </p:nvGrpSpPr>
        <p:grpSpPr>
          <a:xfrm>
            <a:off x="2342750" y="4977209"/>
            <a:ext cx="790976" cy="617142"/>
            <a:chOff x="5168499" y="5250258"/>
            <a:chExt cx="1020745" cy="633635"/>
          </a:xfrm>
        </p:grpSpPr>
        <p:sp>
          <p:nvSpPr>
            <p:cNvPr id="297" name="Rectangle 228">
              <a:extLst>
                <a:ext uri="{FF2B5EF4-FFF2-40B4-BE49-F238E27FC236}">
                  <a16:creationId xmlns:a16="http://schemas.microsoft.com/office/drawing/2014/main" id="{BD5787FF-E7BD-4E88-AAE1-B944AFD53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9975" y="5291053"/>
              <a:ext cx="1017795" cy="58904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299" name="Line 231">
              <a:extLst>
                <a:ext uri="{FF2B5EF4-FFF2-40B4-BE49-F238E27FC236}">
                  <a16:creationId xmlns:a16="http://schemas.microsoft.com/office/drawing/2014/main" id="{92566AEC-01A0-4C43-AA7B-AA1A390C5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6830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02" name="Text Box 230">
              <a:extLst>
                <a:ext uri="{FF2B5EF4-FFF2-40B4-BE49-F238E27FC236}">
                  <a16:creationId xmlns:a16="http://schemas.microsoft.com/office/drawing/2014/main" id="{651B3CE0-8679-44C3-A07E-613F9E65A0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2287" y="5250258"/>
              <a:ext cx="953173" cy="633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  <p:sp>
          <p:nvSpPr>
            <p:cNvPr id="303" name="Line 231">
              <a:extLst>
                <a:ext uri="{FF2B5EF4-FFF2-40B4-BE49-F238E27FC236}">
                  <a16:creationId xmlns:a16="http://schemas.microsoft.com/office/drawing/2014/main" id="{8DCB106B-6453-4496-BE66-72322883BB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4925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</p:grpSp>
      <p:grpSp>
        <p:nvGrpSpPr>
          <p:cNvPr id="305" name="그룹 304">
            <a:extLst>
              <a:ext uri="{FF2B5EF4-FFF2-40B4-BE49-F238E27FC236}">
                <a16:creationId xmlns:a16="http://schemas.microsoft.com/office/drawing/2014/main" id="{5DCBDE7B-3495-450B-88E6-1C4AF1B01F72}"/>
              </a:ext>
            </a:extLst>
          </p:cNvPr>
          <p:cNvGrpSpPr/>
          <p:nvPr/>
        </p:nvGrpSpPr>
        <p:grpSpPr>
          <a:xfrm>
            <a:off x="1661712" y="4505193"/>
            <a:ext cx="790976" cy="617142"/>
            <a:chOff x="5168499" y="5250258"/>
            <a:chExt cx="1020745" cy="633635"/>
          </a:xfrm>
        </p:grpSpPr>
        <p:sp>
          <p:nvSpPr>
            <p:cNvPr id="306" name="Rectangle 228">
              <a:extLst>
                <a:ext uri="{FF2B5EF4-FFF2-40B4-BE49-F238E27FC236}">
                  <a16:creationId xmlns:a16="http://schemas.microsoft.com/office/drawing/2014/main" id="{EEF2D872-0BFF-4753-81F6-3DC0ACDCF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9975" y="5291053"/>
              <a:ext cx="1017795" cy="58904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07" name="Line 231">
              <a:extLst>
                <a:ext uri="{FF2B5EF4-FFF2-40B4-BE49-F238E27FC236}">
                  <a16:creationId xmlns:a16="http://schemas.microsoft.com/office/drawing/2014/main" id="{DF36ECA7-A600-4B46-9E40-A86834508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6830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08" name="Text Box 230">
              <a:extLst>
                <a:ext uri="{FF2B5EF4-FFF2-40B4-BE49-F238E27FC236}">
                  <a16:creationId xmlns:a16="http://schemas.microsoft.com/office/drawing/2014/main" id="{3387B9F0-868C-41A3-8D95-DC5134F6D6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2287" y="5250258"/>
              <a:ext cx="953173" cy="633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  <p:sp>
          <p:nvSpPr>
            <p:cNvPr id="309" name="Line 231">
              <a:extLst>
                <a:ext uri="{FF2B5EF4-FFF2-40B4-BE49-F238E27FC236}">
                  <a16:creationId xmlns:a16="http://schemas.microsoft.com/office/drawing/2014/main" id="{49E84DA6-4085-47BE-B742-37292591B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4925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</p:grpSp>
      <p:grpSp>
        <p:nvGrpSpPr>
          <p:cNvPr id="310" name="그룹 309">
            <a:extLst>
              <a:ext uri="{FF2B5EF4-FFF2-40B4-BE49-F238E27FC236}">
                <a16:creationId xmlns:a16="http://schemas.microsoft.com/office/drawing/2014/main" id="{00AA9980-9899-4CDD-A0E6-8F4A561A4870}"/>
              </a:ext>
            </a:extLst>
          </p:cNvPr>
          <p:cNvGrpSpPr/>
          <p:nvPr/>
        </p:nvGrpSpPr>
        <p:grpSpPr>
          <a:xfrm>
            <a:off x="2342750" y="4033176"/>
            <a:ext cx="790976" cy="617142"/>
            <a:chOff x="5168499" y="5250258"/>
            <a:chExt cx="1020745" cy="633635"/>
          </a:xfrm>
        </p:grpSpPr>
        <p:sp>
          <p:nvSpPr>
            <p:cNvPr id="311" name="Rectangle 228">
              <a:extLst>
                <a:ext uri="{FF2B5EF4-FFF2-40B4-BE49-F238E27FC236}">
                  <a16:creationId xmlns:a16="http://schemas.microsoft.com/office/drawing/2014/main" id="{CDD16C57-4A51-45A4-8337-E01D7F913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9975" y="5291053"/>
              <a:ext cx="1017795" cy="58904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12" name="Line 231">
              <a:extLst>
                <a:ext uri="{FF2B5EF4-FFF2-40B4-BE49-F238E27FC236}">
                  <a16:creationId xmlns:a16="http://schemas.microsoft.com/office/drawing/2014/main" id="{33ECF318-25E4-45FE-A3A4-B1D6F1A4FB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6830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13" name="Text Box 230">
              <a:extLst>
                <a:ext uri="{FF2B5EF4-FFF2-40B4-BE49-F238E27FC236}">
                  <a16:creationId xmlns:a16="http://schemas.microsoft.com/office/drawing/2014/main" id="{0D1E3574-7E50-4EBB-BED5-AFDB4368D1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2287" y="5250258"/>
              <a:ext cx="953173" cy="633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  <p:sp>
          <p:nvSpPr>
            <p:cNvPr id="314" name="Line 231">
              <a:extLst>
                <a:ext uri="{FF2B5EF4-FFF2-40B4-BE49-F238E27FC236}">
                  <a16:creationId xmlns:a16="http://schemas.microsoft.com/office/drawing/2014/main" id="{B6FD24CB-3551-4310-B0EE-1158852A24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4925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</p:grpSp>
      <p:grpSp>
        <p:nvGrpSpPr>
          <p:cNvPr id="315" name="그룹 314">
            <a:extLst>
              <a:ext uri="{FF2B5EF4-FFF2-40B4-BE49-F238E27FC236}">
                <a16:creationId xmlns:a16="http://schemas.microsoft.com/office/drawing/2014/main" id="{518778D0-1A6C-4E9E-A6B4-E4F8DCD8BC16}"/>
              </a:ext>
            </a:extLst>
          </p:cNvPr>
          <p:cNvGrpSpPr/>
          <p:nvPr/>
        </p:nvGrpSpPr>
        <p:grpSpPr>
          <a:xfrm>
            <a:off x="1661712" y="3561159"/>
            <a:ext cx="790976" cy="617142"/>
            <a:chOff x="5168499" y="5250258"/>
            <a:chExt cx="1020745" cy="633635"/>
          </a:xfrm>
        </p:grpSpPr>
        <p:sp>
          <p:nvSpPr>
            <p:cNvPr id="316" name="Rectangle 228">
              <a:extLst>
                <a:ext uri="{FF2B5EF4-FFF2-40B4-BE49-F238E27FC236}">
                  <a16:creationId xmlns:a16="http://schemas.microsoft.com/office/drawing/2014/main" id="{CB503FA2-1A1F-4163-8E0C-9616F0971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9975" y="5291053"/>
              <a:ext cx="1017795" cy="58904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17" name="Line 231">
              <a:extLst>
                <a:ext uri="{FF2B5EF4-FFF2-40B4-BE49-F238E27FC236}">
                  <a16:creationId xmlns:a16="http://schemas.microsoft.com/office/drawing/2014/main" id="{23B3A074-72EB-48D8-855E-D46F8AF55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6830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18" name="Text Box 230">
              <a:extLst>
                <a:ext uri="{FF2B5EF4-FFF2-40B4-BE49-F238E27FC236}">
                  <a16:creationId xmlns:a16="http://schemas.microsoft.com/office/drawing/2014/main" id="{57795896-FA4C-450D-9704-09ABC012D0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2287" y="5250258"/>
              <a:ext cx="953173" cy="633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  <p:sp>
          <p:nvSpPr>
            <p:cNvPr id="319" name="Line 231">
              <a:extLst>
                <a:ext uri="{FF2B5EF4-FFF2-40B4-BE49-F238E27FC236}">
                  <a16:creationId xmlns:a16="http://schemas.microsoft.com/office/drawing/2014/main" id="{B5DEE5B4-478D-4CE4-BCEE-3C25DC04CB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4925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</p:grpSp>
      <p:grpSp>
        <p:nvGrpSpPr>
          <p:cNvPr id="322" name="그룹 321">
            <a:extLst>
              <a:ext uri="{FF2B5EF4-FFF2-40B4-BE49-F238E27FC236}">
                <a16:creationId xmlns:a16="http://schemas.microsoft.com/office/drawing/2014/main" id="{84173419-AA45-46C3-BAB1-D55E01B3A7A5}"/>
              </a:ext>
            </a:extLst>
          </p:cNvPr>
          <p:cNvGrpSpPr/>
          <p:nvPr/>
        </p:nvGrpSpPr>
        <p:grpSpPr>
          <a:xfrm>
            <a:off x="2087162" y="2748359"/>
            <a:ext cx="790976" cy="617142"/>
            <a:chOff x="5168499" y="5250258"/>
            <a:chExt cx="1020745" cy="633635"/>
          </a:xfrm>
        </p:grpSpPr>
        <p:sp>
          <p:nvSpPr>
            <p:cNvPr id="323" name="Rectangle 228">
              <a:extLst>
                <a:ext uri="{FF2B5EF4-FFF2-40B4-BE49-F238E27FC236}">
                  <a16:creationId xmlns:a16="http://schemas.microsoft.com/office/drawing/2014/main" id="{618C5410-7CE1-4851-A88C-D378738A0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9975" y="5291053"/>
              <a:ext cx="1017795" cy="58904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24" name="Line 231">
              <a:extLst>
                <a:ext uri="{FF2B5EF4-FFF2-40B4-BE49-F238E27FC236}">
                  <a16:creationId xmlns:a16="http://schemas.microsoft.com/office/drawing/2014/main" id="{387A3DF5-91EB-43B7-AFCC-15A66155C6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6830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25" name="Text Box 230">
              <a:extLst>
                <a:ext uri="{FF2B5EF4-FFF2-40B4-BE49-F238E27FC236}">
                  <a16:creationId xmlns:a16="http://schemas.microsoft.com/office/drawing/2014/main" id="{38F21756-36A8-47DF-BBB3-5B6B936D2D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2287" y="5250258"/>
              <a:ext cx="953173" cy="633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  <p:sp>
          <p:nvSpPr>
            <p:cNvPr id="326" name="Line 231">
              <a:extLst>
                <a:ext uri="{FF2B5EF4-FFF2-40B4-BE49-F238E27FC236}">
                  <a16:creationId xmlns:a16="http://schemas.microsoft.com/office/drawing/2014/main" id="{C74C6DDB-F03D-459F-8A72-B1DE5BDCF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4925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</p:grpSp>
      <p:grpSp>
        <p:nvGrpSpPr>
          <p:cNvPr id="327" name="그룹 326">
            <a:extLst>
              <a:ext uri="{FF2B5EF4-FFF2-40B4-BE49-F238E27FC236}">
                <a16:creationId xmlns:a16="http://schemas.microsoft.com/office/drawing/2014/main" id="{EB3FB832-8927-45E1-A782-2CB71D352443}"/>
              </a:ext>
            </a:extLst>
          </p:cNvPr>
          <p:cNvGrpSpPr/>
          <p:nvPr/>
        </p:nvGrpSpPr>
        <p:grpSpPr>
          <a:xfrm>
            <a:off x="2087162" y="2030525"/>
            <a:ext cx="790976" cy="617142"/>
            <a:chOff x="5168499" y="5250258"/>
            <a:chExt cx="1020745" cy="633635"/>
          </a:xfrm>
        </p:grpSpPr>
        <p:sp>
          <p:nvSpPr>
            <p:cNvPr id="328" name="Rectangle 228">
              <a:extLst>
                <a:ext uri="{FF2B5EF4-FFF2-40B4-BE49-F238E27FC236}">
                  <a16:creationId xmlns:a16="http://schemas.microsoft.com/office/drawing/2014/main" id="{842ADD62-5DA0-49D1-A32E-657722F16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9975" y="5291053"/>
              <a:ext cx="1017795" cy="58904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29" name="Line 231">
              <a:extLst>
                <a:ext uri="{FF2B5EF4-FFF2-40B4-BE49-F238E27FC236}">
                  <a16:creationId xmlns:a16="http://schemas.microsoft.com/office/drawing/2014/main" id="{C67CCFD3-5C48-4A19-80F4-16C2DF5BBD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6830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30" name="Text Box 230">
              <a:extLst>
                <a:ext uri="{FF2B5EF4-FFF2-40B4-BE49-F238E27FC236}">
                  <a16:creationId xmlns:a16="http://schemas.microsoft.com/office/drawing/2014/main" id="{3FD14387-7FCF-4F80-AFE6-DB01B90410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2287" y="5250258"/>
              <a:ext cx="953172" cy="633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  <p:sp>
          <p:nvSpPr>
            <p:cNvPr id="331" name="Line 231">
              <a:extLst>
                <a:ext uri="{FF2B5EF4-FFF2-40B4-BE49-F238E27FC236}">
                  <a16:creationId xmlns:a16="http://schemas.microsoft.com/office/drawing/2014/main" id="{15B31077-62C1-4BCF-BD49-0FA7B08C2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4925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</p:grpSp>
      <p:grpSp>
        <p:nvGrpSpPr>
          <p:cNvPr id="337" name="그룹 336">
            <a:extLst>
              <a:ext uri="{FF2B5EF4-FFF2-40B4-BE49-F238E27FC236}">
                <a16:creationId xmlns:a16="http://schemas.microsoft.com/office/drawing/2014/main" id="{8A7F0478-FE62-4C07-9330-AE9981D5300C}"/>
              </a:ext>
            </a:extLst>
          </p:cNvPr>
          <p:cNvGrpSpPr/>
          <p:nvPr/>
        </p:nvGrpSpPr>
        <p:grpSpPr>
          <a:xfrm>
            <a:off x="1242612" y="2335609"/>
            <a:ext cx="790976" cy="617142"/>
            <a:chOff x="5168499" y="5250258"/>
            <a:chExt cx="1020745" cy="633635"/>
          </a:xfrm>
        </p:grpSpPr>
        <p:sp>
          <p:nvSpPr>
            <p:cNvPr id="338" name="Rectangle 228">
              <a:extLst>
                <a:ext uri="{FF2B5EF4-FFF2-40B4-BE49-F238E27FC236}">
                  <a16:creationId xmlns:a16="http://schemas.microsoft.com/office/drawing/2014/main" id="{2A7CB8D4-4A95-4EA5-86F4-B25B83475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9975" y="5291053"/>
              <a:ext cx="1017795" cy="58904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39" name="Line 231">
              <a:extLst>
                <a:ext uri="{FF2B5EF4-FFF2-40B4-BE49-F238E27FC236}">
                  <a16:creationId xmlns:a16="http://schemas.microsoft.com/office/drawing/2014/main" id="{82C1C539-B328-4946-A690-01FAEFA4E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6830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40" name="Text Box 230">
              <a:extLst>
                <a:ext uri="{FF2B5EF4-FFF2-40B4-BE49-F238E27FC236}">
                  <a16:creationId xmlns:a16="http://schemas.microsoft.com/office/drawing/2014/main" id="{1AFBF7BF-7152-4161-B236-5D9F59564E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2287" y="5250258"/>
              <a:ext cx="953173" cy="633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  <p:sp>
          <p:nvSpPr>
            <p:cNvPr id="341" name="Line 231">
              <a:extLst>
                <a:ext uri="{FF2B5EF4-FFF2-40B4-BE49-F238E27FC236}">
                  <a16:creationId xmlns:a16="http://schemas.microsoft.com/office/drawing/2014/main" id="{04643768-50E7-46B5-8675-5A37B58E8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4925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</p:grpSp>
      <p:sp>
        <p:nvSpPr>
          <p:cNvPr id="320" name="화살표: 위쪽/아래쪽 319">
            <a:extLst>
              <a:ext uri="{FF2B5EF4-FFF2-40B4-BE49-F238E27FC236}">
                <a16:creationId xmlns:a16="http://schemas.microsoft.com/office/drawing/2014/main" id="{B997FA5B-76E9-46C0-8E9D-A93B65C1E61D}"/>
              </a:ext>
            </a:extLst>
          </p:cNvPr>
          <p:cNvSpPr/>
          <p:nvPr/>
        </p:nvSpPr>
        <p:spPr>
          <a:xfrm rot="19759429">
            <a:off x="2607306" y="1845028"/>
            <a:ext cx="706437" cy="3619363"/>
          </a:xfrm>
          <a:prstGeom prst="upDownArrow">
            <a:avLst>
              <a:gd name="adj1" fmla="val 53812"/>
              <a:gd name="adj2" fmla="val 50000"/>
            </a:avLst>
          </a:prstGeom>
          <a:solidFill>
            <a:srgbClr val="105B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ko-KR" altLang="en-US" sz="11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21" name="Text Box 293">
            <a:extLst>
              <a:ext uri="{FF2B5EF4-FFF2-40B4-BE49-F238E27FC236}">
                <a16:creationId xmlns:a16="http://schemas.microsoft.com/office/drawing/2014/main" id="{E6D3DBB3-BC3E-462B-8FDB-D755A69ABCF6}"/>
              </a:ext>
            </a:extLst>
          </p:cNvPr>
          <p:cNvSpPr txBox="1">
            <a:spLocks noChangeArrowheads="1"/>
          </p:cNvSpPr>
          <p:nvPr/>
        </p:nvSpPr>
        <p:spPr bwMode="auto">
          <a:xfrm rot="3539623">
            <a:off x="1710171" y="3458467"/>
            <a:ext cx="246016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logical end-end transport</a:t>
            </a:r>
          </a:p>
        </p:txBody>
      </p:sp>
    </p:spTree>
    <p:extLst>
      <p:ext uri="{BB962C8B-B14F-4D97-AF65-F5344CB8AC3E}">
        <p14:creationId xmlns:p14="http://schemas.microsoft.com/office/powerpoint/2010/main" val="335363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0309E-60DA-4D31-A618-EDE08AF6A6FE}"/>
              </a:ext>
            </a:extLst>
          </p:cNvPr>
          <p:cNvSpPr txBox="1"/>
          <p:nvPr/>
        </p:nvSpPr>
        <p:spPr>
          <a:xfrm>
            <a:off x="1419224" y="1642686"/>
            <a:ext cx="6929719" cy="2050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6E894-EE75-4324-A418-CC2030ECF3DF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AE1AC8F-7738-4645-897B-F1D56F5E79BF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8" name="사각형: 잘린 한쪽 모서리 7">
              <a:extLst>
                <a:ext uri="{FF2B5EF4-FFF2-40B4-BE49-F238E27FC236}">
                  <a16:creationId xmlns:a16="http://schemas.microsoft.com/office/drawing/2014/main" id="{43006DD9-2EA3-4305-8C90-B372C653CB7B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9" name="텍스트 개체 틀 19">
              <a:extLst>
                <a:ext uri="{FF2B5EF4-FFF2-40B4-BE49-F238E27FC236}">
                  <a16:creationId xmlns:a16="http://schemas.microsoft.com/office/drawing/2014/main" id="{0A440FB5-94C3-43E2-A600-EBE86EEA1FB4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D064E4B-2854-4245-83A9-27E885551C35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8577B86F-681B-4747-BD8D-9D43E797B8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3BB9748-F709-442C-98A5-AE758077B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440800F-61B8-4E81-A438-A97D8431E7C9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4FE9B76B-D0AE-4FCD-9549-732E713BF59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EBBA927-E2CE-4470-BAF0-E3D46616238F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131444A1-64E2-494E-AE19-BF80FE77950D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17" name="그래픽 40">
                <a:extLst>
                  <a:ext uri="{FF2B5EF4-FFF2-40B4-BE49-F238E27FC236}">
                    <a16:creationId xmlns:a16="http://schemas.microsoft.com/office/drawing/2014/main" id="{13D1003A-9E21-4A4A-AB93-7D7F89D552B9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8EC5032-E92A-45CA-8B2F-FB2EEC6576B5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6D6BF4BC-12E0-4652-95D0-FEB639786AC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신뢰적인 데이터 전달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4F3E90F5-7AD9-4E60-986D-72D5E39D0867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4722CA1D-E2F7-4582-A614-BC49E69C42F0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2" name="그래픽 40">
                <a:extLst>
                  <a:ext uri="{FF2B5EF4-FFF2-40B4-BE49-F238E27FC236}">
                    <a16:creationId xmlns:a16="http://schemas.microsoft.com/office/drawing/2014/main" id="{E6DB63C2-5AB1-401D-AF64-09E7805BB5A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54A8254-8954-4785-8F7F-D5FCB09591FF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745D6B03-A635-4B67-8419-9E45C39EC31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흐름 제어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CFFD8DCC-296B-47B5-8245-5D420D48B8B6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8162E03D-FB0C-43CC-A847-DBAFB901884E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7" name="그래픽 40">
                <a:extLst>
                  <a:ext uri="{FF2B5EF4-FFF2-40B4-BE49-F238E27FC236}">
                    <a16:creationId xmlns:a16="http://schemas.microsoft.com/office/drawing/2014/main" id="{6CF1E9D5-F9EE-4CED-950A-86332545FCC4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D22EC5E-52B4-4FCD-B617-59B53E1E9FF9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E02F327F-79F8-4AF8-9E98-02BAA017F1B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 관리</a:t>
              </a: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9DBF1BDE-369D-4B19-B0D3-49557B1840D2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ECEF3B63-C4C2-4561-97F9-65F26D64C106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2" name="그래픽 40">
                <a:extLst>
                  <a:ext uri="{FF2B5EF4-FFF2-40B4-BE49-F238E27FC236}">
                    <a16:creationId xmlns:a16="http://schemas.microsoft.com/office/drawing/2014/main" id="{D474FD95-08A6-4B57-AA6D-B1B0E98E99A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2478C27-05E5-4C70-A8DB-C8B52A1AB0D7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2A0163-0D25-45DA-B5F2-5389EFE96EC7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50988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228">
            <a:extLst>
              <a:ext uri="{FF2B5EF4-FFF2-40B4-BE49-F238E27FC236}">
                <a16:creationId xmlns:a16="http://schemas.microsoft.com/office/drawing/2014/main" id="{9444D22D-12DB-4E47-8768-D251DD8BA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283" y="2309155"/>
            <a:ext cx="1594090" cy="711304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ko-KR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3C055D44-DF9C-4F2A-B6DB-28DF82F1A1D6}"/>
              </a:ext>
            </a:extLst>
          </p:cNvPr>
          <p:cNvGrpSpPr/>
          <p:nvPr/>
        </p:nvGrpSpPr>
        <p:grpSpPr>
          <a:xfrm>
            <a:off x="3540283" y="3018768"/>
            <a:ext cx="1594090" cy="926380"/>
            <a:chOff x="1840640" y="4014788"/>
            <a:chExt cx="1159016" cy="782741"/>
          </a:xfrm>
        </p:grpSpPr>
        <p:sp>
          <p:nvSpPr>
            <p:cNvPr id="65" name="Rectangle 228">
              <a:extLst>
                <a:ext uri="{FF2B5EF4-FFF2-40B4-BE49-F238E27FC236}">
                  <a16:creationId xmlns:a16="http://schemas.microsoft.com/office/drawing/2014/main" id="{E30B84A6-08AE-409D-9CAD-07F7187AB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014788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transport</a:t>
              </a:r>
            </a:p>
          </p:txBody>
        </p:sp>
        <p:sp>
          <p:nvSpPr>
            <p:cNvPr id="66" name="Rectangle 228">
              <a:extLst>
                <a:ext uri="{FF2B5EF4-FFF2-40B4-BE49-F238E27FC236}">
                  <a16:creationId xmlns:a16="http://schemas.microsoft.com/office/drawing/2014/main" id="{508569D3-EAF2-4B95-BB38-3A0CFA966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210051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</p:txBody>
        </p:sp>
        <p:sp>
          <p:nvSpPr>
            <p:cNvPr id="67" name="Rectangle 228">
              <a:extLst>
                <a:ext uri="{FF2B5EF4-FFF2-40B4-BE49-F238E27FC236}">
                  <a16:creationId xmlns:a16="http://schemas.microsoft.com/office/drawing/2014/main" id="{234E312A-BEC0-4CA6-90CD-B16AC31E6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405314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link</a:t>
              </a:r>
            </a:p>
          </p:txBody>
        </p:sp>
        <p:sp>
          <p:nvSpPr>
            <p:cNvPr id="68" name="Rectangle 228">
              <a:extLst>
                <a:ext uri="{FF2B5EF4-FFF2-40B4-BE49-F238E27FC236}">
                  <a16:creationId xmlns:a16="http://schemas.microsoft.com/office/drawing/2014/main" id="{715DBFF1-15A8-47A3-8C52-C36DD382F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600576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</p:grpSp>
      <p:sp>
        <p:nvSpPr>
          <p:cNvPr id="56" name="Text Box 26">
            <a:extLst>
              <a:ext uri="{FF2B5EF4-FFF2-40B4-BE49-F238E27FC236}">
                <a16:creationId xmlns:a16="http://schemas.microsoft.com/office/drawing/2014/main" id="{CF78BF2A-24BC-4E1E-8C36-81F8D1989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717" y="2323442"/>
            <a:ext cx="1606996" cy="284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rPr>
              <a:t>application</a:t>
            </a:r>
            <a:endParaRPr kumimoji="0" lang="en-US" altLang="ko-KR" sz="1200" b="0" i="0" u="none" strike="noStrike" kern="1200" cap="none" spc="0" normalizeH="0" baseline="0" noProof="0" dirty="0">
              <a:ln>
                <a:solidFill>
                  <a:srgbClr val="2D5897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넥슨Lv1고딕 Bold" panose="00000800000000000000" pitchFamily="2" charset="-127"/>
              <a:ea typeface="넥슨Lv1고딕 Bold" panose="00000800000000000000" pitchFamily="2" charset="-127"/>
              <a:cs typeface="+mn-cs"/>
            </a:endParaRPr>
          </a:p>
        </p:txBody>
      </p:sp>
      <p:sp>
        <p:nvSpPr>
          <p:cNvPr id="77" name="Oval 57">
            <a:extLst>
              <a:ext uri="{FF2B5EF4-FFF2-40B4-BE49-F238E27FC236}">
                <a16:creationId xmlns:a16="http://schemas.microsoft.com/office/drawing/2014/main" id="{D6BD3662-4562-4562-BBE8-DE8B11ACB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5673" y="2596617"/>
            <a:ext cx="667210" cy="264989"/>
          </a:xfrm>
          <a:prstGeom prst="ellipse">
            <a:avLst/>
          </a:prstGeom>
          <a:solidFill>
            <a:srgbClr val="105BA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rPr>
              <a:t>P2</a:t>
            </a: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952B093F-966B-4BFC-8FF0-EEA7019F1C90}"/>
              </a:ext>
            </a:extLst>
          </p:cNvPr>
          <p:cNvGrpSpPr/>
          <p:nvPr/>
        </p:nvGrpSpPr>
        <p:grpSpPr>
          <a:xfrm>
            <a:off x="4466796" y="2837001"/>
            <a:ext cx="464964" cy="225425"/>
            <a:chOff x="4490418" y="2196254"/>
            <a:chExt cx="464964" cy="225425"/>
          </a:xfrm>
        </p:grpSpPr>
        <p:sp>
          <p:nvSpPr>
            <p:cNvPr id="80" name="Rectangle 59">
              <a:extLst>
                <a:ext uri="{FF2B5EF4-FFF2-40B4-BE49-F238E27FC236}">
                  <a16:creationId xmlns:a16="http://schemas.microsoft.com/office/drawing/2014/main" id="{B5BCF0AB-3E5B-4B25-844A-CAD4599CE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0418" y="2196254"/>
              <a:ext cx="464964" cy="22542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rgbClr val="105BA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  <p:sp>
          <p:nvSpPr>
            <p:cNvPr id="81" name="Rectangle 60">
              <a:extLst>
                <a:ext uri="{FF2B5EF4-FFF2-40B4-BE49-F238E27FC236}">
                  <a16:creationId xmlns:a16="http://schemas.microsoft.com/office/drawing/2014/main" id="{92C0AD76-4ED3-426E-82BA-20DDD0A52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9834" y="2225559"/>
              <a:ext cx="278978" cy="1713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  <p:sp>
          <p:nvSpPr>
            <p:cNvPr id="82" name="Rectangle 61">
              <a:extLst>
                <a:ext uri="{FF2B5EF4-FFF2-40B4-BE49-F238E27FC236}">
                  <a16:creationId xmlns:a16="http://schemas.microsoft.com/office/drawing/2014/main" id="{DD9EB81B-9672-4438-8897-724F8AF4A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0272" y="2322492"/>
              <a:ext cx="48285" cy="6086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  <p:sp>
          <p:nvSpPr>
            <p:cNvPr id="83" name="Rectangle 62">
              <a:extLst>
                <a:ext uri="{FF2B5EF4-FFF2-40B4-BE49-F238E27FC236}">
                  <a16:creationId xmlns:a16="http://schemas.microsoft.com/office/drawing/2014/main" id="{423AB5E0-C66D-41E2-BCB8-9EBA761DE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666" y="2322492"/>
              <a:ext cx="46496" cy="6086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</p:grpSp>
      <p:sp>
        <p:nvSpPr>
          <p:cNvPr id="57" name="Oval 57">
            <a:extLst>
              <a:ext uri="{FF2B5EF4-FFF2-40B4-BE49-F238E27FC236}">
                <a16:creationId xmlns:a16="http://schemas.microsoft.com/office/drawing/2014/main" id="{D9810DFF-4CC3-4A30-AF6A-D929A478F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773" y="2596617"/>
            <a:ext cx="667210" cy="264989"/>
          </a:xfrm>
          <a:prstGeom prst="ellipse">
            <a:avLst/>
          </a:prstGeom>
          <a:solidFill>
            <a:srgbClr val="105BA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rPr>
              <a:t>P1</a:t>
            </a:r>
          </a:p>
        </p:txBody>
      </p:sp>
      <p:grpSp>
        <p:nvGrpSpPr>
          <p:cNvPr id="58" name="Group 58">
            <a:extLst>
              <a:ext uri="{FF2B5EF4-FFF2-40B4-BE49-F238E27FC236}">
                <a16:creationId xmlns:a16="http://schemas.microsoft.com/office/drawing/2014/main" id="{34CDCD19-DAEC-40C9-830F-967A9AE493DE}"/>
              </a:ext>
            </a:extLst>
          </p:cNvPr>
          <p:cNvGrpSpPr>
            <a:grpSpLocks/>
          </p:cNvGrpSpPr>
          <p:nvPr/>
        </p:nvGrpSpPr>
        <p:grpSpPr bwMode="auto">
          <a:xfrm>
            <a:off x="3742896" y="2837001"/>
            <a:ext cx="464964" cy="225425"/>
            <a:chOff x="1287" y="2524"/>
            <a:chExt cx="260" cy="100"/>
          </a:xfrm>
        </p:grpSpPr>
        <p:sp>
          <p:nvSpPr>
            <p:cNvPr id="61" name="Rectangle 59">
              <a:extLst>
                <a:ext uri="{FF2B5EF4-FFF2-40B4-BE49-F238E27FC236}">
                  <a16:creationId xmlns:a16="http://schemas.microsoft.com/office/drawing/2014/main" id="{D81AF873-4B33-489F-8F5A-D1D22E3F6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rgbClr val="105BA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  <p:sp>
          <p:nvSpPr>
            <p:cNvPr id="62" name="Rectangle 60">
              <a:extLst>
                <a:ext uri="{FF2B5EF4-FFF2-40B4-BE49-F238E27FC236}">
                  <a16:creationId xmlns:a16="http://schemas.microsoft.com/office/drawing/2014/main" id="{8547F2E7-C205-4C61-AE4C-5AF6E56A5F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7" y="2537"/>
              <a:ext cx="156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  <p:sp>
          <p:nvSpPr>
            <p:cNvPr id="63" name="Rectangle 61">
              <a:extLst>
                <a:ext uri="{FF2B5EF4-FFF2-40B4-BE49-F238E27FC236}">
                  <a16:creationId xmlns:a16="http://schemas.microsoft.com/office/drawing/2014/main" id="{54383652-342D-41AC-8A53-A203AAC96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2580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  <p:sp>
          <p:nvSpPr>
            <p:cNvPr id="64" name="Rectangle 62">
              <a:extLst>
                <a:ext uri="{FF2B5EF4-FFF2-40B4-BE49-F238E27FC236}">
                  <a16:creationId xmlns:a16="http://schemas.microsoft.com/office/drawing/2014/main" id="{73B5B0D1-5195-4271-A59F-2CEB4E604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0" y="2580"/>
              <a:ext cx="26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</p:grpSp>
      <p:sp>
        <p:nvSpPr>
          <p:cNvPr id="97" name="자유형: 도형 96">
            <a:extLst>
              <a:ext uri="{FF2B5EF4-FFF2-40B4-BE49-F238E27FC236}">
                <a16:creationId xmlns:a16="http://schemas.microsoft.com/office/drawing/2014/main" id="{EF7C17FF-CAD2-45A7-9E73-AF7D18CAA2B5}"/>
              </a:ext>
            </a:extLst>
          </p:cNvPr>
          <p:cNvSpPr/>
          <p:nvPr/>
        </p:nvSpPr>
        <p:spPr>
          <a:xfrm flipH="1">
            <a:off x="2196486" y="3036875"/>
            <a:ext cx="1983089" cy="2778901"/>
          </a:xfrm>
          <a:custGeom>
            <a:avLst/>
            <a:gdLst>
              <a:gd name="connsiteX0" fmla="*/ 2257425 w 2257425"/>
              <a:gd name="connsiteY0" fmla="*/ 1133475 h 2952750"/>
              <a:gd name="connsiteX1" fmla="*/ 2257425 w 2257425"/>
              <a:gd name="connsiteY1" fmla="*/ 2952750 h 2952750"/>
              <a:gd name="connsiteX2" fmla="*/ 0 w 2257425"/>
              <a:gd name="connsiteY2" fmla="*/ 2952750 h 2952750"/>
              <a:gd name="connsiteX3" fmla="*/ 0 w 2257425"/>
              <a:gd name="connsiteY3" fmla="*/ 242887 h 2952750"/>
              <a:gd name="connsiteX4" fmla="*/ 185737 w 2257425"/>
              <a:gd name="connsiteY4" fmla="*/ 0 h 295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7425" h="2952750">
                <a:moveTo>
                  <a:pt x="2257425" y="1133475"/>
                </a:moveTo>
                <a:lnTo>
                  <a:pt x="2257425" y="2952750"/>
                </a:lnTo>
                <a:lnTo>
                  <a:pt x="0" y="2952750"/>
                </a:lnTo>
                <a:lnTo>
                  <a:pt x="0" y="242887"/>
                </a:lnTo>
                <a:lnTo>
                  <a:pt x="185737" y="0"/>
                </a:lnTo>
              </a:path>
            </a:pathLst>
          </a:custGeom>
          <a:noFill/>
          <a:ln w="19050">
            <a:solidFill>
              <a:srgbClr val="000099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6" name="자유형: 도형 95">
            <a:extLst>
              <a:ext uri="{FF2B5EF4-FFF2-40B4-BE49-F238E27FC236}">
                <a16:creationId xmlns:a16="http://schemas.microsoft.com/office/drawing/2014/main" id="{795E10C3-27EA-4C9B-B45A-5E215179A54E}"/>
              </a:ext>
            </a:extLst>
          </p:cNvPr>
          <p:cNvSpPr/>
          <p:nvPr/>
        </p:nvSpPr>
        <p:spPr>
          <a:xfrm flipH="1">
            <a:off x="2075973" y="2959320"/>
            <a:ext cx="2205751" cy="2963248"/>
          </a:xfrm>
          <a:custGeom>
            <a:avLst/>
            <a:gdLst>
              <a:gd name="connsiteX0" fmla="*/ 2257425 w 2257425"/>
              <a:gd name="connsiteY0" fmla="*/ 1133475 h 2952750"/>
              <a:gd name="connsiteX1" fmla="*/ 2257425 w 2257425"/>
              <a:gd name="connsiteY1" fmla="*/ 2952750 h 2952750"/>
              <a:gd name="connsiteX2" fmla="*/ 0 w 2257425"/>
              <a:gd name="connsiteY2" fmla="*/ 2952750 h 2952750"/>
              <a:gd name="connsiteX3" fmla="*/ 0 w 2257425"/>
              <a:gd name="connsiteY3" fmla="*/ 242887 h 2952750"/>
              <a:gd name="connsiteX4" fmla="*/ 185737 w 2257425"/>
              <a:gd name="connsiteY4" fmla="*/ 0 h 295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7425" h="2952750">
                <a:moveTo>
                  <a:pt x="2257425" y="1133475"/>
                </a:moveTo>
                <a:lnTo>
                  <a:pt x="2257425" y="2952750"/>
                </a:lnTo>
                <a:lnTo>
                  <a:pt x="0" y="2952750"/>
                </a:lnTo>
                <a:lnTo>
                  <a:pt x="0" y="242887"/>
                </a:lnTo>
                <a:lnTo>
                  <a:pt x="185737" y="0"/>
                </a:lnTo>
              </a:path>
            </a:pathLst>
          </a:cu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DC987F9-6CFE-4E15-829A-FB90DF39FDAC}"/>
              </a:ext>
            </a:extLst>
          </p:cNvPr>
          <p:cNvSpPr/>
          <p:nvPr/>
        </p:nvSpPr>
        <p:spPr>
          <a:xfrm>
            <a:off x="4876800" y="6080760"/>
            <a:ext cx="3264090" cy="4724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86" name="자유형: 도형 85">
            <a:extLst>
              <a:ext uri="{FF2B5EF4-FFF2-40B4-BE49-F238E27FC236}">
                <a16:creationId xmlns:a16="http://schemas.microsoft.com/office/drawing/2014/main" id="{DFE4A2A8-31D9-4645-BE08-46BE6895A0F2}"/>
              </a:ext>
            </a:extLst>
          </p:cNvPr>
          <p:cNvSpPr/>
          <p:nvPr/>
        </p:nvSpPr>
        <p:spPr>
          <a:xfrm flipH="1">
            <a:off x="1008538" y="3437343"/>
            <a:ext cx="500584" cy="2035708"/>
          </a:xfrm>
          <a:custGeom>
            <a:avLst/>
            <a:gdLst>
              <a:gd name="connsiteX0" fmla="*/ 0 w 500584"/>
              <a:gd name="connsiteY0" fmla="*/ 0 h 2035708"/>
              <a:gd name="connsiteX1" fmla="*/ 500584 w 500584"/>
              <a:gd name="connsiteY1" fmla="*/ 1615218 h 2035708"/>
              <a:gd name="connsiteX2" fmla="*/ 500584 w 500584"/>
              <a:gd name="connsiteY2" fmla="*/ 2035708 h 2035708"/>
              <a:gd name="connsiteX3" fmla="*/ 407141 w 500584"/>
              <a:gd name="connsiteY3" fmla="*/ 2035708 h 2035708"/>
              <a:gd name="connsiteX4" fmla="*/ 6674 w 500584"/>
              <a:gd name="connsiteY4" fmla="*/ 1608543 h 2035708"/>
              <a:gd name="connsiteX5" fmla="*/ 0 w 500584"/>
              <a:gd name="connsiteY5" fmla="*/ 0 h 203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0584" h="2035708">
                <a:moveTo>
                  <a:pt x="0" y="0"/>
                </a:moveTo>
                <a:lnTo>
                  <a:pt x="500584" y="1615218"/>
                </a:lnTo>
                <a:lnTo>
                  <a:pt x="500584" y="2035708"/>
                </a:lnTo>
                <a:lnTo>
                  <a:pt x="407141" y="2035708"/>
                </a:lnTo>
                <a:lnTo>
                  <a:pt x="6674" y="1608543"/>
                </a:lnTo>
                <a:cubicBezTo>
                  <a:pt x="4449" y="1072362"/>
                  <a:pt x="2225" y="536181"/>
                  <a:pt x="0" y="0"/>
                </a:cubicBez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129" name="자유형: 도형 128">
            <a:extLst>
              <a:ext uri="{FF2B5EF4-FFF2-40B4-BE49-F238E27FC236}">
                <a16:creationId xmlns:a16="http://schemas.microsoft.com/office/drawing/2014/main" id="{FE9556C7-8AA6-4B71-9098-E5F97688F70F}"/>
              </a:ext>
            </a:extLst>
          </p:cNvPr>
          <p:cNvSpPr/>
          <p:nvPr/>
        </p:nvSpPr>
        <p:spPr>
          <a:xfrm>
            <a:off x="3157539" y="2302686"/>
            <a:ext cx="386596" cy="1635241"/>
          </a:xfrm>
          <a:custGeom>
            <a:avLst/>
            <a:gdLst>
              <a:gd name="connsiteX0" fmla="*/ 260303 w 260303"/>
              <a:gd name="connsiteY0" fmla="*/ 0 h 1635241"/>
              <a:gd name="connsiteX1" fmla="*/ 260303 w 260303"/>
              <a:gd name="connsiteY1" fmla="*/ 1635241 h 1635241"/>
              <a:gd name="connsiteX2" fmla="*/ 0 w 260303"/>
              <a:gd name="connsiteY2" fmla="*/ 1635241 h 1635241"/>
              <a:gd name="connsiteX3" fmla="*/ 0 w 260303"/>
              <a:gd name="connsiteY3" fmla="*/ 1101285 h 1635241"/>
              <a:gd name="connsiteX4" fmla="*/ 260303 w 260303"/>
              <a:gd name="connsiteY4" fmla="*/ 0 h 1635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303" h="1635241">
                <a:moveTo>
                  <a:pt x="260303" y="0"/>
                </a:moveTo>
                <a:lnTo>
                  <a:pt x="260303" y="1635241"/>
                </a:lnTo>
                <a:lnTo>
                  <a:pt x="0" y="1635241"/>
                </a:lnTo>
                <a:lnTo>
                  <a:pt x="0" y="1101285"/>
                </a:lnTo>
                <a:lnTo>
                  <a:pt x="260303" y="0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127" name="자유형: 도형 126">
            <a:extLst>
              <a:ext uri="{FF2B5EF4-FFF2-40B4-BE49-F238E27FC236}">
                <a16:creationId xmlns:a16="http://schemas.microsoft.com/office/drawing/2014/main" id="{6C7ADB2C-C3A3-4EAE-95D1-E1565C9DAB34}"/>
              </a:ext>
            </a:extLst>
          </p:cNvPr>
          <p:cNvSpPr/>
          <p:nvPr/>
        </p:nvSpPr>
        <p:spPr>
          <a:xfrm>
            <a:off x="7161688" y="3437343"/>
            <a:ext cx="500584" cy="2035708"/>
          </a:xfrm>
          <a:custGeom>
            <a:avLst/>
            <a:gdLst>
              <a:gd name="connsiteX0" fmla="*/ 0 w 500584"/>
              <a:gd name="connsiteY0" fmla="*/ 0 h 2035708"/>
              <a:gd name="connsiteX1" fmla="*/ 500584 w 500584"/>
              <a:gd name="connsiteY1" fmla="*/ 1615218 h 2035708"/>
              <a:gd name="connsiteX2" fmla="*/ 500584 w 500584"/>
              <a:gd name="connsiteY2" fmla="*/ 2035708 h 2035708"/>
              <a:gd name="connsiteX3" fmla="*/ 407141 w 500584"/>
              <a:gd name="connsiteY3" fmla="*/ 2035708 h 2035708"/>
              <a:gd name="connsiteX4" fmla="*/ 6674 w 500584"/>
              <a:gd name="connsiteY4" fmla="*/ 1608543 h 2035708"/>
              <a:gd name="connsiteX5" fmla="*/ 0 w 500584"/>
              <a:gd name="connsiteY5" fmla="*/ 0 h 203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0584" h="2035708">
                <a:moveTo>
                  <a:pt x="0" y="0"/>
                </a:moveTo>
                <a:lnTo>
                  <a:pt x="500584" y="1615218"/>
                </a:lnTo>
                <a:lnTo>
                  <a:pt x="500584" y="2035708"/>
                </a:lnTo>
                <a:lnTo>
                  <a:pt x="407141" y="2035708"/>
                </a:lnTo>
                <a:lnTo>
                  <a:pt x="6674" y="1608543"/>
                </a:lnTo>
                <a:cubicBezTo>
                  <a:pt x="4449" y="1072362"/>
                  <a:pt x="2225" y="536181"/>
                  <a:pt x="0" y="0"/>
                </a:cubicBez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>
                <a:cs typeface="+mj-cs"/>
              </a:rPr>
              <a:t>다중화</a:t>
            </a:r>
            <a:r>
              <a:rPr lang="en-US" altLang="ko-KR" sz="2000" dirty="0">
                <a:cs typeface="+mj-cs"/>
              </a:rPr>
              <a:t>(</a:t>
            </a:r>
            <a:r>
              <a:rPr lang="en-US" altLang="ko-KR" sz="2000">
                <a:cs typeface="+mj-cs"/>
              </a:rPr>
              <a:t>Multiplexing)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2000">
                <a:solidFill>
                  <a:schemeClr val="bg1"/>
                </a:solidFill>
                <a:cs typeface="+mj-cs"/>
              </a:rPr>
              <a:t>역다중화</a:t>
            </a:r>
            <a:r>
              <a:rPr lang="en-US" altLang="ko-KR" sz="2000" dirty="0">
                <a:solidFill>
                  <a:schemeClr val="bg1"/>
                </a:solidFill>
                <a:cs typeface="+mj-cs"/>
              </a:rPr>
              <a:t>(Demultiplexing)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9</a:t>
            </a:fld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2767AB3-E9F9-423B-A81B-4ABA02AC6E2C}"/>
              </a:ext>
            </a:extLst>
          </p:cNvPr>
          <p:cNvGrpSpPr/>
          <p:nvPr/>
        </p:nvGrpSpPr>
        <p:grpSpPr>
          <a:xfrm>
            <a:off x="7234796" y="4767001"/>
            <a:ext cx="889274" cy="1058378"/>
            <a:chOff x="6638988" y="4761278"/>
            <a:chExt cx="1023241" cy="1217823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F702817A-840A-4FDE-A184-28B5FA0FB917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06976E5-1866-4708-8517-6C97DC46A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F60C79D-5CD3-4630-84C1-21D6BF5E4310}"/>
              </a:ext>
            </a:extLst>
          </p:cNvPr>
          <p:cNvGrpSpPr/>
          <p:nvPr/>
        </p:nvGrpSpPr>
        <p:grpSpPr>
          <a:xfrm flipH="1">
            <a:off x="538027" y="4767001"/>
            <a:ext cx="889272" cy="1058378"/>
            <a:chOff x="6638988" y="4761278"/>
            <a:chExt cx="1023241" cy="1217823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365382B-11DF-46A9-9683-BA10B3FC9DA2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C288AA2-7BF4-4FA6-8BF4-A7007FDBA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6FBDC9C-1776-46F7-B096-8AA7DF1A1CED}"/>
              </a:ext>
            </a:extLst>
          </p:cNvPr>
          <p:cNvGrpSpPr/>
          <p:nvPr/>
        </p:nvGrpSpPr>
        <p:grpSpPr>
          <a:xfrm>
            <a:off x="5975163" y="3421675"/>
            <a:ext cx="1181967" cy="1635993"/>
            <a:chOff x="5403663" y="2780928"/>
            <a:chExt cx="1181967" cy="1635993"/>
          </a:xfrm>
        </p:grpSpPr>
        <p:sp>
          <p:nvSpPr>
            <p:cNvPr id="26" name="Rectangle 228">
              <a:extLst>
                <a:ext uri="{FF2B5EF4-FFF2-40B4-BE49-F238E27FC236}">
                  <a16:creationId xmlns:a16="http://schemas.microsoft.com/office/drawing/2014/main" id="{64254ADA-1389-464C-96A6-0500B2F15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6614" y="2780928"/>
              <a:ext cx="1159016" cy="7113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black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81826B4E-289E-42EB-B0B2-354945C70196}"/>
                </a:ext>
              </a:extLst>
            </p:cNvPr>
            <p:cNvGrpSpPr/>
            <p:nvPr/>
          </p:nvGrpSpPr>
          <p:grpSpPr>
            <a:xfrm>
              <a:off x="5426614" y="3490541"/>
              <a:ext cx="1159016" cy="926380"/>
              <a:chOff x="1840640" y="4014788"/>
              <a:chExt cx="1159016" cy="782741"/>
            </a:xfrm>
          </p:grpSpPr>
          <p:sp>
            <p:nvSpPr>
              <p:cNvPr id="28" name="Rectangle 228">
                <a:extLst>
                  <a:ext uri="{FF2B5EF4-FFF2-40B4-BE49-F238E27FC236}">
                    <a16:creationId xmlns:a16="http://schemas.microsoft.com/office/drawing/2014/main" id="{E1AE5C32-FA32-48C3-8D46-D6F16B7143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640" y="4014788"/>
                <a:ext cx="1159016" cy="1969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</a:pPr>
                <a:r>
                  <a:rPr lang="en-US" altLang="ko-KR" sz="12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transport</a:t>
                </a:r>
              </a:p>
            </p:txBody>
          </p:sp>
          <p:sp>
            <p:nvSpPr>
              <p:cNvPr id="29" name="Rectangle 228">
                <a:extLst>
                  <a:ext uri="{FF2B5EF4-FFF2-40B4-BE49-F238E27FC236}">
                    <a16:creationId xmlns:a16="http://schemas.microsoft.com/office/drawing/2014/main" id="{51F2982B-065C-4340-BC24-A3216FB3F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640" y="4210051"/>
                <a:ext cx="1159016" cy="1969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</a:pPr>
                <a:r>
                  <a:rPr lang="en-US" altLang="ko-KR" sz="12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network</a:t>
                </a:r>
              </a:p>
            </p:txBody>
          </p:sp>
          <p:sp>
            <p:nvSpPr>
              <p:cNvPr id="30" name="Rectangle 228">
                <a:extLst>
                  <a:ext uri="{FF2B5EF4-FFF2-40B4-BE49-F238E27FC236}">
                    <a16:creationId xmlns:a16="http://schemas.microsoft.com/office/drawing/2014/main" id="{4041EF45-EE40-40F3-BD17-88B7AF1B7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640" y="4405314"/>
                <a:ext cx="1159016" cy="1969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</a:pPr>
                <a:r>
                  <a:rPr lang="en-US" altLang="ko-KR" sz="12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link</a:t>
                </a:r>
              </a:p>
            </p:txBody>
          </p:sp>
          <p:sp>
            <p:nvSpPr>
              <p:cNvPr id="31" name="Rectangle 228">
                <a:extLst>
                  <a:ext uri="{FF2B5EF4-FFF2-40B4-BE49-F238E27FC236}">
                    <a16:creationId xmlns:a16="http://schemas.microsoft.com/office/drawing/2014/main" id="{9622DEF0-7485-40BF-8556-94E347B01D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640" y="4600576"/>
                <a:ext cx="1159016" cy="1969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</a:pPr>
                <a:r>
                  <a:rPr lang="en-US" altLang="ko-KR" sz="12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physical</a:t>
                </a:r>
              </a:p>
            </p:txBody>
          </p:sp>
        </p:grpSp>
        <p:sp>
          <p:nvSpPr>
            <p:cNvPr id="32" name="Text Box 26">
              <a:extLst>
                <a:ext uri="{FF2B5EF4-FFF2-40B4-BE49-F238E27FC236}">
                  <a16:creationId xmlns:a16="http://schemas.microsoft.com/office/drawing/2014/main" id="{92E2618E-F7F4-44BE-B0D8-552085519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3663" y="2795215"/>
              <a:ext cx="1168400" cy="2848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 Bold" panose="00000800000000000000" pitchFamily="2" charset="-127"/>
                  <a:ea typeface="넥슨Lv1고딕 Bold" panose="00000800000000000000" pitchFamily="2" charset="-127"/>
                  <a:cs typeface="+mn-cs"/>
                </a:rPr>
                <a:t>application</a:t>
              </a:r>
            </a:p>
          </p:txBody>
        </p:sp>
        <p:sp>
          <p:nvSpPr>
            <p:cNvPr id="33" name="Oval 57">
              <a:extLst>
                <a:ext uri="{FF2B5EF4-FFF2-40B4-BE49-F238E27FC236}">
                  <a16:creationId xmlns:a16="http://schemas.microsoft.com/office/drawing/2014/main" id="{E06A2CEC-5F1A-4D1C-AC7B-00857A0C0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2741" y="3068390"/>
              <a:ext cx="941042" cy="264989"/>
            </a:xfrm>
            <a:prstGeom prst="ellipse">
              <a:avLst/>
            </a:prstGeom>
            <a:solidFill>
              <a:srgbClr val="105BA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 Bold" panose="00000800000000000000" pitchFamily="2" charset="-127"/>
                  <a:ea typeface="넥슨Lv1고딕 Bold" panose="00000800000000000000" pitchFamily="2" charset="-127"/>
                  <a:cs typeface="+mn-cs"/>
                </a:rPr>
                <a:t>P4</a:t>
              </a:r>
            </a:p>
          </p:txBody>
        </p:sp>
        <p:grpSp>
          <p:nvGrpSpPr>
            <p:cNvPr id="34" name="Group 58">
              <a:extLst>
                <a:ext uri="{FF2B5EF4-FFF2-40B4-BE49-F238E27FC236}">
                  <a16:creationId xmlns:a16="http://schemas.microsoft.com/office/drawing/2014/main" id="{09EAB274-1D87-429B-A74C-0A0F691BC0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33072" y="3308774"/>
              <a:ext cx="546100" cy="225425"/>
              <a:chOff x="1287" y="2524"/>
              <a:chExt cx="260" cy="100"/>
            </a:xfrm>
          </p:grpSpPr>
          <p:sp>
            <p:nvSpPr>
              <p:cNvPr id="35" name="Rectangle 59">
                <a:extLst>
                  <a:ext uri="{FF2B5EF4-FFF2-40B4-BE49-F238E27FC236}">
                    <a16:creationId xmlns:a16="http://schemas.microsoft.com/office/drawing/2014/main" id="{0D075D05-85D2-4B4D-BCFE-43655F18F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105BA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36" name="Rectangle 60">
                <a:extLst>
                  <a:ext uri="{FF2B5EF4-FFF2-40B4-BE49-F238E27FC236}">
                    <a16:creationId xmlns:a16="http://schemas.microsoft.com/office/drawing/2014/main" id="{03C8060A-641D-430C-B3F9-D963C41723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7" y="2537"/>
                <a:ext cx="156" cy="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37" name="Rectangle 61">
                <a:extLst>
                  <a:ext uri="{FF2B5EF4-FFF2-40B4-BE49-F238E27FC236}">
                    <a16:creationId xmlns:a16="http://schemas.microsoft.com/office/drawing/2014/main" id="{DFC4F6A4-E87B-46DD-87D3-D0A7C843D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" y="2580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38" name="Rectangle 62">
                <a:extLst>
                  <a:ext uri="{FF2B5EF4-FFF2-40B4-BE49-F238E27FC236}">
                    <a16:creationId xmlns:a16="http://schemas.microsoft.com/office/drawing/2014/main" id="{BFB12837-8CA0-4EA5-A1D1-CC5819629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2580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</p:grpSp>
      </p:grpSp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E119838D-EA72-4688-BB39-6112C95F95B0}"/>
              </a:ext>
            </a:extLst>
          </p:cNvPr>
          <p:cNvSpPr/>
          <p:nvPr/>
        </p:nvSpPr>
        <p:spPr>
          <a:xfrm>
            <a:off x="4421981" y="2959320"/>
            <a:ext cx="2205751" cy="2963248"/>
          </a:xfrm>
          <a:custGeom>
            <a:avLst/>
            <a:gdLst>
              <a:gd name="connsiteX0" fmla="*/ 2257425 w 2257425"/>
              <a:gd name="connsiteY0" fmla="*/ 1133475 h 2952750"/>
              <a:gd name="connsiteX1" fmla="*/ 2257425 w 2257425"/>
              <a:gd name="connsiteY1" fmla="*/ 2952750 h 2952750"/>
              <a:gd name="connsiteX2" fmla="*/ 0 w 2257425"/>
              <a:gd name="connsiteY2" fmla="*/ 2952750 h 2952750"/>
              <a:gd name="connsiteX3" fmla="*/ 0 w 2257425"/>
              <a:gd name="connsiteY3" fmla="*/ 242887 h 2952750"/>
              <a:gd name="connsiteX4" fmla="*/ 185737 w 2257425"/>
              <a:gd name="connsiteY4" fmla="*/ 0 h 295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7425" h="2952750">
                <a:moveTo>
                  <a:pt x="2257425" y="1133475"/>
                </a:moveTo>
                <a:lnTo>
                  <a:pt x="2257425" y="2952750"/>
                </a:lnTo>
                <a:lnTo>
                  <a:pt x="0" y="2952750"/>
                </a:lnTo>
                <a:lnTo>
                  <a:pt x="0" y="242887"/>
                </a:lnTo>
                <a:lnTo>
                  <a:pt x="185737" y="0"/>
                </a:lnTo>
              </a:path>
            </a:pathLst>
          </a:cu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자유형: 도형 93">
            <a:extLst>
              <a:ext uri="{FF2B5EF4-FFF2-40B4-BE49-F238E27FC236}">
                <a16:creationId xmlns:a16="http://schemas.microsoft.com/office/drawing/2014/main" id="{DE0412AD-95EF-4CC3-80A0-79513638DF8D}"/>
              </a:ext>
            </a:extLst>
          </p:cNvPr>
          <p:cNvSpPr/>
          <p:nvPr/>
        </p:nvSpPr>
        <p:spPr>
          <a:xfrm>
            <a:off x="4547256" y="3036875"/>
            <a:ext cx="1983089" cy="2778901"/>
          </a:xfrm>
          <a:custGeom>
            <a:avLst/>
            <a:gdLst>
              <a:gd name="connsiteX0" fmla="*/ 2257425 w 2257425"/>
              <a:gd name="connsiteY0" fmla="*/ 1133475 h 2952750"/>
              <a:gd name="connsiteX1" fmla="*/ 2257425 w 2257425"/>
              <a:gd name="connsiteY1" fmla="*/ 2952750 h 2952750"/>
              <a:gd name="connsiteX2" fmla="*/ 0 w 2257425"/>
              <a:gd name="connsiteY2" fmla="*/ 2952750 h 2952750"/>
              <a:gd name="connsiteX3" fmla="*/ 0 w 2257425"/>
              <a:gd name="connsiteY3" fmla="*/ 242887 h 2952750"/>
              <a:gd name="connsiteX4" fmla="*/ 185737 w 2257425"/>
              <a:gd name="connsiteY4" fmla="*/ 0 h 295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7425" h="2952750">
                <a:moveTo>
                  <a:pt x="2257425" y="1133475"/>
                </a:moveTo>
                <a:lnTo>
                  <a:pt x="2257425" y="2952750"/>
                </a:lnTo>
                <a:lnTo>
                  <a:pt x="0" y="2952750"/>
                </a:lnTo>
                <a:lnTo>
                  <a:pt x="0" y="242887"/>
                </a:lnTo>
                <a:lnTo>
                  <a:pt x="185737" y="0"/>
                </a:lnTo>
              </a:path>
            </a:pathLst>
          </a:custGeom>
          <a:noFill/>
          <a:ln w="19050">
            <a:solidFill>
              <a:srgbClr val="000099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7D009BD-0ABE-41D0-A5E1-8F849108CA1B}"/>
              </a:ext>
            </a:extLst>
          </p:cNvPr>
          <p:cNvGrpSpPr/>
          <p:nvPr/>
        </p:nvGrpSpPr>
        <p:grpSpPr>
          <a:xfrm>
            <a:off x="4226323" y="1150522"/>
            <a:ext cx="3553696" cy="2066737"/>
            <a:chOff x="4226323" y="1150522"/>
            <a:chExt cx="3553696" cy="2066737"/>
          </a:xfrm>
        </p:grpSpPr>
        <p:sp>
          <p:nvSpPr>
            <p:cNvPr id="88" name="Oval 170">
              <a:extLst>
                <a:ext uri="{FF2B5EF4-FFF2-40B4-BE49-F238E27FC236}">
                  <a16:creationId xmlns:a16="http://schemas.microsoft.com/office/drawing/2014/main" id="{1943D63A-C32D-49B5-A3DA-50C6A60F9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323" y="3041840"/>
              <a:ext cx="293688" cy="175419"/>
            </a:xfrm>
            <a:prstGeom prst="ellipse">
              <a:avLst/>
            </a:prstGeom>
            <a:noFill/>
            <a:ln w="28575">
              <a:solidFill>
                <a:srgbClr val="F2703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99" name="Freeform 171">
              <a:extLst>
                <a:ext uri="{FF2B5EF4-FFF2-40B4-BE49-F238E27FC236}">
                  <a16:creationId xmlns:a16="http://schemas.microsoft.com/office/drawing/2014/main" id="{56836CC5-2862-4DF7-982E-90514B165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5150" y="1738532"/>
              <a:ext cx="930275" cy="1285875"/>
            </a:xfrm>
            <a:custGeom>
              <a:avLst/>
              <a:gdLst>
                <a:gd name="T0" fmla="*/ 0 w 586"/>
                <a:gd name="T1" fmla="*/ 810 h 810"/>
                <a:gd name="T2" fmla="*/ 2 w 586"/>
                <a:gd name="T3" fmla="*/ 808 h 810"/>
                <a:gd name="T4" fmla="*/ 2 w 586"/>
                <a:gd name="T5" fmla="*/ 170 h 810"/>
                <a:gd name="T6" fmla="*/ 586 w 586"/>
                <a:gd name="T7" fmla="*/ 0 h 8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6"/>
                <a:gd name="T13" fmla="*/ 0 h 810"/>
                <a:gd name="T14" fmla="*/ 586 w 586"/>
                <a:gd name="T15" fmla="*/ 810 h 8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6" h="810">
                  <a:moveTo>
                    <a:pt x="0" y="810"/>
                  </a:moveTo>
                  <a:lnTo>
                    <a:pt x="2" y="808"/>
                  </a:lnTo>
                  <a:lnTo>
                    <a:pt x="2" y="170"/>
                  </a:lnTo>
                  <a:lnTo>
                    <a:pt x="586" y="0"/>
                  </a:lnTo>
                </a:path>
              </a:pathLst>
            </a:custGeom>
            <a:noFill/>
            <a:ln w="12700">
              <a:solidFill>
                <a:srgbClr val="F27037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01" name="Rectangle 41">
              <a:extLst>
                <a:ext uri="{FF2B5EF4-FFF2-40B4-BE49-F238E27FC236}">
                  <a16:creationId xmlns:a16="http://schemas.microsoft.com/office/drawing/2014/main" id="{E0BD9648-41FF-44B6-85FE-B635B189E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4950" y="1310860"/>
              <a:ext cx="2465069" cy="1178878"/>
            </a:xfrm>
            <a:prstGeom prst="rect">
              <a:avLst/>
            </a:prstGeom>
            <a:noFill/>
            <a:ln w="19050">
              <a:solidFill>
                <a:srgbClr val="F27037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Font typeface="Arial" panose="020B0604020202020204" pitchFamily="34" charset="0"/>
                <a:buChar char="•"/>
              </a:pP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02" name="Text Box 44">
              <a:extLst>
                <a:ext uri="{FF2B5EF4-FFF2-40B4-BE49-F238E27FC236}">
                  <a16:creationId xmlns:a16="http://schemas.microsoft.com/office/drawing/2014/main" id="{CA3A1E4B-6FEF-47FB-9EE4-6D6B27DE64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6045" y="1150522"/>
              <a:ext cx="2258952" cy="3385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수신 측에서의 </a:t>
              </a:r>
              <a:r>
                <a:rPr lang="ko-KR" altLang="en-US" sz="16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역다중화</a:t>
              </a:r>
              <a:endPara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sp>
          <p:nvSpPr>
            <p:cNvPr id="104" name="Rectangle 3">
              <a:extLst>
                <a:ext uri="{FF2B5EF4-FFF2-40B4-BE49-F238E27FC236}">
                  <a16:creationId xmlns:a16="http://schemas.microsoft.com/office/drawing/2014/main" id="{B47A5B33-CD46-4FC1-9496-24C683A3507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426045" y="1498510"/>
              <a:ext cx="2160192" cy="904287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헤더 정보를 이용해 수신한 세그먼트를 해당 소켓에 전달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D7E7BA4-DB33-4020-8207-AC5BCD222F14}"/>
              </a:ext>
            </a:extLst>
          </p:cNvPr>
          <p:cNvGrpSpPr/>
          <p:nvPr/>
        </p:nvGrpSpPr>
        <p:grpSpPr>
          <a:xfrm>
            <a:off x="875872" y="1150522"/>
            <a:ext cx="3829479" cy="2159607"/>
            <a:chOff x="875872" y="1150522"/>
            <a:chExt cx="3829479" cy="2159607"/>
          </a:xfrm>
        </p:grpSpPr>
        <p:sp>
          <p:nvSpPr>
            <p:cNvPr id="87" name="Oval 167">
              <a:extLst>
                <a:ext uri="{FF2B5EF4-FFF2-40B4-BE49-F238E27FC236}">
                  <a16:creationId xmlns:a16="http://schemas.microsoft.com/office/drawing/2014/main" id="{318C3092-BAE4-4BA7-9722-FD36BCCF6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419" y="3218514"/>
              <a:ext cx="211932" cy="91615"/>
            </a:xfrm>
            <a:prstGeom prst="ellipse">
              <a:avLst/>
            </a:prstGeom>
            <a:noFill/>
            <a:ln w="28575">
              <a:solidFill>
                <a:srgbClr val="F2703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100" name="Freeform 168">
              <a:extLst>
                <a:ext uri="{FF2B5EF4-FFF2-40B4-BE49-F238E27FC236}">
                  <a16:creationId xmlns:a16="http://schemas.microsoft.com/office/drawing/2014/main" id="{6C821E1B-7937-461A-AB1D-0A6BAA9E1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3715" y="1757582"/>
              <a:ext cx="816786" cy="1435100"/>
            </a:xfrm>
            <a:custGeom>
              <a:avLst/>
              <a:gdLst>
                <a:gd name="T0" fmla="*/ 434 w 434"/>
                <a:gd name="T1" fmla="*/ 904 h 904"/>
                <a:gd name="T2" fmla="*/ 2 w 434"/>
                <a:gd name="T3" fmla="*/ 902 h 904"/>
                <a:gd name="T4" fmla="*/ 0 w 434"/>
                <a:gd name="T5" fmla="*/ 0 h 904"/>
                <a:gd name="T6" fmla="*/ 0 60000 65536"/>
                <a:gd name="T7" fmla="*/ 0 60000 65536"/>
                <a:gd name="T8" fmla="*/ 0 60000 65536"/>
                <a:gd name="T9" fmla="*/ 0 w 434"/>
                <a:gd name="T10" fmla="*/ 0 h 904"/>
                <a:gd name="T11" fmla="*/ 434 w 434"/>
                <a:gd name="T12" fmla="*/ 904 h 9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4" h="904">
                  <a:moveTo>
                    <a:pt x="434" y="904"/>
                  </a:moveTo>
                  <a:lnTo>
                    <a:pt x="2" y="90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27037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3F088B6F-2C45-47F3-A76E-47A6276AE619}"/>
                </a:ext>
              </a:extLst>
            </p:cNvPr>
            <p:cNvGrpSpPr/>
            <p:nvPr/>
          </p:nvGrpSpPr>
          <p:grpSpPr>
            <a:xfrm>
              <a:off x="875872" y="1150522"/>
              <a:ext cx="2465069" cy="1636396"/>
              <a:chOff x="875872" y="1150522"/>
              <a:chExt cx="2465069" cy="1636396"/>
            </a:xfrm>
          </p:grpSpPr>
          <p:sp>
            <p:nvSpPr>
              <p:cNvPr id="105" name="Rectangle 41">
                <a:extLst>
                  <a:ext uri="{FF2B5EF4-FFF2-40B4-BE49-F238E27FC236}">
                    <a16:creationId xmlns:a16="http://schemas.microsoft.com/office/drawing/2014/main" id="{047042EB-11AE-4F61-A472-2F07E34655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5872" y="1310860"/>
                <a:ext cx="2465069" cy="147605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27037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marL="144000" lvl="3" indent="-144000">
                  <a:lnSpc>
                    <a:spcPct val="120000"/>
                  </a:lnSpc>
                  <a:spcBef>
                    <a:spcPts val="600"/>
                  </a:spcBef>
                  <a:buClr>
                    <a:srgbClr val="0B4CA2"/>
                  </a:buClr>
                  <a:buSzPct val="80000"/>
                  <a:buFont typeface="Arial" panose="020B0604020202020204" pitchFamily="34" charset="0"/>
                  <a:buChar char="•"/>
                </a:pPr>
                <a:endPara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106" name="Text Box 44">
                <a:extLst>
                  <a:ext uri="{FF2B5EF4-FFF2-40B4-BE49-F238E27FC236}">
                    <a16:creationId xmlns:a16="http://schemas.microsoft.com/office/drawing/2014/main" id="{7619819D-941E-464B-B828-3E0F6D88D5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5369" y="1150522"/>
                <a:ext cx="2064989" cy="3385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600" dirty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F27037"/>
                    </a:solidFill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j-cs"/>
                  </a:rPr>
                  <a:t>송신 측에서의 다중화</a:t>
                </a:r>
                <a:endPara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endParaRPr>
              </a:p>
            </p:txBody>
          </p:sp>
          <p:sp>
            <p:nvSpPr>
              <p:cNvPr id="107" name="Rectangle 3">
                <a:extLst>
                  <a:ext uri="{FF2B5EF4-FFF2-40B4-BE49-F238E27FC236}">
                    <a16:creationId xmlns:a16="http://schemas.microsoft.com/office/drawing/2014/main" id="{29AE7225-062A-4EF5-955A-20A1A218833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86967" y="1498510"/>
                <a:ext cx="2342862" cy="1181285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44000" lvl="3" indent="-144000" latinLnBrk="0">
                  <a:lnSpc>
                    <a:spcPct val="120000"/>
                  </a:lnSpc>
                  <a:spcBef>
                    <a:spcPts val="600"/>
                  </a:spcBef>
                  <a:buClr>
                    <a:srgbClr val="0B4CA2"/>
                  </a:buClr>
                  <a:buSzPct val="80000"/>
                </a:pPr>
                <a:r>
                  <a:rPr lang="ko-KR" altLang="en-US" sz="15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여러 소켓에서 온 데이터를 처리하고 트랜스포트 헤더를 추가</a:t>
                </a:r>
                <a:br>
                  <a:rPr lang="en-US" altLang="ko-KR" sz="15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</a:br>
                <a:r>
                  <a:rPr lang="en-US" altLang="ko-KR" sz="15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(</a:t>
                </a:r>
                <a:r>
                  <a:rPr lang="ko-KR" altLang="en-US" sz="15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추후 역다중화에 사용 </a:t>
                </a:r>
                <a:r>
                  <a:rPr lang="en-US" altLang="ko-KR" sz="15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)</a:t>
                </a:r>
              </a:p>
            </p:txBody>
          </p:sp>
        </p:grpSp>
        <p:sp>
          <p:nvSpPr>
            <p:cNvPr id="98" name="Oval 167">
              <a:extLst>
                <a:ext uri="{FF2B5EF4-FFF2-40B4-BE49-F238E27FC236}">
                  <a16:creationId xmlns:a16="http://schemas.microsoft.com/office/drawing/2014/main" id="{55911F8F-CD0E-4E01-ACA3-B1E8E148F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982" y="3218514"/>
              <a:ext cx="211932" cy="91615"/>
            </a:xfrm>
            <a:prstGeom prst="ellipse">
              <a:avLst/>
            </a:prstGeom>
            <a:noFill/>
            <a:ln w="28575">
              <a:solidFill>
                <a:srgbClr val="F2703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5C5F9AD4-A84C-4E31-8F21-29DDDE2EB51B}"/>
              </a:ext>
            </a:extLst>
          </p:cNvPr>
          <p:cNvGrpSpPr/>
          <p:nvPr/>
        </p:nvGrpSpPr>
        <p:grpSpPr>
          <a:xfrm>
            <a:off x="5268650" y="6164580"/>
            <a:ext cx="2596088" cy="304800"/>
            <a:chOff x="4974908" y="6267291"/>
            <a:chExt cx="2596088" cy="304800"/>
          </a:xfrm>
        </p:grpSpPr>
        <p:sp>
          <p:nvSpPr>
            <p:cNvPr id="116" name="Text Box 37">
              <a:extLst>
                <a:ext uri="{FF2B5EF4-FFF2-40B4-BE49-F238E27FC236}">
                  <a16:creationId xmlns:a16="http://schemas.microsoft.com/office/drawing/2014/main" id="{CCECC841-F9C6-44AB-93B7-9B51FF7D3E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8739" y="6279991"/>
              <a:ext cx="75225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  <a:buClr>
                  <a:srgbClr val="000000"/>
                </a:buClr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process</a:t>
              </a:r>
            </a:p>
          </p:txBody>
        </p:sp>
        <p:sp>
          <p:nvSpPr>
            <p:cNvPr id="117" name="Text Box 38">
              <a:extLst>
                <a:ext uri="{FF2B5EF4-FFF2-40B4-BE49-F238E27FC236}">
                  <a16:creationId xmlns:a16="http://schemas.microsoft.com/office/drawing/2014/main" id="{0CF6FF79-219A-4EF0-8DFD-ADEB4F87BF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1582" y="6279991"/>
              <a:ext cx="66242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  <a:buClr>
                  <a:srgbClr val="000000"/>
                </a:buClr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socket</a:t>
              </a:r>
            </a:p>
          </p:txBody>
        </p:sp>
        <p:sp>
          <p:nvSpPr>
            <p:cNvPr id="119" name="Rectangle 35">
              <a:extLst>
                <a:ext uri="{FF2B5EF4-FFF2-40B4-BE49-F238E27FC236}">
                  <a16:creationId xmlns:a16="http://schemas.microsoft.com/office/drawing/2014/main" id="{1D5B379D-A515-44DF-A050-AE4806F0B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4908" y="6316504"/>
              <a:ext cx="533400" cy="20637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rgbClr val="105BA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  <a:buClrTx/>
                <a:buSzTx/>
                <a:buNone/>
              </a:pPr>
              <a:endParaRPr lang="ko-KR" altLang="ko-KR">
                <a:solidFill>
                  <a:prstClr val="black"/>
                </a:solidFill>
                <a:latin typeface="G마켓 산스 TTF Medium"/>
                <a:ea typeface="넥슨Lv1고딕"/>
              </a:endParaRPr>
            </a:p>
          </p:txBody>
        </p:sp>
        <p:sp>
          <p:nvSpPr>
            <p:cNvPr id="120" name="Rectangle 54">
              <a:extLst>
                <a:ext uri="{FF2B5EF4-FFF2-40B4-BE49-F238E27FC236}">
                  <a16:creationId xmlns:a16="http://schemas.microsoft.com/office/drawing/2014/main" id="{09236DAE-5CAE-4B63-BABA-9E06940B6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9533" y="6343492"/>
              <a:ext cx="174625" cy="1571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122" name="Rectangle 56">
              <a:extLst>
                <a:ext uri="{FF2B5EF4-FFF2-40B4-BE49-F238E27FC236}">
                  <a16:creationId xmlns:a16="http://schemas.microsoft.com/office/drawing/2014/main" id="{14846B0D-32B4-4D6E-B367-A9CB950A7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921" y="6437154"/>
              <a:ext cx="46038" cy="55563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123" name="Oval 36">
              <a:extLst>
                <a:ext uri="{FF2B5EF4-FFF2-40B4-BE49-F238E27FC236}">
                  <a16:creationId xmlns:a16="http://schemas.microsoft.com/office/drawing/2014/main" id="{3522D6B0-FAAD-4DF3-988D-6CB94597F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6020" y="6267291"/>
              <a:ext cx="598488" cy="304800"/>
            </a:xfrm>
            <a:prstGeom prst="ellipse">
              <a:avLst/>
            </a:prstGeom>
            <a:solidFill>
              <a:srgbClr val="105BA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white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sp>
          <p:nvSpPr>
            <p:cNvPr id="124" name="Rectangle 56">
              <a:extLst>
                <a:ext uri="{FF2B5EF4-FFF2-40B4-BE49-F238E27FC236}">
                  <a16:creationId xmlns:a16="http://schemas.microsoft.com/office/drawing/2014/main" id="{FDD23969-B9CC-47E8-B2EB-3EE5C792F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1146" y="6437154"/>
              <a:ext cx="46038" cy="55563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pic>
        <p:nvPicPr>
          <p:cNvPr id="85" name="그림 84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CDE6870E-7911-42C9-91E9-673724196E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502" y="3262945"/>
            <a:ext cx="368977" cy="795121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4C72518F-DAE2-4D2B-961A-FC4F12EA6837}"/>
              </a:ext>
            </a:extLst>
          </p:cNvPr>
          <p:cNvGrpSpPr/>
          <p:nvPr/>
        </p:nvGrpSpPr>
        <p:grpSpPr>
          <a:xfrm>
            <a:off x="1485960" y="3421675"/>
            <a:ext cx="1181967" cy="1635989"/>
            <a:chOff x="1676460" y="2780928"/>
            <a:chExt cx="1181967" cy="1635989"/>
          </a:xfrm>
        </p:grpSpPr>
        <p:sp>
          <p:nvSpPr>
            <p:cNvPr id="13" name="Rectangle 228">
              <a:extLst>
                <a:ext uri="{FF2B5EF4-FFF2-40B4-BE49-F238E27FC236}">
                  <a16:creationId xmlns:a16="http://schemas.microsoft.com/office/drawing/2014/main" id="{6AC9D709-9A7B-4632-BE2C-0B104656A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9411" y="2780928"/>
              <a:ext cx="1159016" cy="7113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ko-KR" sz="3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D9A59AA-2DC3-4C1D-9248-E7F26C8C0925}"/>
                </a:ext>
              </a:extLst>
            </p:cNvPr>
            <p:cNvGrpSpPr/>
            <p:nvPr/>
          </p:nvGrpSpPr>
          <p:grpSpPr>
            <a:xfrm>
              <a:off x="1699411" y="3490540"/>
              <a:ext cx="1159016" cy="926377"/>
              <a:chOff x="1840640" y="4014790"/>
              <a:chExt cx="1159016" cy="782739"/>
            </a:xfrm>
          </p:grpSpPr>
          <p:sp>
            <p:nvSpPr>
              <p:cNvPr id="15" name="Rectangle 228">
                <a:extLst>
                  <a:ext uri="{FF2B5EF4-FFF2-40B4-BE49-F238E27FC236}">
                    <a16:creationId xmlns:a16="http://schemas.microsoft.com/office/drawing/2014/main" id="{FDD0763D-7BCE-4BBE-813C-4F88A0E20E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640" y="4014790"/>
                <a:ext cx="1159016" cy="1969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넥슨Lv1고딕" panose="00000500000000000000" pitchFamily="2" charset="-127"/>
                    <a:ea typeface="넥슨Lv1고딕" panose="00000500000000000000" pitchFamily="2" charset="-127"/>
                    <a:cs typeface="+mn-cs"/>
                  </a:rPr>
                  <a:t>transport</a:t>
                </a:r>
              </a:p>
            </p:txBody>
          </p:sp>
          <p:sp>
            <p:nvSpPr>
              <p:cNvPr id="16" name="Rectangle 228">
                <a:extLst>
                  <a:ext uri="{FF2B5EF4-FFF2-40B4-BE49-F238E27FC236}">
                    <a16:creationId xmlns:a16="http://schemas.microsoft.com/office/drawing/2014/main" id="{DE7E9FD8-8457-4997-8A7B-751E581855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640" y="4210051"/>
                <a:ext cx="1159016" cy="1969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</a:pPr>
                <a:r>
                  <a:rPr lang="en-US" altLang="ko-KR" sz="12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network</a:t>
                </a:r>
              </a:p>
            </p:txBody>
          </p:sp>
          <p:sp>
            <p:nvSpPr>
              <p:cNvPr id="17" name="Rectangle 228">
                <a:extLst>
                  <a:ext uri="{FF2B5EF4-FFF2-40B4-BE49-F238E27FC236}">
                    <a16:creationId xmlns:a16="http://schemas.microsoft.com/office/drawing/2014/main" id="{2766405E-188B-4600-BA81-69166C3BA7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640" y="4405314"/>
                <a:ext cx="1159016" cy="1969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</a:pPr>
                <a:r>
                  <a:rPr lang="en-US" altLang="ko-KR" sz="12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link</a:t>
                </a:r>
              </a:p>
            </p:txBody>
          </p:sp>
          <p:sp>
            <p:nvSpPr>
              <p:cNvPr id="18" name="Rectangle 228">
                <a:extLst>
                  <a:ext uri="{FF2B5EF4-FFF2-40B4-BE49-F238E27FC236}">
                    <a16:creationId xmlns:a16="http://schemas.microsoft.com/office/drawing/2014/main" id="{33EFE70C-0048-49F4-B8FD-B6A2F1483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640" y="4600576"/>
                <a:ext cx="1159016" cy="1969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</a:pPr>
                <a:r>
                  <a:rPr lang="en-US" altLang="ko-KR" sz="12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physical</a:t>
                </a:r>
              </a:p>
            </p:txBody>
          </p:sp>
        </p:grpSp>
        <p:sp>
          <p:nvSpPr>
            <p:cNvPr id="19" name="Text Box 26">
              <a:extLst>
                <a:ext uri="{FF2B5EF4-FFF2-40B4-BE49-F238E27FC236}">
                  <a16:creationId xmlns:a16="http://schemas.microsoft.com/office/drawing/2014/main" id="{59857D21-EA10-4951-9218-5F8BC7C985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60" y="2795215"/>
              <a:ext cx="1168400" cy="2848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 Bold" panose="00000800000000000000" pitchFamily="2" charset="-127"/>
                  <a:ea typeface="넥슨Lv1고딕 Bold" panose="00000800000000000000" pitchFamily="2" charset="-127"/>
                  <a:cs typeface="+mn-cs"/>
                </a:rPr>
                <a:t>application</a:t>
              </a:r>
            </a:p>
          </p:txBody>
        </p:sp>
        <p:sp>
          <p:nvSpPr>
            <p:cNvPr id="20" name="Oval 57">
              <a:extLst>
                <a:ext uri="{FF2B5EF4-FFF2-40B4-BE49-F238E27FC236}">
                  <a16:creationId xmlns:a16="http://schemas.microsoft.com/office/drawing/2014/main" id="{4976DC40-3D51-4DA7-AE12-5817B4BEE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5538" y="3068390"/>
              <a:ext cx="941042" cy="264989"/>
            </a:xfrm>
            <a:prstGeom prst="ellipse">
              <a:avLst/>
            </a:prstGeom>
            <a:solidFill>
              <a:srgbClr val="105BA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 Bold" panose="00000800000000000000" pitchFamily="2" charset="-127"/>
                  <a:ea typeface="넥슨Lv1고딕 Bold" panose="00000800000000000000" pitchFamily="2" charset="-127"/>
                  <a:cs typeface="+mn-cs"/>
                </a:rPr>
                <a:t>P3</a:t>
              </a:r>
            </a:p>
          </p:txBody>
        </p:sp>
        <p:grpSp>
          <p:nvGrpSpPr>
            <p:cNvPr id="21" name="Group 58">
              <a:extLst>
                <a:ext uri="{FF2B5EF4-FFF2-40B4-BE49-F238E27FC236}">
                  <a16:creationId xmlns:a16="http://schemas.microsoft.com/office/drawing/2014/main" id="{6E8C56C5-921B-466B-81F4-C9E7D90678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05869" y="3308774"/>
              <a:ext cx="546100" cy="225425"/>
              <a:chOff x="1287" y="2524"/>
              <a:chExt cx="260" cy="100"/>
            </a:xfrm>
          </p:grpSpPr>
          <p:sp>
            <p:nvSpPr>
              <p:cNvPr id="22" name="Rectangle 59">
                <a:extLst>
                  <a:ext uri="{FF2B5EF4-FFF2-40B4-BE49-F238E27FC236}">
                    <a16:creationId xmlns:a16="http://schemas.microsoft.com/office/drawing/2014/main" id="{2248543B-1F81-4157-847D-F486A4C60C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105BA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23" name="Rectangle 60">
                <a:extLst>
                  <a:ext uri="{FF2B5EF4-FFF2-40B4-BE49-F238E27FC236}">
                    <a16:creationId xmlns:a16="http://schemas.microsoft.com/office/drawing/2014/main" id="{ECEC0CCE-B0FB-4B59-83DB-DB3FC81F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7" y="2537"/>
                <a:ext cx="156" cy="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24" name="Rectangle 61">
                <a:extLst>
                  <a:ext uri="{FF2B5EF4-FFF2-40B4-BE49-F238E27FC236}">
                    <a16:creationId xmlns:a16="http://schemas.microsoft.com/office/drawing/2014/main" id="{EE7671DB-1D15-4C3A-AD58-099160B4DC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" y="2580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25" name="Rectangle 62">
                <a:extLst>
                  <a:ext uri="{FF2B5EF4-FFF2-40B4-BE49-F238E27FC236}">
                    <a16:creationId xmlns:a16="http://schemas.microsoft.com/office/drawing/2014/main" id="{7FFA5735-C959-4F31-A2DA-2020BD2174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2580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137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 err="1">
                <a:cs typeface="+mj-cs"/>
              </a:rPr>
              <a:t>역다중화</a:t>
            </a:r>
            <a:r>
              <a:rPr lang="ko-KR" altLang="en-US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</a:t>
            </a:r>
            <a:r>
              <a:rPr lang="ko-KR" altLang="en-US" sz="2000" dirty="0">
                <a:cs typeface="+mj-cs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동작 방식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BA3C40-75BB-4016-BB8A-A680322248DC}"/>
              </a:ext>
            </a:extLst>
          </p:cNvPr>
          <p:cNvSpPr txBox="1">
            <a:spLocks noChangeArrowheads="1"/>
          </p:cNvSpPr>
          <p:nvPr/>
        </p:nvSpPr>
        <p:spPr>
          <a:xfrm>
            <a:off x="4230916" y="1326433"/>
            <a:ext cx="44546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호스트가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 datagram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 수신함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5FED1E8-8BAC-4DBD-A360-512151A97ABE}"/>
              </a:ext>
            </a:extLst>
          </p:cNvPr>
          <p:cNvSpPr txBox="1">
            <a:spLocks noChangeArrowheads="1"/>
          </p:cNvSpPr>
          <p:nvPr/>
        </p:nvSpPr>
        <p:spPr>
          <a:xfrm>
            <a:off x="4536508" y="1743875"/>
            <a:ext cx="3720080" cy="188917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datagram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은 출발지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목적지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주소를 지님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datagram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은 트랜스포트 계층 세그먼트 하나를 전달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출발지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목적지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port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번호를 지님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2D8F587-59D3-482B-82A8-E788CB49904F}"/>
              </a:ext>
            </a:extLst>
          </p:cNvPr>
          <p:cNvSpPr txBox="1">
            <a:spLocks noChangeArrowheads="1"/>
          </p:cNvSpPr>
          <p:nvPr/>
        </p:nvSpPr>
        <p:spPr>
          <a:xfrm>
            <a:off x="4230915" y="3799819"/>
            <a:ext cx="402567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호스트에서는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IP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주소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&amp;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포트 번호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보고 세그먼트를 적절한 소켓에 전달한다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sp>
        <p:nvSpPr>
          <p:cNvPr id="8" name="Rectangle 65">
            <a:extLst>
              <a:ext uri="{FF2B5EF4-FFF2-40B4-BE49-F238E27FC236}">
                <a16:creationId xmlns:a16="http://schemas.microsoft.com/office/drawing/2014/main" id="{2F128410-90A7-48D9-8E15-A5124FCEF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3" y="1695033"/>
            <a:ext cx="3324225" cy="3200400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>
                <a:srgbClr val="000000"/>
              </a:buClr>
              <a:buFont typeface="Arial"/>
              <a:buChar char="§"/>
            </a:pPr>
            <a:endParaRPr lang="ko-KR" altLang="ko-KR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9" name="Text Box 63">
            <a:extLst>
              <a:ext uri="{FF2B5EF4-FFF2-40B4-BE49-F238E27FC236}">
                <a16:creationId xmlns:a16="http://schemas.microsoft.com/office/drawing/2014/main" id="{B88D53B2-E514-473F-B2E7-F29959A78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950" y="1772816"/>
            <a:ext cx="136447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출발지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 port #</a:t>
            </a:r>
          </a:p>
        </p:txBody>
      </p:sp>
      <p:sp>
        <p:nvSpPr>
          <p:cNvPr id="10" name="Text Box 64">
            <a:extLst>
              <a:ext uri="{FF2B5EF4-FFF2-40B4-BE49-F238E27FC236}">
                <a16:creationId xmlns:a16="http://schemas.microsoft.com/office/drawing/2014/main" id="{4D312977-33BA-477E-BF94-DE744145E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0062" y="1772816"/>
            <a:ext cx="136447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목적지 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port #</a:t>
            </a:r>
          </a:p>
        </p:txBody>
      </p:sp>
      <p:sp>
        <p:nvSpPr>
          <p:cNvPr id="11" name="Line 66">
            <a:extLst>
              <a:ext uri="{FF2B5EF4-FFF2-40B4-BE49-F238E27FC236}">
                <a16:creationId xmlns:a16="http://schemas.microsoft.com/office/drawing/2014/main" id="{7A71447E-02F5-4F66-93A2-6FEE545189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9288" y="2095083"/>
            <a:ext cx="3328988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12" name="Line 68">
            <a:extLst>
              <a:ext uri="{FF2B5EF4-FFF2-40B4-BE49-F238E27FC236}">
                <a16:creationId xmlns:a16="http://schemas.microsoft.com/office/drawing/2014/main" id="{72AA3B39-4ECC-4A69-B833-CD845EF09A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813" y="3085683"/>
            <a:ext cx="3324225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13" name="Line 69">
            <a:extLst>
              <a:ext uri="{FF2B5EF4-FFF2-40B4-BE49-F238E27FC236}">
                <a16:creationId xmlns:a16="http://schemas.microsoft.com/office/drawing/2014/main" id="{DC11AB08-1E4E-4861-9433-912CC43120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97113" y="1695033"/>
            <a:ext cx="0" cy="395288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14" name="Text Box 70">
            <a:extLst>
              <a:ext uri="{FF2B5EF4-FFF2-40B4-BE49-F238E27FC236}">
                <a16:creationId xmlns:a16="http://schemas.microsoft.com/office/drawing/2014/main" id="{9A79708C-D06B-45A1-BEE3-E3388BCE1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962" y="1344196"/>
            <a:ext cx="83067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4546A">
                    <a:lumMod val="5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32 bits</a:t>
            </a:r>
          </a:p>
        </p:txBody>
      </p:sp>
      <p:sp>
        <p:nvSpPr>
          <p:cNvPr id="15" name="Line 71">
            <a:extLst>
              <a:ext uri="{FF2B5EF4-FFF2-40B4-BE49-F238E27FC236}">
                <a16:creationId xmlns:a16="http://schemas.microsoft.com/office/drawing/2014/main" id="{7485F019-FFB7-46C0-A59B-B8B0450197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4313" y="1461671"/>
            <a:ext cx="1200150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" name="Line 72">
            <a:extLst>
              <a:ext uri="{FF2B5EF4-FFF2-40B4-BE49-F238E27FC236}">
                <a16:creationId xmlns:a16="http://schemas.microsoft.com/office/drawing/2014/main" id="{EF6DF86D-C68B-484B-AB43-AA2845060DE7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44526" y="1471196"/>
            <a:ext cx="11287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F383795C-9211-4E62-91B1-C800D135D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244" y="3844508"/>
            <a:ext cx="249847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4546A">
                    <a:lumMod val="5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응용 데이터 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4546A">
                    <a:lumMod val="5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(payload)</a:t>
            </a:r>
          </a:p>
        </p:txBody>
      </p:sp>
      <p:sp>
        <p:nvSpPr>
          <p:cNvPr id="18" name="Text Box 74">
            <a:extLst>
              <a:ext uri="{FF2B5EF4-FFF2-40B4-BE49-F238E27FC236}">
                <a16:creationId xmlns:a16="http://schemas.microsoft.com/office/drawing/2014/main" id="{F435E662-DF41-4E71-B078-A464E0DF5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2964" y="2449096"/>
            <a:ext cx="14959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4546A">
                    <a:lumMod val="5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다른 헤더 필드들</a:t>
            </a:r>
            <a:endParaRPr lang="en-US" altLang="ko-KR" sz="14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44546A">
                  <a:lumMod val="50000"/>
                </a:srgb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Text Box 76">
            <a:extLst>
              <a:ext uri="{FF2B5EF4-FFF2-40B4-BE49-F238E27FC236}">
                <a16:creationId xmlns:a16="http://schemas.microsoft.com/office/drawing/2014/main" id="{05733500-B184-4F27-9908-C2931F324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4468" y="4979571"/>
            <a:ext cx="24529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4546A">
                    <a:lumMod val="5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TCP/UDP segment </a:t>
            </a: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4546A">
                    <a:lumMod val="5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형식</a:t>
            </a:r>
            <a:endParaRPr lang="en-US" altLang="ko-KR" sz="14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44546A">
                  <a:lumMod val="50000"/>
                </a:srgb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3675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>
                <a:cs typeface="+mj-cs"/>
              </a:rPr>
              <a:t>비연결형 역다중화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D0C88F-4A65-4779-B974-C725A191E042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268760"/>
            <a:ext cx="3707844" cy="18321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recall </a:t>
            </a:r>
            <a:b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생성된 소켓은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port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번호를 가진다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</a:t>
            </a:r>
          </a:p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DatagramSocket mySocket1        = new DatagramSocket(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12534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 ;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0ED7AF7-393D-4A43-AA9A-E9FE685F43C0}"/>
              </a:ext>
            </a:extLst>
          </p:cNvPr>
          <p:cNvSpPr txBox="1">
            <a:spLocks noChangeArrowheads="1"/>
          </p:cNvSpPr>
          <p:nvPr/>
        </p:nvSpPr>
        <p:spPr>
          <a:xfrm>
            <a:off x="4548744" y="1268760"/>
            <a:ext cx="3707844" cy="18321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recall</a:t>
            </a:r>
            <a:b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</a:b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UDP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소켓으로 보낼 데이터그램을 만들 때 다음을 명시한다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FE34EEA-AA96-4782-8668-42D33D1F6581}"/>
              </a:ext>
            </a:extLst>
          </p:cNvPr>
          <p:cNvSpPr txBox="1">
            <a:spLocks noChangeArrowheads="1"/>
          </p:cNvSpPr>
          <p:nvPr/>
        </p:nvSpPr>
        <p:spPr>
          <a:xfrm>
            <a:off x="4816236" y="2345871"/>
            <a:ext cx="344035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목적지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목적지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port #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8B06C93-B723-472C-BE48-25868C9A71C3}"/>
              </a:ext>
            </a:extLst>
          </p:cNvPr>
          <p:cNvGrpSpPr/>
          <p:nvPr/>
        </p:nvGrpSpPr>
        <p:grpSpPr>
          <a:xfrm>
            <a:off x="601979" y="3436620"/>
            <a:ext cx="7654609" cy="2468880"/>
            <a:chOff x="601979" y="3436620"/>
            <a:chExt cx="7654609" cy="2468880"/>
          </a:xfrm>
        </p:grpSpPr>
        <p:sp>
          <p:nvSpPr>
            <p:cNvPr id="12" name="Rectangle 65">
              <a:extLst>
                <a:ext uri="{FF2B5EF4-FFF2-40B4-BE49-F238E27FC236}">
                  <a16:creationId xmlns:a16="http://schemas.microsoft.com/office/drawing/2014/main" id="{B7DB1E7D-7904-4C57-93ED-CC49A044F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79" y="3436620"/>
              <a:ext cx="7654609" cy="246888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  <a:buChar char="§"/>
              </a:pPr>
              <a:endParaRPr lang="ko-KR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AE54DF47-A52D-45F8-86E1-EBBECACCA0A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3630960"/>
              <a:ext cx="3707844" cy="183211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호스트가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UDP segment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를 수신하면 </a:t>
              </a:r>
              <a:endPara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C108E3E3-77F1-40D6-822A-54015DCB43B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82663" y="4098471"/>
              <a:ext cx="3440352" cy="125823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Segment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내의 목적지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port #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를 확인한다</a:t>
              </a:r>
            </a:p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UDP segment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해당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port #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의 소켓으로 전달한다</a:t>
              </a:r>
            </a:p>
          </p:txBody>
        </p:sp>
        <p:sp>
          <p:nvSpPr>
            <p:cNvPr id="10" name="AutoShape 113">
              <a:extLst>
                <a:ext uri="{FF2B5EF4-FFF2-40B4-BE49-F238E27FC236}">
                  <a16:creationId xmlns:a16="http://schemas.microsoft.com/office/drawing/2014/main" id="{6CDB37BA-C13A-49A6-A8C9-8BF8A94CA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4805" y="4211940"/>
              <a:ext cx="560388" cy="1053480"/>
            </a:xfrm>
            <a:prstGeom prst="rightArrow">
              <a:avLst>
                <a:gd name="adj1" fmla="val 77714"/>
                <a:gd name="adj2" fmla="val 45026"/>
              </a:avLst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buClr>
                  <a:srgbClr val="000000"/>
                </a:buClr>
                <a:buSzTx/>
                <a:buNone/>
              </a:pPr>
              <a:endParaRPr lang="ko-KR" altLang="ko-KR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1" name="Rectangle 111">
              <a:extLst>
                <a:ext uri="{FF2B5EF4-FFF2-40B4-BE49-F238E27FC236}">
                  <a16:creationId xmlns:a16="http://schemas.microsoft.com/office/drawing/2014/main" id="{FD4CFC61-F6F9-47A7-A62D-3CA64DA24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6635" y="3973860"/>
              <a:ext cx="3315653" cy="16649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1" latinLnBrk="0">
                <a:lnSpc>
                  <a:spcPct val="120000"/>
                </a:lnSpc>
                <a:spcBef>
                  <a:spcPts val="800"/>
                </a:spcBef>
                <a:buSzPct val="65000"/>
                <a:buFont typeface="Wingdings" panose="05000000000000000000" pitchFamily="2" charset="2"/>
                <a:buNone/>
              </a:pPr>
              <a:r>
                <a:rPr lang="ko-KR" altLang="en-US" sz="17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목적지 </a:t>
              </a:r>
              <a:r>
                <a:rPr lang="en-US" altLang="ko-KR" sz="17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port #</a:t>
              </a:r>
              <a:r>
                <a:rPr lang="ko-KR" altLang="en-US" sz="17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가 같은</a:t>
              </a:r>
              <a:r>
                <a:rPr lang="en-US" altLang="ko-KR" sz="17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 </a:t>
              </a:r>
              <a:br>
                <a:rPr lang="en-US" altLang="ko-KR" sz="17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</a:br>
              <a:r>
                <a:rPr lang="en-US" altLang="ko-KR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IP datagram</a:t>
              </a:r>
              <a:r>
                <a:rPr lang="ko-KR" altLang="en-US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은</a:t>
              </a:r>
              <a:r>
                <a:rPr lang="en-US" altLang="ko-KR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</a:t>
              </a:r>
              <a:r>
                <a:rPr lang="ko-KR" altLang="en-US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출발지 </a:t>
              </a:r>
              <a:r>
                <a:rPr lang="en-US" altLang="ko-KR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IP </a:t>
              </a:r>
              <a:r>
                <a:rPr lang="ko-KR" altLang="en-US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주소와 출발지 </a:t>
              </a:r>
              <a:r>
                <a:rPr lang="en-US" altLang="ko-KR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port </a:t>
              </a:r>
              <a:r>
                <a:rPr lang="ko-KR" altLang="en-US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번호가 달라도 목적지의 </a:t>
              </a:r>
              <a:r>
                <a:rPr lang="ko-KR" altLang="en-US" sz="17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동일한</a:t>
              </a:r>
              <a:r>
                <a:rPr lang="en-US" altLang="ko-KR" sz="17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 </a:t>
              </a:r>
              <a:r>
                <a:rPr lang="ko-KR" altLang="en-US" sz="17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소켓</a:t>
              </a:r>
              <a:r>
                <a:rPr lang="ko-KR" altLang="en-US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으로</a:t>
              </a:r>
              <a:r>
                <a:rPr lang="en-US" altLang="ko-KR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</a:t>
              </a:r>
              <a:r>
                <a:rPr lang="ko-KR" altLang="en-US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전달된다</a:t>
              </a:r>
              <a:r>
                <a:rPr lang="en-US" altLang="ko-KR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797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자유형: 도형 91">
            <a:extLst>
              <a:ext uri="{FF2B5EF4-FFF2-40B4-BE49-F238E27FC236}">
                <a16:creationId xmlns:a16="http://schemas.microsoft.com/office/drawing/2014/main" id="{12F45DE9-AE69-4B64-859D-0B958C15BDB9}"/>
              </a:ext>
            </a:extLst>
          </p:cNvPr>
          <p:cNvSpPr/>
          <p:nvPr/>
        </p:nvSpPr>
        <p:spPr>
          <a:xfrm flipH="1">
            <a:off x="3150340" y="2195894"/>
            <a:ext cx="400468" cy="1641916"/>
          </a:xfrm>
          <a:custGeom>
            <a:avLst/>
            <a:gdLst>
              <a:gd name="connsiteX0" fmla="*/ 6675 w 400468"/>
              <a:gd name="connsiteY0" fmla="*/ 0 h 1668614"/>
              <a:gd name="connsiteX1" fmla="*/ 400468 w 400468"/>
              <a:gd name="connsiteY1" fmla="*/ 1668614 h 1668614"/>
              <a:gd name="connsiteX2" fmla="*/ 0 w 400468"/>
              <a:gd name="connsiteY2" fmla="*/ 1668614 h 1668614"/>
              <a:gd name="connsiteX3" fmla="*/ 6675 w 400468"/>
              <a:gd name="connsiteY3" fmla="*/ 0 h 16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468" h="1668614">
                <a:moveTo>
                  <a:pt x="6675" y="0"/>
                </a:moveTo>
                <a:lnTo>
                  <a:pt x="400468" y="1668614"/>
                </a:lnTo>
                <a:lnTo>
                  <a:pt x="0" y="1668614"/>
                </a:lnTo>
                <a:lnTo>
                  <a:pt x="6675" y="0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endParaRPr lang="ko-KR" altLang="en-US" sz="3200">
              <a:solidFill>
                <a:schemeClr val="tx1"/>
              </a:solidFill>
              <a:latin typeface="G마켓 산스 TTF Medium" panose="02000000000000000000" pitchFamily="2" charset="-127"/>
            </a:endParaRPr>
          </a:p>
        </p:txBody>
      </p:sp>
      <p:sp>
        <p:nvSpPr>
          <p:cNvPr id="91" name="자유형: 도형 90">
            <a:extLst>
              <a:ext uri="{FF2B5EF4-FFF2-40B4-BE49-F238E27FC236}">
                <a16:creationId xmlns:a16="http://schemas.microsoft.com/office/drawing/2014/main" id="{16796861-D569-4CB1-A12D-F6983212EE62}"/>
              </a:ext>
            </a:extLst>
          </p:cNvPr>
          <p:cNvSpPr/>
          <p:nvPr/>
        </p:nvSpPr>
        <p:spPr>
          <a:xfrm flipH="1">
            <a:off x="487234" y="2823293"/>
            <a:ext cx="400468" cy="1668614"/>
          </a:xfrm>
          <a:custGeom>
            <a:avLst/>
            <a:gdLst>
              <a:gd name="connsiteX0" fmla="*/ 6675 w 400468"/>
              <a:gd name="connsiteY0" fmla="*/ 0 h 1668614"/>
              <a:gd name="connsiteX1" fmla="*/ 400468 w 400468"/>
              <a:gd name="connsiteY1" fmla="*/ 1668614 h 1668614"/>
              <a:gd name="connsiteX2" fmla="*/ 0 w 400468"/>
              <a:gd name="connsiteY2" fmla="*/ 1668614 h 1668614"/>
              <a:gd name="connsiteX3" fmla="*/ 6675 w 400468"/>
              <a:gd name="connsiteY3" fmla="*/ 0 h 16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468" h="1668614">
                <a:moveTo>
                  <a:pt x="6675" y="0"/>
                </a:moveTo>
                <a:lnTo>
                  <a:pt x="400468" y="1668614"/>
                </a:lnTo>
                <a:lnTo>
                  <a:pt x="0" y="1668614"/>
                </a:lnTo>
                <a:lnTo>
                  <a:pt x="6675" y="0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endParaRPr lang="ko-KR" altLang="en-US" sz="3200">
              <a:solidFill>
                <a:schemeClr val="tx1"/>
              </a:solidFill>
              <a:latin typeface="G마켓 산스 TTF Medium" panose="02000000000000000000" pitchFamily="2" charset="-127"/>
            </a:endParaRP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A6041662-4AD6-48EF-ADD5-BE040733270C}"/>
              </a:ext>
            </a:extLst>
          </p:cNvPr>
          <p:cNvSpPr/>
          <p:nvPr/>
        </p:nvSpPr>
        <p:spPr>
          <a:xfrm>
            <a:off x="7615550" y="2823293"/>
            <a:ext cx="400468" cy="1668614"/>
          </a:xfrm>
          <a:custGeom>
            <a:avLst/>
            <a:gdLst>
              <a:gd name="connsiteX0" fmla="*/ 6675 w 400468"/>
              <a:gd name="connsiteY0" fmla="*/ 0 h 1668614"/>
              <a:gd name="connsiteX1" fmla="*/ 400468 w 400468"/>
              <a:gd name="connsiteY1" fmla="*/ 1668614 h 1668614"/>
              <a:gd name="connsiteX2" fmla="*/ 0 w 400468"/>
              <a:gd name="connsiteY2" fmla="*/ 1668614 h 1668614"/>
              <a:gd name="connsiteX3" fmla="*/ 6675 w 400468"/>
              <a:gd name="connsiteY3" fmla="*/ 0 h 16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468" h="1668614">
                <a:moveTo>
                  <a:pt x="6675" y="0"/>
                </a:moveTo>
                <a:lnTo>
                  <a:pt x="400468" y="1668614"/>
                </a:lnTo>
                <a:lnTo>
                  <a:pt x="0" y="1668614"/>
                </a:lnTo>
                <a:lnTo>
                  <a:pt x="6675" y="0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endParaRPr lang="ko-KR" altLang="en-US" sz="3200">
              <a:solidFill>
                <a:schemeClr val="tx1"/>
              </a:solidFill>
              <a:latin typeface="G마켓 산스 TTF Medium" panose="020000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비연결형 역다중화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>
                <a:cs typeface="+mj-cs"/>
              </a:rPr>
              <a:t> </a:t>
            </a:r>
            <a:r>
              <a:rPr lang="ko-KR" altLang="en-US" dirty="0">
                <a:solidFill>
                  <a:schemeClr val="bg1"/>
                </a:solidFill>
                <a:cs typeface="+mj-cs"/>
              </a:rPr>
              <a:t>예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5" name="Rectangle 228">
            <a:extLst>
              <a:ext uri="{FF2B5EF4-FFF2-40B4-BE49-F238E27FC236}">
                <a16:creationId xmlns:a16="http://schemas.microsoft.com/office/drawing/2014/main" id="{FA47E846-170F-4EF7-8ADD-26D34B978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232" y="2824015"/>
            <a:ext cx="1419628" cy="711304"/>
          </a:xfrm>
          <a:prstGeom prst="rect">
            <a:avLst/>
          </a:prstGeom>
          <a:solidFill>
            <a:schemeClr val="bg1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ko-KR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" panose="00000500000000000000" pitchFamily="2" charset="-127"/>
              <a:ea typeface="넥슨Lv1고딕" panose="00000500000000000000" pitchFamily="2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9D98BD7-923A-40EC-83E2-E78F3BE43800}"/>
              </a:ext>
            </a:extLst>
          </p:cNvPr>
          <p:cNvGrpSpPr/>
          <p:nvPr/>
        </p:nvGrpSpPr>
        <p:grpSpPr>
          <a:xfrm>
            <a:off x="889232" y="3533627"/>
            <a:ext cx="1419628" cy="926377"/>
            <a:chOff x="1840640" y="4014790"/>
            <a:chExt cx="1159016" cy="782739"/>
          </a:xfrm>
        </p:grpSpPr>
        <p:sp>
          <p:nvSpPr>
            <p:cNvPr id="14" name="Rectangle 228">
              <a:extLst>
                <a:ext uri="{FF2B5EF4-FFF2-40B4-BE49-F238E27FC236}">
                  <a16:creationId xmlns:a16="http://schemas.microsoft.com/office/drawing/2014/main" id="{4714CBEC-48C8-4A8C-A0B9-D49AC5E50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014790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transport</a:t>
              </a:r>
            </a:p>
          </p:txBody>
        </p:sp>
        <p:sp>
          <p:nvSpPr>
            <p:cNvPr id="15" name="Rectangle 228">
              <a:extLst>
                <a:ext uri="{FF2B5EF4-FFF2-40B4-BE49-F238E27FC236}">
                  <a16:creationId xmlns:a16="http://schemas.microsoft.com/office/drawing/2014/main" id="{747AEDF1-6FC2-4B47-8734-E2917DFBE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210051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network</a:t>
              </a:r>
            </a:p>
          </p:txBody>
        </p:sp>
        <p:sp>
          <p:nvSpPr>
            <p:cNvPr id="16" name="Rectangle 228">
              <a:extLst>
                <a:ext uri="{FF2B5EF4-FFF2-40B4-BE49-F238E27FC236}">
                  <a16:creationId xmlns:a16="http://schemas.microsoft.com/office/drawing/2014/main" id="{1ABD88C4-76C5-4EA6-931E-5EA0F9A53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405314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link</a:t>
              </a:r>
            </a:p>
          </p:txBody>
        </p:sp>
        <p:sp>
          <p:nvSpPr>
            <p:cNvPr id="17" name="Rectangle 228">
              <a:extLst>
                <a:ext uri="{FF2B5EF4-FFF2-40B4-BE49-F238E27FC236}">
                  <a16:creationId xmlns:a16="http://schemas.microsoft.com/office/drawing/2014/main" id="{BF460F4B-6D03-4D7B-A822-4A400591F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600576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physical</a:t>
              </a:r>
            </a:p>
          </p:txBody>
        </p:sp>
      </p:grpSp>
      <p:sp>
        <p:nvSpPr>
          <p:cNvPr id="7" name="Text Box 26">
            <a:extLst>
              <a:ext uri="{FF2B5EF4-FFF2-40B4-BE49-F238E27FC236}">
                <a16:creationId xmlns:a16="http://schemas.microsoft.com/office/drawing/2014/main" id="{B5C4EC50-4A8E-437D-BA86-F6EC955BA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120" y="2838302"/>
            <a:ext cx="1431122" cy="284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rPr>
              <a:t>application</a:t>
            </a:r>
          </a:p>
        </p:txBody>
      </p:sp>
      <p:sp>
        <p:nvSpPr>
          <p:cNvPr id="8" name="Oval 57">
            <a:extLst>
              <a:ext uri="{FF2B5EF4-FFF2-40B4-BE49-F238E27FC236}">
                <a16:creationId xmlns:a16="http://schemas.microsoft.com/office/drawing/2014/main" id="{CC42B92D-2070-4E19-80F2-3ED924203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471" y="3111477"/>
            <a:ext cx="1152641" cy="264989"/>
          </a:xfrm>
          <a:prstGeom prst="ellipse">
            <a:avLst/>
          </a:prstGeom>
          <a:solidFill>
            <a:srgbClr val="105BA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rPr>
              <a:t>P3</a:t>
            </a:r>
          </a:p>
        </p:txBody>
      </p:sp>
      <p:sp>
        <p:nvSpPr>
          <p:cNvPr id="19" name="Rectangle 228">
            <a:extLst>
              <a:ext uri="{FF2B5EF4-FFF2-40B4-BE49-F238E27FC236}">
                <a16:creationId xmlns:a16="http://schemas.microsoft.com/office/drawing/2014/main" id="{C72BF8F4-C320-48CC-A227-34D778D43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4802" y="2199718"/>
            <a:ext cx="1419628" cy="711304"/>
          </a:xfrm>
          <a:prstGeom prst="rect">
            <a:avLst/>
          </a:prstGeom>
          <a:solidFill>
            <a:schemeClr val="bg1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ko-KR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" panose="00000500000000000000" pitchFamily="2" charset="-127"/>
              <a:ea typeface="넥슨Lv1고딕" panose="00000500000000000000" pitchFamily="2" charset="-127"/>
              <a:cs typeface="+mn-cs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D8258B4-2FCB-4AA9-A717-B2220CB4A208}"/>
              </a:ext>
            </a:extLst>
          </p:cNvPr>
          <p:cNvGrpSpPr/>
          <p:nvPr/>
        </p:nvGrpSpPr>
        <p:grpSpPr>
          <a:xfrm>
            <a:off x="3544802" y="2909330"/>
            <a:ext cx="1419628" cy="926377"/>
            <a:chOff x="1840640" y="4014790"/>
            <a:chExt cx="1159016" cy="782739"/>
          </a:xfrm>
        </p:grpSpPr>
        <p:sp>
          <p:nvSpPr>
            <p:cNvPr id="28" name="Rectangle 228">
              <a:extLst>
                <a:ext uri="{FF2B5EF4-FFF2-40B4-BE49-F238E27FC236}">
                  <a16:creationId xmlns:a16="http://schemas.microsoft.com/office/drawing/2014/main" id="{4872FF13-EE63-4C9C-ABF3-B3213741A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014790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transport</a:t>
              </a:r>
            </a:p>
          </p:txBody>
        </p:sp>
        <p:sp>
          <p:nvSpPr>
            <p:cNvPr id="29" name="Rectangle 228">
              <a:extLst>
                <a:ext uri="{FF2B5EF4-FFF2-40B4-BE49-F238E27FC236}">
                  <a16:creationId xmlns:a16="http://schemas.microsoft.com/office/drawing/2014/main" id="{652CAF98-C189-4208-ADE7-160370232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210051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network</a:t>
              </a:r>
            </a:p>
          </p:txBody>
        </p:sp>
        <p:sp>
          <p:nvSpPr>
            <p:cNvPr id="30" name="Rectangle 228">
              <a:extLst>
                <a:ext uri="{FF2B5EF4-FFF2-40B4-BE49-F238E27FC236}">
                  <a16:creationId xmlns:a16="http://schemas.microsoft.com/office/drawing/2014/main" id="{65B0DBAA-5CCF-4522-96F5-924569F9A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405314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link</a:t>
              </a:r>
            </a:p>
          </p:txBody>
        </p:sp>
        <p:sp>
          <p:nvSpPr>
            <p:cNvPr id="31" name="Rectangle 228">
              <a:extLst>
                <a:ext uri="{FF2B5EF4-FFF2-40B4-BE49-F238E27FC236}">
                  <a16:creationId xmlns:a16="http://schemas.microsoft.com/office/drawing/2014/main" id="{1FE20314-BC6F-4872-B1D1-4352B8536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600576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physical</a:t>
              </a:r>
            </a:p>
          </p:txBody>
        </p:sp>
      </p:grpSp>
      <p:sp>
        <p:nvSpPr>
          <p:cNvPr id="21" name="Text Box 26">
            <a:extLst>
              <a:ext uri="{FF2B5EF4-FFF2-40B4-BE49-F238E27FC236}">
                <a16:creationId xmlns:a16="http://schemas.microsoft.com/office/drawing/2014/main" id="{87061118-5CFA-4587-8C09-86FA923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690" y="2214005"/>
            <a:ext cx="1431122" cy="284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rPr>
              <a:t>application</a:t>
            </a:r>
          </a:p>
        </p:txBody>
      </p:sp>
      <p:sp>
        <p:nvSpPr>
          <p:cNvPr id="22" name="Oval 57">
            <a:extLst>
              <a:ext uri="{FF2B5EF4-FFF2-40B4-BE49-F238E27FC236}">
                <a16:creationId xmlns:a16="http://schemas.microsoft.com/office/drawing/2014/main" id="{57516C69-E686-48C2-AA42-B0DDFE659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041" y="2487180"/>
            <a:ext cx="1152641" cy="264989"/>
          </a:xfrm>
          <a:prstGeom prst="ellipse">
            <a:avLst/>
          </a:prstGeom>
          <a:solidFill>
            <a:srgbClr val="105BA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rPr>
              <a:t>P1</a:t>
            </a:r>
          </a:p>
        </p:txBody>
      </p:sp>
      <p:sp>
        <p:nvSpPr>
          <p:cNvPr id="33" name="Rectangle 228">
            <a:extLst>
              <a:ext uri="{FF2B5EF4-FFF2-40B4-BE49-F238E27FC236}">
                <a16:creationId xmlns:a16="http://schemas.microsoft.com/office/drawing/2014/main" id="{4B881474-EF08-44F7-AFEC-9ACDA0229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372" y="2824015"/>
            <a:ext cx="1419628" cy="711304"/>
          </a:xfrm>
          <a:prstGeom prst="rect">
            <a:avLst/>
          </a:prstGeom>
          <a:solidFill>
            <a:schemeClr val="bg1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ko-KR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" panose="00000500000000000000" pitchFamily="2" charset="-127"/>
              <a:ea typeface="넥슨Lv1고딕" panose="00000500000000000000" pitchFamily="2" charset="-127"/>
              <a:cs typeface="+mn-cs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AB48D42-D6F4-4B53-95A1-B5EAE98261FC}"/>
              </a:ext>
            </a:extLst>
          </p:cNvPr>
          <p:cNvGrpSpPr/>
          <p:nvPr/>
        </p:nvGrpSpPr>
        <p:grpSpPr>
          <a:xfrm>
            <a:off x="6200372" y="3533627"/>
            <a:ext cx="1419628" cy="926377"/>
            <a:chOff x="1840640" y="4014790"/>
            <a:chExt cx="1159016" cy="782739"/>
          </a:xfrm>
        </p:grpSpPr>
        <p:sp>
          <p:nvSpPr>
            <p:cNvPr id="42" name="Rectangle 228">
              <a:extLst>
                <a:ext uri="{FF2B5EF4-FFF2-40B4-BE49-F238E27FC236}">
                  <a16:creationId xmlns:a16="http://schemas.microsoft.com/office/drawing/2014/main" id="{9AF56C0F-F8A1-4C15-8876-131DF2DD4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014790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transport</a:t>
              </a:r>
            </a:p>
          </p:txBody>
        </p:sp>
        <p:sp>
          <p:nvSpPr>
            <p:cNvPr id="43" name="Rectangle 228">
              <a:extLst>
                <a:ext uri="{FF2B5EF4-FFF2-40B4-BE49-F238E27FC236}">
                  <a16:creationId xmlns:a16="http://schemas.microsoft.com/office/drawing/2014/main" id="{DE15A01B-0DBA-4823-A073-4B6DECE32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210051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network</a:t>
              </a:r>
            </a:p>
          </p:txBody>
        </p:sp>
        <p:sp>
          <p:nvSpPr>
            <p:cNvPr id="44" name="Rectangle 228">
              <a:extLst>
                <a:ext uri="{FF2B5EF4-FFF2-40B4-BE49-F238E27FC236}">
                  <a16:creationId xmlns:a16="http://schemas.microsoft.com/office/drawing/2014/main" id="{2B1C9204-8A46-4291-8F54-64D0FC547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405314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link</a:t>
              </a:r>
            </a:p>
          </p:txBody>
        </p:sp>
        <p:sp>
          <p:nvSpPr>
            <p:cNvPr id="45" name="Rectangle 228">
              <a:extLst>
                <a:ext uri="{FF2B5EF4-FFF2-40B4-BE49-F238E27FC236}">
                  <a16:creationId xmlns:a16="http://schemas.microsoft.com/office/drawing/2014/main" id="{32EC6FE8-D137-4A7C-A46F-FC87EA16D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600576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physical</a:t>
              </a:r>
            </a:p>
          </p:txBody>
        </p:sp>
      </p:grpSp>
      <p:sp>
        <p:nvSpPr>
          <p:cNvPr id="35" name="Text Box 26">
            <a:extLst>
              <a:ext uri="{FF2B5EF4-FFF2-40B4-BE49-F238E27FC236}">
                <a16:creationId xmlns:a16="http://schemas.microsoft.com/office/drawing/2014/main" id="{6CFB0824-6810-40A1-B4C2-41D2213FC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60" y="2838302"/>
            <a:ext cx="1431122" cy="284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rPr>
              <a:t>application</a:t>
            </a:r>
          </a:p>
        </p:txBody>
      </p:sp>
      <p:sp>
        <p:nvSpPr>
          <p:cNvPr id="36" name="Oval 57">
            <a:extLst>
              <a:ext uri="{FF2B5EF4-FFF2-40B4-BE49-F238E27FC236}">
                <a16:creationId xmlns:a16="http://schemas.microsoft.com/office/drawing/2014/main" id="{74FE25C4-8D2A-40CB-8DDC-775EBB3EF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2611" y="3111477"/>
            <a:ext cx="1152641" cy="264989"/>
          </a:xfrm>
          <a:prstGeom prst="ellipse">
            <a:avLst/>
          </a:prstGeom>
          <a:solidFill>
            <a:srgbClr val="105BA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rPr>
              <a:t>P4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EEA39914-1026-4090-84DA-0DD068B5B6AD}"/>
              </a:ext>
            </a:extLst>
          </p:cNvPr>
          <p:cNvGrpSpPr/>
          <p:nvPr/>
        </p:nvGrpSpPr>
        <p:grpSpPr>
          <a:xfrm>
            <a:off x="3286175" y="1076612"/>
            <a:ext cx="1990675" cy="1876377"/>
            <a:chOff x="3286175" y="1076612"/>
            <a:chExt cx="1990675" cy="1876377"/>
          </a:xfrm>
        </p:grpSpPr>
        <p:grpSp>
          <p:nvGrpSpPr>
            <p:cNvPr id="23" name="Group 58">
              <a:extLst>
                <a:ext uri="{FF2B5EF4-FFF2-40B4-BE49-F238E27FC236}">
                  <a16:creationId xmlns:a16="http://schemas.microsoft.com/office/drawing/2014/main" id="{9EF09EDC-9F94-4255-B554-DA0C3034E0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0169" y="2727564"/>
              <a:ext cx="668894" cy="225425"/>
              <a:chOff x="1287" y="2524"/>
              <a:chExt cx="260" cy="100"/>
            </a:xfrm>
          </p:grpSpPr>
          <p:sp>
            <p:nvSpPr>
              <p:cNvPr id="24" name="Rectangle 59">
                <a:extLst>
                  <a:ext uri="{FF2B5EF4-FFF2-40B4-BE49-F238E27FC236}">
                    <a16:creationId xmlns:a16="http://schemas.microsoft.com/office/drawing/2014/main" id="{4C7FCFF6-0FFB-46A6-96BB-D31408453D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105BA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25" name="Rectangle 60">
                <a:extLst>
                  <a:ext uri="{FF2B5EF4-FFF2-40B4-BE49-F238E27FC236}">
                    <a16:creationId xmlns:a16="http://schemas.microsoft.com/office/drawing/2014/main" id="{55BC6993-030B-4C5C-8BF9-E4B3E41B66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7" y="2537"/>
                <a:ext cx="156" cy="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26" name="Rectangle 61">
                <a:extLst>
                  <a:ext uri="{FF2B5EF4-FFF2-40B4-BE49-F238E27FC236}">
                    <a16:creationId xmlns:a16="http://schemas.microsoft.com/office/drawing/2014/main" id="{DB2184CC-A912-4ECE-B4E3-AC17F8181F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" y="2580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27" name="Rectangle 62">
                <a:extLst>
                  <a:ext uri="{FF2B5EF4-FFF2-40B4-BE49-F238E27FC236}">
                    <a16:creationId xmlns:a16="http://schemas.microsoft.com/office/drawing/2014/main" id="{0316104D-48BC-469E-BB81-D137105F7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2580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</p:grpSp>
        <p:sp>
          <p:nvSpPr>
            <p:cNvPr id="47" name="Rectangle 44">
              <a:extLst>
                <a:ext uri="{FF2B5EF4-FFF2-40B4-BE49-F238E27FC236}">
                  <a16:creationId xmlns:a16="http://schemas.microsoft.com/office/drawing/2014/main" id="{BA446EA7-69BB-423E-82F5-5828E3BC785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286175" y="1076612"/>
              <a:ext cx="1990675" cy="725488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15888" indent="-115888">
                <a:lnSpc>
                  <a:spcPct val="120000"/>
                </a:lnSpc>
                <a:spcBef>
                  <a:spcPts val="400"/>
                </a:spcBef>
                <a:buClr>
                  <a:srgbClr val="000099"/>
                </a:buClr>
                <a:buSzPct val="65000"/>
                <a:buNone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DatagramSocket serverSocket = new DatagramSocket</a:t>
              </a:r>
            </a:p>
            <a:p>
              <a:pPr marL="115888" indent="-115888">
                <a:lnSpc>
                  <a:spcPct val="120000"/>
                </a:lnSpc>
                <a:spcBef>
                  <a:spcPts val="400"/>
                </a:spcBef>
                <a:buClr>
                  <a:srgbClr val="000099"/>
                </a:buClr>
                <a:buSzPct val="65000"/>
                <a:buNone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(</a:t>
              </a: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6428</a:t>
              </a: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);</a:t>
              </a:r>
            </a:p>
            <a:p>
              <a:pPr marL="115888" indent="-115888">
                <a:lnSpc>
                  <a:spcPct val="120000"/>
                </a:lnSpc>
                <a:spcBef>
                  <a:spcPts val="400"/>
                </a:spcBef>
                <a:buClr>
                  <a:srgbClr val="000099"/>
                </a:buClr>
                <a:buSzPct val="65000"/>
                <a:buNone/>
              </a:pPr>
              <a:endPara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8A8A2B34-8248-4EAB-9B24-C1754E17C253}"/>
              </a:ext>
            </a:extLst>
          </p:cNvPr>
          <p:cNvGrpSpPr/>
          <p:nvPr/>
        </p:nvGrpSpPr>
        <p:grpSpPr>
          <a:xfrm>
            <a:off x="6182411" y="1724683"/>
            <a:ext cx="2169110" cy="1852603"/>
            <a:chOff x="6182411" y="1724683"/>
            <a:chExt cx="2169110" cy="1852603"/>
          </a:xfrm>
        </p:grpSpPr>
        <p:grpSp>
          <p:nvGrpSpPr>
            <p:cNvPr id="37" name="Group 58">
              <a:extLst>
                <a:ext uri="{FF2B5EF4-FFF2-40B4-BE49-F238E27FC236}">
                  <a16:creationId xmlns:a16="http://schemas.microsoft.com/office/drawing/2014/main" id="{B1DBF41D-17BB-4890-B7ED-CD4E1990E3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75739" y="3351861"/>
              <a:ext cx="668894" cy="225425"/>
              <a:chOff x="1287" y="2524"/>
              <a:chExt cx="260" cy="100"/>
            </a:xfrm>
          </p:grpSpPr>
          <p:sp>
            <p:nvSpPr>
              <p:cNvPr id="38" name="Rectangle 59">
                <a:extLst>
                  <a:ext uri="{FF2B5EF4-FFF2-40B4-BE49-F238E27FC236}">
                    <a16:creationId xmlns:a16="http://schemas.microsoft.com/office/drawing/2014/main" id="{A7F2920C-20F8-40ED-BD1D-8C0ACC27E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105BA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39" name="Rectangle 60">
                <a:extLst>
                  <a:ext uri="{FF2B5EF4-FFF2-40B4-BE49-F238E27FC236}">
                    <a16:creationId xmlns:a16="http://schemas.microsoft.com/office/drawing/2014/main" id="{6171E4D1-65D1-4BEF-9887-66BCE763A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7" y="2537"/>
                <a:ext cx="156" cy="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40" name="Rectangle 61">
                <a:extLst>
                  <a:ext uri="{FF2B5EF4-FFF2-40B4-BE49-F238E27FC236}">
                    <a16:creationId xmlns:a16="http://schemas.microsoft.com/office/drawing/2014/main" id="{5CF3B254-1AEF-458C-B6DF-E86AFAA3CB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" y="2580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41" name="Rectangle 62">
                <a:extLst>
                  <a:ext uri="{FF2B5EF4-FFF2-40B4-BE49-F238E27FC236}">
                    <a16:creationId xmlns:a16="http://schemas.microsoft.com/office/drawing/2014/main" id="{1D3C5E22-1E09-4275-9298-5A428BE35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2580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</p:grpSp>
        <p:sp>
          <p:nvSpPr>
            <p:cNvPr id="48" name="Rectangle 173">
              <a:extLst>
                <a:ext uri="{FF2B5EF4-FFF2-40B4-BE49-F238E27FC236}">
                  <a16:creationId xmlns:a16="http://schemas.microsoft.com/office/drawing/2014/main" id="{9206E5F7-D271-433D-8B6E-A36CCFC71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2411" y="1724683"/>
              <a:ext cx="2169110" cy="655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115888" indent="-115888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ts val="400"/>
                </a:spcBef>
                <a:buSzPct val="65000"/>
                <a:buNone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DatagramSocket mySocket1 = new DatagramSocket (</a:t>
              </a: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5775</a:t>
              </a: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);</a:t>
              </a:r>
            </a:p>
            <a:p>
              <a:pPr>
                <a:lnSpc>
                  <a:spcPct val="120000"/>
                </a:lnSpc>
                <a:spcBef>
                  <a:spcPts val="400"/>
                </a:spcBef>
                <a:buSzPct val="65000"/>
                <a:buNone/>
              </a:pPr>
              <a:endPara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A8A874FA-A525-4535-BEFA-5B74337AE75C}"/>
              </a:ext>
            </a:extLst>
          </p:cNvPr>
          <p:cNvGrpSpPr/>
          <p:nvPr/>
        </p:nvGrpSpPr>
        <p:grpSpPr>
          <a:xfrm>
            <a:off x="849313" y="1724684"/>
            <a:ext cx="1832927" cy="1852602"/>
            <a:chOff x="849313" y="1724684"/>
            <a:chExt cx="1832927" cy="1852602"/>
          </a:xfrm>
        </p:grpSpPr>
        <p:grpSp>
          <p:nvGrpSpPr>
            <p:cNvPr id="9" name="Group 58">
              <a:extLst>
                <a:ext uri="{FF2B5EF4-FFF2-40B4-BE49-F238E27FC236}">
                  <a16:creationId xmlns:a16="http://schemas.microsoft.com/office/drawing/2014/main" id="{2123A834-8115-470B-9167-969E406FA5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4599" y="3351861"/>
              <a:ext cx="668894" cy="225425"/>
              <a:chOff x="1287" y="2524"/>
              <a:chExt cx="260" cy="100"/>
            </a:xfrm>
          </p:grpSpPr>
          <p:sp>
            <p:nvSpPr>
              <p:cNvPr id="10" name="Rectangle 59">
                <a:extLst>
                  <a:ext uri="{FF2B5EF4-FFF2-40B4-BE49-F238E27FC236}">
                    <a16:creationId xmlns:a16="http://schemas.microsoft.com/office/drawing/2014/main" id="{2ACA8471-9457-4E7C-A101-5F5DBC9580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105BA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11" name="Rectangle 60">
                <a:extLst>
                  <a:ext uri="{FF2B5EF4-FFF2-40B4-BE49-F238E27FC236}">
                    <a16:creationId xmlns:a16="http://schemas.microsoft.com/office/drawing/2014/main" id="{916CCF89-900F-4C4C-953B-07EC72FADB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7" y="2537"/>
                <a:ext cx="156" cy="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12" name="Rectangle 61">
                <a:extLst>
                  <a:ext uri="{FF2B5EF4-FFF2-40B4-BE49-F238E27FC236}">
                    <a16:creationId xmlns:a16="http://schemas.microsoft.com/office/drawing/2014/main" id="{D99820E2-720B-433D-A9B1-85DD44B27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" y="2580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13" name="Rectangle 62">
                <a:extLst>
                  <a:ext uri="{FF2B5EF4-FFF2-40B4-BE49-F238E27FC236}">
                    <a16:creationId xmlns:a16="http://schemas.microsoft.com/office/drawing/2014/main" id="{9BAE498D-5B51-42C6-8EDA-D9E9B54F5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2580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</p:grpSp>
        <p:sp>
          <p:nvSpPr>
            <p:cNvPr id="49" name="Rectangle 174">
              <a:extLst>
                <a:ext uri="{FF2B5EF4-FFF2-40B4-BE49-F238E27FC236}">
                  <a16:creationId xmlns:a16="http://schemas.microsoft.com/office/drawing/2014/main" id="{D5640197-D2E8-4E17-917E-F1464BBC9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313" y="1724684"/>
              <a:ext cx="1832927" cy="655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115888" indent="-115888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ts val="400"/>
                </a:spcBef>
                <a:buSzPct val="65000"/>
                <a:buFont typeface="Wingdings" panose="05000000000000000000" pitchFamily="2" charset="2"/>
                <a:buNone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DatagramSocket mySocket2 = new DatagramSocket (</a:t>
              </a: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9157</a:t>
              </a: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);</a:t>
              </a:r>
            </a:p>
            <a:p>
              <a:pPr>
                <a:lnSpc>
                  <a:spcPct val="120000"/>
                </a:lnSpc>
                <a:spcBef>
                  <a:spcPts val="400"/>
                </a:spcBef>
                <a:buSzPct val="65000"/>
                <a:buFont typeface="Wingdings" panose="05000000000000000000" pitchFamily="2" charset="2"/>
                <a:buNone/>
              </a:pPr>
              <a:endPara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381ED01-6366-4954-ABBB-931764FF30A3}"/>
              </a:ext>
            </a:extLst>
          </p:cNvPr>
          <p:cNvGrpSpPr/>
          <p:nvPr/>
        </p:nvGrpSpPr>
        <p:grpSpPr>
          <a:xfrm>
            <a:off x="7495410" y="4060773"/>
            <a:ext cx="631433" cy="751507"/>
            <a:chOff x="6638988" y="4761278"/>
            <a:chExt cx="1023241" cy="1217823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40F342DF-A77D-4FF1-8B4B-C51D51D957B9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15877803-2572-46B4-A6D2-ED6B20E03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pic>
        <p:nvPicPr>
          <p:cNvPr id="57" name="그림 56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4004CE46-B75B-483C-A5D8-95E6F4F892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502" y="3142805"/>
            <a:ext cx="368977" cy="795121"/>
          </a:xfrm>
          <a:prstGeom prst="rect">
            <a:avLst/>
          </a:prstGeom>
        </p:spPr>
      </p:pic>
      <p:sp>
        <p:nvSpPr>
          <p:cNvPr id="62" name="Line 183">
            <a:extLst>
              <a:ext uri="{FF2B5EF4-FFF2-40B4-BE49-F238E27FC236}">
                <a16:creationId xmlns:a16="http://schemas.microsoft.com/office/drawing/2014/main" id="{19F197B5-E50F-43E6-A12B-274B5F3FC0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4276" y="3441615"/>
            <a:ext cx="11403" cy="1956412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3" name="Line 184">
            <a:extLst>
              <a:ext uri="{FF2B5EF4-FFF2-40B4-BE49-F238E27FC236}">
                <a16:creationId xmlns:a16="http://schemas.microsoft.com/office/drawing/2014/main" id="{8EFD3E06-0930-4752-A460-5EFABC4A4F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8694" y="3429000"/>
            <a:ext cx="0" cy="2110339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4" name="Line 185">
            <a:extLst>
              <a:ext uri="{FF2B5EF4-FFF2-40B4-BE49-F238E27FC236}">
                <a16:creationId xmlns:a16="http://schemas.microsoft.com/office/drawing/2014/main" id="{D8E7FFF5-A7FF-47AA-BF27-1A8F2869BF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5566" y="3429000"/>
            <a:ext cx="0" cy="1987498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58" name="Line 177">
            <a:extLst>
              <a:ext uri="{FF2B5EF4-FFF2-40B4-BE49-F238E27FC236}">
                <a16:creationId xmlns:a16="http://schemas.microsoft.com/office/drawing/2014/main" id="{1D1BDB59-73EE-42A4-8CC0-8371E40957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3453929"/>
            <a:ext cx="0" cy="2110339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0" name="Line 180">
            <a:extLst>
              <a:ext uri="{FF2B5EF4-FFF2-40B4-BE49-F238E27FC236}">
                <a16:creationId xmlns:a16="http://schemas.microsoft.com/office/drawing/2014/main" id="{872ACDB1-DB28-4319-BFA2-E1788ACA0A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5547336"/>
            <a:ext cx="2637005" cy="0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59" name="Line 178">
            <a:extLst>
              <a:ext uri="{FF2B5EF4-FFF2-40B4-BE49-F238E27FC236}">
                <a16:creationId xmlns:a16="http://schemas.microsoft.com/office/drawing/2014/main" id="{FE0B4D8B-328B-4662-B9CC-7AFC51CEEA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4353" y="2819910"/>
            <a:ext cx="0" cy="2735122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1" name="Line 181">
            <a:extLst>
              <a:ext uri="{FF2B5EF4-FFF2-40B4-BE49-F238E27FC236}">
                <a16:creationId xmlns:a16="http://schemas.microsoft.com/office/drawing/2014/main" id="{E963C3CB-6B40-4D53-B17E-BF6895598A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3171" y="2834334"/>
            <a:ext cx="0" cy="2551217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5" name="Line 186">
            <a:extLst>
              <a:ext uri="{FF2B5EF4-FFF2-40B4-BE49-F238E27FC236}">
                <a16:creationId xmlns:a16="http://schemas.microsoft.com/office/drawing/2014/main" id="{498577FB-53DA-4D67-9432-0E91FB9653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2640" y="2819401"/>
            <a:ext cx="0" cy="2730218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6" name="Line 187">
            <a:extLst>
              <a:ext uri="{FF2B5EF4-FFF2-40B4-BE49-F238E27FC236}">
                <a16:creationId xmlns:a16="http://schemas.microsoft.com/office/drawing/2014/main" id="{1A08CABD-28FB-4B97-9099-8DCD4D1F33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2374" y="2838451"/>
            <a:ext cx="0" cy="2547534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7" name="Line 188">
            <a:extLst>
              <a:ext uri="{FF2B5EF4-FFF2-40B4-BE49-F238E27FC236}">
                <a16:creationId xmlns:a16="http://schemas.microsoft.com/office/drawing/2014/main" id="{C4B1F6BD-A675-44D2-8CEF-2DED8E1E9B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2595" y="5547336"/>
            <a:ext cx="2637005" cy="0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8" name="Line 189">
            <a:extLst>
              <a:ext uri="{FF2B5EF4-FFF2-40B4-BE49-F238E27FC236}">
                <a16:creationId xmlns:a16="http://schemas.microsoft.com/office/drawing/2014/main" id="{A7219444-12C0-4029-80DC-C0A43E10E0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9567" y="5405948"/>
            <a:ext cx="2460254" cy="0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70" name="Line 182">
            <a:extLst>
              <a:ext uri="{FF2B5EF4-FFF2-40B4-BE49-F238E27FC236}">
                <a16:creationId xmlns:a16="http://schemas.microsoft.com/office/drawing/2014/main" id="{8040FA43-2956-4BB4-AC30-0CAC7CDBAA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8775" y="5405948"/>
            <a:ext cx="2454275" cy="0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grpSp>
        <p:nvGrpSpPr>
          <p:cNvPr id="72" name="Group 196">
            <a:extLst>
              <a:ext uri="{FF2B5EF4-FFF2-40B4-BE49-F238E27FC236}">
                <a16:creationId xmlns:a16="http://schemas.microsoft.com/office/drawing/2014/main" id="{94626E59-CC65-4CFA-8979-3849A12D130D}"/>
              </a:ext>
            </a:extLst>
          </p:cNvPr>
          <p:cNvGrpSpPr>
            <a:grpSpLocks/>
          </p:cNvGrpSpPr>
          <p:nvPr/>
        </p:nvGrpSpPr>
        <p:grpSpPr bwMode="auto">
          <a:xfrm>
            <a:off x="1055688" y="5645660"/>
            <a:ext cx="1719263" cy="719138"/>
            <a:chOff x="1271" y="3697"/>
            <a:chExt cx="1083" cy="453"/>
          </a:xfrm>
        </p:grpSpPr>
        <p:sp>
          <p:nvSpPr>
            <p:cNvPr id="73" name="Rectangle 193">
              <a:extLst>
                <a:ext uri="{FF2B5EF4-FFF2-40B4-BE49-F238E27FC236}">
                  <a16:creationId xmlns:a16="http://schemas.microsoft.com/office/drawing/2014/main" id="{F7E8F2D6-D9B7-4EC3-922A-F09F96924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4" name="Line 194">
              <a:extLst>
                <a:ext uri="{FF2B5EF4-FFF2-40B4-BE49-F238E27FC236}">
                  <a16:creationId xmlns:a16="http://schemas.microsoft.com/office/drawing/2014/main" id="{0D988105-F6E8-4B34-BF8A-4F3AE9871F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75" name="Text Box 195">
              <a:extLst>
                <a:ext uri="{FF2B5EF4-FFF2-40B4-BE49-F238E27FC236}">
                  <a16:creationId xmlns:a16="http://schemas.microsoft.com/office/drawing/2014/main" id="{C593ACDF-0E36-4DC0-960C-492AE8A511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1" y="3822"/>
              <a:ext cx="971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port : 9157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port : 6428</a:t>
              </a:r>
            </a:p>
          </p:txBody>
        </p:sp>
      </p:grpSp>
      <p:grpSp>
        <p:nvGrpSpPr>
          <p:cNvPr id="76" name="Group 201">
            <a:extLst>
              <a:ext uri="{FF2B5EF4-FFF2-40B4-BE49-F238E27FC236}">
                <a16:creationId xmlns:a16="http://schemas.microsoft.com/office/drawing/2014/main" id="{A67F6045-8274-4580-983E-3E0CCCF0A668}"/>
              </a:ext>
            </a:extLst>
          </p:cNvPr>
          <p:cNvGrpSpPr>
            <a:grpSpLocks/>
          </p:cNvGrpSpPr>
          <p:nvPr/>
        </p:nvGrpSpPr>
        <p:grpSpPr bwMode="auto">
          <a:xfrm>
            <a:off x="2336407" y="4582474"/>
            <a:ext cx="1674813" cy="719138"/>
            <a:chOff x="2741" y="3750"/>
            <a:chExt cx="1055" cy="453"/>
          </a:xfrm>
        </p:grpSpPr>
        <p:sp>
          <p:nvSpPr>
            <p:cNvPr id="77" name="Rectangle 198">
              <a:extLst>
                <a:ext uri="{FF2B5EF4-FFF2-40B4-BE49-F238E27FC236}">
                  <a16:creationId xmlns:a16="http://schemas.microsoft.com/office/drawing/2014/main" id="{05E323A9-83D1-4414-A2ED-DF0565585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8" name="Line 199">
              <a:extLst>
                <a:ext uri="{FF2B5EF4-FFF2-40B4-BE49-F238E27FC236}">
                  <a16:creationId xmlns:a16="http://schemas.microsoft.com/office/drawing/2014/main" id="{7106FB85-4212-4207-AFCE-1622406456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19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79" name="Text Box 200">
              <a:extLst>
                <a:ext uri="{FF2B5EF4-FFF2-40B4-BE49-F238E27FC236}">
                  <a16:creationId xmlns:a16="http://schemas.microsoft.com/office/drawing/2014/main" id="{D8890A1B-72FC-4944-9BB1-C602CFD830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" y="3875"/>
              <a:ext cx="983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port : 6428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port : 9157</a:t>
              </a:r>
            </a:p>
          </p:txBody>
        </p:sp>
      </p:grpSp>
      <p:grpSp>
        <p:nvGrpSpPr>
          <p:cNvPr id="80" name="Group 202">
            <a:extLst>
              <a:ext uri="{FF2B5EF4-FFF2-40B4-BE49-F238E27FC236}">
                <a16:creationId xmlns:a16="http://schemas.microsoft.com/office/drawing/2014/main" id="{2782052E-A8FF-48D3-9024-3BE4CE7BF3C9}"/>
              </a:ext>
            </a:extLst>
          </p:cNvPr>
          <p:cNvGrpSpPr>
            <a:grpSpLocks/>
          </p:cNvGrpSpPr>
          <p:nvPr/>
        </p:nvGrpSpPr>
        <p:grpSpPr bwMode="auto">
          <a:xfrm>
            <a:off x="5337175" y="4582474"/>
            <a:ext cx="1390649" cy="719138"/>
            <a:chOff x="1478" y="3697"/>
            <a:chExt cx="876" cy="453"/>
          </a:xfrm>
        </p:grpSpPr>
        <p:sp>
          <p:nvSpPr>
            <p:cNvPr id="81" name="Rectangle 203">
              <a:extLst>
                <a:ext uri="{FF2B5EF4-FFF2-40B4-BE49-F238E27FC236}">
                  <a16:creationId xmlns:a16="http://schemas.microsoft.com/office/drawing/2014/main" id="{3725945F-DA62-4E13-9889-87D374DDC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2" name="Line 204">
              <a:extLst>
                <a:ext uri="{FF2B5EF4-FFF2-40B4-BE49-F238E27FC236}">
                  <a16:creationId xmlns:a16="http://schemas.microsoft.com/office/drawing/2014/main" id="{16FE9334-8CBB-4981-8A37-17AD170F24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83" name="Text Box 205">
              <a:extLst>
                <a:ext uri="{FF2B5EF4-FFF2-40B4-BE49-F238E27FC236}">
                  <a16:creationId xmlns:a16="http://schemas.microsoft.com/office/drawing/2014/main" id="{30108E4A-5F73-404F-A070-6A4A58867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8" y="3822"/>
              <a:ext cx="793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port : ?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port : ?</a:t>
              </a:r>
            </a:p>
          </p:txBody>
        </p:sp>
      </p:grpSp>
      <p:grpSp>
        <p:nvGrpSpPr>
          <p:cNvPr id="84" name="Group 206">
            <a:extLst>
              <a:ext uri="{FF2B5EF4-FFF2-40B4-BE49-F238E27FC236}">
                <a16:creationId xmlns:a16="http://schemas.microsoft.com/office/drawing/2014/main" id="{8AD268CF-A86D-4BF3-B43D-00C1EA7F3DCA}"/>
              </a:ext>
            </a:extLst>
          </p:cNvPr>
          <p:cNvGrpSpPr>
            <a:grpSpLocks/>
          </p:cNvGrpSpPr>
          <p:nvPr/>
        </p:nvGrpSpPr>
        <p:grpSpPr bwMode="auto">
          <a:xfrm>
            <a:off x="4694236" y="5623434"/>
            <a:ext cx="1384299" cy="744538"/>
            <a:chOff x="2741" y="3750"/>
            <a:chExt cx="872" cy="469"/>
          </a:xfrm>
        </p:grpSpPr>
        <p:sp>
          <p:nvSpPr>
            <p:cNvPr id="85" name="Rectangle 207">
              <a:extLst>
                <a:ext uri="{FF2B5EF4-FFF2-40B4-BE49-F238E27FC236}">
                  <a16:creationId xmlns:a16="http://schemas.microsoft.com/office/drawing/2014/main" id="{6B8B9065-4FCD-4D58-8777-70646D34A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6" name="Line 208">
              <a:extLst>
                <a:ext uri="{FF2B5EF4-FFF2-40B4-BE49-F238E27FC236}">
                  <a16:creationId xmlns:a16="http://schemas.microsoft.com/office/drawing/2014/main" id="{F12C0090-FB95-48B6-813F-FA30244906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19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87" name="Text Box 209">
              <a:extLst>
                <a:ext uri="{FF2B5EF4-FFF2-40B4-BE49-F238E27FC236}">
                  <a16:creationId xmlns:a16="http://schemas.microsoft.com/office/drawing/2014/main" id="{7098E8B1-1D6B-47AB-A5D8-6D45F41BB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0" y="3891"/>
              <a:ext cx="793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port : ?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port : ?</a:t>
              </a: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053E96A1-F12E-41FA-8BEB-ADE432D807EC}"/>
              </a:ext>
            </a:extLst>
          </p:cNvPr>
          <p:cNvGrpSpPr/>
          <p:nvPr/>
        </p:nvGrpSpPr>
        <p:grpSpPr>
          <a:xfrm>
            <a:off x="508144" y="4060773"/>
            <a:ext cx="631433" cy="751507"/>
            <a:chOff x="6638988" y="4761278"/>
            <a:chExt cx="1023241" cy="1217823"/>
          </a:xfrm>
        </p:grpSpPr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37B8E6E7-81E3-4FC3-9FA0-0FF52E725D7B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C3341541-11DF-407E-82D0-622DBBE6A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16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64" grpId="0" animBg="1"/>
      <p:bldP spid="58" grpId="0" animBg="1"/>
      <p:bldP spid="60" grpId="0" animBg="1"/>
      <p:bldP spid="59" grpId="0" animBg="1"/>
      <p:bldP spid="61" grpId="0" animBg="1"/>
      <p:bldP spid="65" grpId="0" animBg="1"/>
      <p:bldP spid="66" grpId="0" animBg="1"/>
      <p:bldP spid="67" grpId="0" animBg="1"/>
      <p:bldP spid="68" grpId="0" animBg="1"/>
      <p:bldP spid="7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연결 지향형 </a:t>
            </a:r>
            <a:r>
              <a:rPr lang="ko-KR" altLang="en-US" dirty="0" err="1"/>
              <a:t>역다중화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E45CC2-7F3E-49B4-8C5B-BB1BA669CBF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78722"/>
            <a:ext cx="48127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소켓은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4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요소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(4-tuple)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로 식별된다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D0648CB-9953-49B7-A650-1E94229EDC54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482521"/>
            <a:ext cx="48127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53999E8-0C09-4408-890B-24C5EA18F066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899963"/>
            <a:ext cx="687697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측에서는 이 네 값 전부를 이용해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적절한 소켓으로 전달한다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670534A-3810-410D-9420-DF9E6CCEC10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466351"/>
            <a:ext cx="597098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서버에서는 동시에 여러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소켓을 지원할 수도 있다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4551E52-1CE9-42C7-B150-C317BE99FB23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883793"/>
            <a:ext cx="687697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소켓은 각각 고유의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요소로 식별된다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ABEBD4A-64BA-48C9-A618-5DEBACB757B4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5442560"/>
            <a:ext cx="597098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웹 서버는 각 클라이언트 연결에 대해 다른 소켓을 사용한다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DBB826E-B805-48F5-AD4F-B41B4EDE2354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5860002"/>
            <a:ext cx="687697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비지속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연결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HTTP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각 요청에 대해 매번 다른 소켓을 사용한다</a:t>
            </a:r>
          </a:p>
        </p:txBody>
      </p:sp>
      <p:sp>
        <p:nvSpPr>
          <p:cNvPr id="12" name="Rectangle 65">
            <a:extLst>
              <a:ext uri="{FF2B5EF4-FFF2-40B4-BE49-F238E27FC236}">
                <a16:creationId xmlns:a16="http://schemas.microsoft.com/office/drawing/2014/main" id="{DED9D938-C129-46EB-8379-FED9EC277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1554480"/>
            <a:ext cx="2553017" cy="370484"/>
          </a:xfrm>
          <a:prstGeom prst="snip1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ctr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출발지 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IP 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주소</a:t>
            </a:r>
          </a:p>
        </p:txBody>
      </p:sp>
      <p:sp>
        <p:nvSpPr>
          <p:cNvPr id="13" name="Rectangle 65">
            <a:extLst>
              <a:ext uri="{FF2B5EF4-FFF2-40B4-BE49-F238E27FC236}">
                <a16:creationId xmlns:a16="http://schemas.microsoft.com/office/drawing/2014/main" id="{9BDF4101-CFBE-47BF-B48F-65CAA9EF1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1992325"/>
            <a:ext cx="2553017" cy="370484"/>
          </a:xfrm>
          <a:prstGeom prst="snip1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ctr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출발지 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port 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번호</a:t>
            </a:r>
          </a:p>
        </p:txBody>
      </p:sp>
      <p:sp>
        <p:nvSpPr>
          <p:cNvPr id="14" name="Rectangle 65">
            <a:extLst>
              <a:ext uri="{FF2B5EF4-FFF2-40B4-BE49-F238E27FC236}">
                <a16:creationId xmlns:a16="http://schemas.microsoft.com/office/drawing/2014/main" id="{63B26CE8-A4D8-4074-82D3-726A87F67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2430170"/>
            <a:ext cx="2553017" cy="370484"/>
          </a:xfrm>
          <a:prstGeom prst="snip1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ctr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목적지 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IP 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주소</a:t>
            </a:r>
          </a:p>
        </p:txBody>
      </p:sp>
      <p:sp>
        <p:nvSpPr>
          <p:cNvPr id="15" name="Rectangle 65">
            <a:extLst>
              <a:ext uri="{FF2B5EF4-FFF2-40B4-BE49-F238E27FC236}">
                <a16:creationId xmlns:a16="http://schemas.microsoft.com/office/drawing/2014/main" id="{56E184AA-3F94-41BE-87F0-6BD93E093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2868016"/>
            <a:ext cx="2553017" cy="370484"/>
          </a:xfrm>
          <a:prstGeom prst="snip1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ctr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목적지 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port 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번호</a:t>
            </a:r>
          </a:p>
        </p:txBody>
      </p:sp>
    </p:spTree>
    <p:extLst>
      <p:ext uri="{BB962C8B-B14F-4D97-AF65-F5344CB8AC3E}">
        <p14:creationId xmlns:p14="http://schemas.microsoft.com/office/powerpoint/2010/main" val="1968668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자유형: 도형 114">
            <a:extLst>
              <a:ext uri="{FF2B5EF4-FFF2-40B4-BE49-F238E27FC236}">
                <a16:creationId xmlns:a16="http://schemas.microsoft.com/office/drawing/2014/main" id="{66DAD9A7-40B8-4479-9C19-8C39DDB664C9}"/>
              </a:ext>
            </a:extLst>
          </p:cNvPr>
          <p:cNvSpPr/>
          <p:nvPr/>
        </p:nvSpPr>
        <p:spPr>
          <a:xfrm>
            <a:off x="7335377" y="1666945"/>
            <a:ext cx="400468" cy="1735359"/>
          </a:xfrm>
          <a:custGeom>
            <a:avLst/>
            <a:gdLst>
              <a:gd name="connsiteX0" fmla="*/ 6675 w 400468"/>
              <a:gd name="connsiteY0" fmla="*/ 0 h 1668614"/>
              <a:gd name="connsiteX1" fmla="*/ 400468 w 400468"/>
              <a:gd name="connsiteY1" fmla="*/ 1668614 h 1668614"/>
              <a:gd name="connsiteX2" fmla="*/ 0 w 400468"/>
              <a:gd name="connsiteY2" fmla="*/ 1668614 h 1668614"/>
              <a:gd name="connsiteX3" fmla="*/ 6675 w 400468"/>
              <a:gd name="connsiteY3" fmla="*/ 0 h 16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468" h="1668614">
                <a:moveTo>
                  <a:pt x="6675" y="0"/>
                </a:moveTo>
                <a:lnTo>
                  <a:pt x="400468" y="1668614"/>
                </a:lnTo>
                <a:lnTo>
                  <a:pt x="0" y="1668614"/>
                </a:lnTo>
                <a:lnTo>
                  <a:pt x="6675" y="0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endParaRPr lang="ko-KR" altLang="en-US" sz="3200">
              <a:solidFill>
                <a:schemeClr val="tx1"/>
              </a:solidFill>
              <a:latin typeface="G마켓 산스 TTF Medium" panose="02000000000000000000" pitchFamily="2" charset="-127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2A139395-385E-454A-9424-09BBB2971EBD}"/>
              </a:ext>
            </a:extLst>
          </p:cNvPr>
          <p:cNvGrpSpPr/>
          <p:nvPr/>
        </p:nvGrpSpPr>
        <p:grpSpPr>
          <a:xfrm>
            <a:off x="7402101" y="3044817"/>
            <a:ext cx="641058" cy="762961"/>
            <a:chOff x="6638988" y="4761278"/>
            <a:chExt cx="1023241" cy="1217823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E34361FD-27F1-4CDD-8815-6501E636CA21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07" name="그림 106">
              <a:extLst>
                <a:ext uri="{FF2B5EF4-FFF2-40B4-BE49-F238E27FC236}">
                  <a16:creationId xmlns:a16="http://schemas.microsoft.com/office/drawing/2014/main" id="{F1BAEE8D-8561-4791-AC41-7A7B2389B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sp>
        <p:nvSpPr>
          <p:cNvPr id="116" name="자유형: 도형 115">
            <a:extLst>
              <a:ext uri="{FF2B5EF4-FFF2-40B4-BE49-F238E27FC236}">
                <a16:creationId xmlns:a16="http://schemas.microsoft.com/office/drawing/2014/main" id="{B435C24D-5915-4D7C-9452-5D5BA7A70556}"/>
              </a:ext>
            </a:extLst>
          </p:cNvPr>
          <p:cNvSpPr/>
          <p:nvPr/>
        </p:nvSpPr>
        <p:spPr>
          <a:xfrm flipH="1">
            <a:off x="976142" y="1666945"/>
            <a:ext cx="400468" cy="1735359"/>
          </a:xfrm>
          <a:custGeom>
            <a:avLst/>
            <a:gdLst>
              <a:gd name="connsiteX0" fmla="*/ 6675 w 400468"/>
              <a:gd name="connsiteY0" fmla="*/ 0 h 1668614"/>
              <a:gd name="connsiteX1" fmla="*/ 400468 w 400468"/>
              <a:gd name="connsiteY1" fmla="*/ 1668614 h 1668614"/>
              <a:gd name="connsiteX2" fmla="*/ 0 w 400468"/>
              <a:gd name="connsiteY2" fmla="*/ 1668614 h 1668614"/>
              <a:gd name="connsiteX3" fmla="*/ 6675 w 400468"/>
              <a:gd name="connsiteY3" fmla="*/ 0 h 16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468" h="1668614">
                <a:moveTo>
                  <a:pt x="6675" y="0"/>
                </a:moveTo>
                <a:lnTo>
                  <a:pt x="400468" y="1668614"/>
                </a:lnTo>
                <a:lnTo>
                  <a:pt x="0" y="1668614"/>
                </a:lnTo>
                <a:lnTo>
                  <a:pt x="6675" y="0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endParaRPr lang="ko-KR" altLang="en-US" sz="3200">
              <a:solidFill>
                <a:schemeClr val="tx1"/>
              </a:solidFill>
              <a:latin typeface="G마켓 산스 TTF Medium" panose="020000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연결 지향형 </a:t>
            </a:r>
            <a:r>
              <a:rPr lang="ko-KR" altLang="en-US" dirty="0" err="1"/>
              <a:t>역다중화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예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14</a:t>
            </a:fld>
            <a:endParaRPr lang="en-US" dirty="0"/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BDAE970F-2BE1-41DF-861F-0C2BD0E50900}"/>
              </a:ext>
            </a:extLst>
          </p:cNvPr>
          <p:cNvGrpSpPr/>
          <p:nvPr/>
        </p:nvGrpSpPr>
        <p:grpSpPr>
          <a:xfrm>
            <a:off x="1353789" y="1431291"/>
            <a:ext cx="5974586" cy="3864509"/>
            <a:chOff x="861120" y="1052513"/>
            <a:chExt cx="7081769" cy="3864509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9BF67A5-70D5-460F-AC4B-2513D50D6771}"/>
                </a:ext>
              </a:extLst>
            </p:cNvPr>
            <p:cNvGrpSpPr/>
            <p:nvPr/>
          </p:nvGrpSpPr>
          <p:grpSpPr>
            <a:xfrm>
              <a:off x="2960747" y="1052513"/>
              <a:ext cx="2394374" cy="1750176"/>
              <a:chOff x="3341587" y="2049779"/>
              <a:chExt cx="2394374" cy="1635989"/>
            </a:xfrm>
          </p:grpSpPr>
          <p:sp>
            <p:nvSpPr>
              <p:cNvPr id="33" name="Rectangle 228">
                <a:extLst>
                  <a:ext uri="{FF2B5EF4-FFF2-40B4-BE49-F238E27FC236}">
                    <a16:creationId xmlns:a16="http://schemas.microsoft.com/office/drawing/2014/main" id="{84D69665-95ED-471B-8265-F1451888FE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8080" y="2049779"/>
                <a:ext cx="2347881" cy="711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5A9DCB4C-3ABD-4B58-8277-8C01CDFD75D6}"/>
                  </a:ext>
                </a:extLst>
              </p:cNvPr>
              <p:cNvGrpSpPr/>
              <p:nvPr/>
            </p:nvGrpSpPr>
            <p:grpSpPr>
              <a:xfrm>
                <a:off x="3388080" y="2759391"/>
                <a:ext cx="2347881" cy="926377"/>
                <a:chOff x="1840640" y="4014790"/>
                <a:chExt cx="1159016" cy="782739"/>
              </a:xfrm>
            </p:grpSpPr>
            <p:sp>
              <p:nvSpPr>
                <p:cNvPr id="42" name="Rectangle 228">
                  <a:extLst>
                    <a:ext uri="{FF2B5EF4-FFF2-40B4-BE49-F238E27FC236}">
                      <a16:creationId xmlns:a16="http://schemas.microsoft.com/office/drawing/2014/main" id="{DB66A9F1-8C9F-453E-A745-22F8EC0706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014790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transport</a:t>
                  </a:r>
                </a:p>
              </p:txBody>
            </p:sp>
            <p:sp>
              <p:nvSpPr>
                <p:cNvPr id="43" name="Rectangle 228">
                  <a:extLst>
                    <a:ext uri="{FF2B5EF4-FFF2-40B4-BE49-F238E27FC236}">
                      <a16:creationId xmlns:a16="http://schemas.microsoft.com/office/drawing/2014/main" id="{130FB676-750F-4D08-ADEB-794F424544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210051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network</a:t>
                  </a:r>
                </a:p>
              </p:txBody>
            </p:sp>
            <p:sp>
              <p:nvSpPr>
                <p:cNvPr id="44" name="Rectangle 228">
                  <a:extLst>
                    <a:ext uri="{FF2B5EF4-FFF2-40B4-BE49-F238E27FC236}">
                      <a16:creationId xmlns:a16="http://schemas.microsoft.com/office/drawing/2014/main" id="{57C40193-3BF4-40EC-8878-9EF0AF7B5C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405314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link</a:t>
                  </a:r>
                </a:p>
              </p:txBody>
            </p:sp>
            <p:sp>
              <p:nvSpPr>
                <p:cNvPr id="45" name="Rectangle 228">
                  <a:extLst>
                    <a:ext uri="{FF2B5EF4-FFF2-40B4-BE49-F238E27FC236}">
                      <a16:creationId xmlns:a16="http://schemas.microsoft.com/office/drawing/2014/main" id="{0DE86B28-7C9D-4962-9514-2657D1E48A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600576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physical</a:t>
                  </a:r>
                </a:p>
              </p:txBody>
            </p:sp>
          </p:grpSp>
          <p:sp>
            <p:nvSpPr>
              <p:cNvPr id="35" name="Text Box 26">
                <a:extLst>
                  <a:ext uri="{FF2B5EF4-FFF2-40B4-BE49-F238E27FC236}">
                    <a16:creationId xmlns:a16="http://schemas.microsoft.com/office/drawing/2014/main" id="{4C5AF12B-121A-4FA8-9A23-F00A84C23C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41587" y="2064066"/>
                <a:ext cx="2366891" cy="2848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application</a:t>
                </a:r>
              </a:p>
            </p:txBody>
          </p:sp>
          <p:sp>
            <p:nvSpPr>
              <p:cNvPr id="36" name="Oval 57">
                <a:extLst>
                  <a:ext uri="{FF2B5EF4-FFF2-40B4-BE49-F238E27FC236}">
                    <a16:creationId xmlns:a16="http://schemas.microsoft.com/office/drawing/2014/main" id="{7CE61790-0D62-4AA4-9EB9-9AF24543F3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9883" y="2337241"/>
                <a:ext cx="648324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P4</a:t>
                </a:r>
              </a:p>
            </p:txBody>
          </p:sp>
          <p:sp>
            <p:nvSpPr>
              <p:cNvPr id="47" name="Oval 57">
                <a:extLst>
                  <a:ext uri="{FF2B5EF4-FFF2-40B4-BE49-F238E27FC236}">
                    <a16:creationId xmlns:a16="http://schemas.microsoft.com/office/drawing/2014/main" id="{87C5C374-E739-4CD9-BFF8-4BA5580C7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7400" y="2337241"/>
                <a:ext cx="648324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P5</a:t>
                </a:r>
              </a:p>
            </p:txBody>
          </p:sp>
          <p:sp>
            <p:nvSpPr>
              <p:cNvPr id="48" name="Oval 57">
                <a:extLst>
                  <a:ext uri="{FF2B5EF4-FFF2-40B4-BE49-F238E27FC236}">
                    <a16:creationId xmlns:a16="http://schemas.microsoft.com/office/drawing/2014/main" id="{4A14D22A-3793-4101-A71D-B4DAE9A19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4915" y="2337241"/>
                <a:ext cx="648324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P6</a:t>
                </a:r>
              </a:p>
            </p:txBody>
          </p:sp>
          <p:grpSp>
            <p:nvGrpSpPr>
              <p:cNvPr id="37" name="Group 58">
                <a:extLst>
                  <a:ext uri="{FF2B5EF4-FFF2-40B4-BE49-F238E27FC236}">
                    <a16:creationId xmlns:a16="http://schemas.microsoft.com/office/drawing/2014/main" id="{F87F36A4-89BE-4134-B575-A2C16B46E3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95850" y="2577625"/>
                <a:ext cx="516391" cy="225425"/>
                <a:chOff x="1287" y="2524"/>
                <a:chExt cx="260" cy="100"/>
              </a:xfrm>
            </p:grpSpPr>
            <p:sp>
              <p:nvSpPr>
                <p:cNvPr id="38" name="Rectangle 59">
                  <a:extLst>
                    <a:ext uri="{FF2B5EF4-FFF2-40B4-BE49-F238E27FC236}">
                      <a16:creationId xmlns:a16="http://schemas.microsoft.com/office/drawing/2014/main" id="{5E099D83-19EC-480F-9FAA-8EA51D9AFC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39" name="Rectangle 60">
                  <a:extLst>
                    <a:ext uri="{FF2B5EF4-FFF2-40B4-BE49-F238E27FC236}">
                      <a16:creationId xmlns:a16="http://schemas.microsoft.com/office/drawing/2014/main" id="{92E858CD-4A5D-4A6B-83ED-1768B6F884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40" name="Rectangle 61">
                  <a:extLst>
                    <a:ext uri="{FF2B5EF4-FFF2-40B4-BE49-F238E27FC236}">
                      <a16:creationId xmlns:a16="http://schemas.microsoft.com/office/drawing/2014/main" id="{C1A254F7-F59E-4542-AF7E-DC0E6BFB60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41" name="Rectangle 62">
                  <a:extLst>
                    <a:ext uri="{FF2B5EF4-FFF2-40B4-BE49-F238E27FC236}">
                      <a16:creationId xmlns:a16="http://schemas.microsoft.com/office/drawing/2014/main" id="{2280CE46-A05E-433D-AD0E-946E48F712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  <p:grpSp>
            <p:nvGrpSpPr>
              <p:cNvPr id="50" name="Group 58">
                <a:extLst>
                  <a:ext uri="{FF2B5EF4-FFF2-40B4-BE49-F238E27FC236}">
                    <a16:creationId xmlns:a16="http://schemas.microsoft.com/office/drawing/2014/main" id="{3841E7A7-F069-42E5-9C6A-D9BF766DED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3366" y="2577625"/>
                <a:ext cx="516391" cy="225425"/>
                <a:chOff x="1287" y="2524"/>
                <a:chExt cx="260" cy="100"/>
              </a:xfrm>
            </p:grpSpPr>
            <p:sp>
              <p:nvSpPr>
                <p:cNvPr id="51" name="Rectangle 59">
                  <a:extLst>
                    <a:ext uri="{FF2B5EF4-FFF2-40B4-BE49-F238E27FC236}">
                      <a16:creationId xmlns:a16="http://schemas.microsoft.com/office/drawing/2014/main" id="{FEA6C6F8-54CA-4009-9632-EC95697754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52" name="Rectangle 60">
                  <a:extLst>
                    <a:ext uri="{FF2B5EF4-FFF2-40B4-BE49-F238E27FC236}">
                      <a16:creationId xmlns:a16="http://schemas.microsoft.com/office/drawing/2014/main" id="{12270815-AEF1-49F6-8853-FECC5A3A5E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53" name="Rectangle 61">
                  <a:extLst>
                    <a:ext uri="{FF2B5EF4-FFF2-40B4-BE49-F238E27FC236}">
                      <a16:creationId xmlns:a16="http://schemas.microsoft.com/office/drawing/2014/main" id="{5953C56F-1C84-4ACD-B34B-AA307C7263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54" name="Rectangle 62">
                  <a:extLst>
                    <a:ext uri="{FF2B5EF4-FFF2-40B4-BE49-F238E27FC236}">
                      <a16:creationId xmlns:a16="http://schemas.microsoft.com/office/drawing/2014/main" id="{90A4A095-A5A4-4C2C-AEE4-78347D1168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  <p:grpSp>
            <p:nvGrpSpPr>
              <p:cNvPr id="55" name="Group 58">
                <a:extLst>
                  <a:ext uri="{FF2B5EF4-FFF2-40B4-BE49-F238E27FC236}">
                    <a16:creationId xmlns:a16="http://schemas.microsoft.com/office/drawing/2014/main" id="{D5A8952E-C09A-435F-92C3-39C7E3DEBD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0882" y="2577625"/>
                <a:ext cx="516391" cy="225425"/>
                <a:chOff x="1287" y="2524"/>
                <a:chExt cx="260" cy="100"/>
              </a:xfrm>
            </p:grpSpPr>
            <p:sp>
              <p:nvSpPr>
                <p:cNvPr id="56" name="Rectangle 59">
                  <a:extLst>
                    <a:ext uri="{FF2B5EF4-FFF2-40B4-BE49-F238E27FC236}">
                      <a16:creationId xmlns:a16="http://schemas.microsoft.com/office/drawing/2014/main" id="{EB4188D2-933E-4B2D-9169-D522101043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57" name="Rectangle 60">
                  <a:extLst>
                    <a:ext uri="{FF2B5EF4-FFF2-40B4-BE49-F238E27FC236}">
                      <a16:creationId xmlns:a16="http://schemas.microsoft.com/office/drawing/2014/main" id="{FE8A21B4-BDFD-4011-B8C4-2547BECF01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58" name="Rectangle 61">
                  <a:extLst>
                    <a:ext uri="{FF2B5EF4-FFF2-40B4-BE49-F238E27FC236}">
                      <a16:creationId xmlns:a16="http://schemas.microsoft.com/office/drawing/2014/main" id="{005ADB7A-113D-4B87-91F5-1491427FFE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59" name="Rectangle 62">
                  <a:extLst>
                    <a:ext uri="{FF2B5EF4-FFF2-40B4-BE49-F238E27FC236}">
                      <a16:creationId xmlns:a16="http://schemas.microsoft.com/office/drawing/2014/main" id="{2F705E62-39C0-47AF-B39D-CB06AB42C1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6E291DEC-3FE1-4CB6-BE89-707D2BDDB93A}"/>
                </a:ext>
              </a:extLst>
            </p:cNvPr>
            <p:cNvGrpSpPr/>
            <p:nvPr/>
          </p:nvGrpSpPr>
          <p:grpSpPr>
            <a:xfrm>
              <a:off x="861120" y="1266095"/>
              <a:ext cx="1447740" cy="1750176"/>
              <a:chOff x="861120" y="2263361"/>
              <a:chExt cx="1447740" cy="1635989"/>
            </a:xfrm>
          </p:grpSpPr>
          <p:sp>
            <p:nvSpPr>
              <p:cNvPr id="5" name="Rectangle 228">
                <a:extLst>
                  <a:ext uri="{FF2B5EF4-FFF2-40B4-BE49-F238E27FC236}">
                    <a16:creationId xmlns:a16="http://schemas.microsoft.com/office/drawing/2014/main" id="{C2DEE083-E5E4-416A-AB6D-BD47C3258F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232" y="2263361"/>
                <a:ext cx="1419628" cy="711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72327334-6764-4F90-8E3A-44387541DA8D}"/>
                  </a:ext>
                </a:extLst>
              </p:cNvPr>
              <p:cNvGrpSpPr/>
              <p:nvPr/>
            </p:nvGrpSpPr>
            <p:grpSpPr>
              <a:xfrm>
                <a:off x="889232" y="2972973"/>
                <a:ext cx="1419628" cy="926377"/>
                <a:chOff x="1840640" y="4014790"/>
                <a:chExt cx="1159016" cy="782739"/>
              </a:xfrm>
            </p:grpSpPr>
            <p:sp>
              <p:nvSpPr>
                <p:cNvPr id="14" name="Rectangle 228">
                  <a:extLst>
                    <a:ext uri="{FF2B5EF4-FFF2-40B4-BE49-F238E27FC236}">
                      <a16:creationId xmlns:a16="http://schemas.microsoft.com/office/drawing/2014/main" id="{3F398153-C817-40D5-A02D-557C512FF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014790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transport</a:t>
                  </a:r>
                </a:p>
              </p:txBody>
            </p:sp>
            <p:sp>
              <p:nvSpPr>
                <p:cNvPr id="15" name="Rectangle 228">
                  <a:extLst>
                    <a:ext uri="{FF2B5EF4-FFF2-40B4-BE49-F238E27FC236}">
                      <a16:creationId xmlns:a16="http://schemas.microsoft.com/office/drawing/2014/main" id="{49FD4B99-3DA7-402B-9F89-056E86793D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210051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network</a:t>
                  </a:r>
                </a:p>
              </p:txBody>
            </p:sp>
            <p:sp>
              <p:nvSpPr>
                <p:cNvPr id="16" name="Rectangle 228">
                  <a:extLst>
                    <a:ext uri="{FF2B5EF4-FFF2-40B4-BE49-F238E27FC236}">
                      <a16:creationId xmlns:a16="http://schemas.microsoft.com/office/drawing/2014/main" id="{A0444323-4628-4A7A-A6E7-AFDBA7106D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405314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link</a:t>
                  </a:r>
                </a:p>
              </p:txBody>
            </p:sp>
            <p:sp>
              <p:nvSpPr>
                <p:cNvPr id="17" name="Rectangle 228">
                  <a:extLst>
                    <a:ext uri="{FF2B5EF4-FFF2-40B4-BE49-F238E27FC236}">
                      <a16:creationId xmlns:a16="http://schemas.microsoft.com/office/drawing/2014/main" id="{AE674384-8E8F-4F98-A370-5CEE6E7EAA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600576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physical</a:t>
                  </a:r>
                </a:p>
              </p:txBody>
            </p:sp>
          </p:grpSp>
          <p:sp>
            <p:nvSpPr>
              <p:cNvPr id="7" name="Text Box 26">
                <a:extLst>
                  <a:ext uri="{FF2B5EF4-FFF2-40B4-BE49-F238E27FC236}">
                    <a16:creationId xmlns:a16="http://schemas.microsoft.com/office/drawing/2014/main" id="{19146746-10B1-4B45-9F76-BB017A04FA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1120" y="2277648"/>
                <a:ext cx="1431122" cy="2848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application</a:t>
                </a:r>
              </a:p>
            </p:txBody>
          </p:sp>
          <p:sp>
            <p:nvSpPr>
              <p:cNvPr id="8" name="Oval 57">
                <a:extLst>
                  <a:ext uri="{FF2B5EF4-FFF2-40B4-BE49-F238E27FC236}">
                    <a16:creationId xmlns:a16="http://schemas.microsoft.com/office/drawing/2014/main" id="{6863D634-16A9-43ED-987F-6CE1BE1603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039" y="2550823"/>
                <a:ext cx="767506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P3</a:t>
                </a:r>
              </a:p>
            </p:txBody>
          </p:sp>
          <p:grpSp>
            <p:nvGrpSpPr>
              <p:cNvPr id="60" name="Group 58">
                <a:extLst>
                  <a:ext uri="{FF2B5EF4-FFF2-40B4-BE49-F238E27FC236}">
                    <a16:creationId xmlns:a16="http://schemas.microsoft.com/office/drawing/2014/main" id="{04E8610E-8A10-4E89-B4EA-54ECE032D0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9597" y="2764509"/>
                <a:ext cx="516391" cy="225425"/>
                <a:chOff x="1287" y="2524"/>
                <a:chExt cx="260" cy="100"/>
              </a:xfrm>
            </p:grpSpPr>
            <p:sp>
              <p:nvSpPr>
                <p:cNvPr id="61" name="Rectangle 59">
                  <a:extLst>
                    <a:ext uri="{FF2B5EF4-FFF2-40B4-BE49-F238E27FC236}">
                      <a16:creationId xmlns:a16="http://schemas.microsoft.com/office/drawing/2014/main" id="{B7F5F2B3-24E0-47D6-8608-4A29598ACF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62" name="Rectangle 60">
                  <a:extLst>
                    <a:ext uri="{FF2B5EF4-FFF2-40B4-BE49-F238E27FC236}">
                      <a16:creationId xmlns:a16="http://schemas.microsoft.com/office/drawing/2014/main" id="{FEB41E33-EE59-4161-99C3-2674DFCF01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63" name="Rectangle 61">
                  <a:extLst>
                    <a:ext uri="{FF2B5EF4-FFF2-40B4-BE49-F238E27FC236}">
                      <a16:creationId xmlns:a16="http://schemas.microsoft.com/office/drawing/2014/main" id="{97EF2B65-22B8-4FEB-A9ED-20799A3614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64" name="Rectangle 62">
                  <a:extLst>
                    <a:ext uri="{FF2B5EF4-FFF2-40B4-BE49-F238E27FC236}">
                      <a16:creationId xmlns:a16="http://schemas.microsoft.com/office/drawing/2014/main" id="{923C9F12-FAEF-47DD-AE74-B7E60D73FE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</p:grp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ED9FAAD8-5694-445B-9D58-C00B68F6C9D2}"/>
                </a:ext>
              </a:extLst>
            </p:cNvPr>
            <p:cNvGrpSpPr/>
            <p:nvPr/>
          </p:nvGrpSpPr>
          <p:grpSpPr>
            <a:xfrm>
              <a:off x="6007008" y="1266095"/>
              <a:ext cx="1935881" cy="1750176"/>
              <a:chOff x="6320707" y="2263361"/>
              <a:chExt cx="1935881" cy="1635989"/>
            </a:xfrm>
          </p:grpSpPr>
          <p:sp>
            <p:nvSpPr>
              <p:cNvPr id="19" name="Rectangle 228">
                <a:extLst>
                  <a:ext uri="{FF2B5EF4-FFF2-40B4-BE49-F238E27FC236}">
                    <a16:creationId xmlns:a16="http://schemas.microsoft.com/office/drawing/2014/main" id="{28703D7D-D2BB-484A-B5CE-02D5497D8E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8297" y="2263361"/>
                <a:ext cx="1898291" cy="711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770D9278-F099-45C0-9A9A-A585A3C8421E}"/>
                  </a:ext>
                </a:extLst>
              </p:cNvPr>
              <p:cNvGrpSpPr/>
              <p:nvPr/>
            </p:nvGrpSpPr>
            <p:grpSpPr>
              <a:xfrm>
                <a:off x="6358297" y="2972973"/>
                <a:ext cx="1898291" cy="926377"/>
                <a:chOff x="1840640" y="4014790"/>
                <a:chExt cx="1159016" cy="782739"/>
              </a:xfrm>
            </p:grpSpPr>
            <p:sp>
              <p:nvSpPr>
                <p:cNvPr id="28" name="Rectangle 228">
                  <a:extLst>
                    <a:ext uri="{FF2B5EF4-FFF2-40B4-BE49-F238E27FC236}">
                      <a16:creationId xmlns:a16="http://schemas.microsoft.com/office/drawing/2014/main" id="{2E311A8C-82D7-4950-B7AA-9664C565B7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014790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transport</a:t>
                  </a:r>
                </a:p>
              </p:txBody>
            </p:sp>
            <p:sp>
              <p:nvSpPr>
                <p:cNvPr id="29" name="Rectangle 228">
                  <a:extLst>
                    <a:ext uri="{FF2B5EF4-FFF2-40B4-BE49-F238E27FC236}">
                      <a16:creationId xmlns:a16="http://schemas.microsoft.com/office/drawing/2014/main" id="{115A3DEF-741A-4C57-9AB3-A9FD9DBA57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210051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network</a:t>
                  </a:r>
                </a:p>
              </p:txBody>
            </p:sp>
            <p:sp>
              <p:nvSpPr>
                <p:cNvPr id="30" name="Rectangle 228">
                  <a:extLst>
                    <a:ext uri="{FF2B5EF4-FFF2-40B4-BE49-F238E27FC236}">
                      <a16:creationId xmlns:a16="http://schemas.microsoft.com/office/drawing/2014/main" id="{F82DDECA-C290-4A98-8841-D6AD22ABB5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405314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link</a:t>
                  </a:r>
                </a:p>
              </p:txBody>
            </p:sp>
            <p:sp>
              <p:nvSpPr>
                <p:cNvPr id="31" name="Rectangle 228">
                  <a:extLst>
                    <a:ext uri="{FF2B5EF4-FFF2-40B4-BE49-F238E27FC236}">
                      <a16:creationId xmlns:a16="http://schemas.microsoft.com/office/drawing/2014/main" id="{3090DC6D-1E3B-4526-B344-4E8646E418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600576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physical</a:t>
                  </a:r>
                </a:p>
              </p:txBody>
            </p:sp>
          </p:grpSp>
          <p:sp>
            <p:nvSpPr>
              <p:cNvPr id="21" name="Text Box 26">
                <a:extLst>
                  <a:ext uri="{FF2B5EF4-FFF2-40B4-BE49-F238E27FC236}">
                    <a16:creationId xmlns:a16="http://schemas.microsoft.com/office/drawing/2014/main" id="{28202CDD-29A5-4D6C-98CA-FF27A10D2A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0707" y="2277648"/>
                <a:ext cx="1913660" cy="2848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application</a:t>
                </a:r>
              </a:p>
            </p:txBody>
          </p:sp>
          <p:sp>
            <p:nvSpPr>
              <p:cNvPr id="22" name="Oval 57">
                <a:extLst>
                  <a:ext uri="{FF2B5EF4-FFF2-40B4-BE49-F238E27FC236}">
                    <a16:creationId xmlns:a16="http://schemas.microsoft.com/office/drawing/2014/main" id="{F900F811-58D2-4309-A36D-AB7F3BA46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6041" y="2550823"/>
                <a:ext cx="820101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P2</a:t>
                </a: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:a16="http://schemas.microsoft.com/office/drawing/2014/main" id="{E0E5C387-1736-459C-98CF-4378C64F0D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44032" y="2550823"/>
                <a:ext cx="820101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P3</a:t>
                </a:r>
              </a:p>
            </p:txBody>
          </p:sp>
          <p:grpSp>
            <p:nvGrpSpPr>
              <p:cNvPr id="65" name="Group 58">
                <a:extLst>
                  <a:ext uri="{FF2B5EF4-FFF2-40B4-BE49-F238E27FC236}">
                    <a16:creationId xmlns:a16="http://schemas.microsoft.com/office/drawing/2014/main" id="{27BB6E47-C230-4364-914A-315B41623F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26052" y="2777858"/>
                <a:ext cx="516391" cy="225425"/>
                <a:chOff x="1287" y="2524"/>
                <a:chExt cx="260" cy="100"/>
              </a:xfrm>
            </p:grpSpPr>
            <p:sp>
              <p:nvSpPr>
                <p:cNvPr id="66" name="Rectangle 59">
                  <a:extLst>
                    <a:ext uri="{FF2B5EF4-FFF2-40B4-BE49-F238E27FC236}">
                      <a16:creationId xmlns:a16="http://schemas.microsoft.com/office/drawing/2014/main" id="{2D9A24D7-562E-40DB-885B-AFBB9E60A9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67" name="Rectangle 60">
                  <a:extLst>
                    <a:ext uri="{FF2B5EF4-FFF2-40B4-BE49-F238E27FC236}">
                      <a16:creationId xmlns:a16="http://schemas.microsoft.com/office/drawing/2014/main" id="{36E7F522-0635-4079-BDB5-9548C91A76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68" name="Rectangle 61">
                  <a:extLst>
                    <a:ext uri="{FF2B5EF4-FFF2-40B4-BE49-F238E27FC236}">
                      <a16:creationId xmlns:a16="http://schemas.microsoft.com/office/drawing/2014/main" id="{5D745181-F026-4BDD-BACD-0373AB5912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69" name="Rectangle 62">
                  <a:extLst>
                    <a:ext uri="{FF2B5EF4-FFF2-40B4-BE49-F238E27FC236}">
                      <a16:creationId xmlns:a16="http://schemas.microsoft.com/office/drawing/2014/main" id="{9735BC08-C278-4F30-BCC1-BA8B78DBA9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  <p:grpSp>
            <p:nvGrpSpPr>
              <p:cNvPr id="70" name="Group 58">
                <a:extLst>
                  <a:ext uri="{FF2B5EF4-FFF2-40B4-BE49-F238E27FC236}">
                    <a16:creationId xmlns:a16="http://schemas.microsoft.com/office/drawing/2014/main" id="{D978769F-C105-4D20-ABED-4339BC70A6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80383" y="2777858"/>
                <a:ext cx="516391" cy="225425"/>
                <a:chOff x="1287" y="2524"/>
                <a:chExt cx="260" cy="100"/>
              </a:xfrm>
            </p:grpSpPr>
            <p:sp>
              <p:nvSpPr>
                <p:cNvPr id="71" name="Rectangle 59">
                  <a:extLst>
                    <a:ext uri="{FF2B5EF4-FFF2-40B4-BE49-F238E27FC236}">
                      <a16:creationId xmlns:a16="http://schemas.microsoft.com/office/drawing/2014/main" id="{074EFFA7-E731-4D2C-A535-6EF5A71890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72" name="Rectangle 60">
                  <a:extLst>
                    <a:ext uri="{FF2B5EF4-FFF2-40B4-BE49-F238E27FC236}">
                      <a16:creationId xmlns:a16="http://schemas.microsoft.com/office/drawing/2014/main" id="{13B8A781-0F3F-4D52-975F-B1F1398EB5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73" name="Rectangle 61">
                  <a:extLst>
                    <a:ext uri="{FF2B5EF4-FFF2-40B4-BE49-F238E27FC236}">
                      <a16:creationId xmlns:a16="http://schemas.microsoft.com/office/drawing/2014/main" id="{E4EA2A8E-E91D-49F9-ADB9-BD401F3332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74" name="Rectangle 62">
                  <a:extLst>
                    <a:ext uri="{FF2B5EF4-FFF2-40B4-BE49-F238E27FC236}">
                      <a16:creationId xmlns:a16="http://schemas.microsoft.com/office/drawing/2014/main" id="{7BCEBF16-375F-403E-9A59-17847999B5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</p:grpSp>
        <p:sp>
          <p:nvSpPr>
            <p:cNvPr id="81" name="자유형: 도형 80">
              <a:extLst>
                <a:ext uri="{FF2B5EF4-FFF2-40B4-BE49-F238E27FC236}">
                  <a16:creationId xmlns:a16="http://schemas.microsoft.com/office/drawing/2014/main" id="{8BF5FD03-F291-4458-BF19-35943CFD46AC}"/>
                </a:ext>
              </a:extLst>
            </p:cNvPr>
            <p:cNvSpPr/>
            <p:nvPr/>
          </p:nvSpPr>
          <p:spPr>
            <a:xfrm>
              <a:off x="4231603" y="1686587"/>
              <a:ext cx="3197063" cy="3230435"/>
            </a:xfrm>
            <a:custGeom>
              <a:avLst/>
              <a:gdLst>
                <a:gd name="connsiteX0" fmla="*/ 0 w 3243784"/>
                <a:gd name="connsiteY0" fmla="*/ 0 h 3230435"/>
                <a:gd name="connsiteX1" fmla="*/ 0 w 3243784"/>
                <a:gd name="connsiteY1" fmla="*/ 3230435 h 3230435"/>
                <a:gd name="connsiteX2" fmla="*/ 3243784 w 3243784"/>
                <a:gd name="connsiteY2" fmla="*/ 3230435 h 3230435"/>
                <a:gd name="connsiteX3" fmla="*/ 3243784 w 3243784"/>
                <a:gd name="connsiteY3" fmla="*/ 246955 h 3230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784" h="3230435">
                  <a:moveTo>
                    <a:pt x="0" y="0"/>
                  </a:moveTo>
                  <a:lnTo>
                    <a:pt x="0" y="3230435"/>
                  </a:lnTo>
                  <a:lnTo>
                    <a:pt x="3243784" y="3230435"/>
                  </a:lnTo>
                  <a:lnTo>
                    <a:pt x="3243784" y="246955"/>
                  </a:lnTo>
                </a:path>
              </a:pathLst>
            </a:custGeom>
            <a:noFill/>
            <a:ln w="28575">
              <a:solidFill>
                <a:srgbClr val="F27037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D4908643-7BD3-4382-ABA9-2FA71BCC783B}"/>
                </a:ext>
              </a:extLst>
            </p:cNvPr>
            <p:cNvSpPr/>
            <p:nvPr/>
          </p:nvSpPr>
          <p:spPr>
            <a:xfrm>
              <a:off x="4925746" y="1706609"/>
              <a:ext cx="1635241" cy="2084480"/>
            </a:xfrm>
            <a:custGeom>
              <a:avLst/>
              <a:gdLst>
                <a:gd name="connsiteX0" fmla="*/ 0 w 1842149"/>
                <a:gd name="connsiteY0" fmla="*/ 0 h 2329384"/>
                <a:gd name="connsiteX1" fmla="*/ 0 w 1842149"/>
                <a:gd name="connsiteY1" fmla="*/ 2329384 h 2329384"/>
                <a:gd name="connsiteX2" fmla="*/ 1842149 w 1842149"/>
                <a:gd name="connsiteY2" fmla="*/ 2329384 h 2329384"/>
                <a:gd name="connsiteX3" fmla="*/ 1842149 w 1842149"/>
                <a:gd name="connsiteY3" fmla="*/ 233606 h 2329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2149" h="2329384">
                  <a:moveTo>
                    <a:pt x="0" y="0"/>
                  </a:moveTo>
                  <a:lnTo>
                    <a:pt x="0" y="2329384"/>
                  </a:lnTo>
                  <a:lnTo>
                    <a:pt x="1842149" y="2329384"/>
                  </a:lnTo>
                  <a:lnTo>
                    <a:pt x="1842149" y="233606"/>
                  </a:lnTo>
                </a:path>
              </a:pathLst>
            </a:custGeom>
            <a:noFill/>
            <a:ln w="28575">
              <a:solidFill>
                <a:srgbClr val="F27037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자유형: 도형 82">
              <a:extLst>
                <a:ext uri="{FF2B5EF4-FFF2-40B4-BE49-F238E27FC236}">
                  <a16:creationId xmlns:a16="http://schemas.microsoft.com/office/drawing/2014/main" id="{E94FC095-764C-42E8-A415-FA6EC7E9C9CD}"/>
                </a:ext>
              </a:extLst>
            </p:cNvPr>
            <p:cNvSpPr/>
            <p:nvPr/>
          </p:nvSpPr>
          <p:spPr>
            <a:xfrm>
              <a:off x="1615218" y="1746654"/>
              <a:ext cx="2082429" cy="2603037"/>
            </a:xfrm>
            <a:custGeom>
              <a:avLst/>
              <a:gdLst>
                <a:gd name="connsiteX0" fmla="*/ 0 w 2109127"/>
                <a:gd name="connsiteY0" fmla="*/ 166861 h 2576339"/>
                <a:gd name="connsiteX1" fmla="*/ 0 w 2109127"/>
                <a:gd name="connsiteY1" fmla="*/ 2576339 h 2576339"/>
                <a:gd name="connsiteX2" fmla="*/ 2109127 w 2109127"/>
                <a:gd name="connsiteY2" fmla="*/ 2576339 h 2576339"/>
                <a:gd name="connsiteX3" fmla="*/ 2109127 w 2109127"/>
                <a:gd name="connsiteY3" fmla="*/ 186885 h 2576339"/>
                <a:gd name="connsiteX4" fmla="*/ 1882195 w 2109127"/>
                <a:gd name="connsiteY4" fmla="*/ 0 h 2576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9127" h="2576339">
                  <a:moveTo>
                    <a:pt x="0" y="166861"/>
                  </a:moveTo>
                  <a:lnTo>
                    <a:pt x="0" y="2576339"/>
                  </a:lnTo>
                  <a:lnTo>
                    <a:pt x="2109127" y="2576339"/>
                  </a:lnTo>
                  <a:lnTo>
                    <a:pt x="2109127" y="186885"/>
                  </a:lnTo>
                  <a:lnTo>
                    <a:pt x="1882195" y="0"/>
                  </a:lnTo>
                </a:path>
              </a:pathLst>
            </a:custGeom>
            <a:noFill/>
            <a:ln w="28575">
              <a:solidFill>
                <a:srgbClr val="F27037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4" name="Group 196">
            <a:extLst>
              <a:ext uri="{FF2B5EF4-FFF2-40B4-BE49-F238E27FC236}">
                <a16:creationId xmlns:a16="http://schemas.microsoft.com/office/drawing/2014/main" id="{7C7F4E85-DFE7-46B6-9780-CF1C148337FE}"/>
              </a:ext>
            </a:extLst>
          </p:cNvPr>
          <p:cNvGrpSpPr>
            <a:grpSpLocks/>
          </p:cNvGrpSpPr>
          <p:nvPr/>
        </p:nvGrpSpPr>
        <p:grpSpPr bwMode="auto">
          <a:xfrm>
            <a:off x="1661650" y="4816366"/>
            <a:ext cx="2029632" cy="765176"/>
            <a:chOff x="951" y="3697"/>
            <a:chExt cx="1403" cy="482"/>
          </a:xfrm>
        </p:grpSpPr>
        <p:sp>
          <p:nvSpPr>
            <p:cNvPr id="85" name="Rectangle 193">
              <a:extLst>
                <a:ext uri="{FF2B5EF4-FFF2-40B4-BE49-F238E27FC236}">
                  <a16:creationId xmlns:a16="http://schemas.microsoft.com/office/drawing/2014/main" id="{BDC40C9F-500A-4FAD-8302-5A18241A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6" name="Line 194">
              <a:extLst>
                <a:ext uri="{FF2B5EF4-FFF2-40B4-BE49-F238E27FC236}">
                  <a16:creationId xmlns:a16="http://schemas.microsoft.com/office/drawing/2014/main" id="{A6337EFC-6D16-4126-8B10-037E915DB2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87" name="Text Box 195">
              <a:extLst>
                <a:ext uri="{FF2B5EF4-FFF2-40B4-BE49-F238E27FC236}">
                  <a16:creationId xmlns:a16="http://schemas.microsoft.com/office/drawing/2014/main" id="{E4841096-3750-4CF7-A67D-0A9910983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1" y="3851"/>
              <a:ext cx="1304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IP, port : A,9157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IP, port : B,80</a:t>
              </a:r>
            </a:p>
          </p:txBody>
        </p:sp>
      </p:grpSp>
      <p:grpSp>
        <p:nvGrpSpPr>
          <p:cNvPr id="88" name="Group 80">
            <a:extLst>
              <a:ext uri="{FF2B5EF4-FFF2-40B4-BE49-F238E27FC236}">
                <a16:creationId xmlns:a16="http://schemas.microsoft.com/office/drawing/2014/main" id="{94766816-E97A-4E0E-83DB-9A7B2B858092}"/>
              </a:ext>
            </a:extLst>
          </p:cNvPr>
          <p:cNvGrpSpPr>
            <a:grpSpLocks/>
          </p:cNvGrpSpPr>
          <p:nvPr/>
        </p:nvGrpSpPr>
        <p:grpSpPr bwMode="auto">
          <a:xfrm>
            <a:off x="2007706" y="3930953"/>
            <a:ext cx="1795281" cy="719138"/>
            <a:chOff x="2741" y="3750"/>
            <a:chExt cx="1241" cy="453"/>
          </a:xfrm>
        </p:grpSpPr>
        <p:sp>
          <p:nvSpPr>
            <p:cNvPr id="89" name="Rectangle 81">
              <a:extLst>
                <a:ext uri="{FF2B5EF4-FFF2-40B4-BE49-F238E27FC236}">
                  <a16:creationId xmlns:a16="http://schemas.microsoft.com/office/drawing/2014/main" id="{9CCA95B1-C367-4A12-87DB-7FE0BD041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  <a:buChar char="§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90" name="Line 82">
              <a:extLst>
                <a:ext uri="{FF2B5EF4-FFF2-40B4-BE49-F238E27FC236}">
                  <a16:creationId xmlns:a16="http://schemas.microsoft.com/office/drawing/2014/main" id="{D06AF02A-75BD-4D48-A91B-A46C532B30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19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91" name="Text Box 83">
              <a:extLst>
                <a:ext uri="{FF2B5EF4-FFF2-40B4-BE49-F238E27FC236}">
                  <a16:creationId xmlns:a16="http://schemas.microsoft.com/office/drawing/2014/main" id="{DCE1449C-814C-4419-ADDF-A3C8562D0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7" y="3875"/>
              <a:ext cx="119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IP, port : B,80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IP, port : A,9157</a:t>
              </a:r>
            </a:p>
          </p:txBody>
        </p:sp>
      </p:grpSp>
      <p:grpSp>
        <p:nvGrpSpPr>
          <p:cNvPr id="96" name="Group 80">
            <a:extLst>
              <a:ext uri="{FF2B5EF4-FFF2-40B4-BE49-F238E27FC236}">
                <a16:creationId xmlns:a16="http://schemas.microsoft.com/office/drawing/2014/main" id="{BD804023-B228-4CCB-A09A-A583ADB07AE8}"/>
              </a:ext>
            </a:extLst>
          </p:cNvPr>
          <p:cNvGrpSpPr>
            <a:grpSpLocks/>
          </p:cNvGrpSpPr>
          <p:nvPr/>
        </p:nvGrpSpPr>
        <p:grpSpPr bwMode="auto">
          <a:xfrm>
            <a:off x="4819939" y="3877557"/>
            <a:ext cx="2005040" cy="814388"/>
            <a:chOff x="2741" y="3750"/>
            <a:chExt cx="1386" cy="513"/>
          </a:xfrm>
        </p:grpSpPr>
        <p:sp>
          <p:nvSpPr>
            <p:cNvPr id="97" name="Rectangle 81">
              <a:extLst>
                <a:ext uri="{FF2B5EF4-FFF2-40B4-BE49-F238E27FC236}">
                  <a16:creationId xmlns:a16="http://schemas.microsoft.com/office/drawing/2014/main" id="{DAC40C47-1A61-46E1-B505-95D831070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  <a:buChar char="§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98" name="Line 82">
              <a:extLst>
                <a:ext uri="{FF2B5EF4-FFF2-40B4-BE49-F238E27FC236}">
                  <a16:creationId xmlns:a16="http://schemas.microsoft.com/office/drawing/2014/main" id="{BA90D828-CAE3-4695-B8FF-AA8FAD8B17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19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99" name="Text Box 83">
              <a:extLst>
                <a:ext uri="{FF2B5EF4-FFF2-40B4-BE49-F238E27FC236}">
                  <a16:creationId xmlns:a16="http://schemas.microsoft.com/office/drawing/2014/main" id="{EBF9A512-66E8-473D-9DA0-E95AA4991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5" y="3935"/>
              <a:ext cx="1312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IP, port : C,5775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IP, port : B,80</a:t>
              </a:r>
            </a:p>
          </p:txBody>
        </p:sp>
      </p:grpSp>
      <p:grpSp>
        <p:nvGrpSpPr>
          <p:cNvPr id="100" name="Group 80">
            <a:extLst>
              <a:ext uri="{FF2B5EF4-FFF2-40B4-BE49-F238E27FC236}">
                <a16:creationId xmlns:a16="http://schemas.microsoft.com/office/drawing/2014/main" id="{79DF1678-62CB-49CD-8736-5554E0D48C3E}"/>
              </a:ext>
            </a:extLst>
          </p:cNvPr>
          <p:cNvGrpSpPr>
            <a:grpSpLocks/>
          </p:cNvGrpSpPr>
          <p:nvPr/>
        </p:nvGrpSpPr>
        <p:grpSpPr bwMode="auto">
          <a:xfrm>
            <a:off x="4819940" y="4998871"/>
            <a:ext cx="2003594" cy="787401"/>
            <a:chOff x="2741" y="3750"/>
            <a:chExt cx="1385" cy="496"/>
          </a:xfrm>
        </p:grpSpPr>
        <p:sp>
          <p:nvSpPr>
            <p:cNvPr id="101" name="Rectangle 81">
              <a:extLst>
                <a:ext uri="{FF2B5EF4-FFF2-40B4-BE49-F238E27FC236}">
                  <a16:creationId xmlns:a16="http://schemas.microsoft.com/office/drawing/2014/main" id="{4469AFB9-ADC4-424C-9D9E-E8A7F19BE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  <a:buChar char="§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02" name="Line 82">
              <a:extLst>
                <a:ext uri="{FF2B5EF4-FFF2-40B4-BE49-F238E27FC236}">
                  <a16:creationId xmlns:a16="http://schemas.microsoft.com/office/drawing/2014/main" id="{369B951F-9187-4BF8-81DD-C4EAC5C607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19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03" name="Text Box 83">
              <a:extLst>
                <a:ext uri="{FF2B5EF4-FFF2-40B4-BE49-F238E27FC236}">
                  <a16:creationId xmlns:a16="http://schemas.microsoft.com/office/drawing/2014/main" id="{B01D11EF-3FCE-4A80-8D3F-0A4324F342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5" y="3918"/>
              <a:ext cx="1311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IP, port : C,9157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IP, port : B,80</a:t>
              </a:r>
            </a:p>
          </p:txBody>
        </p:sp>
      </p:grpSp>
      <p:sp>
        <p:nvSpPr>
          <p:cNvPr id="104" name="Text Box 160">
            <a:extLst>
              <a:ext uri="{FF2B5EF4-FFF2-40B4-BE49-F238E27FC236}">
                <a16:creationId xmlns:a16="http://schemas.microsoft.com/office/drawing/2014/main" id="{32AD1CD8-15B9-49E8-8D67-F40E27592AB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772389" y="3179776"/>
            <a:ext cx="1045919" cy="520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server : IP address B</a:t>
            </a: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9BC30A55-12DB-4460-A4F8-70E75A5BFF1C}"/>
              </a:ext>
            </a:extLst>
          </p:cNvPr>
          <p:cNvGrpSpPr/>
          <p:nvPr/>
        </p:nvGrpSpPr>
        <p:grpSpPr>
          <a:xfrm>
            <a:off x="658813" y="3044817"/>
            <a:ext cx="641058" cy="762961"/>
            <a:chOff x="6638988" y="4761278"/>
            <a:chExt cx="1023241" cy="1217823"/>
          </a:xfrm>
        </p:grpSpPr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90BC19D3-B696-4B5E-B0C6-37C60B141F62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14" name="그림 113">
              <a:extLst>
                <a:ext uri="{FF2B5EF4-FFF2-40B4-BE49-F238E27FC236}">
                  <a16:creationId xmlns:a16="http://schemas.microsoft.com/office/drawing/2014/main" id="{9DFB04CA-F5D7-4B03-9E10-35AC2A9DD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sp>
        <p:nvSpPr>
          <p:cNvPr id="120" name="Text Box 93">
            <a:extLst>
              <a:ext uri="{FF2B5EF4-FFF2-40B4-BE49-F238E27FC236}">
                <a16:creationId xmlns:a16="http://schemas.microsoft.com/office/drawing/2014/main" id="{6B1D21BD-3D5F-4664-AF61-C6016749A2D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34950" y="3852863"/>
            <a:ext cx="1147763" cy="520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host : IP address A</a:t>
            </a:r>
          </a:p>
        </p:txBody>
      </p:sp>
      <p:sp>
        <p:nvSpPr>
          <p:cNvPr id="121" name="Text Box 94">
            <a:extLst>
              <a:ext uri="{FF2B5EF4-FFF2-40B4-BE49-F238E27FC236}">
                <a16:creationId xmlns:a16="http://schemas.microsoft.com/office/drawing/2014/main" id="{99E6A00F-C1A4-41E8-8741-2A7EA2D80042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356475" y="3852863"/>
            <a:ext cx="1147763" cy="520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host : IP address C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C4A47EB-17B7-44A7-AC5E-0C55B5354583}"/>
              </a:ext>
            </a:extLst>
          </p:cNvPr>
          <p:cNvGrpSpPr/>
          <p:nvPr/>
        </p:nvGrpSpPr>
        <p:grpSpPr>
          <a:xfrm>
            <a:off x="1521928" y="4650746"/>
            <a:ext cx="6113798" cy="1849388"/>
            <a:chOff x="1521928" y="4650746"/>
            <a:chExt cx="6113798" cy="1849388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878D378-470C-403D-B56D-18427EB6C9E9}"/>
                </a:ext>
              </a:extLst>
            </p:cNvPr>
            <p:cNvSpPr txBox="1"/>
            <p:nvPr/>
          </p:nvSpPr>
          <p:spPr>
            <a:xfrm>
              <a:off x="1521928" y="5816870"/>
              <a:ext cx="6113798" cy="6832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IP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주소 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B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의 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80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번 포트로 향하는 세 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segment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는</a:t>
              </a:r>
              <a:endPara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endParaRPr>
            </a:p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각각 </a:t>
              </a:r>
              <a:r>
                <a:rPr lang="ko-KR" altLang="en-US" sz="1600" u="sng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다른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 소켓으로 </a:t>
              </a:r>
              <a:r>
                <a:rPr lang="ko-KR" altLang="en-US" sz="16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역다중화된다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.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2AA1FC5B-8E15-4752-82A9-B2B3C4F896F5}"/>
                </a:ext>
              </a:extLst>
            </p:cNvPr>
            <p:cNvGrpSpPr/>
            <p:nvPr/>
          </p:nvGrpSpPr>
          <p:grpSpPr>
            <a:xfrm>
              <a:off x="3241011" y="4650746"/>
              <a:ext cx="3142261" cy="1087834"/>
              <a:chOff x="3241011" y="4650746"/>
              <a:chExt cx="3142261" cy="1087834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DC22E3EE-5438-44CA-A8B9-65AC82C0A830}"/>
                  </a:ext>
                </a:extLst>
              </p:cNvPr>
              <p:cNvGrpSpPr/>
              <p:nvPr/>
            </p:nvGrpSpPr>
            <p:grpSpPr>
              <a:xfrm>
                <a:off x="3241011" y="5562600"/>
                <a:ext cx="3142261" cy="175980"/>
                <a:chOff x="3241011" y="5562600"/>
                <a:chExt cx="3142261" cy="175980"/>
              </a:xfrm>
            </p:grpSpPr>
            <p:cxnSp>
              <p:nvCxnSpPr>
                <p:cNvPr id="123" name="직선 연결선 122">
                  <a:extLst>
                    <a:ext uri="{FF2B5EF4-FFF2-40B4-BE49-F238E27FC236}">
                      <a16:creationId xmlns:a16="http://schemas.microsoft.com/office/drawing/2014/main" id="{7DA62951-4037-4EB8-A3B0-474E9255FC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41011" y="5562600"/>
                  <a:ext cx="211802" cy="0"/>
                </a:xfrm>
                <a:prstGeom prst="line">
                  <a:avLst/>
                </a:prstGeom>
                <a:noFill/>
                <a:ln w="28575">
                  <a:solidFill>
                    <a:srgbClr val="F27037"/>
                  </a:solidFill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  <p:cxnSp>
              <p:nvCxnSpPr>
                <p:cNvPr id="108" name="직선 연결선 107">
                  <a:extLst>
                    <a:ext uri="{FF2B5EF4-FFF2-40B4-BE49-F238E27FC236}">
                      <a16:creationId xmlns:a16="http://schemas.microsoft.com/office/drawing/2014/main" id="{60F8FFF2-C55E-4DE9-89D7-897834864E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71470" y="5738580"/>
                  <a:ext cx="211802" cy="0"/>
                </a:xfrm>
                <a:prstGeom prst="line">
                  <a:avLst/>
                </a:prstGeom>
                <a:noFill/>
                <a:ln w="28575">
                  <a:solidFill>
                    <a:srgbClr val="F27037"/>
                  </a:solidFill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</p:grp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34F40164-F0AE-4EB9-BF30-0BA7F1E87B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70939" y="4650746"/>
                <a:ext cx="211802" cy="0"/>
              </a:xfrm>
              <a:prstGeom prst="line">
                <a:avLst/>
              </a:prstGeom>
              <a:noFill/>
              <a:ln w="28575">
                <a:solidFill>
                  <a:srgbClr val="F27037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</p:grpSp>
      </p:grpSp>
    </p:spTree>
    <p:extLst>
      <p:ext uri="{BB962C8B-B14F-4D97-AF65-F5344CB8AC3E}">
        <p14:creationId xmlns:p14="http://schemas.microsoft.com/office/powerpoint/2010/main" val="3407358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자유형: 도형 95">
            <a:extLst>
              <a:ext uri="{FF2B5EF4-FFF2-40B4-BE49-F238E27FC236}">
                <a16:creationId xmlns:a16="http://schemas.microsoft.com/office/drawing/2014/main" id="{323DC138-68F0-4037-923B-3274266C1CEE}"/>
              </a:ext>
            </a:extLst>
          </p:cNvPr>
          <p:cNvSpPr/>
          <p:nvPr/>
        </p:nvSpPr>
        <p:spPr>
          <a:xfrm>
            <a:off x="7335377" y="1666945"/>
            <a:ext cx="400468" cy="1735359"/>
          </a:xfrm>
          <a:custGeom>
            <a:avLst/>
            <a:gdLst>
              <a:gd name="connsiteX0" fmla="*/ 6675 w 400468"/>
              <a:gd name="connsiteY0" fmla="*/ 0 h 1668614"/>
              <a:gd name="connsiteX1" fmla="*/ 400468 w 400468"/>
              <a:gd name="connsiteY1" fmla="*/ 1668614 h 1668614"/>
              <a:gd name="connsiteX2" fmla="*/ 0 w 400468"/>
              <a:gd name="connsiteY2" fmla="*/ 1668614 h 1668614"/>
              <a:gd name="connsiteX3" fmla="*/ 6675 w 400468"/>
              <a:gd name="connsiteY3" fmla="*/ 0 h 16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468" h="1668614">
                <a:moveTo>
                  <a:pt x="6675" y="0"/>
                </a:moveTo>
                <a:lnTo>
                  <a:pt x="400468" y="1668614"/>
                </a:lnTo>
                <a:lnTo>
                  <a:pt x="0" y="1668614"/>
                </a:lnTo>
                <a:lnTo>
                  <a:pt x="6675" y="0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endParaRPr lang="ko-KR" altLang="en-US" sz="3200">
              <a:solidFill>
                <a:schemeClr val="tx1"/>
              </a:solidFill>
              <a:latin typeface="G마켓 산스 TTF Medium" panose="02000000000000000000" pitchFamily="2" charset="-127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A4B9549C-7151-4624-9626-9F8869324C2E}"/>
              </a:ext>
            </a:extLst>
          </p:cNvPr>
          <p:cNvGrpSpPr/>
          <p:nvPr/>
        </p:nvGrpSpPr>
        <p:grpSpPr>
          <a:xfrm>
            <a:off x="7402101" y="3044817"/>
            <a:ext cx="641058" cy="762961"/>
            <a:chOff x="6638988" y="4761278"/>
            <a:chExt cx="1023241" cy="1217823"/>
          </a:xfrm>
        </p:grpSpPr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273630AB-5EFA-4EA8-9F7A-7B445E9FC4F3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99" name="그림 98">
              <a:extLst>
                <a:ext uri="{FF2B5EF4-FFF2-40B4-BE49-F238E27FC236}">
                  <a16:creationId xmlns:a16="http://schemas.microsoft.com/office/drawing/2014/main" id="{00674FD5-649C-4407-8370-0680FD6B4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sp>
        <p:nvSpPr>
          <p:cNvPr id="100" name="자유형: 도형 99">
            <a:extLst>
              <a:ext uri="{FF2B5EF4-FFF2-40B4-BE49-F238E27FC236}">
                <a16:creationId xmlns:a16="http://schemas.microsoft.com/office/drawing/2014/main" id="{033799AE-9151-4238-B06E-1925AFC90A45}"/>
              </a:ext>
            </a:extLst>
          </p:cNvPr>
          <p:cNvSpPr/>
          <p:nvPr/>
        </p:nvSpPr>
        <p:spPr>
          <a:xfrm flipH="1">
            <a:off x="976142" y="1666945"/>
            <a:ext cx="400468" cy="1735359"/>
          </a:xfrm>
          <a:custGeom>
            <a:avLst/>
            <a:gdLst>
              <a:gd name="connsiteX0" fmla="*/ 6675 w 400468"/>
              <a:gd name="connsiteY0" fmla="*/ 0 h 1668614"/>
              <a:gd name="connsiteX1" fmla="*/ 400468 w 400468"/>
              <a:gd name="connsiteY1" fmla="*/ 1668614 h 1668614"/>
              <a:gd name="connsiteX2" fmla="*/ 0 w 400468"/>
              <a:gd name="connsiteY2" fmla="*/ 1668614 h 1668614"/>
              <a:gd name="connsiteX3" fmla="*/ 6675 w 400468"/>
              <a:gd name="connsiteY3" fmla="*/ 0 h 16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468" h="1668614">
                <a:moveTo>
                  <a:pt x="6675" y="0"/>
                </a:moveTo>
                <a:lnTo>
                  <a:pt x="400468" y="1668614"/>
                </a:lnTo>
                <a:lnTo>
                  <a:pt x="0" y="1668614"/>
                </a:lnTo>
                <a:lnTo>
                  <a:pt x="6675" y="0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endParaRPr lang="ko-KR" altLang="en-US" sz="3200">
              <a:solidFill>
                <a:schemeClr val="tx1"/>
              </a:solidFill>
              <a:latin typeface="G마켓 산스 TTF Medium" panose="02000000000000000000" pitchFamily="2" charset="-127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9C140E37-E6C6-4430-9783-899C404BA748}"/>
              </a:ext>
            </a:extLst>
          </p:cNvPr>
          <p:cNvGrpSpPr/>
          <p:nvPr/>
        </p:nvGrpSpPr>
        <p:grpSpPr>
          <a:xfrm>
            <a:off x="1353789" y="1431291"/>
            <a:ext cx="5974586" cy="3864509"/>
            <a:chOff x="861120" y="1052513"/>
            <a:chExt cx="7081769" cy="3864509"/>
          </a:xfrm>
        </p:grpSpPr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F780388D-2C86-4F5E-85A0-8EC0797F9D06}"/>
                </a:ext>
              </a:extLst>
            </p:cNvPr>
            <p:cNvGrpSpPr/>
            <p:nvPr/>
          </p:nvGrpSpPr>
          <p:grpSpPr>
            <a:xfrm>
              <a:off x="2960747" y="1052513"/>
              <a:ext cx="2394374" cy="1750176"/>
              <a:chOff x="3341587" y="2049779"/>
              <a:chExt cx="2394374" cy="1635989"/>
            </a:xfrm>
          </p:grpSpPr>
          <p:sp>
            <p:nvSpPr>
              <p:cNvPr id="140" name="Rectangle 228">
                <a:extLst>
                  <a:ext uri="{FF2B5EF4-FFF2-40B4-BE49-F238E27FC236}">
                    <a16:creationId xmlns:a16="http://schemas.microsoft.com/office/drawing/2014/main" id="{CFA706F2-5EC4-4992-A36A-F9F227BFCC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8080" y="2049779"/>
                <a:ext cx="2347881" cy="711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grpSp>
            <p:nvGrpSpPr>
              <p:cNvPr id="141" name="그룹 140">
                <a:extLst>
                  <a:ext uri="{FF2B5EF4-FFF2-40B4-BE49-F238E27FC236}">
                    <a16:creationId xmlns:a16="http://schemas.microsoft.com/office/drawing/2014/main" id="{5355570F-BE43-4D76-86C8-309BE88B2659}"/>
                  </a:ext>
                </a:extLst>
              </p:cNvPr>
              <p:cNvGrpSpPr/>
              <p:nvPr/>
            </p:nvGrpSpPr>
            <p:grpSpPr>
              <a:xfrm>
                <a:off x="3388080" y="2759391"/>
                <a:ext cx="2347881" cy="926377"/>
                <a:chOff x="1840640" y="4014790"/>
                <a:chExt cx="1159016" cy="782739"/>
              </a:xfrm>
            </p:grpSpPr>
            <p:sp>
              <p:nvSpPr>
                <p:cNvPr id="161" name="Rectangle 228">
                  <a:extLst>
                    <a:ext uri="{FF2B5EF4-FFF2-40B4-BE49-F238E27FC236}">
                      <a16:creationId xmlns:a16="http://schemas.microsoft.com/office/drawing/2014/main" id="{15D1D857-6CF5-48F9-BDB2-FFBD1E288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014790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transport</a:t>
                  </a:r>
                </a:p>
              </p:txBody>
            </p:sp>
            <p:sp>
              <p:nvSpPr>
                <p:cNvPr id="162" name="Rectangle 228">
                  <a:extLst>
                    <a:ext uri="{FF2B5EF4-FFF2-40B4-BE49-F238E27FC236}">
                      <a16:creationId xmlns:a16="http://schemas.microsoft.com/office/drawing/2014/main" id="{F5024DE7-F655-465A-8CDC-E8230DFEBA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210051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network</a:t>
                  </a:r>
                </a:p>
              </p:txBody>
            </p:sp>
            <p:sp>
              <p:nvSpPr>
                <p:cNvPr id="163" name="Rectangle 228">
                  <a:extLst>
                    <a:ext uri="{FF2B5EF4-FFF2-40B4-BE49-F238E27FC236}">
                      <a16:creationId xmlns:a16="http://schemas.microsoft.com/office/drawing/2014/main" id="{C18EC3DC-E9E1-43BF-9DC7-FC447C0E45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405314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link</a:t>
                  </a:r>
                </a:p>
              </p:txBody>
            </p:sp>
            <p:sp>
              <p:nvSpPr>
                <p:cNvPr id="164" name="Rectangle 228">
                  <a:extLst>
                    <a:ext uri="{FF2B5EF4-FFF2-40B4-BE49-F238E27FC236}">
                      <a16:creationId xmlns:a16="http://schemas.microsoft.com/office/drawing/2014/main" id="{D41F7C15-F1C8-47DE-BF3A-C7C67295BE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600576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physical</a:t>
                  </a:r>
                </a:p>
              </p:txBody>
            </p:sp>
          </p:grpSp>
          <p:sp>
            <p:nvSpPr>
              <p:cNvPr id="142" name="Text Box 26">
                <a:extLst>
                  <a:ext uri="{FF2B5EF4-FFF2-40B4-BE49-F238E27FC236}">
                    <a16:creationId xmlns:a16="http://schemas.microsoft.com/office/drawing/2014/main" id="{84406372-0761-4A65-9E9D-FCBBB144B9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41587" y="2064066"/>
                <a:ext cx="2366891" cy="2848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application</a:t>
                </a:r>
              </a:p>
            </p:txBody>
          </p:sp>
          <p:sp>
            <p:nvSpPr>
              <p:cNvPr id="144" name="Oval 57">
                <a:extLst>
                  <a:ext uri="{FF2B5EF4-FFF2-40B4-BE49-F238E27FC236}">
                    <a16:creationId xmlns:a16="http://schemas.microsoft.com/office/drawing/2014/main" id="{C3E18A86-C8C0-4BB1-97D6-355E2F1E1A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5850" y="2337241"/>
                <a:ext cx="1971423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P4</a:t>
                </a:r>
              </a:p>
            </p:txBody>
          </p:sp>
          <p:grpSp>
            <p:nvGrpSpPr>
              <p:cNvPr id="146" name="Group 58">
                <a:extLst>
                  <a:ext uri="{FF2B5EF4-FFF2-40B4-BE49-F238E27FC236}">
                    <a16:creationId xmlns:a16="http://schemas.microsoft.com/office/drawing/2014/main" id="{5D73B015-4B8C-4AEF-ABFD-4BC613A53C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95850" y="2577625"/>
                <a:ext cx="516391" cy="225425"/>
                <a:chOff x="1287" y="2524"/>
                <a:chExt cx="260" cy="100"/>
              </a:xfrm>
            </p:grpSpPr>
            <p:sp>
              <p:nvSpPr>
                <p:cNvPr id="157" name="Rectangle 59">
                  <a:extLst>
                    <a:ext uri="{FF2B5EF4-FFF2-40B4-BE49-F238E27FC236}">
                      <a16:creationId xmlns:a16="http://schemas.microsoft.com/office/drawing/2014/main" id="{E7ACC671-8F88-45CD-BBAF-82B37F3194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58" name="Rectangle 60">
                  <a:extLst>
                    <a:ext uri="{FF2B5EF4-FFF2-40B4-BE49-F238E27FC236}">
                      <a16:creationId xmlns:a16="http://schemas.microsoft.com/office/drawing/2014/main" id="{B6F2EF89-F363-4349-A44E-6575A33AC1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59" name="Rectangle 61">
                  <a:extLst>
                    <a:ext uri="{FF2B5EF4-FFF2-40B4-BE49-F238E27FC236}">
                      <a16:creationId xmlns:a16="http://schemas.microsoft.com/office/drawing/2014/main" id="{6A0F042D-321E-43EE-8216-37D2A397ED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60" name="Rectangle 62">
                  <a:extLst>
                    <a:ext uri="{FF2B5EF4-FFF2-40B4-BE49-F238E27FC236}">
                      <a16:creationId xmlns:a16="http://schemas.microsoft.com/office/drawing/2014/main" id="{217AB7D2-DB60-47A7-A61F-D36BBF2754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  <p:grpSp>
            <p:nvGrpSpPr>
              <p:cNvPr id="147" name="Group 58">
                <a:extLst>
                  <a:ext uri="{FF2B5EF4-FFF2-40B4-BE49-F238E27FC236}">
                    <a16:creationId xmlns:a16="http://schemas.microsoft.com/office/drawing/2014/main" id="{25DECB7E-C48E-4819-B402-108AE7BF6A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3366" y="2577625"/>
                <a:ext cx="516391" cy="225425"/>
                <a:chOff x="1287" y="2524"/>
                <a:chExt cx="260" cy="100"/>
              </a:xfrm>
            </p:grpSpPr>
            <p:sp>
              <p:nvSpPr>
                <p:cNvPr id="153" name="Rectangle 59">
                  <a:extLst>
                    <a:ext uri="{FF2B5EF4-FFF2-40B4-BE49-F238E27FC236}">
                      <a16:creationId xmlns:a16="http://schemas.microsoft.com/office/drawing/2014/main" id="{3F2093B7-3226-4ECB-B5A2-A5386A9081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54" name="Rectangle 60">
                  <a:extLst>
                    <a:ext uri="{FF2B5EF4-FFF2-40B4-BE49-F238E27FC236}">
                      <a16:creationId xmlns:a16="http://schemas.microsoft.com/office/drawing/2014/main" id="{9D35A029-C76D-4DF0-B7BD-768FC6B96C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55" name="Rectangle 61">
                  <a:extLst>
                    <a:ext uri="{FF2B5EF4-FFF2-40B4-BE49-F238E27FC236}">
                      <a16:creationId xmlns:a16="http://schemas.microsoft.com/office/drawing/2014/main" id="{340A57D5-6903-49E9-9B0D-EFC9893C7D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56" name="Rectangle 62">
                  <a:extLst>
                    <a:ext uri="{FF2B5EF4-FFF2-40B4-BE49-F238E27FC236}">
                      <a16:creationId xmlns:a16="http://schemas.microsoft.com/office/drawing/2014/main" id="{C540A7DF-1BA9-43FC-A823-22CDB30FAE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  <p:grpSp>
            <p:nvGrpSpPr>
              <p:cNvPr id="148" name="Group 58">
                <a:extLst>
                  <a:ext uri="{FF2B5EF4-FFF2-40B4-BE49-F238E27FC236}">
                    <a16:creationId xmlns:a16="http://schemas.microsoft.com/office/drawing/2014/main" id="{3996CCE4-E992-4927-830A-AE80793318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0882" y="2577625"/>
                <a:ext cx="516391" cy="225425"/>
                <a:chOff x="1287" y="2524"/>
                <a:chExt cx="260" cy="100"/>
              </a:xfrm>
            </p:grpSpPr>
            <p:sp>
              <p:nvSpPr>
                <p:cNvPr id="149" name="Rectangle 59">
                  <a:extLst>
                    <a:ext uri="{FF2B5EF4-FFF2-40B4-BE49-F238E27FC236}">
                      <a16:creationId xmlns:a16="http://schemas.microsoft.com/office/drawing/2014/main" id="{39480181-115A-442D-BDAB-8282236EFA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50" name="Rectangle 60">
                  <a:extLst>
                    <a:ext uri="{FF2B5EF4-FFF2-40B4-BE49-F238E27FC236}">
                      <a16:creationId xmlns:a16="http://schemas.microsoft.com/office/drawing/2014/main" id="{7C32492C-C401-4BF8-AFFB-B40D257D7A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51" name="Rectangle 61">
                  <a:extLst>
                    <a:ext uri="{FF2B5EF4-FFF2-40B4-BE49-F238E27FC236}">
                      <a16:creationId xmlns:a16="http://schemas.microsoft.com/office/drawing/2014/main" id="{590E3B8E-07E8-469B-82BC-916C1BBE33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52" name="Rectangle 62">
                  <a:extLst>
                    <a:ext uri="{FF2B5EF4-FFF2-40B4-BE49-F238E27FC236}">
                      <a16:creationId xmlns:a16="http://schemas.microsoft.com/office/drawing/2014/main" id="{FC8D45FA-90DC-4484-A4C3-8101BD526E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</p:grpSp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D28FC294-7F6A-47D4-B55B-1941B858254E}"/>
                </a:ext>
              </a:extLst>
            </p:cNvPr>
            <p:cNvGrpSpPr/>
            <p:nvPr/>
          </p:nvGrpSpPr>
          <p:grpSpPr>
            <a:xfrm>
              <a:off x="861120" y="1266095"/>
              <a:ext cx="1447740" cy="1750176"/>
              <a:chOff x="861120" y="2263361"/>
              <a:chExt cx="1447740" cy="1635989"/>
            </a:xfrm>
          </p:grpSpPr>
          <p:sp>
            <p:nvSpPr>
              <p:cNvPr id="127" name="Rectangle 228">
                <a:extLst>
                  <a:ext uri="{FF2B5EF4-FFF2-40B4-BE49-F238E27FC236}">
                    <a16:creationId xmlns:a16="http://schemas.microsoft.com/office/drawing/2014/main" id="{C64514C8-5783-4F56-B7A6-C6AEB7FCE8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232" y="2263361"/>
                <a:ext cx="1419628" cy="711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grpSp>
            <p:nvGrpSpPr>
              <p:cNvPr id="128" name="그룹 127">
                <a:extLst>
                  <a:ext uri="{FF2B5EF4-FFF2-40B4-BE49-F238E27FC236}">
                    <a16:creationId xmlns:a16="http://schemas.microsoft.com/office/drawing/2014/main" id="{823CAE64-E199-4150-AEDA-746ADF1E40AA}"/>
                  </a:ext>
                </a:extLst>
              </p:cNvPr>
              <p:cNvGrpSpPr/>
              <p:nvPr/>
            </p:nvGrpSpPr>
            <p:grpSpPr>
              <a:xfrm>
                <a:off x="889232" y="2972973"/>
                <a:ext cx="1419628" cy="926377"/>
                <a:chOff x="1840640" y="4014790"/>
                <a:chExt cx="1159016" cy="782739"/>
              </a:xfrm>
            </p:grpSpPr>
            <p:sp>
              <p:nvSpPr>
                <p:cNvPr id="136" name="Rectangle 228">
                  <a:extLst>
                    <a:ext uri="{FF2B5EF4-FFF2-40B4-BE49-F238E27FC236}">
                      <a16:creationId xmlns:a16="http://schemas.microsoft.com/office/drawing/2014/main" id="{A3D63C64-7D61-434D-8D3F-EEE181C894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014790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transport</a:t>
                  </a:r>
                </a:p>
              </p:txBody>
            </p:sp>
            <p:sp>
              <p:nvSpPr>
                <p:cNvPr id="137" name="Rectangle 228">
                  <a:extLst>
                    <a:ext uri="{FF2B5EF4-FFF2-40B4-BE49-F238E27FC236}">
                      <a16:creationId xmlns:a16="http://schemas.microsoft.com/office/drawing/2014/main" id="{0FCC65F5-B113-4EAA-A1C8-E242B70D21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210051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network</a:t>
                  </a:r>
                </a:p>
              </p:txBody>
            </p:sp>
            <p:sp>
              <p:nvSpPr>
                <p:cNvPr id="138" name="Rectangle 228">
                  <a:extLst>
                    <a:ext uri="{FF2B5EF4-FFF2-40B4-BE49-F238E27FC236}">
                      <a16:creationId xmlns:a16="http://schemas.microsoft.com/office/drawing/2014/main" id="{D668E10B-A438-473F-AD34-0131883ED5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405314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link</a:t>
                  </a:r>
                </a:p>
              </p:txBody>
            </p:sp>
            <p:sp>
              <p:nvSpPr>
                <p:cNvPr id="139" name="Rectangle 228">
                  <a:extLst>
                    <a:ext uri="{FF2B5EF4-FFF2-40B4-BE49-F238E27FC236}">
                      <a16:creationId xmlns:a16="http://schemas.microsoft.com/office/drawing/2014/main" id="{E31E140A-7DE1-4800-A548-302717B85D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600576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physical</a:t>
                  </a:r>
                </a:p>
              </p:txBody>
            </p:sp>
          </p:grpSp>
          <p:sp>
            <p:nvSpPr>
              <p:cNvPr id="129" name="Text Box 26">
                <a:extLst>
                  <a:ext uri="{FF2B5EF4-FFF2-40B4-BE49-F238E27FC236}">
                    <a16:creationId xmlns:a16="http://schemas.microsoft.com/office/drawing/2014/main" id="{C0B1C02A-9307-4237-B36F-276F6395E4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1120" y="2277648"/>
                <a:ext cx="1431122" cy="2848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application</a:t>
                </a:r>
              </a:p>
            </p:txBody>
          </p:sp>
          <p:sp>
            <p:nvSpPr>
              <p:cNvPr id="130" name="Oval 57">
                <a:extLst>
                  <a:ext uri="{FF2B5EF4-FFF2-40B4-BE49-F238E27FC236}">
                    <a16:creationId xmlns:a16="http://schemas.microsoft.com/office/drawing/2014/main" id="{16F479D9-DD1B-4AF7-B6EC-810D15729E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039" y="2550823"/>
                <a:ext cx="767506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P3</a:t>
                </a:r>
              </a:p>
            </p:txBody>
          </p:sp>
          <p:grpSp>
            <p:nvGrpSpPr>
              <p:cNvPr id="131" name="Group 58">
                <a:extLst>
                  <a:ext uri="{FF2B5EF4-FFF2-40B4-BE49-F238E27FC236}">
                    <a16:creationId xmlns:a16="http://schemas.microsoft.com/office/drawing/2014/main" id="{29EFC59D-F159-4A97-B6A9-4595476BA9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9597" y="2764509"/>
                <a:ext cx="516391" cy="225425"/>
                <a:chOff x="1287" y="2524"/>
                <a:chExt cx="260" cy="100"/>
              </a:xfrm>
            </p:grpSpPr>
            <p:sp>
              <p:nvSpPr>
                <p:cNvPr id="132" name="Rectangle 59">
                  <a:extLst>
                    <a:ext uri="{FF2B5EF4-FFF2-40B4-BE49-F238E27FC236}">
                      <a16:creationId xmlns:a16="http://schemas.microsoft.com/office/drawing/2014/main" id="{0CE568A6-3D33-4FBF-B988-5912A51485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33" name="Rectangle 60">
                  <a:extLst>
                    <a:ext uri="{FF2B5EF4-FFF2-40B4-BE49-F238E27FC236}">
                      <a16:creationId xmlns:a16="http://schemas.microsoft.com/office/drawing/2014/main" id="{E48CB629-6849-4481-AE21-09CCC7AA46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34" name="Rectangle 61">
                  <a:extLst>
                    <a:ext uri="{FF2B5EF4-FFF2-40B4-BE49-F238E27FC236}">
                      <a16:creationId xmlns:a16="http://schemas.microsoft.com/office/drawing/2014/main" id="{4EC054AF-2082-419F-9AB6-655EB55458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35" name="Rectangle 62">
                  <a:extLst>
                    <a:ext uri="{FF2B5EF4-FFF2-40B4-BE49-F238E27FC236}">
                      <a16:creationId xmlns:a16="http://schemas.microsoft.com/office/drawing/2014/main" id="{F1D6E24E-0576-4D45-B638-5DDCC774D8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A330E410-C6A4-43C1-9162-7B3432E2B19A}"/>
                </a:ext>
              </a:extLst>
            </p:cNvPr>
            <p:cNvGrpSpPr/>
            <p:nvPr/>
          </p:nvGrpSpPr>
          <p:grpSpPr>
            <a:xfrm>
              <a:off x="6007008" y="1266095"/>
              <a:ext cx="1935881" cy="1750176"/>
              <a:chOff x="6320707" y="2263361"/>
              <a:chExt cx="1935881" cy="1635989"/>
            </a:xfrm>
          </p:grpSpPr>
          <p:sp>
            <p:nvSpPr>
              <p:cNvPr id="108" name="Rectangle 228">
                <a:extLst>
                  <a:ext uri="{FF2B5EF4-FFF2-40B4-BE49-F238E27FC236}">
                    <a16:creationId xmlns:a16="http://schemas.microsoft.com/office/drawing/2014/main" id="{C4135BC2-CED8-439C-98C7-77E94FA9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8297" y="2263361"/>
                <a:ext cx="1898291" cy="711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B66919C1-891A-4AC4-9020-50C51593F232}"/>
                  </a:ext>
                </a:extLst>
              </p:cNvPr>
              <p:cNvGrpSpPr/>
              <p:nvPr/>
            </p:nvGrpSpPr>
            <p:grpSpPr>
              <a:xfrm>
                <a:off x="6358297" y="2972973"/>
                <a:ext cx="1898291" cy="926377"/>
                <a:chOff x="1840640" y="4014790"/>
                <a:chExt cx="1159016" cy="782739"/>
              </a:xfrm>
            </p:grpSpPr>
            <p:sp>
              <p:nvSpPr>
                <p:cNvPr id="123" name="Rectangle 228">
                  <a:extLst>
                    <a:ext uri="{FF2B5EF4-FFF2-40B4-BE49-F238E27FC236}">
                      <a16:creationId xmlns:a16="http://schemas.microsoft.com/office/drawing/2014/main" id="{A7DEDF5C-D630-4FC3-8A81-E5DBE14B44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014790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transport</a:t>
                  </a:r>
                </a:p>
              </p:txBody>
            </p:sp>
            <p:sp>
              <p:nvSpPr>
                <p:cNvPr id="124" name="Rectangle 228">
                  <a:extLst>
                    <a:ext uri="{FF2B5EF4-FFF2-40B4-BE49-F238E27FC236}">
                      <a16:creationId xmlns:a16="http://schemas.microsoft.com/office/drawing/2014/main" id="{D067CD81-0A40-4D6D-8802-DEBC714C95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210051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network</a:t>
                  </a:r>
                </a:p>
              </p:txBody>
            </p:sp>
            <p:sp>
              <p:nvSpPr>
                <p:cNvPr id="125" name="Rectangle 228">
                  <a:extLst>
                    <a:ext uri="{FF2B5EF4-FFF2-40B4-BE49-F238E27FC236}">
                      <a16:creationId xmlns:a16="http://schemas.microsoft.com/office/drawing/2014/main" id="{18178FD8-9808-409E-AD16-118F17E825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405314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link</a:t>
                  </a:r>
                </a:p>
              </p:txBody>
            </p:sp>
            <p:sp>
              <p:nvSpPr>
                <p:cNvPr id="126" name="Rectangle 228">
                  <a:extLst>
                    <a:ext uri="{FF2B5EF4-FFF2-40B4-BE49-F238E27FC236}">
                      <a16:creationId xmlns:a16="http://schemas.microsoft.com/office/drawing/2014/main" id="{E2C628C8-2282-47BB-8021-5F9E6A6B9A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600576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physical</a:t>
                  </a:r>
                </a:p>
              </p:txBody>
            </p:sp>
          </p:grpSp>
          <p:sp>
            <p:nvSpPr>
              <p:cNvPr id="110" name="Text Box 26">
                <a:extLst>
                  <a:ext uri="{FF2B5EF4-FFF2-40B4-BE49-F238E27FC236}">
                    <a16:creationId xmlns:a16="http://schemas.microsoft.com/office/drawing/2014/main" id="{939C160F-C844-440C-A58E-C4AF90DA22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0707" y="2277648"/>
                <a:ext cx="1913660" cy="2848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application</a:t>
                </a:r>
              </a:p>
            </p:txBody>
          </p:sp>
          <p:sp>
            <p:nvSpPr>
              <p:cNvPr id="111" name="Oval 57">
                <a:extLst>
                  <a:ext uri="{FF2B5EF4-FFF2-40B4-BE49-F238E27FC236}">
                    <a16:creationId xmlns:a16="http://schemas.microsoft.com/office/drawing/2014/main" id="{295B259F-67BC-4790-96AA-CD2AFF2D93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6041" y="2550823"/>
                <a:ext cx="820101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P2</a:t>
                </a:r>
              </a:p>
            </p:txBody>
          </p:sp>
          <p:sp>
            <p:nvSpPr>
              <p:cNvPr id="112" name="Oval 57">
                <a:extLst>
                  <a:ext uri="{FF2B5EF4-FFF2-40B4-BE49-F238E27FC236}">
                    <a16:creationId xmlns:a16="http://schemas.microsoft.com/office/drawing/2014/main" id="{197D41A2-CBAB-4CA2-87BE-CF182B4C8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44032" y="2550823"/>
                <a:ext cx="820101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P3</a:t>
                </a:r>
              </a:p>
            </p:txBody>
          </p:sp>
          <p:grpSp>
            <p:nvGrpSpPr>
              <p:cNvPr id="113" name="Group 58">
                <a:extLst>
                  <a:ext uri="{FF2B5EF4-FFF2-40B4-BE49-F238E27FC236}">
                    <a16:creationId xmlns:a16="http://schemas.microsoft.com/office/drawing/2014/main" id="{D9A5D486-55F3-4A5A-815F-EAC611DC20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26052" y="2777858"/>
                <a:ext cx="516391" cy="225425"/>
                <a:chOff x="1287" y="2524"/>
                <a:chExt cx="260" cy="100"/>
              </a:xfrm>
            </p:grpSpPr>
            <p:sp>
              <p:nvSpPr>
                <p:cNvPr id="119" name="Rectangle 59">
                  <a:extLst>
                    <a:ext uri="{FF2B5EF4-FFF2-40B4-BE49-F238E27FC236}">
                      <a16:creationId xmlns:a16="http://schemas.microsoft.com/office/drawing/2014/main" id="{7593E65F-7FF1-4DEC-9867-10070AD0D0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20" name="Rectangle 60">
                  <a:extLst>
                    <a:ext uri="{FF2B5EF4-FFF2-40B4-BE49-F238E27FC236}">
                      <a16:creationId xmlns:a16="http://schemas.microsoft.com/office/drawing/2014/main" id="{0F5DDCC2-5EB5-42F3-A326-4F4C5FCA28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21" name="Rectangle 61">
                  <a:extLst>
                    <a:ext uri="{FF2B5EF4-FFF2-40B4-BE49-F238E27FC236}">
                      <a16:creationId xmlns:a16="http://schemas.microsoft.com/office/drawing/2014/main" id="{F43996E0-337E-433F-8633-DF64F2A1DA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22" name="Rectangle 62">
                  <a:extLst>
                    <a:ext uri="{FF2B5EF4-FFF2-40B4-BE49-F238E27FC236}">
                      <a16:creationId xmlns:a16="http://schemas.microsoft.com/office/drawing/2014/main" id="{43234397-AD90-477B-A55D-E558E28217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  <p:grpSp>
            <p:nvGrpSpPr>
              <p:cNvPr id="114" name="Group 58">
                <a:extLst>
                  <a:ext uri="{FF2B5EF4-FFF2-40B4-BE49-F238E27FC236}">
                    <a16:creationId xmlns:a16="http://schemas.microsoft.com/office/drawing/2014/main" id="{28F5B84C-8206-4CB3-BC37-02469BC7CD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80383" y="2777858"/>
                <a:ext cx="516391" cy="225425"/>
                <a:chOff x="1287" y="2524"/>
                <a:chExt cx="260" cy="100"/>
              </a:xfrm>
            </p:grpSpPr>
            <p:sp>
              <p:nvSpPr>
                <p:cNvPr id="115" name="Rectangle 59">
                  <a:extLst>
                    <a:ext uri="{FF2B5EF4-FFF2-40B4-BE49-F238E27FC236}">
                      <a16:creationId xmlns:a16="http://schemas.microsoft.com/office/drawing/2014/main" id="{FE97B865-32C3-4B72-BAB9-068C0FD5F5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16" name="Rectangle 60">
                  <a:extLst>
                    <a:ext uri="{FF2B5EF4-FFF2-40B4-BE49-F238E27FC236}">
                      <a16:creationId xmlns:a16="http://schemas.microsoft.com/office/drawing/2014/main" id="{10BA5514-C809-48F5-9189-DFAD6B97BB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17" name="Rectangle 61">
                  <a:extLst>
                    <a:ext uri="{FF2B5EF4-FFF2-40B4-BE49-F238E27FC236}">
                      <a16:creationId xmlns:a16="http://schemas.microsoft.com/office/drawing/2014/main" id="{D0A24B06-15E6-4BB7-AF67-1DC2B67735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18" name="Rectangle 62">
                  <a:extLst>
                    <a:ext uri="{FF2B5EF4-FFF2-40B4-BE49-F238E27FC236}">
                      <a16:creationId xmlns:a16="http://schemas.microsoft.com/office/drawing/2014/main" id="{E57346AD-A8D3-42F5-B019-EE8759BFA6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</p:grpSp>
        <p:sp>
          <p:nvSpPr>
            <p:cNvPr id="105" name="자유형: 도형 104">
              <a:extLst>
                <a:ext uri="{FF2B5EF4-FFF2-40B4-BE49-F238E27FC236}">
                  <a16:creationId xmlns:a16="http://schemas.microsoft.com/office/drawing/2014/main" id="{37259FA4-0A7F-4733-9083-56D1533C4BC8}"/>
                </a:ext>
              </a:extLst>
            </p:cNvPr>
            <p:cNvSpPr/>
            <p:nvPr/>
          </p:nvSpPr>
          <p:spPr>
            <a:xfrm>
              <a:off x="4231603" y="1686587"/>
              <a:ext cx="3197063" cy="3230435"/>
            </a:xfrm>
            <a:custGeom>
              <a:avLst/>
              <a:gdLst>
                <a:gd name="connsiteX0" fmla="*/ 0 w 3243784"/>
                <a:gd name="connsiteY0" fmla="*/ 0 h 3230435"/>
                <a:gd name="connsiteX1" fmla="*/ 0 w 3243784"/>
                <a:gd name="connsiteY1" fmla="*/ 3230435 h 3230435"/>
                <a:gd name="connsiteX2" fmla="*/ 3243784 w 3243784"/>
                <a:gd name="connsiteY2" fmla="*/ 3230435 h 3230435"/>
                <a:gd name="connsiteX3" fmla="*/ 3243784 w 3243784"/>
                <a:gd name="connsiteY3" fmla="*/ 246955 h 3230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784" h="3230435">
                  <a:moveTo>
                    <a:pt x="0" y="0"/>
                  </a:moveTo>
                  <a:lnTo>
                    <a:pt x="0" y="3230435"/>
                  </a:lnTo>
                  <a:lnTo>
                    <a:pt x="3243784" y="3230435"/>
                  </a:lnTo>
                  <a:lnTo>
                    <a:pt x="3243784" y="246955"/>
                  </a:lnTo>
                </a:path>
              </a:pathLst>
            </a:custGeom>
            <a:noFill/>
            <a:ln w="28575">
              <a:solidFill>
                <a:srgbClr val="F27037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75C18FBB-3496-46D3-8D17-E6C6A3D06CA2}"/>
                </a:ext>
              </a:extLst>
            </p:cNvPr>
            <p:cNvSpPr/>
            <p:nvPr/>
          </p:nvSpPr>
          <p:spPr>
            <a:xfrm>
              <a:off x="4925746" y="1706609"/>
              <a:ext cx="1635241" cy="2084480"/>
            </a:xfrm>
            <a:custGeom>
              <a:avLst/>
              <a:gdLst>
                <a:gd name="connsiteX0" fmla="*/ 0 w 1842149"/>
                <a:gd name="connsiteY0" fmla="*/ 0 h 2329384"/>
                <a:gd name="connsiteX1" fmla="*/ 0 w 1842149"/>
                <a:gd name="connsiteY1" fmla="*/ 2329384 h 2329384"/>
                <a:gd name="connsiteX2" fmla="*/ 1842149 w 1842149"/>
                <a:gd name="connsiteY2" fmla="*/ 2329384 h 2329384"/>
                <a:gd name="connsiteX3" fmla="*/ 1842149 w 1842149"/>
                <a:gd name="connsiteY3" fmla="*/ 233606 h 2329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2149" h="2329384">
                  <a:moveTo>
                    <a:pt x="0" y="0"/>
                  </a:moveTo>
                  <a:lnTo>
                    <a:pt x="0" y="2329384"/>
                  </a:lnTo>
                  <a:lnTo>
                    <a:pt x="1842149" y="2329384"/>
                  </a:lnTo>
                  <a:lnTo>
                    <a:pt x="1842149" y="233606"/>
                  </a:lnTo>
                </a:path>
              </a:pathLst>
            </a:custGeom>
            <a:noFill/>
            <a:ln w="28575">
              <a:solidFill>
                <a:srgbClr val="F27037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456024B1-D5AA-42B2-AF5A-45D0E022067F}"/>
                </a:ext>
              </a:extLst>
            </p:cNvPr>
            <p:cNvSpPr/>
            <p:nvPr/>
          </p:nvSpPr>
          <p:spPr>
            <a:xfrm>
              <a:off x="1615218" y="1746654"/>
              <a:ext cx="2082429" cy="2603037"/>
            </a:xfrm>
            <a:custGeom>
              <a:avLst/>
              <a:gdLst>
                <a:gd name="connsiteX0" fmla="*/ 0 w 2109127"/>
                <a:gd name="connsiteY0" fmla="*/ 166861 h 2576339"/>
                <a:gd name="connsiteX1" fmla="*/ 0 w 2109127"/>
                <a:gd name="connsiteY1" fmla="*/ 2576339 h 2576339"/>
                <a:gd name="connsiteX2" fmla="*/ 2109127 w 2109127"/>
                <a:gd name="connsiteY2" fmla="*/ 2576339 h 2576339"/>
                <a:gd name="connsiteX3" fmla="*/ 2109127 w 2109127"/>
                <a:gd name="connsiteY3" fmla="*/ 186885 h 2576339"/>
                <a:gd name="connsiteX4" fmla="*/ 1882195 w 2109127"/>
                <a:gd name="connsiteY4" fmla="*/ 0 h 2576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9127" h="2576339">
                  <a:moveTo>
                    <a:pt x="0" y="166861"/>
                  </a:moveTo>
                  <a:lnTo>
                    <a:pt x="0" y="2576339"/>
                  </a:lnTo>
                  <a:lnTo>
                    <a:pt x="2109127" y="2576339"/>
                  </a:lnTo>
                  <a:lnTo>
                    <a:pt x="2109127" y="186885"/>
                  </a:lnTo>
                  <a:lnTo>
                    <a:pt x="1882195" y="0"/>
                  </a:lnTo>
                </a:path>
              </a:pathLst>
            </a:custGeom>
            <a:noFill/>
            <a:ln w="28575">
              <a:solidFill>
                <a:srgbClr val="F27037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5" name="Group 196">
            <a:extLst>
              <a:ext uri="{FF2B5EF4-FFF2-40B4-BE49-F238E27FC236}">
                <a16:creationId xmlns:a16="http://schemas.microsoft.com/office/drawing/2014/main" id="{93A14E42-F9EC-43BC-A4BE-200E56C4EA8D}"/>
              </a:ext>
            </a:extLst>
          </p:cNvPr>
          <p:cNvGrpSpPr>
            <a:grpSpLocks/>
          </p:cNvGrpSpPr>
          <p:nvPr/>
        </p:nvGrpSpPr>
        <p:grpSpPr bwMode="auto">
          <a:xfrm>
            <a:off x="1661650" y="4816366"/>
            <a:ext cx="2029632" cy="765176"/>
            <a:chOff x="951" y="3697"/>
            <a:chExt cx="1403" cy="482"/>
          </a:xfrm>
        </p:grpSpPr>
        <p:sp>
          <p:nvSpPr>
            <p:cNvPr id="166" name="Rectangle 193">
              <a:extLst>
                <a:ext uri="{FF2B5EF4-FFF2-40B4-BE49-F238E27FC236}">
                  <a16:creationId xmlns:a16="http://schemas.microsoft.com/office/drawing/2014/main" id="{F684BDD2-5450-4C6A-9DF9-03403AD85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67" name="Line 194">
              <a:extLst>
                <a:ext uri="{FF2B5EF4-FFF2-40B4-BE49-F238E27FC236}">
                  <a16:creationId xmlns:a16="http://schemas.microsoft.com/office/drawing/2014/main" id="{D3E64198-2633-4340-B596-24EABBDFF5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68" name="Text Box 195">
              <a:extLst>
                <a:ext uri="{FF2B5EF4-FFF2-40B4-BE49-F238E27FC236}">
                  <a16:creationId xmlns:a16="http://schemas.microsoft.com/office/drawing/2014/main" id="{6A2005B8-883E-4080-9C12-D707FA4C38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1" y="3851"/>
              <a:ext cx="1304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IP, port : A,9157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IP, port : B,80</a:t>
              </a:r>
            </a:p>
          </p:txBody>
        </p:sp>
      </p:grpSp>
      <p:grpSp>
        <p:nvGrpSpPr>
          <p:cNvPr id="169" name="Group 80">
            <a:extLst>
              <a:ext uri="{FF2B5EF4-FFF2-40B4-BE49-F238E27FC236}">
                <a16:creationId xmlns:a16="http://schemas.microsoft.com/office/drawing/2014/main" id="{6375E6DF-7839-461F-B8CB-4582A795EC96}"/>
              </a:ext>
            </a:extLst>
          </p:cNvPr>
          <p:cNvGrpSpPr>
            <a:grpSpLocks/>
          </p:cNvGrpSpPr>
          <p:nvPr/>
        </p:nvGrpSpPr>
        <p:grpSpPr bwMode="auto">
          <a:xfrm>
            <a:off x="2007705" y="3930953"/>
            <a:ext cx="1805407" cy="719138"/>
            <a:chOff x="2741" y="3750"/>
            <a:chExt cx="1248" cy="453"/>
          </a:xfrm>
        </p:grpSpPr>
        <p:sp>
          <p:nvSpPr>
            <p:cNvPr id="170" name="Rectangle 81">
              <a:extLst>
                <a:ext uri="{FF2B5EF4-FFF2-40B4-BE49-F238E27FC236}">
                  <a16:creationId xmlns:a16="http://schemas.microsoft.com/office/drawing/2014/main" id="{CFBA3F9B-D9D5-4305-BB0C-40DB1A097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  <a:buChar char="§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71" name="Line 82">
              <a:extLst>
                <a:ext uri="{FF2B5EF4-FFF2-40B4-BE49-F238E27FC236}">
                  <a16:creationId xmlns:a16="http://schemas.microsoft.com/office/drawing/2014/main" id="{9DBE45DB-E2F8-497C-B40F-F1A8E5F8C0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19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72" name="Text Box 83">
              <a:extLst>
                <a:ext uri="{FF2B5EF4-FFF2-40B4-BE49-F238E27FC236}">
                  <a16:creationId xmlns:a16="http://schemas.microsoft.com/office/drawing/2014/main" id="{5A68AB30-027B-4E70-9B81-76A16D94BC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4" y="3875"/>
              <a:ext cx="119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IP, port : B,80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IP, port : A,9157</a:t>
              </a:r>
            </a:p>
          </p:txBody>
        </p:sp>
      </p:grpSp>
      <p:grpSp>
        <p:nvGrpSpPr>
          <p:cNvPr id="173" name="Group 80">
            <a:extLst>
              <a:ext uri="{FF2B5EF4-FFF2-40B4-BE49-F238E27FC236}">
                <a16:creationId xmlns:a16="http://schemas.microsoft.com/office/drawing/2014/main" id="{7BA81B60-C52A-49C4-9047-D84710E45681}"/>
              </a:ext>
            </a:extLst>
          </p:cNvPr>
          <p:cNvGrpSpPr>
            <a:grpSpLocks/>
          </p:cNvGrpSpPr>
          <p:nvPr/>
        </p:nvGrpSpPr>
        <p:grpSpPr bwMode="auto">
          <a:xfrm>
            <a:off x="4819939" y="3877557"/>
            <a:ext cx="2005040" cy="814388"/>
            <a:chOff x="2741" y="3750"/>
            <a:chExt cx="1386" cy="513"/>
          </a:xfrm>
        </p:grpSpPr>
        <p:sp>
          <p:nvSpPr>
            <p:cNvPr id="174" name="Rectangle 81">
              <a:extLst>
                <a:ext uri="{FF2B5EF4-FFF2-40B4-BE49-F238E27FC236}">
                  <a16:creationId xmlns:a16="http://schemas.microsoft.com/office/drawing/2014/main" id="{A25B00FD-8113-4D40-8DC3-2E758B7CB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  <a:buChar char="§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75" name="Line 82">
              <a:extLst>
                <a:ext uri="{FF2B5EF4-FFF2-40B4-BE49-F238E27FC236}">
                  <a16:creationId xmlns:a16="http://schemas.microsoft.com/office/drawing/2014/main" id="{B7E6EA51-0F09-4FB4-A99E-FF087F9DF7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19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76" name="Text Box 83">
              <a:extLst>
                <a:ext uri="{FF2B5EF4-FFF2-40B4-BE49-F238E27FC236}">
                  <a16:creationId xmlns:a16="http://schemas.microsoft.com/office/drawing/2014/main" id="{F34A8A1A-428C-4782-BE7C-4656913CF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5" y="3935"/>
              <a:ext cx="1312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IP, port : C,5775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IP, port : B,80</a:t>
              </a:r>
            </a:p>
          </p:txBody>
        </p:sp>
      </p:grpSp>
      <p:grpSp>
        <p:nvGrpSpPr>
          <p:cNvPr id="177" name="Group 80">
            <a:extLst>
              <a:ext uri="{FF2B5EF4-FFF2-40B4-BE49-F238E27FC236}">
                <a16:creationId xmlns:a16="http://schemas.microsoft.com/office/drawing/2014/main" id="{7EC1091A-A948-4D52-BC96-C6CA20887EED}"/>
              </a:ext>
            </a:extLst>
          </p:cNvPr>
          <p:cNvGrpSpPr>
            <a:grpSpLocks/>
          </p:cNvGrpSpPr>
          <p:nvPr/>
        </p:nvGrpSpPr>
        <p:grpSpPr bwMode="auto">
          <a:xfrm>
            <a:off x="4819940" y="4998871"/>
            <a:ext cx="2003594" cy="787401"/>
            <a:chOff x="2741" y="3750"/>
            <a:chExt cx="1385" cy="496"/>
          </a:xfrm>
        </p:grpSpPr>
        <p:sp>
          <p:nvSpPr>
            <p:cNvPr id="178" name="Rectangle 81">
              <a:extLst>
                <a:ext uri="{FF2B5EF4-FFF2-40B4-BE49-F238E27FC236}">
                  <a16:creationId xmlns:a16="http://schemas.microsoft.com/office/drawing/2014/main" id="{91F5C1D2-FA74-4F23-8741-4C0A17128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  <a:buChar char="§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79" name="Line 82">
              <a:extLst>
                <a:ext uri="{FF2B5EF4-FFF2-40B4-BE49-F238E27FC236}">
                  <a16:creationId xmlns:a16="http://schemas.microsoft.com/office/drawing/2014/main" id="{0FF98272-F8D1-4B86-AB20-D15E5DE1ED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19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80" name="Text Box 83">
              <a:extLst>
                <a:ext uri="{FF2B5EF4-FFF2-40B4-BE49-F238E27FC236}">
                  <a16:creationId xmlns:a16="http://schemas.microsoft.com/office/drawing/2014/main" id="{C2DE8FAD-8FDC-47E1-9A8B-5C03F0546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5" y="3918"/>
              <a:ext cx="1311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IP, port : C,9157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IP, port : B,80</a:t>
              </a:r>
            </a:p>
          </p:txBody>
        </p:sp>
      </p:grpSp>
      <p:sp>
        <p:nvSpPr>
          <p:cNvPr id="181" name="Text Box 160">
            <a:extLst>
              <a:ext uri="{FF2B5EF4-FFF2-40B4-BE49-F238E27FC236}">
                <a16:creationId xmlns:a16="http://schemas.microsoft.com/office/drawing/2014/main" id="{66111B28-AF76-4E35-94FA-D6CDA32A123F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772389" y="3179776"/>
            <a:ext cx="1045919" cy="520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server : IP address B</a:t>
            </a:r>
          </a:p>
        </p:txBody>
      </p: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4CFB25B5-BE07-4F4A-8A00-E219B1AAD1D0}"/>
              </a:ext>
            </a:extLst>
          </p:cNvPr>
          <p:cNvGrpSpPr/>
          <p:nvPr/>
        </p:nvGrpSpPr>
        <p:grpSpPr>
          <a:xfrm>
            <a:off x="658813" y="3044817"/>
            <a:ext cx="641058" cy="762961"/>
            <a:chOff x="6638988" y="4761278"/>
            <a:chExt cx="1023241" cy="1217823"/>
          </a:xfrm>
        </p:grpSpPr>
        <p:sp>
          <p:nvSpPr>
            <p:cNvPr id="183" name="타원 182">
              <a:extLst>
                <a:ext uri="{FF2B5EF4-FFF2-40B4-BE49-F238E27FC236}">
                  <a16:creationId xmlns:a16="http://schemas.microsoft.com/office/drawing/2014/main" id="{3DCFF6C6-A675-433C-BC07-C3A12327962F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4" name="그림 183">
              <a:extLst>
                <a:ext uri="{FF2B5EF4-FFF2-40B4-BE49-F238E27FC236}">
                  <a16:creationId xmlns:a16="http://schemas.microsoft.com/office/drawing/2014/main" id="{D76C9117-565C-48E5-BC85-DBBBE11C4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sp>
        <p:nvSpPr>
          <p:cNvPr id="185" name="Text Box 93">
            <a:extLst>
              <a:ext uri="{FF2B5EF4-FFF2-40B4-BE49-F238E27FC236}">
                <a16:creationId xmlns:a16="http://schemas.microsoft.com/office/drawing/2014/main" id="{99D0C361-E925-497D-9D9A-E1CC0BF4F24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34950" y="3852863"/>
            <a:ext cx="1147763" cy="520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host : IP address A</a:t>
            </a:r>
          </a:p>
        </p:txBody>
      </p:sp>
      <p:sp>
        <p:nvSpPr>
          <p:cNvPr id="186" name="Text Box 94">
            <a:extLst>
              <a:ext uri="{FF2B5EF4-FFF2-40B4-BE49-F238E27FC236}">
                <a16:creationId xmlns:a16="http://schemas.microsoft.com/office/drawing/2014/main" id="{D5FD8A22-7F18-4268-AEB6-F00174318F12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356475" y="3852863"/>
            <a:ext cx="1147763" cy="520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host : IP address C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연결 지향형 </a:t>
            </a:r>
            <a:r>
              <a:rPr lang="ko-KR" altLang="en-US" dirty="0" err="1"/>
              <a:t>역다중화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예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93" name="Text Box 101">
            <a:extLst>
              <a:ext uri="{FF2B5EF4-FFF2-40B4-BE49-F238E27FC236}">
                <a16:creationId xmlns:a16="http://schemas.microsoft.com/office/drawing/2014/main" id="{FA52DD85-6FEF-4BFC-956D-173652CB7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1965" y="991365"/>
            <a:ext cx="1420709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Thread 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방식 서버</a:t>
            </a: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94" name="Line 102">
            <a:extLst>
              <a:ext uri="{FF2B5EF4-FFF2-40B4-BE49-F238E27FC236}">
                <a16:creationId xmlns:a16="http://schemas.microsoft.com/office/drawing/2014/main" id="{21E25E63-0A1F-4469-82A4-A60F1F3AD3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59822" y="1115597"/>
            <a:ext cx="0" cy="637004"/>
          </a:xfrm>
          <a:prstGeom prst="line">
            <a:avLst/>
          </a:prstGeom>
          <a:noFill/>
          <a:ln w="12700">
            <a:solidFill>
              <a:srgbClr val="F27037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605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0309E-60DA-4D31-A618-EDE08AF6A6FE}"/>
              </a:ext>
            </a:extLst>
          </p:cNvPr>
          <p:cNvSpPr txBox="1"/>
          <p:nvPr/>
        </p:nvSpPr>
        <p:spPr>
          <a:xfrm>
            <a:off x="1419224" y="1642686"/>
            <a:ext cx="6929719" cy="2050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6E894-EE75-4324-A418-CC2030ECF3DF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AE1AC8F-7738-4645-897B-F1D56F5E79BF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8" name="사각형: 잘린 한쪽 모서리 7">
              <a:extLst>
                <a:ext uri="{FF2B5EF4-FFF2-40B4-BE49-F238E27FC236}">
                  <a16:creationId xmlns:a16="http://schemas.microsoft.com/office/drawing/2014/main" id="{43006DD9-2EA3-4305-8C90-B372C653CB7B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9" name="텍스트 개체 틀 19">
              <a:extLst>
                <a:ext uri="{FF2B5EF4-FFF2-40B4-BE49-F238E27FC236}">
                  <a16:creationId xmlns:a16="http://schemas.microsoft.com/office/drawing/2014/main" id="{0A440FB5-94C3-43E2-A600-EBE86EEA1FB4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D064E4B-2854-4245-83A9-27E885551C35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8577B86F-681B-4747-BD8D-9D43E797B8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3BB9748-F709-442C-98A5-AE758077B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440800F-61B8-4E81-A438-A97D8431E7C9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4FE9B76B-D0AE-4FCD-9549-732E713BF59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EBBA927-E2CE-4470-BAF0-E3D46616238F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131444A1-64E2-494E-AE19-BF80FE77950D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17" name="그래픽 40">
                <a:extLst>
                  <a:ext uri="{FF2B5EF4-FFF2-40B4-BE49-F238E27FC236}">
                    <a16:creationId xmlns:a16="http://schemas.microsoft.com/office/drawing/2014/main" id="{13D1003A-9E21-4A4A-AB93-7D7F89D552B9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8EC5032-E92A-45CA-8B2F-FB2EEC6576B5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6D6BF4BC-12E0-4652-95D0-FEB639786AC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신뢰적인 데이터 전달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4F3E90F5-7AD9-4E60-986D-72D5E39D0867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4722CA1D-E2F7-4582-A614-BC49E69C42F0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2" name="그래픽 40">
                <a:extLst>
                  <a:ext uri="{FF2B5EF4-FFF2-40B4-BE49-F238E27FC236}">
                    <a16:creationId xmlns:a16="http://schemas.microsoft.com/office/drawing/2014/main" id="{E6DB63C2-5AB1-401D-AF64-09E7805BB5A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54A8254-8954-4785-8F7F-D5FCB09591FF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745D6B03-A635-4B67-8419-9E45C39EC31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흐름 제어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CFFD8DCC-296B-47B5-8245-5D420D48B8B6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8162E03D-FB0C-43CC-A847-DBAFB901884E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7" name="그래픽 40">
                <a:extLst>
                  <a:ext uri="{FF2B5EF4-FFF2-40B4-BE49-F238E27FC236}">
                    <a16:creationId xmlns:a16="http://schemas.microsoft.com/office/drawing/2014/main" id="{6CF1E9D5-F9EE-4CED-950A-86332545FCC4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D22EC5E-52B4-4FCD-B617-59B53E1E9FF9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E02F327F-79F8-4AF8-9E98-02BAA017F1B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 관리</a:t>
              </a: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9DBF1BDE-369D-4B19-B0D3-49557B1840D2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ECEF3B63-C4C2-4561-97F9-65F26D64C106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2" name="그래픽 40">
                <a:extLst>
                  <a:ext uri="{FF2B5EF4-FFF2-40B4-BE49-F238E27FC236}">
                    <a16:creationId xmlns:a16="http://schemas.microsoft.com/office/drawing/2014/main" id="{D474FD95-08A6-4B57-AA6D-B1B0E98E99A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2478C27-05E5-4C70-A8DB-C8B52A1AB0D7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2A0163-0D25-45DA-B5F2-5389EFE96EC7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54471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altLang="ko-KR" dirty="0"/>
              <a:t>UDP </a:t>
            </a:r>
            <a:r>
              <a:rPr lang="pt-BR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pt-BR" altLang="ko-KR" dirty="0"/>
              <a:t> </a:t>
            </a:r>
            <a:r>
              <a:rPr lang="pt-BR" altLang="ko-KR" dirty="0">
                <a:solidFill>
                  <a:schemeClr val="bg1"/>
                </a:solidFill>
              </a:rPr>
              <a:t>User Datagram </a:t>
            </a:r>
            <a:r>
              <a:rPr lang="pt-BR" altLang="ko-KR">
                <a:solidFill>
                  <a:schemeClr val="bg1"/>
                </a:solidFill>
              </a:rPr>
              <a:t>Protocol </a:t>
            </a:r>
            <a:r>
              <a:rPr lang="pt-BR" altLang="ko-KR" sz="16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[</a:t>
            </a:r>
            <a:r>
              <a:rPr lang="pt-BR" altLang="ko-KR" sz="16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RFC 768]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52D5355-6623-498A-802F-59273BD05448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700808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“최선형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(best effort)”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서비스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 UDP segment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는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A1F7AB5-61BA-46B8-B81B-44FF95D20702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103010"/>
            <a:ext cx="6511212" cy="64286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사라지거나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순서가 바뀌어 전달될 수 있다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460D3C6-3EEC-4AD9-9747-1F8939533791}"/>
              </a:ext>
            </a:extLst>
          </p:cNvPr>
          <p:cNvGrpSpPr/>
          <p:nvPr/>
        </p:nvGrpSpPr>
        <p:grpSpPr>
          <a:xfrm>
            <a:off x="670135" y="1052513"/>
            <a:ext cx="465246" cy="554405"/>
            <a:chOff x="670135" y="1052513"/>
            <a:chExt cx="465246" cy="554405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13DB0628-C61B-439E-ACDF-8370E8D2829A}"/>
                </a:ext>
              </a:extLst>
            </p:cNvPr>
            <p:cNvSpPr/>
            <p:nvPr/>
          </p:nvSpPr>
          <p:spPr>
            <a:xfrm>
              <a:off x="752639" y="1528220"/>
              <a:ext cx="293072" cy="78698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2" name="그래픽 8">
              <a:extLst>
                <a:ext uri="{FF2B5EF4-FFF2-40B4-BE49-F238E27FC236}">
                  <a16:creationId xmlns:a16="http://schemas.microsoft.com/office/drawing/2014/main" id="{1D61C7CE-0E6F-425A-8B8F-6F0F3B5308DA}"/>
                </a:ext>
              </a:extLst>
            </p:cNvPr>
            <p:cNvSpPr/>
            <p:nvPr/>
          </p:nvSpPr>
          <p:spPr>
            <a:xfrm rot="5400000">
              <a:off x="640221" y="1082427"/>
              <a:ext cx="525073" cy="465246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C99A7AF-F4EE-490B-AF94-6401EDE1A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/>
          </p:blipFill>
          <p:spPr>
            <a:xfrm>
              <a:off x="725477" y="1223814"/>
              <a:ext cx="350395" cy="202966"/>
            </a:xfrm>
            <a:prstGeom prst="rect">
              <a:avLst/>
            </a:prstGeom>
          </p:spPr>
        </p:pic>
      </p:grpSp>
      <p:sp>
        <p:nvSpPr>
          <p:cNvPr id="11" name="Rectangle 5">
            <a:extLst>
              <a:ext uri="{FF2B5EF4-FFF2-40B4-BE49-F238E27FC236}">
                <a16:creationId xmlns:a16="http://schemas.microsoft.com/office/drawing/2014/main" id="{4E826BFE-68EA-460E-95EF-8C1A6791A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448" y="1107428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“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no frills,” “bare bones”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방식의 인터넷 트랜스포트 프로토콜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CF009E19-F72A-492D-A42A-2BD396B08CA0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826419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(connectionless)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56D8535-E8D5-4A70-8283-D969A9149301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228621"/>
            <a:ext cx="6511212" cy="64286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/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 사이에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handshaking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없음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UDP 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독립적으로 </a:t>
            </a:r>
            <a:r>
              <a:rPr lang="ko-KR" altLang="en-US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다뤄짐</a:t>
            </a:r>
            <a:endParaRPr lang="ko-KR" altLang="en-US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329599D-2EBD-4583-8215-4AF2D4BAEFE6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952030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UDP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이 사용되는 예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1E74FA80-095F-4BBE-839B-CFE9027BC799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354232"/>
            <a:ext cx="6511212" cy="95269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streaming multimedia apps (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손실을 허용하고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전송률에 민감함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DNS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SNMP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1CA27F7-B04A-4E9B-AE7A-97AF700A20E4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5387470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UDP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상의 신뢰적 전송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9F9686C2-2788-49D4-A7F8-57680834FDC0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5789672"/>
            <a:ext cx="6511212" cy="64286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애플리케이션 계층에 신뢰성 추가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애플리케이션 고유의 오류 복구</a:t>
            </a:r>
          </a:p>
        </p:txBody>
      </p:sp>
    </p:spTree>
    <p:extLst>
      <p:ext uri="{BB962C8B-B14F-4D97-AF65-F5344CB8AC3E}">
        <p14:creationId xmlns:p14="http://schemas.microsoft.com/office/powerpoint/2010/main" val="1284965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altLang="ko-KR"/>
              <a:t>UDP </a:t>
            </a:r>
            <a:r>
              <a:rPr lang="pt-BR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pt-BR" altLang="ko-KR"/>
              <a:t> </a:t>
            </a:r>
            <a:r>
              <a:rPr lang="pt-BR" altLang="ko-KR" dirty="0">
                <a:solidFill>
                  <a:schemeClr val="bg1"/>
                </a:solidFill>
              </a:rPr>
              <a:t>segment header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C6A9478C-71B0-426A-9C69-CF04FBBD1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966" y="1433930"/>
            <a:ext cx="3324225" cy="3200400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>
                <a:srgbClr val="000000"/>
              </a:buClr>
              <a:buFont typeface="Arial"/>
              <a:buChar char="§"/>
            </a:pPr>
            <a:endParaRPr lang="ko-KR" altLang="ko-KR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21" name="Text Box 9">
            <a:extLst>
              <a:ext uri="{FF2B5EF4-FFF2-40B4-BE49-F238E27FC236}">
                <a16:creationId xmlns:a16="http://schemas.microsoft.com/office/drawing/2014/main" id="{8B961899-BB39-4666-B3D6-60641DB3E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04" y="1446630"/>
            <a:ext cx="1608137" cy="385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2" indent="0" algn="ctr">
              <a:lnSpc>
                <a:spcPct val="130000"/>
              </a:lnSpc>
              <a:spcBef>
                <a:spcPts val="400"/>
              </a:spcBef>
              <a:buClrTx/>
              <a:buSzTx/>
              <a:buNone/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source port #</a:t>
            </a:r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79A9D284-6C48-41B0-A2B7-7EAEBBE9B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5423" y="1446630"/>
            <a:ext cx="1485120" cy="385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2" indent="0" algn="ctr">
              <a:lnSpc>
                <a:spcPct val="130000"/>
              </a:lnSpc>
              <a:spcBef>
                <a:spcPts val="400"/>
              </a:spcBef>
              <a:buClrTx/>
              <a:buSzTx/>
              <a:buNone/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dest port #</a:t>
            </a:r>
          </a:p>
        </p:txBody>
      </p:sp>
      <p:sp>
        <p:nvSpPr>
          <p:cNvPr id="23" name="Line 11">
            <a:extLst>
              <a:ext uri="{FF2B5EF4-FFF2-40B4-BE49-F238E27FC236}">
                <a16:creationId xmlns:a16="http://schemas.microsoft.com/office/drawing/2014/main" id="{45E4177E-4596-4DFB-B84B-F8FB7AAD71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5441" y="1914943"/>
            <a:ext cx="3328988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24" name="Line 12">
            <a:extLst>
              <a:ext uri="{FF2B5EF4-FFF2-40B4-BE49-F238E27FC236}">
                <a16:creationId xmlns:a16="http://schemas.microsoft.com/office/drawing/2014/main" id="{B6C42CB8-6B92-4DF5-82AC-55AD38C761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7822" y="2367520"/>
            <a:ext cx="3324225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25" name="Line 13">
            <a:extLst>
              <a:ext uri="{FF2B5EF4-FFF2-40B4-BE49-F238E27FC236}">
                <a16:creationId xmlns:a16="http://schemas.microsoft.com/office/drawing/2014/main" id="{E1CBBF5E-E6E2-475B-90C2-DE563152E9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07078" y="1433929"/>
            <a:ext cx="0" cy="931068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26" name="Text Box 14">
            <a:extLst>
              <a:ext uri="{FF2B5EF4-FFF2-40B4-BE49-F238E27FC236}">
                <a16:creationId xmlns:a16="http://schemas.microsoft.com/office/drawing/2014/main" id="{772CBE03-E9A1-43F3-A79D-2D1739328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6859" y="1038642"/>
            <a:ext cx="8451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32 bits</a:t>
            </a:r>
          </a:p>
        </p:txBody>
      </p:sp>
      <p:sp>
        <p:nvSpPr>
          <p:cNvPr id="27" name="Line 15">
            <a:extLst>
              <a:ext uri="{FF2B5EF4-FFF2-40B4-BE49-F238E27FC236}">
                <a16:creationId xmlns:a16="http://schemas.microsoft.com/office/drawing/2014/main" id="{DEC40BA2-111E-43F6-9C8D-33BC82549F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423" y="1200566"/>
            <a:ext cx="12001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" name="Line 16">
            <a:extLst>
              <a:ext uri="{FF2B5EF4-FFF2-40B4-BE49-F238E27FC236}">
                <a16:creationId xmlns:a16="http://schemas.microsoft.com/office/drawing/2014/main" id="{8F195112-F4F6-4D70-A6C6-865F726AB3C5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780636" y="1210092"/>
            <a:ext cx="11287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9" name="Text Box 17">
            <a:extLst>
              <a:ext uri="{FF2B5EF4-FFF2-40B4-BE49-F238E27FC236}">
                <a16:creationId xmlns:a16="http://schemas.microsoft.com/office/drawing/2014/main" id="{16B74EE0-2C2E-449E-BF99-A76C65614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7669" y="3068960"/>
            <a:ext cx="2118818" cy="757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2" indent="0" algn="ctr">
              <a:lnSpc>
                <a:spcPct val="130000"/>
              </a:lnSpc>
              <a:spcBef>
                <a:spcPts val="400"/>
              </a:spcBef>
              <a:buNone/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application data </a:t>
            </a:r>
          </a:p>
          <a:p>
            <a:pPr marL="0" lvl="2" indent="0" algn="ctr">
              <a:lnSpc>
                <a:spcPct val="130000"/>
              </a:lnSpc>
              <a:spcBef>
                <a:spcPts val="400"/>
              </a:spcBef>
              <a:buNone/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(payload)</a:t>
            </a:r>
          </a:p>
        </p:txBody>
      </p:sp>
      <p:sp>
        <p:nvSpPr>
          <p:cNvPr id="30" name="Text Box 19">
            <a:extLst>
              <a:ext uri="{FF2B5EF4-FFF2-40B4-BE49-F238E27FC236}">
                <a16:creationId xmlns:a16="http://schemas.microsoft.com/office/drawing/2014/main" id="{0EC81404-85A2-4766-9E0F-AA2D960DC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7369" y="4708942"/>
            <a:ext cx="23194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UDP segment format</a:t>
            </a:r>
          </a:p>
        </p:txBody>
      </p:sp>
      <p:sp>
        <p:nvSpPr>
          <p:cNvPr id="32" name="Text Box 22">
            <a:extLst>
              <a:ext uri="{FF2B5EF4-FFF2-40B4-BE49-F238E27FC236}">
                <a16:creationId xmlns:a16="http://schemas.microsoft.com/office/drawing/2014/main" id="{703320B4-601A-4125-8DFD-5415D5945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136" y="1937166"/>
            <a:ext cx="829073" cy="385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2" indent="0">
              <a:lnSpc>
                <a:spcPct val="130000"/>
              </a:lnSpc>
              <a:spcBef>
                <a:spcPts val="400"/>
              </a:spcBef>
              <a:buNone/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length</a:t>
            </a:r>
          </a:p>
        </p:txBody>
      </p:sp>
      <p:sp>
        <p:nvSpPr>
          <p:cNvPr id="33" name="Text Box 23">
            <a:extLst>
              <a:ext uri="{FF2B5EF4-FFF2-40B4-BE49-F238E27FC236}">
                <a16:creationId xmlns:a16="http://schemas.microsoft.com/office/drawing/2014/main" id="{91B737A7-3CB7-43A4-807C-8FA846233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712" y="1937166"/>
            <a:ext cx="1186543" cy="385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2" indent="0">
              <a:lnSpc>
                <a:spcPct val="130000"/>
              </a:lnSpc>
              <a:spcBef>
                <a:spcPts val="400"/>
              </a:spcBef>
              <a:buNone/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checksum</a:t>
            </a:r>
          </a:p>
        </p:txBody>
      </p:sp>
      <p:sp>
        <p:nvSpPr>
          <p:cNvPr id="34" name="Text Box 24">
            <a:extLst>
              <a:ext uri="{FF2B5EF4-FFF2-40B4-BE49-F238E27FC236}">
                <a16:creationId xmlns:a16="http://schemas.microsoft.com/office/drawing/2014/main" id="{2CE0728A-4DD4-4C5F-AC45-81B18CEF5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0623" y="1847213"/>
            <a:ext cx="3371108" cy="680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2" indent="0">
              <a:lnSpc>
                <a:spcPct val="130000"/>
              </a:lnSpc>
              <a:spcBef>
                <a:spcPts val="400"/>
              </a:spcBef>
              <a:buClrTx/>
              <a:buSzTx/>
              <a:buNone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헤더를 포함한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</a:p>
          <a:p>
            <a:pPr marL="0" lvl="2" indent="0">
              <a:lnSpc>
                <a:spcPct val="130000"/>
              </a:lnSpc>
              <a:spcBef>
                <a:spcPts val="400"/>
              </a:spcBef>
              <a:buClrTx/>
              <a:buSzTx/>
              <a:buNone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UDP 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의 바이트 단위 길이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A4AFA4D-1ACB-46C5-84CE-09BCF1736E51}"/>
              </a:ext>
            </a:extLst>
          </p:cNvPr>
          <p:cNvSpPr/>
          <p:nvPr/>
        </p:nvSpPr>
        <p:spPr>
          <a:xfrm>
            <a:off x="2031195" y="2143611"/>
            <a:ext cx="68584" cy="68584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58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105BA0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017E9F2F-670E-4286-B7D7-8B05F1D65F0B}"/>
              </a:ext>
            </a:extLst>
          </p:cNvPr>
          <p:cNvSpPr/>
          <p:nvPr/>
        </p:nvSpPr>
        <p:spPr>
          <a:xfrm>
            <a:off x="2055731" y="2015685"/>
            <a:ext cx="2623060" cy="160186"/>
          </a:xfrm>
          <a:custGeom>
            <a:avLst/>
            <a:gdLst>
              <a:gd name="connsiteX0" fmla="*/ 0 w 2623060"/>
              <a:gd name="connsiteY0" fmla="*/ 160186 h 160186"/>
              <a:gd name="connsiteX1" fmla="*/ 153513 w 2623060"/>
              <a:gd name="connsiteY1" fmla="*/ 0 h 160186"/>
              <a:gd name="connsiteX2" fmla="*/ 2623060 w 2623060"/>
              <a:gd name="connsiteY2" fmla="*/ 0 h 160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23060" h="160186">
                <a:moveTo>
                  <a:pt x="0" y="160186"/>
                </a:moveTo>
                <a:lnTo>
                  <a:pt x="153513" y="0"/>
                </a:lnTo>
                <a:lnTo>
                  <a:pt x="2623060" y="0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38" name="사각형: 잘린 한쪽 모서리 37">
            <a:extLst>
              <a:ext uri="{FF2B5EF4-FFF2-40B4-BE49-F238E27FC236}">
                <a16:creationId xmlns:a16="http://schemas.microsoft.com/office/drawing/2014/main" id="{1C9622C9-ADF3-4D05-8981-CFDD6A4C22C6}"/>
              </a:ext>
            </a:extLst>
          </p:cNvPr>
          <p:cNvSpPr/>
          <p:nvPr/>
        </p:nvSpPr>
        <p:spPr>
          <a:xfrm>
            <a:off x="4318372" y="3024031"/>
            <a:ext cx="3517436" cy="3445226"/>
          </a:xfrm>
          <a:prstGeom prst="snip1Rect">
            <a:avLst>
              <a:gd name="adj" fmla="val 4496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sym typeface="Arial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FCC5980-1F22-43E5-9CB8-93D6D4B8E7F9}"/>
              </a:ext>
            </a:extLst>
          </p:cNvPr>
          <p:cNvSpPr/>
          <p:nvPr/>
        </p:nvSpPr>
        <p:spPr>
          <a:xfrm>
            <a:off x="4453979" y="3704321"/>
            <a:ext cx="3226198" cy="2644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72FCDD1C-3DDB-46B7-82DA-E8187FBF6B1A}"/>
              </a:ext>
            </a:extLst>
          </p:cNvPr>
          <p:cNvSpPr txBox="1">
            <a:spLocks noChangeArrowheads="1"/>
          </p:cNvSpPr>
          <p:nvPr/>
        </p:nvSpPr>
        <p:spPr>
          <a:xfrm>
            <a:off x="4574119" y="3905077"/>
            <a:ext cx="2926016" cy="224311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지연을 유발하는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연결 설립 없음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단순함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/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측에 연결 상태 유지 안 함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header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크기가 작음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혼잡 제어 없음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UDP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원하는 만큼 빨리 보낼 수 있다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137B9DB-AE74-4C28-B275-E45ABD277000}"/>
              </a:ext>
            </a:extLst>
          </p:cNvPr>
          <p:cNvSpPr txBox="1"/>
          <p:nvPr/>
        </p:nvSpPr>
        <p:spPr>
          <a:xfrm>
            <a:off x="4485232" y="3240081"/>
            <a:ext cx="2009010" cy="31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45000"/>
              </a:spcBef>
              <a:buSzPct val="65000"/>
              <a:buFont typeface="Wingdings" panose="05000000000000000000" pitchFamily="2" charset="2"/>
              <a:buNone/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UDP</a:t>
            </a:r>
            <a:r>
              <a:rPr lang="ko-KR" altLang="en-US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의 존재 이유</a:t>
            </a: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32571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altLang="ko-KR"/>
              <a:t>UDP checksum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19</a:t>
            </a:fld>
            <a:endParaRPr 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06A4046-3FF0-4E6F-8CBC-B0E0130835F1}"/>
              </a:ext>
            </a:extLst>
          </p:cNvPr>
          <p:cNvGrpSpPr/>
          <p:nvPr/>
        </p:nvGrpSpPr>
        <p:grpSpPr>
          <a:xfrm>
            <a:off x="696915" y="1052513"/>
            <a:ext cx="7707944" cy="590566"/>
            <a:chOff x="696915" y="1055112"/>
            <a:chExt cx="7707944" cy="590566"/>
          </a:xfrm>
        </p:grpSpPr>
        <p:sp>
          <p:nvSpPr>
            <p:cNvPr id="6" name="텍스트 개체 틀 19">
              <a:extLst>
                <a:ext uri="{FF2B5EF4-FFF2-40B4-BE49-F238E27FC236}">
                  <a16:creationId xmlns:a16="http://schemas.microsoft.com/office/drawing/2014/main" id="{B7DD94E6-434C-4481-B44A-85D77F4BE030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58376"/>
              <a:ext cx="7071353" cy="339324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buSzPct val="65000"/>
                <a:defRPr/>
              </a:pPr>
              <a:r>
                <a:rPr lang="ko-KR" altLang="en-US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목표</a:t>
              </a:r>
              <a:r>
                <a:rPr lang="ko-KR" altLang="en-US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ea"/>
                  <a:cs typeface="+mj-cs"/>
                </a:rPr>
                <a:t>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: 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전송된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segment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에서 </a:t>
              </a:r>
              <a:r>
                <a:rPr lang="ja-JP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cs typeface="+mj-cs"/>
                </a:rPr>
                <a:t>“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오류</a:t>
              </a:r>
              <a:r>
                <a:rPr lang="ja-JP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cs typeface="+mj-cs"/>
                </a:rPr>
                <a:t>”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를 검출한다</a:t>
              </a:r>
              <a:r>
                <a:rPr lang="en-US" altLang="ja-JP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 (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예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:</a:t>
              </a:r>
              <a:r>
                <a:rPr lang="en-US" altLang="ja-JP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 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바뀐 비트</a:t>
              </a:r>
              <a:r>
                <a:rPr lang="en-US" altLang="ja-JP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)</a:t>
              </a: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845DD1F5-58E6-4C13-9907-77C3E9949989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" name="그래픽 7">
              <a:extLst>
                <a:ext uri="{FF2B5EF4-FFF2-40B4-BE49-F238E27FC236}">
                  <a16:creationId xmlns:a16="http://schemas.microsoft.com/office/drawing/2014/main" id="{A751853C-1941-4E00-A89A-C59D535953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F5FA922-6260-46C6-84CB-C94B94956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/>
          </p:blipFill>
          <p:spPr>
            <a:xfrm>
              <a:off x="803272" y="1151143"/>
              <a:ext cx="290090" cy="345821"/>
            </a:xfrm>
            <a:prstGeom prst="rect">
              <a:avLst/>
            </a:prstGeom>
          </p:spPr>
        </p:pic>
      </p:grpSp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AE53A086-634B-456D-A2ED-30B3D19A8404}"/>
              </a:ext>
            </a:extLst>
          </p:cNvPr>
          <p:cNvSpPr/>
          <p:nvPr/>
        </p:nvSpPr>
        <p:spPr>
          <a:xfrm>
            <a:off x="802829" y="1830970"/>
            <a:ext cx="1215707" cy="381380"/>
          </a:xfrm>
          <a:prstGeom prst="snip1Rect">
            <a:avLst>
              <a:gd name="adj" fmla="val 28162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37054A12-27DC-4678-BC7D-06B4EDD39CF6}"/>
              </a:ext>
            </a:extLst>
          </p:cNvPr>
          <p:cNvSpPr txBox="1">
            <a:spLocks/>
          </p:cNvSpPr>
          <p:nvPr/>
        </p:nvSpPr>
        <p:spPr>
          <a:xfrm>
            <a:off x="983432" y="1842471"/>
            <a:ext cx="1032253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송신 측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1A282686-60EA-4C96-8307-790144AA975B}"/>
              </a:ext>
            </a:extLst>
          </p:cNvPr>
          <p:cNvSpPr txBox="1">
            <a:spLocks noChangeArrowheads="1"/>
          </p:cNvSpPr>
          <p:nvPr/>
        </p:nvSpPr>
        <p:spPr>
          <a:xfrm>
            <a:off x="1199456" y="5166238"/>
            <a:ext cx="5908360" cy="104471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NO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–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오류 발견</a:t>
            </a:r>
          </a:p>
          <a:p>
            <a:pPr marL="180000" lvl="3" indent="-18000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YES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–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오류 미발견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  <a:b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그럼에도 오류가 있을 수도 있음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….</a:t>
            </a:r>
          </a:p>
        </p:txBody>
      </p:sp>
      <p:sp>
        <p:nvSpPr>
          <p:cNvPr id="16" name="사각형: 잘린 한쪽 모서리 15">
            <a:extLst>
              <a:ext uri="{FF2B5EF4-FFF2-40B4-BE49-F238E27FC236}">
                <a16:creationId xmlns:a16="http://schemas.microsoft.com/office/drawing/2014/main" id="{2DFEEDC5-04C7-4429-BE20-020C59E9F3E4}"/>
              </a:ext>
            </a:extLst>
          </p:cNvPr>
          <p:cNvSpPr/>
          <p:nvPr/>
        </p:nvSpPr>
        <p:spPr>
          <a:xfrm>
            <a:off x="802829" y="3767606"/>
            <a:ext cx="1220824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7" name="텍스트 개체 틀 19">
            <a:extLst>
              <a:ext uri="{FF2B5EF4-FFF2-40B4-BE49-F238E27FC236}">
                <a16:creationId xmlns:a16="http://schemas.microsoft.com/office/drawing/2014/main" id="{64A953C5-540F-446E-BCFD-03D8DD325FE5}"/>
              </a:ext>
            </a:extLst>
          </p:cNvPr>
          <p:cNvSpPr txBox="1">
            <a:spLocks/>
          </p:cNvSpPr>
          <p:nvPr/>
        </p:nvSpPr>
        <p:spPr>
          <a:xfrm>
            <a:off x="983432" y="3784275"/>
            <a:ext cx="1032253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수신 측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78436FE3-421A-4586-8B63-63C9A0A8259C}"/>
              </a:ext>
            </a:extLst>
          </p:cNvPr>
          <p:cNvSpPr txBox="1">
            <a:spLocks noChangeArrowheads="1"/>
          </p:cNvSpPr>
          <p:nvPr/>
        </p:nvSpPr>
        <p:spPr>
          <a:xfrm>
            <a:off x="893864" y="4286002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전송받은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의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checksum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을 계산</a:t>
            </a:r>
          </a:p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결과의 모든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bit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가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인가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? :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A588CEBA-BD5E-4FAD-8333-8CB6A9B31796}"/>
              </a:ext>
            </a:extLst>
          </p:cNvPr>
          <p:cNvSpPr txBox="1">
            <a:spLocks noChangeArrowheads="1"/>
          </p:cNvSpPr>
          <p:nvPr/>
        </p:nvSpPr>
        <p:spPr>
          <a:xfrm>
            <a:off x="893864" y="2346470"/>
            <a:ext cx="779089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400"/>
              </a:spcBef>
              <a:buBlip>
                <a:blip r:embed="rId4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헤더를 포함해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의 내용을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16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비트 정수의 연속으로 취급</a:t>
            </a:r>
          </a:p>
          <a:p>
            <a:pPr marL="216000" lvl="2" indent="-216000">
              <a:lnSpc>
                <a:spcPct val="130000"/>
              </a:lnSpc>
              <a:spcBef>
                <a:spcPts val="400"/>
              </a:spcBef>
              <a:buBlip>
                <a:blip r:embed="rId4"/>
              </a:buBlip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checksum : segment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의 내용을 다 더한 결과의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의 보수를 취함</a:t>
            </a:r>
          </a:p>
          <a:p>
            <a:pPr marL="216000" lvl="2" indent="-216000">
              <a:lnSpc>
                <a:spcPct val="130000"/>
              </a:lnSpc>
              <a:spcBef>
                <a:spcPts val="400"/>
              </a:spcBef>
              <a:buBlip>
                <a:blip r:embed="rId4"/>
              </a:buBlip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UDP checksum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필드에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checksum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값을 넣는다</a:t>
            </a:r>
          </a:p>
        </p:txBody>
      </p:sp>
    </p:spTree>
    <p:extLst>
      <p:ext uri="{BB962C8B-B14F-4D97-AF65-F5344CB8AC3E}">
        <p14:creationId xmlns:p14="http://schemas.microsoft.com/office/powerpoint/2010/main" val="3166445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2467424" y="1827349"/>
          <a:ext cx="5631539" cy="26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25742"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42"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42"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42"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742"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742"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인터넷 </a:t>
            </a:r>
            <a:r>
              <a:rPr lang="pt-BR" altLang="ko-KR" dirty="0"/>
              <a:t>checksum </a:t>
            </a:r>
            <a:r>
              <a:rPr lang="pt-BR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pt-BR" altLang="ko-KR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예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20</a:t>
            </a:fld>
            <a:endParaRPr lang="en-US" dirty="0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A00C8572-4759-4559-9444-CBC9CB0C8B5B}"/>
              </a:ext>
            </a:extLst>
          </p:cNvPr>
          <p:cNvSpPr/>
          <p:nvPr/>
        </p:nvSpPr>
        <p:spPr>
          <a:xfrm>
            <a:off x="658813" y="1173620"/>
            <a:ext cx="884237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5" name="텍스트 개체 틀 19">
            <a:extLst>
              <a:ext uri="{FF2B5EF4-FFF2-40B4-BE49-F238E27FC236}">
                <a16:creationId xmlns:a16="http://schemas.microsoft.com/office/drawing/2014/main" id="{2AB8B076-55E2-4AAA-81FB-0F57467D23E5}"/>
              </a:ext>
            </a:extLst>
          </p:cNvPr>
          <p:cNvSpPr txBox="1">
            <a:spLocks/>
          </p:cNvSpPr>
          <p:nvPr/>
        </p:nvSpPr>
        <p:spPr>
          <a:xfrm>
            <a:off x="839416" y="1182466"/>
            <a:ext cx="601973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예시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49E0D2-7558-4F92-9E17-7C523EDF531D}"/>
              </a:ext>
            </a:extLst>
          </p:cNvPr>
          <p:cNvSpPr txBox="1"/>
          <p:nvPr/>
        </p:nvSpPr>
        <p:spPr>
          <a:xfrm>
            <a:off x="1624965" y="1182466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두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16-bit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정수를 더한다</a:t>
            </a:r>
          </a:p>
        </p:txBody>
      </p:sp>
      <p:sp>
        <p:nvSpPr>
          <p:cNvPr id="14" name="Oval 6">
            <a:extLst>
              <a:ext uri="{FF2B5EF4-FFF2-40B4-BE49-F238E27FC236}">
                <a16:creationId xmlns:a16="http://schemas.microsoft.com/office/drawing/2014/main" id="{8CD95BB2-574F-4957-9537-1AC8477D9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439" y="2957830"/>
            <a:ext cx="304800" cy="304800"/>
          </a:xfrm>
          <a:prstGeom prst="ellipse">
            <a:avLst/>
          </a:prstGeom>
          <a:noFill/>
          <a:ln w="19050">
            <a:solidFill>
              <a:srgbClr val="F27037"/>
            </a:solidFill>
            <a:round/>
            <a:headEnd type="none" w="sm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478F301B-85D2-4937-A6C5-70AC33F27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621" y="2953424"/>
            <a:ext cx="15937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wraparound</a:t>
            </a:r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id="{EAD8468C-C087-4B56-B98C-EC6425791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172" y="3668231"/>
            <a:ext cx="65915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sum</a:t>
            </a:r>
          </a:p>
        </p:txBody>
      </p:sp>
      <p:sp>
        <p:nvSpPr>
          <p:cNvPr id="17" name="Text Box 9">
            <a:extLst>
              <a:ext uri="{FF2B5EF4-FFF2-40B4-BE49-F238E27FC236}">
                <a16:creationId xmlns:a16="http://schemas.microsoft.com/office/drawing/2014/main" id="{05473CB0-2E97-4770-BA0A-1E3CC6EC6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911" y="4034004"/>
            <a:ext cx="13324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checksum</a:t>
            </a:r>
          </a:p>
        </p:txBody>
      </p:sp>
      <p:grpSp>
        <p:nvGrpSpPr>
          <p:cNvPr id="6" name="그룹 20">
            <a:extLst>
              <a:ext uri="{FF2B5EF4-FFF2-40B4-BE49-F238E27FC236}">
                <a16:creationId xmlns:a16="http://schemas.microsoft.com/office/drawing/2014/main" id="{1280619F-666A-4213-B868-EBBBC500B946}"/>
              </a:ext>
            </a:extLst>
          </p:cNvPr>
          <p:cNvGrpSpPr/>
          <p:nvPr/>
        </p:nvGrpSpPr>
        <p:grpSpPr>
          <a:xfrm>
            <a:off x="2539704" y="2781618"/>
            <a:ext cx="5492040" cy="719137"/>
            <a:chOff x="1784350" y="2781618"/>
            <a:chExt cx="6477000" cy="719137"/>
          </a:xfrm>
        </p:grpSpPr>
        <p:sp>
          <p:nvSpPr>
            <p:cNvPr id="13" name="Line 5">
              <a:extLst>
                <a:ext uri="{FF2B5EF4-FFF2-40B4-BE49-F238E27FC236}">
                  <a16:creationId xmlns:a16="http://schemas.microsoft.com/office/drawing/2014/main" id="{842D3CE8-A106-4E3A-BEB9-BA33236250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84350" y="2781618"/>
              <a:ext cx="6477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8" name="Line 10">
              <a:extLst>
                <a:ext uri="{FF2B5EF4-FFF2-40B4-BE49-F238E27FC236}">
                  <a16:creationId xmlns:a16="http://schemas.microsoft.com/office/drawing/2014/main" id="{267299AE-13A5-4233-BAFB-938C8EE813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84350" y="3500755"/>
              <a:ext cx="6477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19" name="Freeform 11">
            <a:extLst>
              <a:ext uri="{FF2B5EF4-FFF2-40B4-BE49-F238E27FC236}">
                <a16:creationId xmlns:a16="http://schemas.microsoft.com/office/drawing/2014/main" id="{C3CC87D2-E06F-4C3A-BDAA-8141FAD598EE}"/>
              </a:ext>
            </a:extLst>
          </p:cNvPr>
          <p:cNvSpPr>
            <a:spLocks/>
          </p:cNvSpPr>
          <p:nvPr/>
        </p:nvSpPr>
        <p:spPr bwMode="auto">
          <a:xfrm>
            <a:off x="2655714" y="3264218"/>
            <a:ext cx="5292000" cy="98107"/>
          </a:xfrm>
          <a:custGeom>
            <a:avLst/>
            <a:gdLst>
              <a:gd name="T0" fmla="*/ 0 w 3788"/>
              <a:gd name="T1" fmla="*/ 0 h 58"/>
              <a:gd name="T2" fmla="*/ 0 w 3788"/>
              <a:gd name="T3" fmla="*/ 2147483646 h 58"/>
              <a:gd name="T4" fmla="*/ 2147483646 w 3788"/>
              <a:gd name="T5" fmla="*/ 2147483646 h 58"/>
              <a:gd name="T6" fmla="*/ 0 60000 65536"/>
              <a:gd name="T7" fmla="*/ 0 60000 65536"/>
              <a:gd name="T8" fmla="*/ 0 60000 65536"/>
              <a:gd name="T9" fmla="*/ 0 w 3788"/>
              <a:gd name="T10" fmla="*/ 0 h 58"/>
              <a:gd name="T11" fmla="*/ 3788 w 3788"/>
              <a:gd name="T12" fmla="*/ 58 h 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88" h="58">
                <a:moveTo>
                  <a:pt x="0" y="0"/>
                </a:moveTo>
                <a:lnTo>
                  <a:pt x="0" y="58"/>
                </a:lnTo>
                <a:lnTo>
                  <a:pt x="3788" y="58"/>
                </a:lnTo>
              </a:path>
            </a:pathLst>
          </a:custGeom>
          <a:noFill/>
          <a:ln w="19050">
            <a:solidFill>
              <a:srgbClr val="F27037"/>
            </a:solidFill>
            <a:round/>
            <a:headEnd type="none" w="sm" len="med"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ko-KR" altLang="en-US" sz="1600">
              <a:latin typeface="G마켓 산스 TTF Medium" panose="02000000000000000000" pitchFamily="2" charset="-127"/>
              <a:ea typeface="ＭＳ Ｐゴシック" panose="020B0600070205080204" pitchFamily="34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3B7DA4-42C6-4714-93CE-2BB2229F93AB}"/>
              </a:ext>
            </a:extLst>
          </p:cNvPr>
          <p:cNvSpPr txBox="1"/>
          <p:nvPr/>
        </p:nvSpPr>
        <p:spPr>
          <a:xfrm>
            <a:off x="1521928" y="4949949"/>
            <a:ext cx="6113798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Note: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덧셈 과정에서 발생하는 </a:t>
            </a:r>
            <a:r>
              <a:rPr lang="ko-KR" altLang="en-US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오버플로우는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ko-KR" altLang="en-US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윤회식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자리 올림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(wrap around)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.</a:t>
            </a: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C58F0AE9-4468-4359-8879-E2F78AF77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5876970"/>
            <a:ext cx="4506913" cy="484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US" altLang="ko-KR" sz="11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* Check out the online interactive exercises for more </a:t>
            </a:r>
            <a:br>
              <a:rPr lang="en-US" altLang="ko-KR" sz="11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1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  examples: http://gaia.cs.umass.edu/kurose_ross/interactive/</a:t>
            </a:r>
          </a:p>
        </p:txBody>
      </p:sp>
    </p:spTree>
    <p:extLst>
      <p:ext uri="{BB962C8B-B14F-4D97-AF65-F5344CB8AC3E}">
        <p14:creationId xmlns:p14="http://schemas.microsoft.com/office/powerpoint/2010/main" val="3972203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0309E-60DA-4D31-A618-EDE08AF6A6FE}"/>
              </a:ext>
            </a:extLst>
          </p:cNvPr>
          <p:cNvSpPr txBox="1"/>
          <p:nvPr/>
        </p:nvSpPr>
        <p:spPr>
          <a:xfrm>
            <a:off x="1419224" y="1642686"/>
            <a:ext cx="6929719" cy="2050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6E894-EE75-4324-A418-CC2030ECF3DF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AE1AC8F-7738-4645-897B-F1D56F5E79BF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8" name="사각형: 잘린 한쪽 모서리 7">
              <a:extLst>
                <a:ext uri="{FF2B5EF4-FFF2-40B4-BE49-F238E27FC236}">
                  <a16:creationId xmlns:a16="http://schemas.microsoft.com/office/drawing/2014/main" id="{43006DD9-2EA3-4305-8C90-B372C653CB7B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9" name="텍스트 개체 틀 19">
              <a:extLst>
                <a:ext uri="{FF2B5EF4-FFF2-40B4-BE49-F238E27FC236}">
                  <a16:creationId xmlns:a16="http://schemas.microsoft.com/office/drawing/2014/main" id="{0A440FB5-94C3-43E2-A600-EBE86EEA1FB4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D064E4B-2854-4245-83A9-27E885551C35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8577B86F-681B-4747-BD8D-9D43E797B8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3BB9748-F709-442C-98A5-AE758077B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440800F-61B8-4E81-A438-A97D8431E7C9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4FE9B76B-D0AE-4FCD-9549-732E713BF59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EBBA927-E2CE-4470-BAF0-E3D46616238F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131444A1-64E2-494E-AE19-BF80FE77950D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17" name="그래픽 40">
                <a:extLst>
                  <a:ext uri="{FF2B5EF4-FFF2-40B4-BE49-F238E27FC236}">
                    <a16:creationId xmlns:a16="http://schemas.microsoft.com/office/drawing/2014/main" id="{13D1003A-9E21-4A4A-AB93-7D7F89D552B9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8EC5032-E92A-45CA-8B2F-FB2EEC6576B5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6D6BF4BC-12E0-4652-95D0-FEB639786AC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신뢰적인 데이터 전달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4F3E90F5-7AD9-4E60-986D-72D5E39D0867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4722CA1D-E2F7-4582-A614-BC49E69C42F0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2" name="그래픽 40">
                <a:extLst>
                  <a:ext uri="{FF2B5EF4-FFF2-40B4-BE49-F238E27FC236}">
                    <a16:creationId xmlns:a16="http://schemas.microsoft.com/office/drawing/2014/main" id="{E6DB63C2-5AB1-401D-AF64-09E7805BB5A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54A8254-8954-4785-8F7F-D5FCB09591FF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745D6B03-A635-4B67-8419-9E45C39EC31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흐름 제어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CFFD8DCC-296B-47B5-8245-5D420D48B8B6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8162E03D-FB0C-43CC-A847-DBAFB901884E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7" name="그래픽 40">
                <a:extLst>
                  <a:ext uri="{FF2B5EF4-FFF2-40B4-BE49-F238E27FC236}">
                    <a16:creationId xmlns:a16="http://schemas.microsoft.com/office/drawing/2014/main" id="{6CF1E9D5-F9EE-4CED-950A-86332545FCC4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D22EC5E-52B4-4FCD-B617-59B53E1E9FF9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E02F327F-79F8-4AF8-9E98-02BAA017F1B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 관리</a:t>
              </a: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9DBF1BDE-369D-4B19-B0D3-49557B1840D2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ECEF3B63-C4C2-4561-97F9-65F26D64C106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2" name="그래픽 40">
                <a:extLst>
                  <a:ext uri="{FF2B5EF4-FFF2-40B4-BE49-F238E27FC236}">
                    <a16:creationId xmlns:a16="http://schemas.microsoft.com/office/drawing/2014/main" id="{D474FD95-08A6-4B57-AA6D-B1B0E98E99A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2478C27-05E5-4C70-A8DB-C8B52A1AB0D7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2A0163-0D25-45DA-B5F2-5389EFE96EC7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20751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Recall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hop-by-hop, end-to-end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22</a:t>
            </a:fld>
            <a:endParaRPr lang="en-US" dirty="0"/>
          </a:p>
        </p:txBody>
      </p:sp>
      <p:sp>
        <p:nvSpPr>
          <p:cNvPr id="26" name="Line 3">
            <a:extLst>
              <a:ext uri="{FF2B5EF4-FFF2-40B4-BE49-F238E27FC236}">
                <a16:creationId xmlns:a16="http://schemas.microsoft.com/office/drawing/2014/main" id="{36717FEC-E995-47DC-AAB8-905756AA7C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2925" y="3203315"/>
            <a:ext cx="715156" cy="667855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27" name="Line 4">
            <a:extLst>
              <a:ext uri="{FF2B5EF4-FFF2-40B4-BE49-F238E27FC236}">
                <a16:creationId xmlns:a16="http://schemas.microsoft.com/office/drawing/2014/main" id="{F25FB1FA-1E51-4DB1-BC91-579428AED5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9565" y="1717338"/>
            <a:ext cx="575235" cy="1485977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28" name="Line 5">
            <a:extLst>
              <a:ext uri="{FF2B5EF4-FFF2-40B4-BE49-F238E27FC236}">
                <a16:creationId xmlns:a16="http://schemas.microsoft.com/office/drawing/2014/main" id="{AFF29CE8-1ECB-46C7-AFF4-9B13EB7C09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5815" y="3520547"/>
            <a:ext cx="1368125" cy="333927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29" name="Line 6">
            <a:extLst>
              <a:ext uri="{FF2B5EF4-FFF2-40B4-BE49-F238E27FC236}">
                <a16:creationId xmlns:a16="http://schemas.microsoft.com/office/drawing/2014/main" id="{FEF2CB08-2368-48A7-8995-66536E2976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3627" y="3186619"/>
            <a:ext cx="1274844" cy="0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30" name="Line 7">
            <a:extLst>
              <a:ext uri="{FF2B5EF4-FFF2-40B4-BE49-F238E27FC236}">
                <a16:creationId xmlns:a16="http://schemas.microsoft.com/office/drawing/2014/main" id="{FFAD6BE1-DE75-4AF5-80F6-2B3DECA1FC2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5269" y="2351800"/>
            <a:ext cx="388672" cy="1168746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31" name="Line 8">
            <a:extLst>
              <a:ext uri="{FF2B5EF4-FFF2-40B4-BE49-F238E27FC236}">
                <a16:creationId xmlns:a16="http://schemas.microsoft.com/office/drawing/2014/main" id="{B48BFECD-0887-4EF5-948B-CCC4C6576A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3159" y="1667249"/>
            <a:ext cx="995000" cy="634462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32" name="Line 9">
            <a:extLst>
              <a:ext uri="{FF2B5EF4-FFF2-40B4-BE49-F238E27FC236}">
                <a16:creationId xmlns:a16="http://schemas.microsoft.com/office/drawing/2014/main" id="{5B1DB2F5-B261-4716-92D1-28A06C0C06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5893" y="1700642"/>
            <a:ext cx="1088282" cy="567677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33" name="Line 10">
            <a:extLst>
              <a:ext uri="{FF2B5EF4-FFF2-40B4-BE49-F238E27FC236}">
                <a16:creationId xmlns:a16="http://schemas.microsoft.com/office/drawing/2014/main" id="{9D40A98A-540B-45CB-85CE-4EE5AFB4DF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05893" y="2301711"/>
            <a:ext cx="917266" cy="918301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34" name="Line 11">
            <a:extLst>
              <a:ext uri="{FF2B5EF4-FFF2-40B4-BE49-F238E27FC236}">
                <a16:creationId xmlns:a16="http://schemas.microsoft.com/office/drawing/2014/main" id="{FCFABC33-B573-4394-9BF0-1AAC02A28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3627" y="1800820"/>
            <a:ext cx="761797" cy="467498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35" name="Rectangle 12">
            <a:extLst>
              <a:ext uri="{FF2B5EF4-FFF2-40B4-BE49-F238E27FC236}">
                <a16:creationId xmlns:a16="http://schemas.microsoft.com/office/drawing/2014/main" id="{424F9D28-31C9-499E-9711-35ECDF3A7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668" y="1331689"/>
            <a:ext cx="1123270" cy="534284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None/>
            </a:pPr>
            <a:r>
              <a:rPr kumimoji="1"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G마켓 산스 TTF Bold"/>
                <a:ea typeface="G마켓 산스 TTF Bold"/>
              </a:rPr>
              <a:t>Host A</a:t>
            </a:r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6188D812-EBA8-4A11-AF1A-D8696B19D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0855" y="3295145"/>
            <a:ext cx="1095733" cy="534284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None/>
            </a:pPr>
            <a:r>
              <a:rPr kumimoji="1"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G마켓 산스 TTF Bold"/>
                <a:ea typeface="G마켓 산스 TTF Bold"/>
              </a:rPr>
              <a:t>Host B</a:t>
            </a:r>
          </a:p>
        </p:txBody>
      </p:sp>
      <p:sp>
        <p:nvSpPr>
          <p:cNvPr id="37" name="Rectangle 14">
            <a:extLst>
              <a:ext uri="{FF2B5EF4-FFF2-40B4-BE49-F238E27FC236}">
                <a16:creationId xmlns:a16="http://schemas.microsoft.com/office/drawing/2014/main" id="{59E2018A-B3FC-4DAB-915A-AB938691E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8589" y="2994611"/>
            <a:ext cx="439199" cy="434106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8" name="Rectangle 15">
            <a:extLst>
              <a:ext uri="{FF2B5EF4-FFF2-40B4-BE49-F238E27FC236}">
                <a16:creationId xmlns:a16="http://schemas.microsoft.com/office/drawing/2014/main" id="{BBCD43FF-1CD9-4927-9D7B-7A34B4345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917" y="1491937"/>
            <a:ext cx="439199" cy="434106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8A57FDCD-6CCD-4216-9FAF-D3FA9E89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292" y="2093007"/>
            <a:ext cx="439199" cy="434106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0" name="Rectangle 17">
            <a:extLst>
              <a:ext uri="{FF2B5EF4-FFF2-40B4-BE49-F238E27FC236}">
                <a16:creationId xmlns:a16="http://schemas.microsoft.com/office/drawing/2014/main" id="{C71584BA-D841-4C77-AD78-726A74D5F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2182" y="2042918"/>
            <a:ext cx="439199" cy="434106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1" name="Rectangle 18">
            <a:extLst>
              <a:ext uri="{FF2B5EF4-FFF2-40B4-BE49-F238E27FC236}">
                <a16:creationId xmlns:a16="http://schemas.microsoft.com/office/drawing/2014/main" id="{1795709F-1801-4153-A41A-6B4BB4133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2651" y="2994611"/>
            <a:ext cx="439199" cy="434106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2" name="Rectangle 19">
            <a:extLst>
              <a:ext uri="{FF2B5EF4-FFF2-40B4-BE49-F238E27FC236}">
                <a16:creationId xmlns:a16="http://schemas.microsoft.com/office/drawing/2014/main" id="{1F9E09CA-FFEF-4E29-9964-D68B15EE8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839" y="3645769"/>
            <a:ext cx="439199" cy="434106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5" name="TextBox 36">
            <a:extLst>
              <a:ext uri="{FF2B5EF4-FFF2-40B4-BE49-F238E27FC236}">
                <a16:creationId xmlns:a16="http://schemas.microsoft.com/office/drawing/2014/main" id="{F83871CA-FAEE-4A59-ACAE-74D441E26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4591" y="1680401"/>
            <a:ext cx="82747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Router 1</a:t>
            </a: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6" name="TextBox 37">
            <a:extLst>
              <a:ext uri="{FF2B5EF4-FFF2-40B4-BE49-F238E27FC236}">
                <a16:creationId xmlns:a16="http://schemas.microsoft.com/office/drawing/2014/main" id="{CE72A92A-09D6-4858-8240-8C0B74D03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0391" y="1214078"/>
            <a:ext cx="82907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Router 2</a:t>
            </a: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7" name="TextBox 38">
            <a:extLst>
              <a:ext uri="{FF2B5EF4-FFF2-40B4-BE49-F238E27FC236}">
                <a16:creationId xmlns:a16="http://schemas.microsoft.com/office/drawing/2014/main" id="{19632E6E-CAAD-48DB-B4C4-6DA146F37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6690" y="1796667"/>
            <a:ext cx="82907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Router 3</a:t>
            </a: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9" name="Line 2">
            <a:extLst>
              <a:ext uri="{FF2B5EF4-FFF2-40B4-BE49-F238E27FC236}">
                <a16:creationId xmlns:a16="http://schemas.microsoft.com/office/drawing/2014/main" id="{8E896C48-FBBE-4820-8143-5B2B772A0D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8989" y="5536796"/>
            <a:ext cx="720906" cy="629261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60" name="Line 3">
            <a:extLst>
              <a:ext uri="{FF2B5EF4-FFF2-40B4-BE49-F238E27FC236}">
                <a16:creationId xmlns:a16="http://schemas.microsoft.com/office/drawing/2014/main" id="{8578161F-B1CF-406E-A24E-9A1243F418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86004" y="4136690"/>
            <a:ext cx="579860" cy="1400105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61" name="Line 4">
            <a:extLst>
              <a:ext uri="{FF2B5EF4-FFF2-40B4-BE49-F238E27FC236}">
                <a16:creationId xmlns:a16="http://schemas.microsoft.com/office/drawing/2014/main" id="{494251FF-BA99-4626-A77D-A8647D2CFD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8253" y="5835694"/>
            <a:ext cx="1379124" cy="314630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62" name="Line 5">
            <a:extLst>
              <a:ext uri="{FF2B5EF4-FFF2-40B4-BE49-F238E27FC236}">
                <a16:creationId xmlns:a16="http://schemas.microsoft.com/office/drawing/2014/main" id="{E95D4905-239E-4E4E-BC59-92B82E2C7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9567" y="5521064"/>
            <a:ext cx="1285093" cy="0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63" name="Line 6">
            <a:extLst>
              <a:ext uri="{FF2B5EF4-FFF2-40B4-BE49-F238E27FC236}">
                <a16:creationId xmlns:a16="http://schemas.microsoft.com/office/drawing/2014/main" id="{26C191B7-6CFB-407E-893F-42CE640668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5581" y="4734488"/>
            <a:ext cx="391797" cy="1101206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64" name="Line 7">
            <a:extLst>
              <a:ext uri="{FF2B5EF4-FFF2-40B4-BE49-F238E27FC236}">
                <a16:creationId xmlns:a16="http://schemas.microsoft.com/office/drawing/2014/main" id="{BC863FF5-CE22-491F-BC6B-299E431ADA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5848" y="4089496"/>
            <a:ext cx="1002999" cy="597798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65" name="Line 8">
            <a:extLst>
              <a:ext uri="{FF2B5EF4-FFF2-40B4-BE49-F238E27FC236}">
                <a16:creationId xmlns:a16="http://schemas.microsoft.com/office/drawing/2014/main" id="{C1B30FF1-9632-4B27-8EBD-3CC71D99FD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207" y="4120959"/>
            <a:ext cx="1097031" cy="534872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66" name="Line 9">
            <a:extLst>
              <a:ext uri="{FF2B5EF4-FFF2-40B4-BE49-F238E27FC236}">
                <a16:creationId xmlns:a16="http://schemas.microsoft.com/office/drawing/2014/main" id="{8FC51142-3162-4F17-84DC-93D0D7A6DE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91208" y="4687293"/>
            <a:ext cx="924640" cy="865234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67" name="Line 10">
            <a:extLst>
              <a:ext uri="{FF2B5EF4-FFF2-40B4-BE49-F238E27FC236}">
                <a16:creationId xmlns:a16="http://schemas.microsoft.com/office/drawing/2014/main" id="{2EEE5666-71B7-4D70-95CF-34BA03CD76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1150" y="4233863"/>
            <a:ext cx="856339" cy="421967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68" name="Rectangle 12">
            <a:extLst>
              <a:ext uri="{FF2B5EF4-FFF2-40B4-BE49-F238E27FC236}">
                <a16:creationId xmlns:a16="http://schemas.microsoft.com/office/drawing/2014/main" id="{9A75A576-8021-4E30-84C7-35F7CDF2B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3" y="3671313"/>
            <a:ext cx="1284930" cy="744436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None/>
            </a:pPr>
            <a:r>
              <a:rPr kumimoji="1"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G마켓 산스 TTF Bold"/>
                <a:ea typeface="G마켓 산스 TTF Bold"/>
              </a:rPr>
              <a:t>Process A</a:t>
            </a:r>
          </a:p>
        </p:txBody>
      </p:sp>
      <p:sp>
        <p:nvSpPr>
          <p:cNvPr id="70" name="Rectangle 14">
            <a:extLst>
              <a:ext uri="{FF2B5EF4-FFF2-40B4-BE49-F238E27FC236}">
                <a16:creationId xmlns:a16="http://schemas.microsoft.com/office/drawing/2014/main" id="{7E3A1F7E-1CC5-4FEE-A29C-28F4B3ADE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090" y="5292957"/>
            <a:ext cx="442731" cy="409019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1" name="Rectangle 15">
            <a:extLst>
              <a:ext uri="{FF2B5EF4-FFF2-40B4-BE49-F238E27FC236}">
                <a16:creationId xmlns:a16="http://schemas.microsoft.com/office/drawing/2014/main" id="{B1683BAC-41EC-41BA-851B-00D71E441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293" y="3924315"/>
            <a:ext cx="442731" cy="409019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2" name="Rectangle 16">
            <a:extLst>
              <a:ext uri="{FF2B5EF4-FFF2-40B4-BE49-F238E27FC236}">
                <a16:creationId xmlns:a16="http://schemas.microsoft.com/office/drawing/2014/main" id="{1110BD65-6D4E-498C-8B4A-85A24AC51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2667" y="4490649"/>
            <a:ext cx="442731" cy="409019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3" name="Rectangle 17">
            <a:extLst>
              <a:ext uri="{FF2B5EF4-FFF2-40B4-BE49-F238E27FC236}">
                <a16:creationId xmlns:a16="http://schemas.microsoft.com/office/drawing/2014/main" id="{6A839114-4070-4A79-A2F7-183A81998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2934" y="4443455"/>
            <a:ext cx="442731" cy="409019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4" name="Rectangle 18">
            <a:extLst>
              <a:ext uri="{FF2B5EF4-FFF2-40B4-BE49-F238E27FC236}">
                <a16:creationId xmlns:a16="http://schemas.microsoft.com/office/drawing/2014/main" id="{0FA1B1DD-0478-4395-A6D3-07C5FA290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6653" y="5340151"/>
            <a:ext cx="442731" cy="409019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5" name="Rectangle 19">
            <a:extLst>
              <a:ext uri="{FF2B5EF4-FFF2-40B4-BE49-F238E27FC236}">
                <a16:creationId xmlns:a16="http://schemas.microsoft.com/office/drawing/2014/main" id="{E1ED6B26-90D5-4A11-B658-370A8573D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5340" y="5953681"/>
            <a:ext cx="442731" cy="409019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9" name="Rectangle 12">
            <a:extLst>
              <a:ext uri="{FF2B5EF4-FFF2-40B4-BE49-F238E27FC236}">
                <a16:creationId xmlns:a16="http://schemas.microsoft.com/office/drawing/2014/main" id="{E68F2EA6-6BA2-4FCA-8201-BCC71BF37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7474" y="5382661"/>
            <a:ext cx="1284930" cy="744436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auto" latinLnBrk="1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ko-KR" sz="1400" b="0" i="0" u="none" strike="noStrike" kern="1200" cap="none" spc="0" normalizeH="0" baseline="0" noProof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effectLst/>
                <a:uLnTx/>
                <a:uFillTx/>
                <a:latin typeface="G마켓 산스 TTF Bold"/>
                <a:ea typeface="G마켓 산스 TTF Bold"/>
                <a:cs typeface="+mn-cs"/>
              </a:rPr>
              <a:t>Process B</a:t>
            </a:r>
          </a:p>
        </p:txBody>
      </p:sp>
      <p:sp>
        <p:nvSpPr>
          <p:cNvPr id="24" name="Line 11">
            <a:extLst>
              <a:ext uri="{FF2B5EF4-FFF2-40B4-BE49-F238E27FC236}">
                <a16:creationId xmlns:a16="http://schemas.microsoft.com/office/drawing/2014/main" id="{ADEF08CA-0841-4E56-A423-79402336D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0720" y="4413898"/>
            <a:ext cx="2838473" cy="1408957"/>
          </a:xfrm>
          <a:prstGeom prst="line">
            <a:avLst/>
          </a:prstGeom>
          <a:noFill/>
          <a:ln w="50800">
            <a:solidFill>
              <a:srgbClr val="F27037"/>
            </a:solidFill>
            <a:round/>
            <a:headEnd type="oval"/>
            <a:tailEnd type="oval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TTF Medium"/>
              <a:ea typeface="넥슨Lv1고딕"/>
              <a:cs typeface="+mn-cs"/>
            </a:endParaRPr>
          </a:p>
        </p:txBody>
      </p:sp>
      <p:sp>
        <p:nvSpPr>
          <p:cNvPr id="81" name="Line 11">
            <a:extLst>
              <a:ext uri="{FF2B5EF4-FFF2-40B4-BE49-F238E27FC236}">
                <a16:creationId xmlns:a16="http://schemas.microsoft.com/office/drawing/2014/main" id="{DA86254F-5F05-45C2-A2AC-D04554FB70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4928" y="1815451"/>
            <a:ext cx="654097" cy="427165"/>
          </a:xfrm>
          <a:prstGeom prst="line">
            <a:avLst/>
          </a:prstGeom>
          <a:noFill/>
          <a:ln w="50800">
            <a:solidFill>
              <a:srgbClr val="098983"/>
            </a:solidFill>
            <a:round/>
            <a:headEnd type="oval"/>
            <a:tailEnd type="oval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TTF Medium"/>
              <a:ea typeface="넥슨Lv1고딕"/>
              <a:cs typeface="+mn-cs"/>
            </a:endParaRPr>
          </a:p>
        </p:txBody>
      </p:sp>
      <p:sp>
        <p:nvSpPr>
          <p:cNvPr id="82" name="Line 11">
            <a:extLst>
              <a:ext uri="{FF2B5EF4-FFF2-40B4-BE49-F238E27FC236}">
                <a16:creationId xmlns:a16="http://schemas.microsoft.com/office/drawing/2014/main" id="{C0DEF886-F4F4-4247-BAD7-9B8B8667AC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2772" y="1762055"/>
            <a:ext cx="634072" cy="420491"/>
          </a:xfrm>
          <a:prstGeom prst="line">
            <a:avLst/>
          </a:prstGeom>
          <a:noFill/>
          <a:ln w="50800">
            <a:solidFill>
              <a:srgbClr val="098983"/>
            </a:solidFill>
            <a:round/>
            <a:headEnd type="oval"/>
            <a:tailEnd type="oval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TTF Medium"/>
              <a:ea typeface="넥슨Lv1고딕"/>
              <a:cs typeface="+mn-cs"/>
            </a:endParaRPr>
          </a:p>
        </p:txBody>
      </p:sp>
      <p:sp>
        <p:nvSpPr>
          <p:cNvPr id="83" name="Line 11">
            <a:extLst>
              <a:ext uri="{FF2B5EF4-FFF2-40B4-BE49-F238E27FC236}">
                <a16:creationId xmlns:a16="http://schemas.microsoft.com/office/drawing/2014/main" id="{E56E3E52-D4E7-42A8-B3BE-0E29F17830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0660" y="1788754"/>
            <a:ext cx="694144" cy="373770"/>
          </a:xfrm>
          <a:prstGeom prst="line">
            <a:avLst/>
          </a:prstGeom>
          <a:noFill/>
          <a:ln w="50800">
            <a:solidFill>
              <a:srgbClr val="098983"/>
            </a:solidFill>
            <a:round/>
            <a:headEnd type="oval"/>
            <a:tailEnd type="oval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TTF Medium"/>
              <a:ea typeface="넥슨Lv1고딕"/>
              <a:cs typeface="+mn-cs"/>
            </a:endParaRPr>
          </a:p>
        </p:txBody>
      </p:sp>
      <p:sp>
        <p:nvSpPr>
          <p:cNvPr id="84" name="Line 11">
            <a:extLst>
              <a:ext uri="{FF2B5EF4-FFF2-40B4-BE49-F238E27FC236}">
                <a16:creationId xmlns:a16="http://schemas.microsoft.com/office/drawing/2014/main" id="{B4ADCE14-23EC-426F-9BBC-8C9EA13B66E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5153" y="2529617"/>
            <a:ext cx="260304" cy="760887"/>
          </a:xfrm>
          <a:prstGeom prst="line">
            <a:avLst/>
          </a:prstGeom>
          <a:noFill/>
          <a:ln w="50800">
            <a:solidFill>
              <a:srgbClr val="098983"/>
            </a:solidFill>
            <a:round/>
            <a:headEnd type="oval"/>
            <a:tailEnd type="oval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TTF Medium"/>
              <a:ea typeface="넥슨Lv1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3003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Line 19">
            <a:extLst>
              <a:ext uri="{FF2B5EF4-FFF2-40B4-BE49-F238E27FC236}">
                <a16:creationId xmlns:a16="http://schemas.microsoft.com/office/drawing/2014/main" id="{7C7843D9-58A0-4D94-B9D9-75F0AD179D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9849" y="4936096"/>
            <a:ext cx="1359414" cy="650871"/>
          </a:xfrm>
          <a:prstGeom prst="line">
            <a:avLst/>
          </a:prstGeom>
          <a:noFill/>
          <a:ln w="28575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신뢰성 있는 데이터 전송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>
                <a:solidFill>
                  <a:schemeClr val="bg1"/>
                </a:solidFill>
              </a:rPr>
              <a:t>getting </a:t>
            </a:r>
            <a:r>
              <a:rPr lang="en-US" altLang="ko-KR" dirty="0">
                <a:solidFill>
                  <a:schemeClr val="bg1"/>
                </a:solidFill>
              </a:rPr>
              <a:t>started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23</a:t>
            </a:fld>
            <a:endParaRPr lang="en-US" dirty="0"/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806F4414-2B50-4E23-8D1B-8882B0AD86D7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613946"/>
            <a:ext cx="720887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점진적으로 </a:t>
            </a:r>
            <a:r>
              <a:rPr lang="en-US" altLang="ko-KR" sz="16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/>
                <a:ea typeface="G마켓 산스 TTF Bold"/>
              </a:rPr>
              <a:t>r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eliable </a:t>
            </a:r>
            <a:r>
              <a:rPr lang="en-US" altLang="ko-KR" sz="16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/>
                <a:ea typeface="G마켓 산스 TTF Bold"/>
              </a:rPr>
              <a:t>d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ata </a:t>
            </a:r>
            <a:r>
              <a:rPr lang="en-US" altLang="ko-KR" sz="16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/>
                <a:ea typeface="G마켓 산스 TTF Bold"/>
              </a:rPr>
              <a:t>t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ransfer protocol (</a:t>
            </a:r>
            <a:r>
              <a:rPr lang="en-US" altLang="ko-KR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rdt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송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/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측을 발전시키겠음</a:t>
            </a:r>
          </a:p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단방향 데이터 전송만 고려하자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2" indent="0">
              <a:lnSpc>
                <a:spcPct val="130000"/>
              </a:lnSpc>
              <a:spcBef>
                <a:spcPts val="600"/>
              </a:spcBef>
              <a:buNone/>
            </a:pPr>
            <a:endParaRPr lang="ko-KR" altLang="en-US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/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측을 명시하기 위해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FSM (finite state machines)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 사용할 것임</a:t>
            </a:r>
          </a:p>
        </p:txBody>
      </p:sp>
      <p:sp>
        <p:nvSpPr>
          <p:cNvPr id="47" name="텍스트 개체 틀 19">
            <a:extLst>
              <a:ext uri="{FF2B5EF4-FFF2-40B4-BE49-F238E27FC236}">
                <a16:creationId xmlns:a16="http://schemas.microsoft.com/office/drawing/2014/main" id="{11B89E01-6AEF-4E1F-B6EA-5713C25003F2}"/>
              </a:ext>
            </a:extLst>
          </p:cNvPr>
          <p:cNvSpPr txBox="1">
            <a:spLocks/>
          </p:cNvSpPr>
          <p:nvPr/>
        </p:nvSpPr>
        <p:spPr>
          <a:xfrm>
            <a:off x="839416" y="1182466"/>
            <a:ext cx="1009407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앞으로</a:t>
            </a:r>
          </a:p>
        </p:txBody>
      </p:sp>
      <p:sp>
        <p:nvSpPr>
          <p:cNvPr id="49" name="Oval 6">
            <a:extLst>
              <a:ext uri="{FF2B5EF4-FFF2-40B4-BE49-F238E27FC236}">
                <a16:creationId xmlns:a16="http://schemas.microsoft.com/office/drawing/2014/main" id="{700E8F99-B83C-4A70-8EFB-FDB51747E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9545" y="4400569"/>
            <a:ext cx="759600" cy="7579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5BA0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0" name="Text Box 7">
            <a:extLst>
              <a:ext uri="{FF2B5EF4-FFF2-40B4-BE49-F238E27FC236}">
                <a16:creationId xmlns:a16="http://schemas.microsoft.com/office/drawing/2014/main" id="{B7A9F9FE-B8F6-41C6-9D82-14847B427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9918" y="4501597"/>
            <a:ext cx="498855" cy="555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상태</a:t>
            </a:r>
            <a:b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</a:t>
            </a:r>
          </a:p>
        </p:txBody>
      </p:sp>
      <p:sp>
        <p:nvSpPr>
          <p:cNvPr id="51" name="Freeform 8">
            <a:extLst>
              <a:ext uri="{FF2B5EF4-FFF2-40B4-BE49-F238E27FC236}">
                <a16:creationId xmlns:a16="http://schemas.microsoft.com/office/drawing/2014/main" id="{F1B5F742-0028-4AF1-B439-CDF221179257}"/>
              </a:ext>
            </a:extLst>
          </p:cNvPr>
          <p:cNvSpPr>
            <a:spLocks/>
          </p:cNvSpPr>
          <p:nvPr/>
        </p:nvSpPr>
        <p:spPr bwMode="auto">
          <a:xfrm>
            <a:off x="3935760" y="4359374"/>
            <a:ext cx="3419132" cy="247166"/>
          </a:xfrm>
          <a:custGeom>
            <a:avLst/>
            <a:gdLst>
              <a:gd name="T0" fmla="*/ 0 w 1446"/>
              <a:gd name="T1" fmla="*/ 2147483646 h 180"/>
              <a:gd name="T2" fmla="*/ 2147483646 w 1446"/>
              <a:gd name="T3" fmla="*/ 2147483646 h 180"/>
              <a:gd name="T4" fmla="*/ 0 60000 65536"/>
              <a:gd name="T5" fmla="*/ 0 60000 65536"/>
              <a:gd name="T6" fmla="*/ 0 w 1446"/>
              <a:gd name="T7" fmla="*/ 0 h 180"/>
              <a:gd name="T8" fmla="*/ 1446 w 1446"/>
              <a:gd name="T9" fmla="*/ 180 h 1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46" h="180">
                <a:moveTo>
                  <a:pt x="0" y="180"/>
                </a:moveTo>
                <a:cubicBezTo>
                  <a:pt x="540" y="30"/>
                  <a:pt x="972" y="0"/>
                  <a:pt x="1446" y="168"/>
                </a:cubicBezTo>
              </a:path>
            </a:pathLst>
          </a:custGeom>
          <a:noFill/>
          <a:ln w="28575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3" name="Oval 11">
            <a:extLst>
              <a:ext uri="{FF2B5EF4-FFF2-40B4-BE49-F238E27FC236}">
                <a16:creationId xmlns:a16="http://schemas.microsoft.com/office/drawing/2014/main" id="{A8BB531B-CE88-4E04-9653-616E5B06C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0742" y="4491196"/>
            <a:ext cx="759600" cy="7579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5BA0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4" name="Text Box 12">
            <a:extLst>
              <a:ext uri="{FF2B5EF4-FFF2-40B4-BE49-F238E27FC236}">
                <a16:creationId xmlns:a16="http://schemas.microsoft.com/office/drawing/2014/main" id="{7EE863B2-E45A-4F9F-96CF-30C55EF45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1115" y="4592224"/>
            <a:ext cx="498855" cy="555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상태</a:t>
            </a:r>
            <a:b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2</a:t>
            </a:r>
          </a:p>
        </p:txBody>
      </p:sp>
      <p:sp>
        <p:nvSpPr>
          <p:cNvPr id="55" name="Text Box 13">
            <a:extLst>
              <a:ext uri="{FF2B5EF4-FFF2-40B4-BE49-F238E27FC236}">
                <a16:creationId xmlns:a16="http://schemas.microsoft.com/office/drawing/2014/main" id="{748681A2-CD51-4FA3-9084-C5B17AB76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2320" y="3617905"/>
            <a:ext cx="254589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상태 전이를 유발하는 이벤트</a:t>
            </a:r>
            <a:endParaRPr lang="en-US" altLang="ko-KR" sz="15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6" name="Text Box 14">
            <a:extLst>
              <a:ext uri="{FF2B5EF4-FFF2-40B4-BE49-F238E27FC236}">
                <a16:creationId xmlns:a16="http://schemas.microsoft.com/office/drawing/2014/main" id="{A9FD96A3-5867-40DD-BCB8-AA1FAED8E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7856" y="4005064"/>
            <a:ext cx="261481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상태 전이 시에 취해지는 행동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7" name="Line 15">
            <a:extLst>
              <a:ext uri="{FF2B5EF4-FFF2-40B4-BE49-F238E27FC236}">
                <a16:creationId xmlns:a16="http://schemas.microsoft.com/office/drawing/2014/main" id="{FF269167-50FB-4E9C-AF0E-7EE50DD81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2865" y="3958309"/>
            <a:ext cx="2924800" cy="0"/>
          </a:xfrm>
          <a:prstGeom prst="line">
            <a:avLst/>
          </a:prstGeom>
          <a:noFill/>
          <a:ln w="28575">
            <a:solidFill>
              <a:srgbClr val="F2703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F27037"/>
              </a:solidFill>
            </a:endParaRPr>
          </a:p>
        </p:txBody>
      </p:sp>
      <p:sp>
        <p:nvSpPr>
          <p:cNvPr id="59" name="Freeform 17">
            <a:extLst>
              <a:ext uri="{FF2B5EF4-FFF2-40B4-BE49-F238E27FC236}">
                <a16:creationId xmlns:a16="http://schemas.microsoft.com/office/drawing/2014/main" id="{C23E4819-3398-4FF7-859C-9560471F29BA}"/>
              </a:ext>
            </a:extLst>
          </p:cNvPr>
          <p:cNvSpPr>
            <a:spLocks/>
          </p:cNvSpPr>
          <p:nvPr/>
        </p:nvSpPr>
        <p:spPr bwMode="auto">
          <a:xfrm>
            <a:off x="3416711" y="5158545"/>
            <a:ext cx="82389" cy="502571"/>
          </a:xfrm>
          <a:custGeom>
            <a:avLst/>
            <a:gdLst>
              <a:gd name="T0" fmla="*/ 2147483646 w 60"/>
              <a:gd name="T1" fmla="*/ 2147483646 h 366"/>
              <a:gd name="T2" fmla="*/ 2147483646 w 60"/>
              <a:gd name="T3" fmla="*/ 0 h 366"/>
              <a:gd name="T4" fmla="*/ 0 60000 65536"/>
              <a:gd name="T5" fmla="*/ 0 60000 65536"/>
              <a:gd name="T6" fmla="*/ 0 w 60"/>
              <a:gd name="T7" fmla="*/ 0 h 366"/>
              <a:gd name="T8" fmla="*/ 60 w 60"/>
              <a:gd name="T9" fmla="*/ 366 h 36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0" h="366">
                <a:moveTo>
                  <a:pt x="48" y="366"/>
                </a:moveTo>
                <a:cubicBezTo>
                  <a:pt x="0" y="204"/>
                  <a:pt x="60" y="55"/>
                  <a:pt x="60" y="0"/>
                </a:cubicBezTo>
              </a:path>
            </a:pathLst>
          </a:custGeom>
          <a:noFill/>
          <a:ln w="28575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0" name="Freeform 18">
            <a:extLst>
              <a:ext uri="{FF2B5EF4-FFF2-40B4-BE49-F238E27FC236}">
                <a16:creationId xmlns:a16="http://schemas.microsoft.com/office/drawing/2014/main" id="{7A601E43-7A4B-42E2-B8A4-BDBF0D093A24}"/>
              </a:ext>
            </a:extLst>
          </p:cNvPr>
          <p:cNvSpPr>
            <a:spLocks/>
          </p:cNvSpPr>
          <p:nvPr/>
        </p:nvSpPr>
        <p:spPr bwMode="auto">
          <a:xfrm flipH="1" flipV="1">
            <a:off x="7865702" y="5191501"/>
            <a:ext cx="82389" cy="502571"/>
          </a:xfrm>
          <a:custGeom>
            <a:avLst/>
            <a:gdLst>
              <a:gd name="T0" fmla="*/ 2147483646 w 60"/>
              <a:gd name="T1" fmla="*/ 2147483646 h 366"/>
              <a:gd name="T2" fmla="*/ 2147483646 w 60"/>
              <a:gd name="T3" fmla="*/ 0 h 366"/>
              <a:gd name="T4" fmla="*/ 0 60000 65536"/>
              <a:gd name="T5" fmla="*/ 0 60000 65536"/>
              <a:gd name="T6" fmla="*/ 0 w 60"/>
              <a:gd name="T7" fmla="*/ 0 h 366"/>
              <a:gd name="T8" fmla="*/ 60 w 60"/>
              <a:gd name="T9" fmla="*/ 366 h 36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0" h="366">
                <a:moveTo>
                  <a:pt x="48" y="366"/>
                </a:moveTo>
                <a:cubicBezTo>
                  <a:pt x="0" y="204"/>
                  <a:pt x="60" y="55"/>
                  <a:pt x="60" y="0"/>
                </a:cubicBezTo>
              </a:path>
            </a:pathLst>
          </a:custGeom>
          <a:noFill/>
          <a:ln w="28575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" name="Text Box 21">
            <a:extLst>
              <a:ext uri="{FF2B5EF4-FFF2-40B4-BE49-F238E27FC236}">
                <a16:creationId xmlns:a16="http://schemas.microsoft.com/office/drawing/2014/main" id="{660FEBE2-87A3-4C77-B51F-3563DD1B7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887" y="4681387"/>
            <a:ext cx="73770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이벤트</a:t>
            </a:r>
            <a:endParaRPr lang="en-US" altLang="ko-KR" sz="15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3" name="Text Box 22">
            <a:extLst>
              <a:ext uri="{FF2B5EF4-FFF2-40B4-BE49-F238E27FC236}">
                <a16:creationId xmlns:a16="http://schemas.microsoft.com/office/drawing/2014/main" id="{C27AE52A-08AF-44EA-8DE0-602041203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1060" y="5021231"/>
            <a:ext cx="55335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행동</a:t>
            </a:r>
            <a:endParaRPr lang="en-US" altLang="ko-KR" sz="15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4" name="Line 23">
            <a:extLst>
              <a:ext uri="{FF2B5EF4-FFF2-40B4-BE49-F238E27FC236}">
                <a16:creationId xmlns:a16="http://schemas.microsoft.com/office/drawing/2014/main" id="{C710F819-9573-4DF3-90C2-C0614F07FE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9914" y="4989614"/>
            <a:ext cx="815648" cy="0"/>
          </a:xfrm>
          <a:prstGeom prst="line">
            <a:avLst/>
          </a:prstGeom>
          <a:noFill/>
          <a:ln w="28575">
            <a:solidFill>
              <a:srgbClr val="F2703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6" name="사각형: 잘린 한쪽 모서리 65">
            <a:extLst>
              <a:ext uri="{FF2B5EF4-FFF2-40B4-BE49-F238E27FC236}">
                <a16:creationId xmlns:a16="http://schemas.microsoft.com/office/drawing/2014/main" id="{B1B7EAC2-241D-4828-B3D3-F002B96F034A}"/>
              </a:ext>
            </a:extLst>
          </p:cNvPr>
          <p:cNvSpPr/>
          <p:nvPr/>
        </p:nvSpPr>
        <p:spPr>
          <a:xfrm>
            <a:off x="814283" y="3697648"/>
            <a:ext cx="2202570" cy="2095777"/>
          </a:xfrm>
          <a:prstGeom prst="snip1Rect">
            <a:avLst>
              <a:gd name="adj" fmla="val 12967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" panose="00000500000000000000" pitchFamily="2" charset="-127"/>
              <a:ea typeface="넥슨Lv1고딕" panose="00000500000000000000" pitchFamily="2" charset="-127"/>
              <a:cs typeface="+mn-cs"/>
            </a:endParaRPr>
          </a:p>
        </p:txBody>
      </p:sp>
      <p:sp>
        <p:nvSpPr>
          <p:cNvPr id="67" name="Rectangle 3">
            <a:extLst>
              <a:ext uri="{FF2B5EF4-FFF2-40B4-BE49-F238E27FC236}">
                <a16:creationId xmlns:a16="http://schemas.microsoft.com/office/drawing/2014/main" id="{00AC9C66-3085-4120-BE56-1F112474B28F}"/>
              </a:ext>
            </a:extLst>
          </p:cNvPr>
          <p:cNvSpPr txBox="1">
            <a:spLocks noChangeArrowheads="1"/>
          </p:cNvSpPr>
          <p:nvPr/>
        </p:nvSpPr>
        <p:spPr>
          <a:xfrm>
            <a:off x="912510" y="3864714"/>
            <a:ext cx="1647071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2" indent="0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ffectLst/>
                <a:uLnTx/>
                <a:uFillTx/>
                <a:latin typeface="G마켓 산스 TTF Bold"/>
                <a:ea typeface="G마켓 산스 TTF Bold"/>
                <a:cs typeface="+mn-cs"/>
              </a:rPr>
              <a:t>상태</a:t>
            </a:r>
            <a:r>
              <a:rPr kumimoji="0" lang="en-US" altLang="ko-KR" sz="1600" b="0" i="0" u="none" strike="noStrike" kern="1200" cap="none" spc="0" normalizeH="0" baseline="0" noProof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ffectLst/>
                <a:uLnTx/>
                <a:uFillTx/>
                <a:latin typeface="G마켓 산스 TTF Bold"/>
                <a:ea typeface="G마켓 산스 TTF Bold"/>
                <a:cs typeface="+mn-cs"/>
              </a:rPr>
              <a:t>(state) </a:t>
            </a:r>
          </a:p>
        </p:txBody>
      </p:sp>
      <p:sp>
        <p:nvSpPr>
          <p:cNvPr id="68" name="Rectangle 3">
            <a:extLst>
              <a:ext uri="{FF2B5EF4-FFF2-40B4-BE49-F238E27FC236}">
                <a16:creationId xmlns:a16="http://schemas.microsoft.com/office/drawing/2014/main" id="{B85BD221-0339-46BC-9F19-3779157797E6}"/>
              </a:ext>
            </a:extLst>
          </p:cNvPr>
          <p:cNvSpPr txBox="1">
            <a:spLocks noChangeArrowheads="1"/>
          </p:cNvSpPr>
          <p:nvPr/>
        </p:nvSpPr>
        <p:spPr>
          <a:xfrm>
            <a:off x="912510" y="4293028"/>
            <a:ext cx="1890760" cy="126784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 “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상태”에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있을 때 다음 이벤트에 의해 다음 상태가 유일하게 결정된다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683B7CB3-4A5E-4F9C-A522-60A5F15C3349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379180"/>
            <a:ext cx="6976032" cy="36760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하지만 제어 정보는 양방향으로 오갈 것이다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09036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rdt1.0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신뢰적인 채널상에서 신뢰적인 전송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24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EF1FC5-9441-431B-A25D-96E081F574FC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220153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아래의 채널이 완벽하게 신뢰적인 경우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29A4F98-A788-4F51-8452-7F7BE23B68BD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622355"/>
            <a:ext cx="6511212" cy="64286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bit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오류 없음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패킷 손실 없음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12DD273-67D1-459F-B9EF-200A0B4723B9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492896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송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/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수신 측의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FSM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734BDB6-E49C-4A5A-AA8E-6B3702ECD27A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902718"/>
            <a:ext cx="6511212" cy="64286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측은 아래 채널로 데이터를 보낸다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측은 아래 채널에서 데이터를 받는다</a:t>
            </a: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4E51E5AA-36C8-4DEB-A9D1-301A36553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524" y="3965169"/>
            <a:ext cx="1113672" cy="11159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5BA0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25DD3995-CB04-41D4-B627-5108E27A9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066" y="4242764"/>
            <a:ext cx="1268462" cy="5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상위로부터 </a:t>
            </a:r>
            <a:b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호출을 기다림</a:t>
            </a:r>
            <a:endParaRPr lang="en-US" altLang="ko-KR" sz="13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F28D73C3-FFA2-4782-8A90-FC7106799492}"/>
              </a:ext>
            </a:extLst>
          </p:cNvPr>
          <p:cNvSpPr>
            <a:spLocks/>
          </p:cNvSpPr>
          <p:nvPr/>
        </p:nvSpPr>
        <p:spPr bwMode="auto">
          <a:xfrm>
            <a:off x="1683197" y="4028452"/>
            <a:ext cx="611187" cy="1027112"/>
          </a:xfrm>
          <a:custGeom>
            <a:avLst/>
            <a:gdLst>
              <a:gd name="T0" fmla="*/ 0 w 735"/>
              <a:gd name="T1" fmla="*/ 2147483646 h 1080"/>
              <a:gd name="T2" fmla="*/ 0 w 735"/>
              <a:gd name="T3" fmla="*/ 2147483646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1E3B37A8-9872-4AD3-9254-D6A2ABC07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4552327"/>
            <a:ext cx="2682875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packet = make_pkt(data)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udt_send(packet)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2093FEE9-6BC9-4325-AC11-173169CA6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4085602"/>
            <a:ext cx="2255838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rdt_send(data)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F51CE18E-A242-4734-9A2B-12845EEF93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7473" y="4428502"/>
            <a:ext cx="12969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6677265B-14B8-4193-8112-C521218CA2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633" y="3952240"/>
            <a:ext cx="288925" cy="287349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A0F33986-93A4-478A-82E6-AB2887107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7078" y="4602049"/>
            <a:ext cx="248761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extract (packet, data)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deliver_data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(data)</a:t>
            </a:r>
          </a:p>
        </p:txBody>
      </p:sp>
      <p:sp>
        <p:nvSpPr>
          <p:cNvPr id="16" name="Oval 12">
            <a:extLst>
              <a:ext uri="{FF2B5EF4-FFF2-40B4-BE49-F238E27FC236}">
                <a16:creationId xmlns:a16="http://schemas.microsoft.com/office/drawing/2014/main" id="{C2187C1E-5EF1-4751-AF0A-0E69665BF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580" y="3950881"/>
            <a:ext cx="1113672" cy="11159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5BA0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2A671484-5EF6-448B-914D-3BC437CCD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8730" y="4242764"/>
            <a:ext cx="1301246" cy="56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하위로부터</a:t>
            </a:r>
            <a:b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호출을 기다림</a:t>
            </a:r>
            <a:endParaRPr lang="en-US" altLang="ko-KR" sz="13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F420FDE9-68E7-449D-B469-A8C125E7D5CA}"/>
              </a:ext>
            </a:extLst>
          </p:cNvPr>
          <p:cNvSpPr>
            <a:spLocks/>
          </p:cNvSpPr>
          <p:nvPr/>
        </p:nvSpPr>
        <p:spPr bwMode="auto">
          <a:xfrm>
            <a:off x="5673853" y="4014164"/>
            <a:ext cx="611187" cy="1027113"/>
          </a:xfrm>
          <a:custGeom>
            <a:avLst/>
            <a:gdLst>
              <a:gd name="T0" fmla="*/ 0 w 735"/>
              <a:gd name="T1" fmla="*/ 2147483646 h 1080"/>
              <a:gd name="T2" fmla="*/ 0 w 735"/>
              <a:gd name="T3" fmla="*/ 2147483646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54D751F4-7280-45CA-91A8-2525021117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3278" y="4414214"/>
            <a:ext cx="12969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C2138382-B50B-4E64-A9D2-9E3A7D4C8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7078" y="4090364"/>
            <a:ext cx="1515800" cy="333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rdt_rcv(packet)</a:t>
            </a:r>
          </a:p>
        </p:txBody>
      </p:sp>
      <p:sp>
        <p:nvSpPr>
          <p:cNvPr id="25" name="사각형: 잘린 한쪽 모서리 24">
            <a:extLst>
              <a:ext uri="{FF2B5EF4-FFF2-40B4-BE49-F238E27FC236}">
                <a16:creationId xmlns:a16="http://schemas.microsoft.com/office/drawing/2014/main" id="{CABE025C-DFCD-40F7-B9A9-D45A077803A3}"/>
              </a:ext>
            </a:extLst>
          </p:cNvPr>
          <p:cNvSpPr/>
          <p:nvPr/>
        </p:nvSpPr>
        <p:spPr>
          <a:xfrm>
            <a:off x="2115549" y="5303780"/>
            <a:ext cx="1690639" cy="381380"/>
          </a:xfrm>
          <a:prstGeom prst="snip1Rect">
            <a:avLst>
              <a:gd name="adj" fmla="val 28162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26" name="텍스트 개체 틀 19">
            <a:extLst>
              <a:ext uri="{FF2B5EF4-FFF2-40B4-BE49-F238E27FC236}">
                <a16:creationId xmlns:a16="http://schemas.microsoft.com/office/drawing/2014/main" id="{6C0442E4-1A7E-4B57-B638-C25C74046802}"/>
              </a:ext>
            </a:extLst>
          </p:cNvPr>
          <p:cNvSpPr txBox="1">
            <a:spLocks/>
          </p:cNvSpPr>
          <p:nvPr/>
        </p:nvSpPr>
        <p:spPr>
          <a:xfrm>
            <a:off x="2444742" y="5315281"/>
            <a:ext cx="1032253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algn="ctr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송신 측</a:t>
            </a:r>
          </a:p>
        </p:txBody>
      </p:sp>
      <p:sp>
        <p:nvSpPr>
          <p:cNvPr id="27" name="사각형: 잘린 한쪽 모서리 26">
            <a:extLst>
              <a:ext uri="{FF2B5EF4-FFF2-40B4-BE49-F238E27FC236}">
                <a16:creationId xmlns:a16="http://schemas.microsoft.com/office/drawing/2014/main" id="{8B588B3B-C869-43DD-B75F-40B2D7F2420A}"/>
              </a:ext>
            </a:extLst>
          </p:cNvPr>
          <p:cNvSpPr/>
          <p:nvPr/>
        </p:nvSpPr>
        <p:spPr>
          <a:xfrm>
            <a:off x="6125444" y="5293445"/>
            <a:ext cx="1697755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8" name="텍스트 개체 틀 19">
            <a:extLst>
              <a:ext uri="{FF2B5EF4-FFF2-40B4-BE49-F238E27FC236}">
                <a16:creationId xmlns:a16="http://schemas.microsoft.com/office/drawing/2014/main" id="{0289A007-D6F5-4CF9-ACDA-EE2914F20061}"/>
              </a:ext>
            </a:extLst>
          </p:cNvPr>
          <p:cNvSpPr txBox="1">
            <a:spLocks/>
          </p:cNvSpPr>
          <p:nvPr/>
        </p:nvSpPr>
        <p:spPr>
          <a:xfrm>
            <a:off x="6458195" y="5310114"/>
            <a:ext cx="1032253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algn="ctr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수신 측</a:t>
            </a:r>
          </a:p>
        </p:txBody>
      </p:sp>
      <p:sp>
        <p:nvSpPr>
          <p:cNvPr id="31" name="Line 10">
            <a:extLst>
              <a:ext uri="{FF2B5EF4-FFF2-40B4-BE49-F238E27FC236}">
                <a16:creationId xmlns:a16="http://schemas.microsoft.com/office/drawing/2014/main" id="{338FBC95-7E6D-4087-BB2E-72D126D65A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9149" y="3952240"/>
            <a:ext cx="288925" cy="287349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198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rdt2.0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/>
              <a:t> </a:t>
            </a:r>
            <a:r>
              <a:rPr lang="ko-KR" altLang="en-US" dirty="0">
                <a:solidFill>
                  <a:schemeClr val="bg1"/>
                </a:solidFill>
              </a:rPr>
              <a:t>비트 오류가 있는 채널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25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688C62-B06B-48F6-9624-8DD10E50275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61492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하위 채널에서 패킷 내의 비트가 바뀔 수 있다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5071ECC-9A00-405D-AC14-C7E2CBFF1362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463060"/>
            <a:ext cx="6976032" cy="36760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비트 오류를 검출하기 위해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checksum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사용</a:t>
            </a:r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9C1886A2-2AAD-4A1F-ABFC-98B043BC4B98}"/>
              </a:ext>
            </a:extLst>
          </p:cNvPr>
          <p:cNvSpPr/>
          <p:nvPr/>
        </p:nvSpPr>
        <p:spPr>
          <a:xfrm>
            <a:off x="844235" y="2951232"/>
            <a:ext cx="6901661" cy="675888"/>
          </a:xfrm>
          <a:prstGeom prst="snip1Rect">
            <a:avLst>
              <a:gd name="adj" fmla="val 19150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21A4F37-EF32-43DA-83DB-75DA976AD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51" y="3037569"/>
            <a:ext cx="68269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20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사람들은 대화 중에 “</a:t>
            </a:r>
            <a:r>
              <a:rPr lang="ko-KR" altLang="en-US" sz="20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</a:rPr>
              <a:t>오류</a:t>
            </a:r>
            <a:r>
              <a:rPr lang="ko-KR" altLang="en-US" sz="20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”를 어떻게 복구하는가</a:t>
            </a:r>
            <a:r>
              <a:rPr lang="en-US" altLang="ko-KR" sz="20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?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D966CD-0201-4326-87E6-245168D968E3}"/>
              </a:ext>
            </a:extLst>
          </p:cNvPr>
          <p:cNvGrpSpPr/>
          <p:nvPr/>
        </p:nvGrpSpPr>
        <p:grpSpPr>
          <a:xfrm>
            <a:off x="595909" y="2972449"/>
            <a:ext cx="507687" cy="593792"/>
            <a:chOff x="595909" y="5784951"/>
            <a:chExt cx="507687" cy="593792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A04345A6-98EE-48D8-BCD5-1664930AAC8E}"/>
                </a:ext>
              </a:extLst>
            </p:cNvPr>
            <p:cNvSpPr/>
            <p:nvPr/>
          </p:nvSpPr>
          <p:spPr>
            <a:xfrm>
              <a:off x="693394" y="6294322"/>
              <a:ext cx="314384" cy="8442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152B0402-A603-457B-B5E8-40CCC9191E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572859" y="5816110"/>
              <a:ext cx="558670" cy="502804"/>
            </a:xfrm>
            <a:prstGeom prst="rect">
              <a:avLst/>
            </a:prstGeom>
          </p:spPr>
        </p:pic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BF269A9C-0DDF-4436-B692-DF9A28F49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909" y="5784951"/>
              <a:ext cx="498162" cy="507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en-US" altLang="ko-KR" sz="2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Q</a:t>
              </a:r>
              <a:endParaRPr lang="en-US" altLang="ko-KR" sz="2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9" name="Rectangle 3">
            <a:extLst>
              <a:ext uri="{FF2B5EF4-FFF2-40B4-BE49-F238E27FC236}">
                <a16:creationId xmlns:a16="http://schemas.microsoft.com/office/drawing/2014/main" id="{C0FE6840-2251-405B-9EF6-5B626C292A45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040487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문제는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오류를 어떻게 복구할 것인가</a:t>
            </a:r>
          </a:p>
        </p:txBody>
      </p:sp>
    </p:spTree>
    <p:extLst>
      <p:ext uri="{BB962C8B-B14F-4D97-AF65-F5344CB8AC3E}">
        <p14:creationId xmlns:p14="http://schemas.microsoft.com/office/powerpoint/2010/main" val="1077310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rdt2.0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/>
              <a:t> </a:t>
            </a:r>
            <a:r>
              <a:rPr lang="ko-KR" altLang="en-US" dirty="0">
                <a:solidFill>
                  <a:schemeClr val="bg1"/>
                </a:solidFill>
              </a:rPr>
              <a:t>비트 오류가 있는 채널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26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C7F576-4124-43DE-B5C8-CBE559EF968F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61492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하위 채널에서 패킷 내의 비트가 바뀔 수 있다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838806-CED4-453B-BE11-4757C6F8C5C1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463060"/>
            <a:ext cx="6976032" cy="36760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비트 오류를 검출하기 위해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checksum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사용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578C381-C1AD-42A1-A13F-DB72D855EB9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040487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i="1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문제는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오류를 어떻게 복구할 것인가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1E9C9F5-EA81-415C-AE06-30912F77F55F}"/>
              </a:ext>
            </a:extLst>
          </p:cNvPr>
          <p:cNvSpPr txBox="1">
            <a:spLocks noChangeArrowheads="1"/>
          </p:cNvSpPr>
          <p:nvPr/>
        </p:nvSpPr>
        <p:spPr>
          <a:xfrm>
            <a:off x="921191" y="2440919"/>
            <a:ext cx="6976032" cy="177311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acknowledgements (ACKs)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측이 받은 패킷이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OK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라고 송신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측에게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명시적으로 알린다</a:t>
            </a:r>
          </a:p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negative acknowledgements (NAKs)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측은 패킷에 오류가 발생했다고 송신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측에게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명시적으로 알린다</a:t>
            </a:r>
          </a:p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NAK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받으면 패킷을 재전송한다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B580382-DD2A-4B80-B242-D8A7F99DCDE8}"/>
              </a:ext>
            </a:extLst>
          </p:cNvPr>
          <p:cNvGrpSpPr/>
          <p:nvPr/>
        </p:nvGrpSpPr>
        <p:grpSpPr>
          <a:xfrm>
            <a:off x="673656" y="4514488"/>
            <a:ext cx="7340044" cy="1145059"/>
            <a:chOff x="673656" y="4301128"/>
            <a:chExt cx="7340044" cy="1145059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F4D86CA6-30B2-4C1D-ADC8-6AB479DF4C0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4301128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3"/>
                </a:buBlip>
              </a:pP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rdt2.0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의 추가 메커니즘 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(rdt1.0 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대비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)</a:t>
              </a:r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B44F4CB5-E689-4A23-B7EA-3158D3D5EE2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4701560"/>
              <a:ext cx="6976032" cy="744627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3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오류 검출</a:t>
              </a:r>
            </a:p>
            <a:p>
              <a:pPr marL="144000" lvl="3" indent="-144000" latinLnBrk="0">
                <a:lnSpc>
                  <a:spcPct val="13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피드백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(feedback) :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수신 측에서 송신 측으로의 제어 메시지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(ACK, NAK)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1325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rdt2.0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FSM specification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27</a:t>
            </a:fld>
            <a:endParaRPr lang="en-US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2203D54-6330-4C3C-84A8-2BB1B7D85B2A}"/>
              </a:ext>
            </a:extLst>
          </p:cNvPr>
          <p:cNvGrpSpPr/>
          <p:nvPr/>
        </p:nvGrpSpPr>
        <p:grpSpPr>
          <a:xfrm>
            <a:off x="707491" y="980728"/>
            <a:ext cx="7489431" cy="5083621"/>
            <a:chOff x="707491" y="980728"/>
            <a:chExt cx="7489431" cy="508362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2B698FD-EA62-48BC-BA00-F10870FD6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91" y="2209800"/>
              <a:ext cx="985837" cy="96202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D8080409-6C06-4EAC-94CC-94FABFFA53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522" y="2359316"/>
              <a:ext cx="1120775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상위로부터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호출을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기다림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8BB5AB4B-1BCC-407E-A1BA-6AD5EED08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635" y="1340768"/>
              <a:ext cx="364331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sndpkt = make_pkt(data, checksum)</a:t>
              </a:r>
            </a:p>
            <a:p>
              <a:pPr marL="0" lvl="3" indent="0" latinLnBrk="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udt_send(sndpkt)</a:t>
              </a: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5250FE3C-FFDC-464F-A121-ABA70FA7F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9410" y="1319089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A8F0BD5A-7FD9-4083-8BB2-F7ED32F37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9510" y="5445224"/>
              <a:ext cx="2143125" cy="619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extract(</a:t>
              </a:r>
              <a:r>
                <a:rPr lang="en-US" altLang="ko-KR" sz="12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rcvpkt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, data)</a:t>
              </a: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deliver_data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(data)</a:t>
              </a: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udt_send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(ACK)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590F7CF6-D168-432F-AE04-E9CDF64B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9510" y="4781550"/>
              <a:ext cx="2157412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rdt_rcv(rcvpkt) &amp;&amp; 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endParaRP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   notcorrupt(rcvpkt)</a:t>
              </a: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5EA97D35-75F0-467D-B51A-22A2ED808A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52750" y="5445224"/>
              <a:ext cx="148907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4F23DE7-7A7D-44E3-86C1-6840B41822A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337022" y="1941513"/>
              <a:ext cx="1800225" cy="247650"/>
            </a:xfrm>
            <a:custGeom>
              <a:avLst/>
              <a:gdLst>
                <a:gd name="T0" fmla="*/ 0 w 2835"/>
                <a:gd name="T1" fmla="*/ 0 h 525"/>
                <a:gd name="T2" fmla="*/ 2147483646 w 2835"/>
                <a:gd name="T3" fmla="*/ 0 h 525"/>
                <a:gd name="T4" fmla="*/ 0 60000 65536"/>
                <a:gd name="T5" fmla="*/ 0 60000 65536"/>
                <a:gd name="T6" fmla="*/ 0 w 2835"/>
                <a:gd name="T7" fmla="*/ 0 h 525"/>
                <a:gd name="T8" fmla="*/ 2835 w 2835"/>
                <a:gd name="T9" fmla="*/ 525 h 52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3329EB7-76CB-4FEB-BD63-A08977ED3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647" y="3221037"/>
              <a:ext cx="1800225" cy="247650"/>
            </a:xfrm>
            <a:custGeom>
              <a:avLst/>
              <a:gdLst>
                <a:gd name="T0" fmla="*/ 0 w 2835"/>
                <a:gd name="T1" fmla="*/ 0 h 525"/>
                <a:gd name="T2" fmla="*/ 2147483646 w 2835"/>
                <a:gd name="T3" fmla="*/ 0 h 525"/>
                <a:gd name="T4" fmla="*/ 0 60000 65536"/>
                <a:gd name="T5" fmla="*/ 0 60000 65536"/>
                <a:gd name="T6" fmla="*/ 0 w 2835"/>
                <a:gd name="T7" fmla="*/ 0 h 525"/>
                <a:gd name="T8" fmla="*/ 2835 w 2835"/>
                <a:gd name="T9" fmla="*/ 525 h 52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D9AB5A40-1D94-4485-A3F8-7B18C3E319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635" y="3492500"/>
              <a:ext cx="3548062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</a:rPr>
                <a:t>rdt_rcv(rcvpkt) &amp;&amp; isACK(rcvpkt)</a:t>
              </a: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2383539B-44AC-4186-BC0B-20DD67D1E3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4635" y="3816350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173EDBF-F0FA-41F4-800F-C1536805B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535" y="2286000"/>
              <a:ext cx="466725" cy="893763"/>
            </a:xfrm>
            <a:custGeom>
              <a:avLst/>
              <a:gdLst>
                <a:gd name="T0" fmla="*/ 0 w 735"/>
                <a:gd name="T1" fmla="*/ 2147483646 h 1080"/>
                <a:gd name="T2" fmla="*/ 0 w 735"/>
                <a:gd name="T3" fmla="*/ 2147483646 h 1080"/>
                <a:gd name="T4" fmla="*/ 0 60000 65536"/>
                <a:gd name="T5" fmla="*/ 0 60000 65536"/>
                <a:gd name="T6" fmla="*/ 0 w 735"/>
                <a:gd name="T7" fmla="*/ 0 h 1080"/>
                <a:gd name="T8" fmla="*/ 735 w 735"/>
                <a:gd name="T9" fmla="*/ 1080 h 10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068B6BBF-13DE-4CE1-94AC-F1E952B04D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6813" y="2640369"/>
              <a:ext cx="176371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udt_send(sndpkt)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D1FFE33F-0F4E-4FC0-804E-A27F8559B6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6813" y="1925638"/>
              <a:ext cx="2085975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</a:rPr>
                <a:t>rdt_rcv(rcvpkt) &amp;&amp;</a:t>
              </a: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</a:rPr>
                <a:t>   isNAK(rcvpkt)</a:t>
              </a: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7D61FCC9-CDCA-4E88-8585-33B6499E04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6813" y="2600325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8A34E7BE-46AF-41AF-9A44-E451B9032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9510" y="2866597"/>
              <a:ext cx="182880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udt_send(NAK)</a:t>
              </a: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62C81E0B-C4D8-4D1E-B8F7-648430CB5A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9510" y="2204864"/>
              <a:ext cx="1919288" cy="312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rdt_rcv(rcvpkt) &amp;&amp; </a:t>
              </a: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 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corrupt(rcvpkt)</a:t>
              </a: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9449396E-B8C7-4CB8-89BA-78A4DCEA7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52750" y="2837203"/>
              <a:ext cx="131848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4129FF5-34F4-49A5-9ACC-9F09C2E00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785" y="2222500"/>
              <a:ext cx="985838" cy="96202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01301939-E07F-4384-B075-7781CD5AC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2097" y="2370138"/>
              <a:ext cx="1074738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ACK </a:t>
              </a: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또는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NAK</a:t>
              </a: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를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기다림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B9E697A-4FE6-4EC2-968C-5BDC9CBFF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423" y="3148013"/>
              <a:ext cx="1257300" cy="469900"/>
            </a:xfrm>
            <a:custGeom>
              <a:avLst/>
              <a:gdLst>
                <a:gd name="T0" fmla="*/ 2147483646 w 1500"/>
                <a:gd name="T1" fmla="*/ 2147483646 h 740"/>
                <a:gd name="T2" fmla="*/ 2147483646 w 1500"/>
                <a:gd name="T3" fmla="*/ 2147483646 h 740"/>
                <a:gd name="T4" fmla="*/ 0 60000 65536"/>
                <a:gd name="T5" fmla="*/ 0 60000 65536"/>
                <a:gd name="T6" fmla="*/ 0 w 1500"/>
                <a:gd name="T7" fmla="*/ 0 h 740"/>
                <a:gd name="T8" fmla="*/ 1500 w 1500"/>
                <a:gd name="T9" fmla="*/ 740 h 7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00" h="74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278BE6C-C06C-4A27-A5AE-AFA3D141A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1532" y="3560763"/>
              <a:ext cx="1002106" cy="977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05BA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19F082EC-5C56-4374-AA63-4F889BDDB6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0648" y="3744913"/>
              <a:ext cx="1143875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하위로부터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호출을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기다림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5BD1FC2-39EC-4E1A-8689-5CBCB5D226A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251123" y="4464050"/>
              <a:ext cx="1257300" cy="469900"/>
            </a:xfrm>
            <a:custGeom>
              <a:avLst/>
              <a:gdLst>
                <a:gd name="T0" fmla="*/ 2147483646 w 1500"/>
                <a:gd name="T1" fmla="*/ 2147483646 h 740"/>
                <a:gd name="T2" fmla="*/ 2147483646 w 1500"/>
                <a:gd name="T3" fmla="*/ 2147483646 h 740"/>
                <a:gd name="T4" fmla="*/ 0 60000 65536"/>
                <a:gd name="T5" fmla="*/ 0 60000 65536"/>
                <a:gd name="T6" fmla="*/ 0 w 1500"/>
                <a:gd name="T7" fmla="*/ 0 h 740"/>
                <a:gd name="T8" fmla="*/ 1500 w 1500"/>
                <a:gd name="T9" fmla="*/ 740 h 7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00" h="74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F13768C4-4423-4B33-9F73-77FBDEE752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491" y="2122476"/>
              <a:ext cx="354893" cy="2889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8925C116-66E6-4E89-9EA6-8528484947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635" y="980728"/>
              <a:ext cx="2255838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rdt_send(data)</a:t>
              </a:r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CF33B3B7-BF54-4470-A362-D4211FFFD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658" y="3859607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ko-KR" sz="18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Arial" panose="020B0604020202020204" pitchFamily="34" charset="0"/>
                  <a:ea typeface="G마켓 산스 TTF Medium" panose="02000000000000000000" pitchFamily="2" charset="-127"/>
                  <a:cs typeface="Arial" panose="020B0604020202020204" pitchFamily="34" charset="0"/>
                </a:rPr>
                <a:t>Λ</a:t>
              </a:r>
              <a:endParaRPr lang="en-US" altLang="ko-KR" sz="18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A52CEFA3-F305-46CF-BBF3-2F9A2FACDC56}"/>
                </a:ext>
              </a:extLst>
            </p:cNvPr>
            <p:cNvGrpSpPr/>
            <p:nvPr/>
          </p:nvGrpSpPr>
          <p:grpSpPr>
            <a:xfrm>
              <a:off x="6052750" y="1705164"/>
              <a:ext cx="1402715" cy="409821"/>
              <a:chOff x="2461895" y="4641923"/>
              <a:chExt cx="1402715" cy="409821"/>
            </a:xfrm>
          </p:grpSpPr>
          <p:sp>
            <p:nvSpPr>
              <p:cNvPr id="37" name="사각형: 잘린 한쪽 모서리 36">
                <a:extLst>
                  <a:ext uri="{FF2B5EF4-FFF2-40B4-BE49-F238E27FC236}">
                    <a16:creationId xmlns:a16="http://schemas.microsoft.com/office/drawing/2014/main" id="{5ED6BB50-C72A-4098-9B18-331665E5D8CE}"/>
                  </a:ext>
                </a:extLst>
              </p:cNvPr>
              <p:cNvSpPr/>
              <p:nvPr/>
            </p:nvSpPr>
            <p:spPr>
              <a:xfrm>
                <a:off x="2461895" y="4650358"/>
                <a:ext cx="1402715" cy="401386"/>
              </a:xfrm>
              <a:prstGeom prst="snip1Rect">
                <a:avLst>
                  <a:gd name="adj" fmla="val 24985"/>
                </a:avLst>
              </a:prstGeom>
              <a:solidFill>
                <a:srgbClr val="EFF5FB"/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  <a:sym typeface="Arial"/>
                </a:endParaRPr>
              </a:p>
            </p:txBody>
          </p:sp>
          <p:sp>
            <p:nvSpPr>
              <p:cNvPr id="39" name="Rectangle 5">
                <a:extLst>
                  <a:ext uri="{FF2B5EF4-FFF2-40B4-BE49-F238E27FC236}">
                    <a16:creationId xmlns:a16="http://schemas.microsoft.com/office/drawing/2014/main" id="{3EA9636F-9BEB-4DFC-8B0F-AE42032EF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6271" y="4641923"/>
                <a:ext cx="933963" cy="3939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D7D31"/>
                  </a:buClr>
                  <a:buSzPct val="85000"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1200" cap="none" spc="0" normalizeH="0" baseline="0" noProof="0" dirty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105BA0"/>
                    </a:solidFill>
                    <a:effectLst/>
                    <a:uLnTx/>
                    <a:uFillTx/>
                    <a:latin typeface="G마켓 산스 TTF Bold"/>
                    <a:ea typeface="G마켓 산스 TTF Bold"/>
                    <a:cs typeface="+mn-cs"/>
                  </a:rPr>
                  <a:t>수신 측</a:t>
                </a:r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8C6A4C69-FF1A-47DB-840F-7B7990EF5D57}"/>
                </a:ext>
              </a:extLst>
            </p:cNvPr>
            <p:cNvGrpSpPr/>
            <p:nvPr/>
          </p:nvGrpSpPr>
          <p:grpSpPr>
            <a:xfrm>
              <a:off x="1262410" y="4461402"/>
              <a:ext cx="1395778" cy="402810"/>
              <a:chOff x="2462531" y="5983178"/>
              <a:chExt cx="1395778" cy="402810"/>
            </a:xfrm>
          </p:grpSpPr>
          <p:sp>
            <p:nvSpPr>
              <p:cNvPr id="38" name="사각형: 잘린 한쪽 모서리 37">
                <a:extLst>
                  <a:ext uri="{FF2B5EF4-FFF2-40B4-BE49-F238E27FC236}">
                    <a16:creationId xmlns:a16="http://schemas.microsoft.com/office/drawing/2014/main" id="{738779E1-B57E-4C20-BCF0-0A55A292252E}"/>
                  </a:ext>
                </a:extLst>
              </p:cNvPr>
              <p:cNvSpPr/>
              <p:nvPr/>
            </p:nvSpPr>
            <p:spPr>
              <a:xfrm>
                <a:off x="2462531" y="5984602"/>
                <a:ext cx="1395778" cy="401386"/>
              </a:xfrm>
              <a:prstGeom prst="snip1Rect">
                <a:avLst>
                  <a:gd name="adj" fmla="val 24985"/>
                </a:avLst>
              </a:prstGeom>
              <a:solidFill>
                <a:srgbClr val="F2FBFB"/>
              </a:solidFill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  <a:sym typeface="Arial"/>
                </a:endParaRPr>
              </a:p>
            </p:txBody>
          </p:sp>
          <p:sp>
            <p:nvSpPr>
              <p:cNvPr id="40" name="Rectangle 5">
                <a:extLst>
                  <a:ext uri="{FF2B5EF4-FFF2-40B4-BE49-F238E27FC236}">
                    <a16:creationId xmlns:a16="http://schemas.microsoft.com/office/drawing/2014/main" id="{645F3A3B-9877-44AE-B751-1A71E5F43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6545" y="5983178"/>
                <a:ext cx="927751" cy="3939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D7D31"/>
                  </a:buClr>
                  <a:buSzPct val="85000"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1200" cap="none" spc="0" normalizeH="0" baseline="0" noProof="0" dirty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098983"/>
                    </a:solidFill>
                    <a:effectLst/>
                    <a:uLnTx/>
                    <a:uFillTx/>
                    <a:latin typeface="G마켓 산스 TTF Bold"/>
                    <a:ea typeface="G마켓 산스 TTF Bold"/>
                    <a:cs typeface="+mn-cs"/>
                  </a:rPr>
                  <a:t>송신 측</a:t>
                </a:r>
              </a:p>
            </p:txBody>
          </p:sp>
        </p:grpSp>
        <p:sp>
          <p:nvSpPr>
            <p:cNvPr id="44" name="Line 33">
              <a:extLst>
                <a:ext uri="{FF2B5EF4-FFF2-40B4-BE49-F238E27FC236}">
                  <a16:creationId xmlns:a16="http://schemas.microsoft.com/office/drawing/2014/main" id="{EF6EC936-36AA-4744-A8A8-BD6F86A5DC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7029" y="3490739"/>
              <a:ext cx="354893" cy="2889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38751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ea typeface="ＭＳ Ｐゴシック" panose="020B0600070205080204" pitchFamily="34" charset="-128"/>
              </a:rPr>
              <a:t>rdt2.0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>
                <a:ea typeface="ＭＳ Ｐゴシック" panose="020B0600070205080204" pitchFamily="34" charset="-128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ea typeface="ＭＳ Ｐゴシック" panose="020B0600070205080204" pitchFamily="34" charset="-128"/>
              </a:rPr>
              <a:t>operation with no errors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28</a:t>
            </a:fld>
            <a:endParaRPr lang="en-US" dirty="0"/>
          </a:p>
        </p:txBody>
      </p:sp>
      <p:sp>
        <p:nvSpPr>
          <p:cNvPr id="5" name="Oval 3">
            <a:extLst>
              <a:ext uri="{FF2B5EF4-FFF2-40B4-BE49-F238E27FC236}">
                <a16:creationId xmlns:a16="http://schemas.microsoft.com/office/drawing/2014/main" id="{F62FF6B1-B019-4D65-947C-1E4C82C2E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991" y="2209800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8B874AC5-CA70-42D4-A3DE-0A23123A0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522" y="2359316"/>
            <a:ext cx="11207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상위로부터 </a:t>
            </a:r>
            <a:b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</a:b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호출을 </a:t>
            </a:r>
            <a:b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</a:b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기다림</a:t>
            </a: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BAED09A6-8527-4133-8024-58497AF2C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635" y="1340768"/>
            <a:ext cx="3643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sndpkt = make_pkt(data, checksum)</a:t>
            </a:r>
          </a:p>
          <a:p>
            <a:pPr marL="0" lvl="3" indent="0" latinLnBrk="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udt_send(sndpkt)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94879B63-309D-44B9-AF80-2803281933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9410" y="1319089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949D2573-BB1C-48CB-8ACC-4A2471E42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9510" y="5445224"/>
            <a:ext cx="21431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extract(rcvpkt,data)</a:t>
            </a:r>
          </a:p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deliver_data(data)</a:t>
            </a:r>
          </a:p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udt_send(ACK)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8C272334-1F03-4B5E-B0BE-877FE7055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9510" y="4781550"/>
            <a:ext cx="21574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rdt_rcv(rcvpkt) &amp;&amp; </a:t>
            </a:r>
          </a:p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notcorrupt(rcvpkt)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B3031266-9F10-420F-93DA-CA038E184B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2750" y="5445224"/>
            <a:ext cx="1785961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9489212-3B2E-4A11-BAB1-804FC60F5750}"/>
              </a:ext>
            </a:extLst>
          </p:cNvPr>
          <p:cNvSpPr>
            <a:spLocks/>
          </p:cNvSpPr>
          <p:nvPr/>
        </p:nvSpPr>
        <p:spPr bwMode="auto">
          <a:xfrm flipV="1">
            <a:off x="1337022" y="1941513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FC475E4F-B3E6-4AE1-930E-475BE8A6708B}"/>
              </a:ext>
            </a:extLst>
          </p:cNvPr>
          <p:cNvSpPr>
            <a:spLocks/>
          </p:cNvSpPr>
          <p:nvPr/>
        </p:nvSpPr>
        <p:spPr bwMode="auto">
          <a:xfrm>
            <a:off x="1384647" y="3221037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14AA1627-2469-49F0-BC22-402BD37B8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635" y="3492500"/>
            <a:ext cx="35480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rdt_rcv(rcvpkt) &amp;&amp; isACK(rcvpkt)</a:t>
            </a:r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97842251-C47E-4BBC-AF3C-F72132EC42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4635" y="3816350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7C4F3224-F488-4ACF-AB7E-4344A17EDA93}"/>
              </a:ext>
            </a:extLst>
          </p:cNvPr>
          <p:cNvSpPr>
            <a:spLocks/>
          </p:cNvSpPr>
          <p:nvPr/>
        </p:nvSpPr>
        <p:spPr bwMode="auto">
          <a:xfrm>
            <a:off x="3532535" y="2286000"/>
            <a:ext cx="466725" cy="893763"/>
          </a:xfrm>
          <a:custGeom>
            <a:avLst/>
            <a:gdLst>
              <a:gd name="T0" fmla="*/ 0 w 735"/>
              <a:gd name="T1" fmla="*/ 2147483646 h 1080"/>
              <a:gd name="T2" fmla="*/ 0 w 735"/>
              <a:gd name="T3" fmla="*/ 2147483646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FFB9AE5E-08D8-4D60-AB8D-F18F53FC0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813" y="2640369"/>
            <a:ext cx="1763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udt_send(sndpkt)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F05B6CBA-137D-4741-87ED-F1201DA18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813" y="1925638"/>
            <a:ext cx="20859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rdt_rcv(rcvpkt) &amp;&amp;</a:t>
            </a:r>
          </a:p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isNAK(rcvpkt)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022514EA-DA52-492F-AFF9-94DF493E6E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6813" y="2600325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166F6F6C-1B15-414F-A662-EF23E0196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9510" y="2866597"/>
            <a:ext cx="18288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udt_send(NAK)</a:t>
            </a:r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A24DBF96-F0B9-4267-911C-49ADABF5D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9510" y="2204864"/>
            <a:ext cx="1919288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rdt_rcv(rcvpkt) &amp;&amp; </a:t>
            </a:r>
          </a:p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corrupt(rcvpkt)</a:t>
            </a:r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679D69A3-13F9-4155-8C4C-C76980FAFD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2750" y="2837203"/>
            <a:ext cx="162541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3" name="Oval 23">
            <a:extLst>
              <a:ext uri="{FF2B5EF4-FFF2-40B4-BE49-F238E27FC236}">
                <a16:creationId xmlns:a16="http://schemas.microsoft.com/office/drawing/2014/main" id="{C00F4245-1BA5-486A-B29E-ADC8871DB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785" y="2222500"/>
            <a:ext cx="985838" cy="962025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24" name="Text Box 24">
            <a:extLst>
              <a:ext uri="{FF2B5EF4-FFF2-40B4-BE49-F238E27FC236}">
                <a16:creationId xmlns:a16="http://schemas.microsoft.com/office/drawing/2014/main" id="{62B3EC8E-EFDE-4591-A899-FC1EDBF0C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2097" y="2370138"/>
            <a:ext cx="10747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ACK 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또는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NAK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</a:t>
            </a:r>
            <a:b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</a:b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기다림</a:t>
            </a: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5" name="Freeform 26">
            <a:extLst>
              <a:ext uri="{FF2B5EF4-FFF2-40B4-BE49-F238E27FC236}">
                <a16:creationId xmlns:a16="http://schemas.microsoft.com/office/drawing/2014/main" id="{968962B5-F6DB-4770-ADE8-6C1D8509799B}"/>
              </a:ext>
            </a:extLst>
          </p:cNvPr>
          <p:cNvSpPr>
            <a:spLocks/>
          </p:cNvSpPr>
          <p:nvPr/>
        </p:nvSpPr>
        <p:spPr bwMode="auto">
          <a:xfrm>
            <a:off x="6238423" y="3148013"/>
            <a:ext cx="1257300" cy="469900"/>
          </a:xfrm>
          <a:custGeom>
            <a:avLst/>
            <a:gdLst>
              <a:gd name="T0" fmla="*/ 2147483646 w 1500"/>
              <a:gd name="T1" fmla="*/ 2147483646 h 740"/>
              <a:gd name="T2" fmla="*/ 2147483646 w 1500"/>
              <a:gd name="T3" fmla="*/ 2147483646 h 740"/>
              <a:gd name="T4" fmla="*/ 0 60000 65536"/>
              <a:gd name="T5" fmla="*/ 0 60000 65536"/>
              <a:gd name="T6" fmla="*/ 0 w 1500"/>
              <a:gd name="T7" fmla="*/ 0 h 740"/>
              <a:gd name="T8" fmla="*/ 1500 w 1500"/>
              <a:gd name="T9" fmla="*/ 740 h 7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" name="Oval 28">
            <a:extLst>
              <a:ext uri="{FF2B5EF4-FFF2-40B4-BE49-F238E27FC236}">
                <a16:creationId xmlns:a16="http://schemas.microsoft.com/office/drawing/2014/main" id="{0C1B86F8-1B30-4738-99B5-6FE925DCC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1532" y="3560763"/>
            <a:ext cx="1002106" cy="977900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27" name="Text Box 29">
            <a:extLst>
              <a:ext uri="{FF2B5EF4-FFF2-40B4-BE49-F238E27FC236}">
                <a16:creationId xmlns:a16="http://schemas.microsoft.com/office/drawing/2014/main" id="{F5C769DB-4D15-44C6-92D9-C43846AA4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0648" y="3744913"/>
            <a:ext cx="1143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하위로부터 </a:t>
            </a:r>
            <a:b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</a:b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호출을 </a:t>
            </a:r>
            <a:b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</a:b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기다림</a:t>
            </a: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8" name="Freeform 30">
            <a:extLst>
              <a:ext uri="{FF2B5EF4-FFF2-40B4-BE49-F238E27FC236}">
                <a16:creationId xmlns:a16="http://schemas.microsoft.com/office/drawing/2014/main" id="{272AD71F-1FA5-4E3B-B85A-33C785FEA4C2}"/>
              </a:ext>
            </a:extLst>
          </p:cNvPr>
          <p:cNvSpPr>
            <a:spLocks/>
          </p:cNvSpPr>
          <p:nvPr/>
        </p:nvSpPr>
        <p:spPr bwMode="auto">
          <a:xfrm flipV="1">
            <a:off x="6251123" y="4464050"/>
            <a:ext cx="1257300" cy="469900"/>
          </a:xfrm>
          <a:custGeom>
            <a:avLst/>
            <a:gdLst>
              <a:gd name="T0" fmla="*/ 2147483646 w 1500"/>
              <a:gd name="T1" fmla="*/ 2147483646 h 740"/>
              <a:gd name="T2" fmla="*/ 2147483646 w 1500"/>
              <a:gd name="T3" fmla="*/ 2147483646 h 740"/>
              <a:gd name="T4" fmla="*/ 0 60000 65536"/>
              <a:gd name="T5" fmla="*/ 0 60000 65536"/>
              <a:gd name="T6" fmla="*/ 0 w 1500"/>
              <a:gd name="T7" fmla="*/ 0 h 740"/>
              <a:gd name="T8" fmla="*/ 1500 w 1500"/>
              <a:gd name="T9" fmla="*/ 740 h 7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Box 34">
            <a:extLst>
              <a:ext uri="{FF2B5EF4-FFF2-40B4-BE49-F238E27FC236}">
                <a16:creationId xmlns:a16="http://schemas.microsoft.com/office/drawing/2014/main" id="{A0DAC793-5CD3-4313-8119-29C23B5A6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635" y="980728"/>
            <a:ext cx="2255838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rdt_send(data)</a:t>
            </a:r>
          </a:p>
        </p:txBody>
      </p:sp>
      <p:sp>
        <p:nvSpPr>
          <p:cNvPr id="31" name="Text Box 35">
            <a:extLst>
              <a:ext uri="{FF2B5EF4-FFF2-40B4-BE49-F238E27FC236}">
                <a16:creationId xmlns:a16="http://schemas.microsoft.com/office/drawing/2014/main" id="{D5CFE61F-C0A1-4D0F-A44E-20A55ACC8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0658" y="3859607"/>
            <a:ext cx="338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ko-KR" sz="1800">
                <a:ln>
                  <a:solidFill>
                    <a:srgbClr val="2D5897">
                      <a:alpha val="0"/>
                    </a:srgbClr>
                  </a:solidFill>
                </a:ln>
                <a:latin typeface="Arial" panose="020B0604020202020204" pitchFamily="34" charset="0"/>
                <a:ea typeface="G마켓 산스 TTF Medium" panose="02000000000000000000" pitchFamily="2" charset="-127"/>
                <a:cs typeface="Arial" panose="020B0604020202020204" pitchFamily="34" charset="0"/>
              </a:rPr>
              <a:t>Λ</a:t>
            </a:r>
            <a:endParaRPr lang="en-US" altLang="ko-KR" sz="1800">
              <a:ln>
                <a:solidFill>
                  <a:srgbClr val="2D5897">
                    <a:alpha val="0"/>
                  </a:srgbClr>
                </a:solidFill>
              </a:ln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E92BE50-83A9-4D89-AA4E-CEB4835D29F3}"/>
              </a:ext>
            </a:extLst>
          </p:cNvPr>
          <p:cNvGrpSpPr/>
          <p:nvPr/>
        </p:nvGrpSpPr>
        <p:grpSpPr>
          <a:xfrm>
            <a:off x="699348" y="2115496"/>
            <a:ext cx="1246720" cy="1054112"/>
            <a:chOff x="707491" y="2122476"/>
            <a:chExt cx="1246720" cy="1054112"/>
          </a:xfrm>
        </p:grpSpPr>
        <p:sp>
          <p:nvSpPr>
            <p:cNvPr id="29" name="Line 33">
              <a:extLst>
                <a:ext uri="{FF2B5EF4-FFF2-40B4-BE49-F238E27FC236}">
                  <a16:creationId xmlns:a16="http://schemas.microsoft.com/office/drawing/2014/main" id="{45DE1EBE-E897-4C1F-BF5A-39C0543265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491" y="2122476"/>
              <a:ext cx="354893" cy="288937"/>
            </a:xfrm>
            <a:prstGeom prst="line">
              <a:avLst/>
            </a:prstGeom>
            <a:noFill/>
            <a:ln w="28575">
              <a:solidFill>
                <a:srgbClr val="F27037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Oval 3">
              <a:extLst>
                <a:ext uri="{FF2B5EF4-FFF2-40B4-BE49-F238E27FC236}">
                  <a16:creationId xmlns:a16="http://schemas.microsoft.com/office/drawing/2014/main" id="{388EA3A8-0EE8-4A8F-ABDC-804F39E9D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374" y="2214563"/>
              <a:ext cx="985837" cy="962025"/>
            </a:xfrm>
            <a:prstGeom prst="ellipse">
              <a:avLst/>
            </a:prstGeom>
            <a:noFill/>
            <a:ln w="38100">
              <a:solidFill>
                <a:srgbClr val="F27037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226967A-6D3A-4FA7-A728-DB82249B535F}"/>
              </a:ext>
            </a:extLst>
          </p:cNvPr>
          <p:cNvGrpSpPr/>
          <p:nvPr/>
        </p:nvGrpSpPr>
        <p:grpSpPr>
          <a:xfrm>
            <a:off x="6082208" y="3476626"/>
            <a:ext cx="1246720" cy="1054112"/>
            <a:chOff x="707491" y="2122476"/>
            <a:chExt cx="1246720" cy="1054112"/>
          </a:xfrm>
        </p:grpSpPr>
        <p:sp>
          <p:nvSpPr>
            <p:cNvPr id="42" name="Line 33">
              <a:extLst>
                <a:ext uri="{FF2B5EF4-FFF2-40B4-BE49-F238E27FC236}">
                  <a16:creationId xmlns:a16="http://schemas.microsoft.com/office/drawing/2014/main" id="{660C3983-E674-4DF8-85D7-F999E2EC2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491" y="2122476"/>
              <a:ext cx="354893" cy="288937"/>
            </a:xfrm>
            <a:prstGeom prst="line">
              <a:avLst/>
            </a:prstGeom>
            <a:noFill/>
            <a:ln w="28575">
              <a:solidFill>
                <a:srgbClr val="F27037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Oval 3">
              <a:extLst>
                <a:ext uri="{FF2B5EF4-FFF2-40B4-BE49-F238E27FC236}">
                  <a16:creationId xmlns:a16="http://schemas.microsoft.com/office/drawing/2014/main" id="{AB4BFD95-B8A2-461B-B0F3-E12A39BD0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374" y="2214563"/>
              <a:ext cx="985837" cy="962025"/>
            </a:xfrm>
            <a:prstGeom prst="ellipse">
              <a:avLst/>
            </a:prstGeom>
            <a:noFill/>
            <a:ln w="38100">
              <a:solidFill>
                <a:srgbClr val="F27037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sp>
        <p:nvSpPr>
          <p:cNvPr id="44" name="Line 36">
            <a:extLst>
              <a:ext uri="{FF2B5EF4-FFF2-40B4-BE49-F238E27FC236}">
                <a16:creationId xmlns:a16="http://schemas.microsoft.com/office/drawing/2014/main" id="{F45B0E59-1785-4CD6-A117-7619BAE88A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9097" y="1052512"/>
            <a:ext cx="0" cy="987583"/>
          </a:xfrm>
          <a:prstGeom prst="line">
            <a:avLst/>
          </a:prstGeom>
          <a:noFill/>
          <a:ln w="76200">
            <a:solidFill>
              <a:srgbClr val="F2703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5" name="Freeform 37">
            <a:extLst>
              <a:ext uri="{FF2B5EF4-FFF2-40B4-BE49-F238E27FC236}">
                <a16:creationId xmlns:a16="http://schemas.microsoft.com/office/drawing/2014/main" id="{42F1530A-2A64-4B83-9CEA-EA0E2C694304}"/>
              </a:ext>
            </a:extLst>
          </p:cNvPr>
          <p:cNvSpPr>
            <a:spLocks/>
          </p:cNvSpPr>
          <p:nvPr/>
        </p:nvSpPr>
        <p:spPr bwMode="auto">
          <a:xfrm>
            <a:off x="1263408" y="1999742"/>
            <a:ext cx="6445491" cy="3123689"/>
          </a:xfrm>
          <a:custGeom>
            <a:avLst/>
            <a:gdLst>
              <a:gd name="T0" fmla="*/ 0 w 4219"/>
              <a:gd name="T1" fmla="*/ 2147483646 h 1928"/>
              <a:gd name="T2" fmla="*/ 2147483646 w 4219"/>
              <a:gd name="T3" fmla="*/ 0 h 1928"/>
              <a:gd name="T4" fmla="*/ 2147483646 w 4219"/>
              <a:gd name="T5" fmla="*/ 2147483646 h 1928"/>
              <a:gd name="T6" fmla="*/ 2147483646 w 4219"/>
              <a:gd name="T7" fmla="*/ 2147483646 h 1928"/>
              <a:gd name="T8" fmla="*/ 0 60000 65536"/>
              <a:gd name="T9" fmla="*/ 0 60000 65536"/>
              <a:gd name="T10" fmla="*/ 0 60000 65536"/>
              <a:gd name="T11" fmla="*/ 0 60000 65536"/>
              <a:gd name="T12" fmla="*/ 0 w 4219"/>
              <a:gd name="T13" fmla="*/ 0 h 1928"/>
              <a:gd name="T14" fmla="*/ 4219 w 4219"/>
              <a:gd name="T15" fmla="*/ 1928 h 1928"/>
              <a:gd name="connsiteX0" fmla="*/ 0 w 10000"/>
              <a:gd name="connsiteY0" fmla="*/ 74 h 10022"/>
              <a:gd name="connsiteX1" fmla="*/ 2555 w 10000"/>
              <a:gd name="connsiteY1" fmla="*/ 0 h 10022"/>
              <a:gd name="connsiteX2" fmla="*/ 8028 w 10000"/>
              <a:gd name="connsiteY2" fmla="*/ 10022 h 10022"/>
              <a:gd name="connsiteX3" fmla="*/ 10000 w 10000"/>
              <a:gd name="connsiteY3" fmla="*/ 10022 h 10022"/>
              <a:gd name="connsiteX0" fmla="*/ 0 w 10000"/>
              <a:gd name="connsiteY0" fmla="*/ 74 h 10022"/>
              <a:gd name="connsiteX1" fmla="*/ 2555 w 10000"/>
              <a:gd name="connsiteY1" fmla="*/ 0 h 10022"/>
              <a:gd name="connsiteX2" fmla="*/ 7550 w 10000"/>
              <a:gd name="connsiteY2" fmla="*/ 10022 h 10022"/>
              <a:gd name="connsiteX3" fmla="*/ 10000 w 10000"/>
              <a:gd name="connsiteY3" fmla="*/ 10022 h 1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22">
                <a:moveTo>
                  <a:pt x="0" y="74"/>
                </a:moveTo>
                <a:lnTo>
                  <a:pt x="2555" y="0"/>
                </a:lnTo>
                <a:lnTo>
                  <a:pt x="7550" y="10022"/>
                </a:lnTo>
                <a:lnTo>
                  <a:pt x="10000" y="10022"/>
                </a:lnTo>
              </a:path>
            </a:pathLst>
          </a:custGeom>
          <a:noFill/>
          <a:ln w="3810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6" name="Oval 3">
            <a:extLst>
              <a:ext uri="{FF2B5EF4-FFF2-40B4-BE49-F238E27FC236}">
                <a16:creationId xmlns:a16="http://schemas.microsoft.com/office/drawing/2014/main" id="{66DC36E1-C878-4BE6-8285-1439FCECB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566" y="2227360"/>
            <a:ext cx="985837" cy="962025"/>
          </a:xfrm>
          <a:prstGeom prst="ellipse">
            <a:avLst/>
          </a:prstGeom>
          <a:noFill/>
          <a:ln w="38100">
            <a:solidFill>
              <a:srgbClr val="F27037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47" name="Line 42">
            <a:extLst>
              <a:ext uri="{FF2B5EF4-FFF2-40B4-BE49-F238E27FC236}">
                <a16:creationId xmlns:a16="http://schemas.microsoft.com/office/drawing/2014/main" id="{88EB77F1-8590-41CB-8390-20D24CE2D3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12092" y="4902200"/>
            <a:ext cx="0" cy="1407858"/>
          </a:xfrm>
          <a:prstGeom prst="line">
            <a:avLst/>
          </a:prstGeom>
          <a:noFill/>
          <a:ln w="76200">
            <a:solidFill>
              <a:srgbClr val="F2703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8" name="Freeform 43">
            <a:extLst>
              <a:ext uri="{FF2B5EF4-FFF2-40B4-BE49-F238E27FC236}">
                <a16:creationId xmlns:a16="http://schemas.microsoft.com/office/drawing/2014/main" id="{A453814F-BBC7-4CEE-9CF6-304301D2A323}"/>
              </a:ext>
            </a:extLst>
          </p:cNvPr>
          <p:cNvSpPr>
            <a:spLocks/>
          </p:cNvSpPr>
          <p:nvPr/>
        </p:nvSpPr>
        <p:spPr bwMode="auto">
          <a:xfrm>
            <a:off x="1161142" y="3875314"/>
            <a:ext cx="6662057" cy="2557728"/>
          </a:xfrm>
          <a:custGeom>
            <a:avLst/>
            <a:gdLst>
              <a:gd name="T0" fmla="*/ 2147483646 w 4200"/>
              <a:gd name="T1" fmla="*/ 2147483646 h 1424"/>
              <a:gd name="T2" fmla="*/ 2147483646 w 4200"/>
              <a:gd name="T3" fmla="*/ 2147483646 h 1424"/>
              <a:gd name="T4" fmla="*/ 2147483646 w 4200"/>
              <a:gd name="T5" fmla="*/ 0 h 1424"/>
              <a:gd name="T6" fmla="*/ 0 w 4200"/>
              <a:gd name="T7" fmla="*/ 0 h 1424"/>
              <a:gd name="T8" fmla="*/ 0 60000 65536"/>
              <a:gd name="T9" fmla="*/ 0 60000 65536"/>
              <a:gd name="T10" fmla="*/ 0 60000 65536"/>
              <a:gd name="T11" fmla="*/ 0 60000 65536"/>
              <a:gd name="T12" fmla="*/ 0 w 4200"/>
              <a:gd name="T13" fmla="*/ 0 h 1424"/>
              <a:gd name="T14" fmla="*/ 4200 w 4200"/>
              <a:gd name="T15" fmla="*/ 1424 h 1424"/>
              <a:gd name="connsiteX0" fmla="*/ 10000 w 10000"/>
              <a:gd name="connsiteY0" fmla="*/ 10000 h 10000"/>
              <a:gd name="connsiteX1" fmla="*/ 7676 w 10000"/>
              <a:gd name="connsiteY1" fmla="*/ 10000 h 10000"/>
              <a:gd name="connsiteX2" fmla="*/ 3911 w 10000"/>
              <a:gd name="connsiteY2" fmla="*/ 0 h 10000"/>
              <a:gd name="connsiteX3" fmla="*/ 0 w 10000"/>
              <a:gd name="connsiteY3" fmla="*/ 0 h 10000"/>
              <a:gd name="connsiteX0" fmla="*/ 10000 w 10000"/>
              <a:gd name="connsiteY0" fmla="*/ 10000 h 10062"/>
              <a:gd name="connsiteX1" fmla="*/ 7268 w 10000"/>
              <a:gd name="connsiteY1" fmla="*/ 10062 h 10062"/>
              <a:gd name="connsiteX2" fmla="*/ 3911 w 10000"/>
              <a:gd name="connsiteY2" fmla="*/ 0 h 10062"/>
              <a:gd name="connsiteX3" fmla="*/ 0 w 10000"/>
              <a:gd name="connsiteY3" fmla="*/ 0 h 10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62">
                <a:moveTo>
                  <a:pt x="10000" y="10000"/>
                </a:moveTo>
                <a:lnTo>
                  <a:pt x="7268" y="10062"/>
                </a:lnTo>
                <a:lnTo>
                  <a:pt x="3911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2" name="Line 33">
            <a:extLst>
              <a:ext uri="{FF2B5EF4-FFF2-40B4-BE49-F238E27FC236}">
                <a16:creationId xmlns:a16="http://schemas.microsoft.com/office/drawing/2014/main" id="{71B564DE-E390-4AA4-A0FA-CCD8DD082A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166" y="2121312"/>
            <a:ext cx="354893" cy="288937"/>
          </a:xfrm>
          <a:prstGeom prst="line">
            <a:avLst/>
          </a:prstGeom>
          <a:noFill/>
          <a:ln w="28575">
            <a:solidFill>
              <a:schemeClr val="bg2">
                <a:lumMod val="10000"/>
              </a:schemeClr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" name="Oval 3">
            <a:extLst>
              <a:ext uri="{FF2B5EF4-FFF2-40B4-BE49-F238E27FC236}">
                <a16:creationId xmlns:a16="http://schemas.microsoft.com/office/drawing/2014/main" id="{4BAF28D4-35ED-4F1F-A04E-284CBF997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231" y="2210130"/>
            <a:ext cx="985837" cy="962025"/>
          </a:xfrm>
          <a:prstGeom prst="ellipse">
            <a:avLst/>
          </a:prstGeom>
          <a:noFill/>
          <a:ln w="38100">
            <a:solidFill>
              <a:srgbClr val="F27037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7484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7"/>
                                            </p:cond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48" grpId="0" animBg="1"/>
      <p:bldP spid="52" grpId="0" animBg="1"/>
      <p:bldP spid="5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 dirty="0">
                <a:ea typeface="ＭＳ Ｐゴシック" panose="020B0600070205080204" pitchFamily="34" charset="-128"/>
              </a:rPr>
              <a:t>rdt2.0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 dirty="0">
                <a:ea typeface="ＭＳ Ｐゴシック" panose="020B0600070205080204" pitchFamily="34" charset="-128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ea typeface="ＭＳ Ｐゴシック" panose="020B0600070205080204" pitchFamily="34" charset="-128"/>
              </a:rPr>
              <a:t>error scenario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29</a:t>
            </a:fld>
            <a:endParaRPr lang="en-US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7E52C26-589E-47B9-858B-29FD512852D8}"/>
              </a:ext>
            </a:extLst>
          </p:cNvPr>
          <p:cNvGrpSpPr/>
          <p:nvPr/>
        </p:nvGrpSpPr>
        <p:grpSpPr>
          <a:xfrm>
            <a:off x="892522" y="980728"/>
            <a:ext cx="7304400" cy="5083621"/>
            <a:chOff x="892522" y="980728"/>
            <a:chExt cx="7304400" cy="5083621"/>
          </a:xfrm>
        </p:grpSpPr>
        <p:sp>
          <p:nvSpPr>
            <p:cNvPr id="39" name="Oval 3">
              <a:extLst>
                <a:ext uri="{FF2B5EF4-FFF2-40B4-BE49-F238E27FC236}">
                  <a16:creationId xmlns:a16="http://schemas.microsoft.com/office/drawing/2014/main" id="{078D8775-D90D-48A8-BE7E-8A6CBFDFB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91" y="2209800"/>
              <a:ext cx="985837" cy="96202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40" name="Text Box 4">
              <a:extLst>
                <a:ext uri="{FF2B5EF4-FFF2-40B4-BE49-F238E27FC236}">
                  <a16:creationId xmlns:a16="http://schemas.microsoft.com/office/drawing/2014/main" id="{E2879E73-3795-4445-A048-81416826A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522" y="2359316"/>
              <a:ext cx="1120775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상위로부터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호출을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기다림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1" name="Text Box 5">
              <a:extLst>
                <a:ext uri="{FF2B5EF4-FFF2-40B4-BE49-F238E27FC236}">
                  <a16:creationId xmlns:a16="http://schemas.microsoft.com/office/drawing/2014/main" id="{CA574F5C-C48D-4B64-BF90-A2DA4B0B5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635" y="1340768"/>
              <a:ext cx="364331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sndpkt = make_pkt(data, checksum)</a:t>
              </a:r>
            </a:p>
            <a:p>
              <a:pPr marL="0" lvl="3" indent="0" latinLnBrk="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udt_send(sndpkt)</a:t>
              </a:r>
            </a:p>
          </p:txBody>
        </p:sp>
        <p:sp>
          <p:nvSpPr>
            <p:cNvPr id="42" name="Line 6">
              <a:extLst>
                <a:ext uri="{FF2B5EF4-FFF2-40B4-BE49-F238E27FC236}">
                  <a16:creationId xmlns:a16="http://schemas.microsoft.com/office/drawing/2014/main" id="{F95786CE-9FA4-4C5F-B13A-FC9FB88B03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9410" y="1319089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 Box 7">
              <a:extLst>
                <a:ext uri="{FF2B5EF4-FFF2-40B4-BE49-F238E27FC236}">
                  <a16:creationId xmlns:a16="http://schemas.microsoft.com/office/drawing/2014/main" id="{7140742B-11F8-48F5-A9CD-70BDB66D1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9510" y="5445224"/>
              <a:ext cx="2143125" cy="619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extract(rcvpkt,data)</a:t>
              </a: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deliver_data(data)</a:t>
              </a: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udt_send(ACK)</a:t>
              </a:r>
            </a:p>
          </p:txBody>
        </p:sp>
        <p:sp>
          <p:nvSpPr>
            <p:cNvPr id="44" name="Text Box 8">
              <a:extLst>
                <a:ext uri="{FF2B5EF4-FFF2-40B4-BE49-F238E27FC236}">
                  <a16:creationId xmlns:a16="http://schemas.microsoft.com/office/drawing/2014/main" id="{CB97FEA7-56DE-473C-8360-508AA97AD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9510" y="4781550"/>
              <a:ext cx="2157412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rdt_rcv(rcvpkt) &amp;&amp; </a:t>
              </a: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  notcorrupt(rcvpkt)</a:t>
              </a:r>
            </a:p>
          </p:txBody>
        </p:sp>
        <p:sp>
          <p:nvSpPr>
            <p:cNvPr id="46" name="Freeform 10">
              <a:extLst>
                <a:ext uri="{FF2B5EF4-FFF2-40B4-BE49-F238E27FC236}">
                  <a16:creationId xmlns:a16="http://schemas.microsoft.com/office/drawing/2014/main" id="{F7D1A92E-2CF4-4AC5-9DA1-3B7C1E1E994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337022" y="1941513"/>
              <a:ext cx="1800225" cy="247650"/>
            </a:xfrm>
            <a:custGeom>
              <a:avLst/>
              <a:gdLst>
                <a:gd name="T0" fmla="*/ 0 w 2835"/>
                <a:gd name="T1" fmla="*/ 0 h 525"/>
                <a:gd name="T2" fmla="*/ 2147483646 w 2835"/>
                <a:gd name="T3" fmla="*/ 0 h 525"/>
                <a:gd name="T4" fmla="*/ 0 60000 65536"/>
                <a:gd name="T5" fmla="*/ 0 60000 65536"/>
                <a:gd name="T6" fmla="*/ 0 w 2835"/>
                <a:gd name="T7" fmla="*/ 0 h 525"/>
                <a:gd name="T8" fmla="*/ 2835 w 2835"/>
                <a:gd name="T9" fmla="*/ 525 h 52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Freeform 11">
              <a:extLst>
                <a:ext uri="{FF2B5EF4-FFF2-40B4-BE49-F238E27FC236}">
                  <a16:creationId xmlns:a16="http://schemas.microsoft.com/office/drawing/2014/main" id="{6764C662-952E-47CF-B179-C3CA0353E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647" y="3221037"/>
              <a:ext cx="1800225" cy="247650"/>
            </a:xfrm>
            <a:custGeom>
              <a:avLst/>
              <a:gdLst>
                <a:gd name="T0" fmla="*/ 0 w 2835"/>
                <a:gd name="T1" fmla="*/ 0 h 525"/>
                <a:gd name="T2" fmla="*/ 2147483646 w 2835"/>
                <a:gd name="T3" fmla="*/ 0 h 525"/>
                <a:gd name="T4" fmla="*/ 0 60000 65536"/>
                <a:gd name="T5" fmla="*/ 0 60000 65536"/>
                <a:gd name="T6" fmla="*/ 0 w 2835"/>
                <a:gd name="T7" fmla="*/ 0 h 525"/>
                <a:gd name="T8" fmla="*/ 2835 w 2835"/>
                <a:gd name="T9" fmla="*/ 525 h 52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 Box 12">
              <a:extLst>
                <a:ext uri="{FF2B5EF4-FFF2-40B4-BE49-F238E27FC236}">
                  <a16:creationId xmlns:a16="http://schemas.microsoft.com/office/drawing/2014/main" id="{5E034A04-CB7A-4600-ADB8-EAE19AD3E8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635" y="3492500"/>
              <a:ext cx="3548062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rdt_rcv(rcvpkt) &amp;&amp; isACK(rcvpkt)</a:t>
              </a:r>
            </a:p>
          </p:txBody>
        </p:sp>
        <p:sp>
          <p:nvSpPr>
            <p:cNvPr id="49" name="Line 13">
              <a:extLst>
                <a:ext uri="{FF2B5EF4-FFF2-40B4-BE49-F238E27FC236}">
                  <a16:creationId xmlns:a16="http://schemas.microsoft.com/office/drawing/2014/main" id="{020E1E85-6457-49B4-852A-D747387946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4635" y="3816350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B51301C3-70A3-41B1-BDFE-CF6DC43CC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535" y="2286000"/>
              <a:ext cx="466725" cy="893763"/>
            </a:xfrm>
            <a:custGeom>
              <a:avLst/>
              <a:gdLst>
                <a:gd name="T0" fmla="*/ 0 w 735"/>
                <a:gd name="T1" fmla="*/ 2147483646 h 1080"/>
                <a:gd name="T2" fmla="*/ 0 w 735"/>
                <a:gd name="T3" fmla="*/ 2147483646 h 1080"/>
                <a:gd name="T4" fmla="*/ 0 60000 65536"/>
                <a:gd name="T5" fmla="*/ 0 60000 65536"/>
                <a:gd name="T6" fmla="*/ 0 w 735"/>
                <a:gd name="T7" fmla="*/ 0 h 1080"/>
                <a:gd name="T8" fmla="*/ 735 w 735"/>
                <a:gd name="T9" fmla="*/ 1080 h 10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Text Box 15">
              <a:extLst>
                <a:ext uri="{FF2B5EF4-FFF2-40B4-BE49-F238E27FC236}">
                  <a16:creationId xmlns:a16="http://schemas.microsoft.com/office/drawing/2014/main" id="{A562DA1B-EA66-4559-9597-661F4B0168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6813" y="2640369"/>
              <a:ext cx="176371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udt_send(sndpkt)</a:t>
              </a:r>
            </a:p>
          </p:txBody>
        </p:sp>
        <p:sp>
          <p:nvSpPr>
            <p:cNvPr id="52" name="Text Box 16">
              <a:extLst>
                <a:ext uri="{FF2B5EF4-FFF2-40B4-BE49-F238E27FC236}">
                  <a16:creationId xmlns:a16="http://schemas.microsoft.com/office/drawing/2014/main" id="{F2EBB02A-774A-4C74-8926-1399F80516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6813" y="1925638"/>
              <a:ext cx="2085975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rdt_rcv(rcvpkt) &amp;&amp;</a:t>
              </a: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  isNAK(rcvpkt)</a:t>
              </a:r>
            </a:p>
          </p:txBody>
        </p:sp>
        <p:sp>
          <p:nvSpPr>
            <p:cNvPr id="53" name="Line 17">
              <a:extLst>
                <a:ext uri="{FF2B5EF4-FFF2-40B4-BE49-F238E27FC236}">
                  <a16:creationId xmlns:a16="http://schemas.microsoft.com/office/drawing/2014/main" id="{E413CCE0-71BE-4491-AC9E-59178262E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6813" y="2600325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 Box 19">
              <a:extLst>
                <a:ext uri="{FF2B5EF4-FFF2-40B4-BE49-F238E27FC236}">
                  <a16:creationId xmlns:a16="http://schemas.microsoft.com/office/drawing/2014/main" id="{B778F1A3-3926-4137-AA25-CB7B16B054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9510" y="2866597"/>
              <a:ext cx="182880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udt_send(NAK)</a:t>
              </a:r>
            </a:p>
          </p:txBody>
        </p:sp>
        <p:sp>
          <p:nvSpPr>
            <p:cNvPr id="55" name="Text Box 20">
              <a:extLst>
                <a:ext uri="{FF2B5EF4-FFF2-40B4-BE49-F238E27FC236}">
                  <a16:creationId xmlns:a16="http://schemas.microsoft.com/office/drawing/2014/main" id="{DF0AE0BE-4B9D-4024-A6E2-17C17F7D16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9510" y="2204864"/>
              <a:ext cx="1919288" cy="312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rdt_rcv(rcvpkt) &amp;&amp; </a:t>
              </a: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 corrupt(rcvpkt)</a:t>
              </a:r>
            </a:p>
          </p:txBody>
        </p:sp>
        <p:sp>
          <p:nvSpPr>
            <p:cNvPr id="57" name="Oval 23">
              <a:extLst>
                <a:ext uri="{FF2B5EF4-FFF2-40B4-BE49-F238E27FC236}">
                  <a16:creationId xmlns:a16="http://schemas.microsoft.com/office/drawing/2014/main" id="{4A80D5C4-B45D-48DF-B207-379D052C6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785" y="2222500"/>
              <a:ext cx="985838" cy="96202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58" name="Text Box 24">
              <a:extLst>
                <a:ext uri="{FF2B5EF4-FFF2-40B4-BE49-F238E27FC236}">
                  <a16:creationId xmlns:a16="http://schemas.microsoft.com/office/drawing/2014/main" id="{43D9474F-B547-4BE9-AFF9-14FD590671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2097" y="2370138"/>
              <a:ext cx="1074738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ACK </a:t>
              </a: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또는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NAK</a:t>
              </a: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를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기다림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59" name="Freeform 26">
              <a:extLst>
                <a:ext uri="{FF2B5EF4-FFF2-40B4-BE49-F238E27FC236}">
                  <a16:creationId xmlns:a16="http://schemas.microsoft.com/office/drawing/2014/main" id="{7265B7AB-35E5-4042-94DA-0BB543716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423" y="3148013"/>
              <a:ext cx="1257300" cy="469900"/>
            </a:xfrm>
            <a:custGeom>
              <a:avLst/>
              <a:gdLst>
                <a:gd name="T0" fmla="*/ 2147483646 w 1500"/>
                <a:gd name="T1" fmla="*/ 2147483646 h 740"/>
                <a:gd name="T2" fmla="*/ 2147483646 w 1500"/>
                <a:gd name="T3" fmla="*/ 2147483646 h 740"/>
                <a:gd name="T4" fmla="*/ 0 60000 65536"/>
                <a:gd name="T5" fmla="*/ 0 60000 65536"/>
                <a:gd name="T6" fmla="*/ 0 w 1500"/>
                <a:gd name="T7" fmla="*/ 0 h 740"/>
                <a:gd name="T8" fmla="*/ 1500 w 1500"/>
                <a:gd name="T9" fmla="*/ 740 h 7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00" h="74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Oval 28">
              <a:extLst>
                <a:ext uri="{FF2B5EF4-FFF2-40B4-BE49-F238E27FC236}">
                  <a16:creationId xmlns:a16="http://schemas.microsoft.com/office/drawing/2014/main" id="{74F41D93-AA4C-484F-849A-7129B5E63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1532" y="3560763"/>
              <a:ext cx="1002106" cy="977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61" name="Text Box 29">
              <a:extLst>
                <a:ext uri="{FF2B5EF4-FFF2-40B4-BE49-F238E27FC236}">
                  <a16:creationId xmlns:a16="http://schemas.microsoft.com/office/drawing/2014/main" id="{C340B2DF-418C-4E45-8A51-DF313E910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0648" y="3744913"/>
              <a:ext cx="1143875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하위로부터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호출을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기다림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62" name="Freeform 30">
              <a:extLst>
                <a:ext uri="{FF2B5EF4-FFF2-40B4-BE49-F238E27FC236}">
                  <a16:creationId xmlns:a16="http://schemas.microsoft.com/office/drawing/2014/main" id="{EA3F090F-3AE1-40BD-93A5-0DBF18B706C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251123" y="4464050"/>
              <a:ext cx="1257300" cy="469900"/>
            </a:xfrm>
            <a:custGeom>
              <a:avLst/>
              <a:gdLst>
                <a:gd name="T0" fmla="*/ 2147483646 w 1500"/>
                <a:gd name="T1" fmla="*/ 2147483646 h 740"/>
                <a:gd name="T2" fmla="*/ 2147483646 w 1500"/>
                <a:gd name="T3" fmla="*/ 2147483646 h 740"/>
                <a:gd name="T4" fmla="*/ 0 60000 65536"/>
                <a:gd name="T5" fmla="*/ 0 60000 65536"/>
                <a:gd name="T6" fmla="*/ 0 w 1500"/>
                <a:gd name="T7" fmla="*/ 0 h 740"/>
                <a:gd name="T8" fmla="*/ 1500 w 1500"/>
                <a:gd name="T9" fmla="*/ 740 h 7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00" h="74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Text Box 34">
              <a:extLst>
                <a:ext uri="{FF2B5EF4-FFF2-40B4-BE49-F238E27FC236}">
                  <a16:creationId xmlns:a16="http://schemas.microsoft.com/office/drawing/2014/main" id="{66B45558-214E-43B4-8DC4-F79C3CC62C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635" y="980728"/>
              <a:ext cx="2255838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rdt_send(data)</a:t>
              </a:r>
            </a:p>
          </p:txBody>
        </p:sp>
        <p:sp>
          <p:nvSpPr>
            <p:cNvPr id="65" name="Text Box 35">
              <a:extLst>
                <a:ext uri="{FF2B5EF4-FFF2-40B4-BE49-F238E27FC236}">
                  <a16:creationId xmlns:a16="http://schemas.microsoft.com/office/drawing/2014/main" id="{91227A44-0758-470D-ABAC-261D31FC7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658" y="3859607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ko-KR" sz="18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Arial" panose="020B0604020202020204" pitchFamily="34" charset="0"/>
                  <a:ea typeface="G마켓 산스 TTF Medium" panose="02000000000000000000" pitchFamily="2" charset="-127"/>
                  <a:cs typeface="Arial" panose="020B0604020202020204" pitchFamily="34" charset="0"/>
                </a:rPr>
                <a:t>Λ</a:t>
              </a:r>
              <a:endParaRPr lang="en-US" altLang="ko-KR" sz="18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6842CA38-BDCD-430E-913C-2F704ED218A7}"/>
              </a:ext>
            </a:extLst>
          </p:cNvPr>
          <p:cNvGrpSpPr/>
          <p:nvPr/>
        </p:nvGrpSpPr>
        <p:grpSpPr>
          <a:xfrm>
            <a:off x="6068248" y="3476627"/>
            <a:ext cx="1246720" cy="1054112"/>
            <a:chOff x="707491" y="2122476"/>
            <a:chExt cx="1246720" cy="1054112"/>
          </a:xfrm>
        </p:grpSpPr>
        <p:sp>
          <p:nvSpPr>
            <p:cNvPr id="77" name="Line 33">
              <a:extLst>
                <a:ext uri="{FF2B5EF4-FFF2-40B4-BE49-F238E27FC236}">
                  <a16:creationId xmlns:a16="http://schemas.microsoft.com/office/drawing/2014/main" id="{C5D082E0-8353-4815-9E04-529C65667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491" y="2122476"/>
              <a:ext cx="354893" cy="288937"/>
            </a:xfrm>
            <a:prstGeom prst="line">
              <a:avLst/>
            </a:prstGeom>
            <a:noFill/>
            <a:ln w="28575">
              <a:solidFill>
                <a:srgbClr val="F27037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8" name="Oval 3">
              <a:extLst>
                <a:ext uri="{FF2B5EF4-FFF2-40B4-BE49-F238E27FC236}">
                  <a16:creationId xmlns:a16="http://schemas.microsoft.com/office/drawing/2014/main" id="{DFFF5FCE-3474-4BD8-878D-DB6C6AE2A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374" y="2214563"/>
              <a:ext cx="985837" cy="962025"/>
            </a:xfrm>
            <a:prstGeom prst="ellipse">
              <a:avLst/>
            </a:prstGeom>
            <a:noFill/>
            <a:ln w="38100">
              <a:solidFill>
                <a:srgbClr val="F27037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sp>
        <p:nvSpPr>
          <p:cNvPr id="83" name="Line 36">
            <a:extLst>
              <a:ext uri="{FF2B5EF4-FFF2-40B4-BE49-F238E27FC236}">
                <a16:creationId xmlns:a16="http://schemas.microsoft.com/office/drawing/2014/main" id="{EFAC0E91-1244-433A-A2C7-B3CE64E87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9097" y="1052513"/>
            <a:ext cx="0" cy="985692"/>
          </a:xfrm>
          <a:prstGeom prst="line">
            <a:avLst/>
          </a:prstGeom>
          <a:noFill/>
          <a:ln w="76200">
            <a:solidFill>
              <a:srgbClr val="F2703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4" name="Freeform 37">
            <a:extLst>
              <a:ext uri="{FF2B5EF4-FFF2-40B4-BE49-F238E27FC236}">
                <a16:creationId xmlns:a16="http://schemas.microsoft.com/office/drawing/2014/main" id="{B7F1AF7E-1C31-4FEB-BBBB-2EBE586D9C12}"/>
              </a:ext>
            </a:extLst>
          </p:cNvPr>
          <p:cNvSpPr>
            <a:spLocks/>
          </p:cNvSpPr>
          <p:nvPr/>
        </p:nvSpPr>
        <p:spPr bwMode="auto">
          <a:xfrm>
            <a:off x="1207566" y="2020538"/>
            <a:ext cx="6470369" cy="528400"/>
          </a:xfrm>
          <a:custGeom>
            <a:avLst/>
            <a:gdLst>
              <a:gd name="T0" fmla="*/ 0 w 4372"/>
              <a:gd name="T1" fmla="*/ 2147483646 h 412"/>
              <a:gd name="T2" fmla="*/ 2147483646 w 4372"/>
              <a:gd name="T3" fmla="*/ 0 h 412"/>
              <a:gd name="T4" fmla="*/ 2147483646 w 4372"/>
              <a:gd name="T5" fmla="*/ 2147483646 h 412"/>
              <a:gd name="T6" fmla="*/ 2147483646 w 4372"/>
              <a:gd name="T7" fmla="*/ 2147483646 h 412"/>
              <a:gd name="T8" fmla="*/ 0 60000 65536"/>
              <a:gd name="T9" fmla="*/ 0 60000 65536"/>
              <a:gd name="T10" fmla="*/ 0 60000 65536"/>
              <a:gd name="T11" fmla="*/ 0 60000 65536"/>
              <a:gd name="T12" fmla="*/ 0 w 4372"/>
              <a:gd name="T13" fmla="*/ 0 h 412"/>
              <a:gd name="T14" fmla="*/ 4372 w 4372"/>
              <a:gd name="T15" fmla="*/ 412 h 412"/>
              <a:gd name="connsiteX0" fmla="*/ 0 w 10000"/>
              <a:gd name="connsiteY0" fmla="*/ 243 h 10000"/>
              <a:gd name="connsiteX1" fmla="*/ 2861 w 10000"/>
              <a:gd name="connsiteY1" fmla="*/ 0 h 10000"/>
              <a:gd name="connsiteX2" fmla="*/ 8024 w 10000"/>
              <a:gd name="connsiteY2" fmla="*/ 10000 h 10000"/>
              <a:gd name="connsiteX3" fmla="*/ 10000 w 10000"/>
              <a:gd name="connsiteY3" fmla="*/ 10000 h 10000"/>
              <a:gd name="connsiteX0" fmla="*/ 0 w 10000"/>
              <a:gd name="connsiteY0" fmla="*/ 243 h 10000"/>
              <a:gd name="connsiteX1" fmla="*/ 2861 w 10000"/>
              <a:gd name="connsiteY1" fmla="*/ 0 h 10000"/>
              <a:gd name="connsiteX2" fmla="*/ 7686 w 10000"/>
              <a:gd name="connsiteY2" fmla="*/ 8186 h 10000"/>
              <a:gd name="connsiteX3" fmla="*/ 10000 w 10000"/>
              <a:gd name="connsiteY3" fmla="*/ 10000 h 10000"/>
              <a:gd name="connsiteX0" fmla="*/ 0 w 10109"/>
              <a:gd name="connsiteY0" fmla="*/ 243 h 8292"/>
              <a:gd name="connsiteX1" fmla="*/ 2861 w 10109"/>
              <a:gd name="connsiteY1" fmla="*/ 0 h 8292"/>
              <a:gd name="connsiteX2" fmla="*/ 7686 w 10109"/>
              <a:gd name="connsiteY2" fmla="*/ 8186 h 8292"/>
              <a:gd name="connsiteX3" fmla="*/ 10109 w 10109"/>
              <a:gd name="connsiteY3" fmla="*/ 8292 h 8292"/>
              <a:gd name="connsiteX0" fmla="*/ 0 w 10000"/>
              <a:gd name="connsiteY0" fmla="*/ 422 h 10129"/>
              <a:gd name="connsiteX1" fmla="*/ 3262 w 10000"/>
              <a:gd name="connsiteY1" fmla="*/ 0 h 10129"/>
              <a:gd name="connsiteX2" fmla="*/ 7603 w 10000"/>
              <a:gd name="connsiteY2" fmla="*/ 10001 h 10129"/>
              <a:gd name="connsiteX3" fmla="*/ 10000 w 10000"/>
              <a:gd name="connsiteY3" fmla="*/ 10129 h 10129"/>
              <a:gd name="connsiteX0" fmla="*/ 0 w 10000"/>
              <a:gd name="connsiteY0" fmla="*/ 36 h 9743"/>
              <a:gd name="connsiteX1" fmla="*/ 3294 w 10000"/>
              <a:gd name="connsiteY1" fmla="*/ 0 h 9743"/>
              <a:gd name="connsiteX2" fmla="*/ 7603 w 10000"/>
              <a:gd name="connsiteY2" fmla="*/ 9615 h 9743"/>
              <a:gd name="connsiteX3" fmla="*/ 10000 w 10000"/>
              <a:gd name="connsiteY3" fmla="*/ 9743 h 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9743">
                <a:moveTo>
                  <a:pt x="0" y="36"/>
                </a:moveTo>
                <a:lnTo>
                  <a:pt x="3294" y="0"/>
                </a:lnTo>
                <a:lnTo>
                  <a:pt x="7603" y="9615"/>
                </a:lnTo>
                <a:lnTo>
                  <a:pt x="10000" y="9743"/>
                </a:lnTo>
              </a:path>
            </a:pathLst>
          </a:custGeom>
          <a:noFill/>
          <a:ln w="3810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5" name="Line 48">
            <a:extLst>
              <a:ext uri="{FF2B5EF4-FFF2-40B4-BE49-F238E27FC236}">
                <a16:creationId xmlns:a16="http://schemas.microsoft.com/office/drawing/2014/main" id="{289CAA9A-7576-43C5-B3AF-96149C236B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3848" y="2270598"/>
            <a:ext cx="0" cy="817562"/>
          </a:xfrm>
          <a:prstGeom prst="line">
            <a:avLst/>
          </a:prstGeom>
          <a:noFill/>
          <a:ln w="76200">
            <a:solidFill>
              <a:srgbClr val="F2703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6" name="Freeform 49">
            <a:extLst>
              <a:ext uri="{FF2B5EF4-FFF2-40B4-BE49-F238E27FC236}">
                <a16:creationId xmlns:a16="http://schemas.microsoft.com/office/drawing/2014/main" id="{E019F85E-9BD2-412C-ADF4-55837196AB2A}"/>
              </a:ext>
            </a:extLst>
          </p:cNvPr>
          <p:cNvSpPr>
            <a:spLocks/>
          </p:cNvSpPr>
          <p:nvPr/>
        </p:nvSpPr>
        <p:spPr bwMode="auto">
          <a:xfrm>
            <a:off x="3888083" y="2223131"/>
            <a:ext cx="3594642" cy="980760"/>
          </a:xfrm>
          <a:custGeom>
            <a:avLst/>
            <a:gdLst>
              <a:gd name="T0" fmla="*/ 2147483646 w 2758"/>
              <a:gd name="T1" fmla="*/ 2147483646 h 646"/>
              <a:gd name="T2" fmla="*/ 2147483646 w 2758"/>
              <a:gd name="T3" fmla="*/ 2147483646 h 646"/>
              <a:gd name="T4" fmla="*/ 2147483646 w 2758"/>
              <a:gd name="T5" fmla="*/ 0 h 646"/>
              <a:gd name="T6" fmla="*/ 0 w 2758"/>
              <a:gd name="T7" fmla="*/ 0 h 646"/>
              <a:gd name="T8" fmla="*/ 0 60000 65536"/>
              <a:gd name="T9" fmla="*/ 0 60000 65536"/>
              <a:gd name="T10" fmla="*/ 0 60000 65536"/>
              <a:gd name="T11" fmla="*/ 0 60000 65536"/>
              <a:gd name="T12" fmla="*/ 0 w 2758"/>
              <a:gd name="T13" fmla="*/ 0 h 646"/>
              <a:gd name="T14" fmla="*/ 2758 w 2758"/>
              <a:gd name="T15" fmla="*/ 646 h 646"/>
              <a:gd name="connsiteX0" fmla="*/ 10000 w 10000"/>
              <a:gd name="connsiteY0" fmla="*/ 10000 h 10418"/>
              <a:gd name="connsiteX1" fmla="*/ 6344 w 10000"/>
              <a:gd name="connsiteY1" fmla="*/ 10418 h 10418"/>
              <a:gd name="connsiteX2" fmla="*/ 3767 w 10000"/>
              <a:gd name="connsiteY2" fmla="*/ 0 h 10418"/>
              <a:gd name="connsiteX3" fmla="*/ 0 w 10000"/>
              <a:gd name="connsiteY3" fmla="*/ 0 h 10418"/>
              <a:gd name="connsiteX0" fmla="*/ 9187 w 9187"/>
              <a:gd name="connsiteY0" fmla="*/ 9796 h 10418"/>
              <a:gd name="connsiteX1" fmla="*/ 6344 w 9187"/>
              <a:gd name="connsiteY1" fmla="*/ 10418 h 10418"/>
              <a:gd name="connsiteX2" fmla="*/ 3767 w 9187"/>
              <a:gd name="connsiteY2" fmla="*/ 0 h 10418"/>
              <a:gd name="connsiteX3" fmla="*/ 0 w 9187"/>
              <a:gd name="connsiteY3" fmla="*/ 0 h 10418"/>
              <a:gd name="connsiteX0" fmla="*/ 10000 w 10000"/>
              <a:gd name="connsiteY0" fmla="*/ 9403 h 9608"/>
              <a:gd name="connsiteX1" fmla="*/ 6402 w 10000"/>
              <a:gd name="connsiteY1" fmla="*/ 9608 h 9608"/>
              <a:gd name="connsiteX2" fmla="*/ 4100 w 10000"/>
              <a:gd name="connsiteY2" fmla="*/ 0 h 9608"/>
              <a:gd name="connsiteX3" fmla="*/ 0 w 10000"/>
              <a:gd name="connsiteY3" fmla="*/ 0 h 9608"/>
              <a:gd name="connsiteX0" fmla="*/ 10017 w 10017"/>
              <a:gd name="connsiteY0" fmla="*/ 9991 h 10000"/>
              <a:gd name="connsiteX1" fmla="*/ 6402 w 10017"/>
              <a:gd name="connsiteY1" fmla="*/ 10000 h 10000"/>
              <a:gd name="connsiteX2" fmla="*/ 4100 w 10017"/>
              <a:gd name="connsiteY2" fmla="*/ 0 h 10000"/>
              <a:gd name="connsiteX3" fmla="*/ 0 w 10017"/>
              <a:gd name="connsiteY3" fmla="*/ 0 h 10000"/>
              <a:gd name="connsiteX0" fmla="*/ 9444 w 9444"/>
              <a:gd name="connsiteY0" fmla="*/ 9991 h 10000"/>
              <a:gd name="connsiteX1" fmla="*/ 5829 w 9444"/>
              <a:gd name="connsiteY1" fmla="*/ 10000 h 10000"/>
              <a:gd name="connsiteX2" fmla="*/ 3527 w 9444"/>
              <a:gd name="connsiteY2" fmla="*/ 0 h 10000"/>
              <a:gd name="connsiteX3" fmla="*/ 0 w 9444"/>
              <a:gd name="connsiteY3" fmla="*/ 68 h 10000"/>
              <a:gd name="connsiteX0" fmla="*/ 10000 w 10000"/>
              <a:gd name="connsiteY0" fmla="*/ 9923 h 9932"/>
              <a:gd name="connsiteX1" fmla="*/ 6172 w 10000"/>
              <a:gd name="connsiteY1" fmla="*/ 9932 h 9932"/>
              <a:gd name="connsiteX2" fmla="*/ 4084 w 10000"/>
              <a:gd name="connsiteY2" fmla="*/ 68 h 9932"/>
              <a:gd name="connsiteX3" fmla="*/ 0 w 10000"/>
              <a:gd name="connsiteY3" fmla="*/ 0 h 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9932">
                <a:moveTo>
                  <a:pt x="10000" y="9923"/>
                </a:moveTo>
                <a:lnTo>
                  <a:pt x="6172" y="9932"/>
                </a:lnTo>
                <a:lnTo>
                  <a:pt x="4084" y="68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7" name="Line 50">
            <a:extLst>
              <a:ext uri="{FF2B5EF4-FFF2-40B4-BE49-F238E27FC236}">
                <a16:creationId xmlns:a16="http://schemas.microsoft.com/office/drawing/2014/main" id="{F4801032-0F3A-4F65-93D1-2F844D3463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5190" y="2020937"/>
            <a:ext cx="0" cy="952608"/>
          </a:xfrm>
          <a:prstGeom prst="line">
            <a:avLst/>
          </a:prstGeom>
          <a:noFill/>
          <a:ln w="76200">
            <a:solidFill>
              <a:srgbClr val="F2703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8" name="Line 9">
            <a:extLst>
              <a:ext uri="{FF2B5EF4-FFF2-40B4-BE49-F238E27FC236}">
                <a16:creationId xmlns:a16="http://schemas.microsoft.com/office/drawing/2014/main" id="{7D044960-63A1-4CBB-BA8E-03FF52C761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2750" y="5445224"/>
            <a:ext cx="1785961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9" name="Line 21">
            <a:extLst>
              <a:ext uri="{FF2B5EF4-FFF2-40B4-BE49-F238E27FC236}">
                <a16:creationId xmlns:a16="http://schemas.microsoft.com/office/drawing/2014/main" id="{E4253786-07EA-4FD1-8C68-6718269596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2750" y="2837203"/>
            <a:ext cx="162541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0" name="Freeform 51">
            <a:extLst>
              <a:ext uri="{FF2B5EF4-FFF2-40B4-BE49-F238E27FC236}">
                <a16:creationId xmlns:a16="http://schemas.microsoft.com/office/drawing/2014/main" id="{1326DFFD-6D19-44A7-89C5-942FD6924944}"/>
              </a:ext>
            </a:extLst>
          </p:cNvPr>
          <p:cNvSpPr>
            <a:spLocks/>
          </p:cNvSpPr>
          <p:nvPr/>
        </p:nvSpPr>
        <p:spPr bwMode="auto">
          <a:xfrm>
            <a:off x="3831777" y="2965123"/>
            <a:ext cx="4073525" cy="2147468"/>
          </a:xfrm>
          <a:custGeom>
            <a:avLst/>
            <a:gdLst>
              <a:gd name="T0" fmla="*/ 0 w 2566"/>
              <a:gd name="T1" fmla="*/ 0 h 1344"/>
              <a:gd name="T2" fmla="*/ 2147483646 w 2566"/>
              <a:gd name="T3" fmla="*/ 0 h 1344"/>
              <a:gd name="T4" fmla="*/ 2147483646 w 2566"/>
              <a:gd name="T5" fmla="*/ 2147483646 h 1344"/>
              <a:gd name="T6" fmla="*/ 2147483646 w 2566"/>
              <a:gd name="T7" fmla="*/ 2147483646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2566"/>
              <a:gd name="T13" fmla="*/ 0 h 1344"/>
              <a:gd name="T14" fmla="*/ 2566 w 2566"/>
              <a:gd name="T15" fmla="*/ 1344 h 1344"/>
              <a:gd name="connsiteX0" fmla="*/ 0 w 10000"/>
              <a:gd name="connsiteY0" fmla="*/ 0 h 10065"/>
              <a:gd name="connsiteX1" fmla="*/ 3948 w 10000"/>
              <a:gd name="connsiteY1" fmla="*/ 0 h 10065"/>
              <a:gd name="connsiteX2" fmla="*/ 5522 w 10000"/>
              <a:gd name="connsiteY2" fmla="*/ 10065 h 10065"/>
              <a:gd name="connsiteX3" fmla="*/ 10000 w 10000"/>
              <a:gd name="connsiteY3" fmla="*/ 10000 h 10065"/>
              <a:gd name="connsiteX0" fmla="*/ 0 w 10000"/>
              <a:gd name="connsiteY0" fmla="*/ 0 h 10065"/>
              <a:gd name="connsiteX1" fmla="*/ 3948 w 10000"/>
              <a:gd name="connsiteY1" fmla="*/ 0 h 10065"/>
              <a:gd name="connsiteX2" fmla="*/ 5522 w 10000"/>
              <a:gd name="connsiteY2" fmla="*/ 10065 h 10065"/>
              <a:gd name="connsiteX3" fmla="*/ 10000 w 10000"/>
              <a:gd name="connsiteY3" fmla="*/ 10036 h 1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65">
                <a:moveTo>
                  <a:pt x="0" y="0"/>
                </a:moveTo>
                <a:lnTo>
                  <a:pt x="3948" y="0"/>
                </a:lnTo>
                <a:lnTo>
                  <a:pt x="5522" y="10065"/>
                </a:lnTo>
                <a:lnTo>
                  <a:pt x="10000" y="10036"/>
                </a:lnTo>
              </a:path>
            </a:pathLst>
          </a:custGeom>
          <a:noFill/>
          <a:ln w="3810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1" name="Line 42">
            <a:extLst>
              <a:ext uri="{FF2B5EF4-FFF2-40B4-BE49-F238E27FC236}">
                <a16:creationId xmlns:a16="http://schemas.microsoft.com/office/drawing/2014/main" id="{C9E54138-2AFB-47E1-A953-D45BBBF13E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88875" y="4888238"/>
            <a:ext cx="0" cy="1379937"/>
          </a:xfrm>
          <a:prstGeom prst="line">
            <a:avLst/>
          </a:prstGeom>
          <a:noFill/>
          <a:ln w="76200">
            <a:solidFill>
              <a:srgbClr val="F2703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" name="Freeform 43">
            <a:extLst>
              <a:ext uri="{FF2B5EF4-FFF2-40B4-BE49-F238E27FC236}">
                <a16:creationId xmlns:a16="http://schemas.microsoft.com/office/drawing/2014/main" id="{F0414D27-D71F-4553-8D48-AE46B55FE6F7}"/>
              </a:ext>
            </a:extLst>
          </p:cNvPr>
          <p:cNvSpPr>
            <a:spLocks/>
          </p:cNvSpPr>
          <p:nvPr/>
        </p:nvSpPr>
        <p:spPr bwMode="auto">
          <a:xfrm>
            <a:off x="1155700" y="3886200"/>
            <a:ext cx="6667500" cy="2535471"/>
          </a:xfrm>
          <a:custGeom>
            <a:avLst/>
            <a:gdLst>
              <a:gd name="T0" fmla="*/ 2147483646 w 4200"/>
              <a:gd name="T1" fmla="*/ 2147483646 h 1424"/>
              <a:gd name="T2" fmla="*/ 2147483646 w 4200"/>
              <a:gd name="T3" fmla="*/ 2147483646 h 1424"/>
              <a:gd name="T4" fmla="*/ 2147483646 w 4200"/>
              <a:gd name="T5" fmla="*/ 0 h 1424"/>
              <a:gd name="T6" fmla="*/ 0 w 4200"/>
              <a:gd name="T7" fmla="*/ 0 h 1424"/>
              <a:gd name="T8" fmla="*/ 0 60000 65536"/>
              <a:gd name="T9" fmla="*/ 0 60000 65536"/>
              <a:gd name="T10" fmla="*/ 0 60000 65536"/>
              <a:gd name="T11" fmla="*/ 0 60000 65536"/>
              <a:gd name="T12" fmla="*/ 0 w 4200"/>
              <a:gd name="T13" fmla="*/ 0 h 1424"/>
              <a:gd name="T14" fmla="*/ 4200 w 4200"/>
              <a:gd name="T15" fmla="*/ 1424 h 1424"/>
              <a:gd name="connsiteX0" fmla="*/ 10000 w 10000"/>
              <a:gd name="connsiteY0" fmla="*/ 10000 h 10083"/>
              <a:gd name="connsiteX1" fmla="*/ 7540 w 10000"/>
              <a:gd name="connsiteY1" fmla="*/ 10083 h 10083"/>
              <a:gd name="connsiteX2" fmla="*/ 4476 w 10000"/>
              <a:gd name="connsiteY2" fmla="*/ 0 h 10083"/>
              <a:gd name="connsiteX3" fmla="*/ 0 w 10000"/>
              <a:gd name="connsiteY3" fmla="*/ 0 h 1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83">
                <a:moveTo>
                  <a:pt x="10000" y="10000"/>
                </a:moveTo>
                <a:lnTo>
                  <a:pt x="7540" y="10083"/>
                </a:lnTo>
                <a:lnTo>
                  <a:pt x="4476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3" name="Oval 3">
            <a:extLst>
              <a:ext uri="{FF2B5EF4-FFF2-40B4-BE49-F238E27FC236}">
                <a16:creationId xmlns:a16="http://schemas.microsoft.com/office/drawing/2014/main" id="{ABC584C4-2D8F-436C-8ED9-FDC15D847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566" y="2227360"/>
            <a:ext cx="985837" cy="962025"/>
          </a:xfrm>
          <a:prstGeom prst="ellipse">
            <a:avLst/>
          </a:prstGeom>
          <a:noFill/>
          <a:ln w="38100">
            <a:solidFill>
              <a:srgbClr val="F27037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02" name="Oval 3">
            <a:extLst>
              <a:ext uri="{FF2B5EF4-FFF2-40B4-BE49-F238E27FC236}">
                <a16:creationId xmlns:a16="http://schemas.microsoft.com/office/drawing/2014/main" id="{A1E90E93-D1FD-429F-B416-AF0E1DC7E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991" y="2209800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03" name="Text Box 4">
            <a:extLst>
              <a:ext uri="{FF2B5EF4-FFF2-40B4-BE49-F238E27FC236}">
                <a16:creationId xmlns:a16="http://schemas.microsoft.com/office/drawing/2014/main" id="{C0442687-DD7A-45B8-A660-9D2583A08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522" y="2359316"/>
            <a:ext cx="11207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상위로부터 </a:t>
            </a:r>
            <a:b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</a:b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호출을 </a:t>
            </a:r>
            <a:b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</a:b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기다림</a:t>
            </a: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1C2D88BF-F12E-4C4C-9D93-C667C2E34C95}"/>
              </a:ext>
            </a:extLst>
          </p:cNvPr>
          <p:cNvGrpSpPr/>
          <p:nvPr/>
        </p:nvGrpSpPr>
        <p:grpSpPr>
          <a:xfrm>
            <a:off x="699348" y="2115496"/>
            <a:ext cx="1246720" cy="1054112"/>
            <a:chOff x="707491" y="2122476"/>
            <a:chExt cx="1246720" cy="1054112"/>
          </a:xfrm>
        </p:grpSpPr>
        <p:sp>
          <p:nvSpPr>
            <p:cNvPr id="105" name="Line 33">
              <a:extLst>
                <a:ext uri="{FF2B5EF4-FFF2-40B4-BE49-F238E27FC236}">
                  <a16:creationId xmlns:a16="http://schemas.microsoft.com/office/drawing/2014/main" id="{6440D1CF-3029-4615-A3DB-231FB19B45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491" y="2122476"/>
              <a:ext cx="354893" cy="288937"/>
            </a:xfrm>
            <a:prstGeom prst="line">
              <a:avLst/>
            </a:prstGeom>
            <a:noFill/>
            <a:ln w="28575">
              <a:solidFill>
                <a:srgbClr val="F27037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6" name="Oval 3">
              <a:extLst>
                <a:ext uri="{FF2B5EF4-FFF2-40B4-BE49-F238E27FC236}">
                  <a16:creationId xmlns:a16="http://schemas.microsoft.com/office/drawing/2014/main" id="{DF87EB53-7470-4AD2-BCB3-D85FD614A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374" y="2214563"/>
              <a:ext cx="985837" cy="962025"/>
            </a:xfrm>
            <a:prstGeom prst="ellipse">
              <a:avLst/>
            </a:prstGeom>
            <a:noFill/>
            <a:ln w="38100">
              <a:solidFill>
                <a:srgbClr val="F27037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sp>
        <p:nvSpPr>
          <p:cNvPr id="107" name="Line 33">
            <a:extLst>
              <a:ext uri="{FF2B5EF4-FFF2-40B4-BE49-F238E27FC236}">
                <a16:creationId xmlns:a16="http://schemas.microsoft.com/office/drawing/2014/main" id="{FF7E923F-4D31-42DB-AD0B-FF124C7C3E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166" y="2121312"/>
            <a:ext cx="354893" cy="288937"/>
          </a:xfrm>
          <a:prstGeom prst="line">
            <a:avLst/>
          </a:prstGeom>
          <a:noFill/>
          <a:ln w="28575">
            <a:solidFill>
              <a:schemeClr val="bg2">
                <a:lumMod val="10000"/>
              </a:schemeClr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8" name="Oval 3">
            <a:extLst>
              <a:ext uri="{FF2B5EF4-FFF2-40B4-BE49-F238E27FC236}">
                <a16:creationId xmlns:a16="http://schemas.microsoft.com/office/drawing/2014/main" id="{6AD8180B-54C6-4499-A576-50C399D63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231" y="2207583"/>
            <a:ext cx="985837" cy="962025"/>
          </a:xfrm>
          <a:prstGeom prst="ellipse">
            <a:avLst/>
          </a:prstGeom>
          <a:noFill/>
          <a:ln w="38100">
            <a:solidFill>
              <a:srgbClr val="F27037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850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3" grpId="1" animBg="1"/>
      <p:bldP spid="107" grpId="0" animBg="1"/>
      <p:bldP spid="10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ea typeface="ＭＳ Ｐゴシック" panose="020B0600070205080204" pitchFamily="34" charset="-128"/>
              </a:rPr>
              <a:t>rdt2.0</a:t>
            </a:r>
            <a:r>
              <a:rPr lang="ko-KR" altLang="en-US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</a:t>
            </a:r>
            <a:r>
              <a:rPr lang="ko-KR" altLang="en-US"/>
              <a:t> </a:t>
            </a:r>
            <a:r>
              <a:rPr lang="ko-KR" altLang="en-US" dirty="0">
                <a:solidFill>
                  <a:schemeClr val="bg1"/>
                </a:solidFill>
              </a:rPr>
              <a:t>치명적 결함이 있다</a:t>
            </a:r>
            <a:r>
              <a:rPr lang="en-US" altLang="ko-KR" dirty="0">
                <a:solidFill>
                  <a:schemeClr val="bg1"/>
                </a:solidFill>
                <a:ea typeface="ＭＳ Ｐゴシック" panose="020B0600070205080204" pitchFamily="34" charset="-128"/>
              </a:rPr>
              <a:t>!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30</a:t>
            </a:fld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B389E79-A011-45F4-986C-BB41C5A717D9}"/>
              </a:ext>
            </a:extLst>
          </p:cNvPr>
          <p:cNvGrpSpPr/>
          <p:nvPr/>
        </p:nvGrpSpPr>
        <p:grpSpPr>
          <a:xfrm>
            <a:off x="673656" y="1048357"/>
            <a:ext cx="7731203" cy="1245180"/>
            <a:chOff x="673656" y="1048357"/>
            <a:chExt cx="7731203" cy="12451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C99619-C60E-4E4C-8111-060A80C8132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1772816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2"/>
                </a:buBlip>
              </a:pP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송신 측은 수신 측에 무슨 일이 생겼는지 알 수 없다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!</a:t>
              </a:r>
            </a:p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2"/>
                </a:buBlip>
              </a:pP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무작정 재전송할 수도 없다 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: 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중복 가능성 때문</a:t>
              </a:r>
            </a:p>
          </p:txBody>
        </p:sp>
        <p:sp>
          <p:nvSpPr>
            <p:cNvPr id="12" name="텍스트 개체 틀 19">
              <a:extLst>
                <a:ext uri="{FF2B5EF4-FFF2-40B4-BE49-F238E27FC236}">
                  <a16:creationId xmlns:a16="http://schemas.microsoft.com/office/drawing/2014/main" id="{838CB4BE-9279-457A-94BB-92B36A75199F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55777"/>
              <a:ext cx="7071353" cy="339324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buSzPct val="65000"/>
                <a:defRPr/>
              </a:pPr>
              <a:r>
                <a:rPr lang="en-US" altLang="ko-KR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ACK/NAK</a:t>
              </a:r>
              <a:r>
                <a:rPr lang="ko-KR" altLang="en-US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가 손상되면 어떻게 될 것인가</a:t>
              </a:r>
              <a:r>
                <a:rPr lang="en-US" altLang="ko-KR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?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EB9D57C-B166-489E-B9A8-AD2A83CA1B62}"/>
                </a:ext>
              </a:extLst>
            </p:cNvPr>
            <p:cNvGrpSpPr/>
            <p:nvPr/>
          </p:nvGrpSpPr>
          <p:grpSpPr>
            <a:xfrm>
              <a:off x="701013" y="1048357"/>
              <a:ext cx="499079" cy="594722"/>
              <a:chOff x="701013" y="1048357"/>
              <a:chExt cx="499079" cy="594722"/>
            </a:xfrm>
          </p:grpSpPr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618797E2-949A-48F8-8F29-13FE36FB5E6C}"/>
                  </a:ext>
                </a:extLst>
              </p:cNvPr>
              <p:cNvSpPr/>
              <p:nvPr/>
            </p:nvSpPr>
            <p:spPr>
              <a:xfrm>
                <a:off x="789517" y="1558658"/>
                <a:ext cx="314384" cy="84421"/>
              </a:xfrm>
              <a:prstGeom prst="ellipse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19" name="그래픽 13">
                <a:extLst>
                  <a:ext uri="{FF2B5EF4-FFF2-40B4-BE49-F238E27FC236}">
                    <a16:creationId xmlns:a16="http://schemas.microsoft.com/office/drawing/2014/main" id="{DAE570D9-6754-4453-95C8-9709A59F7B83}"/>
                  </a:ext>
                </a:extLst>
              </p:cNvPr>
              <p:cNvSpPr/>
              <p:nvPr/>
            </p:nvSpPr>
            <p:spPr>
              <a:xfrm rot="5400000">
                <a:off x="668924" y="1080446"/>
                <a:ext cx="563257" cy="499079"/>
              </a:xfrm>
              <a:custGeom>
                <a:avLst/>
                <a:gdLst>
                  <a:gd name="connsiteX0" fmla="*/ 399978 w 563257"/>
                  <a:gd name="connsiteY0" fmla="*/ 29 h 499079"/>
                  <a:gd name="connsiteX1" fmla="*/ 163102 w 563257"/>
                  <a:gd name="connsiteY1" fmla="*/ 29 h 499079"/>
                  <a:gd name="connsiteX2" fmla="*/ 124367 w 563257"/>
                  <a:gd name="connsiteY2" fmla="*/ 22376 h 499079"/>
                  <a:gd name="connsiteX3" fmla="*/ 5929 w 563257"/>
                  <a:gd name="connsiteY3" fmla="*/ 227222 h 499079"/>
                  <a:gd name="connsiteX4" fmla="*/ 5929 w 563257"/>
                  <a:gd name="connsiteY4" fmla="*/ 271916 h 499079"/>
                  <a:gd name="connsiteX5" fmla="*/ 124367 w 563257"/>
                  <a:gd name="connsiteY5" fmla="*/ 476762 h 499079"/>
                  <a:gd name="connsiteX6" fmla="*/ 163102 w 563257"/>
                  <a:gd name="connsiteY6" fmla="*/ 499109 h 499079"/>
                  <a:gd name="connsiteX7" fmla="*/ 399978 w 563257"/>
                  <a:gd name="connsiteY7" fmla="*/ 499109 h 499079"/>
                  <a:gd name="connsiteX8" fmla="*/ 438712 w 563257"/>
                  <a:gd name="connsiteY8" fmla="*/ 476762 h 499079"/>
                  <a:gd name="connsiteX9" fmla="*/ 557150 w 563257"/>
                  <a:gd name="connsiteY9" fmla="*/ 271916 h 499079"/>
                  <a:gd name="connsiteX10" fmla="*/ 557150 w 563257"/>
                  <a:gd name="connsiteY10" fmla="*/ 227222 h 499079"/>
                  <a:gd name="connsiteX11" fmla="*/ 438712 w 563257"/>
                  <a:gd name="connsiteY11" fmla="*/ 22376 h 499079"/>
                  <a:gd name="connsiteX12" fmla="*/ 399978 w 563257"/>
                  <a:gd name="connsiteY12" fmla="*/ 29 h 499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3257" h="499079">
                    <a:moveTo>
                      <a:pt x="399978" y="29"/>
                    </a:moveTo>
                    <a:lnTo>
                      <a:pt x="163102" y="29"/>
                    </a:lnTo>
                    <a:cubicBezTo>
                      <a:pt x="147135" y="57"/>
                      <a:pt x="132384" y="8568"/>
                      <a:pt x="124367" y="22376"/>
                    </a:cubicBezTo>
                    <a:lnTo>
                      <a:pt x="5929" y="227222"/>
                    </a:lnTo>
                    <a:cubicBezTo>
                      <a:pt x="-2093" y="241040"/>
                      <a:pt x="-2093" y="258098"/>
                      <a:pt x="5929" y="271916"/>
                    </a:cubicBezTo>
                    <a:lnTo>
                      <a:pt x="124367" y="476762"/>
                    </a:lnTo>
                    <a:cubicBezTo>
                      <a:pt x="132384" y="490571"/>
                      <a:pt x="147135" y="499081"/>
                      <a:pt x="163102" y="499109"/>
                    </a:cubicBezTo>
                    <a:lnTo>
                      <a:pt x="399978" y="499109"/>
                    </a:lnTo>
                    <a:cubicBezTo>
                      <a:pt x="415937" y="499081"/>
                      <a:pt x="430704" y="490571"/>
                      <a:pt x="438712" y="476762"/>
                    </a:cubicBezTo>
                    <a:lnTo>
                      <a:pt x="557150" y="271916"/>
                    </a:lnTo>
                    <a:cubicBezTo>
                      <a:pt x="565176" y="258098"/>
                      <a:pt x="565176" y="241040"/>
                      <a:pt x="557150" y="227222"/>
                    </a:cubicBezTo>
                    <a:lnTo>
                      <a:pt x="438712" y="22376"/>
                    </a:lnTo>
                    <a:cubicBezTo>
                      <a:pt x="430704" y="8568"/>
                      <a:pt x="415937" y="57"/>
                      <a:pt x="399978" y="29"/>
                    </a:cubicBezTo>
                    <a:close/>
                  </a:path>
                </a:pathLst>
              </a:custGeom>
              <a:solidFill>
                <a:srgbClr val="105BA0"/>
              </a:solidFill>
              <a:ln w="171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F12C091F-3CDF-4726-A86A-93FB784626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/>
            </p:blipFill>
            <p:spPr>
              <a:xfrm>
                <a:off x="803272" y="1148544"/>
                <a:ext cx="290090" cy="345821"/>
              </a:xfrm>
              <a:prstGeom prst="rect">
                <a:avLst/>
              </a:prstGeom>
            </p:spPr>
          </p:pic>
        </p:grp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4D7A011-49C9-46C6-BB12-8FFD75D90E51}"/>
              </a:ext>
            </a:extLst>
          </p:cNvPr>
          <p:cNvGrpSpPr/>
          <p:nvPr/>
        </p:nvGrpSpPr>
        <p:grpSpPr>
          <a:xfrm>
            <a:off x="771592" y="2852936"/>
            <a:ext cx="7043856" cy="1618329"/>
            <a:chOff x="771592" y="2852936"/>
            <a:chExt cx="7043856" cy="1618329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36A3D622-CD04-438C-BCD3-8252D497D0B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39416" y="3258304"/>
              <a:ext cx="6976032" cy="1212961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송신 측은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ACK/NAK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가 손상되었으면 현재 패킷을 재전송한다</a:t>
              </a:r>
            </a:p>
            <a:p>
              <a:pPr marL="144000" lvl="3" indent="-14400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각 패킷에는 순서 번호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(sequence number)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를 추가</a:t>
              </a:r>
            </a:p>
            <a:p>
              <a:pPr marL="144000" lvl="3" indent="-14400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수신 측은 중복 패킷은 버린다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</a:t>
              </a:r>
              <a:r>
                <a:rPr lang="ko-KR" altLang="en-US" sz="15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올려보내지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않는다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)</a:t>
              </a:r>
            </a:p>
          </p:txBody>
        </p:sp>
        <p:sp>
          <p:nvSpPr>
            <p:cNvPr id="17" name="텍스트 개체 틀 19">
              <a:extLst>
                <a:ext uri="{FF2B5EF4-FFF2-40B4-BE49-F238E27FC236}">
                  <a16:creationId xmlns:a16="http://schemas.microsoft.com/office/drawing/2014/main" id="{A0C71469-D7CF-4C85-8818-B7564B81FABC}"/>
                </a:ext>
              </a:extLst>
            </p:cNvPr>
            <p:cNvSpPr txBox="1">
              <a:spLocks/>
            </p:cNvSpPr>
            <p:nvPr/>
          </p:nvSpPr>
          <p:spPr>
            <a:xfrm>
              <a:off x="771592" y="2852936"/>
              <a:ext cx="1606604" cy="339324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buClr>
                  <a:schemeClr val="accent2"/>
                </a:buClr>
                <a:buSzPct val="85000"/>
                <a:defRPr/>
              </a:pPr>
              <a:r>
                <a:rPr lang="ko-KR" altLang="en-US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중복의 처리</a:t>
              </a:r>
              <a:r>
                <a:rPr lang="en-US" altLang="ko-KR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 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012A196-C3FD-44D2-93A1-C518FE834C40}"/>
              </a:ext>
            </a:extLst>
          </p:cNvPr>
          <p:cNvGrpSpPr/>
          <p:nvPr/>
        </p:nvGrpSpPr>
        <p:grpSpPr>
          <a:xfrm>
            <a:off x="982663" y="4710113"/>
            <a:ext cx="6318889" cy="1042987"/>
            <a:chOff x="982663" y="4710113"/>
            <a:chExt cx="6318889" cy="1042987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41890196-8810-422E-A1F9-EB7584718010}"/>
                </a:ext>
              </a:extLst>
            </p:cNvPr>
            <p:cNvGrpSpPr/>
            <p:nvPr/>
          </p:nvGrpSpPr>
          <p:grpSpPr>
            <a:xfrm>
              <a:off x="982663" y="4710113"/>
              <a:ext cx="6316980" cy="1042987"/>
              <a:chOff x="982663" y="4710113"/>
              <a:chExt cx="6316980" cy="1042987"/>
            </a:xfrm>
          </p:grpSpPr>
          <p:sp>
            <p:nvSpPr>
              <p:cNvPr id="20" name="사각형: 잘린 한쪽 모서리 19">
                <a:extLst>
                  <a:ext uri="{FF2B5EF4-FFF2-40B4-BE49-F238E27FC236}">
                    <a16:creationId xmlns:a16="http://schemas.microsoft.com/office/drawing/2014/main" id="{46C7AB2B-F08D-4F59-9400-FC823397124E}"/>
                  </a:ext>
                </a:extLst>
              </p:cNvPr>
              <p:cNvSpPr/>
              <p:nvPr/>
            </p:nvSpPr>
            <p:spPr>
              <a:xfrm>
                <a:off x="982663" y="4710113"/>
                <a:ext cx="6316980" cy="1042987"/>
              </a:xfrm>
              <a:prstGeom prst="snip1Rect">
                <a:avLst>
                  <a:gd name="adj" fmla="val 12438"/>
                </a:avLst>
              </a:prstGeom>
              <a:solidFill>
                <a:srgbClr val="F2FBFB"/>
              </a:solidFill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sym typeface="Arial"/>
                </a:endParaRPr>
              </a:p>
            </p:txBody>
          </p:sp>
          <p:sp>
            <p:nvSpPr>
              <p:cNvPr id="21" name="텍스트 개체 틀 19">
                <a:extLst>
                  <a:ext uri="{FF2B5EF4-FFF2-40B4-BE49-F238E27FC236}">
                    <a16:creationId xmlns:a16="http://schemas.microsoft.com/office/drawing/2014/main" id="{2E978EF6-EAF4-47DD-A446-0014B62374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9895" y="4873352"/>
                <a:ext cx="2880672" cy="301621"/>
              </a:xfrm>
              <a:prstGeom prst="rect">
                <a:avLst/>
              </a:prstGeom>
              <a:effectLst/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ko-KR"/>
                </a:defPPr>
                <a:lvl1pPr marL="0" indent="0" algn="l" defTabSz="914400" rtl="0" eaLnBrk="1" fontAlgn="base" latinLnBrk="1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lang="ko-KR" altLang="en-US" sz="2000" kern="1200" spc="-80" dirty="0">
                    <a:ln>
                      <a:solidFill>
                        <a:srgbClr val="ED1B3A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고도 M" panose="02000503000000020004" pitchFamily="2" charset="-127"/>
                    <a:ea typeface="고도 M" panose="02000503000000020004" pitchFamily="2" charset="-127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2">
                  <a:lnSpc>
                    <a:spcPct val="130000"/>
                  </a:lnSpc>
                  <a:spcBef>
                    <a:spcPts val="1200"/>
                  </a:spcBef>
                  <a:buClr>
                    <a:schemeClr val="accent2"/>
                  </a:buClr>
                  <a:buSzPct val="85000"/>
                  <a:defRPr/>
                </a:pPr>
                <a:r>
                  <a:rPr lang="ko-KR" altLang="en-US" sz="16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098983"/>
                    </a:solidFill>
                    <a:latin typeface="+mj-ea"/>
                    <a:ea typeface="+mj-ea"/>
                    <a:cs typeface="+mj-cs"/>
                  </a:rPr>
                  <a:t>전송 후 대기 </a:t>
                </a:r>
                <a:r>
                  <a:rPr lang="en-US" altLang="ko-KR" sz="16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098983"/>
                    </a:solidFill>
                    <a:latin typeface="+mj-ea"/>
                    <a:ea typeface="+mj-ea"/>
                    <a:cs typeface="+mj-cs"/>
                  </a:rPr>
                  <a:t>(stop and wait)</a:t>
                </a:r>
              </a:p>
            </p:txBody>
          </p:sp>
        </p:grp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3DFDED13-3DE8-4F12-96B1-0AFCC1E0423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227719" y="5233392"/>
              <a:ext cx="6073833" cy="367601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송신 측은 패킷 하나를 보내고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수신 측의 응답을 기다린다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752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ea typeface="ＭＳ Ｐゴシック" panose="020B0600070205080204" pitchFamily="34" charset="-128"/>
              </a:rPr>
              <a:t>rdt3.0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>
                <a:ea typeface="ＭＳ Ｐゴシック" panose="020B0600070205080204" pitchFamily="34" charset="-128"/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오류와 손실이 있는 채널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31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9DEC573-B3EF-4324-9FCC-A49A10CDCF80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1628800"/>
            <a:ext cx="6976032" cy="36760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checksum,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순서 번호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ACK,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재전송 등으로 해결할 수 있지만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…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충분하지 않음</a:t>
            </a:r>
          </a:p>
        </p:txBody>
      </p:sp>
      <p:sp>
        <p:nvSpPr>
          <p:cNvPr id="11" name="텍스트 개체 틀 19">
            <a:extLst>
              <a:ext uri="{FF2B5EF4-FFF2-40B4-BE49-F238E27FC236}">
                <a16:creationId xmlns:a16="http://schemas.microsoft.com/office/drawing/2014/main" id="{617633E0-7197-4D72-8FA4-2612D96B1E25}"/>
              </a:ext>
            </a:extLst>
          </p:cNvPr>
          <p:cNvSpPr txBox="1">
            <a:spLocks/>
          </p:cNvSpPr>
          <p:nvPr/>
        </p:nvSpPr>
        <p:spPr>
          <a:xfrm>
            <a:off x="1264926" y="1155777"/>
            <a:ext cx="7071353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SzPct val="65000"/>
              <a:defRPr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새로운 가정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: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하위 채널에서 패킷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(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데이터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, ACK)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이 손실될 수도 있다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.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E960721-2EB5-44A9-A792-04007F43003C}"/>
              </a:ext>
            </a:extLst>
          </p:cNvPr>
          <p:cNvSpPr/>
          <p:nvPr/>
        </p:nvSpPr>
        <p:spPr>
          <a:xfrm>
            <a:off x="789517" y="1558658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3" name="그래픽 13">
            <a:extLst>
              <a:ext uri="{FF2B5EF4-FFF2-40B4-BE49-F238E27FC236}">
                <a16:creationId xmlns:a16="http://schemas.microsoft.com/office/drawing/2014/main" id="{60B41A31-0AC6-4B08-B942-FC3C22EDFC18}"/>
              </a:ext>
            </a:extLst>
          </p:cNvPr>
          <p:cNvSpPr/>
          <p:nvPr/>
        </p:nvSpPr>
        <p:spPr>
          <a:xfrm rot="5400000">
            <a:off x="658778" y="1080446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105BA0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544D6A4-4D6E-4F43-99F8-8E34BB9C4261}"/>
              </a:ext>
            </a:extLst>
          </p:cNvPr>
          <p:cNvGrpSpPr/>
          <p:nvPr/>
        </p:nvGrpSpPr>
        <p:grpSpPr>
          <a:xfrm>
            <a:off x="673656" y="2420888"/>
            <a:ext cx="7662623" cy="3059293"/>
            <a:chOff x="673656" y="2420888"/>
            <a:chExt cx="7662623" cy="3059293"/>
          </a:xfrm>
        </p:grpSpPr>
        <p:sp>
          <p:nvSpPr>
            <p:cNvPr id="14" name="텍스트 개체 틀 19">
              <a:extLst>
                <a:ext uri="{FF2B5EF4-FFF2-40B4-BE49-F238E27FC236}">
                  <a16:creationId xmlns:a16="http://schemas.microsoft.com/office/drawing/2014/main" id="{2A3CBB9B-4BD7-414E-8B4D-B4CA4665F379}"/>
                </a:ext>
              </a:extLst>
            </p:cNvPr>
            <p:cNvSpPr txBox="1">
              <a:spLocks/>
            </p:cNvSpPr>
            <p:nvPr/>
          </p:nvSpPr>
          <p:spPr>
            <a:xfrm>
              <a:off x="1264926" y="2528308"/>
              <a:ext cx="7071353" cy="339324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buSzPct val="65000"/>
                <a:defRPr/>
              </a:pPr>
              <a:r>
                <a:rPr lang="ko-KR" altLang="en-US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접근 방법 </a:t>
              </a:r>
              <a:r>
                <a:rPr lang="en-US" altLang="ko-KR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: </a:t>
              </a:r>
              <a:r>
                <a:rPr lang="ko-KR" altLang="en-US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송신 측은 “합리적인” 시간 동안 </a:t>
              </a:r>
              <a:r>
                <a:rPr lang="en-US" altLang="ko-KR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ACK</a:t>
              </a:r>
              <a:r>
                <a:rPr lang="ko-KR" altLang="en-US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를 기다린다</a:t>
              </a:r>
              <a:endPara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42DAE66-9493-4362-A243-FB548FB8DFE0}"/>
                </a:ext>
              </a:extLst>
            </p:cNvPr>
            <p:cNvSpPr/>
            <p:nvPr/>
          </p:nvSpPr>
          <p:spPr>
            <a:xfrm>
              <a:off x="789517" y="2931189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6" name="그래픽 13">
              <a:extLst>
                <a:ext uri="{FF2B5EF4-FFF2-40B4-BE49-F238E27FC236}">
                  <a16:creationId xmlns:a16="http://schemas.microsoft.com/office/drawing/2014/main" id="{A894E6BF-174D-4D12-A4A7-F42BD2FBA251}"/>
                </a:ext>
              </a:extLst>
            </p:cNvPr>
            <p:cNvSpPr/>
            <p:nvPr/>
          </p:nvSpPr>
          <p:spPr>
            <a:xfrm rot="5400000">
              <a:off x="668924" y="2452977"/>
              <a:ext cx="563257" cy="499079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rgbClr val="098983"/>
            </a:solidFill>
            <a:ln w="17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FF0071AD-6AE8-4989-87AE-08F1853CC13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3176380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2"/>
                </a:buBlip>
              </a:pP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이 시간 내에 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가 안 오면 재전송한다</a:t>
              </a:r>
            </a:p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2"/>
                </a:buBlip>
              </a:pP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만일 패킷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또는 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ACK)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가 없어진 게 아니라 단지 지연된 것이라면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:</a:t>
              </a:r>
            </a:p>
          </p:txBody>
        </p:sp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6EE32988-971C-4A75-B66B-31BDD134587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39416" y="4040476"/>
              <a:ext cx="6976032" cy="770275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재전송으로 인해 중복이 발생하지만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순서 번호로 이미 이를 해결 가능</a:t>
              </a:r>
            </a:p>
            <a:p>
              <a:pPr marL="144000" lvl="3" indent="-14400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수신 측은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하는 패킷의 순서 번호를 명시</a:t>
              </a: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121B0F7F-0D08-4718-9E0A-39798A701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430" y="2564116"/>
              <a:ext cx="304800" cy="304800"/>
            </a:xfrm>
            <a:prstGeom prst="rect">
              <a:avLst/>
            </a:prstGeom>
          </p:spPr>
        </p:pic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080F09FE-8BC4-4A7A-B418-8348C29FC71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4959460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2"/>
                </a:buBlip>
              </a:pPr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countdown timer</a:t>
              </a:r>
              <a:r>
                <a:rPr lang="ko-KR" altLang="en-US" sz="16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가 필요</a:t>
              </a:r>
            </a:p>
          </p:txBody>
        </p: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63BB341E-3AD1-4D21-A52A-84A1B5CE27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35" y="1179014"/>
            <a:ext cx="301942" cy="30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20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직사각형 84">
            <a:extLst>
              <a:ext uri="{FF2B5EF4-FFF2-40B4-BE49-F238E27FC236}">
                <a16:creationId xmlns:a16="http://schemas.microsoft.com/office/drawing/2014/main" id="{4E068413-79F7-4534-BB93-7457D129EF8D}"/>
              </a:ext>
            </a:extLst>
          </p:cNvPr>
          <p:cNvSpPr/>
          <p:nvPr/>
        </p:nvSpPr>
        <p:spPr>
          <a:xfrm>
            <a:off x="658813" y="1146270"/>
            <a:ext cx="3605182" cy="5218315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" panose="00000500000000000000" pitchFamily="2" charset="-127"/>
              <a:ea typeface="넥슨Lv1고딕" panose="00000500000000000000" pitchFamily="2" charset="-127"/>
              <a:cs typeface="+mn-cs"/>
              <a:sym typeface="Arial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875B89A-30EB-4817-BF51-B480204A0B76}"/>
              </a:ext>
            </a:extLst>
          </p:cNvPr>
          <p:cNvSpPr/>
          <p:nvPr/>
        </p:nvSpPr>
        <p:spPr>
          <a:xfrm>
            <a:off x="4445186" y="1146270"/>
            <a:ext cx="3811402" cy="5218315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" panose="00000500000000000000" pitchFamily="2" charset="-127"/>
              <a:ea typeface="넥슨Lv1고딕" panose="00000500000000000000" pitchFamily="2" charset="-127"/>
              <a:cs typeface="+mn-cs"/>
              <a:sym typeface="Arial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cs typeface="+mj-cs"/>
              </a:rPr>
              <a:t>rdt3.0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</a:t>
            </a:r>
            <a:r>
              <a:rPr lang="ko-KR" altLang="en-US" dirty="0">
                <a:cs typeface="+mj-cs"/>
              </a:rPr>
              <a:t> </a:t>
            </a:r>
            <a:r>
              <a:rPr lang="ko-KR" altLang="en-US" dirty="0">
                <a:solidFill>
                  <a:schemeClr val="bg1"/>
                </a:solidFill>
                <a:cs typeface="+mj-cs"/>
              </a:rPr>
              <a:t>실제 동작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32</a:t>
            </a:fld>
            <a:endParaRPr lang="en-US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6D6B80CB-ADCE-4AEF-8236-8A6356FBA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752" y="1303338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88EFE07A-DF88-47FD-8AD7-0B9765CEF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2666" y="1303338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수신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59EEDFF1-10A9-41C0-AE81-7CEC67025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655" y="2922588"/>
            <a:ext cx="88960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pkt1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9FBB79C9-0ABF-4929-B95C-FC7BE0800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655" y="3778251"/>
            <a:ext cx="91525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pkt0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8AFE09C5-58C1-41AC-82EB-F265C84CD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655" y="2296857"/>
            <a:ext cx="11112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ack0</a:t>
            </a: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610FBDE4-EB20-43CD-886E-DB0A931EA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655" y="3181383"/>
            <a:ext cx="10855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ack1</a:t>
            </a:r>
          </a:p>
        </p:txBody>
      </p:sp>
      <p:sp>
        <p:nvSpPr>
          <p:cNvPr id="10" name="Text Box 13">
            <a:extLst>
              <a:ext uri="{FF2B5EF4-FFF2-40B4-BE49-F238E27FC236}">
                <a16:creationId xmlns:a16="http://schemas.microsoft.com/office/drawing/2014/main" id="{2873CDBE-A6DD-4AB7-87A0-7D76F8BB5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655" y="4026905"/>
            <a:ext cx="11112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ack0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89A7AE80-22E0-4FA1-BB0A-A5BCD4E7F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786" y="2472678"/>
            <a:ext cx="9505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ack0</a:t>
            </a:r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id="{99856136-A1AF-414B-9B89-C2B58AD24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67" y="3586487"/>
            <a:ext cx="10759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pkt0</a:t>
            </a:r>
          </a:p>
        </p:txBody>
      </p:sp>
      <p:sp>
        <p:nvSpPr>
          <p:cNvPr id="13" name="Text Box 17">
            <a:extLst>
              <a:ext uri="{FF2B5EF4-FFF2-40B4-BE49-F238E27FC236}">
                <a16:creationId xmlns:a16="http://schemas.microsoft.com/office/drawing/2014/main" id="{2EBCC29F-E802-4CD0-A8A4-6F994653A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015" y="2725123"/>
            <a:ext cx="10502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pkt1</a:t>
            </a:r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id="{99FB00EF-BBDF-450D-825D-AC915027C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434" y="3326753"/>
            <a:ext cx="92486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ack1</a:t>
            </a: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3AFB891D-3FA4-4211-B347-7FC3E4AD9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66" y="1826896"/>
            <a:ext cx="10759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pkt0</a:t>
            </a: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583739B2-AAD4-4E83-BE1A-14F45BB95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655" y="2025651"/>
            <a:ext cx="91525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pkt0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A45987A2-31D6-4D98-B807-DBCD56D1E54B}"/>
              </a:ext>
            </a:extLst>
          </p:cNvPr>
          <p:cNvGrpSpPr/>
          <p:nvPr/>
        </p:nvGrpSpPr>
        <p:grpSpPr>
          <a:xfrm>
            <a:off x="1822951" y="1812926"/>
            <a:ext cx="1235748" cy="512762"/>
            <a:chOff x="1822951" y="1812926"/>
            <a:chExt cx="1235748" cy="512762"/>
          </a:xfrm>
        </p:grpSpPr>
        <p:sp>
          <p:nvSpPr>
            <p:cNvPr id="18" name="Line 19">
              <a:extLst>
                <a:ext uri="{FF2B5EF4-FFF2-40B4-BE49-F238E27FC236}">
                  <a16:creationId xmlns:a16="http://schemas.microsoft.com/office/drawing/2014/main" id="{0EFD471A-541B-4736-93C6-DAC49EC722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2951" y="1968501"/>
              <a:ext cx="1235748" cy="357187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9" name="Text Box 28">
              <a:extLst>
                <a:ext uri="{FF2B5EF4-FFF2-40B4-BE49-F238E27FC236}">
                  <a16:creationId xmlns:a16="http://schemas.microsoft.com/office/drawing/2014/main" id="{5490436E-0FBE-4A87-9071-ADDCF3178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3692" y="1812926"/>
              <a:ext cx="62228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pkt0</a:t>
              </a: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84DE84D7-EC4D-4E94-8B95-7D766F102C37}"/>
              </a:ext>
            </a:extLst>
          </p:cNvPr>
          <p:cNvGrpSpPr/>
          <p:nvPr/>
        </p:nvGrpSpPr>
        <p:grpSpPr>
          <a:xfrm>
            <a:off x="1817619" y="3549651"/>
            <a:ext cx="1235748" cy="487362"/>
            <a:chOff x="1817619" y="3549651"/>
            <a:chExt cx="1235748" cy="487362"/>
          </a:xfrm>
        </p:grpSpPr>
        <p:sp>
          <p:nvSpPr>
            <p:cNvPr id="21" name="Line 24">
              <a:extLst>
                <a:ext uri="{FF2B5EF4-FFF2-40B4-BE49-F238E27FC236}">
                  <a16:creationId xmlns:a16="http://schemas.microsoft.com/office/drawing/2014/main" id="{004F9EFE-0CDB-4933-B37D-208CDF4662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7619" y="3679826"/>
              <a:ext cx="1235748" cy="357187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2" name="Text Box 29">
              <a:extLst>
                <a:ext uri="{FF2B5EF4-FFF2-40B4-BE49-F238E27FC236}">
                  <a16:creationId xmlns:a16="http://schemas.microsoft.com/office/drawing/2014/main" id="{5BE91B92-ADFD-4964-8CF1-7860DC0167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9693" y="3549651"/>
              <a:ext cx="62228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pkt0</a:t>
              </a: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DABF37AB-24EF-4688-A9D3-D731E1574F3F}"/>
              </a:ext>
            </a:extLst>
          </p:cNvPr>
          <p:cNvGrpSpPr/>
          <p:nvPr/>
        </p:nvGrpSpPr>
        <p:grpSpPr>
          <a:xfrm>
            <a:off x="1829617" y="2673351"/>
            <a:ext cx="1235747" cy="519113"/>
            <a:chOff x="1829617" y="2673351"/>
            <a:chExt cx="1235747" cy="519113"/>
          </a:xfrm>
        </p:grpSpPr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31FBA7F3-CCE5-46BB-BB06-0E7AB92670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9617" y="2835276"/>
              <a:ext cx="1235747" cy="357188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5" name="Text Box 30">
              <a:extLst>
                <a:ext uri="{FF2B5EF4-FFF2-40B4-BE49-F238E27FC236}">
                  <a16:creationId xmlns:a16="http://schemas.microsoft.com/office/drawing/2014/main" id="{7FD7CE4F-3D18-406D-A4C9-4AAC60BA68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7334" y="2673351"/>
              <a:ext cx="57900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pkt1</a:t>
              </a: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130E69CE-F576-4F96-BF7C-298D7C233EB3}"/>
              </a:ext>
            </a:extLst>
          </p:cNvPr>
          <p:cNvGrpSpPr/>
          <p:nvPr/>
        </p:nvGrpSpPr>
        <p:grpSpPr>
          <a:xfrm>
            <a:off x="1817619" y="3152776"/>
            <a:ext cx="1235748" cy="471487"/>
            <a:chOff x="1817619" y="3152776"/>
            <a:chExt cx="1235748" cy="471487"/>
          </a:xfrm>
        </p:grpSpPr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8A63ED28-EF20-49DE-A6CA-F9518439B7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17619" y="3267076"/>
              <a:ext cx="1235748" cy="357187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8" name="Text Box 31">
              <a:extLst>
                <a:ext uri="{FF2B5EF4-FFF2-40B4-BE49-F238E27FC236}">
                  <a16:creationId xmlns:a16="http://schemas.microsoft.com/office/drawing/2014/main" id="{24C56B5E-E6D4-4FFD-BC0B-4F98DAE26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6088" y="3152776"/>
              <a:ext cx="62549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ack1</a:t>
              </a: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D49DB2E3-9B71-4694-8DA0-1A7906482BB5}"/>
              </a:ext>
            </a:extLst>
          </p:cNvPr>
          <p:cNvGrpSpPr/>
          <p:nvPr/>
        </p:nvGrpSpPr>
        <p:grpSpPr>
          <a:xfrm>
            <a:off x="1810954" y="2276872"/>
            <a:ext cx="1235747" cy="491729"/>
            <a:chOff x="1810954" y="2276872"/>
            <a:chExt cx="1235747" cy="491729"/>
          </a:xfrm>
        </p:grpSpPr>
        <p:sp>
          <p:nvSpPr>
            <p:cNvPr id="30" name="Line 25">
              <a:extLst>
                <a:ext uri="{FF2B5EF4-FFF2-40B4-BE49-F238E27FC236}">
                  <a16:creationId xmlns:a16="http://schemas.microsoft.com/office/drawing/2014/main" id="{186D3505-FE7E-4490-8466-520A2FD3A9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10954" y="2411413"/>
              <a:ext cx="1235747" cy="357188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31" name="Text Box 32">
              <a:extLst>
                <a:ext uri="{FF2B5EF4-FFF2-40B4-BE49-F238E27FC236}">
                  <a16:creationId xmlns:a16="http://schemas.microsoft.com/office/drawing/2014/main" id="{5BD86F48-7ECB-44B2-B74C-803B1E761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1858" y="2276872"/>
              <a:ext cx="75395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ack0</a:t>
              </a: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494BF469-C178-4244-BD0E-FF284FBD9CBC}"/>
              </a:ext>
            </a:extLst>
          </p:cNvPr>
          <p:cNvGrpSpPr/>
          <p:nvPr/>
        </p:nvGrpSpPr>
        <p:grpSpPr>
          <a:xfrm>
            <a:off x="1805622" y="3967163"/>
            <a:ext cx="1235747" cy="500063"/>
            <a:chOff x="1805622" y="3967163"/>
            <a:chExt cx="1235747" cy="500063"/>
          </a:xfrm>
        </p:grpSpPr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34928663-50E8-481F-8395-E996CB8D0C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5622" y="4110038"/>
              <a:ext cx="1235747" cy="357188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B284F563-C2CF-4F57-B228-0CB5426730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448" y="3967163"/>
              <a:ext cx="66877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ack0</a:t>
              </a:r>
            </a:p>
          </p:txBody>
        </p:sp>
      </p:grpSp>
      <p:sp>
        <p:nvSpPr>
          <p:cNvPr id="35" name="Text Box 45">
            <a:extLst>
              <a:ext uri="{FF2B5EF4-FFF2-40B4-BE49-F238E27FC236}">
                <a16:creationId xmlns:a16="http://schemas.microsoft.com/office/drawing/2014/main" id="{97D17DAD-C55A-49FF-9F18-8B41E52B2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1434" y="5992813"/>
            <a:ext cx="13997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(a)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무손실 동작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6" name="Text Box 46">
            <a:extLst>
              <a:ext uri="{FF2B5EF4-FFF2-40B4-BE49-F238E27FC236}">
                <a16:creationId xmlns:a16="http://schemas.microsoft.com/office/drawing/2014/main" id="{1D369A89-978A-4627-840A-8A184A51E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6120" y="1303338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37" name="Text Box 47">
            <a:extLst>
              <a:ext uri="{FF2B5EF4-FFF2-40B4-BE49-F238E27FC236}">
                <a16:creationId xmlns:a16="http://schemas.microsoft.com/office/drawing/2014/main" id="{E7C3D946-4509-4013-B7DE-C8C9D3BEF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5035" y="1303338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수신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38" name="Text Box 48">
            <a:extLst>
              <a:ext uri="{FF2B5EF4-FFF2-40B4-BE49-F238E27FC236}">
                <a16:creationId xmlns:a16="http://schemas.microsoft.com/office/drawing/2014/main" id="{BF89E9A9-C037-4C07-9B6A-0DA4727F8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380" y="4211638"/>
            <a:ext cx="88960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pkt1</a:t>
            </a:r>
          </a:p>
        </p:txBody>
      </p:sp>
      <p:sp>
        <p:nvSpPr>
          <p:cNvPr id="39" name="Text Box 49">
            <a:extLst>
              <a:ext uri="{FF2B5EF4-FFF2-40B4-BE49-F238E27FC236}">
                <a16:creationId xmlns:a16="http://schemas.microsoft.com/office/drawing/2014/main" id="{81BF7751-4AE7-4A83-ACC1-F9EA654B7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380" y="5053013"/>
            <a:ext cx="91525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pkt0</a:t>
            </a:r>
          </a:p>
        </p:txBody>
      </p:sp>
      <p:sp>
        <p:nvSpPr>
          <p:cNvPr id="40" name="Text Box 50">
            <a:extLst>
              <a:ext uri="{FF2B5EF4-FFF2-40B4-BE49-F238E27FC236}">
                <a16:creationId xmlns:a16="http://schemas.microsoft.com/office/drawing/2014/main" id="{4F43F1FA-3BD7-43A1-A5F7-5F321754A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380" y="2280331"/>
            <a:ext cx="11112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ack0</a:t>
            </a:r>
          </a:p>
        </p:txBody>
      </p:sp>
      <p:sp>
        <p:nvSpPr>
          <p:cNvPr id="41" name="Text Box 51">
            <a:extLst>
              <a:ext uri="{FF2B5EF4-FFF2-40B4-BE49-F238E27FC236}">
                <a16:creationId xmlns:a16="http://schemas.microsoft.com/office/drawing/2014/main" id="{B618F38B-EE96-4BBB-A8A8-272E28925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5309" y="4469494"/>
            <a:ext cx="10855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ack1</a:t>
            </a:r>
          </a:p>
        </p:txBody>
      </p:sp>
      <p:sp>
        <p:nvSpPr>
          <p:cNvPr id="42" name="Text Box 52">
            <a:extLst>
              <a:ext uri="{FF2B5EF4-FFF2-40B4-BE49-F238E27FC236}">
                <a16:creationId xmlns:a16="http://schemas.microsoft.com/office/drawing/2014/main" id="{8E65DA36-8FF5-464D-8A8D-3A0946C1B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380" y="5301668"/>
            <a:ext cx="11112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ack0</a:t>
            </a:r>
          </a:p>
        </p:txBody>
      </p:sp>
      <p:sp>
        <p:nvSpPr>
          <p:cNvPr id="43" name="Text Box 53">
            <a:extLst>
              <a:ext uri="{FF2B5EF4-FFF2-40B4-BE49-F238E27FC236}">
                <a16:creationId xmlns:a16="http://schemas.microsoft.com/office/drawing/2014/main" id="{5EC3BF8D-9F24-44F0-9A41-50D10B643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141" y="2482851"/>
            <a:ext cx="9505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ack0</a:t>
            </a:r>
          </a:p>
        </p:txBody>
      </p:sp>
      <p:sp>
        <p:nvSpPr>
          <p:cNvPr id="44" name="Text Box 54">
            <a:extLst>
              <a:ext uri="{FF2B5EF4-FFF2-40B4-BE49-F238E27FC236}">
                <a16:creationId xmlns:a16="http://schemas.microsoft.com/office/drawing/2014/main" id="{9ED1941F-BA66-4EF4-8DAC-FBAA68209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722" y="4874599"/>
            <a:ext cx="10759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pkt0</a:t>
            </a:r>
          </a:p>
        </p:txBody>
      </p:sp>
      <p:sp>
        <p:nvSpPr>
          <p:cNvPr id="45" name="Text Box 55">
            <a:extLst>
              <a:ext uri="{FF2B5EF4-FFF2-40B4-BE49-F238E27FC236}">
                <a16:creationId xmlns:a16="http://schemas.microsoft.com/office/drawing/2014/main" id="{732B7F75-AFE6-4F4D-AB62-5193404DE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2370" y="2728622"/>
            <a:ext cx="10502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pkt1</a:t>
            </a:r>
          </a:p>
        </p:txBody>
      </p:sp>
      <p:sp>
        <p:nvSpPr>
          <p:cNvPr id="46" name="Text Box 56">
            <a:extLst>
              <a:ext uri="{FF2B5EF4-FFF2-40B4-BE49-F238E27FC236}">
                <a16:creationId xmlns:a16="http://schemas.microsoft.com/office/drawing/2014/main" id="{0D3781C1-4A2E-4212-B310-F8BF50553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7789" y="4614863"/>
            <a:ext cx="92486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ack1</a:t>
            </a:r>
          </a:p>
        </p:txBody>
      </p:sp>
      <p:sp>
        <p:nvSpPr>
          <p:cNvPr id="47" name="Text Box 57">
            <a:extLst>
              <a:ext uri="{FF2B5EF4-FFF2-40B4-BE49-F238E27FC236}">
                <a16:creationId xmlns:a16="http://schemas.microsoft.com/office/drawing/2014/main" id="{BAED1998-1942-4D47-9327-967CF5AAF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722" y="1739901"/>
            <a:ext cx="10759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pkt0</a:t>
            </a:r>
          </a:p>
        </p:txBody>
      </p:sp>
      <p:sp>
        <p:nvSpPr>
          <p:cNvPr id="48" name="Text Box 58">
            <a:extLst>
              <a:ext uri="{FF2B5EF4-FFF2-40B4-BE49-F238E27FC236}">
                <a16:creationId xmlns:a16="http://schemas.microsoft.com/office/drawing/2014/main" id="{782CCF9A-E986-4075-9620-D0F5B6FC3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380" y="2022476"/>
            <a:ext cx="91525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pkt0</a:t>
            </a:r>
          </a:p>
        </p:txBody>
      </p:sp>
      <p:grpSp>
        <p:nvGrpSpPr>
          <p:cNvPr id="49" name="Group 59">
            <a:extLst>
              <a:ext uri="{FF2B5EF4-FFF2-40B4-BE49-F238E27FC236}">
                <a16:creationId xmlns:a16="http://schemas.microsoft.com/office/drawing/2014/main" id="{9187DF04-076F-468E-B90F-5A1D7FD7953F}"/>
              </a:ext>
            </a:extLst>
          </p:cNvPr>
          <p:cNvGrpSpPr>
            <a:grpSpLocks/>
          </p:cNvGrpSpPr>
          <p:nvPr/>
        </p:nvGrpSpPr>
        <p:grpSpPr bwMode="auto">
          <a:xfrm>
            <a:off x="5773336" y="1809751"/>
            <a:ext cx="1307732" cy="512762"/>
            <a:chOff x="796" y="1159"/>
            <a:chExt cx="981" cy="323"/>
          </a:xfrm>
        </p:grpSpPr>
        <p:sp>
          <p:nvSpPr>
            <p:cNvPr id="50" name="Line 60">
              <a:extLst>
                <a:ext uri="{FF2B5EF4-FFF2-40B4-BE49-F238E27FC236}">
                  <a16:creationId xmlns:a16="http://schemas.microsoft.com/office/drawing/2014/main" id="{F1BAE391-BCA5-4C15-809C-47A438958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" y="1221"/>
              <a:ext cx="981" cy="261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51" name="Text Box 61">
              <a:extLst>
                <a:ext uri="{FF2B5EF4-FFF2-40B4-BE49-F238E27FC236}">
                  <a16:creationId xmlns:a16="http://schemas.microsoft.com/office/drawing/2014/main" id="{37659680-1B34-491A-A356-C6B5CE9EA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6" y="1159"/>
              <a:ext cx="46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pkt0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0F24CA7D-1CE8-4F93-A8E7-095E8CC6BE06}"/>
              </a:ext>
            </a:extLst>
          </p:cNvPr>
          <p:cNvGrpSpPr/>
          <p:nvPr/>
        </p:nvGrpSpPr>
        <p:grpSpPr>
          <a:xfrm>
            <a:off x="5839988" y="4791043"/>
            <a:ext cx="1235747" cy="520733"/>
            <a:chOff x="5839988" y="4791043"/>
            <a:chExt cx="1235747" cy="520733"/>
          </a:xfrm>
        </p:grpSpPr>
        <p:sp>
          <p:nvSpPr>
            <p:cNvPr id="53" name="Line 63">
              <a:extLst>
                <a:ext uri="{FF2B5EF4-FFF2-40B4-BE49-F238E27FC236}">
                  <a16:creationId xmlns:a16="http://schemas.microsoft.com/office/drawing/2014/main" id="{E67AEFCE-4D19-4BF4-B30D-5794323D5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9988" y="4954588"/>
              <a:ext cx="1235747" cy="357188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54" name="Text Box 64">
              <a:extLst>
                <a:ext uri="{FF2B5EF4-FFF2-40B4-BE49-F238E27FC236}">
                  <a16:creationId xmlns:a16="http://schemas.microsoft.com/office/drawing/2014/main" id="{3200A032-2BF5-4EE3-82F1-784B86CD8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2601" y="4791043"/>
              <a:ext cx="622539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pkt0</a:t>
              </a: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ABEA7B9C-CF0A-4C71-BC10-743410649B8C}"/>
              </a:ext>
            </a:extLst>
          </p:cNvPr>
          <p:cNvGrpSpPr/>
          <p:nvPr/>
        </p:nvGrpSpPr>
        <p:grpSpPr>
          <a:xfrm>
            <a:off x="5839988" y="4427538"/>
            <a:ext cx="1235747" cy="471488"/>
            <a:chOff x="5839988" y="4427538"/>
            <a:chExt cx="1235747" cy="471488"/>
          </a:xfrm>
        </p:grpSpPr>
        <p:sp>
          <p:nvSpPr>
            <p:cNvPr id="56" name="Line 69">
              <a:extLst>
                <a:ext uri="{FF2B5EF4-FFF2-40B4-BE49-F238E27FC236}">
                  <a16:creationId xmlns:a16="http://schemas.microsoft.com/office/drawing/2014/main" id="{B32EDB86-DA2B-4AD0-A0C7-17E54A27D8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39988" y="4541838"/>
              <a:ext cx="1235747" cy="357188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57" name="Text Box 70">
              <a:extLst>
                <a:ext uri="{FF2B5EF4-FFF2-40B4-BE49-F238E27FC236}">
                  <a16:creationId xmlns:a16="http://schemas.microsoft.com/office/drawing/2014/main" id="{95561889-F64A-455F-8DB3-BECEEE591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1932" y="4427538"/>
              <a:ext cx="62520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ack1</a:t>
              </a:r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8CEF8659-6130-40B6-A00B-754644045D8B}"/>
              </a:ext>
            </a:extLst>
          </p:cNvPr>
          <p:cNvGrpSpPr/>
          <p:nvPr/>
        </p:nvGrpSpPr>
        <p:grpSpPr>
          <a:xfrm>
            <a:off x="5793425" y="2289791"/>
            <a:ext cx="1275646" cy="420037"/>
            <a:chOff x="5793425" y="2289791"/>
            <a:chExt cx="1275646" cy="420037"/>
          </a:xfrm>
        </p:grpSpPr>
        <p:sp>
          <p:nvSpPr>
            <p:cNvPr id="59" name="Line 72">
              <a:extLst>
                <a:ext uri="{FF2B5EF4-FFF2-40B4-BE49-F238E27FC236}">
                  <a16:creationId xmlns:a16="http://schemas.microsoft.com/office/drawing/2014/main" id="{088808F8-2D6C-4D52-8F27-A57482979A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93425" y="2408238"/>
              <a:ext cx="1275646" cy="301590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60" name="Text Box 73">
              <a:extLst>
                <a:ext uri="{FF2B5EF4-FFF2-40B4-BE49-F238E27FC236}">
                  <a16:creationId xmlns:a16="http://schemas.microsoft.com/office/drawing/2014/main" id="{191E6932-61F8-4CC1-A610-A4AD82615E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6605" y="2289791"/>
              <a:ext cx="66919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ack0</a:t>
              </a: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55166824-01F3-4DEC-ABC5-AF2ABD28764A}"/>
              </a:ext>
            </a:extLst>
          </p:cNvPr>
          <p:cNvGrpSpPr/>
          <p:nvPr/>
        </p:nvGrpSpPr>
        <p:grpSpPr>
          <a:xfrm>
            <a:off x="5827991" y="5275263"/>
            <a:ext cx="1235748" cy="466726"/>
            <a:chOff x="5827991" y="5275263"/>
            <a:chExt cx="1235748" cy="466726"/>
          </a:xfrm>
        </p:grpSpPr>
        <p:sp>
          <p:nvSpPr>
            <p:cNvPr id="62" name="Line 75">
              <a:extLst>
                <a:ext uri="{FF2B5EF4-FFF2-40B4-BE49-F238E27FC236}">
                  <a16:creationId xmlns:a16="http://schemas.microsoft.com/office/drawing/2014/main" id="{65929B3C-F840-4791-9D12-EB93433A42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27991" y="5384801"/>
              <a:ext cx="1235748" cy="357188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63" name="Text Box 76">
              <a:extLst>
                <a:ext uri="{FF2B5EF4-FFF2-40B4-BE49-F238E27FC236}">
                  <a16:creationId xmlns:a16="http://schemas.microsoft.com/office/drawing/2014/main" id="{A7F977CD-79DD-4EEE-B95D-BD65D7BFBA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2606" y="5275263"/>
              <a:ext cx="66919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ack0</a:t>
              </a:r>
            </a:p>
          </p:txBody>
        </p:sp>
      </p:grpSp>
      <p:sp>
        <p:nvSpPr>
          <p:cNvPr id="64" name="Text Box 78">
            <a:extLst>
              <a:ext uri="{FF2B5EF4-FFF2-40B4-BE49-F238E27FC236}">
                <a16:creationId xmlns:a16="http://schemas.microsoft.com/office/drawing/2014/main" id="{BAFE7024-1710-4345-A9FE-17CBEAB9D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5975" y="5992813"/>
            <a:ext cx="12298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(b)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패킷 손실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3F8E6F52-2A4A-4169-8F53-D6161A7B3289}"/>
              </a:ext>
            </a:extLst>
          </p:cNvPr>
          <p:cNvGrpSpPr/>
          <p:nvPr/>
        </p:nvGrpSpPr>
        <p:grpSpPr>
          <a:xfrm>
            <a:off x="5793425" y="2684463"/>
            <a:ext cx="1207276" cy="749299"/>
            <a:chOff x="5793425" y="2684463"/>
            <a:chExt cx="1207276" cy="749299"/>
          </a:xfrm>
        </p:grpSpPr>
        <p:sp>
          <p:nvSpPr>
            <p:cNvPr id="66" name="Line 66">
              <a:extLst>
                <a:ext uri="{FF2B5EF4-FFF2-40B4-BE49-F238E27FC236}">
                  <a16:creationId xmlns:a16="http://schemas.microsoft.com/office/drawing/2014/main" id="{2F4ADBB8-71BD-44E0-B29D-9851C37DE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3425" y="2776572"/>
              <a:ext cx="789079" cy="290479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67" name="Text Box 67">
              <a:extLst>
                <a:ext uri="{FF2B5EF4-FFF2-40B4-BE49-F238E27FC236}">
                  <a16:creationId xmlns:a16="http://schemas.microsoft.com/office/drawing/2014/main" id="{C5DF9281-BD46-4AA9-966D-2B86B7C851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9931" y="2684463"/>
              <a:ext cx="578549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pkt1</a:t>
              </a:r>
            </a:p>
          </p:txBody>
        </p:sp>
        <p:sp>
          <p:nvSpPr>
            <p:cNvPr id="68" name="Text Box 79">
              <a:extLst>
                <a:ext uri="{FF2B5EF4-FFF2-40B4-BE49-F238E27FC236}">
                  <a16:creationId xmlns:a16="http://schemas.microsoft.com/office/drawing/2014/main" id="{DBC2CED9-D71C-43DF-8B1C-769C05C6E8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1380" y="2905126"/>
              <a:ext cx="34656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j-ea"/>
                  <a:ea typeface="+mj-ea"/>
                  <a:cs typeface="+mj-cs"/>
                </a:rPr>
                <a:t>X</a:t>
              </a:r>
            </a:p>
          </p:txBody>
        </p:sp>
        <p:sp>
          <p:nvSpPr>
            <p:cNvPr id="69" name="Text Box 80">
              <a:extLst>
                <a:ext uri="{FF2B5EF4-FFF2-40B4-BE49-F238E27FC236}">
                  <a16:creationId xmlns:a16="http://schemas.microsoft.com/office/drawing/2014/main" id="{2940C62B-FEFE-43F7-BF0F-8F18938133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3299" y="3125985"/>
              <a:ext cx="57740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 i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n-lt"/>
                  <a:ea typeface="+mj-ea"/>
                  <a:cs typeface="+mj-cs"/>
                </a:rPr>
                <a:t>loss</a:t>
              </a: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8AC610A8-269E-4945-83FE-21FB4A8C7C14}"/>
              </a:ext>
            </a:extLst>
          </p:cNvPr>
          <p:cNvGrpSpPr/>
          <p:nvPr/>
        </p:nvGrpSpPr>
        <p:grpSpPr>
          <a:xfrm>
            <a:off x="5826797" y="3956666"/>
            <a:ext cx="1268935" cy="524848"/>
            <a:chOff x="5826797" y="3956666"/>
            <a:chExt cx="1268935" cy="524848"/>
          </a:xfrm>
        </p:grpSpPr>
        <p:sp>
          <p:nvSpPr>
            <p:cNvPr id="75" name="Line 89">
              <a:extLst>
                <a:ext uri="{FF2B5EF4-FFF2-40B4-BE49-F238E27FC236}">
                  <a16:creationId xmlns:a16="http://schemas.microsoft.com/office/drawing/2014/main" id="{A2408A1E-4792-4AF5-A883-126D10EAE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6797" y="4091439"/>
              <a:ext cx="1268935" cy="390075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76" name="Text Box 90">
              <a:extLst>
                <a:ext uri="{FF2B5EF4-FFF2-40B4-BE49-F238E27FC236}">
                  <a16:creationId xmlns:a16="http://schemas.microsoft.com/office/drawing/2014/main" id="{D1AC3E73-04B5-4CF2-BBD7-BFF93E88E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7929" y="3956666"/>
              <a:ext cx="578549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pkt1</a:t>
              </a:r>
            </a:p>
          </p:txBody>
        </p:sp>
      </p:grpSp>
      <p:sp>
        <p:nvSpPr>
          <p:cNvPr id="83" name="자유형: 도형 82">
            <a:extLst>
              <a:ext uri="{FF2B5EF4-FFF2-40B4-BE49-F238E27FC236}">
                <a16:creationId xmlns:a16="http://schemas.microsoft.com/office/drawing/2014/main" id="{8DA44832-A1D1-4891-906E-30130B766512}"/>
              </a:ext>
            </a:extLst>
          </p:cNvPr>
          <p:cNvSpPr/>
          <p:nvPr/>
        </p:nvSpPr>
        <p:spPr>
          <a:xfrm>
            <a:off x="5773741" y="2919413"/>
            <a:ext cx="123825" cy="1066800"/>
          </a:xfrm>
          <a:custGeom>
            <a:avLst/>
            <a:gdLst>
              <a:gd name="connsiteX0" fmla="*/ 0 w 123825"/>
              <a:gd name="connsiteY0" fmla="*/ 1066800 h 1066800"/>
              <a:gd name="connsiteX1" fmla="*/ 123825 w 123825"/>
              <a:gd name="connsiteY1" fmla="*/ 1066800 h 1066800"/>
              <a:gd name="connsiteX2" fmla="*/ 123825 w 123825"/>
              <a:gd name="connsiteY2" fmla="*/ 0 h 1066800"/>
              <a:gd name="connsiteX3" fmla="*/ 4763 w 123825"/>
              <a:gd name="connsiteY3" fmla="*/ 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825" h="1066800">
                <a:moveTo>
                  <a:pt x="0" y="1066800"/>
                </a:moveTo>
                <a:lnTo>
                  <a:pt x="123825" y="1066800"/>
                </a:lnTo>
                <a:lnTo>
                  <a:pt x="123825" y="0"/>
                </a:lnTo>
                <a:lnTo>
                  <a:pt x="4763" y="0"/>
                </a:lnTo>
              </a:path>
            </a:pathLst>
          </a:cu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44860BA-2B37-48A0-9A5D-C6F2937C640C}"/>
              </a:ext>
            </a:extLst>
          </p:cNvPr>
          <p:cNvGrpSpPr/>
          <p:nvPr/>
        </p:nvGrpSpPr>
        <p:grpSpPr>
          <a:xfrm>
            <a:off x="4601233" y="3340238"/>
            <a:ext cx="1221425" cy="1010445"/>
            <a:chOff x="4601233" y="3340238"/>
            <a:chExt cx="1221425" cy="1010445"/>
          </a:xfrm>
        </p:grpSpPr>
        <p:sp>
          <p:nvSpPr>
            <p:cNvPr id="79" name="Text Box 91">
              <a:extLst>
                <a:ext uri="{FF2B5EF4-FFF2-40B4-BE49-F238E27FC236}">
                  <a16:creationId xmlns:a16="http://schemas.microsoft.com/office/drawing/2014/main" id="{FB52A623-A6AD-4491-B008-6C4B4179E5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1233" y="3827463"/>
              <a:ext cx="122142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 i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n-lt"/>
                  <a:ea typeface="+mj-ea"/>
                  <a:cs typeface="+mj-cs"/>
                </a:rPr>
                <a:t>timeout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resend pkt1</a:t>
              </a:r>
            </a:p>
          </p:txBody>
        </p:sp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A17985B6-AF83-473B-BDA6-6AEAD0F28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49371" y="3340238"/>
              <a:ext cx="281483" cy="4698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256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500"/>
                            </p:stCondLst>
                            <p:childTnLst>
                              <p:par>
                                <p:cTn id="1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0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500"/>
                            </p:stCondLst>
                            <p:childTnLst>
                              <p:par>
                                <p:cTn id="1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4000"/>
                            </p:stCondLst>
                            <p:childTnLst>
                              <p:par>
                                <p:cTn id="1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4500"/>
                            </p:stCondLst>
                            <p:childTnLst>
                              <p:par>
                                <p:cTn id="1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8" grpId="0"/>
      <p:bldP spid="8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cs typeface="+mj-cs"/>
              </a:rPr>
              <a:t>rdt3.0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</a:t>
            </a:r>
            <a:r>
              <a:rPr lang="ko-KR" altLang="en-US" dirty="0">
                <a:cs typeface="+mj-cs"/>
              </a:rPr>
              <a:t> </a:t>
            </a:r>
            <a:r>
              <a:rPr lang="ko-KR" altLang="en-US" dirty="0">
                <a:solidFill>
                  <a:schemeClr val="bg1"/>
                </a:solidFill>
                <a:cs typeface="+mj-cs"/>
              </a:rPr>
              <a:t>실제 동작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33</a:t>
            </a:fld>
            <a:endParaRPr 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C18335-FFA9-45B1-9827-910C17CEF682}"/>
              </a:ext>
            </a:extLst>
          </p:cNvPr>
          <p:cNvSpPr/>
          <p:nvPr/>
        </p:nvSpPr>
        <p:spPr>
          <a:xfrm>
            <a:off x="658812" y="1146271"/>
            <a:ext cx="3716337" cy="522737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" panose="00000500000000000000" pitchFamily="2" charset="-127"/>
              <a:ea typeface="넥슨Lv1고딕" panose="00000500000000000000" pitchFamily="2" charset="-127"/>
              <a:cs typeface="+mn-cs"/>
              <a:sym typeface="Arial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1959B8-5B7F-4CCD-9123-98DA5E4D9EC2}"/>
              </a:ext>
            </a:extLst>
          </p:cNvPr>
          <p:cNvSpPr/>
          <p:nvPr/>
        </p:nvSpPr>
        <p:spPr>
          <a:xfrm>
            <a:off x="4472940" y="1152946"/>
            <a:ext cx="3783648" cy="5220696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" panose="00000500000000000000" pitchFamily="2" charset="-127"/>
              <a:ea typeface="넥슨Lv1고딕" panose="00000500000000000000" pitchFamily="2" charset="-127"/>
              <a:cs typeface="+mn-cs"/>
              <a:sym typeface="Arial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704DC3B3-9362-4CB3-B9B4-3C5371B60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735" y="2840640"/>
            <a:ext cx="84016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pkt1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679688D5-01DC-404D-BA7A-778E33E82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735" y="3066065"/>
            <a:ext cx="102143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ack1</a:t>
            </a:r>
          </a:p>
        </p:txBody>
      </p: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2C1941CA-EE56-4EF5-8782-E743C917081A}"/>
              </a:ext>
            </a:extLst>
          </p:cNvPr>
          <p:cNvGrpSpPr/>
          <p:nvPr/>
        </p:nvGrpSpPr>
        <p:grpSpPr>
          <a:xfrm>
            <a:off x="1805040" y="2613627"/>
            <a:ext cx="1302747" cy="504826"/>
            <a:chOff x="1805040" y="2613627"/>
            <a:chExt cx="1302747" cy="504826"/>
          </a:xfrm>
        </p:grpSpPr>
        <p:sp>
          <p:nvSpPr>
            <p:cNvPr id="54" name="Line 24">
              <a:extLst>
                <a:ext uri="{FF2B5EF4-FFF2-40B4-BE49-F238E27FC236}">
                  <a16:creationId xmlns:a16="http://schemas.microsoft.com/office/drawing/2014/main" id="{18AEB9BC-D984-4CD3-A4E5-140924FF5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5040" y="2761265"/>
              <a:ext cx="1302747" cy="357188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55" name="Text Box 25">
              <a:extLst>
                <a:ext uri="{FF2B5EF4-FFF2-40B4-BE49-F238E27FC236}">
                  <a16:creationId xmlns:a16="http://schemas.microsoft.com/office/drawing/2014/main" id="{2498F229-B194-4D06-9DEB-3BF9154DFA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2158" y="2613627"/>
              <a:ext cx="59164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pkt1</a:t>
              </a:r>
            </a:p>
          </p:txBody>
        </p:sp>
      </p:grpSp>
      <p:sp>
        <p:nvSpPr>
          <p:cNvPr id="10" name="Text Box 36">
            <a:extLst>
              <a:ext uri="{FF2B5EF4-FFF2-40B4-BE49-F238E27FC236}">
                <a16:creationId xmlns:a16="http://schemas.microsoft.com/office/drawing/2014/main" id="{5110410D-0C28-4096-BA37-1F8833CC1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604" y="1232502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1" name="Text Box 37">
            <a:extLst>
              <a:ext uri="{FF2B5EF4-FFF2-40B4-BE49-F238E27FC236}">
                <a16:creationId xmlns:a16="http://schemas.microsoft.com/office/drawing/2014/main" id="{B7C2801F-4B85-48D7-AA97-78CB30721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4608" y="1227740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수신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2" name="Text Box 38">
            <a:extLst>
              <a:ext uri="{FF2B5EF4-FFF2-40B4-BE49-F238E27FC236}">
                <a16:creationId xmlns:a16="http://schemas.microsoft.com/office/drawing/2014/main" id="{5A312268-599F-477E-9C8E-EC931AF4F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735" y="4117206"/>
            <a:ext cx="84016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pkt1</a:t>
            </a: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068FC91F-DF8C-48B8-86EA-00FFBB0D0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735" y="4985352"/>
            <a:ext cx="86260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pkt0</a:t>
            </a:r>
          </a:p>
        </p:txBody>
      </p:sp>
      <p:sp>
        <p:nvSpPr>
          <p:cNvPr id="14" name="Text Box 40">
            <a:extLst>
              <a:ext uri="{FF2B5EF4-FFF2-40B4-BE49-F238E27FC236}">
                <a16:creationId xmlns:a16="http://schemas.microsoft.com/office/drawing/2014/main" id="{2498DCBD-BA42-46BD-9678-37A04E632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735" y="2165952"/>
            <a:ext cx="104387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ack0</a:t>
            </a:r>
          </a:p>
        </p:txBody>
      </p:sp>
      <p:sp>
        <p:nvSpPr>
          <p:cNvPr id="15" name="Text Box 41">
            <a:extLst>
              <a:ext uri="{FF2B5EF4-FFF2-40B4-BE49-F238E27FC236}">
                <a16:creationId xmlns:a16="http://schemas.microsoft.com/office/drawing/2014/main" id="{8F5583EC-9029-4BE0-9FB0-81878D38D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735" y="4575041"/>
            <a:ext cx="102143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ack1</a:t>
            </a:r>
          </a:p>
        </p:txBody>
      </p:sp>
      <p:sp>
        <p:nvSpPr>
          <p:cNvPr id="16" name="Text Box 42">
            <a:extLst>
              <a:ext uri="{FF2B5EF4-FFF2-40B4-BE49-F238E27FC236}">
                <a16:creationId xmlns:a16="http://schemas.microsoft.com/office/drawing/2014/main" id="{01217C2B-ADB9-4117-A324-FB55CFE46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735" y="5233955"/>
            <a:ext cx="104387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ack0</a:t>
            </a:r>
          </a:p>
        </p:txBody>
      </p:sp>
      <p:sp>
        <p:nvSpPr>
          <p:cNvPr id="17" name="Text Box 43">
            <a:extLst>
              <a:ext uri="{FF2B5EF4-FFF2-40B4-BE49-F238E27FC236}">
                <a16:creationId xmlns:a16="http://schemas.microsoft.com/office/drawing/2014/main" id="{85D63F7E-92B1-4397-80AB-18D38B0FF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445" y="2415190"/>
            <a:ext cx="89627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ack0</a:t>
            </a:r>
          </a:p>
        </p:txBody>
      </p:sp>
      <p:sp>
        <p:nvSpPr>
          <p:cNvPr id="18" name="Text Box 44">
            <a:extLst>
              <a:ext uri="{FF2B5EF4-FFF2-40B4-BE49-F238E27FC236}">
                <a16:creationId xmlns:a16="http://schemas.microsoft.com/office/drawing/2014/main" id="{AF4285DD-DDBD-4EAA-81F3-761371DE6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3" y="4786915"/>
            <a:ext cx="1010212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pkt0</a:t>
            </a:r>
          </a:p>
        </p:txBody>
      </p:sp>
      <p:sp>
        <p:nvSpPr>
          <p:cNvPr id="19" name="Text Box 45">
            <a:extLst>
              <a:ext uri="{FF2B5EF4-FFF2-40B4-BE49-F238E27FC236}">
                <a16:creationId xmlns:a16="http://schemas.microsoft.com/office/drawing/2014/main" id="{27FA0835-961F-447D-9237-5B8730E47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135" y="2634265"/>
            <a:ext cx="98777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pkt1</a:t>
            </a:r>
          </a:p>
        </p:txBody>
      </p:sp>
      <p:sp>
        <p:nvSpPr>
          <p:cNvPr id="20" name="Text Box 46">
            <a:extLst>
              <a:ext uri="{FF2B5EF4-FFF2-40B4-BE49-F238E27FC236}">
                <a16:creationId xmlns:a16="http://schemas.microsoft.com/office/drawing/2014/main" id="{5869185F-151F-4545-A4DF-74B3D43F6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51" y="4547202"/>
            <a:ext cx="87382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ack1</a:t>
            </a:r>
          </a:p>
        </p:txBody>
      </p:sp>
      <p:sp>
        <p:nvSpPr>
          <p:cNvPr id="21" name="Text Box 47">
            <a:extLst>
              <a:ext uri="{FF2B5EF4-FFF2-40B4-BE49-F238E27FC236}">
                <a16:creationId xmlns:a16="http://schemas.microsoft.com/office/drawing/2014/main" id="{EFFBC32D-CEB2-4780-9CD2-B708F4564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857" y="1672240"/>
            <a:ext cx="1010212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pkt0</a:t>
            </a:r>
          </a:p>
        </p:txBody>
      </p:sp>
      <p:sp>
        <p:nvSpPr>
          <p:cNvPr id="22" name="Text Box 48">
            <a:extLst>
              <a:ext uri="{FF2B5EF4-FFF2-40B4-BE49-F238E27FC236}">
                <a16:creationId xmlns:a16="http://schemas.microsoft.com/office/drawing/2014/main" id="{BD6CFB0A-9261-43CB-B29C-4AF688569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735" y="1954815"/>
            <a:ext cx="86260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pkt0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29D7CB38-B1E1-492C-9BA2-A09366174F33}"/>
              </a:ext>
            </a:extLst>
          </p:cNvPr>
          <p:cNvGrpSpPr/>
          <p:nvPr/>
        </p:nvGrpSpPr>
        <p:grpSpPr>
          <a:xfrm>
            <a:off x="1796608" y="1742090"/>
            <a:ext cx="1302747" cy="512762"/>
            <a:chOff x="1796608" y="1742090"/>
            <a:chExt cx="1302747" cy="512762"/>
          </a:xfrm>
        </p:grpSpPr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E9918BC2-0CD9-4C32-9928-D8D9191E8A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6608" y="1897665"/>
              <a:ext cx="1302747" cy="357187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53" name="Text Box 51">
              <a:extLst>
                <a:ext uri="{FF2B5EF4-FFF2-40B4-BE49-F238E27FC236}">
                  <a16:creationId xmlns:a16="http://schemas.microsoft.com/office/drawing/2014/main" id="{ECDACDF8-29A5-41CE-B07F-9EEE029F78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6699" y="1742090"/>
              <a:ext cx="622564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pkt0</a:t>
              </a:r>
            </a:p>
          </p:txBody>
        </p: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716F1828-3365-4BA2-BF4C-69CF3C753796}"/>
              </a:ext>
            </a:extLst>
          </p:cNvPr>
          <p:cNvGrpSpPr/>
          <p:nvPr/>
        </p:nvGrpSpPr>
        <p:grpSpPr>
          <a:xfrm>
            <a:off x="1790986" y="4733892"/>
            <a:ext cx="1302747" cy="510223"/>
            <a:chOff x="1790986" y="4733892"/>
            <a:chExt cx="1302747" cy="510223"/>
          </a:xfrm>
        </p:grpSpPr>
        <p:sp>
          <p:nvSpPr>
            <p:cNvPr id="50" name="Line 53">
              <a:extLst>
                <a:ext uri="{FF2B5EF4-FFF2-40B4-BE49-F238E27FC236}">
                  <a16:creationId xmlns:a16="http://schemas.microsoft.com/office/drawing/2014/main" id="{459A7425-DAF5-4F8D-88F6-B71581DDD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0986" y="4886927"/>
              <a:ext cx="1302747" cy="357188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51" name="Text Box 54">
              <a:extLst>
                <a:ext uri="{FF2B5EF4-FFF2-40B4-BE49-F238E27FC236}">
                  <a16:creationId xmlns:a16="http://schemas.microsoft.com/office/drawing/2014/main" id="{06BF7D99-7BB1-404E-ACF9-9BF65366E5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6699" y="4733892"/>
              <a:ext cx="622564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pkt0</a:t>
              </a: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425365F5-0D99-45B3-9697-F4E433E46211}"/>
              </a:ext>
            </a:extLst>
          </p:cNvPr>
          <p:cNvGrpSpPr/>
          <p:nvPr/>
        </p:nvGrpSpPr>
        <p:grpSpPr>
          <a:xfrm>
            <a:off x="1790986" y="4359877"/>
            <a:ext cx="1302747" cy="471488"/>
            <a:chOff x="1790986" y="4359877"/>
            <a:chExt cx="1302747" cy="471488"/>
          </a:xfrm>
        </p:grpSpPr>
        <p:sp>
          <p:nvSpPr>
            <p:cNvPr id="48" name="Line 56">
              <a:extLst>
                <a:ext uri="{FF2B5EF4-FFF2-40B4-BE49-F238E27FC236}">
                  <a16:creationId xmlns:a16="http://schemas.microsoft.com/office/drawing/2014/main" id="{821912DA-5CB6-44C4-A9C2-7ACD36668A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90986" y="4474177"/>
              <a:ext cx="1302747" cy="357188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49" name="Text Box 57">
              <a:extLst>
                <a:ext uri="{FF2B5EF4-FFF2-40B4-BE49-F238E27FC236}">
                  <a16:creationId xmlns:a16="http://schemas.microsoft.com/office/drawing/2014/main" id="{6F19DC0E-DC59-4C74-A679-B95D603677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294" y="4359877"/>
              <a:ext cx="62537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ack1</a:t>
              </a: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2556B2D1-DB1A-4EA3-A869-12701FD07585}"/>
              </a:ext>
            </a:extLst>
          </p:cNvPr>
          <p:cNvGrpSpPr/>
          <p:nvPr/>
        </p:nvGrpSpPr>
        <p:grpSpPr>
          <a:xfrm>
            <a:off x="1783959" y="2185003"/>
            <a:ext cx="1302748" cy="512763"/>
            <a:chOff x="1783959" y="2185003"/>
            <a:chExt cx="1302748" cy="512763"/>
          </a:xfrm>
        </p:grpSpPr>
        <p:sp>
          <p:nvSpPr>
            <p:cNvPr id="46" name="Line 59">
              <a:extLst>
                <a:ext uri="{FF2B5EF4-FFF2-40B4-BE49-F238E27FC236}">
                  <a16:creationId xmlns:a16="http://schemas.microsoft.com/office/drawing/2014/main" id="{BF077EF9-443C-4121-BE7E-140B9B38E8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83959" y="2340578"/>
              <a:ext cx="1302748" cy="357188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47" name="Text Box 60">
              <a:extLst>
                <a:ext uri="{FF2B5EF4-FFF2-40B4-BE49-F238E27FC236}">
                  <a16:creationId xmlns:a16="http://schemas.microsoft.com/office/drawing/2014/main" id="{1011BE2B-C2D0-4BE3-AA3D-22F4123894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5855" y="2185003"/>
              <a:ext cx="68425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ack0</a:t>
              </a:r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8495936B-6C27-4248-AC8D-D73241B2F0A2}"/>
              </a:ext>
            </a:extLst>
          </p:cNvPr>
          <p:cNvGrpSpPr/>
          <p:nvPr/>
        </p:nvGrpSpPr>
        <p:grpSpPr>
          <a:xfrm>
            <a:off x="1778338" y="5212365"/>
            <a:ext cx="1302748" cy="484822"/>
            <a:chOff x="1778338" y="5212365"/>
            <a:chExt cx="1302748" cy="484822"/>
          </a:xfrm>
        </p:grpSpPr>
        <p:sp>
          <p:nvSpPr>
            <p:cNvPr id="44" name="Line 62">
              <a:extLst>
                <a:ext uri="{FF2B5EF4-FFF2-40B4-BE49-F238E27FC236}">
                  <a16:creationId xmlns:a16="http://schemas.microsoft.com/office/drawing/2014/main" id="{BBAB1AB5-5232-4541-BEB8-C443C1FFC6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8338" y="5340000"/>
              <a:ext cx="1302748" cy="357187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45" name="Text Box 63">
              <a:extLst>
                <a:ext uri="{FF2B5EF4-FFF2-40B4-BE49-F238E27FC236}">
                  <a16:creationId xmlns:a16="http://schemas.microsoft.com/office/drawing/2014/main" id="{04C1A96B-29CB-45C7-86EE-EFB44897AC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3511" y="5212365"/>
              <a:ext cx="668941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ack0</a:t>
              </a:r>
            </a:p>
          </p:txBody>
        </p:sp>
      </p:grpSp>
      <p:sp>
        <p:nvSpPr>
          <p:cNvPr id="28" name="Text Box 64">
            <a:extLst>
              <a:ext uri="{FF2B5EF4-FFF2-40B4-BE49-F238E27FC236}">
                <a16:creationId xmlns:a16="http://schemas.microsoft.com/office/drawing/2014/main" id="{77C38635-A65B-45DC-B7A8-060C479D1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9982" y="5925152"/>
            <a:ext cx="125386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(c) ACK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손실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BAC1E183-ABD9-49C8-BBE9-F31130B963E1}"/>
              </a:ext>
            </a:extLst>
          </p:cNvPr>
          <p:cNvGrpSpPr/>
          <p:nvPr/>
        </p:nvGrpSpPr>
        <p:grpSpPr>
          <a:xfrm>
            <a:off x="1973775" y="3013677"/>
            <a:ext cx="1131200" cy="727863"/>
            <a:chOff x="1973775" y="3013677"/>
            <a:chExt cx="1131200" cy="727863"/>
          </a:xfrm>
        </p:grpSpPr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2FB19155-3C09-45EF-B31F-56D06CA713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8312" y="3172427"/>
              <a:ext cx="806663" cy="209550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41" name="Text Box 28">
              <a:extLst>
                <a:ext uri="{FF2B5EF4-FFF2-40B4-BE49-F238E27FC236}">
                  <a16:creationId xmlns:a16="http://schemas.microsoft.com/office/drawing/2014/main" id="{5BB29755-EE0B-4308-BCCA-8C4971098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294" y="3013677"/>
              <a:ext cx="62537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ack1</a:t>
              </a:r>
            </a:p>
          </p:txBody>
        </p:sp>
        <p:sp>
          <p:nvSpPr>
            <p:cNvPr id="42" name="Text Box 68">
              <a:extLst>
                <a:ext uri="{FF2B5EF4-FFF2-40B4-BE49-F238E27FC236}">
                  <a16:creationId xmlns:a16="http://schemas.microsoft.com/office/drawing/2014/main" id="{3AA1A0AA-0E39-4D56-96DB-AB231C9291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8606" y="3206738"/>
              <a:ext cx="34657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j-ea"/>
                  <a:ea typeface="+mj-ea"/>
                  <a:cs typeface="+mj-cs"/>
                </a:rPr>
                <a:t>X</a:t>
              </a:r>
            </a:p>
          </p:txBody>
        </p:sp>
        <p:sp>
          <p:nvSpPr>
            <p:cNvPr id="43" name="Text Box 69">
              <a:extLst>
                <a:ext uri="{FF2B5EF4-FFF2-40B4-BE49-F238E27FC236}">
                  <a16:creationId xmlns:a16="http://schemas.microsoft.com/office/drawing/2014/main" id="{800B4802-47F5-44B1-8196-16989C330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3775" y="3433763"/>
              <a:ext cx="57740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 i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n-lt"/>
                  <a:ea typeface="+mj-ea"/>
                  <a:cs typeface="+mj-cs"/>
                </a:rPr>
                <a:t>loss</a:t>
              </a:r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8C7115B5-DC9D-4DB9-B3B0-530525F2C0E5}"/>
              </a:ext>
            </a:extLst>
          </p:cNvPr>
          <p:cNvGrpSpPr/>
          <p:nvPr/>
        </p:nvGrpSpPr>
        <p:grpSpPr>
          <a:xfrm>
            <a:off x="1812066" y="3909027"/>
            <a:ext cx="1302748" cy="504826"/>
            <a:chOff x="1812066" y="3909027"/>
            <a:chExt cx="1302748" cy="504826"/>
          </a:xfrm>
        </p:grpSpPr>
        <p:sp>
          <p:nvSpPr>
            <p:cNvPr id="35" name="Line 75">
              <a:extLst>
                <a:ext uri="{FF2B5EF4-FFF2-40B4-BE49-F238E27FC236}">
                  <a16:creationId xmlns:a16="http://schemas.microsoft.com/office/drawing/2014/main" id="{9F9213A8-DE83-4E5F-9158-2D63AB8C35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2066" y="4056665"/>
              <a:ext cx="1302748" cy="357188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36" name="Text Box 76">
              <a:extLst>
                <a:ext uri="{FF2B5EF4-FFF2-40B4-BE49-F238E27FC236}">
                  <a16:creationId xmlns:a16="http://schemas.microsoft.com/office/drawing/2014/main" id="{CC2B9B5D-CEC2-46F3-9B21-C949E0500B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8482" y="3909027"/>
              <a:ext cx="578999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pkt1</a:t>
              </a:r>
            </a:p>
          </p:txBody>
        </p:sp>
      </p:grpSp>
      <p:sp>
        <p:nvSpPr>
          <p:cNvPr id="61" name="Text Box 88">
            <a:extLst>
              <a:ext uri="{FF2B5EF4-FFF2-40B4-BE49-F238E27FC236}">
                <a16:creationId xmlns:a16="http://schemas.microsoft.com/office/drawing/2014/main" id="{7AAACD6A-F4E7-431C-B075-D9501F0DB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581" y="1227740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62" name="Text Box 89">
            <a:extLst>
              <a:ext uri="{FF2B5EF4-FFF2-40B4-BE49-F238E27FC236}">
                <a16:creationId xmlns:a16="http://schemas.microsoft.com/office/drawing/2014/main" id="{29BCD340-120D-45A7-B8B3-4FD328947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8607" y="1227740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수신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66" name="Text Box 97">
            <a:extLst>
              <a:ext uri="{FF2B5EF4-FFF2-40B4-BE49-F238E27FC236}">
                <a16:creationId xmlns:a16="http://schemas.microsoft.com/office/drawing/2014/main" id="{D1EC52AA-C1AD-429F-9B9D-B675A53EF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601" y="2627381"/>
            <a:ext cx="98777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pkt1</a:t>
            </a:r>
          </a:p>
        </p:txBody>
      </p:sp>
      <p:sp>
        <p:nvSpPr>
          <p:cNvPr id="71" name="Text Box 116">
            <a:extLst>
              <a:ext uri="{FF2B5EF4-FFF2-40B4-BE49-F238E27FC236}">
                <a16:creationId xmlns:a16="http://schemas.microsoft.com/office/drawing/2014/main" id="{835AD86B-FB57-44D0-A42D-7761AEC1B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3242" y="5925152"/>
            <a:ext cx="2824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(d)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조급한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timeout/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지연된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ACK</a:t>
            </a:r>
          </a:p>
        </p:txBody>
      </p:sp>
      <p:sp>
        <p:nvSpPr>
          <p:cNvPr id="122" name="Text Box 14">
            <a:extLst>
              <a:ext uri="{FF2B5EF4-FFF2-40B4-BE49-F238E27FC236}">
                <a16:creationId xmlns:a16="http://schemas.microsoft.com/office/drawing/2014/main" id="{DD40DF7A-84E1-4B4D-933C-B239787E5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735" y="4363302"/>
            <a:ext cx="131226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0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(detect duplicate)</a:t>
            </a: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2B0DBA81-1B09-4B60-B8E9-3AA3A90FF5FB}"/>
              </a:ext>
            </a:extLst>
          </p:cNvPr>
          <p:cNvGrpSpPr/>
          <p:nvPr/>
        </p:nvGrpSpPr>
        <p:grpSpPr>
          <a:xfrm>
            <a:off x="617944" y="3320214"/>
            <a:ext cx="1146339" cy="947422"/>
            <a:chOff x="617944" y="3320214"/>
            <a:chExt cx="1146339" cy="947422"/>
          </a:xfrm>
        </p:grpSpPr>
        <p:sp>
          <p:nvSpPr>
            <p:cNvPr id="34" name="Text Box 79">
              <a:extLst>
                <a:ext uri="{FF2B5EF4-FFF2-40B4-BE49-F238E27FC236}">
                  <a16:creationId xmlns:a16="http://schemas.microsoft.com/office/drawing/2014/main" id="{D7E635E0-5191-4A57-96FD-92A33F714D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944" y="3759805"/>
              <a:ext cx="1146339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 i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n-lt"/>
                  <a:ea typeface="+mj-ea"/>
                  <a:cs typeface="+mj-cs"/>
                </a:rPr>
                <a:t>timeout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resend pkt1</a:t>
              </a:r>
            </a:p>
          </p:txBody>
        </p:sp>
        <p:pic>
          <p:nvPicPr>
            <p:cNvPr id="123" name="그림 122">
              <a:extLst>
                <a:ext uri="{FF2B5EF4-FFF2-40B4-BE49-F238E27FC236}">
                  <a16:creationId xmlns:a16="http://schemas.microsoft.com/office/drawing/2014/main" id="{AC74C129-28C9-4CC6-A2FC-42DCE0340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20256" y="3320214"/>
              <a:ext cx="281483" cy="469892"/>
            </a:xfrm>
            <a:prstGeom prst="rect">
              <a:avLst/>
            </a:prstGeom>
          </p:spPr>
        </p:pic>
      </p:grpSp>
      <p:sp>
        <p:nvSpPr>
          <p:cNvPr id="124" name="자유형: 도형 123">
            <a:extLst>
              <a:ext uri="{FF2B5EF4-FFF2-40B4-BE49-F238E27FC236}">
                <a16:creationId xmlns:a16="http://schemas.microsoft.com/office/drawing/2014/main" id="{7835B5C7-94E1-40DB-B7E9-236E48B50BDE}"/>
              </a:ext>
            </a:extLst>
          </p:cNvPr>
          <p:cNvSpPr/>
          <p:nvPr/>
        </p:nvSpPr>
        <p:spPr>
          <a:xfrm>
            <a:off x="1724602" y="2845994"/>
            <a:ext cx="123825" cy="1066800"/>
          </a:xfrm>
          <a:custGeom>
            <a:avLst/>
            <a:gdLst>
              <a:gd name="connsiteX0" fmla="*/ 0 w 123825"/>
              <a:gd name="connsiteY0" fmla="*/ 1066800 h 1066800"/>
              <a:gd name="connsiteX1" fmla="*/ 123825 w 123825"/>
              <a:gd name="connsiteY1" fmla="*/ 1066800 h 1066800"/>
              <a:gd name="connsiteX2" fmla="*/ 123825 w 123825"/>
              <a:gd name="connsiteY2" fmla="*/ 0 h 1066800"/>
              <a:gd name="connsiteX3" fmla="*/ 4763 w 123825"/>
              <a:gd name="connsiteY3" fmla="*/ 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825" h="1066800">
                <a:moveTo>
                  <a:pt x="0" y="1066800"/>
                </a:moveTo>
                <a:lnTo>
                  <a:pt x="123825" y="1066800"/>
                </a:lnTo>
                <a:lnTo>
                  <a:pt x="123825" y="0"/>
                </a:lnTo>
                <a:lnTo>
                  <a:pt x="4763" y="0"/>
                </a:lnTo>
              </a:path>
            </a:pathLst>
          </a:cu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 Box 82">
            <a:extLst>
              <a:ext uri="{FF2B5EF4-FFF2-40B4-BE49-F238E27FC236}">
                <a16:creationId xmlns:a16="http://schemas.microsoft.com/office/drawing/2014/main" id="{834ED7F0-F684-4AA8-9EAA-75CC7B780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389" y="2789372"/>
            <a:ext cx="840166" cy="30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pkt1</a:t>
            </a:r>
          </a:p>
        </p:txBody>
      </p:sp>
      <p:sp>
        <p:nvSpPr>
          <p:cNvPr id="58" name="Text Box 83">
            <a:extLst>
              <a:ext uri="{FF2B5EF4-FFF2-40B4-BE49-F238E27FC236}">
                <a16:creationId xmlns:a16="http://schemas.microsoft.com/office/drawing/2014/main" id="{13CB219B-5DB0-4B91-8472-8B2CB4A34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389" y="3008370"/>
            <a:ext cx="1021433" cy="30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ack1</a:t>
            </a: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C8582667-C2DF-44E1-AEE8-1F3F9E20116E}"/>
              </a:ext>
            </a:extLst>
          </p:cNvPr>
          <p:cNvGrpSpPr/>
          <p:nvPr/>
        </p:nvGrpSpPr>
        <p:grpSpPr>
          <a:xfrm>
            <a:off x="5713076" y="2595844"/>
            <a:ext cx="1266574" cy="460301"/>
            <a:chOff x="5713076" y="2595844"/>
            <a:chExt cx="1266574" cy="460301"/>
          </a:xfrm>
        </p:grpSpPr>
        <p:sp>
          <p:nvSpPr>
            <p:cNvPr id="120" name="Line 86">
              <a:extLst>
                <a:ext uri="{FF2B5EF4-FFF2-40B4-BE49-F238E27FC236}">
                  <a16:creationId xmlns:a16="http://schemas.microsoft.com/office/drawing/2014/main" id="{1A2EF82F-61E2-4293-877E-FE773E1FC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3076" y="2730461"/>
              <a:ext cx="1266574" cy="325684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21" name="Text Box 87">
              <a:extLst>
                <a:ext uri="{FF2B5EF4-FFF2-40B4-BE49-F238E27FC236}">
                  <a16:creationId xmlns:a16="http://schemas.microsoft.com/office/drawing/2014/main" id="{47F6DF8A-D890-4559-8A08-B092CEB91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7329" y="2595844"/>
              <a:ext cx="638069" cy="293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pkt1</a:t>
              </a:r>
            </a:p>
          </p:txBody>
        </p:sp>
      </p:grpSp>
      <p:sp>
        <p:nvSpPr>
          <p:cNvPr id="63" name="Text Box 90">
            <a:extLst>
              <a:ext uri="{FF2B5EF4-FFF2-40B4-BE49-F238E27FC236}">
                <a16:creationId xmlns:a16="http://schemas.microsoft.com/office/drawing/2014/main" id="{0A02FCE3-354D-4DA5-A241-41F2DDA81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389" y="3864229"/>
            <a:ext cx="840166" cy="30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pkt1</a:t>
            </a:r>
          </a:p>
        </p:txBody>
      </p:sp>
      <p:sp>
        <p:nvSpPr>
          <p:cNvPr id="64" name="Text Box 92">
            <a:extLst>
              <a:ext uri="{FF2B5EF4-FFF2-40B4-BE49-F238E27FC236}">
                <a16:creationId xmlns:a16="http://schemas.microsoft.com/office/drawing/2014/main" id="{F4A76787-9309-4CAF-AD6F-4E0834DB8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389" y="2221284"/>
            <a:ext cx="1043876" cy="30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ack0</a:t>
            </a:r>
          </a:p>
        </p:txBody>
      </p:sp>
      <p:sp>
        <p:nvSpPr>
          <p:cNvPr id="65" name="Text Box 95">
            <a:extLst>
              <a:ext uri="{FF2B5EF4-FFF2-40B4-BE49-F238E27FC236}">
                <a16:creationId xmlns:a16="http://schemas.microsoft.com/office/drawing/2014/main" id="{F3A2A707-476F-48A2-86AB-7E053E2AE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0100" y="2414902"/>
            <a:ext cx="89627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ack0</a:t>
            </a:r>
          </a:p>
        </p:txBody>
      </p:sp>
      <p:sp>
        <p:nvSpPr>
          <p:cNvPr id="67" name="Text Box 99">
            <a:extLst>
              <a:ext uri="{FF2B5EF4-FFF2-40B4-BE49-F238E27FC236}">
                <a16:creationId xmlns:a16="http://schemas.microsoft.com/office/drawing/2014/main" id="{EB1A1291-802B-4BAB-95A9-37C149D10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6159" y="1737480"/>
            <a:ext cx="1010212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pkt0</a:t>
            </a:r>
          </a:p>
        </p:txBody>
      </p:sp>
      <p:sp>
        <p:nvSpPr>
          <p:cNvPr id="68" name="Text Box 100">
            <a:extLst>
              <a:ext uri="{FF2B5EF4-FFF2-40B4-BE49-F238E27FC236}">
                <a16:creationId xmlns:a16="http://schemas.microsoft.com/office/drawing/2014/main" id="{D0B07305-C509-433E-A700-1AF5D3403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389" y="1995132"/>
            <a:ext cx="862608" cy="30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pkt0</a:t>
            </a:r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AAFD6E57-B0B8-41C6-BC92-7EEA1A627D52}"/>
              </a:ext>
            </a:extLst>
          </p:cNvPr>
          <p:cNvGrpSpPr/>
          <p:nvPr/>
        </p:nvGrpSpPr>
        <p:grpSpPr>
          <a:xfrm>
            <a:off x="5704878" y="1801169"/>
            <a:ext cx="1266574" cy="467538"/>
            <a:chOff x="5704878" y="1801169"/>
            <a:chExt cx="1266574" cy="467538"/>
          </a:xfrm>
        </p:grpSpPr>
        <p:sp>
          <p:nvSpPr>
            <p:cNvPr id="118" name="Line 102">
              <a:extLst>
                <a:ext uri="{FF2B5EF4-FFF2-40B4-BE49-F238E27FC236}">
                  <a16:creationId xmlns:a16="http://schemas.microsoft.com/office/drawing/2014/main" id="{DC1E170A-873A-4379-A732-ABB4FE447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04878" y="1943023"/>
              <a:ext cx="1266574" cy="325684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19" name="Text Box 103">
              <a:extLst>
                <a:ext uri="{FF2B5EF4-FFF2-40B4-BE49-F238E27FC236}">
                  <a16:creationId xmlns:a16="http://schemas.microsoft.com/office/drawing/2014/main" id="{A578A392-5083-4F0E-8181-94CB3DD130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8281" y="1801169"/>
              <a:ext cx="559769" cy="293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pkt0</a:t>
              </a:r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19D99ADC-3041-4440-BB27-4A54D63BF0ED}"/>
              </a:ext>
            </a:extLst>
          </p:cNvPr>
          <p:cNvGrpSpPr/>
          <p:nvPr/>
        </p:nvGrpSpPr>
        <p:grpSpPr>
          <a:xfrm>
            <a:off x="5692581" y="2244427"/>
            <a:ext cx="1266575" cy="428127"/>
            <a:chOff x="5692581" y="2244427"/>
            <a:chExt cx="1266575" cy="428127"/>
          </a:xfrm>
        </p:grpSpPr>
        <p:sp>
          <p:nvSpPr>
            <p:cNvPr id="116" name="Line 111">
              <a:extLst>
                <a:ext uri="{FF2B5EF4-FFF2-40B4-BE49-F238E27FC236}">
                  <a16:creationId xmlns:a16="http://schemas.microsoft.com/office/drawing/2014/main" id="{59453630-42FB-4203-AD79-458999DB09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92581" y="2346870"/>
              <a:ext cx="1266575" cy="325684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17" name="Text Box 112">
              <a:extLst>
                <a:ext uri="{FF2B5EF4-FFF2-40B4-BE49-F238E27FC236}">
                  <a16:creationId xmlns:a16="http://schemas.microsoft.com/office/drawing/2014/main" id="{7470D0B0-50D2-4099-B3AE-4DE20AFF90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8089" y="2244427"/>
              <a:ext cx="616209" cy="293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ack0</a:t>
              </a: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12404739-F469-4A25-9B9E-96817E7D3D8A}"/>
              </a:ext>
            </a:extLst>
          </p:cNvPr>
          <p:cNvGrpSpPr/>
          <p:nvPr/>
        </p:nvGrpSpPr>
        <p:grpSpPr>
          <a:xfrm>
            <a:off x="5719907" y="3776983"/>
            <a:ext cx="1266575" cy="460300"/>
            <a:chOff x="5719907" y="3776983"/>
            <a:chExt cx="1266575" cy="460300"/>
          </a:xfrm>
        </p:grpSpPr>
        <p:sp>
          <p:nvSpPr>
            <p:cNvPr id="111" name="Line 127">
              <a:extLst>
                <a:ext uri="{FF2B5EF4-FFF2-40B4-BE49-F238E27FC236}">
                  <a16:creationId xmlns:a16="http://schemas.microsoft.com/office/drawing/2014/main" id="{34060633-E036-41FC-8B50-E6106FD180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9907" y="3911599"/>
              <a:ext cx="1266575" cy="325684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12" name="Text Box 128">
              <a:extLst>
                <a:ext uri="{FF2B5EF4-FFF2-40B4-BE49-F238E27FC236}">
                  <a16:creationId xmlns:a16="http://schemas.microsoft.com/office/drawing/2014/main" id="{E9B388E2-7DD8-4CA8-832A-9F227E62D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2228" y="3776983"/>
              <a:ext cx="521933" cy="293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pkt1</a:t>
              </a:r>
            </a:p>
          </p:txBody>
        </p: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16D6B761-2740-41CF-BBED-4045009DA628}"/>
              </a:ext>
            </a:extLst>
          </p:cNvPr>
          <p:cNvGrpSpPr/>
          <p:nvPr/>
        </p:nvGrpSpPr>
        <p:grpSpPr>
          <a:xfrm>
            <a:off x="6054655" y="3105352"/>
            <a:ext cx="922262" cy="682931"/>
            <a:chOff x="6054655" y="3105352"/>
            <a:chExt cx="922262" cy="682931"/>
          </a:xfrm>
        </p:grpSpPr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8CCA1761-562F-4714-86B0-73D8ABA3525D}"/>
                </a:ext>
              </a:extLst>
            </p:cNvPr>
            <p:cNvGrpSpPr/>
            <p:nvPr/>
          </p:nvGrpSpPr>
          <p:grpSpPr>
            <a:xfrm>
              <a:off x="6054655" y="3105352"/>
              <a:ext cx="922262" cy="498298"/>
              <a:chOff x="6054655" y="3105352"/>
              <a:chExt cx="922262" cy="498298"/>
            </a:xfrm>
          </p:grpSpPr>
          <p:sp>
            <p:nvSpPr>
              <p:cNvPr id="106" name="Line 118">
                <a:extLst>
                  <a:ext uri="{FF2B5EF4-FFF2-40B4-BE49-F238E27FC236}">
                    <a16:creationId xmlns:a16="http://schemas.microsoft.com/office/drawing/2014/main" id="{B69AB964-49E7-4D78-A883-750A7C565E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98371" y="3105352"/>
                <a:ext cx="578546" cy="498298"/>
              </a:xfrm>
              <a:prstGeom prst="line">
                <a:avLst/>
              </a:prstGeom>
              <a:noFill/>
              <a:ln w="28575">
                <a:solidFill>
                  <a:srgbClr val="09898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107" name="Text Box 119">
                <a:extLst>
                  <a:ext uri="{FF2B5EF4-FFF2-40B4-BE49-F238E27FC236}">
                    <a16:creationId xmlns:a16="http://schemas.microsoft.com/office/drawing/2014/main" id="{16981991-856F-442F-98D0-D16C51FD10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54655" y="3240149"/>
                <a:ext cx="570674" cy="2938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2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098983"/>
                    </a:solidFill>
                    <a:latin typeface="+mn-lt"/>
                    <a:ea typeface="+mj-ea"/>
                    <a:cs typeface="+mj-cs"/>
                  </a:rPr>
                  <a:t>ack1</a:t>
                </a:r>
              </a:p>
            </p:txBody>
          </p:sp>
        </p:grpSp>
        <p:sp>
          <p:nvSpPr>
            <p:cNvPr id="108" name="Line 132">
              <a:extLst>
                <a:ext uri="{FF2B5EF4-FFF2-40B4-BE49-F238E27FC236}">
                  <a16:creationId xmlns:a16="http://schemas.microsoft.com/office/drawing/2014/main" id="{3A9D142F-36DF-4E00-BB5D-A24AD81070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89229" y="3620164"/>
              <a:ext cx="191537" cy="168119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sp>
        <p:nvSpPr>
          <p:cNvPr id="76" name="Line 136">
            <a:extLst>
              <a:ext uri="{FF2B5EF4-FFF2-40B4-BE49-F238E27FC236}">
                <a16:creationId xmlns:a16="http://schemas.microsoft.com/office/drawing/2014/main" id="{675FC1DC-0850-4CC2-ABD7-292903C43C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22457" y="3598662"/>
            <a:ext cx="782898" cy="674527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4E79AEA9-B547-4311-9179-584335D7ABC2}"/>
              </a:ext>
            </a:extLst>
          </p:cNvPr>
          <p:cNvGrpSpPr/>
          <p:nvPr/>
        </p:nvGrpSpPr>
        <p:grpSpPr>
          <a:xfrm>
            <a:off x="4636158" y="4137407"/>
            <a:ext cx="3651621" cy="1710942"/>
            <a:chOff x="4636158" y="4137407"/>
            <a:chExt cx="3651621" cy="1710942"/>
          </a:xfrm>
        </p:grpSpPr>
        <p:sp>
          <p:nvSpPr>
            <p:cNvPr id="79" name="Text Box 96">
              <a:extLst>
                <a:ext uri="{FF2B5EF4-FFF2-40B4-BE49-F238E27FC236}">
                  <a16:creationId xmlns:a16="http://schemas.microsoft.com/office/drawing/2014/main" id="{29D4B2FA-8971-406F-AC5F-47DF4AAD3B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6158" y="4902627"/>
              <a:ext cx="1010213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send pkt0</a:t>
              </a:r>
            </a:p>
          </p:txBody>
        </p: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37DE7180-EF66-45B8-8B4C-2078A6DD1A12}"/>
                </a:ext>
              </a:extLst>
            </p:cNvPr>
            <p:cNvGrpSpPr/>
            <p:nvPr/>
          </p:nvGrpSpPr>
          <p:grpSpPr>
            <a:xfrm>
              <a:off x="4636159" y="4137407"/>
              <a:ext cx="3651620" cy="1710942"/>
              <a:chOff x="4636159" y="4137407"/>
              <a:chExt cx="3651620" cy="1710942"/>
            </a:xfrm>
          </p:grpSpPr>
          <p:sp>
            <p:nvSpPr>
              <p:cNvPr id="98" name="Text Box 134">
                <a:extLst>
                  <a:ext uri="{FF2B5EF4-FFF2-40B4-BE49-F238E27FC236}">
                    <a16:creationId xmlns:a16="http://schemas.microsoft.com/office/drawing/2014/main" id="{1FF5A887-4C5A-49D9-91A0-713F9BC07A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6159" y="4368558"/>
                <a:ext cx="1010212" cy="292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3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send pkt0</a:t>
                </a:r>
              </a:p>
            </p:txBody>
          </p:sp>
          <p:grpSp>
            <p:nvGrpSpPr>
              <p:cNvPr id="145" name="그룹 144">
                <a:extLst>
                  <a:ext uri="{FF2B5EF4-FFF2-40B4-BE49-F238E27FC236}">
                    <a16:creationId xmlns:a16="http://schemas.microsoft.com/office/drawing/2014/main" id="{AD6B2B4A-84EA-4F94-BAB4-0241D9B9B665}"/>
                  </a:ext>
                </a:extLst>
              </p:cNvPr>
              <p:cNvGrpSpPr/>
              <p:nvPr/>
            </p:nvGrpSpPr>
            <p:grpSpPr>
              <a:xfrm>
                <a:off x="4772542" y="4137407"/>
                <a:ext cx="3515237" cy="1710942"/>
                <a:chOff x="4772542" y="4137407"/>
                <a:chExt cx="3515237" cy="1710942"/>
              </a:xfrm>
            </p:grpSpPr>
            <p:sp>
              <p:nvSpPr>
                <p:cNvPr id="78" name="Text Box 93">
                  <a:extLst>
                    <a:ext uri="{FF2B5EF4-FFF2-40B4-BE49-F238E27FC236}">
                      <a16:creationId xmlns:a16="http://schemas.microsoft.com/office/drawing/2014/main" id="{989435E4-6C47-43CD-BB55-BB6D6F49A3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23389" y="4295555"/>
                  <a:ext cx="1021433" cy="3097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30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send ack1</a:t>
                  </a:r>
                </a:p>
              </p:txBody>
            </p:sp>
            <p:sp>
              <p:nvSpPr>
                <p:cNvPr id="80" name="Text Box 98">
                  <a:extLst>
                    <a:ext uri="{FF2B5EF4-FFF2-40B4-BE49-F238E27FC236}">
                      <a16:creationId xmlns:a16="http://schemas.microsoft.com/office/drawing/2014/main" id="{8726C201-E8CF-4A9C-87E8-4A906893D1E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72542" y="4673841"/>
                  <a:ext cx="873829" cy="2923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30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rcv ack1</a:t>
                  </a:r>
                </a:p>
              </p:txBody>
            </p:sp>
            <p:sp>
              <p:nvSpPr>
                <p:cNvPr id="104" name="Line 105">
                  <a:extLst>
                    <a:ext uri="{FF2B5EF4-FFF2-40B4-BE49-F238E27FC236}">
                      <a16:creationId xmlns:a16="http://schemas.microsoft.com/office/drawing/2014/main" id="{6814E234-E632-4EE7-B949-9D8A8A6C5F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91218" y="4859700"/>
                  <a:ext cx="1266575" cy="325684"/>
                </a:xfrm>
                <a:prstGeom prst="line">
                  <a:avLst/>
                </a:prstGeom>
                <a:noFill/>
                <a:ln w="28575">
                  <a:solidFill>
                    <a:srgbClr val="105BA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ko-KR" altLang="en-US"/>
                </a:p>
              </p:txBody>
            </p:sp>
            <p:sp>
              <p:nvSpPr>
                <p:cNvPr id="105" name="Text Box 106">
                  <a:extLst>
                    <a:ext uri="{FF2B5EF4-FFF2-40B4-BE49-F238E27FC236}">
                      <a16:creationId xmlns:a16="http://schemas.microsoft.com/office/drawing/2014/main" id="{24151569-8F1B-4A23-B17A-936616A72E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318357" y="4827855"/>
                  <a:ext cx="560190" cy="2938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200">
                      <a:ln>
                        <a:solidFill>
                          <a:srgbClr val="AF3C5E">
                            <a:alpha val="0"/>
                          </a:srgbClr>
                        </a:solidFill>
                      </a:ln>
                      <a:solidFill>
                        <a:srgbClr val="105BA0"/>
                      </a:solidFill>
                      <a:latin typeface="+mn-lt"/>
                      <a:ea typeface="+mj-ea"/>
                      <a:cs typeface="+mj-cs"/>
                    </a:rPr>
                    <a:t>pkt0</a:t>
                  </a:r>
                </a:p>
              </p:txBody>
            </p:sp>
            <p:sp>
              <p:nvSpPr>
                <p:cNvPr id="102" name="Line 108">
                  <a:extLst>
                    <a:ext uri="{FF2B5EF4-FFF2-40B4-BE49-F238E27FC236}">
                      <a16:creationId xmlns:a16="http://schemas.microsoft.com/office/drawing/2014/main" id="{D657752B-114F-440C-95F6-B6B17A201E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732208" y="4457300"/>
                  <a:ext cx="1266575" cy="325684"/>
                </a:xfrm>
                <a:prstGeom prst="line">
                  <a:avLst/>
                </a:prstGeom>
                <a:noFill/>
                <a:ln w="28575">
                  <a:solidFill>
                    <a:srgbClr val="098983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ko-KR" altLang="en-US"/>
                </a:p>
              </p:txBody>
            </p:sp>
            <p:sp>
              <p:nvSpPr>
                <p:cNvPr id="103" name="Text Box 109">
                  <a:extLst>
                    <a:ext uri="{FF2B5EF4-FFF2-40B4-BE49-F238E27FC236}">
                      <a16:creationId xmlns:a16="http://schemas.microsoft.com/office/drawing/2014/main" id="{0FC5CF06-CF57-457E-9D92-E7D9B7C7213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89804" y="4410237"/>
                  <a:ext cx="559769" cy="2934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200">
                      <a:ln>
                        <a:solidFill>
                          <a:srgbClr val="AF3C5E">
                            <a:alpha val="0"/>
                          </a:srgbClr>
                        </a:solidFill>
                      </a:ln>
                      <a:solidFill>
                        <a:srgbClr val="098983"/>
                      </a:solidFill>
                      <a:latin typeface="+mn-lt"/>
                      <a:ea typeface="+mj-ea"/>
                      <a:cs typeface="+mj-cs"/>
                    </a:rPr>
                    <a:t>ack1</a:t>
                  </a:r>
                </a:p>
              </p:txBody>
            </p:sp>
            <p:sp>
              <p:nvSpPr>
                <p:cNvPr id="100" name="Line 114">
                  <a:extLst>
                    <a:ext uri="{FF2B5EF4-FFF2-40B4-BE49-F238E27FC236}">
                      <a16:creationId xmlns:a16="http://schemas.microsoft.com/office/drawing/2014/main" id="{B19A00B3-960C-4307-9244-4BAD82FD6F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687119" y="5234598"/>
                  <a:ext cx="1266575" cy="325684"/>
                </a:xfrm>
                <a:prstGeom prst="line">
                  <a:avLst/>
                </a:prstGeom>
                <a:noFill/>
                <a:ln w="28575">
                  <a:solidFill>
                    <a:srgbClr val="098983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ko-KR" altLang="en-US"/>
                </a:p>
              </p:txBody>
            </p:sp>
            <p:sp>
              <p:nvSpPr>
                <p:cNvPr id="101" name="Text Box 115">
                  <a:extLst>
                    <a:ext uri="{FF2B5EF4-FFF2-40B4-BE49-F238E27FC236}">
                      <a16:creationId xmlns:a16="http://schemas.microsoft.com/office/drawing/2014/main" id="{CB28D1F0-BAF1-44F0-88D7-BF9E663043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991227" y="5144110"/>
                  <a:ext cx="598241" cy="2934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200">
                      <a:ln>
                        <a:solidFill>
                          <a:srgbClr val="AF3C5E">
                            <a:alpha val="0"/>
                          </a:srgbClr>
                        </a:solidFill>
                      </a:ln>
                      <a:solidFill>
                        <a:srgbClr val="098983"/>
                      </a:solidFill>
                      <a:latin typeface="+mn-lt"/>
                      <a:ea typeface="+mj-ea"/>
                      <a:cs typeface="+mj-cs"/>
                    </a:rPr>
                    <a:t>ack0</a:t>
                  </a:r>
                </a:p>
              </p:txBody>
            </p:sp>
            <p:sp>
              <p:nvSpPr>
                <p:cNvPr id="99" name="Text Box 135">
                  <a:extLst>
                    <a:ext uri="{FF2B5EF4-FFF2-40B4-BE49-F238E27FC236}">
                      <a16:creationId xmlns:a16="http://schemas.microsoft.com/office/drawing/2014/main" id="{F8091574-A2AB-40D3-AEB6-CE1EC6E1AF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72542" y="4139770"/>
                  <a:ext cx="873829" cy="2923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30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rcv ack1</a:t>
                  </a:r>
                </a:p>
              </p:txBody>
            </p:sp>
            <p:grpSp>
              <p:nvGrpSpPr>
                <p:cNvPr id="85" name="Group 138">
                  <a:extLst>
                    <a:ext uri="{FF2B5EF4-FFF2-40B4-BE49-F238E27FC236}">
                      <a16:creationId xmlns:a16="http://schemas.microsoft.com/office/drawing/2014/main" id="{AE62F25F-2E7A-4A3A-86E3-3E2F9DC198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55694" y="4137407"/>
                  <a:ext cx="1332158" cy="519646"/>
                  <a:chOff x="850" y="1159"/>
                  <a:chExt cx="927" cy="323"/>
                </a:xfrm>
              </p:grpSpPr>
              <p:sp>
                <p:nvSpPr>
                  <p:cNvPr id="96" name="Line 139">
                    <a:extLst>
                      <a:ext uri="{FF2B5EF4-FFF2-40B4-BE49-F238E27FC236}">
                        <a16:creationId xmlns:a16="http://schemas.microsoft.com/office/drawing/2014/main" id="{E15D8AD1-765B-404A-875F-B219E5C450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50" y="1257"/>
                    <a:ext cx="927" cy="225"/>
                  </a:xfrm>
                  <a:prstGeom prst="line">
                    <a:avLst/>
                  </a:prstGeom>
                  <a:noFill/>
                  <a:ln w="28575">
                    <a:solidFill>
                      <a:srgbClr val="105BA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ko-KR" altLang="en-US"/>
                  </a:p>
                </p:txBody>
              </p:sp>
              <p:sp>
                <p:nvSpPr>
                  <p:cNvPr id="97" name="Text Box 140">
                    <a:extLst>
                      <a:ext uri="{FF2B5EF4-FFF2-40B4-BE49-F238E27FC236}">
                        <a16:creationId xmlns:a16="http://schemas.microsoft.com/office/drawing/2014/main" id="{19FEB118-DFC2-45EB-96EC-99A49E0E4DF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84" y="1159"/>
                    <a:ext cx="390" cy="18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32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</a:pPr>
                    <a:r>
                      <a:rPr lang="en-US" altLang="ko-KR" sz="1200">
                        <a:ln>
                          <a:solidFill>
                            <a:srgbClr val="AF3C5E">
                              <a:alpha val="0"/>
                            </a:srgbClr>
                          </a:solidFill>
                        </a:ln>
                        <a:solidFill>
                          <a:srgbClr val="105BA0"/>
                        </a:solidFill>
                        <a:latin typeface="+mn-lt"/>
                        <a:ea typeface="+mj-ea"/>
                        <a:cs typeface="+mj-cs"/>
                      </a:rPr>
                      <a:t>pkt0</a:t>
                    </a:r>
                  </a:p>
                </p:txBody>
              </p:sp>
            </p:grpSp>
            <p:grpSp>
              <p:nvGrpSpPr>
                <p:cNvPr id="86" name="Group 142">
                  <a:extLst>
                    <a:ext uri="{FF2B5EF4-FFF2-40B4-BE49-F238E27FC236}">
                      <a16:creationId xmlns:a16="http://schemas.microsoft.com/office/drawing/2014/main" id="{EBA63AE9-DF4C-42D1-B3C4-7AA357B4D9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923392" y="4562969"/>
                  <a:ext cx="1043866" cy="510962"/>
                  <a:chOff x="4776" y="3018"/>
                  <a:chExt cx="764" cy="353"/>
                </a:xfrm>
              </p:grpSpPr>
              <p:sp>
                <p:nvSpPr>
                  <p:cNvPr id="94" name="Text Box 143">
                    <a:extLst>
                      <a:ext uri="{FF2B5EF4-FFF2-40B4-BE49-F238E27FC236}">
                        <a16:creationId xmlns:a16="http://schemas.microsoft.com/office/drawing/2014/main" id="{FE51A530-0DF2-4563-8F02-5C1D9EE8D39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80" y="3018"/>
                    <a:ext cx="631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32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</a:pPr>
                    <a:r>
                      <a:rPr lang="en-US" altLang="ko-KR" sz="1300">
                        <a:ln>
                          <a:solidFill>
                            <a:srgbClr val="2D5897">
                              <a:alpha val="0"/>
                            </a:srgbClr>
                          </a:solidFill>
                        </a:ln>
                        <a:latin typeface="넥슨Lv1고딕" panose="00000500000000000000" pitchFamily="2" charset="-127"/>
                        <a:ea typeface="넥슨Lv1고딕" panose="00000500000000000000" pitchFamily="2" charset="-127"/>
                      </a:rPr>
                      <a:t>rcv pkt0</a:t>
                    </a:r>
                  </a:p>
                </p:txBody>
              </p:sp>
              <p:sp>
                <p:nvSpPr>
                  <p:cNvPr id="95" name="Text Box 144">
                    <a:extLst>
                      <a:ext uri="{FF2B5EF4-FFF2-40B4-BE49-F238E27FC236}">
                        <a16:creationId xmlns:a16="http://schemas.microsoft.com/office/drawing/2014/main" id="{581CDCDD-55D9-47BF-87B3-C2612650CC9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76" y="3157"/>
                    <a:ext cx="764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32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</a:pPr>
                    <a:r>
                      <a:rPr lang="en-US" altLang="ko-KR" sz="1300">
                        <a:ln>
                          <a:solidFill>
                            <a:srgbClr val="2D5897">
                              <a:alpha val="0"/>
                            </a:srgbClr>
                          </a:solidFill>
                        </a:ln>
                        <a:latin typeface="넥슨Lv1고딕" panose="00000500000000000000" pitchFamily="2" charset="-127"/>
                        <a:ea typeface="넥슨Lv1고딕" panose="00000500000000000000" pitchFamily="2" charset="-127"/>
                      </a:rPr>
                      <a:t>send ack0</a:t>
                    </a:r>
                  </a:p>
                </p:txBody>
              </p:sp>
            </p:grpSp>
            <p:sp>
              <p:nvSpPr>
                <p:cNvPr id="92" name="Line 146">
                  <a:extLst>
                    <a:ext uri="{FF2B5EF4-FFF2-40B4-BE49-F238E27FC236}">
                      <a16:creationId xmlns:a16="http://schemas.microsoft.com/office/drawing/2014/main" id="{5B7C32A6-2195-4E3C-88B8-2F4E619054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687119" y="4748243"/>
                  <a:ext cx="1266575" cy="325684"/>
                </a:xfrm>
                <a:prstGeom prst="line">
                  <a:avLst/>
                </a:prstGeom>
                <a:noFill/>
                <a:ln w="28575">
                  <a:solidFill>
                    <a:srgbClr val="098983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ko-KR" altLang="en-US"/>
                </a:p>
              </p:txBody>
            </p:sp>
            <p:sp>
              <p:nvSpPr>
                <p:cNvPr id="93" name="Text Box 147">
                  <a:extLst>
                    <a:ext uri="{FF2B5EF4-FFF2-40B4-BE49-F238E27FC236}">
                      <a16:creationId xmlns:a16="http://schemas.microsoft.com/office/drawing/2014/main" id="{583C674B-D8E5-49DC-8282-85A121CA01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56810" y="4631701"/>
                  <a:ext cx="598241" cy="2934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200">
                      <a:ln>
                        <a:solidFill>
                          <a:srgbClr val="AF3C5E">
                            <a:alpha val="0"/>
                          </a:srgbClr>
                        </a:solidFill>
                      </a:ln>
                      <a:solidFill>
                        <a:srgbClr val="098983"/>
                      </a:solidFill>
                      <a:latin typeface="+mn-lt"/>
                      <a:ea typeface="+mj-ea"/>
                      <a:cs typeface="+mj-cs"/>
                    </a:rPr>
                    <a:t>ack0</a:t>
                  </a:r>
                </a:p>
              </p:txBody>
            </p:sp>
            <p:sp>
              <p:nvSpPr>
                <p:cNvPr id="89" name="Text Box 91">
                  <a:extLst>
                    <a:ext uri="{FF2B5EF4-FFF2-40B4-BE49-F238E27FC236}">
                      <a16:creationId xmlns:a16="http://schemas.microsoft.com/office/drawing/2014/main" id="{128DFD93-25B4-4D13-8F71-B02CE4EC51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23389" y="5085184"/>
                  <a:ext cx="862608" cy="3097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30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rcv pkt0</a:t>
                  </a:r>
                </a:p>
              </p:txBody>
            </p:sp>
            <p:sp>
              <p:nvSpPr>
                <p:cNvPr id="90" name="Text Box 94">
                  <a:extLst>
                    <a:ext uri="{FF2B5EF4-FFF2-40B4-BE49-F238E27FC236}">
                      <a16:creationId xmlns:a16="http://schemas.microsoft.com/office/drawing/2014/main" id="{58C8F4BC-EE18-4613-8371-456CE5A937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23389" y="5538591"/>
                  <a:ext cx="1043876" cy="3097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30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send ack0</a:t>
                  </a:r>
                </a:p>
              </p:txBody>
            </p:sp>
            <p:sp>
              <p:nvSpPr>
                <p:cNvPr id="91" name="Text Box 151">
                  <a:extLst>
                    <a:ext uri="{FF2B5EF4-FFF2-40B4-BE49-F238E27FC236}">
                      <a16:creationId xmlns:a16="http://schemas.microsoft.com/office/drawing/2014/main" id="{142A0DB5-04A3-4425-9285-1D842AA3FCD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23389" y="5304701"/>
                  <a:ext cx="1364390" cy="246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00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(detect duplicate)</a:t>
                  </a:r>
                </a:p>
              </p:txBody>
            </p:sp>
          </p:grpSp>
        </p:grp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2D3482D6-FFEF-4655-A57A-244F09AD2BC1}"/>
              </a:ext>
            </a:extLst>
          </p:cNvPr>
          <p:cNvGrpSpPr/>
          <p:nvPr/>
        </p:nvGrpSpPr>
        <p:grpSpPr>
          <a:xfrm>
            <a:off x="4500032" y="3003276"/>
            <a:ext cx="1146339" cy="981048"/>
            <a:chOff x="4500032" y="3003276"/>
            <a:chExt cx="1146339" cy="981048"/>
          </a:xfrm>
        </p:grpSpPr>
        <p:sp>
          <p:nvSpPr>
            <p:cNvPr id="110" name="Text Box 131">
              <a:extLst>
                <a:ext uri="{FF2B5EF4-FFF2-40B4-BE49-F238E27FC236}">
                  <a16:creationId xmlns:a16="http://schemas.microsoft.com/office/drawing/2014/main" id="{44138194-0329-448E-AF05-3FB3D8FFA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032" y="3476493"/>
              <a:ext cx="1146339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 i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n-lt"/>
                  <a:ea typeface="+mj-ea"/>
                  <a:cs typeface="+mj-cs"/>
                </a:rPr>
                <a:t>timeout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resend pkt1</a:t>
              </a:r>
            </a:p>
          </p:txBody>
        </p:sp>
        <p:pic>
          <p:nvPicPr>
            <p:cNvPr id="125" name="그림 124">
              <a:extLst>
                <a:ext uri="{FF2B5EF4-FFF2-40B4-BE49-F238E27FC236}">
                  <a16:creationId xmlns:a16="http://schemas.microsoft.com/office/drawing/2014/main" id="{CD523233-9D53-4C2F-8D8D-B39E5E011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087295" y="3003276"/>
              <a:ext cx="281483" cy="497806"/>
            </a:xfrm>
            <a:prstGeom prst="rect">
              <a:avLst/>
            </a:prstGeom>
          </p:spPr>
        </p:pic>
      </p:grpSp>
      <p:sp>
        <p:nvSpPr>
          <p:cNvPr id="126" name="자유형: 도형 125">
            <a:extLst>
              <a:ext uri="{FF2B5EF4-FFF2-40B4-BE49-F238E27FC236}">
                <a16:creationId xmlns:a16="http://schemas.microsoft.com/office/drawing/2014/main" id="{209A0E35-3024-46AE-9798-63A1703C8DD1}"/>
              </a:ext>
            </a:extLst>
          </p:cNvPr>
          <p:cNvSpPr/>
          <p:nvPr/>
        </p:nvSpPr>
        <p:spPr>
          <a:xfrm>
            <a:off x="5567260" y="2763846"/>
            <a:ext cx="123825" cy="1030523"/>
          </a:xfrm>
          <a:custGeom>
            <a:avLst/>
            <a:gdLst>
              <a:gd name="connsiteX0" fmla="*/ 0 w 123825"/>
              <a:gd name="connsiteY0" fmla="*/ 1066800 h 1066800"/>
              <a:gd name="connsiteX1" fmla="*/ 123825 w 123825"/>
              <a:gd name="connsiteY1" fmla="*/ 1066800 h 1066800"/>
              <a:gd name="connsiteX2" fmla="*/ 123825 w 123825"/>
              <a:gd name="connsiteY2" fmla="*/ 0 h 1066800"/>
              <a:gd name="connsiteX3" fmla="*/ 4763 w 123825"/>
              <a:gd name="connsiteY3" fmla="*/ 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825" h="1066800">
                <a:moveTo>
                  <a:pt x="0" y="1066800"/>
                </a:moveTo>
                <a:lnTo>
                  <a:pt x="123825" y="1066800"/>
                </a:lnTo>
                <a:lnTo>
                  <a:pt x="123825" y="0"/>
                </a:lnTo>
                <a:lnTo>
                  <a:pt x="4763" y="0"/>
                </a:lnTo>
              </a:path>
            </a:pathLst>
          </a:cu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 Box 84">
            <a:extLst>
              <a:ext uri="{FF2B5EF4-FFF2-40B4-BE49-F238E27FC236}">
                <a16:creationId xmlns:a16="http://schemas.microsoft.com/office/drawing/2014/main" id="{4774C50E-4561-4E0D-8B25-425ECB5BD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389" y="4108852"/>
            <a:ext cx="128033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0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(detect duplicate)</a:t>
            </a:r>
          </a:p>
        </p:txBody>
      </p:sp>
    </p:spTree>
    <p:extLst>
      <p:ext uri="{BB962C8B-B14F-4D97-AF65-F5344CB8AC3E}">
        <p14:creationId xmlns:p14="http://schemas.microsoft.com/office/powerpoint/2010/main" val="318129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5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0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500"/>
                            </p:stCondLst>
                            <p:childTnLst>
                              <p:par>
                                <p:cTn id="9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0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500"/>
                            </p:stCondLst>
                            <p:childTnLst>
                              <p:par>
                                <p:cTn id="1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000"/>
                            </p:stCondLst>
                            <p:childTnLst>
                              <p:par>
                                <p:cTn id="1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500"/>
                            </p:stCondLst>
                            <p:childTnLst>
                              <p:par>
                                <p:cTn id="1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500"/>
                            </p:stCondLst>
                            <p:childTnLst>
                              <p:par>
                                <p:cTn id="1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66" grpId="0"/>
      <p:bldP spid="122" grpId="0"/>
      <p:bldP spid="124" grpId="0" animBg="1"/>
      <p:bldP spid="57" grpId="0"/>
      <p:bldP spid="58" grpId="0"/>
      <p:bldP spid="63" grpId="0"/>
      <p:bldP spid="64" grpId="0"/>
      <p:bldP spid="65" grpId="0"/>
      <p:bldP spid="68" grpId="0"/>
      <p:bldP spid="76" grpId="0" animBg="1"/>
      <p:bldP spid="126" grpId="0" animBg="1"/>
      <p:bldP spid="14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cs typeface="+mj-cs"/>
              </a:rPr>
              <a:t>rdt3.0</a:t>
            </a:r>
            <a:r>
              <a:rPr lang="ko-KR" altLang="en-US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</a:t>
            </a:r>
            <a:r>
              <a:rPr lang="ko-KR" altLang="en-US">
                <a:cs typeface="+mj-cs"/>
              </a:rPr>
              <a:t> </a:t>
            </a:r>
            <a:r>
              <a:rPr lang="ko-KR" altLang="en-US">
                <a:solidFill>
                  <a:schemeClr val="bg1"/>
                </a:solidFill>
                <a:cs typeface="+mj-cs"/>
              </a:rPr>
              <a:t>성능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34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6BE59A-F395-4F66-996E-D92C931ABCA3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126600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2"/>
              </a:buBlip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rdt3.0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은 기능은 정확하지만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,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성능이 좋지 않다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.</a:t>
            </a:r>
          </a:p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예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: 1 Gbps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링크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, 15 </a:t>
            </a:r>
            <a:r>
              <a:rPr lang="en-US" altLang="ko-KR" sz="16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ms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전파 지연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, 8000 bit packet :</a:t>
            </a:r>
          </a:p>
        </p:txBody>
      </p:sp>
      <p:sp>
        <p:nvSpPr>
          <p:cNvPr id="6" name="사각형: 잘린 한쪽 모서리 5">
            <a:extLst>
              <a:ext uri="{FF2B5EF4-FFF2-40B4-BE49-F238E27FC236}">
                <a16:creationId xmlns:a16="http://schemas.microsoft.com/office/drawing/2014/main" id="{2DF4CB4C-9F96-44A6-98F4-60BE6F2EA9DC}"/>
              </a:ext>
            </a:extLst>
          </p:cNvPr>
          <p:cNvSpPr/>
          <p:nvPr/>
        </p:nvSpPr>
        <p:spPr>
          <a:xfrm>
            <a:off x="982663" y="2076203"/>
            <a:ext cx="6053137" cy="988640"/>
          </a:xfrm>
          <a:prstGeom prst="snip1Rect">
            <a:avLst>
              <a:gd name="adj" fmla="val 1642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5EF466B1-C9EF-43EC-983E-6498D2EC6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230" y="2409986"/>
            <a:ext cx="92525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i="1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D</a:t>
            </a:r>
            <a:r>
              <a:rPr lang="en-US" altLang="ko-KR" sz="1600" i="1" baseline="-250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n-lt"/>
                <a:ea typeface="+mj-ea"/>
                <a:cs typeface="+mj-cs"/>
              </a:rPr>
              <a:t>trans</a:t>
            </a:r>
            <a:r>
              <a:rPr lang="en-US" altLang="ko-KR" sz="1600" i="1" baseline="-25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n-lt"/>
                <a:ea typeface="+mj-ea"/>
                <a:cs typeface="+mj-cs"/>
              </a:rPr>
              <a:t>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=</a:t>
            </a:r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DA44EFD9-1ADF-4EB8-8C03-1E44532DF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033" y="2220218"/>
            <a:ext cx="3241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L</a:t>
            </a:r>
          </a:p>
        </p:txBody>
      </p:sp>
      <p:sp>
        <p:nvSpPr>
          <p:cNvPr id="19" name="Text Box 12">
            <a:extLst>
              <a:ext uri="{FF2B5EF4-FFF2-40B4-BE49-F238E27FC236}">
                <a16:creationId xmlns:a16="http://schemas.microsoft.com/office/drawing/2014/main" id="{1DE2C611-4079-473D-8867-D1DC536E0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8614" y="2616835"/>
            <a:ext cx="34496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R</a:t>
            </a:r>
          </a:p>
        </p:txBody>
      </p:sp>
      <p:sp>
        <p:nvSpPr>
          <p:cNvPr id="20" name="Line 13">
            <a:extLst>
              <a:ext uri="{FF2B5EF4-FFF2-40B4-BE49-F238E27FC236}">
                <a16:creationId xmlns:a16="http://schemas.microsoft.com/office/drawing/2014/main" id="{C561E3F2-C0B3-48D1-91EA-AC0A0B4BEF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1072" y="2570798"/>
            <a:ext cx="400051" cy="0"/>
          </a:xfrm>
          <a:prstGeom prst="line">
            <a:avLst/>
          </a:prstGeom>
          <a:noFill/>
          <a:ln w="19050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1600"/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B4F420C8-EB8A-42B1-AC1E-12FBA5F21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4867" y="2250125"/>
            <a:ext cx="2535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latin typeface="G마켓 산스 TTF Medium" panose="02000000000000000000" pitchFamily="2" charset="-127"/>
              </a:rPr>
              <a:t> </a:t>
            </a:r>
            <a:endParaRPr lang="en-US" altLang="ko-KR" sz="2000">
              <a:latin typeface="G마켓 산스 TTF Medium" panose="02000000000000000000" pitchFamily="2" charset="-127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8704A7A0-2775-4B0E-BE63-A013D5B0C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9485" y="2197995"/>
            <a:ext cx="12490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i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8000 bits</a:t>
            </a: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553F1A01-0D19-4729-ADFC-D53F6D0A7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640" y="2658112"/>
            <a:ext cx="19446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i="1" spc="3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10</a:t>
            </a:r>
            <a:r>
              <a:rPr lang="en-US" altLang="ko-KR" sz="1600" i="1" spc="300" baseline="30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n-lt"/>
                <a:ea typeface="+mj-ea"/>
                <a:cs typeface="+mj-cs"/>
              </a:rPr>
              <a:t>9</a:t>
            </a:r>
            <a:r>
              <a:rPr lang="en-US" altLang="ko-KR" sz="1600" i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 bits/sec</a:t>
            </a:r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ED74F964-EC9F-4C60-B0A8-3856F10B0F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3277" y="2570800"/>
            <a:ext cx="1714501" cy="0"/>
          </a:xfrm>
          <a:prstGeom prst="line">
            <a:avLst/>
          </a:prstGeom>
          <a:noFill/>
          <a:ln w="19050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1600"/>
          </a:p>
        </p:txBody>
      </p:sp>
      <p:sp>
        <p:nvSpPr>
          <p:cNvPr id="11" name="Text Box 20">
            <a:extLst>
              <a:ext uri="{FF2B5EF4-FFF2-40B4-BE49-F238E27FC236}">
                <a16:creationId xmlns:a16="http://schemas.microsoft.com/office/drawing/2014/main" id="{A26C3DFC-E4B2-40E2-B964-7A35E72AE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8713" y="2409986"/>
            <a:ext cx="3113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=</a:t>
            </a:r>
          </a:p>
        </p:txBody>
      </p:sp>
      <p:sp>
        <p:nvSpPr>
          <p:cNvPr id="12" name="Text Box 22">
            <a:extLst>
              <a:ext uri="{FF2B5EF4-FFF2-40B4-BE49-F238E27FC236}">
                <a16:creationId xmlns:a16="http://schemas.microsoft.com/office/drawing/2014/main" id="{7BDBB797-DA43-477B-9349-C7860D10B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4172" y="2409986"/>
            <a:ext cx="3113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=</a:t>
            </a:r>
          </a:p>
        </p:txBody>
      </p:sp>
      <p:sp>
        <p:nvSpPr>
          <p:cNvPr id="13" name="Text Box 23">
            <a:extLst>
              <a:ext uri="{FF2B5EF4-FFF2-40B4-BE49-F238E27FC236}">
                <a16:creationId xmlns:a16="http://schemas.microsoft.com/office/drawing/2014/main" id="{677A661E-C5F7-4827-A0E7-C691481B0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896" y="2409986"/>
            <a:ext cx="157927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8 microsecs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6470E25A-3B07-4DDE-B297-174F17B22AFC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3212976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en-US" altLang="ko-KR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</a:t>
            </a:r>
            <a:r>
              <a:rPr lang="en-US" altLang="ko-KR" sz="1500" baseline="-250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sender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이용률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utilization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 –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측이 전송에 쓴 시간의 비율</a:t>
            </a:r>
          </a:p>
        </p:txBody>
      </p:sp>
      <p:sp>
        <p:nvSpPr>
          <p:cNvPr id="22" name="사각형: 잘린 한쪽 모서리 21">
            <a:extLst>
              <a:ext uri="{FF2B5EF4-FFF2-40B4-BE49-F238E27FC236}">
                <a16:creationId xmlns:a16="http://schemas.microsoft.com/office/drawing/2014/main" id="{08801444-2CAA-4563-99E2-355149DA91AC}"/>
              </a:ext>
            </a:extLst>
          </p:cNvPr>
          <p:cNvSpPr/>
          <p:nvPr/>
        </p:nvSpPr>
        <p:spPr>
          <a:xfrm>
            <a:off x="982663" y="3641879"/>
            <a:ext cx="6053137" cy="988640"/>
          </a:xfrm>
          <a:prstGeom prst="snip1Rect">
            <a:avLst>
              <a:gd name="adj" fmla="val 1642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E3204181-3B06-4321-B85E-6E6CFBA72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736" y="3975662"/>
            <a:ext cx="10262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i="1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U</a:t>
            </a:r>
            <a:r>
              <a:rPr lang="en-US" altLang="ko-KR" sz="1600" i="1" baseline="-250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n-lt"/>
                <a:ea typeface="+mj-ea"/>
                <a:cs typeface="+mj-cs"/>
              </a:rPr>
              <a:t>sender</a:t>
            </a:r>
            <a:r>
              <a:rPr lang="en-US" altLang="ko-KR" sz="1600" i="1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=</a:t>
            </a:r>
          </a:p>
        </p:txBody>
      </p:sp>
      <p:sp>
        <p:nvSpPr>
          <p:cNvPr id="24" name="Text Box 11">
            <a:extLst>
              <a:ext uri="{FF2B5EF4-FFF2-40B4-BE49-F238E27FC236}">
                <a16:creationId xmlns:a16="http://schemas.microsoft.com/office/drawing/2014/main" id="{117A885D-4B8D-4A55-B257-E4CB48B88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4962" y="3785894"/>
            <a:ext cx="71846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L / R</a:t>
            </a:r>
          </a:p>
        </p:txBody>
      </p:sp>
      <p:sp>
        <p:nvSpPr>
          <p:cNvPr id="25" name="Text Box 12">
            <a:extLst>
              <a:ext uri="{FF2B5EF4-FFF2-40B4-BE49-F238E27FC236}">
                <a16:creationId xmlns:a16="http://schemas.microsoft.com/office/drawing/2014/main" id="{1716A19E-13C8-428C-9B41-687D59E12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8294" y="4182511"/>
            <a:ext cx="143180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RTT + L / R</a:t>
            </a:r>
          </a:p>
        </p:txBody>
      </p:sp>
      <p:sp>
        <p:nvSpPr>
          <p:cNvPr id="26" name="Line 13">
            <a:extLst>
              <a:ext uri="{FF2B5EF4-FFF2-40B4-BE49-F238E27FC236}">
                <a16:creationId xmlns:a16="http://schemas.microsoft.com/office/drawing/2014/main" id="{477EBC45-D5D3-48DB-8802-5C581625D5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4596" y="4136474"/>
            <a:ext cx="1519198" cy="0"/>
          </a:xfrm>
          <a:prstGeom prst="line">
            <a:avLst/>
          </a:prstGeom>
          <a:noFill/>
          <a:ln w="19050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1600"/>
          </a:p>
        </p:txBody>
      </p:sp>
      <p:sp>
        <p:nvSpPr>
          <p:cNvPr id="28" name="Text Box 16">
            <a:extLst>
              <a:ext uri="{FF2B5EF4-FFF2-40B4-BE49-F238E27FC236}">
                <a16:creationId xmlns:a16="http://schemas.microsoft.com/office/drawing/2014/main" id="{1506A05C-3B36-4AEC-9075-0D5093FF2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340" y="3763671"/>
            <a:ext cx="67358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.008</a:t>
            </a:r>
          </a:p>
        </p:txBody>
      </p:sp>
      <p:sp>
        <p:nvSpPr>
          <p:cNvPr id="29" name="Text Box 17">
            <a:extLst>
              <a:ext uri="{FF2B5EF4-FFF2-40B4-BE49-F238E27FC236}">
                <a16:creationId xmlns:a16="http://schemas.microsoft.com/office/drawing/2014/main" id="{DAE8B554-8A94-4330-BA5F-F160F5047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4756" y="4223788"/>
            <a:ext cx="19446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30.008</a:t>
            </a:r>
          </a:p>
        </p:txBody>
      </p:sp>
      <p:sp>
        <p:nvSpPr>
          <p:cNvPr id="30" name="Line 18">
            <a:extLst>
              <a:ext uri="{FF2B5EF4-FFF2-40B4-BE49-F238E27FC236}">
                <a16:creationId xmlns:a16="http://schemas.microsoft.com/office/drawing/2014/main" id="{2C685458-A602-4C27-B1AE-DA520EFBEF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5748" y="4136476"/>
            <a:ext cx="967791" cy="0"/>
          </a:xfrm>
          <a:prstGeom prst="line">
            <a:avLst/>
          </a:prstGeom>
          <a:noFill/>
          <a:ln w="19050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1600"/>
          </a:p>
        </p:txBody>
      </p:sp>
      <p:sp>
        <p:nvSpPr>
          <p:cNvPr id="31" name="Text Box 20">
            <a:extLst>
              <a:ext uri="{FF2B5EF4-FFF2-40B4-BE49-F238E27FC236}">
                <a16:creationId xmlns:a16="http://schemas.microsoft.com/office/drawing/2014/main" id="{7FAC098F-CFED-4B5A-97DF-34AA91393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391" y="3975662"/>
            <a:ext cx="3113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=</a:t>
            </a:r>
          </a:p>
        </p:txBody>
      </p:sp>
      <p:sp>
        <p:nvSpPr>
          <p:cNvPr id="32" name="Text Box 22">
            <a:extLst>
              <a:ext uri="{FF2B5EF4-FFF2-40B4-BE49-F238E27FC236}">
                <a16:creationId xmlns:a16="http://schemas.microsoft.com/office/drawing/2014/main" id="{C0D8BD8E-39B8-4F35-B6D1-73C94DD59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5850" y="3975662"/>
            <a:ext cx="3113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=</a:t>
            </a:r>
          </a:p>
        </p:txBody>
      </p:sp>
      <p:sp>
        <p:nvSpPr>
          <p:cNvPr id="33" name="Text Box 23">
            <a:extLst>
              <a:ext uri="{FF2B5EF4-FFF2-40B4-BE49-F238E27FC236}">
                <a16:creationId xmlns:a16="http://schemas.microsoft.com/office/drawing/2014/main" id="{C70F99F0-4F5F-48DE-A4D4-CA9A241D4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6964" y="3975662"/>
            <a:ext cx="11448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0.00027 </a:t>
            </a: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288E26D4-00BC-471B-8BBF-0D4EEDDCDD7C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4825336"/>
            <a:ext cx="6976032" cy="66768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RTT=30 msec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라면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매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30 msec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당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1KB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패킷을 전송함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 Gbps link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에서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33kB/sec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전송률 밖에 내지 못함</a:t>
            </a: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7F256447-A343-4A6D-82BA-CC766BF8B1E0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5747706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네트워크 프로토콜이 자원의 사용을 제한함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0739456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 dirty="0">
                <a:cs typeface="+mj-cs"/>
              </a:rPr>
              <a:t>rdt3.0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 dirty="0">
                <a:cs typeface="+mj-cs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전송 후 대기</a:t>
            </a:r>
            <a:r>
              <a:rPr lang="en-US" altLang="ko-KR" sz="2000" dirty="0">
                <a:solidFill>
                  <a:schemeClr val="bg1"/>
                </a:solidFill>
                <a:cs typeface="+mj-cs"/>
              </a:rPr>
              <a:t>(stop-and-wait)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동작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35</a:t>
            </a:fld>
            <a:endParaRPr lang="en-US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71B83297-FFFD-41E4-8C49-705506224FB8}"/>
              </a:ext>
            </a:extLst>
          </p:cNvPr>
          <p:cNvGrpSpPr/>
          <p:nvPr/>
        </p:nvGrpSpPr>
        <p:grpSpPr>
          <a:xfrm>
            <a:off x="-127868" y="1446213"/>
            <a:ext cx="8567336" cy="3280568"/>
            <a:chOff x="-127868" y="1446213"/>
            <a:chExt cx="8567336" cy="3280568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333866C-A5B3-4590-B904-34F230C26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426" y="4121944"/>
              <a:ext cx="1419225" cy="577850"/>
            </a:xfrm>
            <a:custGeom>
              <a:avLst/>
              <a:gdLst>
                <a:gd name="T0" fmla="*/ 0 w 1845"/>
                <a:gd name="T1" fmla="*/ 0 h 592"/>
                <a:gd name="T2" fmla="*/ 2147483646 w 1845"/>
                <a:gd name="T3" fmla="*/ 2147483646 h 592"/>
                <a:gd name="T4" fmla="*/ 2147483646 w 1845"/>
                <a:gd name="T5" fmla="*/ 2147483646 h 592"/>
                <a:gd name="T6" fmla="*/ 0 w 1845"/>
                <a:gd name="T7" fmla="*/ 2147483646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45"/>
                <a:gd name="T16" fmla="*/ 0 h 592"/>
                <a:gd name="T17" fmla="*/ 1845 w 1845"/>
                <a:gd name="T18" fmla="*/ 592 h 5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CBE4BDF8-9BC0-4F71-9270-3F0981BC85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4680" y="1797050"/>
              <a:ext cx="3465513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ko-KR"/>
              </a:defPPr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0" lvl="3" indent="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  <a:defRPr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lvl="3" algn="r"/>
              <a:r>
                <a:rPr lang="ko-KR" altLang="en-US" dirty="0"/>
                <a:t>패킷의 첫 번째 비트 송신</a:t>
              </a:r>
              <a:r>
                <a:rPr lang="en-US" altLang="ko-KR" dirty="0"/>
                <a:t>, t = 0</a:t>
              </a: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D3961894-ADCD-43D0-B269-A547D2946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9663" y="1782763"/>
              <a:ext cx="0" cy="29130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7C3E6460-30FF-43C0-979A-FCB7101A78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926" y="1795463"/>
              <a:ext cx="0" cy="28908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6B0A55FC-488A-4CE6-A7D7-71DE25C2C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026" y="1446213"/>
              <a:ext cx="946150" cy="3508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송신 측</a:t>
              </a:r>
              <a:endParaRPr lang="en-US" altLang="ko-KR" sz="18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endParaRP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03433757-FE26-4B95-94DF-CD760EC53C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9076" y="1446213"/>
              <a:ext cx="946150" cy="3508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수신 측</a:t>
              </a:r>
              <a:endParaRPr lang="en-US" altLang="ko-KR" sz="18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A0503AD9-9C9E-4AF3-B242-F80BF4A28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3476" y="1997075"/>
              <a:ext cx="2190750" cy="31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0675D9F2-4272-489C-A58E-C744804BE8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9824" y="4108450"/>
              <a:ext cx="219075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14CF61CF-0B27-4CED-B338-724CD00519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8238" y="3165475"/>
              <a:ext cx="2209800" cy="9223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A46AD755-92A8-45D3-A1BA-46AFCF2E3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1551" y="1995488"/>
              <a:ext cx="1317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5E79A774-3085-4814-BB13-C1DB678F10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1551" y="2236788"/>
              <a:ext cx="1317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D94370A5-2766-4585-AAB9-FE97BB5588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22663" y="4095750"/>
              <a:ext cx="1333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BD5C7A92-B0E5-45B4-8960-764164C10B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1238" y="2259012"/>
              <a:ext cx="0" cy="18240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452E78F9-2C38-41B4-B84B-E23315B7B9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7868" y="2141608"/>
              <a:ext cx="3568701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algn="r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패킷의 마지막 비트 송신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b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</a:b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t = L / R</a:t>
              </a: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C7810F06-23B2-4B25-BD47-E041670A8A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81688" y="2909888"/>
              <a:ext cx="1333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85A9EF8A-A19C-4992-896C-FC3B317FD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5188" y="2733675"/>
              <a:ext cx="2425700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패킷의 첫 번째 비트 도착</a:t>
              </a:r>
              <a:endPara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8A0D05C5-6DE3-4823-A37C-33103C29F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8038" y="3159125"/>
              <a:ext cx="1270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A976E442-F66D-4660-B020-3841B9E43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1538" y="3054668"/>
              <a:ext cx="2487930" cy="569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패킷의 마지막 비트 도착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ACK 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전송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44F58837-AFE8-47A7-ACD2-1AA8FD19A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820" y="3768725"/>
              <a:ext cx="268605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algn="r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도착 후 다음 패킷 전송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b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</a:b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t = RTT + L / R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25663BF-CEC6-4886-98F3-ABDB28CA95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67126" y="4126706"/>
              <a:ext cx="1281112" cy="534988"/>
              <a:chOff x="12315" y="13225"/>
              <a:chExt cx="2775" cy="913"/>
            </a:xfrm>
          </p:grpSpPr>
          <p:sp>
            <p:nvSpPr>
              <p:cNvPr id="28" name="Line 27">
                <a:extLst>
                  <a:ext uri="{FF2B5EF4-FFF2-40B4-BE49-F238E27FC236}">
                    <a16:creationId xmlns:a16="http://schemas.microsoft.com/office/drawing/2014/main" id="{5F111DCB-033C-4200-BF67-732ECE590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15" y="13225"/>
                <a:ext cx="1587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Line 28">
                <a:extLst>
                  <a:ext uri="{FF2B5EF4-FFF2-40B4-BE49-F238E27FC236}">
                    <a16:creationId xmlns:a16="http://schemas.microsoft.com/office/drawing/2014/main" id="{414D42A7-B6F0-4226-9E5F-2E493CE81C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15" y="13737"/>
                <a:ext cx="1175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3E8DF4CD-1C1C-4E3A-AD1F-0560FAA70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7126" y="4368006"/>
              <a:ext cx="317500" cy="123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EF63BB45-A192-4D9C-AD96-1EF55692C1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0976" y="4491831"/>
              <a:ext cx="541337" cy="2349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그래픽 36">
              <a:extLst>
                <a:ext uri="{FF2B5EF4-FFF2-40B4-BE49-F238E27FC236}">
                  <a16:creationId xmlns:a16="http://schemas.microsoft.com/office/drawing/2014/main" id="{DF7BD780-F87B-48B1-BEA1-3BA95B265F01}"/>
                </a:ext>
              </a:extLst>
            </p:cNvPr>
            <p:cNvSpPr/>
            <p:nvPr/>
          </p:nvSpPr>
          <p:spPr>
            <a:xfrm>
              <a:off x="3651249" y="2005012"/>
              <a:ext cx="2226469" cy="1156271"/>
            </a:xfrm>
            <a:custGeom>
              <a:avLst/>
              <a:gdLst>
                <a:gd name="connsiteX0" fmla="*/ 0 w 1670494"/>
                <a:gd name="connsiteY0" fmla="*/ 0 h 867537"/>
                <a:gd name="connsiteX1" fmla="*/ 1670495 w 1670494"/>
                <a:gd name="connsiteY1" fmla="*/ 685990 h 867537"/>
                <a:gd name="connsiteX2" fmla="*/ 1670495 w 1670494"/>
                <a:gd name="connsiteY2" fmla="*/ 867537 h 867537"/>
                <a:gd name="connsiteX3" fmla="*/ 0 w 1670494"/>
                <a:gd name="connsiteY3" fmla="*/ 180785 h 867537"/>
                <a:gd name="connsiteX4" fmla="*/ 0 w 1670494"/>
                <a:gd name="connsiteY4" fmla="*/ 0 h 867537"/>
                <a:gd name="connsiteX5" fmla="*/ 0 w 1670494"/>
                <a:gd name="connsiteY5" fmla="*/ 0 h 867537"/>
                <a:gd name="connsiteX6" fmla="*/ 0 w 1670494"/>
                <a:gd name="connsiteY6" fmla="*/ 0 h 867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0494" h="867537">
                  <a:moveTo>
                    <a:pt x="0" y="0"/>
                  </a:moveTo>
                  <a:lnTo>
                    <a:pt x="1670495" y="685990"/>
                  </a:lnTo>
                  <a:lnTo>
                    <a:pt x="1670495" y="867537"/>
                  </a:lnTo>
                  <a:lnTo>
                    <a:pt x="0" y="18078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355463ED-5381-4EE3-8052-5D79A9D0F2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9713" y="3002755"/>
              <a:ext cx="847725" cy="3365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RTT </a:t>
              </a: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C6E4A33B-FB2E-4F7A-A58C-85EB3E750D9A}"/>
              </a:ext>
            </a:extLst>
          </p:cNvPr>
          <p:cNvGrpSpPr/>
          <p:nvPr/>
        </p:nvGrpSpPr>
        <p:grpSpPr>
          <a:xfrm>
            <a:off x="2281882" y="5128530"/>
            <a:ext cx="5079643" cy="685897"/>
            <a:chOff x="1925494" y="5338080"/>
            <a:chExt cx="5079643" cy="685897"/>
          </a:xfrm>
        </p:grpSpPr>
        <p:sp>
          <p:nvSpPr>
            <p:cNvPr id="40" name="Rectangle 5">
              <a:extLst>
                <a:ext uri="{FF2B5EF4-FFF2-40B4-BE49-F238E27FC236}">
                  <a16:creationId xmlns:a16="http://schemas.microsoft.com/office/drawing/2014/main" id="{93F5C0AB-1AAB-4C06-BD15-D815C0FF5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5494" y="5416531"/>
              <a:ext cx="1351642" cy="3877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lvl="3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6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U</a:t>
              </a:r>
              <a:r>
                <a:rPr lang="en-US" altLang="ko-KR" i="1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sender  </a:t>
              </a:r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=</a:t>
              </a:r>
              <a:r>
                <a:rPr lang="en-US" altLang="ko-KR" i="1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DBF70B2F-EF0B-4827-BFF8-BEFC75011FEB}"/>
                </a:ext>
              </a:extLst>
            </p:cNvPr>
            <p:cNvCxnSpPr>
              <a:cxnSpLocks/>
            </p:cNvCxnSpPr>
            <p:nvPr/>
          </p:nvCxnSpPr>
          <p:spPr>
            <a:xfrm>
              <a:off x="3077989" y="5656729"/>
              <a:ext cx="1307213" cy="0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EE4686E-4C60-448C-905F-A6D2885DF0F4}"/>
                </a:ext>
              </a:extLst>
            </p:cNvPr>
            <p:cNvSpPr txBox="1"/>
            <p:nvPr/>
          </p:nvSpPr>
          <p:spPr>
            <a:xfrm>
              <a:off x="2892368" y="5685423"/>
              <a:ext cx="16784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RTT + L / R</a:t>
              </a:r>
              <a:endParaRPr lang="ko-KR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CD27058-FDA6-4F03-91C7-4374B79DE3AB}"/>
                </a:ext>
              </a:extLst>
            </p:cNvPr>
            <p:cNvSpPr txBox="1"/>
            <p:nvPr/>
          </p:nvSpPr>
          <p:spPr>
            <a:xfrm>
              <a:off x="2892368" y="5338080"/>
              <a:ext cx="16784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L / R</a:t>
              </a:r>
              <a:endParaRPr lang="ko-KR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8" name="Rectangle 5">
              <a:extLst>
                <a:ext uri="{FF2B5EF4-FFF2-40B4-BE49-F238E27FC236}">
                  <a16:creationId xmlns:a16="http://schemas.microsoft.com/office/drawing/2014/main" id="{7E4E4E15-BB8E-41FE-AA70-3139C8472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9728" y="5427223"/>
              <a:ext cx="383902" cy="3877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lvl="3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= </a:t>
              </a:r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5373CD60-3847-4372-8A9F-8706740AA5B3}"/>
                </a:ext>
              </a:extLst>
            </p:cNvPr>
            <p:cNvCxnSpPr>
              <a:cxnSpLocks/>
            </p:cNvCxnSpPr>
            <p:nvPr/>
          </p:nvCxnSpPr>
          <p:spPr>
            <a:xfrm>
              <a:off x="4685991" y="5656729"/>
              <a:ext cx="803046" cy="0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B3432F3-7F13-4101-88E3-FA529B8E1294}"/>
                </a:ext>
              </a:extLst>
            </p:cNvPr>
            <p:cNvSpPr txBox="1"/>
            <p:nvPr/>
          </p:nvSpPr>
          <p:spPr>
            <a:xfrm>
              <a:off x="4572787" y="5685423"/>
              <a:ext cx="10294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30.008</a:t>
              </a:r>
              <a:endParaRPr lang="ko-KR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D4166FE-7181-4D20-BD1F-65925B0AB5AF}"/>
                </a:ext>
              </a:extLst>
            </p:cNvPr>
            <p:cNvSpPr txBox="1"/>
            <p:nvPr/>
          </p:nvSpPr>
          <p:spPr>
            <a:xfrm>
              <a:off x="4572787" y="5338080"/>
              <a:ext cx="10294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.008</a:t>
              </a:r>
              <a:endParaRPr lang="ko-KR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57" name="Rectangle 5">
              <a:extLst>
                <a:ext uri="{FF2B5EF4-FFF2-40B4-BE49-F238E27FC236}">
                  <a16:creationId xmlns:a16="http://schemas.microsoft.com/office/drawing/2014/main" id="{DD93394D-DD1E-4EFA-B56D-8E98346AA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792" y="5416531"/>
              <a:ext cx="1490345" cy="3877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lvl="3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=</a:t>
              </a:r>
              <a:r>
                <a:rPr lang="en-US" altLang="ko-KR" sz="1600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</a:t>
              </a:r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0.00027 </a:t>
              </a:r>
              <a:endParaRPr lang="en-US" altLang="ko-KR" sz="1600" baseline="-250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9555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>
                <a:cs typeface="+mj-cs"/>
              </a:rPr>
              <a:t>파이프라인</a:t>
            </a:r>
            <a:r>
              <a:rPr lang="en-US" altLang="ko-KR" sz="2000" dirty="0">
                <a:cs typeface="+mj-cs"/>
              </a:rPr>
              <a:t>(Pipelined)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프로토콜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36</a:t>
            </a:fld>
            <a:endParaRPr lang="en-US" dirty="0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787DE0B0-E05F-496C-9823-76E275AAF732}"/>
              </a:ext>
            </a:extLst>
          </p:cNvPr>
          <p:cNvSpPr/>
          <p:nvPr/>
        </p:nvSpPr>
        <p:spPr>
          <a:xfrm>
            <a:off x="906464" y="2941956"/>
            <a:ext cx="3189286" cy="2098130"/>
          </a:xfrm>
          <a:custGeom>
            <a:avLst/>
            <a:gdLst>
              <a:gd name="connsiteX0" fmla="*/ 45720 w 7505700"/>
              <a:gd name="connsiteY0" fmla="*/ 1874520 h 4937760"/>
              <a:gd name="connsiteX1" fmla="*/ 15240 w 7505700"/>
              <a:gd name="connsiteY1" fmla="*/ 1706880 h 4937760"/>
              <a:gd name="connsiteX2" fmla="*/ 76200 w 7505700"/>
              <a:gd name="connsiteY2" fmla="*/ 1447800 h 4937760"/>
              <a:gd name="connsiteX3" fmla="*/ 160020 w 7505700"/>
              <a:gd name="connsiteY3" fmla="*/ 1440180 h 4937760"/>
              <a:gd name="connsiteX4" fmla="*/ 434340 w 7505700"/>
              <a:gd name="connsiteY4" fmla="*/ 38100 h 4937760"/>
              <a:gd name="connsiteX5" fmla="*/ 556260 w 7505700"/>
              <a:gd name="connsiteY5" fmla="*/ 83820 h 4937760"/>
              <a:gd name="connsiteX6" fmla="*/ 647700 w 7505700"/>
              <a:gd name="connsiteY6" fmla="*/ 365760 h 4937760"/>
              <a:gd name="connsiteX7" fmla="*/ 762000 w 7505700"/>
              <a:gd name="connsiteY7" fmla="*/ 160020 h 4937760"/>
              <a:gd name="connsiteX8" fmla="*/ 678180 w 7505700"/>
              <a:gd name="connsiteY8" fmla="*/ 0 h 4937760"/>
              <a:gd name="connsiteX9" fmla="*/ 2819400 w 7505700"/>
              <a:gd name="connsiteY9" fmla="*/ 472440 h 4937760"/>
              <a:gd name="connsiteX10" fmla="*/ 3970020 w 7505700"/>
              <a:gd name="connsiteY10" fmla="*/ 525780 h 4937760"/>
              <a:gd name="connsiteX11" fmla="*/ 4069080 w 7505700"/>
              <a:gd name="connsiteY11" fmla="*/ 434340 h 4937760"/>
              <a:gd name="connsiteX12" fmla="*/ 4122420 w 7505700"/>
              <a:gd name="connsiteY12" fmla="*/ 518160 h 4937760"/>
              <a:gd name="connsiteX13" fmla="*/ 4701540 w 7505700"/>
              <a:gd name="connsiteY13" fmla="*/ 624840 h 4937760"/>
              <a:gd name="connsiteX14" fmla="*/ 4411980 w 7505700"/>
              <a:gd name="connsiteY14" fmla="*/ 800100 h 4937760"/>
              <a:gd name="connsiteX15" fmla="*/ 4343400 w 7505700"/>
              <a:gd name="connsiteY15" fmla="*/ 929640 h 4937760"/>
              <a:gd name="connsiteX16" fmla="*/ 4564380 w 7505700"/>
              <a:gd name="connsiteY16" fmla="*/ 937260 h 4937760"/>
              <a:gd name="connsiteX17" fmla="*/ 4945380 w 7505700"/>
              <a:gd name="connsiteY17" fmla="*/ 723900 h 4937760"/>
              <a:gd name="connsiteX18" fmla="*/ 5158740 w 7505700"/>
              <a:gd name="connsiteY18" fmla="*/ 853440 h 4937760"/>
              <a:gd name="connsiteX19" fmla="*/ 5334000 w 7505700"/>
              <a:gd name="connsiteY19" fmla="*/ 830580 h 4937760"/>
              <a:gd name="connsiteX20" fmla="*/ 5410200 w 7505700"/>
              <a:gd name="connsiteY20" fmla="*/ 891540 h 4937760"/>
              <a:gd name="connsiteX21" fmla="*/ 5280660 w 7505700"/>
              <a:gd name="connsiteY21" fmla="*/ 944880 h 4937760"/>
              <a:gd name="connsiteX22" fmla="*/ 5120640 w 7505700"/>
              <a:gd name="connsiteY22" fmla="*/ 944880 h 4937760"/>
              <a:gd name="connsiteX23" fmla="*/ 4861560 w 7505700"/>
              <a:gd name="connsiteY23" fmla="*/ 1219200 h 4937760"/>
              <a:gd name="connsiteX24" fmla="*/ 4914900 w 7505700"/>
              <a:gd name="connsiteY24" fmla="*/ 1264920 h 4937760"/>
              <a:gd name="connsiteX25" fmla="*/ 5059680 w 7505700"/>
              <a:gd name="connsiteY25" fmla="*/ 1143000 h 4937760"/>
              <a:gd name="connsiteX26" fmla="*/ 4922520 w 7505700"/>
              <a:gd name="connsiteY26" fmla="*/ 1432560 h 4937760"/>
              <a:gd name="connsiteX27" fmla="*/ 4998720 w 7505700"/>
              <a:gd name="connsiteY27" fmla="*/ 1767840 h 4937760"/>
              <a:gd name="connsiteX28" fmla="*/ 5074920 w 7505700"/>
              <a:gd name="connsiteY28" fmla="*/ 1836420 h 4937760"/>
              <a:gd name="connsiteX29" fmla="*/ 5158740 w 7505700"/>
              <a:gd name="connsiteY29" fmla="*/ 1767840 h 4937760"/>
              <a:gd name="connsiteX30" fmla="*/ 5212080 w 7505700"/>
              <a:gd name="connsiteY30" fmla="*/ 1470660 h 4937760"/>
              <a:gd name="connsiteX31" fmla="*/ 5143500 w 7505700"/>
              <a:gd name="connsiteY31" fmla="*/ 1150620 h 4937760"/>
              <a:gd name="connsiteX32" fmla="*/ 5242560 w 7505700"/>
              <a:gd name="connsiteY32" fmla="*/ 1097280 h 4937760"/>
              <a:gd name="connsiteX33" fmla="*/ 5349240 w 7505700"/>
              <a:gd name="connsiteY33" fmla="*/ 998220 h 4937760"/>
              <a:gd name="connsiteX34" fmla="*/ 5501640 w 7505700"/>
              <a:gd name="connsiteY34" fmla="*/ 1150620 h 4937760"/>
              <a:gd name="connsiteX35" fmla="*/ 5417820 w 7505700"/>
              <a:gd name="connsiteY35" fmla="*/ 1363980 h 4937760"/>
              <a:gd name="connsiteX36" fmla="*/ 5463540 w 7505700"/>
              <a:gd name="connsiteY36" fmla="*/ 1409700 h 4937760"/>
              <a:gd name="connsiteX37" fmla="*/ 5554980 w 7505700"/>
              <a:gd name="connsiteY37" fmla="*/ 1318260 h 4937760"/>
              <a:gd name="connsiteX38" fmla="*/ 5661660 w 7505700"/>
              <a:gd name="connsiteY38" fmla="*/ 1440180 h 4937760"/>
              <a:gd name="connsiteX39" fmla="*/ 5524500 w 7505700"/>
              <a:gd name="connsiteY39" fmla="*/ 1767840 h 4937760"/>
              <a:gd name="connsiteX40" fmla="*/ 5715000 w 7505700"/>
              <a:gd name="connsiteY40" fmla="*/ 1783080 h 4937760"/>
              <a:gd name="connsiteX41" fmla="*/ 6149340 w 7505700"/>
              <a:gd name="connsiteY41" fmla="*/ 1470660 h 4937760"/>
              <a:gd name="connsiteX42" fmla="*/ 6088380 w 7505700"/>
              <a:gd name="connsiteY42" fmla="*/ 1348740 h 4937760"/>
              <a:gd name="connsiteX43" fmla="*/ 6385560 w 7505700"/>
              <a:gd name="connsiteY43" fmla="*/ 1280160 h 4937760"/>
              <a:gd name="connsiteX44" fmla="*/ 6492240 w 7505700"/>
              <a:gd name="connsiteY44" fmla="*/ 899160 h 4937760"/>
              <a:gd name="connsiteX45" fmla="*/ 6911340 w 7505700"/>
              <a:gd name="connsiteY45" fmla="*/ 868680 h 4937760"/>
              <a:gd name="connsiteX46" fmla="*/ 7033260 w 7505700"/>
              <a:gd name="connsiteY46" fmla="*/ 647700 h 4937760"/>
              <a:gd name="connsiteX47" fmla="*/ 7139940 w 7505700"/>
              <a:gd name="connsiteY47" fmla="*/ 228600 h 4937760"/>
              <a:gd name="connsiteX48" fmla="*/ 7246620 w 7505700"/>
              <a:gd name="connsiteY48" fmla="*/ 228600 h 4937760"/>
              <a:gd name="connsiteX49" fmla="*/ 7505700 w 7505700"/>
              <a:gd name="connsiteY49" fmla="*/ 708660 h 4937760"/>
              <a:gd name="connsiteX50" fmla="*/ 7132320 w 7505700"/>
              <a:gd name="connsiteY50" fmla="*/ 1028700 h 4937760"/>
              <a:gd name="connsiteX51" fmla="*/ 7101840 w 7505700"/>
              <a:gd name="connsiteY51" fmla="*/ 1310640 h 4937760"/>
              <a:gd name="connsiteX52" fmla="*/ 7200900 w 7505700"/>
              <a:gd name="connsiteY52" fmla="*/ 1386840 h 4937760"/>
              <a:gd name="connsiteX53" fmla="*/ 7322820 w 7505700"/>
              <a:gd name="connsiteY53" fmla="*/ 1264920 h 4937760"/>
              <a:gd name="connsiteX54" fmla="*/ 7338060 w 7505700"/>
              <a:gd name="connsiteY54" fmla="*/ 1363980 h 4937760"/>
              <a:gd name="connsiteX55" fmla="*/ 7246620 w 7505700"/>
              <a:gd name="connsiteY55" fmla="*/ 1440180 h 4937760"/>
              <a:gd name="connsiteX56" fmla="*/ 6758940 w 7505700"/>
              <a:gd name="connsiteY56" fmla="*/ 1638300 h 4937760"/>
              <a:gd name="connsiteX57" fmla="*/ 6804660 w 7505700"/>
              <a:gd name="connsiteY57" fmla="*/ 1729740 h 4937760"/>
              <a:gd name="connsiteX58" fmla="*/ 7025640 w 7505700"/>
              <a:gd name="connsiteY58" fmla="*/ 1600200 h 4937760"/>
              <a:gd name="connsiteX59" fmla="*/ 6850380 w 7505700"/>
              <a:gd name="connsiteY59" fmla="*/ 1828800 h 4937760"/>
              <a:gd name="connsiteX60" fmla="*/ 6880860 w 7505700"/>
              <a:gd name="connsiteY60" fmla="*/ 1927860 h 4937760"/>
              <a:gd name="connsiteX61" fmla="*/ 6705600 w 7505700"/>
              <a:gd name="connsiteY61" fmla="*/ 2217420 h 4937760"/>
              <a:gd name="connsiteX62" fmla="*/ 6812280 w 7505700"/>
              <a:gd name="connsiteY62" fmla="*/ 2842260 h 4937760"/>
              <a:gd name="connsiteX63" fmla="*/ 6195060 w 7505700"/>
              <a:gd name="connsiteY63" fmla="*/ 3451860 h 4937760"/>
              <a:gd name="connsiteX64" fmla="*/ 6126480 w 7505700"/>
              <a:gd name="connsiteY64" fmla="*/ 3878580 h 4937760"/>
              <a:gd name="connsiteX65" fmla="*/ 6446520 w 7505700"/>
              <a:gd name="connsiteY65" fmla="*/ 4373880 h 4937760"/>
              <a:gd name="connsiteX66" fmla="*/ 6477000 w 7505700"/>
              <a:gd name="connsiteY66" fmla="*/ 4686300 h 4937760"/>
              <a:gd name="connsiteX67" fmla="*/ 6370320 w 7505700"/>
              <a:gd name="connsiteY67" fmla="*/ 4838700 h 4937760"/>
              <a:gd name="connsiteX68" fmla="*/ 6035040 w 7505700"/>
              <a:gd name="connsiteY68" fmla="*/ 4549140 h 4937760"/>
              <a:gd name="connsiteX69" fmla="*/ 5943600 w 7505700"/>
              <a:gd name="connsiteY69" fmla="*/ 4145280 h 4937760"/>
              <a:gd name="connsiteX70" fmla="*/ 5722620 w 7505700"/>
              <a:gd name="connsiteY70" fmla="*/ 3970020 h 4937760"/>
              <a:gd name="connsiteX71" fmla="*/ 5585460 w 7505700"/>
              <a:gd name="connsiteY71" fmla="*/ 4069080 h 4937760"/>
              <a:gd name="connsiteX72" fmla="*/ 5410200 w 7505700"/>
              <a:gd name="connsiteY72" fmla="*/ 3947160 h 4937760"/>
              <a:gd name="connsiteX73" fmla="*/ 4770120 w 7505700"/>
              <a:gd name="connsiteY73" fmla="*/ 4069080 h 4937760"/>
              <a:gd name="connsiteX74" fmla="*/ 4770120 w 7505700"/>
              <a:gd name="connsiteY74" fmla="*/ 4069080 h 4937760"/>
              <a:gd name="connsiteX75" fmla="*/ 4785360 w 7505700"/>
              <a:gd name="connsiteY75" fmla="*/ 4183380 h 4937760"/>
              <a:gd name="connsiteX76" fmla="*/ 4876800 w 7505700"/>
              <a:gd name="connsiteY76" fmla="*/ 4137660 h 4937760"/>
              <a:gd name="connsiteX77" fmla="*/ 5013960 w 7505700"/>
              <a:gd name="connsiteY77" fmla="*/ 4328160 h 4937760"/>
              <a:gd name="connsiteX78" fmla="*/ 4290060 w 7505700"/>
              <a:gd name="connsiteY78" fmla="*/ 4137660 h 4937760"/>
              <a:gd name="connsiteX79" fmla="*/ 3657600 w 7505700"/>
              <a:gd name="connsiteY79" fmla="*/ 4556760 h 4937760"/>
              <a:gd name="connsiteX80" fmla="*/ 3703320 w 7505700"/>
              <a:gd name="connsiteY80" fmla="*/ 4937760 h 4937760"/>
              <a:gd name="connsiteX81" fmla="*/ 3421380 w 7505700"/>
              <a:gd name="connsiteY81" fmla="*/ 4808220 h 4937760"/>
              <a:gd name="connsiteX82" fmla="*/ 3032760 w 7505700"/>
              <a:gd name="connsiteY82" fmla="*/ 4069080 h 4937760"/>
              <a:gd name="connsiteX83" fmla="*/ 2712720 w 7505700"/>
              <a:gd name="connsiteY83" fmla="*/ 4160520 h 4937760"/>
              <a:gd name="connsiteX84" fmla="*/ 2705100 w 7505700"/>
              <a:gd name="connsiteY84" fmla="*/ 4328160 h 4937760"/>
              <a:gd name="connsiteX85" fmla="*/ 2552700 w 7505700"/>
              <a:gd name="connsiteY85" fmla="*/ 4244340 h 4937760"/>
              <a:gd name="connsiteX86" fmla="*/ 2156460 w 7505700"/>
              <a:gd name="connsiteY86" fmla="*/ 3680460 h 4937760"/>
              <a:gd name="connsiteX87" fmla="*/ 1379220 w 7505700"/>
              <a:gd name="connsiteY87" fmla="*/ 3657600 h 4937760"/>
              <a:gd name="connsiteX88" fmla="*/ 1028700 w 7505700"/>
              <a:gd name="connsiteY88" fmla="*/ 3284220 h 4937760"/>
              <a:gd name="connsiteX89" fmla="*/ 693420 w 7505700"/>
              <a:gd name="connsiteY89" fmla="*/ 3276600 h 4937760"/>
              <a:gd name="connsiteX90" fmla="*/ 297180 w 7505700"/>
              <a:gd name="connsiteY90" fmla="*/ 2796540 h 4937760"/>
              <a:gd name="connsiteX91" fmla="*/ 0 w 7505700"/>
              <a:gd name="connsiteY91" fmla="*/ 1729740 h 4937760"/>
              <a:gd name="connsiteX92" fmla="*/ 60960 w 7505700"/>
              <a:gd name="connsiteY92" fmla="*/ 1417320 h 4937760"/>
              <a:gd name="connsiteX0" fmla="*/ 45720 w 7505700"/>
              <a:gd name="connsiteY0" fmla="*/ 1874520 h 4937760"/>
              <a:gd name="connsiteX1" fmla="*/ 15240 w 7505700"/>
              <a:gd name="connsiteY1" fmla="*/ 1706880 h 4937760"/>
              <a:gd name="connsiteX2" fmla="*/ 76200 w 7505700"/>
              <a:gd name="connsiteY2" fmla="*/ 1447800 h 4937760"/>
              <a:gd name="connsiteX3" fmla="*/ 160020 w 7505700"/>
              <a:gd name="connsiteY3" fmla="*/ 1440180 h 4937760"/>
              <a:gd name="connsiteX4" fmla="*/ 434340 w 7505700"/>
              <a:gd name="connsiteY4" fmla="*/ 38100 h 4937760"/>
              <a:gd name="connsiteX5" fmla="*/ 556260 w 7505700"/>
              <a:gd name="connsiteY5" fmla="*/ 83820 h 4937760"/>
              <a:gd name="connsiteX6" fmla="*/ 647700 w 7505700"/>
              <a:gd name="connsiteY6" fmla="*/ 365760 h 4937760"/>
              <a:gd name="connsiteX7" fmla="*/ 762000 w 7505700"/>
              <a:gd name="connsiteY7" fmla="*/ 160020 h 4937760"/>
              <a:gd name="connsiteX8" fmla="*/ 678180 w 7505700"/>
              <a:gd name="connsiteY8" fmla="*/ 0 h 4937760"/>
              <a:gd name="connsiteX9" fmla="*/ 2819400 w 7505700"/>
              <a:gd name="connsiteY9" fmla="*/ 472440 h 4937760"/>
              <a:gd name="connsiteX10" fmla="*/ 3970020 w 7505700"/>
              <a:gd name="connsiteY10" fmla="*/ 525780 h 4937760"/>
              <a:gd name="connsiteX11" fmla="*/ 4069080 w 7505700"/>
              <a:gd name="connsiteY11" fmla="*/ 434340 h 4937760"/>
              <a:gd name="connsiteX12" fmla="*/ 4122420 w 7505700"/>
              <a:gd name="connsiteY12" fmla="*/ 518160 h 4937760"/>
              <a:gd name="connsiteX13" fmla="*/ 4701540 w 7505700"/>
              <a:gd name="connsiteY13" fmla="*/ 624840 h 4937760"/>
              <a:gd name="connsiteX14" fmla="*/ 4411980 w 7505700"/>
              <a:gd name="connsiteY14" fmla="*/ 800100 h 4937760"/>
              <a:gd name="connsiteX15" fmla="*/ 4343400 w 7505700"/>
              <a:gd name="connsiteY15" fmla="*/ 929640 h 4937760"/>
              <a:gd name="connsiteX16" fmla="*/ 4564380 w 7505700"/>
              <a:gd name="connsiteY16" fmla="*/ 937260 h 4937760"/>
              <a:gd name="connsiteX17" fmla="*/ 4945380 w 7505700"/>
              <a:gd name="connsiteY17" fmla="*/ 723900 h 4937760"/>
              <a:gd name="connsiteX18" fmla="*/ 5158740 w 7505700"/>
              <a:gd name="connsiteY18" fmla="*/ 853440 h 4937760"/>
              <a:gd name="connsiteX19" fmla="*/ 5334000 w 7505700"/>
              <a:gd name="connsiteY19" fmla="*/ 830580 h 4937760"/>
              <a:gd name="connsiteX20" fmla="*/ 5410200 w 7505700"/>
              <a:gd name="connsiteY20" fmla="*/ 891540 h 4937760"/>
              <a:gd name="connsiteX21" fmla="*/ 5280660 w 7505700"/>
              <a:gd name="connsiteY21" fmla="*/ 944880 h 4937760"/>
              <a:gd name="connsiteX22" fmla="*/ 5120640 w 7505700"/>
              <a:gd name="connsiteY22" fmla="*/ 944880 h 4937760"/>
              <a:gd name="connsiteX23" fmla="*/ 4861560 w 7505700"/>
              <a:gd name="connsiteY23" fmla="*/ 1219200 h 4937760"/>
              <a:gd name="connsiteX24" fmla="*/ 4914900 w 7505700"/>
              <a:gd name="connsiteY24" fmla="*/ 1264920 h 4937760"/>
              <a:gd name="connsiteX25" fmla="*/ 5059680 w 7505700"/>
              <a:gd name="connsiteY25" fmla="*/ 1143000 h 4937760"/>
              <a:gd name="connsiteX26" fmla="*/ 4922520 w 7505700"/>
              <a:gd name="connsiteY26" fmla="*/ 1432560 h 4937760"/>
              <a:gd name="connsiteX27" fmla="*/ 4998720 w 7505700"/>
              <a:gd name="connsiteY27" fmla="*/ 1767840 h 4937760"/>
              <a:gd name="connsiteX28" fmla="*/ 5074920 w 7505700"/>
              <a:gd name="connsiteY28" fmla="*/ 1836420 h 4937760"/>
              <a:gd name="connsiteX29" fmla="*/ 5158740 w 7505700"/>
              <a:gd name="connsiteY29" fmla="*/ 1767840 h 4937760"/>
              <a:gd name="connsiteX30" fmla="*/ 5212080 w 7505700"/>
              <a:gd name="connsiteY30" fmla="*/ 1470660 h 4937760"/>
              <a:gd name="connsiteX31" fmla="*/ 5143500 w 7505700"/>
              <a:gd name="connsiteY31" fmla="*/ 1150620 h 4937760"/>
              <a:gd name="connsiteX32" fmla="*/ 5242560 w 7505700"/>
              <a:gd name="connsiteY32" fmla="*/ 1097280 h 4937760"/>
              <a:gd name="connsiteX33" fmla="*/ 5349240 w 7505700"/>
              <a:gd name="connsiteY33" fmla="*/ 998220 h 4937760"/>
              <a:gd name="connsiteX34" fmla="*/ 5501640 w 7505700"/>
              <a:gd name="connsiteY34" fmla="*/ 1150620 h 4937760"/>
              <a:gd name="connsiteX35" fmla="*/ 5417820 w 7505700"/>
              <a:gd name="connsiteY35" fmla="*/ 1363980 h 4937760"/>
              <a:gd name="connsiteX36" fmla="*/ 5463540 w 7505700"/>
              <a:gd name="connsiteY36" fmla="*/ 1409700 h 4937760"/>
              <a:gd name="connsiteX37" fmla="*/ 5554980 w 7505700"/>
              <a:gd name="connsiteY37" fmla="*/ 1318260 h 4937760"/>
              <a:gd name="connsiteX38" fmla="*/ 5661660 w 7505700"/>
              <a:gd name="connsiteY38" fmla="*/ 1440180 h 4937760"/>
              <a:gd name="connsiteX39" fmla="*/ 5524500 w 7505700"/>
              <a:gd name="connsiteY39" fmla="*/ 1767840 h 4937760"/>
              <a:gd name="connsiteX40" fmla="*/ 5715000 w 7505700"/>
              <a:gd name="connsiteY40" fmla="*/ 1783080 h 4937760"/>
              <a:gd name="connsiteX41" fmla="*/ 6149340 w 7505700"/>
              <a:gd name="connsiteY41" fmla="*/ 1470660 h 4937760"/>
              <a:gd name="connsiteX42" fmla="*/ 6088380 w 7505700"/>
              <a:gd name="connsiteY42" fmla="*/ 1348740 h 4937760"/>
              <a:gd name="connsiteX43" fmla="*/ 6385560 w 7505700"/>
              <a:gd name="connsiteY43" fmla="*/ 1280160 h 4937760"/>
              <a:gd name="connsiteX44" fmla="*/ 6492240 w 7505700"/>
              <a:gd name="connsiteY44" fmla="*/ 899160 h 4937760"/>
              <a:gd name="connsiteX45" fmla="*/ 6911340 w 7505700"/>
              <a:gd name="connsiteY45" fmla="*/ 868680 h 4937760"/>
              <a:gd name="connsiteX46" fmla="*/ 7033260 w 7505700"/>
              <a:gd name="connsiteY46" fmla="*/ 647700 h 4937760"/>
              <a:gd name="connsiteX47" fmla="*/ 7139940 w 7505700"/>
              <a:gd name="connsiteY47" fmla="*/ 228600 h 4937760"/>
              <a:gd name="connsiteX48" fmla="*/ 7246620 w 7505700"/>
              <a:gd name="connsiteY48" fmla="*/ 228600 h 4937760"/>
              <a:gd name="connsiteX49" fmla="*/ 7505700 w 7505700"/>
              <a:gd name="connsiteY49" fmla="*/ 708660 h 4937760"/>
              <a:gd name="connsiteX50" fmla="*/ 7132320 w 7505700"/>
              <a:gd name="connsiteY50" fmla="*/ 1028700 h 4937760"/>
              <a:gd name="connsiteX51" fmla="*/ 7101840 w 7505700"/>
              <a:gd name="connsiteY51" fmla="*/ 1310640 h 4937760"/>
              <a:gd name="connsiteX52" fmla="*/ 7200900 w 7505700"/>
              <a:gd name="connsiteY52" fmla="*/ 1386840 h 4937760"/>
              <a:gd name="connsiteX53" fmla="*/ 7322820 w 7505700"/>
              <a:gd name="connsiteY53" fmla="*/ 1264920 h 4937760"/>
              <a:gd name="connsiteX54" fmla="*/ 7338060 w 7505700"/>
              <a:gd name="connsiteY54" fmla="*/ 1363980 h 4937760"/>
              <a:gd name="connsiteX55" fmla="*/ 7246620 w 7505700"/>
              <a:gd name="connsiteY55" fmla="*/ 1440180 h 4937760"/>
              <a:gd name="connsiteX56" fmla="*/ 6758940 w 7505700"/>
              <a:gd name="connsiteY56" fmla="*/ 1638300 h 4937760"/>
              <a:gd name="connsiteX57" fmla="*/ 6804660 w 7505700"/>
              <a:gd name="connsiteY57" fmla="*/ 1729740 h 4937760"/>
              <a:gd name="connsiteX58" fmla="*/ 7025640 w 7505700"/>
              <a:gd name="connsiteY58" fmla="*/ 1600200 h 4937760"/>
              <a:gd name="connsiteX59" fmla="*/ 6850380 w 7505700"/>
              <a:gd name="connsiteY59" fmla="*/ 1828800 h 4937760"/>
              <a:gd name="connsiteX60" fmla="*/ 6880860 w 7505700"/>
              <a:gd name="connsiteY60" fmla="*/ 1927860 h 4937760"/>
              <a:gd name="connsiteX61" fmla="*/ 6705600 w 7505700"/>
              <a:gd name="connsiteY61" fmla="*/ 2217420 h 4937760"/>
              <a:gd name="connsiteX62" fmla="*/ 6812280 w 7505700"/>
              <a:gd name="connsiteY62" fmla="*/ 2842260 h 4937760"/>
              <a:gd name="connsiteX63" fmla="*/ 6195060 w 7505700"/>
              <a:gd name="connsiteY63" fmla="*/ 3451860 h 4937760"/>
              <a:gd name="connsiteX64" fmla="*/ 6126480 w 7505700"/>
              <a:gd name="connsiteY64" fmla="*/ 3878580 h 4937760"/>
              <a:gd name="connsiteX65" fmla="*/ 6446520 w 7505700"/>
              <a:gd name="connsiteY65" fmla="*/ 4373880 h 4937760"/>
              <a:gd name="connsiteX66" fmla="*/ 6477000 w 7505700"/>
              <a:gd name="connsiteY66" fmla="*/ 4686300 h 4937760"/>
              <a:gd name="connsiteX67" fmla="*/ 6370320 w 7505700"/>
              <a:gd name="connsiteY67" fmla="*/ 4838700 h 4937760"/>
              <a:gd name="connsiteX68" fmla="*/ 6035040 w 7505700"/>
              <a:gd name="connsiteY68" fmla="*/ 4549140 h 4937760"/>
              <a:gd name="connsiteX69" fmla="*/ 5943600 w 7505700"/>
              <a:gd name="connsiteY69" fmla="*/ 4145280 h 4937760"/>
              <a:gd name="connsiteX70" fmla="*/ 5722620 w 7505700"/>
              <a:gd name="connsiteY70" fmla="*/ 3970020 h 4937760"/>
              <a:gd name="connsiteX71" fmla="*/ 5585460 w 7505700"/>
              <a:gd name="connsiteY71" fmla="*/ 4069080 h 4937760"/>
              <a:gd name="connsiteX72" fmla="*/ 5410200 w 7505700"/>
              <a:gd name="connsiteY72" fmla="*/ 3947160 h 4937760"/>
              <a:gd name="connsiteX73" fmla="*/ 4770120 w 7505700"/>
              <a:gd name="connsiteY73" fmla="*/ 4069080 h 4937760"/>
              <a:gd name="connsiteX74" fmla="*/ 4770120 w 7505700"/>
              <a:gd name="connsiteY74" fmla="*/ 4069080 h 4937760"/>
              <a:gd name="connsiteX75" fmla="*/ 4785360 w 7505700"/>
              <a:gd name="connsiteY75" fmla="*/ 4183380 h 4937760"/>
              <a:gd name="connsiteX76" fmla="*/ 4876800 w 7505700"/>
              <a:gd name="connsiteY76" fmla="*/ 4137660 h 4937760"/>
              <a:gd name="connsiteX77" fmla="*/ 5013960 w 7505700"/>
              <a:gd name="connsiteY77" fmla="*/ 4328160 h 4937760"/>
              <a:gd name="connsiteX78" fmla="*/ 4290060 w 7505700"/>
              <a:gd name="connsiteY78" fmla="*/ 4137660 h 4937760"/>
              <a:gd name="connsiteX79" fmla="*/ 3657600 w 7505700"/>
              <a:gd name="connsiteY79" fmla="*/ 4556760 h 4937760"/>
              <a:gd name="connsiteX80" fmla="*/ 3703320 w 7505700"/>
              <a:gd name="connsiteY80" fmla="*/ 4937760 h 4937760"/>
              <a:gd name="connsiteX81" fmla="*/ 3421380 w 7505700"/>
              <a:gd name="connsiteY81" fmla="*/ 4808220 h 4937760"/>
              <a:gd name="connsiteX82" fmla="*/ 3032760 w 7505700"/>
              <a:gd name="connsiteY82" fmla="*/ 4069080 h 4937760"/>
              <a:gd name="connsiteX83" fmla="*/ 2712720 w 7505700"/>
              <a:gd name="connsiteY83" fmla="*/ 4160520 h 4937760"/>
              <a:gd name="connsiteX84" fmla="*/ 2705100 w 7505700"/>
              <a:gd name="connsiteY84" fmla="*/ 4328160 h 4937760"/>
              <a:gd name="connsiteX85" fmla="*/ 2552700 w 7505700"/>
              <a:gd name="connsiteY85" fmla="*/ 4244340 h 4937760"/>
              <a:gd name="connsiteX86" fmla="*/ 2156460 w 7505700"/>
              <a:gd name="connsiteY86" fmla="*/ 3680460 h 4937760"/>
              <a:gd name="connsiteX87" fmla="*/ 1379220 w 7505700"/>
              <a:gd name="connsiteY87" fmla="*/ 3657600 h 4937760"/>
              <a:gd name="connsiteX88" fmla="*/ 1028700 w 7505700"/>
              <a:gd name="connsiteY88" fmla="*/ 3284220 h 4937760"/>
              <a:gd name="connsiteX89" fmla="*/ 693420 w 7505700"/>
              <a:gd name="connsiteY89" fmla="*/ 3276600 h 4937760"/>
              <a:gd name="connsiteX90" fmla="*/ 297180 w 7505700"/>
              <a:gd name="connsiteY90" fmla="*/ 2796540 h 4937760"/>
              <a:gd name="connsiteX91" fmla="*/ 0 w 7505700"/>
              <a:gd name="connsiteY91" fmla="*/ 1729740 h 4937760"/>
              <a:gd name="connsiteX92" fmla="*/ 60960 w 7505700"/>
              <a:gd name="connsiteY92" fmla="*/ 1417320 h 4937760"/>
              <a:gd name="connsiteX93" fmla="*/ 45720 w 7505700"/>
              <a:gd name="connsiteY93" fmla="*/ 1874520 h 4937760"/>
              <a:gd name="connsiteX0" fmla="*/ 60960 w 7505700"/>
              <a:gd name="connsiteY0" fmla="*/ 1417320 h 4937760"/>
              <a:gd name="connsiteX1" fmla="*/ 15240 w 7505700"/>
              <a:gd name="connsiteY1" fmla="*/ 1706880 h 4937760"/>
              <a:gd name="connsiteX2" fmla="*/ 76200 w 7505700"/>
              <a:gd name="connsiteY2" fmla="*/ 1447800 h 4937760"/>
              <a:gd name="connsiteX3" fmla="*/ 160020 w 7505700"/>
              <a:gd name="connsiteY3" fmla="*/ 1440180 h 4937760"/>
              <a:gd name="connsiteX4" fmla="*/ 434340 w 7505700"/>
              <a:gd name="connsiteY4" fmla="*/ 38100 h 4937760"/>
              <a:gd name="connsiteX5" fmla="*/ 556260 w 7505700"/>
              <a:gd name="connsiteY5" fmla="*/ 83820 h 4937760"/>
              <a:gd name="connsiteX6" fmla="*/ 647700 w 7505700"/>
              <a:gd name="connsiteY6" fmla="*/ 365760 h 4937760"/>
              <a:gd name="connsiteX7" fmla="*/ 762000 w 7505700"/>
              <a:gd name="connsiteY7" fmla="*/ 160020 h 4937760"/>
              <a:gd name="connsiteX8" fmla="*/ 678180 w 7505700"/>
              <a:gd name="connsiteY8" fmla="*/ 0 h 4937760"/>
              <a:gd name="connsiteX9" fmla="*/ 2819400 w 7505700"/>
              <a:gd name="connsiteY9" fmla="*/ 472440 h 4937760"/>
              <a:gd name="connsiteX10" fmla="*/ 3970020 w 7505700"/>
              <a:gd name="connsiteY10" fmla="*/ 525780 h 4937760"/>
              <a:gd name="connsiteX11" fmla="*/ 4069080 w 7505700"/>
              <a:gd name="connsiteY11" fmla="*/ 434340 h 4937760"/>
              <a:gd name="connsiteX12" fmla="*/ 4122420 w 7505700"/>
              <a:gd name="connsiteY12" fmla="*/ 518160 h 4937760"/>
              <a:gd name="connsiteX13" fmla="*/ 4701540 w 7505700"/>
              <a:gd name="connsiteY13" fmla="*/ 624840 h 4937760"/>
              <a:gd name="connsiteX14" fmla="*/ 4411980 w 7505700"/>
              <a:gd name="connsiteY14" fmla="*/ 800100 h 4937760"/>
              <a:gd name="connsiteX15" fmla="*/ 4343400 w 7505700"/>
              <a:gd name="connsiteY15" fmla="*/ 929640 h 4937760"/>
              <a:gd name="connsiteX16" fmla="*/ 4564380 w 7505700"/>
              <a:gd name="connsiteY16" fmla="*/ 937260 h 4937760"/>
              <a:gd name="connsiteX17" fmla="*/ 4945380 w 7505700"/>
              <a:gd name="connsiteY17" fmla="*/ 723900 h 4937760"/>
              <a:gd name="connsiteX18" fmla="*/ 5158740 w 7505700"/>
              <a:gd name="connsiteY18" fmla="*/ 853440 h 4937760"/>
              <a:gd name="connsiteX19" fmla="*/ 5334000 w 7505700"/>
              <a:gd name="connsiteY19" fmla="*/ 830580 h 4937760"/>
              <a:gd name="connsiteX20" fmla="*/ 5410200 w 7505700"/>
              <a:gd name="connsiteY20" fmla="*/ 891540 h 4937760"/>
              <a:gd name="connsiteX21" fmla="*/ 5280660 w 7505700"/>
              <a:gd name="connsiteY21" fmla="*/ 944880 h 4937760"/>
              <a:gd name="connsiteX22" fmla="*/ 5120640 w 7505700"/>
              <a:gd name="connsiteY22" fmla="*/ 944880 h 4937760"/>
              <a:gd name="connsiteX23" fmla="*/ 4861560 w 7505700"/>
              <a:gd name="connsiteY23" fmla="*/ 1219200 h 4937760"/>
              <a:gd name="connsiteX24" fmla="*/ 4914900 w 7505700"/>
              <a:gd name="connsiteY24" fmla="*/ 1264920 h 4937760"/>
              <a:gd name="connsiteX25" fmla="*/ 5059680 w 7505700"/>
              <a:gd name="connsiteY25" fmla="*/ 1143000 h 4937760"/>
              <a:gd name="connsiteX26" fmla="*/ 4922520 w 7505700"/>
              <a:gd name="connsiteY26" fmla="*/ 1432560 h 4937760"/>
              <a:gd name="connsiteX27" fmla="*/ 4998720 w 7505700"/>
              <a:gd name="connsiteY27" fmla="*/ 1767840 h 4937760"/>
              <a:gd name="connsiteX28" fmla="*/ 5074920 w 7505700"/>
              <a:gd name="connsiteY28" fmla="*/ 1836420 h 4937760"/>
              <a:gd name="connsiteX29" fmla="*/ 5158740 w 7505700"/>
              <a:gd name="connsiteY29" fmla="*/ 1767840 h 4937760"/>
              <a:gd name="connsiteX30" fmla="*/ 5212080 w 7505700"/>
              <a:gd name="connsiteY30" fmla="*/ 1470660 h 4937760"/>
              <a:gd name="connsiteX31" fmla="*/ 5143500 w 7505700"/>
              <a:gd name="connsiteY31" fmla="*/ 1150620 h 4937760"/>
              <a:gd name="connsiteX32" fmla="*/ 5242560 w 7505700"/>
              <a:gd name="connsiteY32" fmla="*/ 1097280 h 4937760"/>
              <a:gd name="connsiteX33" fmla="*/ 5349240 w 7505700"/>
              <a:gd name="connsiteY33" fmla="*/ 998220 h 4937760"/>
              <a:gd name="connsiteX34" fmla="*/ 5501640 w 7505700"/>
              <a:gd name="connsiteY34" fmla="*/ 1150620 h 4937760"/>
              <a:gd name="connsiteX35" fmla="*/ 5417820 w 7505700"/>
              <a:gd name="connsiteY35" fmla="*/ 1363980 h 4937760"/>
              <a:gd name="connsiteX36" fmla="*/ 5463540 w 7505700"/>
              <a:gd name="connsiteY36" fmla="*/ 1409700 h 4937760"/>
              <a:gd name="connsiteX37" fmla="*/ 5554980 w 7505700"/>
              <a:gd name="connsiteY37" fmla="*/ 1318260 h 4937760"/>
              <a:gd name="connsiteX38" fmla="*/ 5661660 w 7505700"/>
              <a:gd name="connsiteY38" fmla="*/ 1440180 h 4937760"/>
              <a:gd name="connsiteX39" fmla="*/ 5524500 w 7505700"/>
              <a:gd name="connsiteY39" fmla="*/ 1767840 h 4937760"/>
              <a:gd name="connsiteX40" fmla="*/ 5715000 w 7505700"/>
              <a:gd name="connsiteY40" fmla="*/ 1783080 h 4937760"/>
              <a:gd name="connsiteX41" fmla="*/ 6149340 w 7505700"/>
              <a:gd name="connsiteY41" fmla="*/ 1470660 h 4937760"/>
              <a:gd name="connsiteX42" fmla="*/ 6088380 w 7505700"/>
              <a:gd name="connsiteY42" fmla="*/ 1348740 h 4937760"/>
              <a:gd name="connsiteX43" fmla="*/ 6385560 w 7505700"/>
              <a:gd name="connsiteY43" fmla="*/ 1280160 h 4937760"/>
              <a:gd name="connsiteX44" fmla="*/ 6492240 w 7505700"/>
              <a:gd name="connsiteY44" fmla="*/ 899160 h 4937760"/>
              <a:gd name="connsiteX45" fmla="*/ 6911340 w 7505700"/>
              <a:gd name="connsiteY45" fmla="*/ 868680 h 4937760"/>
              <a:gd name="connsiteX46" fmla="*/ 7033260 w 7505700"/>
              <a:gd name="connsiteY46" fmla="*/ 647700 h 4937760"/>
              <a:gd name="connsiteX47" fmla="*/ 7139940 w 7505700"/>
              <a:gd name="connsiteY47" fmla="*/ 228600 h 4937760"/>
              <a:gd name="connsiteX48" fmla="*/ 7246620 w 7505700"/>
              <a:gd name="connsiteY48" fmla="*/ 228600 h 4937760"/>
              <a:gd name="connsiteX49" fmla="*/ 7505700 w 7505700"/>
              <a:gd name="connsiteY49" fmla="*/ 708660 h 4937760"/>
              <a:gd name="connsiteX50" fmla="*/ 7132320 w 7505700"/>
              <a:gd name="connsiteY50" fmla="*/ 1028700 h 4937760"/>
              <a:gd name="connsiteX51" fmla="*/ 7101840 w 7505700"/>
              <a:gd name="connsiteY51" fmla="*/ 1310640 h 4937760"/>
              <a:gd name="connsiteX52" fmla="*/ 7200900 w 7505700"/>
              <a:gd name="connsiteY52" fmla="*/ 1386840 h 4937760"/>
              <a:gd name="connsiteX53" fmla="*/ 7322820 w 7505700"/>
              <a:gd name="connsiteY53" fmla="*/ 1264920 h 4937760"/>
              <a:gd name="connsiteX54" fmla="*/ 7338060 w 7505700"/>
              <a:gd name="connsiteY54" fmla="*/ 1363980 h 4937760"/>
              <a:gd name="connsiteX55" fmla="*/ 7246620 w 7505700"/>
              <a:gd name="connsiteY55" fmla="*/ 1440180 h 4937760"/>
              <a:gd name="connsiteX56" fmla="*/ 6758940 w 7505700"/>
              <a:gd name="connsiteY56" fmla="*/ 1638300 h 4937760"/>
              <a:gd name="connsiteX57" fmla="*/ 6804660 w 7505700"/>
              <a:gd name="connsiteY57" fmla="*/ 1729740 h 4937760"/>
              <a:gd name="connsiteX58" fmla="*/ 7025640 w 7505700"/>
              <a:gd name="connsiteY58" fmla="*/ 1600200 h 4937760"/>
              <a:gd name="connsiteX59" fmla="*/ 6850380 w 7505700"/>
              <a:gd name="connsiteY59" fmla="*/ 1828800 h 4937760"/>
              <a:gd name="connsiteX60" fmla="*/ 6880860 w 7505700"/>
              <a:gd name="connsiteY60" fmla="*/ 1927860 h 4937760"/>
              <a:gd name="connsiteX61" fmla="*/ 6705600 w 7505700"/>
              <a:gd name="connsiteY61" fmla="*/ 2217420 h 4937760"/>
              <a:gd name="connsiteX62" fmla="*/ 6812280 w 7505700"/>
              <a:gd name="connsiteY62" fmla="*/ 2842260 h 4937760"/>
              <a:gd name="connsiteX63" fmla="*/ 6195060 w 7505700"/>
              <a:gd name="connsiteY63" fmla="*/ 3451860 h 4937760"/>
              <a:gd name="connsiteX64" fmla="*/ 6126480 w 7505700"/>
              <a:gd name="connsiteY64" fmla="*/ 3878580 h 4937760"/>
              <a:gd name="connsiteX65" fmla="*/ 6446520 w 7505700"/>
              <a:gd name="connsiteY65" fmla="*/ 4373880 h 4937760"/>
              <a:gd name="connsiteX66" fmla="*/ 6477000 w 7505700"/>
              <a:gd name="connsiteY66" fmla="*/ 4686300 h 4937760"/>
              <a:gd name="connsiteX67" fmla="*/ 6370320 w 7505700"/>
              <a:gd name="connsiteY67" fmla="*/ 4838700 h 4937760"/>
              <a:gd name="connsiteX68" fmla="*/ 6035040 w 7505700"/>
              <a:gd name="connsiteY68" fmla="*/ 4549140 h 4937760"/>
              <a:gd name="connsiteX69" fmla="*/ 5943600 w 7505700"/>
              <a:gd name="connsiteY69" fmla="*/ 4145280 h 4937760"/>
              <a:gd name="connsiteX70" fmla="*/ 5722620 w 7505700"/>
              <a:gd name="connsiteY70" fmla="*/ 3970020 h 4937760"/>
              <a:gd name="connsiteX71" fmla="*/ 5585460 w 7505700"/>
              <a:gd name="connsiteY71" fmla="*/ 4069080 h 4937760"/>
              <a:gd name="connsiteX72" fmla="*/ 5410200 w 7505700"/>
              <a:gd name="connsiteY72" fmla="*/ 3947160 h 4937760"/>
              <a:gd name="connsiteX73" fmla="*/ 4770120 w 7505700"/>
              <a:gd name="connsiteY73" fmla="*/ 4069080 h 4937760"/>
              <a:gd name="connsiteX74" fmla="*/ 4770120 w 7505700"/>
              <a:gd name="connsiteY74" fmla="*/ 4069080 h 4937760"/>
              <a:gd name="connsiteX75" fmla="*/ 4785360 w 7505700"/>
              <a:gd name="connsiteY75" fmla="*/ 4183380 h 4937760"/>
              <a:gd name="connsiteX76" fmla="*/ 4876800 w 7505700"/>
              <a:gd name="connsiteY76" fmla="*/ 4137660 h 4937760"/>
              <a:gd name="connsiteX77" fmla="*/ 5013960 w 7505700"/>
              <a:gd name="connsiteY77" fmla="*/ 4328160 h 4937760"/>
              <a:gd name="connsiteX78" fmla="*/ 4290060 w 7505700"/>
              <a:gd name="connsiteY78" fmla="*/ 4137660 h 4937760"/>
              <a:gd name="connsiteX79" fmla="*/ 3657600 w 7505700"/>
              <a:gd name="connsiteY79" fmla="*/ 4556760 h 4937760"/>
              <a:gd name="connsiteX80" fmla="*/ 3703320 w 7505700"/>
              <a:gd name="connsiteY80" fmla="*/ 4937760 h 4937760"/>
              <a:gd name="connsiteX81" fmla="*/ 3421380 w 7505700"/>
              <a:gd name="connsiteY81" fmla="*/ 4808220 h 4937760"/>
              <a:gd name="connsiteX82" fmla="*/ 3032760 w 7505700"/>
              <a:gd name="connsiteY82" fmla="*/ 4069080 h 4937760"/>
              <a:gd name="connsiteX83" fmla="*/ 2712720 w 7505700"/>
              <a:gd name="connsiteY83" fmla="*/ 4160520 h 4937760"/>
              <a:gd name="connsiteX84" fmla="*/ 2705100 w 7505700"/>
              <a:gd name="connsiteY84" fmla="*/ 4328160 h 4937760"/>
              <a:gd name="connsiteX85" fmla="*/ 2552700 w 7505700"/>
              <a:gd name="connsiteY85" fmla="*/ 4244340 h 4937760"/>
              <a:gd name="connsiteX86" fmla="*/ 2156460 w 7505700"/>
              <a:gd name="connsiteY86" fmla="*/ 3680460 h 4937760"/>
              <a:gd name="connsiteX87" fmla="*/ 1379220 w 7505700"/>
              <a:gd name="connsiteY87" fmla="*/ 3657600 h 4937760"/>
              <a:gd name="connsiteX88" fmla="*/ 1028700 w 7505700"/>
              <a:gd name="connsiteY88" fmla="*/ 3284220 h 4937760"/>
              <a:gd name="connsiteX89" fmla="*/ 693420 w 7505700"/>
              <a:gd name="connsiteY89" fmla="*/ 3276600 h 4937760"/>
              <a:gd name="connsiteX90" fmla="*/ 297180 w 7505700"/>
              <a:gd name="connsiteY90" fmla="*/ 2796540 h 4937760"/>
              <a:gd name="connsiteX91" fmla="*/ 0 w 7505700"/>
              <a:gd name="connsiteY91" fmla="*/ 1729740 h 4937760"/>
              <a:gd name="connsiteX92" fmla="*/ 60960 w 7505700"/>
              <a:gd name="connsiteY92" fmla="*/ 1417320 h 4937760"/>
              <a:gd name="connsiteX0" fmla="*/ 0 w 7505700"/>
              <a:gd name="connsiteY0" fmla="*/ 1729740 h 4937760"/>
              <a:gd name="connsiteX1" fmla="*/ 15240 w 7505700"/>
              <a:gd name="connsiteY1" fmla="*/ 1706880 h 4937760"/>
              <a:gd name="connsiteX2" fmla="*/ 76200 w 7505700"/>
              <a:gd name="connsiteY2" fmla="*/ 1447800 h 4937760"/>
              <a:gd name="connsiteX3" fmla="*/ 160020 w 7505700"/>
              <a:gd name="connsiteY3" fmla="*/ 1440180 h 4937760"/>
              <a:gd name="connsiteX4" fmla="*/ 434340 w 7505700"/>
              <a:gd name="connsiteY4" fmla="*/ 38100 h 4937760"/>
              <a:gd name="connsiteX5" fmla="*/ 556260 w 7505700"/>
              <a:gd name="connsiteY5" fmla="*/ 83820 h 4937760"/>
              <a:gd name="connsiteX6" fmla="*/ 647700 w 7505700"/>
              <a:gd name="connsiteY6" fmla="*/ 365760 h 4937760"/>
              <a:gd name="connsiteX7" fmla="*/ 762000 w 7505700"/>
              <a:gd name="connsiteY7" fmla="*/ 160020 h 4937760"/>
              <a:gd name="connsiteX8" fmla="*/ 678180 w 7505700"/>
              <a:gd name="connsiteY8" fmla="*/ 0 h 4937760"/>
              <a:gd name="connsiteX9" fmla="*/ 2819400 w 7505700"/>
              <a:gd name="connsiteY9" fmla="*/ 472440 h 4937760"/>
              <a:gd name="connsiteX10" fmla="*/ 3970020 w 7505700"/>
              <a:gd name="connsiteY10" fmla="*/ 525780 h 4937760"/>
              <a:gd name="connsiteX11" fmla="*/ 4069080 w 7505700"/>
              <a:gd name="connsiteY11" fmla="*/ 434340 h 4937760"/>
              <a:gd name="connsiteX12" fmla="*/ 4122420 w 7505700"/>
              <a:gd name="connsiteY12" fmla="*/ 518160 h 4937760"/>
              <a:gd name="connsiteX13" fmla="*/ 4701540 w 7505700"/>
              <a:gd name="connsiteY13" fmla="*/ 624840 h 4937760"/>
              <a:gd name="connsiteX14" fmla="*/ 4411980 w 7505700"/>
              <a:gd name="connsiteY14" fmla="*/ 800100 h 4937760"/>
              <a:gd name="connsiteX15" fmla="*/ 4343400 w 7505700"/>
              <a:gd name="connsiteY15" fmla="*/ 929640 h 4937760"/>
              <a:gd name="connsiteX16" fmla="*/ 4564380 w 7505700"/>
              <a:gd name="connsiteY16" fmla="*/ 937260 h 4937760"/>
              <a:gd name="connsiteX17" fmla="*/ 4945380 w 7505700"/>
              <a:gd name="connsiteY17" fmla="*/ 723900 h 4937760"/>
              <a:gd name="connsiteX18" fmla="*/ 5158740 w 7505700"/>
              <a:gd name="connsiteY18" fmla="*/ 853440 h 4937760"/>
              <a:gd name="connsiteX19" fmla="*/ 5334000 w 7505700"/>
              <a:gd name="connsiteY19" fmla="*/ 830580 h 4937760"/>
              <a:gd name="connsiteX20" fmla="*/ 5410200 w 7505700"/>
              <a:gd name="connsiteY20" fmla="*/ 891540 h 4937760"/>
              <a:gd name="connsiteX21" fmla="*/ 5280660 w 7505700"/>
              <a:gd name="connsiteY21" fmla="*/ 944880 h 4937760"/>
              <a:gd name="connsiteX22" fmla="*/ 5120640 w 7505700"/>
              <a:gd name="connsiteY22" fmla="*/ 944880 h 4937760"/>
              <a:gd name="connsiteX23" fmla="*/ 4861560 w 7505700"/>
              <a:gd name="connsiteY23" fmla="*/ 1219200 h 4937760"/>
              <a:gd name="connsiteX24" fmla="*/ 4914900 w 7505700"/>
              <a:gd name="connsiteY24" fmla="*/ 1264920 h 4937760"/>
              <a:gd name="connsiteX25" fmla="*/ 5059680 w 7505700"/>
              <a:gd name="connsiteY25" fmla="*/ 1143000 h 4937760"/>
              <a:gd name="connsiteX26" fmla="*/ 4922520 w 7505700"/>
              <a:gd name="connsiteY26" fmla="*/ 1432560 h 4937760"/>
              <a:gd name="connsiteX27" fmla="*/ 4998720 w 7505700"/>
              <a:gd name="connsiteY27" fmla="*/ 1767840 h 4937760"/>
              <a:gd name="connsiteX28" fmla="*/ 5074920 w 7505700"/>
              <a:gd name="connsiteY28" fmla="*/ 1836420 h 4937760"/>
              <a:gd name="connsiteX29" fmla="*/ 5158740 w 7505700"/>
              <a:gd name="connsiteY29" fmla="*/ 1767840 h 4937760"/>
              <a:gd name="connsiteX30" fmla="*/ 5212080 w 7505700"/>
              <a:gd name="connsiteY30" fmla="*/ 1470660 h 4937760"/>
              <a:gd name="connsiteX31" fmla="*/ 5143500 w 7505700"/>
              <a:gd name="connsiteY31" fmla="*/ 1150620 h 4937760"/>
              <a:gd name="connsiteX32" fmla="*/ 5242560 w 7505700"/>
              <a:gd name="connsiteY32" fmla="*/ 1097280 h 4937760"/>
              <a:gd name="connsiteX33" fmla="*/ 5349240 w 7505700"/>
              <a:gd name="connsiteY33" fmla="*/ 998220 h 4937760"/>
              <a:gd name="connsiteX34" fmla="*/ 5501640 w 7505700"/>
              <a:gd name="connsiteY34" fmla="*/ 1150620 h 4937760"/>
              <a:gd name="connsiteX35" fmla="*/ 5417820 w 7505700"/>
              <a:gd name="connsiteY35" fmla="*/ 1363980 h 4937760"/>
              <a:gd name="connsiteX36" fmla="*/ 5463540 w 7505700"/>
              <a:gd name="connsiteY36" fmla="*/ 1409700 h 4937760"/>
              <a:gd name="connsiteX37" fmla="*/ 5554980 w 7505700"/>
              <a:gd name="connsiteY37" fmla="*/ 1318260 h 4937760"/>
              <a:gd name="connsiteX38" fmla="*/ 5661660 w 7505700"/>
              <a:gd name="connsiteY38" fmla="*/ 1440180 h 4937760"/>
              <a:gd name="connsiteX39" fmla="*/ 5524500 w 7505700"/>
              <a:gd name="connsiteY39" fmla="*/ 1767840 h 4937760"/>
              <a:gd name="connsiteX40" fmla="*/ 5715000 w 7505700"/>
              <a:gd name="connsiteY40" fmla="*/ 1783080 h 4937760"/>
              <a:gd name="connsiteX41" fmla="*/ 6149340 w 7505700"/>
              <a:gd name="connsiteY41" fmla="*/ 1470660 h 4937760"/>
              <a:gd name="connsiteX42" fmla="*/ 6088380 w 7505700"/>
              <a:gd name="connsiteY42" fmla="*/ 1348740 h 4937760"/>
              <a:gd name="connsiteX43" fmla="*/ 6385560 w 7505700"/>
              <a:gd name="connsiteY43" fmla="*/ 1280160 h 4937760"/>
              <a:gd name="connsiteX44" fmla="*/ 6492240 w 7505700"/>
              <a:gd name="connsiteY44" fmla="*/ 899160 h 4937760"/>
              <a:gd name="connsiteX45" fmla="*/ 6911340 w 7505700"/>
              <a:gd name="connsiteY45" fmla="*/ 868680 h 4937760"/>
              <a:gd name="connsiteX46" fmla="*/ 7033260 w 7505700"/>
              <a:gd name="connsiteY46" fmla="*/ 647700 h 4937760"/>
              <a:gd name="connsiteX47" fmla="*/ 7139940 w 7505700"/>
              <a:gd name="connsiteY47" fmla="*/ 228600 h 4937760"/>
              <a:gd name="connsiteX48" fmla="*/ 7246620 w 7505700"/>
              <a:gd name="connsiteY48" fmla="*/ 228600 h 4937760"/>
              <a:gd name="connsiteX49" fmla="*/ 7505700 w 7505700"/>
              <a:gd name="connsiteY49" fmla="*/ 708660 h 4937760"/>
              <a:gd name="connsiteX50" fmla="*/ 7132320 w 7505700"/>
              <a:gd name="connsiteY50" fmla="*/ 1028700 h 4937760"/>
              <a:gd name="connsiteX51" fmla="*/ 7101840 w 7505700"/>
              <a:gd name="connsiteY51" fmla="*/ 1310640 h 4937760"/>
              <a:gd name="connsiteX52" fmla="*/ 7200900 w 7505700"/>
              <a:gd name="connsiteY52" fmla="*/ 1386840 h 4937760"/>
              <a:gd name="connsiteX53" fmla="*/ 7322820 w 7505700"/>
              <a:gd name="connsiteY53" fmla="*/ 1264920 h 4937760"/>
              <a:gd name="connsiteX54" fmla="*/ 7338060 w 7505700"/>
              <a:gd name="connsiteY54" fmla="*/ 1363980 h 4937760"/>
              <a:gd name="connsiteX55" fmla="*/ 7246620 w 7505700"/>
              <a:gd name="connsiteY55" fmla="*/ 1440180 h 4937760"/>
              <a:gd name="connsiteX56" fmla="*/ 6758940 w 7505700"/>
              <a:gd name="connsiteY56" fmla="*/ 1638300 h 4937760"/>
              <a:gd name="connsiteX57" fmla="*/ 6804660 w 7505700"/>
              <a:gd name="connsiteY57" fmla="*/ 1729740 h 4937760"/>
              <a:gd name="connsiteX58" fmla="*/ 7025640 w 7505700"/>
              <a:gd name="connsiteY58" fmla="*/ 1600200 h 4937760"/>
              <a:gd name="connsiteX59" fmla="*/ 6850380 w 7505700"/>
              <a:gd name="connsiteY59" fmla="*/ 1828800 h 4937760"/>
              <a:gd name="connsiteX60" fmla="*/ 6880860 w 7505700"/>
              <a:gd name="connsiteY60" fmla="*/ 1927860 h 4937760"/>
              <a:gd name="connsiteX61" fmla="*/ 6705600 w 7505700"/>
              <a:gd name="connsiteY61" fmla="*/ 2217420 h 4937760"/>
              <a:gd name="connsiteX62" fmla="*/ 6812280 w 7505700"/>
              <a:gd name="connsiteY62" fmla="*/ 2842260 h 4937760"/>
              <a:gd name="connsiteX63" fmla="*/ 6195060 w 7505700"/>
              <a:gd name="connsiteY63" fmla="*/ 3451860 h 4937760"/>
              <a:gd name="connsiteX64" fmla="*/ 6126480 w 7505700"/>
              <a:gd name="connsiteY64" fmla="*/ 3878580 h 4937760"/>
              <a:gd name="connsiteX65" fmla="*/ 6446520 w 7505700"/>
              <a:gd name="connsiteY65" fmla="*/ 4373880 h 4937760"/>
              <a:gd name="connsiteX66" fmla="*/ 6477000 w 7505700"/>
              <a:gd name="connsiteY66" fmla="*/ 4686300 h 4937760"/>
              <a:gd name="connsiteX67" fmla="*/ 6370320 w 7505700"/>
              <a:gd name="connsiteY67" fmla="*/ 4838700 h 4937760"/>
              <a:gd name="connsiteX68" fmla="*/ 6035040 w 7505700"/>
              <a:gd name="connsiteY68" fmla="*/ 4549140 h 4937760"/>
              <a:gd name="connsiteX69" fmla="*/ 5943600 w 7505700"/>
              <a:gd name="connsiteY69" fmla="*/ 4145280 h 4937760"/>
              <a:gd name="connsiteX70" fmla="*/ 5722620 w 7505700"/>
              <a:gd name="connsiteY70" fmla="*/ 3970020 h 4937760"/>
              <a:gd name="connsiteX71" fmla="*/ 5585460 w 7505700"/>
              <a:gd name="connsiteY71" fmla="*/ 4069080 h 4937760"/>
              <a:gd name="connsiteX72" fmla="*/ 5410200 w 7505700"/>
              <a:gd name="connsiteY72" fmla="*/ 3947160 h 4937760"/>
              <a:gd name="connsiteX73" fmla="*/ 4770120 w 7505700"/>
              <a:gd name="connsiteY73" fmla="*/ 4069080 h 4937760"/>
              <a:gd name="connsiteX74" fmla="*/ 4770120 w 7505700"/>
              <a:gd name="connsiteY74" fmla="*/ 4069080 h 4937760"/>
              <a:gd name="connsiteX75" fmla="*/ 4785360 w 7505700"/>
              <a:gd name="connsiteY75" fmla="*/ 4183380 h 4937760"/>
              <a:gd name="connsiteX76" fmla="*/ 4876800 w 7505700"/>
              <a:gd name="connsiteY76" fmla="*/ 4137660 h 4937760"/>
              <a:gd name="connsiteX77" fmla="*/ 5013960 w 7505700"/>
              <a:gd name="connsiteY77" fmla="*/ 4328160 h 4937760"/>
              <a:gd name="connsiteX78" fmla="*/ 4290060 w 7505700"/>
              <a:gd name="connsiteY78" fmla="*/ 4137660 h 4937760"/>
              <a:gd name="connsiteX79" fmla="*/ 3657600 w 7505700"/>
              <a:gd name="connsiteY79" fmla="*/ 4556760 h 4937760"/>
              <a:gd name="connsiteX80" fmla="*/ 3703320 w 7505700"/>
              <a:gd name="connsiteY80" fmla="*/ 4937760 h 4937760"/>
              <a:gd name="connsiteX81" fmla="*/ 3421380 w 7505700"/>
              <a:gd name="connsiteY81" fmla="*/ 4808220 h 4937760"/>
              <a:gd name="connsiteX82" fmla="*/ 3032760 w 7505700"/>
              <a:gd name="connsiteY82" fmla="*/ 4069080 h 4937760"/>
              <a:gd name="connsiteX83" fmla="*/ 2712720 w 7505700"/>
              <a:gd name="connsiteY83" fmla="*/ 4160520 h 4937760"/>
              <a:gd name="connsiteX84" fmla="*/ 2705100 w 7505700"/>
              <a:gd name="connsiteY84" fmla="*/ 4328160 h 4937760"/>
              <a:gd name="connsiteX85" fmla="*/ 2552700 w 7505700"/>
              <a:gd name="connsiteY85" fmla="*/ 4244340 h 4937760"/>
              <a:gd name="connsiteX86" fmla="*/ 2156460 w 7505700"/>
              <a:gd name="connsiteY86" fmla="*/ 3680460 h 4937760"/>
              <a:gd name="connsiteX87" fmla="*/ 1379220 w 7505700"/>
              <a:gd name="connsiteY87" fmla="*/ 3657600 h 4937760"/>
              <a:gd name="connsiteX88" fmla="*/ 1028700 w 7505700"/>
              <a:gd name="connsiteY88" fmla="*/ 3284220 h 4937760"/>
              <a:gd name="connsiteX89" fmla="*/ 693420 w 7505700"/>
              <a:gd name="connsiteY89" fmla="*/ 3276600 h 4937760"/>
              <a:gd name="connsiteX90" fmla="*/ 297180 w 7505700"/>
              <a:gd name="connsiteY90" fmla="*/ 2796540 h 4937760"/>
              <a:gd name="connsiteX91" fmla="*/ 0 w 7505700"/>
              <a:gd name="connsiteY91" fmla="*/ 1729740 h 493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7505700" h="4937760">
                <a:moveTo>
                  <a:pt x="0" y="1729740"/>
                </a:moveTo>
                <a:lnTo>
                  <a:pt x="15240" y="1706880"/>
                </a:lnTo>
                <a:lnTo>
                  <a:pt x="76200" y="1447800"/>
                </a:lnTo>
                <a:lnTo>
                  <a:pt x="160020" y="1440180"/>
                </a:lnTo>
                <a:lnTo>
                  <a:pt x="434340" y="38100"/>
                </a:lnTo>
                <a:lnTo>
                  <a:pt x="556260" y="83820"/>
                </a:lnTo>
                <a:lnTo>
                  <a:pt x="647700" y="365760"/>
                </a:lnTo>
                <a:lnTo>
                  <a:pt x="762000" y="160020"/>
                </a:lnTo>
                <a:lnTo>
                  <a:pt x="678180" y="0"/>
                </a:lnTo>
                <a:lnTo>
                  <a:pt x="2819400" y="472440"/>
                </a:lnTo>
                <a:lnTo>
                  <a:pt x="3970020" y="525780"/>
                </a:lnTo>
                <a:lnTo>
                  <a:pt x="4069080" y="434340"/>
                </a:lnTo>
                <a:lnTo>
                  <a:pt x="4122420" y="518160"/>
                </a:lnTo>
                <a:lnTo>
                  <a:pt x="4701540" y="624840"/>
                </a:lnTo>
                <a:lnTo>
                  <a:pt x="4411980" y="800100"/>
                </a:lnTo>
                <a:lnTo>
                  <a:pt x="4343400" y="929640"/>
                </a:lnTo>
                <a:lnTo>
                  <a:pt x="4564380" y="937260"/>
                </a:lnTo>
                <a:lnTo>
                  <a:pt x="4945380" y="723900"/>
                </a:lnTo>
                <a:lnTo>
                  <a:pt x="5158740" y="853440"/>
                </a:lnTo>
                <a:lnTo>
                  <a:pt x="5334000" y="830580"/>
                </a:lnTo>
                <a:lnTo>
                  <a:pt x="5410200" y="891540"/>
                </a:lnTo>
                <a:lnTo>
                  <a:pt x="5280660" y="944880"/>
                </a:lnTo>
                <a:lnTo>
                  <a:pt x="5120640" y="944880"/>
                </a:lnTo>
                <a:lnTo>
                  <a:pt x="4861560" y="1219200"/>
                </a:lnTo>
                <a:lnTo>
                  <a:pt x="4914900" y="1264920"/>
                </a:lnTo>
                <a:lnTo>
                  <a:pt x="5059680" y="1143000"/>
                </a:lnTo>
                <a:lnTo>
                  <a:pt x="4922520" y="1432560"/>
                </a:lnTo>
                <a:lnTo>
                  <a:pt x="4998720" y="1767840"/>
                </a:lnTo>
                <a:lnTo>
                  <a:pt x="5074920" y="1836420"/>
                </a:lnTo>
                <a:lnTo>
                  <a:pt x="5158740" y="1767840"/>
                </a:lnTo>
                <a:lnTo>
                  <a:pt x="5212080" y="1470660"/>
                </a:lnTo>
                <a:lnTo>
                  <a:pt x="5143500" y="1150620"/>
                </a:lnTo>
                <a:lnTo>
                  <a:pt x="5242560" y="1097280"/>
                </a:lnTo>
                <a:lnTo>
                  <a:pt x="5349240" y="998220"/>
                </a:lnTo>
                <a:lnTo>
                  <a:pt x="5501640" y="1150620"/>
                </a:lnTo>
                <a:lnTo>
                  <a:pt x="5417820" y="1363980"/>
                </a:lnTo>
                <a:lnTo>
                  <a:pt x="5463540" y="1409700"/>
                </a:lnTo>
                <a:lnTo>
                  <a:pt x="5554980" y="1318260"/>
                </a:lnTo>
                <a:lnTo>
                  <a:pt x="5661660" y="1440180"/>
                </a:lnTo>
                <a:lnTo>
                  <a:pt x="5524500" y="1767840"/>
                </a:lnTo>
                <a:lnTo>
                  <a:pt x="5715000" y="1783080"/>
                </a:lnTo>
                <a:lnTo>
                  <a:pt x="6149340" y="1470660"/>
                </a:lnTo>
                <a:lnTo>
                  <a:pt x="6088380" y="1348740"/>
                </a:lnTo>
                <a:lnTo>
                  <a:pt x="6385560" y="1280160"/>
                </a:lnTo>
                <a:lnTo>
                  <a:pt x="6492240" y="899160"/>
                </a:lnTo>
                <a:lnTo>
                  <a:pt x="6911340" y="868680"/>
                </a:lnTo>
                <a:lnTo>
                  <a:pt x="7033260" y="647700"/>
                </a:lnTo>
                <a:lnTo>
                  <a:pt x="7139940" y="228600"/>
                </a:lnTo>
                <a:lnTo>
                  <a:pt x="7246620" y="228600"/>
                </a:lnTo>
                <a:lnTo>
                  <a:pt x="7505700" y="708660"/>
                </a:lnTo>
                <a:lnTo>
                  <a:pt x="7132320" y="1028700"/>
                </a:lnTo>
                <a:lnTo>
                  <a:pt x="7101840" y="1310640"/>
                </a:lnTo>
                <a:lnTo>
                  <a:pt x="7200900" y="1386840"/>
                </a:lnTo>
                <a:lnTo>
                  <a:pt x="7322820" y="1264920"/>
                </a:lnTo>
                <a:lnTo>
                  <a:pt x="7338060" y="1363980"/>
                </a:lnTo>
                <a:lnTo>
                  <a:pt x="7246620" y="1440180"/>
                </a:lnTo>
                <a:lnTo>
                  <a:pt x="6758940" y="1638300"/>
                </a:lnTo>
                <a:lnTo>
                  <a:pt x="6804660" y="1729740"/>
                </a:lnTo>
                <a:lnTo>
                  <a:pt x="7025640" y="1600200"/>
                </a:lnTo>
                <a:lnTo>
                  <a:pt x="6850380" y="1828800"/>
                </a:lnTo>
                <a:lnTo>
                  <a:pt x="6880860" y="1927860"/>
                </a:lnTo>
                <a:lnTo>
                  <a:pt x="6705600" y="2217420"/>
                </a:lnTo>
                <a:lnTo>
                  <a:pt x="6812280" y="2842260"/>
                </a:lnTo>
                <a:lnTo>
                  <a:pt x="6195060" y="3451860"/>
                </a:lnTo>
                <a:lnTo>
                  <a:pt x="6126480" y="3878580"/>
                </a:lnTo>
                <a:lnTo>
                  <a:pt x="6446520" y="4373880"/>
                </a:lnTo>
                <a:lnTo>
                  <a:pt x="6477000" y="4686300"/>
                </a:lnTo>
                <a:lnTo>
                  <a:pt x="6370320" y="4838700"/>
                </a:lnTo>
                <a:lnTo>
                  <a:pt x="6035040" y="4549140"/>
                </a:lnTo>
                <a:lnTo>
                  <a:pt x="5943600" y="4145280"/>
                </a:lnTo>
                <a:lnTo>
                  <a:pt x="5722620" y="3970020"/>
                </a:lnTo>
                <a:lnTo>
                  <a:pt x="5585460" y="4069080"/>
                </a:lnTo>
                <a:lnTo>
                  <a:pt x="5410200" y="3947160"/>
                </a:lnTo>
                <a:lnTo>
                  <a:pt x="4770120" y="4069080"/>
                </a:lnTo>
                <a:lnTo>
                  <a:pt x="4770120" y="4069080"/>
                </a:lnTo>
                <a:lnTo>
                  <a:pt x="4785360" y="4183380"/>
                </a:lnTo>
                <a:lnTo>
                  <a:pt x="4876800" y="4137660"/>
                </a:lnTo>
                <a:lnTo>
                  <a:pt x="5013960" y="4328160"/>
                </a:lnTo>
                <a:lnTo>
                  <a:pt x="4290060" y="4137660"/>
                </a:lnTo>
                <a:lnTo>
                  <a:pt x="3657600" y="4556760"/>
                </a:lnTo>
                <a:lnTo>
                  <a:pt x="3703320" y="4937760"/>
                </a:lnTo>
                <a:lnTo>
                  <a:pt x="3421380" y="4808220"/>
                </a:lnTo>
                <a:lnTo>
                  <a:pt x="3032760" y="4069080"/>
                </a:lnTo>
                <a:lnTo>
                  <a:pt x="2712720" y="4160520"/>
                </a:lnTo>
                <a:lnTo>
                  <a:pt x="2705100" y="4328160"/>
                </a:lnTo>
                <a:lnTo>
                  <a:pt x="2552700" y="4244340"/>
                </a:lnTo>
                <a:lnTo>
                  <a:pt x="2156460" y="3680460"/>
                </a:lnTo>
                <a:lnTo>
                  <a:pt x="1379220" y="3657600"/>
                </a:lnTo>
                <a:lnTo>
                  <a:pt x="1028700" y="3284220"/>
                </a:lnTo>
                <a:lnTo>
                  <a:pt x="693420" y="3276600"/>
                </a:lnTo>
                <a:lnTo>
                  <a:pt x="297180" y="2796540"/>
                </a:lnTo>
                <a:lnTo>
                  <a:pt x="0" y="1729740"/>
                </a:ln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마켓 산스 TTF Medium" panose="02000000000000000000" pitchFamily="2" charset="-127"/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1184270-8319-4D4B-AE27-E91BC5C18586}"/>
              </a:ext>
            </a:extLst>
          </p:cNvPr>
          <p:cNvSpPr/>
          <p:nvPr/>
        </p:nvSpPr>
        <p:spPr>
          <a:xfrm>
            <a:off x="4922398" y="2941956"/>
            <a:ext cx="3189286" cy="2098130"/>
          </a:xfrm>
          <a:custGeom>
            <a:avLst/>
            <a:gdLst>
              <a:gd name="connsiteX0" fmla="*/ 45720 w 7505700"/>
              <a:gd name="connsiteY0" fmla="*/ 1874520 h 4937760"/>
              <a:gd name="connsiteX1" fmla="*/ 15240 w 7505700"/>
              <a:gd name="connsiteY1" fmla="*/ 1706880 h 4937760"/>
              <a:gd name="connsiteX2" fmla="*/ 76200 w 7505700"/>
              <a:gd name="connsiteY2" fmla="*/ 1447800 h 4937760"/>
              <a:gd name="connsiteX3" fmla="*/ 160020 w 7505700"/>
              <a:gd name="connsiteY3" fmla="*/ 1440180 h 4937760"/>
              <a:gd name="connsiteX4" fmla="*/ 434340 w 7505700"/>
              <a:gd name="connsiteY4" fmla="*/ 38100 h 4937760"/>
              <a:gd name="connsiteX5" fmla="*/ 556260 w 7505700"/>
              <a:gd name="connsiteY5" fmla="*/ 83820 h 4937760"/>
              <a:gd name="connsiteX6" fmla="*/ 647700 w 7505700"/>
              <a:gd name="connsiteY6" fmla="*/ 365760 h 4937760"/>
              <a:gd name="connsiteX7" fmla="*/ 762000 w 7505700"/>
              <a:gd name="connsiteY7" fmla="*/ 160020 h 4937760"/>
              <a:gd name="connsiteX8" fmla="*/ 678180 w 7505700"/>
              <a:gd name="connsiteY8" fmla="*/ 0 h 4937760"/>
              <a:gd name="connsiteX9" fmla="*/ 2819400 w 7505700"/>
              <a:gd name="connsiteY9" fmla="*/ 472440 h 4937760"/>
              <a:gd name="connsiteX10" fmla="*/ 3970020 w 7505700"/>
              <a:gd name="connsiteY10" fmla="*/ 525780 h 4937760"/>
              <a:gd name="connsiteX11" fmla="*/ 4069080 w 7505700"/>
              <a:gd name="connsiteY11" fmla="*/ 434340 h 4937760"/>
              <a:gd name="connsiteX12" fmla="*/ 4122420 w 7505700"/>
              <a:gd name="connsiteY12" fmla="*/ 518160 h 4937760"/>
              <a:gd name="connsiteX13" fmla="*/ 4701540 w 7505700"/>
              <a:gd name="connsiteY13" fmla="*/ 624840 h 4937760"/>
              <a:gd name="connsiteX14" fmla="*/ 4411980 w 7505700"/>
              <a:gd name="connsiteY14" fmla="*/ 800100 h 4937760"/>
              <a:gd name="connsiteX15" fmla="*/ 4343400 w 7505700"/>
              <a:gd name="connsiteY15" fmla="*/ 929640 h 4937760"/>
              <a:gd name="connsiteX16" fmla="*/ 4564380 w 7505700"/>
              <a:gd name="connsiteY16" fmla="*/ 937260 h 4937760"/>
              <a:gd name="connsiteX17" fmla="*/ 4945380 w 7505700"/>
              <a:gd name="connsiteY17" fmla="*/ 723900 h 4937760"/>
              <a:gd name="connsiteX18" fmla="*/ 5158740 w 7505700"/>
              <a:gd name="connsiteY18" fmla="*/ 853440 h 4937760"/>
              <a:gd name="connsiteX19" fmla="*/ 5334000 w 7505700"/>
              <a:gd name="connsiteY19" fmla="*/ 830580 h 4937760"/>
              <a:gd name="connsiteX20" fmla="*/ 5410200 w 7505700"/>
              <a:gd name="connsiteY20" fmla="*/ 891540 h 4937760"/>
              <a:gd name="connsiteX21" fmla="*/ 5280660 w 7505700"/>
              <a:gd name="connsiteY21" fmla="*/ 944880 h 4937760"/>
              <a:gd name="connsiteX22" fmla="*/ 5120640 w 7505700"/>
              <a:gd name="connsiteY22" fmla="*/ 944880 h 4937760"/>
              <a:gd name="connsiteX23" fmla="*/ 4861560 w 7505700"/>
              <a:gd name="connsiteY23" fmla="*/ 1219200 h 4937760"/>
              <a:gd name="connsiteX24" fmla="*/ 4914900 w 7505700"/>
              <a:gd name="connsiteY24" fmla="*/ 1264920 h 4937760"/>
              <a:gd name="connsiteX25" fmla="*/ 5059680 w 7505700"/>
              <a:gd name="connsiteY25" fmla="*/ 1143000 h 4937760"/>
              <a:gd name="connsiteX26" fmla="*/ 4922520 w 7505700"/>
              <a:gd name="connsiteY26" fmla="*/ 1432560 h 4937760"/>
              <a:gd name="connsiteX27" fmla="*/ 4998720 w 7505700"/>
              <a:gd name="connsiteY27" fmla="*/ 1767840 h 4937760"/>
              <a:gd name="connsiteX28" fmla="*/ 5074920 w 7505700"/>
              <a:gd name="connsiteY28" fmla="*/ 1836420 h 4937760"/>
              <a:gd name="connsiteX29" fmla="*/ 5158740 w 7505700"/>
              <a:gd name="connsiteY29" fmla="*/ 1767840 h 4937760"/>
              <a:gd name="connsiteX30" fmla="*/ 5212080 w 7505700"/>
              <a:gd name="connsiteY30" fmla="*/ 1470660 h 4937760"/>
              <a:gd name="connsiteX31" fmla="*/ 5143500 w 7505700"/>
              <a:gd name="connsiteY31" fmla="*/ 1150620 h 4937760"/>
              <a:gd name="connsiteX32" fmla="*/ 5242560 w 7505700"/>
              <a:gd name="connsiteY32" fmla="*/ 1097280 h 4937760"/>
              <a:gd name="connsiteX33" fmla="*/ 5349240 w 7505700"/>
              <a:gd name="connsiteY33" fmla="*/ 998220 h 4937760"/>
              <a:gd name="connsiteX34" fmla="*/ 5501640 w 7505700"/>
              <a:gd name="connsiteY34" fmla="*/ 1150620 h 4937760"/>
              <a:gd name="connsiteX35" fmla="*/ 5417820 w 7505700"/>
              <a:gd name="connsiteY35" fmla="*/ 1363980 h 4937760"/>
              <a:gd name="connsiteX36" fmla="*/ 5463540 w 7505700"/>
              <a:gd name="connsiteY36" fmla="*/ 1409700 h 4937760"/>
              <a:gd name="connsiteX37" fmla="*/ 5554980 w 7505700"/>
              <a:gd name="connsiteY37" fmla="*/ 1318260 h 4937760"/>
              <a:gd name="connsiteX38" fmla="*/ 5661660 w 7505700"/>
              <a:gd name="connsiteY38" fmla="*/ 1440180 h 4937760"/>
              <a:gd name="connsiteX39" fmla="*/ 5524500 w 7505700"/>
              <a:gd name="connsiteY39" fmla="*/ 1767840 h 4937760"/>
              <a:gd name="connsiteX40" fmla="*/ 5715000 w 7505700"/>
              <a:gd name="connsiteY40" fmla="*/ 1783080 h 4937760"/>
              <a:gd name="connsiteX41" fmla="*/ 6149340 w 7505700"/>
              <a:gd name="connsiteY41" fmla="*/ 1470660 h 4937760"/>
              <a:gd name="connsiteX42" fmla="*/ 6088380 w 7505700"/>
              <a:gd name="connsiteY42" fmla="*/ 1348740 h 4937760"/>
              <a:gd name="connsiteX43" fmla="*/ 6385560 w 7505700"/>
              <a:gd name="connsiteY43" fmla="*/ 1280160 h 4937760"/>
              <a:gd name="connsiteX44" fmla="*/ 6492240 w 7505700"/>
              <a:gd name="connsiteY44" fmla="*/ 899160 h 4937760"/>
              <a:gd name="connsiteX45" fmla="*/ 6911340 w 7505700"/>
              <a:gd name="connsiteY45" fmla="*/ 868680 h 4937760"/>
              <a:gd name="connsiteX46" fmla="*/ 7033260 w 7505700"/>
              <a:gd name="connsiteY46" fmla="*/ 647700 h 4937760"/>
              <a:gd name="connsiteX47" fmla="*/ 7139940 w 7505700"/>
              <a:gd name="connsiteY47" fmla="*/ 228600 h 4937760"/>
              <a:gd name="connsiteX48" fmla="*/ 7246620 w 7505700"/>
              <a:gd name="connsiteY48" fmla="*/ 228600 h 4937760"/>
              <a:gd name="connsiteX49" fmla="*/ 7505700 w 7505700"/>
              <a:gd name="connsiteY49" fmla="*/ 708660 h 4937760"/>
              <a:gd name="connsiteX50" fmla="*/ 7132320 w 7505700"/>
              <a:gd name="connsiteY50" fmla="*/ 1028700 h 4937760"/>
              <a:gd name="connsiteX51" fmla="*/ 7101840 w 7505700"/>
              <a:gd name="connsiteY51" fmla="*/ 1310640 h 4937760"/>
              <a:gd name="connsiteX52" fmla="*/ 7200900 w 7505700"/>
              <a:gd name="connsiteY52" fmla="*/ 1386840 h 4937760"/>
              <a:gd name="connsiteX53" fmla="*/ 7322820 w 7505700"/>
              <a:gd name="connsiteY53" fmla="*/ 1264920 h 4937760"/>
              <a:gd name="connsiteX54" fmla="*/ 7338060 w 7505700"/>
              <a:gd name="connsiteY54" fmla="*/ 1363980 h 4937760"/>
              <a:gd name="connsiteX55" fmla="*/ 7246620 w 7505700"/>
              <a:gd name="connsiteY55" fmla="*/ 1440180 h 4937760"/>
              <a:gd name="connsiteX56" fmla="*/ 6758940 w 7505700"/>
              <a:gd name="connsiteY56" fmla="*/ 1638300 h 4937760"/>
              <a:gd name="connsiteX57" fmla="*/ 6804660 w 7505700"/>
              <a:gd name="connsiteY57" fmla="*/ 1729740 h 4937760"/>
              <a:gd name="connsiteX58" fmla="*/ 7025640 w 7505700"/>
              <a:gd name="connsiteY58" fmla="*/ 1600200 h 4937760"/>
              <a:gd name="connsiteX59" fmla="*/ 6850380 w 7505700"/>
              <a:gd name="connsiteY59" fmla="*/ 1828800 h 4937760"/>
              <a:gd name="connsiteX60" fmla="*/ 6880860 w 7505700"/>
              <a:gd name="connsiteY60" fmla="*/ 1927860 h 4937760"/>
              <a:gd name="connsiteX61" fmla="*/ 6705600 w 7505700"/>
              <a:gd name="connsiteY61" fmla="*/ 2217420 h 4937760"/>
              <a:gd name="connsiteX62" fmla="*/ 6812280 w 7505700"/>
              <a:gd name="connsiteY62" fmla="*/ 2842260 h 4937760"/>
              <a:gd name="connsiteX63" fmla="*/ 6195060 w 7505700"/>
              <a:gd name="connsiteY63" fmla="*/ 3451860 h 4937760"/>
              <a:gd name="connsiteX64" fmla="*/ 6126480 w 7505700"/>
              <a:gd name="connsiteY64" fmla="*/ 3878580 h 4937760"/>
              <a:gd name="connsiteX65" fmla="*/ 6446520 w 7505700"/>
              <a:gd name="connsiteY65" fmla="*/ 4373880 h 4937760"/>
              <a:gd name="connsiteX66" fmla="*/ 6477000 w 7505700"/>
              <a:gd name="connsiteY66" fmla="*/ 4686300 h 4937760"/>
              <a:gd name="connsiteX67" fmla="*/ 6370320 w 7505700"/>
              <a:gd name="connsiteY67" fmla="*/ 4838700 h 4937760"/>
              <a:gd name="connsiteX68" fmla="*/ 6035040 w 7505700"/>
              <a:gd name="connsiteY68" fmla="*/ 4549140 h 4937760"/>
              <a:gd name="connsiteX69" fmla="*/ 5943600 w 7505700"/>
              <a:gd name="connsiteY69" fmla="*/ 4145280 h 4937760"/>
              <a:gd name="connsiteX70" fmla="*/ 5722620 w 7505700"/>
              <a:gd name="connsiteY70" fmla="*/ 3970020 h 4937760"/>
              <a:gd name="connsiteX71" fmla="*/ 5585460 w 7505700"/>
              <a:gd name="connsiteY71" fmla="*/ 4069080 h 4937760"/>
              <a:gd name="connsiteX72" fmla="*/ 5410200 w 7505700"/>
              <a:gd name="connsiteY72" fmla="*/ 3947160 h 4937760"/>
              <a:gd name="connsiteX73" fmla="*/ 4770120 w 7505700"/>
              <a:gd name="connsiteY73" fmla="*/ 4069080 h 4937760"/>
              <a:gd name="connsiteX74" fmla="*/ 4770120 w 7505700"/>
              <a:gd name="connsiteY74" fmla="*/ 4069080 h 4937760"/>
              <a:gd name="connsiteX75" fmla="*/ 4785360 w 7505700"/>
              <a:gd name="connsiteY75" fmla="*/ 4183380 h 4937760"/>
              <a:gd name="connsiteX76" fmla="*/ 4876800 w 7505700"/>
              <a:gd name="connsiteY76" fmla="*/ 4137660 h 4937760"/>
              <a:gd name="connsiteX77" fmla="*/ 5013960 w 7505700"/>
              <a:gd name="connsiteY77" fmla="*/ 4328160 h 4937760"/>
              <a:gd name="connsiteX78" fmla="*/ 4290060 w 7505700"/>
              <a:gd name="connsiteY78" fmla="*/ 4137660 h 4937760"/>
              <a:gd name="connsiteX79" fmla="*/ 3657600 w 7505700"/>
              <a:gd name="connsiteY79" fmla="*/ 4556760 h 4937760"/>
              <a:gd name="connsiteX80" fmla="*/ 3703320 w 7505700"/>
              <a:gd name="connsiteY80" fmla="*/ 4937760 h 4937760"/>
              <a:gd name="connsiteX81" fmla="*/ 3421380 w 7505700"/>
              <a:gd name="connsiteY81" fmla="*/ 4808220 h 4937760"/>
              <a:gd name="connsiteX82" fmla="*/ 3032760 w 7505700"/>
              <a:gd name="connsiteY82" fmla="*/ 4069080 h 4937760"/>
              <a:gd name="connsiteX83" fmla="*/ 2712720 w 7505700"/>
              <a:gd name="connsiteY83" fmla="*/ 4160520 h 4937760"/>
              <a:gd name="connsiteX84" fmla="*/ 2705100 w 7505700"/>
              <a:gd name="connsiteY84" fmla="*/ 4328160 h 4937760"/>
              <a:gd name="connsiteX85" fmla="*/ 2552700 w 7505700"/>
              <a:gd name="connsiteY85" fmla="*/ 4244340 h 4937760"/>
              <a:gd name="connsiteX86" fmla="*/ 2156460 w 7505700"/>
              <a:gd name="connsiteY86" fmla="*/ 3680460 h 4937760"/>
              <a:gd name="connsiteX87" fmla="*/ 1379220 w 7505700"/>
              <a:gd name="connsiteY87" fmla="*/ 3657600 h 4937760"/>
              <a:gd name="connsiteX88" fmla="*/ 1028700 w 7505700"/>
              <a:gd name="connsiteY88" fmla="*/ 3284220 h 4937760"/>
              <a:gd name="connsiteX89" fmla="*/ 693420 w 7505700"/>
              <a:gd name="connsiteY89" fmla="*/ 3276600 h 4937760"/>
              <a:gd name="connsiteX90" fmla="*/ 297180 w 7505700"/>
              <a:gd name="connsiteY90" fmla="*/ 2796540 h 4937760"/>
              <a:gd name="connsiteX91" fmla="*/ 0 w 7505700"/>
              <a:gd name="connsiteY91" fmla="*/ 1729740 h 4937760"/>
              <a:gd name="connsiteX92" fmla="*/ 60960 w 7505700"/>
              <a:gd name="connsiteY92" fmla="*/ 1417320 h 4937760"/>
              <a:gd name="connsiteX0" fmla="*/ 45720 w 7505700"/>
              <a:gd name="connsiteY0" fmla="*/ 1874520 h 4937760"/>
              <a:gd name="connsiteX1" fmla="*/ 15240 w 7505700"/>
              <a:gd name="connsiteY1" fmla="*/ 1706880 h 4937760"/>
              <a:gd name="connsiteX2" fmla="*/ 76200 w 7505700"/>
              <a:gd name="connsiteY2" fmla="*/ 1447800 h 4937760"/>
              <a:gd name="connsiteX3" fmla="*/ 160020 w 7505700"/>
              <a:gd name="connsiteY3" fmla="*/ 1440180 h 4937760"/>
              <a:gd name="connsiteX4" fmla="*/ 434340 w 7505700"/>
              <a:gd name="connsiteY4" fmla="*/ 38100 h 4937760"/>
              <a:gd name="connsiteX5" fmla="*/ 556260 w 7505700"/>
              <a:gd name="connsiteY5" fmla="*/ 83820 h 4937760"/>
              <a:gd name="connsiteX6" fmla="*/ 647700 w 7505700"/>
              <a:gd name="connsiteY6" fmla="*/ 365760 h 4937760"/>
              <a:gd name="connsiteX7" fmla="*/ 762000 w 7505700"/>
              <a:gd name="connsiteY7" fmla="*/ 160020 h 4937760"/>
              <a:gd name="connsiteX8" fmla="*/ 678180 w 7505700"/>
              <a:gd name="connsiteY8" fmla="*/ 0 h 4937760"/>
              <a:gd name="connsiteX9" fmla="*/ 2819400 w 7505700"/>
              <a:gd name="connsiteY9" fmla="*/ 472440 h 4937760"/>
              <a:gd name="connsiteX10" fmla="*/ 3970020 w 7505700"/>
              <a:gd name="connsiteY10" fmla="*/ 525780 h 4937760"/>
              <a:gd name="connsiteX11" fmla="*/ 4069080 w 7505700"/>
              <a:gd name="connsiteY11" fmla="*/ 434340 h 4937760"/>
              <a:gd name="connsiteX12" fmla="*/ 4122420 w 7505700"/>
              <a:gd name="connsiteY12" fmla="*/ 518160 h 4937760"/>
              <a:gd name="connsiteX13" fmla="*/ 4701540 w 7505700"/>
              <a:gd name="connsiteY13" fmla="*/ 624840 h 4937760"/>
              <a:gd name="connsiteX14" fmla="*/ 4411980 w 7505700"/>
              <a:gd name="connsiteY14" fmla="*/ 800100 h 4937760"/>
              <a:gd name="connsiteX15" fmla="*/ 4343400 w 7505700"/>
              <a:gd name="connsiteY15" fmla="*/ 929640 h 4937760"/>
              <a:gd name="connsiteX16" fmla="*/ 4564380 w 7505700"/>
              <a:gd name="connsiteY16" fmla="*/ 937260 h 4937760"/>
              <a:gd name="connsiteX17" fmla="*/ 4945380 w 7505700"/>
              <a:gd name="connsiteY17" fmla="*/ 723900 h 4937760"/>
              <a:gd name="connsiteX18" fmla="*/ 5158740 w 7505700"/>
              <a:gd name="connsiteY18" fmla="*/ 853440 h 4937760"/>
              <a:gd name="connsiteX19" fmla="*/ 5334000 w 7505700"/>
              <a:gd name="connsiteY19" fmla="*/ 830580 h 4937760"/>
              <a:gd name="connsiteX20" fmla="*/ 5410200 w 7505700"/>
              <a:gd name="connsiteY20" fmla="*/ 891540 h 4937760"/>
              <a:gd name="connsiteX21" fmla="*/ 5280660 w 7505700"/>
              <a:gd name="connsiteY21" fmla="*/ 944880 h 4937760"/>
              <a:gd name="connsiteX22" fmla="*/ 5120640 w 7505700"/>
              <a:gd name="connsiteY22" fmla="*/ 944880 h 4937760"/>
              <a:gd name="connsiteX23" fmla="*/ 4861560 w 7505700"/>
              <a:gd name="connsiteY23" fmla="*/ 1219200 h 4937760"/>
              <a:gd name="connsiteX24" fmla="*/ 4914900 w 7505700"/>
              <a:gd name="connsiteY24" fmla="*/ 1264920 h 4937760"/>
              <a:gd name="connsiteX25" fmla="*/ 5059680 w 7505700"/>
              <a:gd name="connsiteY25" fmla="*/ 1143000 h 4937760"/>
              <a:gd name="connsiteX26" fmla="*/ 4922520 w 7505700"/>
              <a:gd name="connsiteY26" fmla="*/ 1432560 h 4937760"/>
              <a:gd name="connsiteX27" fmla="*/ 4998720 w 7505700"/>
              <a:gd name="connsiteY27" fmla="*/ 1767840 h 4937760"/>
              <a:gd name="connsiteX28" fmla="*/ 5074920 w 7505700"/>
              <a:gd name="connsiteY28" fmla="*/ 1836420 h 4937760"/>
              <a:gd name="connsiteX29" fmla="*/ 5158740 w 7505700"/>
              <a:gd name="connsiteY29" fmla="*/ 1767840 h 4937760"/>
              <a:gd name="connsiteX30" fmla="*/ 5212080 w 7505700"/>
              <a:gd name="connsiteY30" fmla="*/ 1470660 h 4937760"/>
              <a:gd name="connsiteX31" fmla="*/ 5143500 w 7505700"/>
              <a:gd name="connsiteY31" fmla="*/ 1150620 h 4937760"/>
              <a:gd name="connsiteX32" fmla="*/ 5242560 w 7505700"/>
              <a:gd name="connsiteY32" fmla="*/ 1097280 h 4937760"/>
              <a:gd name="connsiteX33" fmla="*/ 5349240 w 7505700"/>
              <a:gd name="connsiteY33" fmla="*/ 998220 h 4937760"/>
              <a:gd name="connsiteX34" fmla="*/ 5501640 w 7505700"/>
              <a:gd name="connsiteY34" fmla="*/ 1150620 h 4937760"/>
              <a:gd name="connsiteX35" fmla="*/ 5417820 w 7505700"/>
              <a:gd name="connsiteY35" fmla="*/ 1363980 h 4937760"/>
              <a:gd name="connsiteX36" fmla="*/ 5463540 w 7505700"/>
              <a:gd name="connsiteY36" fmla="*/ 1409700 h 4937760"/>
              <a:gd name="connsiteX37" fmla="*/ 5554980 w 7505700"/>
              <a:gd name="connsiteY37" fmla="*/ 1318260 h 4937760"/>
              <a:gd name="connsiteX38" fmla="*/ 5661660 w 7505700"/>
              <a:gd name="connsiteY38" fmla="*/ 1440180 h 4937760"/>
              <a:gd name="connsiteX39" fmla="*/ 5524500 w 7505700"/>
              <a:gd name="connsiteY39" fmla="*/ 1767840 h 4937760"/>
              <a:gd name="connsiteX40" fmla="*/ 5715000 w 7505700"/>
              <a:gd name="connsiteY40" fmla="*/ 1783080 h 4937760"/>
              <a:gd name="connsiteX41" fmla="*/ 6149340 w 7505700"/>
              <a:gd name="connsiteY41" fmla="*/ 1470660 h 4937760"/>
              <a:gd name="connsiteX42" fmla="*/ 6088380 w 7505700"/>
              <a:gd name="connsiteY42" fmla="*/ 1348740 h 4937760"/>
              <a:gd name="connsiteX43" fmla="*/ 6385560 w 7505700"/>
              <a:gd name="connsiteY43" fmla="*/ 1280160 h 4937760"/>
              <a:gd name="connsiteX44" fmla="*/ 6492240 w 7505700"/>
              <a:gd name="connsiteY44" fmla="*/ 899160 h 4937760"/>
              <a:gd name="connsiteX45" fmla="*/ 6911340 w 7505700"/>
              <a:gd name="connsiteY45" fmla="*/ 868680 h 4937760"/>
              <a:gd name="connsiteX46" fmla="*/ 7033260 w 7505700"/>
              <a:gd name="connsiteY46" fmla="*/ 647700 h 4937760"/>
              <a:gd name="connsiteX47" fmla="*/ 7139940 w 7505700"/>
              <a:gd name="connsiteY47" fmla="*/ 228600 h 4937760"/>
              <a:gd name="connsiteX48" fmla="*/ 7246620 w 7505700"/>
              <a:gd name="connsiteY48" fmla="*/ 228600 h 4937760"/>
              <a:gd name="connsiteX49" fmla="*/ 7505700 w 7505700"/>
              <a:gd name="connsiteY49" fmla="*/ 708660 h 4937760"/>
              <a:gd name="connsiteX50" fmla="*/ 7132320 w 7505700"/>
              <a:gd name="connsiteY50" fmla="*/ 1028700 h 4937760"/>
              <a:gd name="connsiteX51" fmla="*/ 7101840 w 7505700"/>
              <a:gd name="connsiteY51" fmla="*/ 1310640 h 4937760"/>
              <a:gd name="connsiteX52" fmla="*/ 7200900 w 7505700"/>
              <a:gd name="connsiteY52" fmla="*/ 1386840 h 4937760"/>
              <a:gd name="connsiteX53" fmla="*/ 7322820 w 7505700"/>
              <a:gd name="connsiteY53" fmla="*/ 1264920 h 4937760"/>
              <a:gd name="connsiteX54" fmla="*/ 7338060 w 7505700"/>
              <a:gd name="connsiteY54" fmla="*/ 1363980 h 4937760"/>
              <a:gd name="connsiteX55" fmla="*/ 7246620 w 7505700"/>
              <a:gd name="connsiteY55" fmla="*/ 1440180 h 4937760"/>
              <a:gd name="connsiteX56" fmla="*/ 6758940 w 7505700"/>
              <a:gd name="connsiteY56" fmla="*/ 1638300 h 4937760"/>
              <a:gd name="connsiteX57" fmla="*/ 6804660 w 7505700"/>
              <a:gd name="connsiteY57" fmla="*/ 1729740 h 4937760"/>
              <a:gd name="connsiteX58" fmla="*/ 7025640 w 7505700"/>
              <a:gd name="connsiteY58" fmla="*/ 1600200 h 4937760"/>
              <a:gd name="connsiteX59" fmla="*/ 6850380 w 7505700"/>
              <a:gd name="connsiteY59" fmla="*/ 1828800 h 4937760"/>
              <a:gd name="connsiteX60" fmla="*/ 6880860 w 7505700"/>
              <a:gd name="connsiteY60" fmla="*/ 1927860 h 4937760"/>
              <a:gd name="connsiteX61" fmla="*/ 6705600 w 7505700"/>
              <a:gd name="connsiteY61" fmla="*/ 2217420 h 4937760"/>
              <a:gd name="connsiteX62" fmla="*/ 6812280 w 7505700"/>
              <a:gd name="connsiteY62" fmla="*/ 2842260 h 4937760"/>
              <a:gd name="connsiteX63" fmla="*/ 6195060 w 7505700"/>
              <a:gd name="connsiteY63" fmla="*/ 3451860 h 4937760"/>
              <a:gd name="connsiteX64" fmla="*/ 6126480 w 7505700"/>
              <a:gd name="connsiteY64" fmla="*/ 3878580 h 4937760"/>
              <a:gd name="connsiteX65" fmla="*/ 6446520 w 7505700"/>
              <a:gd name="connsiteY65" fmla="*/ 4373880 h 4937760"/>
              <a:gd name="connsiteX66" fmla="*/ 6477000 w 7505700"/>
              <a:gd name="connsiteY66" fmla="*/ 4686300 h 4937760"/>
              <a:gd name="connsiteX67" fmla="*/ 6370320 w 7505700"/>
              <a:gd name="connsiteY67" fmla="*/ 4838700 h 4937760"/>
              <a:gd name="connsiteX68" fmla="*/ 6035040 w 7505700"/>
              <a:gd name="connsiteY68" fmla="*/ 4549140 h 4937760"/>
              <a:gd name="connsiteX69" fmla="*/ 5943600 w 7505700"/>
              <a:gd name="connsiteY69" fmla="*/ 4145280 h 4937760"/>
              <a:gd name="connsiteX70" fmla="*/ 5722620 w 7505700"/>
              <a:gd name="connsiteY70" fmla="*/ 3970020 h 4937760"/>
              <a:gd name="connsiteX71" fmla="*/ 5585460 w 7505700"/>
              <a:gd name="connsiteY71" fmla="*/ 4069080 h 4937760"/>
              <a:gd name="connsiteX72" fmla="*/ 5410200 w 7505700"/>
              <a:gd name="connsiteY72" fmla="*/ 3947160 h 4937760"/>
              <a:gd name="connsiteX73" fmla="*/ 4770120 w 7505700"/>
              <a:gd name="connsiteY73" fmla="*/ 4069080 h 4937760"/>
              <a:gd name="connsiteX74" fmla="*/ 4770120 w 7505700"/>
              <a:gd name="connsiteY74" fmla="*/ 4069080 h 4937760"/>
              <a:gd name="connsiteX75" fmla="*/ 4785360 w 7505700"/>
              <a:gd name="connsiteY75" fmla="*/ 4183380 h 4937760"/>
              <a:gd name="connsiteX76" fmla="*/ 4876800 w 7505700"/>
              <a:gd name="connsiteY76" fmla="*/ 4137660 h 4937760"/>
              <a:gd name="connsiteX77" fmla="*/ 5013960 w 7505700"/>
              <a:gd name="connsiteY77" fmla="*/ 4328160 h 4937760"/>
              <a:gd name="connsiteX78" fmla="*/ 4290060 w 7505700"/>
              <a:gd name="connsiteY78" fmla="*/ 4137660 h 4937760"/>
              <a:gd name="connsiteX79" fmla="*/ 3657600 w 7505700"/>
              <a:gd name="connsiteY79" fmla="*/ 4556760 h 4937760"/>
              <a:gd name="connsiteX80" fmla="*/ 3703320 w 7505700"/>
              <a:gd name="connsiteY80" fmla="*/ 4937760 h 4937760"/>
              <a:gd name="connsiteX81" fmla="*/ 3421380 w 7505700"/>
              <a:gd name="connsiteY81" fmla="*/ 4808220 h 4937760"/>
              <a:gd name="connsiteX82" fmla="*/ 3032760 w 7505700"/>
              <a:gd name="connsiteY82" fmla="*/ 4069080 h 4937760"/>
              <a:gd name="connsiteX83" fmla="*/ 2712720 w 7505700"/>
              <a:gd name="connsiteY83" fmla="*/ 4160520 h 4937760"/>
              <a:gd name="connsiteX84" fmla="*/ 2705100 w 7505700"/>
              <a:gd name="connsiteY84" fmla="*/ 4328160 h 4937760"/>
              <a:gd name="connsiteX85" fmla="*/ 2552700 w 7505700"/>
              <a:gd name="connsiteY85" fmla="*/ 4244340 h 4937760"/>
              <a:gd name="connsiteX86" fmla="*/ 2156460 w 7505700"/>
              <a:gd name="connsiteY86" fmla="*/ 3680460 h 4937760"/>
              <a:gd name="connsiteX87" fmla="*/ 1379220 w 7505700"/>
              <a:gd name="connsiteY87" fmla="*/ 3657600 h 4937760"/>
              <a:gd name="connsiteX88" fmla="*/ 1028700 w 7505700"/>
              <a:gd name="connsiteY88" fmla="*/ 3284220 h 4937760"/>
              <a:gd name="connsiteX89" fmla="*/ 693420 w 7505700"/>
              <a:gd name="connsiteY89" fmla="*/ 3276600 h 4937760"/>
              <a:gd name="connsiteX90" fmla="*/ 297180 w 7505700"/>
              <a:gd name="connsiteY90" fmla="*/ 2796540 h 4937760"/>
              <a:gd name="connsiteX91" fmla="*/ 0 w 7505700"/>
              <a:gd name="connsiteY91" fmla="*/ 1729740 h 4937760"/>
              <a:gd name="connsiteX92" fmla="*/ 60960 w 7505700"/>
              <a:gd name="connsiteY92" fmla="*/ 1417320 h 4937760"/>
              <a:gd name="connsiteX93" fmla="*/ 45720 w 7505700"/>
              <a:gd name="connsiteY93" fmla="*/ 1874520 h 4937760"/>
              <a:gd name="connsiteX0" fmla="*/ 60960 w 7505700"/>
              <a:gd name="connsiteY0" fmla="*/ 1417320 h 4937760"/>
              <a:gd name="connsiteX1" fmla="*/ 15240 w 7505700"/>
              <a:gd name="connsiteY1" fmla="*/ 1706880 h 4937760"/>
              <a:gd name="connsiteX2" fmla="*/ 76200 w 7505700"/>
              <a:gd name="connsiteY2" fmla="*/ 1447800 h 4937760"/>
              <a:gd name="connsiteX3" fmla="*/ 160020 w 7505700"/>
              <a:gd name="connsiteY3" fmla="*/ 1440180 h 4937760"/>
              <a:gd name="connsiteX4" fmla="*/ 434340 w 7505700"/>
              <a:gd name="connsiteY4" fmla="*/ 38100 h 4937760"/>
              <a:gd name="connsiteX5" fmla="*/ 556260 w 7505700"/>
              <a:gd name="connsiteY5" fmla="*/ 83820 h 4937760"/>
              <a:gd name="connsiteX6" fmla="*/ 647700 w 7505700"/>
              <a:gd name="connsiteY6" fmla="*/ 365760 h 4937760"/>
              <a:gd name="connsiteX7" fmla="*/ 762000 w 7505700"/>
              <a:gd name="connsiteY7" fmla="*/ 160020 h 4937760"/>
              <a:gd name="connsiteX8" fmla="*/ 678180 w 7505700"/>
              <a:gd name="connsiteY8" fmla="*/ 0 h 4937760"/>
              <a:gd name="connsiteX9" fmla="*/ 2819400 w 7505700"/>
              <a:gd name="connsiteY9" fmla="*/ 472440 h 4937760"/>
              <a:gd name="connsiteX10" fmla="*/ 3970020 w 7505700"/>
              <a:gd name="connsiteY10" fmla="*/ 525780 h 4937760"/>
              <a:gd name="connsiteX11" fmla="*/ 4069080 w 7505700"/>
              <a:gd name="connsiteY11" fmla="*/ 434340 h 4937760"/>
              <a:gd name="connsiteX12" fmla="*/ 4122420 w 7505700"/>
              <a:gd name="connsiteY12" fmla="*/ 518160 h 4937760"/>
              <a:gd name="connsiteX13" fmla="*/ 4701540 w 7505700"/>
              <a:gd name="connsiteY13" fmla="*/ 624840 h 4937760"/>
              <a:gd name="connsiteX14" fmla="*/ 4411980 w 7505700"/>
              <a:gd name="connsiteY14" fmla="*/ 800100 h 4937760"/>
              <a:gd name="connsiteX15" fmla="*/ 4343400 w 7505700"/>
              <a:gd name="connsiteY15" fmla="*/ 929640 h 4937760"/>
              <a:gd name="connsiteX16" fmla="*/ 4564380 w 7505700"/>
              <a:gd name="connsiteY16" fmla="*/ 937260 h 4937760"/>
              <a:gd name="connsiteX17" fmla="*/ 4945380 w 7505700"/>
              <a:gd name="connsiteY17" fmla="*/ 723900 h 4937760"/>
              <a:gd name="connsiteX18" fmla="*/ 5158740 w 7505700"/>
              <a:gd name="connsiteY18" fmla="*/ 853440 h 4937760"/>
              <a:gd name="connsiteX19" fmla="*/ 5334000 w 7505700"/>
              <a:gd name="connsiteY19" fmla="*/ 830580 h 4937760"/>
              <a:gd name="connsiteX20" fmla="*/ 5410200 w 7505700"/>
              <a:gd name="connsiteY20" fmla="*/ 891540 h 4937760"/>
              <a:gd name="connsiteX21" fmla="*/ 5280660 w 7505700"/>
              <a:gd name="connsiteY21" fmla="*/ 944880 h 4937760"/>
              <a:gd name="connsiteX22" fmla="*/ 5120640 w 7505700"/>
              <a:gd name="connsiteY22" fmla="*/ 944880 h 4937760"/>
              <a:gd name="connsiteX23" fmla="*/ 4861560 w 7505700"/>
              <a:gd name="connsiteY23" fmla="*/ 1219200 h 4937760"/>
              <a:gd name="connsiteX24" fmla="*/ 4914900 w 7505700"/>
              <a:gd name="connsiteY24" fmla="*/ 1264920 h 4937760"/>
              <a:gd name="connsiteX25" fmla="*/ 5059680 w 7505700"/>
              <a:gd name="connsiteY25" fmla="*/ 1143000 h 4937760"/>
              <a:gd name="connsiteX26" fmla="*/ 4922520 w 7505700"/>
              <a:gd name="connsiteY26" fmla="*/ 1432560 h 4937760"/>
              <a:gd name="connsiteX27" fmla="*/ 4998720 w 7505700"/>
              <a:gd name="connsiteY27" fmla="*/ 1767840 h 4937760"/>
              <a:gd name="connsiteX28" fmla="*/ 5074920 w 7505700"/>
              <a:gd name="connsiteY28" fmla="*/ 1836420 h 4937760"/>
              <a:gd name="connsiteX29" fmla="*/ 5158740 w 7505700"/>
              <a:gd name="connsiteY29" fmla="*/ 1767840 h 4937760"/>
              <a:gd name="connsiteX30" fmla="*/ 5212080 w 7505700"/>
              <a:gd name="connsiteY30" fmla="*/ 1470660 h 4937760"/>
              <a:gd name="connsiteX31" fmla="*/ 5143500 w 7505700"/>
              <a:gd name="connsiteY31" fmla="*/ 1150620 h 4937760"/>
              <a:gd name="connsiteX32" fmla="*/ 5242560 w 7505700"/>
              <a:gd name="connsiteY32" fmla="*/ 1097280 h 4937760"/>
              <a:gd name="connsiteX33" fmla="*/ 5349240 w 7505700"/>
              <a:gd name="connsiteY33" fmla="*/ 998220 h 4937760"/>
              <a:gd name="connsiteX34" fmla="*/ 5501640 w 7505700"/>
              <a:gd name="connsiteY34" fmla="*/ 1150620 h 4937760"/>
              <a:gd name="connsiteX35" fmla="*/ 5417820 w 7505700"/>
              <a:gd name="connsiteY35" fmla="*/ 1363980 h 4937760"/>
              <a:gd name="connsiteX36" fmla="*/ 5463540 w 7505700"/>
              <a:gd name="connsiteY36" fmla="*/ 1409700 h 4937760"/>
              <a:gd name="connsiteX37" fmla="*/ 5554980 w 7505700"/>
              <a:gd name="connsiteY37" fmla="*/ 1318260 h 4937760"/>
              <a:gd name="connsiteX38" fmla="*/ 5661660 w 7505700"/>
              <a:gd name="connsiteY38" fmla="*/ 1440180 h 4937760"/>
              <a:gd name="connsiteX39" fmla="*/ 5524500 w 7505700"/>
              <a:gd name="connsiteY39" fmla="*/ 1767840 h 4937760"/>
              <a:gd name="connsiteX40" fmla="*/ 5715000 w 7505700"/>
              <a:gd name="connsiteY40" fmla="*/ 1783080 h 4937760"/>
              <a:gd name="connsiteX41" fmla="*/ 6149340 w 7505700"/>
              <a:gd name="connsiteY41" fmla="*/ 1470660 h 4937760"/>
              <a:gd name="connsiteX42" fmla="*/ 6088380 w 7505700"/>
              <a:gd name="connsiteY42" fmla="*/ 1348740 h 4937760"/>
              <a:gd name="connsiteX43" fmla="*/ 6385560 w 7505700"/>
              <a:gd name="connsiteY43" fmla="*/ 1280160 h 4937760"/>
              <a:gd name="connsiteX44" fmla="*/ 6492240 w 7505700"/>
              <a:gd name="connsiteY44" fmla="*/ 899160 h 4937760"/>
              <a:gd name="connsiteX45" fmla="*/ 6911340 w 7505700"/>
              <a:gd name="connsiteY45" fmla="*/ 868680 h 4937760"/>
              <a:gd name="connsiteX46" fmla="*/ 7033260 w 7505700"/>
              <a:gd name="connsiteY46" fmla="*/ 647700 h 4937760"/>
              <a:gd name="connsiteX47" fmla="*/ 7139940 w 7505700"/>
              <a:gd name="connsiteY47" fmla="*/ 228600 h 4937760"/>
              <a:gd name="connsiteX48" fmla="*/ 7246620 w 7505700"/>
              <a:gd name="connsiteY48" fmla="*/ 228600 h 4937760"/>
              <a:gd name="connsiteX49" fmla="*/ 7505700 w 7505700"/>
              <a:gd name="connsiteY49" fmla="*/ 708660 h 4937760"/>
              <a:gd name="connsiteX50" fmla="*/ 7132320 w 7505700"/>
              <a:gd name="connsiteY50" fmla="*/ 1028700 h 4937760"/>
              <a:gd name="connsiteX51" fmla="*/ 7101840 w 7505700"/>
              <a:gd name="connsiteY51" fmla="*/ 1310640 h 4937760"/>
              <a:gd name="connsiteX52" fmla="*/ 7200900 w 7505700"/>
              <a:gd name="connsiteY52" fmla="*/ 1386840 h 4937760"/>
              <a:gd name="connsiteX53" fmla="*/ 7322820 w 7505700"/>
              <a:gd name="connsiteY53" fmla="*/ 1264920 h 4937760"/>
              <a:gd name="connsiteX54" fmla="*/ 7338060 w 7505700"/>
              <a:gd name="connsiteY54" fmla="*/ 1363980 h 4937760"/>
              <a:gd name="connsiteX55" fmla="*/ 7246620 w 7505700"/>
              <a:gd name="connsiteY55" fmla="*/ 1440180 h 4937760"/>
              <a:gd name="connsiteX56" fmla="*/ 6758940 w 7505700"/>
              <a:gd name="connsiteY56" fmla="*/ 1638300 h 4937760"/>
              <a:gd name="connsiteX57" fmla="*/ 6804660 w 7505700"/>
              <a:gd name="connsiteY57" fmla="*/ 1729740 h 4937760"/>
              <a:gd name="connsiteX58" fmla="*/ 7025640 w 7505700"/>
              <a:gd name="connsiteY58" fmla="*/ 1600200 h 4937760"/>
              <a:gd name="connsiteX59" fmla="*/ 6850380 w 7505700"/>
              <a:gd name="connsiteY59" fmla="*/ 1828800 h 4937760"/>
              <a:gd name="connsiteX60" fmla="*/ 6880860 w 7505700"/>
              <a:gd name="connsiteY60" fmla="*/ 1927860 h 4937760"/>
              <a:gd name="connsiteX61" fmla="*/ 6705600 w 7505700"/>
              <a:gd name="connsiteY61" fmla="*/ 2217420 h 4937760"/>
              <a:gd name="connsiteX62" fmla="*/ 6812280 w 7505700"/>
              <a:gd name="connsiteY62" fmla="*/ 2842260 h 4937760"/>
              <a:gd name="connsiteX63" fmla="*/ 6195060 w 7505700"/>
              <a:gd name="connsiteY63" fmla="*/ 3451860 h 4937760"/>
              <a:gd name="connsiteX64" fmla="*/ 6126480 w 7505700"/>
              <a:gd name="connsiteY64" fmla="*/ 3878580 h 4937760"/>
              <a:gd name="connsiteX65" fmla="*/ 6446520 w 7505700"/>
              <a:gd name="connsiteY65" fmla="*/ 4373880 h 4937760"/>
              <a:gd name="connsiteX66" fmla="*/ 6477000 w 7505700"/>
              <a:gd name="connsiteY66" fmla="*/ 4686300 h 4937760"/>
              <a:gd name="connsiteX67" fmla="*/ 6370320 w 7505700"/>
              <a:gd name="connsiteY67" fmla="*/ 4838700 h 4937760"/>
              <a:gd name="connsiteX68" fmla="*/ 6035040 w 7505700"/>
              <a:gd name="connsiteY68" fmla="*/ 4549140 h 4937760"/>
              <a:gd name="connsiteX69" fmla="*/ 5943600 w 7505700"/>
              <a:gd name="connsiteY69" fmla="*/ 4145280 h 4937760"/>
              <a:gd name="connsiteX70" fmla="*/ 5722620 w 7505700"/>
              <a:gd name="connsiteY70" fmla="*/ 3970020 h 4937760"/>
              <a:gd name="connsiteX71" fmla="*/ 5585460 w 7505700"/>
              <a:gd name="connsiteY71" fmla="*/ 4069080 h 4937760"/>
              <a:gd name="connsiteX72" fmla="*/ 5410200 w 7505700"/>
              <a:gd name="connsiteY72" fmla="*/ 3947160 h 4937760"/>
              <a:gd name="connsiteX73" fmla="*/ 4770120 w 7505700"/>
              <a:gd name="connsiteY73" fmla="*/ 4069080 h 4937760"/>
              <a:gd name="connsiteX74" fmla="*/ 4770120 w 7505700"/>
              <a:gd name="connsiteY74" fmla="*/ 4069080 h 4937760"/>
              <a:gd name="connsiteX75" fmla="*/ 4785360 w 7505700"/>
              <a:gd name="connsiteY75" fmla="*/ 4183380 h 4937760"/>
              <a:gd name="connsiteX76" fmla="*/ 4876800 w 7505700"/>
              <a:gd name="connsiteY76" fmla="*/ 4137660 h 4937760"/>
              <a:gd name="connsiteX77" fmla="*/ 5013960 w 7505700"/>
              <a:gd name="connsiteY77" fmla="*/ 4328160 h 4937760"/>
              <a:gd name="connsiteX78" fmla="*/ 4290060 w 7505700"/>
              <a:gd name="connsiteY78" fmla="*/ 4137660 h 4937760"/>
              <a:gd name="connsiteX79" fmla="*/ 3657600 w 7505700"/>
              <a:gd name="connsiteY79" fmla="*/ 4556760 h 4937760"/>
              <a:gd name="connsiteX80" fmla="*/ 3703320 w 7505700"/>
              <a:gd name="connsiteY80" fmla="*/ 4937760 h 4937760"/>
              <a:gd name="connsiteX81" fmla="*/ 3421380 w 7505700"/>
              <a:gd name="connsiteY81" fmla="*/ 4808220 h 4937760"/>
              <a:gd name="connsiteX82" fmla="*/ 3032760 w 7505700"/>
              <a:gd name="connsiteY82" fmla="*/ 4069080 h 4937760"/>
              <a:gd name="connsiteX83" fmla="*/ 2712720 w 7505700"/>
              <a:gd name="connsiteY83" fmla="*/ 4160520 h 4937760"/>
              <a:gd name="connsiteX84" fmla="*/ 2705100 w 7505700"/>
              <a:gd name="connsiteY84" fmla="*/ 4328160 h 4937760"/>
              <a:gd name="connsiteX85" fmla="*/ 2552700 w 7505700"/>
              <a:gd name="connsiteY85" fmla="*/ 4244340 h 4937760"/>
              <a:gd name="connsiteX86" fmla="*/ 2156460 w 7505700"/>
              <a:gd name="connsiteY86" fmla="*/ 3680460 h 4937760"/>
              <a:gd name="connsiteX87" fmla="*/ 1379220 w 7505700"/>
              <a:gd name="connsiteY87" fmla="*/ 3657600 h 4937760"/>
              <a:gd name="connsiteX88" fmla="*/ 1028700 w 7505700"/>
              <a:gd name="connsiteY88" fmla="*/ 3284220 h 4937760"/>
              <a:gd name="connsiteX89" fmla="*/ 693420 w 7505700"/>
              <a:gd name="connsiteY89" fmla="*/ 3276600 h 4937760"/>
              <a:gd name="connsiteX90" fmla="*/ 297180 w 7505700"/>
              <a:gd name="connsiteY90" fmla="*/ 2796540 h 4937760"/>
              <a:gd name="connsiteX91" fmla="*/ 0 w 7505700"/>
              <a:gd name="connsiteY91" fmla="*/ 1729740 h 4937760"/>
              <a:gd name="connsiteX92" fmla="*/ 60960 w 7505700"/>
              <a:gd name="connsiteY92" fmla="*/ 1417320 h 4937760"/>
              <a:gd name="connsiteX0" fmla="*/ 0 w 7505700"/>
              <a:gd name="connsiteY0" fmla="*/ 1729740 h 4937760"/>
              <a:gd name="connsiteX1" fmla="*/ 15240 w 7505700"/>
              <a:gd name="connsiteY1" fmla="*/ 1706880 h 4937760"/>
              <a:gd name="connsiteX2" fmla="*/ 76200 w 7505700"/>
              <a:gd name="connsiteY2" fmla="*/ 1447800 h 4937760"/>
              <a:gd name="connsiteX3" fmla="*/ 160020 w 7505700"/>
              <a:gd name="connsiteY3" fmla="*/ 1440180 h 4937760"/>
              <a:gd name="connsiteX4" fmla="*/ 434340 w 7505700"/>
              <a:gd name="connsiteY4" fmla="*/ 38100 h 4937760"/>
              <a:gd name="connsiteX5" fmla="*/ 556260 w 7505700"/>
              <a:gd name="connsiteY5" fmla="*/ 83820 h 4937760"/>
              <a:gd name="connsiteX6" fmla="*/ 647700 w 7505700"/>
              <a:gd name="connsiteY6" fmla="*/ 365760 h 4937760"/>
              <a:gd name="connsiteX7" fmla="*/ 762000 w 7505700"/>
              <a:gd name="connsiteY7" fmla="*/ 160020 h 4937760"/>
              <a:gd name="connsiteX8" fmla="*/ 678180 w 7505700"/>
              <a:gd name="connsiteY8" fmla="*/ 0 h 4937760"/>
              <a:gd name="connsiteX9" fmla="*/ 2819400 w 7505700"/>
              <a:gd name="connsiteY9" fmla="*/ 472440 h 4937760"/>
              <a:gd name="connsiteX10" fmla="*/ 3970020 w 7505700"/>
              <a:gd name="connsiteY10" fmla="*/ 525780 h 4937760"/>
              <a:gd name="connsiteX11" fmla="*/ 4069080 w 7505700"/>
              <a:gd name="connsiteY11" fmla="*/ 434340 h 4937760"/>
              <a:gd name="connsiteX12" fmla="*/ 4122420 w 7505700"/>
              <a:gd name="connsiteY12" fmla="*/ 518160 h 4937760"/>
              <a:gd name="connsiteX13" fmla="*/ 4701540 w 7505700"/>
              <a:gd name="connsiteY13" fmla="*/ 624840 h 4937760"/>
              <a:gd name="connsiteX14" fmla="*/ 4411980 w 7505700"/>
              <a:gd name="connsiteY14" fmla="*/ 800100 h 4937760"/>
              <a:gd name="connsiteX15" fmla="*/ 4343400 w 7505700"/>
              <a:gd name="connsiteY15" fmla="*/ 929640 h 4937760"/>
              <a:gd name="connsiteX16" fmla="*/ 4564380 w 7505700"/>
              <a:gd name="connsiteY16" fmla="*/ 937260 h 4937760"/>
              <a:gd name="connsiteX17" fmla="*/ 4945380 w 7505700"/>
              <a:gd name="connsiteY17" fmla="*/ 723900 h 4937760"/>
              <a:gd name="connsiteX18" fmla="*/ 5158740 w 7505700"/>
              <a:gd name="connsiteY18" fmla="*/ 853440 h 4937760"/>
              <a:gd name="connsiteX19" fmla="*/ 5334000 w 7505700"/>
              <a:gd name="connsiteY19" fmla="*/ 830580 h 4937760"/>
              <a:gd name="connsiteX20" fmla="*/ 5410200 w 7505700"/>
              <a:gd name="connsiteY20" fmla="*/ 891540 h 4937760"/>
              <a:gd name="connsiteX21" fmla="*/ 5280660 w 7505700"/>
              <a:gd name="connsiteY21" fmla="*/ 944880 h 4937760"/>
              <a:gd name="connsiteX22" fmla="*/ 5120640 w 7505700"/>
              <a:gd name="connsiteY22" fmla="*/ 944880 h 4937760"/>
              <a:gd name="connsiteX23" fmla="*/ 4861560 w 7505700"/>
              <a:gd name="connsiteY23" fmla="*/ 1219200 h 4937760"/>
              <a:gd name="connsiteX24" fmla="*/ 4914900 w 7505700"/>
              <a:gd name="connsiteY24" fmla="*/ 1264920 h 4937760"/>
              <a:gd name="connsiteX25" fmla="*/ 5059680 w 7505700"/>
              <a:gd name="connsiteY25" fmla="*/ 1143000 h 4937760"/>
              <a:gd name="connsiteX26" fmla="*/ 4922520 w 7505700"/>
              <a:gd name="connsiteY26" fmla="*/ 1432560 h 4937760"/>
              <a:gd name="connsiteX27" fmla="*/ 4998720 w 7505700"/>
              <a:gd name="connsiteY27" fmla="*/ 1767840 h 4937760"/>
              <a:gd name="connsiteX28" fmla="*/ 5074920 w 7505700"/>
              <a:gd name="connsiteY28" fmla="*/ 1836420 h 4937760"/>
              <a:gd name="connsiteX29" fmla="*/ 5158740 w 7505700"/>
              <a:gd name="connsiteY29" fmla="*/ 1767840 h 4937760"/>
              <a:gd name="connsiteX30" fmla="*/ 5212080 w 7505700"/>
              <a:gd name="connsiteY30" fmla="*/ 1470660 h 4937760"/>
              <a:gd name="connsiteX31" fmla="*/ 5143500 w 7505700"/>
              <a:gd name="connsiteY31" fmla="*/ 1150620 h 4937760"/>
              <a:gd name="connsiteX32" fmla="*/ 5242560 w 7505700"/>
              <a:gd name="connsiteY32" fmla="*/ 1097280 h 4937760"/>
              <a:gd name="connsiteX33" fmla="*/ 5349240 w 7505700"/>
              <a:gd name="connsiteY33" fmla="*/ 998220 h 4937760"/>
              <a:gd name="connsiteX34" fmla="*/ 5501640 w 7505700"/>
              <a:gd name="connsiteY34" fmla="*/ 1150620 h 4937760"/>
              <a:gd name="connsiteX35" fmla="*/ 5417820 w 7505700"/>
              <a:gd name="connsiteY35" fmla="*/ 1363980 h 4937760"/>
              <a:gd name="connsiteX36" fmla="*/ 5463540 w 7505700"/>
              <a:gd name="connsiteY36" fmla="*/ 1409700 h 4937760"/>
              <a:gd name="connsiteX37" fmla="*/ 5554980 w 7505700"/>
              <a:gd name="connsiteY37" fmla="*/ 1318260 h 4937760"/>
              <a:gd name="connsiteX38" fmla="*/ 5661660 w 7505700"/>
              <a:gd name="connsiteY38" fmla="*/ 1440180 h 4937760"/>
              <a:gd name="connsiteX39" fmla="*/ 5524500 w 7505700"/>
              <a:gd name="connsiteY39" fmla="*/ 1767840 h 4937760"/>
              <a:gd name="connsiteX40" fmla="*/ 5715000 w 7505700"/>
              <a:gd name="connsiteY40" fmla="*/ 1783080 h 4937760"/>
              <a:gd name="connsiteX41" fmla="*/ 6149340 w 7505700"/>
              <a:gd name="connsiteY41" fmla="*/ 1470660 h 4937760"/>
              <a:gd name="connsiteX42" fmla="*/ 6088380 w 7505700"/>
              <a:gd name="connsiteY42" fmla="*/ 1348740 h 4937760"/>
              <a:gd name="connsiteX43" fmla="*/ 6385560 w 7505700"/>
              <a:gd name="connsiteY43" fmla="*/ 1280160 h 4937760"/>
              <a:gd name="connsiteX44" fmla="*/ 6492240 w 7505700"/>
              <a:gd name="connsiteY44" fmla="*/ 899160 h 4937760"/>
              <a:gd name="connsiteX45" fmla="*/ 6911340 w 7505700"/>
              <a:gd name="connsiteY45" fmla="*/ 868680 h 4937760"/>
              <a:gd name="connsiteX46" fmla="*/ 7033260 w 7505700"/>
              <a:gd name="connsiteY46" fmla="*/ 647700 h 4937760"/>
              <a:gd name="connsiteX47" fmla="*/ 7139940 w 7505700"/>
              <a:gd name="connsiteY47" fmla="*/ 228600 h 4937760"/>
              <a:gd name="connsiteX48" fmla="*/ 7246620 w 7505700"/>
              <a:gd name="connsiteY48" fmla="*/ 228600 h 4937760"/>
              <a:gd name="connsiteX49" fmla="*/ 7505700 w 7505700"/>
              <a:gd name="connsiteY49" fmla="*/ 708660 h 4937760"/>
              <a:gd name="connsiteX50" fmla="*/ 7132320 w 7505700"/>
              <a:gd name="connsiteY50" fmla="*/ 1028700 h 4937760"/>
              <a:gd name="connsiteX51" fmla="*/ 7101840 w 7505700"/>
              <a:gd name="connsiteY51" fmla="*/ 1310640 h 4937760"/>
              <a:gd name="connsiteX52" fmla="*/ 7200900 w 7505700"/>
              <a:gd name="connsiteY52" fmla="*/ 1386840 h 4937760"/>
              <a:gd name="connsiteX53" fmla="*/ 7322820 w 7505700"/>
              <a:gd name="connsiteY53" fmla="*/ 1264920 h 4937760"/>
              <a:gd name="connsiteX54" fmla="*/ 7338060 w 7505700"/>
              <a:gd name="connsiteY54" fmla="*/ 1363980 h 4937760"/>
              <a:gd name="connsiteX55" fmla="*/ 7246620 w 7505700"/>
              <a:gd name="connsiteY55" fmla="*/ 1440180 h 4937760"/>
              <a:gd name="connsiteX56" fmla="*/ 6758940 w 7505700"/>
              <a:gd name="connsiteY56" fmla="*/ 1638300 h 4937760"/>
              <a:gd name="connsiteX57" fmla="*/ 6804660 w 7505700"/>
              <a:gd name="connsiteY57" fmla="*/ 1729740 h 4937760"/>
              <a:gd name="connsiteX58" fmla="*/ 7025640 w 7505700"/>
              <a:gd name="connsiteY58" fmla="*/ 1600200 h 4937760"/>
              <a:gd name="connsiteX59" fmla="*/ 6850380 w 7505700"/>
              <a:gd name="connsiteY59" fmla="*/ 1828800 h 4937760"/>
              <a:gd name="connsiteX60" fmla="*/ 6880860 w 7505700"/>
              <a:gd name="connsiteY60" fmla="*/ 1927860 h 4937760"/>
              <a:gd name="connsiteX61" fmla="*/ 6705600 w 7505700"/>
              <a:gd name="connsiteY61" fmla="*/ 2217420 h 4937760"/>
              <a:gd name="connsiteX62" fmla="*/ 6812280 w 7505700"/>
              <a:gd name="connsiteY62" fmla="*/ 2842260 h 4937760"/>
              <a:gd name="connsiteX63" fmla="*/ 6195060 w 7505700"/>
              <a:gd name="connsiteY63" fmla="*/ 3451860 h 4937760"/>
              <a:gd name="connsiteX64" fmla="*/ 6126480 w 7505700"/>
              <a:gd name="connsiteY64" fmla="*/ 3878580 h 4937760"/>
              <a:gd name="connsiteX65" fmla="*/ 6446520 w 7505700"/>
              <a:gd name="connsiteY65" fmla="*/ 4373880 h 4937760"/>
              <a:gd name="connsiteX66" fmla="*/ 6477000 w 7505700"/>
              <a:gd name="connsiteY66" fmla="*/ 4686300 h 4937760"/>
              <a:gd name="connsiteX67" fmla="*/ 6370320 w 7505700"/>
              <a:gd name="connsiteY67" fmla="*/ 4838700 h 4937760"/>
              <a:gd name="connsiteX68" fmla="*/ 6035040 w 7505700"/>
              <a:gd name="connsiteY68" fmla="*/ 4549140 h 4937760"/>
              <a:gd name="connsiteX69" fmla="*/ 5943600 w 7505700"/>
              <a:gd name="connsiteY69" fmla="*/ 4145280 h 4937760"/>
              <a:gd name="connsiteX70" fmla="*/ 5722620 w 7505700"/>
              <a:gd name="connsiteY70" fmla="*/ 3970020 h 4937760"/>
              <a:gd name="connsiteX71" fmla="*/ 5585460 w 7505700"/>
              <a:gd name="connsiteY71" fmla="*/ 4069080 h 4937760"/>
              <a:gd name="connsiteX72" fmla="*/ 5410200 w 7505700"/>
              <a:gd name="connsiteY72" fmla="*/ 3947160 h 4937760"/>
              <a:gd name="connsiteX73" fmla="*/ 4770120 w 7505700"/>
              <a:gd name="connsiteY73" fmla="*/ 4069080 h 4937760"/>
              <a:gd name="connsiteX74" fmla="*/ 4770120 w 7505700"/>
              <a:gd name="connsiteY74" fmla="*/ 4069080 h 4937760"/>
              <a:gd name="connsiteX75" fmla="*/ 4785360 w 7505700"/>
              <a:gd name="connsiteY75" fmla="*/ 4183380 h 4937760"/>
              <a:gd name="connsiteX76" fmla="*/ 4876800 w 7505700"/>
              <a:gd name="connsiteY76" fmla="*/ 4137660 h 4937760"/>
              <a:gd name="connsiteX77" fmla="*/ 5013960 w 7505700"/>
              <a:gd name="connsiteY77" fmla="*/ 4328160 h 4937760"/>
              <a:gd name="connsiteX78" fmla="*/ 4290060 w 7505700"/>
              <a:gd name="connsiteY78" fmla="*/ 4137660 h 4937760"/>
              <a:gd name="connsiteX79" fmla="*/ 3657600 w 7505700"/>
              <a:gd name="connsiteY79" fmla="*/ 4556760 h 4937760"/>
              <a:gd name="connsiteX80" fmla="*/ 3703320 w 7505700"/>
              <a:gd name="connsiteY80" fmla="*/ 4937760 h 4937760"/>
              <a:gd name="connsiteX81" fmla="*/ 3421380 w 7505700"/>
              <a:gd name="connsiteY81" fmla="*/ 4808220 h 4937760"/>
              <a:gd name="connsiteX82" fmla="*/ 3032760 w 7505700"/>
              <a:gd name="connsiteY82" fmla="*/ 4069080 h 4937760"/>
              <a:gd name="connsiteX83" fmla="*/ 2712720 w 7505700"/>
              <a:gd name="connsiteY83" fmla="*/ 4160520 h 4937760"/>
              <a:gd name="connsiteX84" fmla="*/ 2705100 w 7505700"/>
              <a:gd name="connsiteY84" fmla="*/ 4328160 h 4937760"/>
              <a:gd name="connsiteX85" fmla="*/ 2552700 w 7505700"/>
              <a:gd name="connsiteY85" fmla="*/ 4244340 h 4937760"/>
              <a:gd name="connsiteX86" fmla="*/ 2156460 w 7505700"/>
              <a:gd name="connsiteY86" fmla="*/ 3680460 h 4937760"/>
              <a:gd name="connsiteX87" fmla="*/ 1379220 w 7505700"/>
              <a:gd name="connsiteY87" fmla="*/ 3657600 h 4937760"/>
              <a:gd name="connsiteX88" fmla="*/ 1028700 w 7505700"/>
              <a:gd name="connsiteY88" fmla="*/ 3284220 h 4937760"/>
              <a:gd name="connsiteX89" fmla="*/ 693420 w 7505700"/>
              <a:gd name="connsiteY89" fmla="*/ 3276600 h 4937760"/>
              <a:gd name="connsiteX90" fmla="*/ 297180 w 7505700"/>
              <a:gd name="connsiteY90" fmla="*/ 2796540 h 4937760"/>
              <a:gd name="connsiteX91" fmla="*/ 0 w 7505700"/>
              <a:gd name="connsiteY91" fmla="*/ 1729740 h 493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7505700" h="4937760">
                <a:moveTo>
                  <a:pt x="0" y="1729740"/>
                </a:moveTo>
                <a:lnTo>
                  <a:pt x="15240" y="1706880"/>
                </a:lnTo>
                <a:lnTo>
                  <a:pt x="76200" y="1447800"/>
                </a:lnTo>
                <a:lnTo>
                  <a:pt x="160020" y="1440180"/>
                </a:lnTo>
                <a:lnTo>
                  <a:pt x="434340" y="38100"/>
                </a:lnTo>
                <a:lnTo>
                  <a:pt x="556260" y="83820"/>
                </a:lnTo>
                <a:lnTo>
                  <a:pt x="647700" y="365760"/>
                </a:lnTo>
                <a:lnTo>
                  <a:pt x="762000" y="160020"/>
                </a:lnTo>
                <a:lnTo>
                  <a:pt x="678180" y="0"/>
                </a:lnTo>
                <a:lnTo>
                  <a:pt x="2819400" y="472440"/>
                </a:lnTo>
                <a:lnTo>
                  <a:pt x="3970020" y="525780"/>
                </a:lnTo>
                <a:lnTo>
                  <a:pt x="4069080" y="434340"/>
                </a:lnTo>
                <a:lnTo>
                  <a:pt x="4122420" y="518160"/>
                </a:lnTo>
                <a:lnTo>
                  <a:pt x="4701540" y="624840"/>
                </a:lnTo>
                <a:lnTo>
                  <a:pt x="4411980" y="800100"/>
                </a:lnTo>
                <a:lnTo>
                  <a:pt x="4343400" y="929640"/>
                </a:lnTo>
                <a:lnTo>
                  <a:pt x="4564380" y="937260"/>
                </a:lnTo>
                <a:lnTo>
                  <a:pt x="4945380" y="723900"/>
                </a:lnTo>
                <a:lnTo>
                  <a:pt x="5158740" y="853440"/>
                </a:lnTo>
                <a:lnTo>
                  <a:pt x="5334000" y="830580"/>
                </a:lnTo>
                <a:lnTo>
                  <a:pt x="5410200" y="891540"/>
                </a:lnTo>
                <a:lnTo>
                  <a:pt x="5280660" y="944880"/>
                </a:lnTo>
                <a:lnTo>
                  <a:pt x="5120640" y="944880"/>
                </a:lnTo>
                <a:lnTo>
                  <a:pt x="4861560" y="1219200"/>
                </a:lnTo>
                <a:lnTo>
                  <a:pt x="4914900" y="1264920"/>
                </a:lnTo>
                <a:lnTo>
                  <a:pt x="5059680" y="1143000"/>
                </a:lnTo>
                <a:lnTo>
                  <a:pt x="4922520" y="1432560"/>
                </a:lnTo>
                <a:lnTo>
                  <a:pt x="4998720" y="1767840"/>
                </a:lnTo>
                <a:lnTo>
                  <a:pt x="5074920" y="1836420"/>
                </a:lnTo>
                <a:lnTo>
                  <a:pt x="5158740" y="1767840"/>
                </a:lnTo>
                <a:lnTo>
                  <a:pt x="5212080" y="1470660"/>
                </a:lnTo>
                <a:lnTo>
                  <a:pt x="5143500" y="1150620"/>
                </a:lnTo>
                <a:lnTo>
                  <a:pt x="5242560" y="1097280"/>
                </a:lnTo>
                <a:lnTo>
                  <a:pt x="5349240" y="998220"/>
                </a:lnTo>
                <a:lnTo>
                  <a:pt x="5501640" y="1150620"/>
                </a:lnTo>
                <a:lnTo>
                  <a:pt x="5417820" y="1363980"/>
                </a:lnTo>
                <a:lnTo>
                  <a:pt x="5463540" y="1409700"/>
                </a:lnTo>
                <a:lnTo>
                  <a:pt x="5554980" y="1318260"/>
                </a:lnTo>
                <a:lnTo>
                  <a:pt x="5661660" y="1440180"/>
                </a:lnTo>
                <a:lnTo>
                  <a:pt x="5524500" y="1767840"/>
                </a:lnTo>
                <a:lnTo>
                  <a:pt x="5715000" y="1783080"/>
                </a:lnTo>
                <a:lnTo>
                  <a:pt x="6149340" y="1470660"/>
                </a:lnTo>
                <a:lnTo>
                  <a:pt x="6088380" y="1348740"/>
                </a:lnTo>
                <a:lnTo>
                  <a:pt x="6385560" y="1280160"/>
                </a:lnTo>
                <a:lnTo>
                  <a:pt x="6492240" y="899160"/>
                </a:lnTo>
                <a:lnTo>
                  <a:pt x="6911340" y="868680"/>
                </a:lnTo>
                <a:lnTo>
                  <a:pt x="7033260" y="647700"/>
                </a:lnTo>
                <a:lnTo>
                  <a:pt x="7139940" y="228600"/>
                </a:lnTo>
                <a:lnTo>
                  <a:pt x="7246620" y="228600"/>
                </a:lnTo>
                <a:lnTo>
                  <a:pt x="7505700" y="708660"/>
                </a:lnTo>
                <a:lnTo>
                  <a:pt x="7132320" y="1028700"/>
                </a:lnTo>
                <a:lnTo>
                  <a:pt x="7101840" y="1310640"/>
                </a:lnTo>
                <a:lnTo>
                  <a:pt x="7200900" y="1386840"/>
                </a:lnTo>
                <a:lnTo>
                  <a:pt x="7322820" y="1264920"/>
                </a:lnTo>
                <a:lnTo>
                  <a:pt x="7338060" y="1363980"/>
                </a:lnTo>
                <a:lnTo>
                  <a:pt x="7246620" y="1440180"/>
                </a:lnTo>
                <a:lnTo>
                  <a:pt x="6758940" y="1638300"/>
                </a:lnTo>
                <a:lnTo>
                  <a:pt x="6804660" y="1729740"/>
                </a:lnTo>
                <a:lnTo>
                  <a:pt x="7025640" y="1600200"/>
                </a:lnTo>
                <a:lnTo>
                  <a:pt x="6850380" y="1828800"/>
                </a:lnTo>
                <a:lnTo>
                  <a:pt x="6880860" y="1927860"/>
                </a:lnTo>
                <a:lnTo>
                  <a:pt x="6705600" y="2217420"/>
                </a:lnTo>
                <a:lnTo>
                  <a:pt x="6812280" y="2842260"/>
                </a:lnTo>
                <a:lnTo>
                  <a:pt x="6195060" y="3451860"/>
                </a:lnTo>
                <a:lnTo>
                  <a:pt x="6126480" y="3878580"/>
                </a:lnTo>
                <a:lnTo>
                  <a:pt x="6446520" y="4373880"/>
                </a:lnTo>
                <a:lnTo>
                  <a:pt x="6477000" y="4686300"/>
                </a:lnTo>
                <a:lnTo>
                  <a:pt x="6370320" y="4838700"/>
                </a:lnTo>
                <a:lnTo>
                  <a:pt x="6035040" y="4549140"/>
                </a:lnTo>
                <a:lnTo>
                  <a:pt x="5943600" y="4145280"/>
                </a:lnTo>
                <a:lnTo>
                  <a:pt x="5722620" y="3970020"/>
                </a:lnTo>
                <a:lnTo>
                  <a:pt x="5585460" y="4069080"/>
                </a:lnTo>
                <a:lnTo>
                  <a:pt x="5410200" y="3947160"/>
                </a:lnTo>
                <a:lnTo>
                  <a:pt x="4770120" y="4069080"/>
                </a:lnTo>
                <a:lnTo>
                  <a:pt x="4770120" y="4069080"/>
                </a:lnTo>
                <a:lnTo>
                  <a:pt x="4785360" y="4183380"/>
                </a:lnTo>
                <a:lnTo>
                  <a:pt x="4876800" y="4137660"/>
                </a:lnTo>
                <a:lnTo>
                  <a:pt x="5013960" y="4328160"/>
                </a:lnTo>
                <a:lnTo>
                  <a:pt x="4290060" y="4137660"/>
                </a:lnTo>
                <a:lnTo>
                  <a:pt x="3657600" y="4556760"/>
                </a:lnTo>
                <a:lnTo>
                  <a:pt x="3703320" y="4937760"/>
                </a:lnTo>
                <a:lnTo>
                  <a:pt x="3421380" y="4808220"/>
                </a:lnTo>
                <a:lnTo>
                  <a:pt x="3032760" y="4069080"/>
                </a:lnTo>
                <a:lnTo>
                  <a:pt x="2712720" y="4160520"/>
                </a:lnTo>
                <a:lnTo>
                  <a:pt x="2705100" y="4328160"/>
                </a:lnTo>
                <a:lnTo>
                  <a:pt x="2552700" y="4244340"/>
                </a:lnTo>
                <a:lnTo>
                  <a:pt x="2156460" y="3680460"/>
                </a:lnTo>
                <a:lnTo>
                  <a:pt x="1379220" y="3657600"/>
                </a:lnTo>
                <a:lnTo>
                  <a:pt x="1028700" y="3284220"/>
                </a:lnTo>
                <a:lnTo>
                  <a:pt x="693420" y="3276600"/>
                </a:lnTo>
                <a:lnTo>
                  <a:pt x="297180" y="2796540"/>
                </a:lnTo>
                <a:lnTo>
                  <a:pt x="0" y="1729740"/>
                </a:ln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마켓 산스 TTF Medium" panose="02000000000000000000" pitchFamily="2" charset="-127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961774D-892E-4AD5-8FDC-1EA40722EB29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176130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altLang="ko-KR" sz="18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pipelining</a:t>
            </a:r>
            <a:br>
              <a:rPr lang="en-US" altLang="ko-KR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</a:b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측이 다수의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되지 않은 패킷을 “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in-flight”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로 전송하는 것을 허용한다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34F34E8-541B-4BD7-A04B-073E71937687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2017415"/>
            <a:ext cx="6976032" cy="72988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순서 번호의 범위가 증가해야 한다</a:t>
            </a:r>
          </a:p>
          <a:p>
            <a:pPr marL="144000" lvl="3" indent="-144000" latinLnBrk="0">
              <a:lnSpc>
                <a:spcPct val="12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송수신 측에 버퍼가 필요하다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0E3A71B-C47E-4234-8B20-58A3AB268D82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5747706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파이프라인 프로토콜의 일반적 두 유형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go-Back-N, selective repeat</a:t>
            </a:r>
          </a:p>
        </p:txBody>
      </p:sp>
      <p:sp>
        <p:nvSpPr>
          <p:cNvPr id="11" name="그래픽 9">
            <a:extLst>
              <a:ext uri="{FF2B5EF4-FFF2-40B4-BE49-F238E27FC236}">
                <a16:creationId xmlns:a16="http://schemas.microsoft.com/office/drawing/2014/main" id="{907757AB-7506-47CD-9EFE-215D586C0A9A}"/>
              </a:ext>
            </a:extLst>
          </p:cNvPr>
          <p:cNvSpPr/>
          <p:nvPr/>
        </p:nvSpPr>
        <p:spPr>
          <a:xfrm>
            <a:off x="1439861" y="3686276"/>
            <a:ext cx="2176393" cy="167137"/>
          </a:xfrm>
          <a:custGeom>
            <a:avLst/>
            <a:gdLst>
              <a:gd name="connsiteX0" fmla="*/ -876 w 1874234"/>
              <a:gd name="connsiteY0" fmla="*/ 143797 h 143933"/>
              <a:gd name="connsiteX1" fmla="*/ 1873358 w 1874234"/>
              <a:gd name="connsiteY1" fmla="*/ 143797 h 14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74234" h="143933">
                <a:moveTo>
                  <a:pt x="-876" y="143797"/>
                </a:moveTo>
                <a:cubicBezTo>
                  <a:pt x="-876" y="143797"/>
                  <a:pt x="794938" y="-180053"/>
                  <a:pt x="1873358" y="143797"/>
                </a:cubicBezTo>
              </a:path>
            </a:pathLst>
          </a:custGeom>
          <a:noFill/>
          <a:ln w="25400" cap="flat">
            <a:solidFill>
              <a:srgbClr val="105BA0"/>
            </a:solidFill>
            <a:prstDash val="solid"/>
            <a:miter/>
            <a:tailEnd type="triangle"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F80E71-7A7C-4654-AC62-B877B8D92DA4}"/>
              </a:ext>
            </a:extLst>
          </p:cNvPr>
          <p:cNvGrpSpPr/>
          <p:nvPr/>
        </p:nvGrpSpPr>
        <p:grpSpPr>
          <a:xfrm>
            <a:off x="4596194" y="3551298"/>
            <a:ext cx="631433" cy="751507"/>
            <a:chOff x="6638988" y="4761278"/>
            <a:chExt cx="1023241" cy="121782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9A00D219-949F-442E-A01F-C85EC7ACDE42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AC8128E-8E1E-489E-BD31-021FD8982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sp>
        <p:nvSpPr>
          <p:cNvPr id="17" name="타원 16">
            <a:extLst>
              <a:ext uri="{FF2B5EF4-FFF2-40B4-BE49-F238E27FC236}">
                <a16:creationId xmlns:a16="http://schemas.microsoft.com/office/drawing/2014/main" id="{F6C067B8-A7AA-4C4A-A2CC-AB52B03DD004}"/>
              </a:ext>
            </a:extLst>
          </p:cNvPr>
          <p:cNvSpPr/>
          <p:nvPr/>
        </p:nvSpPr>
        <p:spPr>
          <a:xfrm>
            <a:off x="789810" y="3671373"/>
            <a:ext cx="631433" cy="631432"/>
          </a:xfrm>
          <a:prstGeom prst="ellipse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66E2ECB-6666-4E49-A8A1-C15754B279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46" y="3551298"/>
            <a:ext cx="583761" cy="668540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:a16="http://schemas.microsoft.com/office/drawing/2014/main" id="{18AF4396-5950-4367-A26D-B0479FEB3685}"/>
              </a:ext>
            </a:extLst>
          </p:cNvPr>
          <p:cNvSpPr/>
          <p:nvPr/>
        </p:nvSpPr>
        <p:spPr>
          <a:xfrm>
            <a:off x="3586405" y="3671373"/>
            <a:ext cx="631433" cy="631432"/>
          </a:xfrm>
          <a:prstGeom prst="ellipse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15" name="그림 14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D7857BE5-C79F-4F27-8F7F-4F0B8FEE3D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995" y="3645024"/>
            <a:ext cx="295178" cy="636088"/>
          </a:xfrm>
          <a:prstGeom prst="rect">
            <a:avLst/>
          </a:prstGeom>
        </p:spPr>
      </p:pic>
      <p:sp>
        <p:nvSpPr>
          <p:cNvPr id="21" name="그래픽 9">
            <a:extLst>
              <a:ext uri="{FF2B5EF4-FFF2-40B4-BE49-F238E27FC236}">
                <a16:creationId xmlns:a16="http://schemas.microsoft.com/office/drawing/2014/main" id="{F48A0C27-5EFF-4B06-8FE7-E10C8C211361}"/>
              </a:ext>
            </a:extLst>
          </p:cNvPr>
          <p:cNvSpPr/>
          <p:nvPr/>
        </p:nvSpPr>
        <p:spPr>
          <a:xfrm rot="10800000">
            <a:off x="1439861" y="4077072"/>
            <a:ext cx="2176393" cy="167137"/>
          </a:xfrm>
          <a:custGeom>
            <a:avLst/>
            <a:gdLst>
              <a:gd name="connsiteX0" fmla="*/ -876 w 1874234"/>
              <a:gd name="connsiteY0" fmla="*/ 143797 h 143933"/>
              <a:gd name="connsiteX1" fmla="*/ 1873358 w 1874234"/>
              <a:gd name="connsiteY1" fmla="*/ 143797 h 14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74234" h="143933">
                <a:moveTo>
                  <a:pt x="-876" y="143797"/>
                </a:moveTo>
                <a:cubicBezTo>
                  <a:pt x="-876" y="143797"/>
                  <a:pt x="794938" y="-180053"/>
                  <a:pt x="1873358" y="143797"/>
                </a:cubicBezTo>
              </a:path>
            </a:pathLst>
          </a:custGeom>
          <a:noFill/>
          <a:ln w="25400" cap="flat">
            <a:solidFill>
              <a:srgbClr val="098983"/>
            </a:solidFill>
            <a:prstDash val="solid"/>
            <a:miter/>
            <a:tailEnd type="triangle"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6D3A4A80-5597-42B8-A002-C76C3A20EE24}"/>
              </a:ext>
            </a:extLst>
          </p:cNvPr>
          <p:cNvSpPr/>
          <p:nvPr/>
        </p:nvSpPr>
        <p:spPr>
          <a:xfrm>
            <a:off x="7424539" y="3671373"/>
            <a:ext cx="631433" cy="631432"/>
          </a:xfrm>
          <a:prstGeom prst="ellipse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25" name="그림 24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814B0537-4A1F-471B-BCB9-1236C1DEFE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129" y="3645024"/>
            <a:ext cx="295178" cy="636088"/>
          </a:xfrm>
          <a:prstGeom prst="rect">
            <a:avLst/>
          </a:prstGeom>
        </p:spPr>
      </p:pic>
      <p:sp>
        <p:nvSpPr>
          <p:cNvPr id="26" name="그래픽 9">
            <a:extLst>
              <a:ext uri="{FF2B5EF4-FFF2-40B4-BE49-F238E27FC236}">
                <a16:creationId xmlns:a16="http://schemas.microsoft.com/office/drawing/2014/main" id="{D6C32A9D-492C-4F3B-AF5C-110C918EDF76}"/>
              </a:ext>
            </a:extLst>
          </p:cNvPr>
          <p:cNvSpPr/>
          <p:nvPr/>
        </p:nvSpPr>
        <p:spPr>
          <a:xfrm>
            <a:off x="5246245" y="3686276"/>
            <a:ext cx="2176393" cy="167137"/>
          </a:xfrm>
          <a:custGeom>
            <a:avLst/>
            <a:gdLst>
              <a:gd name="connsiteX0" fmla="*/ -876 w 1874234"/>
              <a:gd name="connsiteY0" fmla="*/ 143797 h 143933"/>
              <a:gd name="connsiteX1" fmla="*/ 1873358 w 1874234"/>
              <a:gd name="connsiteY1" fmla="*/ 143797 h 14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74234" h="143933">
                <a:moveTo>
                  <a:pt x="-876" y="143797"/>
                </a:moveTo>
                <a:cubicBezTo>
                  <a:pt x="-876" y="143797"/>
                  <a:pt x="794938" y="-180053"/>
                  <a:pt x="1873358" y="143797"/>
                </a:cubicBezTo>
              </a:path>
            </a:pathLst>
          </a:custGeom>
          <a:noFill/>
          <a:ln w="25400" cap="flat">
            <a:solidFill>
              <a:srgbClr val="105BA0"/>
            </a:solidFill>
            <a:prstDash val="solid"/>
            <a:miter/>
            <a:tailEnd type="triangle"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7" name="그래픽 9">
            <a:extLst>
              <a:ext uri="{FF2B5EF4-FFF2-40B4-BE49-F238E27FC236}">
                <a16:creationId xmlns:a16="http://schemas.microsoft.com/office/drawing/2014/main" id="{99F658B8-1C7E-42F5-BA84-CECF294A917B}"/>
              </a:ext>
            </a:extLst>
          </p:cNvPr>
          <p:cNvSpPr/>
          <p:nvPr/>
        </p:nvSpPr>
        <p:spPr>
          <a:xfrm rot="10800000">
            <a:off x="5246245" y="3946103"/>
            <a:ext cx="2176393" cy="167137"/>
          </a:xfrm>
          <a:custGeom>
            <a:avLst/>
            <a:gdLst>
              <a:gd name="connsiteX0" fmla="*/ -876 w 1874234"/>
              <a:gd name="connsiteY0" fmla="*/ 143797 h 143933"/>
              <a:gd name="connsiteX1" fmla="*/ 1873358 w 1874234"/>
              <a:gd name="connsiteY1" fmla="*/ 143797 h 14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74234" h="143933">
                <a:moveTo>
                  <a:pt x="-876" y="143797"/>
                </a:moveTo>
                <a:cubicBezTo>
                  <a:pt x="-876" y="143797"/>
                  <a:pt x="794938" y="-180053"/>
                  <a:pt x="1873358" y="143797"/>
                </a:cubicBezTo>
              </a:path>
            </a:pathLst>
          </a:custGeom>
          <a:noFill/>
          <a:ln w="25400" cap="flat">
            <a:solidFill>
              <a:srgbClr val="098983"/>
            </a:solidFill>
            <a:prstDash val="solid"/>
            <a:miter/>
            <a:tailEnd type="triangle"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CDCF4E-26F2-4002-92DA-9AA3347115A5}"/>
              </a:ext>
            </a:extLst>
          </p:cNvPr>
          <p:cNvSpPr txBox="1"/>
          <p:nvPr/>
        </p:nvSpPr>
        <p:spPr>
          <a:xfrm>
            <a:off x="1476375" y="3319561"/>
            <a:ext cx="15271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data packet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758E36C-5BE2-443A-9494-2C2CB29A658E}"/>
              </a:ext>
            </a:extLst>
          </p:cNvPr>
          <p:cNvCxnSpPr>
            <a:cxnSpLocks/>
          </p:cNvCxnSpPr>
          <p:nvPr/>
        </p:nvCxnSpPr>
        <p:spPr>
          <a:xfrm>
            <a:off x="2239962" y="3603625"/>
            <a:ext cx="0" cy="177800"/>
          </a:xfrm>
          <a:prstGeom prst="line">
            <a:avLst/>
          </a:prstGeom>
          <a:noFill/>
          <a:ln w="254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AD91D93-5418-4B92-A246-555C2607FFCE}"/>
              </a:ext>
            </a:extLst>
          </p:cNvPr>
          <p:cNvCxnSpPr>
            <a:cxnSpLocks/>
          </p:cNvCxnSpPr>
          <p:nvPr/>
        </p:nvCxnSpPr>
        <p:spPr>
          <a:xfrm>
            <a:off x="2708275" y="3486150"/>
            <a:ext cx="250825" cy="0"/>
          </a:xfrm>
          <a:prstGeom prst="line">
            <a:avLst/>
          </a:prstGeom>
          <a:noFill/>
          <a:ln w="25400" cap="flat">
            <a:solidFill>
              <a:srgbClr val="105BA0"/>
            </a:solidFill>
            <a:prstDash val="solid"/>
            <a:miter/>
            <a:tailEnd type="triangle"/>
          </a:ln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0123B77-ABBE-4CD4-B236-29AF34F1C773}"/>
              </a:ext>
            </a:extLst>
          </p:cNvPr>
          <p:cNvSpPr txBox="1"/>
          <p:nvPr/>
        </p:nvSpPr>
        <p:spPr>
          <a:xfrm>
            <a:off x="5327209" y="3319561"/>
            <a:ext cx="15271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data packet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40C983CF-2FDD-489B-9455-313490E9396C}"/>
              </a:ext>
            </a:extLst>
          </p:cNvPr>
          <p:cNvCxnSpPr>
            <a:cxnSpLocks/>
          </p:cNvCxnSpPr>
          <p:nvPr/>
        </p:nvCxnSpPr>
        <p:spPr>
          <a:xfrm>
            <a:off x="6559109" y="3486150"/>
            <a:ext cx="250825" cy="0"/>
          </a:xfrm>
          <a:prstGeom prst="line">
            <a:avLst/>
          </a:prstGeom>
          <a:noFill/>
          <a:ln w="25400" cap="flat">
            <a:solidFill>
              <a:srgbClr val="105BA0"/>
            </a:solidFill>
            <a:prstDash val="solid"/>
            <a:miter/>
            <a:tailEnd type="triangle"/>
          </a:ln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E0AB66A-5441-49D5-BEA1-060B4F11EBB8}"/>
              </a:ext>
            </a:extLst>
          </p:cNvPr>
          <p:cNvSpPr txBox="1"/>
          <p:nvPr/>
        </p:nvSpPr>
        <p:spPr>
          <a:xfrm>
            <a:off x="6178109" y="4174033"/>
            <a:ext cx="15271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packets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748DB65-A12F-4E7E-B72F-E22CA0192EE8}"/>
              </a:ext>
            </a:extLst>
          </p:cNvPr>
          <p:cNvCxnSpPr>
            <a:cxnSpLocks/>
          </p:cNvCxnSpPr>
          <p:nvPr/>
        </p:nvCxnSpPr>
        <p:spPr>
          <a:xfrm flipH="1">
            <a:off x="5895534" y="4327921"/>
            <a:ext cx="307975" cy="0"/>
          </a:xfrm>
          <a:prstGeom prst="line">
            <a:avLst/>
          </a:prstGeom>
          <a:noFill/>
          <a:ln w="25400" cap="flat">
            <a:solidFill>
              <a:srgbClr val="098983"/>
            </a:solidFill>
            <a:prstDash val="solid"/>
            <a:miter/>
            <a:tailEnd type="triangle"/>
          </a:ln>
        </p:spPr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9C624C8-7350-4432-B384-8F635EE5AACE}"/>
              </a:ext>
            </a:extLst>
          </p:cNvPr>
          <p:cNvCxnSpPr>
            <a:cxnSpLocks/>
          </p:cNvCxnSpPr>
          <p:nvPr/>
        </p:nvCxnSpPr>
        <p:spPr>
          <a:xfrm>
            <a:off x="5518502" y="3706418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04414ADF-8BE9-4D73-B46B-E3D4FCAFB804}"/>
              </a:ext>
            </a:extLst>
          </p:cNvPr>
          <p:cNvCxnSpPr>
            <a:cxnSpLocks/>
          </p:cNvCxnSpPr>
          <p:nvPr/>
        </p:nvCxnSpPr>
        <p:spPr>
          <a:xfrm>
            <a:off x="5597083" y="3689749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66EF9B7-352F-4E92-AE86-8E99B956BD6E}"/>
              </a:ext>
            </a:extLst>
          </p:cNvPr>
          <p:cNvCxnSpPr>
            <a:cxnSpLocks/>
          </p:cNvCxnSpPr>
          <p:nvPr/>
        </p:nvCxnSpPr>
        <p:spPr>
          <a:xfrm>
            <a:off x="5658995" y="3670699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93A5705E-3E17-46BF-8876-ECFDE5152653}"/>
              </a:ext>
            </a:extLst>
          </p:cNvPr>
          <p:cNvCxnSpPr>
            <a:cxnSpLocks/>
          </p:cNvCxnSpPr>
          <p:nvPr/>
        </p:nvCxnSpPr>
        <p:spPr>
          <a:xfrm>
            <a:off x="5737577" y="3651649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D2062771-EEEE-4068-A182-262AE73B9FD2}"/>
              </a:ext>
            </a:extLst>
          </p:cNvPr>
          <p:cNvCxnSpPr>
            <a:cxnSpLocks/>
          </p:cNvCxnSpPr>
          <p:nvPr/>
        </p:nvCxnSpPr>
        <p:spPr>
          <a:xfrm>
            <a:off x="5909027" y="3634981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EC6646C4-1908-4366-A485-7EB447DBE6B7}"/>
              </a:ext>
            </a:extLst>
          </p:cNvPr>
          <p:cNvCxnSpPr>
            <a:cxnSpLocks/>
          </p:cNvCxnSpPr>
          <p:nvPr/>
        </p:nvCxnSpPr>
        <p:spPr>
          <a:xfrm>
            <a:off x="5980464" y="3627837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1C0D8F6-8FA7-49DC-A5A1-82AA048E112C}"/>
              </a:ext>
            </a:extLst>
          </p:cNvPr>
          <p:cNvCxnSpPr>
            <a:cxnSpLocks/>
          </p:cNvCxnSpPr>
          <p:nvPr/>
        </p:nvCxnSpPr>
        <p:spPr>
          <a:xfrm>
            <a:off x="6051902" y="3625456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509B9019-D5B3-4D20-AD82-07465E5C694A}"/>
              </a:ext>
            </a:extLst>
          </p:cNvPr>
          <p:cNvCxnSpPr>
            <a:cxnSpLocks/>
          </p:cNvCxnSpPr>
          <p:nvPr/>
        </p:nvCxnSpPr>
        <p:spPr>
          <a:xfrm>
            <a:off x="6213827" y="3639743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BB2251A-63AD-432C-877D-0A7EE24829B1}"/>
              </a:ext>
            </a:extLst>
          </p:cNvPr>
          <p:cNvCxnSpPr>
            <a:cxnSpLocks/>
          </p:cNvCxnSpPr>
          <p:nvPr/>
        </p:nvCxnSpPr>
        <p:spPr>
          <a:xfrm>
            <a:off x="6280502" y="3639743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A7A39585-410E-4367-820E-EDBA55238203}"/>
              </a:ext>
            </a:extLst>
          </p:cNvPr>
          <p:cNvCxnSpPr>
            <a:cxnSpLocks/>
          </p:cNvCxnSpPr>
          <p:nvPr/>
        </p:nvCxnSpPr>
        <p:spPr>
          <a:xfrm>
            <a:off x="6349558" y="3639743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0AD8002-C81B-478E-B97B-7055AB8BE1C1}"/>
              </a:ext>
            </a:extLst>
          </p:cNvPr>
          <p:cNvCxnSpPr>
            <a:cxnSpLocks/>
          </p:cNvCxnSpPr>
          <p:nvPr/>
        </p:nvCxnSpPr>
        <p:spPr>
          <a:xfrm>
            <a:off x="6444808" y="3639743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1886C37-3871-4C73-A621-90F16C71E35A}"/>
              </a:ext>
            </a:extLst>
          </p:cNvPr>
          <p:cNvCxnSpPr>
            <a:cxnSpLocks/>
          </p:cNvCxnSpPr>
          <p:nvPr/>
        </p:nvCxnSpPr>
        <p:spPr>
          <a:xfrm>
            <a:off x="6521008" y="3639743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378254B5-23D2-43C5-94FA-5E78FEBD3583}"/>
              </a:ext>
            </a:extLst>
          </p:cNvPr>
          <p:cNvCxnSpPr>
            <a:cxnSpLocks/>
          </p:cNvCxnSpPr>
          <p:nvPr/>
        </p:nvCxnSpPr>
        <p:spPr>
          <a:xfrm>
            <a:off x="6601970" y="3639743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E1CA58BD-9246-45C3-B642-406B58208614}"/>
              </a:ext>
            </a:extLst>
          </p:cNvPr>
          <p:cNvCxnSpPr>
            <a:cxnSpLocks/>
          </p:cNvCxnSpPr>
          <p:nvPr/>
        </p:nvCxnSpPr>
        <p:spPr>
          <a:xfrm>
            <a:off x="6730557" y="3639743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D07720FB-BF28-4B1D-B9E4-91877F7D830E}"/>
              </a:ext>
            </a:extLst>
          </p:cNvPr>
          <p:cNvCxnSpPr>
            <a:cxnSpLocks/>
          </p:cNvCxnSpPr>
          <p:nvPr/>
        </p:nvCxnSpPr>
        <p:spPr>
          <a:xfrm>
            <a:off x="6885338" y="3639743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842BE9AF-85C5-4FBE-8AB6-02C30ECE0219}"/>
              </a:ext>
            </a:extLst>
          </p:cNvPr>
          <p:cNvCxnSpPr>
            <a:cxnSpLocks/>
          </p:cNvCxnSpPr>
          <p:nvPr/>
        </p:nvCxnSpPr>
        <p:spPr>
          <a:xfrm>
            <a:off x="7018688" y="3665936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4E53310A-EB15-49ED-9B3B-7E1F0FC425B3}"/>
              </a:ext>
            </a:extLst>
          </p:cNvPr>
          <p:cNvCxnSpPr>
            <a:cxnSpLocks/>
          </p:cNvCxnSpPr>
          <p:nvPr/>
        </p:nvCxnSpPr>
        <p:spPr>
          <a:xfrm>
            <a:off x="7130607" y="3706417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CEA9D0A-28AC-46F9-8227-D4DDFBF54C41}"/>
              </a:ext>
            </a:extLst>
          </p:cNvPr>
          <p:cNvCxnSpPr>
            <a:cxnSpLocks/>
          </p:cNvCxnSpPr>
          <p:nvPr/>
        </p:nvCxnSpPr>
        <p:spPr>
          <a:xfrm>
            <a:off x="7309201" y="3744517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79844E5-3F03-48B2-B7DC-9C88792C45E6}"/>
              </a:ext>
            </a:extLst>
          </p:cNvPr>
          <p:cNvCxnSpPr>
            <a:cxnSpLocks/>
          </p:cNvCxnSpPr>
          <p:nvPr/>
        </p:nvCxnSpPr>
        <p:spPr>
          <a:xfrm>
            <a:off x="5535171" y="3968353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10D2DE20-3CED-4545-B039-96A9EA74C2FF}"/>
              </a:ext>
            </a:extLst>
          </p:cNvPr>
          <p:cNvCxnSpPr>
            <a:cxnSpLocks/>
          </p:cNvCxnSpPr>
          <p:nvPr/>
        </p:nvCxnSpPr>
        <p:spPr>
          <a:xfrm>
            <a:off x="5668521" y="4006453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21C2CD57-4675-4A6E-B479-1CD42DA33398}"/>
              </a:ext>
            </a:extLst>
          </p:cNvPr>
          <p:cNvCxnSpPr>
            <a:cxnSpLocks/>
          </p:cNvCxnSpPr>
          <p:nvPr/>
        </p:nvCxnSpPr>
        <p:spPr>
          <a:xfrm>
            <a:off x="5825683" y="4023122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D4D62EB-6FDB-4FEF-9106-99F3DCAC3FAE}"/>
              </a:ext>
            </a:extLst>
          </p:cNvPr>
          <p:cNvCxnSpPr>
            <a:cxnSpLocks/>
          </p:cNvCxnSpPr>
          <p:nvPr/>
        </p:nvCxnSpPr>
        <p:spPr>
          <a:xfrm>
            <a:off x="5956652" y="4023122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CC15FEA5-4503-4AC3-99AB-C9ECBE227E67}"/>
              </a:ext>
            </a:extLst>
          </p:cNvPr>
          <p:cNvCxnSpPr>
            <a:cxnSpLocks/>
          </p:cNvCxnSpPr>
          <p:nvPr/>
        </p:nvCxnSpPr>
        <p:spPr>
          <a:xfrm>
            <a:off x="6025708" y="4020741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1BF4D62D-D00B-4FD6-8387-DC22A0F5B2B1}"/>
              </a:ext>
            </a:extLst>
          </p:cNvPr>
          <p:cNvCxnSpPr>
            <a:cxnSpLocks/>
          </p:cNvCxnSpPr>
          <p:nvPr/>
        </p:nvCxnSpPr>
        <p:spPr>
          <a:xfrm>
            <a:off x="6099527" y="4030266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9E9B4BC3-9DB0-4071-A87E-6E3930567581}"/>
              </a:ext>
            </a:extLst>
          </p:cNvPr>
          <p:cNvCxnSpPr>
            <a:cxnSpLocks/>
          </p:cNvCxnSpPr>
          <p:nvPr/>
        </p:nvCxnSpPr>
        <p:spPr>
          <a:xfrm>
            <a:off x="6197158" y="4035028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455590A-54EF-4243-A5E1-C26C362C5897}"/>
              </a:ext>
            </a:extLst>
          </p:cNvPr>
          <p:cNvCxnSpPr>
            <a:cxnSpLocks/>
          </p:cNvCxnSpPr>
          <p:nvPr/>
        </p:nvCxnSpPr>
        <p:spPr>
          <a:xfrm>
            <a:off x="6278121" y="4032647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EC6D423B-7B28-4D78-886B-5DCB75EE5295}"/>
              </a:ext>
            </a:extLst>
          </p:cNvPr>
          <p:cNvCxnSpPr>
            <a:cxnSpLocks/>
          </p:cNvCxnSpPr>
          <p:nvPr/>
        </p:nvCxnSpPr>
        <p:spPr>
          <a:xfrm>
            <a:off x="6337652" y="4027884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B69CA5C1-FD66-458D-9AFB-9B621070444A}"/>
              </a:ext>
            </a:extLst>
          </p:cNvPr>
          <p:cNvCxnSpPr>
            <a:cxnSpLocks/>
          </p:cNvCxnSpPr>
          <p:nvPr/>
        </p:nvCxnSpPr>
        <p:spPr>
          <a:xfrm>
            <a:off x="6506721" y="4027884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CC045039-84A0-46A6-8DED-EDC7488E4880}"/>
              </a:ext>
            </a:extLst>
          </p:cNvPr>
          <p:cNvCxnSpPr>
            <a:cxnSpLocks/>
          </p:cNvCxnSpPr>
          <p:nvPr/>
        </p:nvCxnSpPr>
        <p:spPr>
          <a:xfrm>
            <a:off x="6573396" y="4035028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AD222A7E-E457-4C4C-A74E-6E45A40A8C83}"/>
              </a:ext>
            </a:extLst>
          </p:cNvPr>
          <p:cNvCxnSpPr>
            <a:cxnSpLocks/>
          </p:cNvCxnSpPr>
          <p:nvPr/>
        </p:nvCxnSpPr>
        <p:spPr>
          <a:xfrm>
            <a:off x="6644834" y="4018359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4E845F1A-4BB4-4B78-9AC5-F258AFB9E9BD}"/>
              </a:ext>
            </a:extLst>
          </p:cNvPr>
          <p:cNvCxnSpPr>
            <a:cxnSpLocks/>
          </p:cNvCxnSpPr>
          <p:nvPr/>
        </p:nvCxnSpPr>
        <p:spPr>
          <a:xfrm>
            <a:off x="6811521" y="4015978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F7D86AE2-FFEE-4D47-8948-B3AEE4820962}"/>
              </a:ext>
            </a:extLst>
          </p:cNvPr>
          <p:cNvCxnSpPr>
            <a:cxnSpLocks/>
          </p:cNvCxnSpPr>
          <p:nvPr/>
        </p:nvCxnSpPr>
        <p:spPr>
          <a:xfrm>
            <a:off x="6878196" y="4006453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B3C4442E-EF3D-4E80-8BBB-93FA3AD7CD2C}"/>
              </a:ext>
            </a:extLst>
          </p:cNvPr>
          <p:cNvCxnSpPr>
            <a:cxnSpLocks/>
          </p:cNvCxnSpPr>
          <p:nvPr/>
        </p:nvCxnSpPr>
        <p:spPr>
          <a:xfrm>
            <a:off x="6961540" y="3987403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AC2F2244-B279-4726-A940-7742F0C1589F}"/>
              </a:ext>
            </a:extLst>
          </p:cNvPr>
          <p:cNvCxnSpPr>
            <a:cxnSpLocks/>
          </p:cNvCxnSpPr>
          <p:nvPr/>
        </p:nvCxnSpPr>
        <p:spPr>
          <a:xfrm>
            <a:off x="7035359" y="3973115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B79C5144-E623-4924-805E-BF70C7AEC41E}"/>
              </a:ext>
            </a:extLst>
          </p:cNvPr>
          <p:cNvSpPr txBox="1"/>
          <p:nvPr/>
        </p:nvSpPr>
        <p:spPr>
          <a:xfrm>
            <a:off x="658813" y="5366444"/>
            <a:ext cx="39198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(a) a stop-and-wait protocol in operation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5BF15B4-319F-484D-B32C-DA9BE88A3B44}"/>
              </a:ext>
            </a:extLst>
          </p:cNvPr>
          <p:cNvSpPr txBox="1"/>
          <p:nvPr/>
        </p:nvSpPr>
        <p:spPr>
          <a:xfrm>
            <a:off x="4712164" y="5366444"/>
            <a:ext cx="33839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(b) a pipelined protocol in operation</a:t>
            </a:r>
          </a:p>
        </p:txBody>
      </p:sp>
    </p:spTree>
    <p:extLst>
      <p:ext uri="{BB962C8B-B14F-4D97-AF65-F5344CB8AC3E}">
        <p14:creationId xmlns:p14="http://schemas.microsoft.com/office/powerpoint/2010/main" val="30771793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cs typeface="+mj-cs"/>
              </a:rPr>
              <a:t>Pipelining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>
                <a:cs typeface="+mj-cs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이용률 증가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37</a:t>
            </a:fld>
            <a:endParaRPr lang="en-US" dirty="0"/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C1D8DB9C-5724-40EB-A722-5DD234143B0D}"/>
              </a:ext>
            </a:extLst>
          </p:cNvPr>
          <p:cNvGrpSpPr/>
          <p:nvPr/>
        </p:nvGrpSpPr>
        <p:grpSpPr>
          <a:xfrm>
            <a:off x="525780" y="1243965"/>
            <a:ext cx="7763892" cy="4860022"/>
            <a:chOff x="525780" y="1381125"/>
            <a:chExt cx="7763892" cy="4860022"/>
          </a:xfrm>
        </p:grpSpPr>
        <p:sp>
          <p:nvSpPr>
            <p:cNvPr id="65" name="Freeform 37">
              <a:extLst>
                <a:ext uri="{FF2B5EF4-FFF2-40B4-BE49-F238E27FC236}">
                  <a16:creationId xmlns:a16="http://schemas.microsoft.com/office/drawing/2014/main" id="{C5048B49-EF6B-4FCF-8C69-1CD8E3B93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065" y="4526509"/>
              <a:ext cx="1326636" cy="583943"/>
            </a:xfrm>
            <a:custGeom>
              <a:avLst/>
              <a:gdLst>
                <a:gd name="T0" fmla="*/ 0 w 1845"/>
                <a:gd name="T1" fmla="*/ 0 h 592"/>
                <a:gd name="T2" fmla="*/ 648993033 w 1845"/>
                <a:gd name="T3" fmla="*/ 210058393 h 592"/>
                <a:gd name="T4" fmla="*/ 385192362 w 1845"/>
                <a:gd name="T5" fmla="*/ 210058393 h 592"/>
                <a:gd name="T6" fmla="*/ 0 w 1845"/>
                <a:gd name="T7" fmla="*/ 87654793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45"/>
                <a:gd name="T16" fmla="*/ 0 h 592"/>
                <a:gd name="T17" fmla="*/ 1845 w 1845"/>
                <a:gd name="T18" fmla="*/ 592 h 5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E7856554-334E-41D4-B933-4A14D948D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065" y="4290766"/>
              <a:ext cx="1326636" cy="583943"/>
            </a:xfrm>
            <a:custGeom>
              <a:avLst/>
              <a:gdLst>
                <a:gd name="T0" fmla="*/ 0 w 1845"/>
                <a:gd name="T1" fmla="*/ 0 h 592"/>
                <a:gd name="T2" fmla="*/ 648993033 w 1845"/>
                <a:gd name="T3" fmla="*/ 210058393 h 592"/>
                <a:gd name="T4" fmla="*/ 385192362 w 1845"/>
                <a:gd name="T5" fmla="*/ 210058393 h 592"/>
                <a:gd name="T6" fmla="*/ 0 w 1845"/>
                <a:gd name="T7" fmla="*/ 87654793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45"/>
                <a:gd name="T16" fmla="*/ 0 h 592"/>
                <a:gd name="T17" fmla="*/ 1845 w 1845"/>
                <a:gd name="T18" fmla="*/ 592 h 5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D2D93B9-9354-4D85-8BEC-41E0E60C9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263" y="1929606"/>
              <a:ext cx="2087562" cy="1169987"/>
            </a:xfrm>
            <a:custGeom>
              <a:avLst/>
              <a:gdLst>
                <a:gd name="T0" fmla="*/ 0 w 2902"/>
                <a:gd name="T1" fmla="*/ 0 h 1185"/>
                <a:gd name="T2" fmla="*/ 2147483646 w 2902"/>
                <a:gd name="T3" fmla="*/ 2147483646 h 1185"/>
                <a:gd name="T4" fmla="*/ 2147483646 w 2902"/>
                <a:gd name="T5" fmla="*/ 2147483646 h 1185"/>
                <a:gd name="T6" fmla="*/ 0 w 2902"/>
                <a:gd name="T7" fmla="*/ 2147483646 h 1185"/>
                <a:gd name="T8" fmla="*/ 0 w 2902"/>
                <a:gd name="T9" fmla="*/ 0 h 11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02"/>
                <a:gd name="T16" fmla="*/ 0 h 1185"/>
                <a:gd name="T17" fmla="*/ 2902 w 2902"/>
                <a:gd name="T18" fmla="*/ 1185 h 11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02" h="1185">
                  <a:moveTo>
                    <a:pt x="0" y="0"/>
                  </a:moveTo>
                  <a:lnTo>
                    <a:pt x="2895" y="937"/>
                  </a:lnTo>
                  <a:lnTo>
                    <a:pt x="2902" y="1185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CE2C8AEA-B58D-44F7-A6E1-0BEAE95619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" y="1701165"/>
              <a:ext cx="2255520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ko-KR"/>
              </a:defPPr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0" lvl="3" indent="0" algn="r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  <a:defRPr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lvl="3"/>
              <a:r>
                <a:rPr lang="ko-KR" altLang="en-US" sz="1200" dirty="0"/>
                <a:t>패킷의 첫 번째 비트 송신</a:t>
              </a:r>
              <a:r>
                <a:rPr lang="en-US" altLang="ko-KR" sz="1200" dirty="0"/>
                <a:t>, t = 0</a:t>
              </a: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88E0816D-8769-442B-AA3E-7AAB70BEC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8713" y="1720850"/>
              <a:ext cx="22225" cy="3351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5696C78A-55DD-495F-9E46-19E855EC53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7125" y="1381125"/>
              <a:ext cx="1042988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sender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557CBBD5-0EDF-417C-B5BC-F97545F34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0215" y="1381125"/>
              <a:ext cx="1359546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receiver</a:t>
              </a: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98F729F2-519A-4A44-9A45-3135C2B69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8138" y="1925638"/>
              <a:ext cx="2049462" cy="31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05D21ACE-EC30-4B7B-8C19-C5169A2E15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4488" y="4057650"/>
              <a:ext cx="20494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8740DBBE-2AF3-4B63-A990-ACE4144312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7325" y="1922463"/>
              <a:ext cx="1238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965D40D5-C3DF-4363-9288-B357441A3E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7325" y="2166938"/>
              <a:ext cx="1238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34DEE987-585A-4CFD-9E6A-25D39FACC6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67013" y="2189162"/>
              <a:ext cx="0" cy="1816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24764718-6D91-465F-AC37-786EC8A6D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3" y="2014636"/>
              <a:ext cx="2122486" cy="35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algn="r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마지막 비트 송신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t = L / R</a:t>
              </a:r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05207970-D899-43DB-B4D0-CAF13716C0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27600" y="2847975"/>
              <a:ext cx="1254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1E87E8D7-F9EF-478A-B749-023A70DB0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2663510"/>
              <a:ext cx="2172284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패킷의 첫 번째 비트 도착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A8330997-DC3B-4D57-84CF-BDC3FC3D82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9825" y="3098800"/>
              <a:ext cx="1190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C2968ECA-B2BC-41E0-A1B8-3429DFEA7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3963" y="2911689"/>
              <a:ext cx="3050857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패킷의 마지막 비트 도착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ACK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전송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CC972ECB-F40D-4BB0-84D4-8E4385CEDC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2" y="3794843"/>
              <a:ext cx="2031861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algn="r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 </a:t>
              </a: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도착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다음 패킷 전송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</a:b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 = RTT + L / R</a:t>
              </a:r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57ED50E2-3E7A-49BA-9F9E-9B1DF29F4D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8438" y="4044950"/>
              <a:ext cx="124251" cy="11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33CB683C-429E-44A6-B352-264BD8B7A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652" y="4052661"/>
              <a:ext cx="1326636" cy="585472"/>
            </a:xfrm>
            <a:custGeom>
              <a:avLst/>
              <a:gdLst>
                <a:gd name="T0" fmla="*/ 0 w 1845"/>
                <a:gd name="T1" fmla="*/ 0 h 592"/>
                <a:gd name="T2" fmla="*/ 648993033 w 1845"/>
                <a:gd name="T3" fmla="*/ 210058393 h 592"/>
                <a:gd name="T4" fmla="*/ 385192362 w 1845"/>
                <a:gd name="T5" fmla="*/ 210058393 h 592"/>
                <a:gd name="T6" fmla="*/ 0 w 1845"/>
                <a:gd name="T7" fmla="*/ 87654793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45"/>
                <a:gd name="T16" fmla="*/ 0 h 592"/>
                <a:gd name="T17" fmla="*/ 1845 w 1845"/>
                <a:gd name="T18" fmla="*/ 592 h 5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322963A-7EC1-44D5-8CD0-B55D631EF8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3474" y="4044950"/>
              <a:ext cx="1197640" cy="541576"/>
              <a:chOff x="12315" y="13225"/>
              <a:chExt cx="2775" cy="913"/>
            </a:xfrm>
          </p:grpSpPr>
          <p:sp>
            <p:nvSpPr>
              <p:cNvPr id="30" name="Line 27">
                <a:extLst>
                  <a:ext uri="{FF2B5EF4-FFF2-40B4-BE49-F238E27FC236}">
                    <a16:creationId xmlns:a16="http://schemas.microsoft.com/office/drawing/2014/main" id="{4D99F4A2-4DC9-4C2B-B9DF-8285AE242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15" y="13225"/>
                <a:ext cx="1587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Line 28">
                <a:extLst>
                  <a:ext uri="{FF2B5EF4-FFF2-40B4-BE49-F238E27FC236}">
                    <a16:creationId xmlns:a16="http://schemas.microsoft.com/office/drawing/2014/main" id="{629E8547-0E81-40C4-AFC8-16D73987D9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15" y="13737"/>
                <a:ext cx="1175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E863D34F-3274-443C-BDA5-8A8107EDF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3474" y="4289342"/>
              <a:ext cx="296390" cy="1263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4C500071-7C31-4F9B-9121-06D11DB441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473" y="4414503"/>
              <a:ext cx="506926" cy="2384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B9239374-1126-4E40-AB28-F813BBAC3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025" y="2174875"/>
              <a:ext cx="2087563" cy="1168400"/>
            </a:xfrm>
            <a:custGeom>
              <a:avLst/>
              <a:gdLst>
                <a:gd name="T0" fmla="*/ 0 w 2902"/>
                <a:gd name="T1" fmla="*/ 0 h 1185"/>
                <a:gd name="T2" fmla="*/ 2147483646 w 2902"/>
                <a:gd name="T3" fmla="*/ 2147483646 h 1185"/>
                <a:gd name="T4" fmla="*/ 2147483646 w 2902"/>
                <a:gd name="T5" fmla="*/ 2147483646 h 1185"/>
                <a:gd name="T6" fmla="*/ 0 w 2902"/>
                <a:gd name="T7" fmla="*/ 2147483646 h 1185"/>
                <a:gd name="T8" fmla="*/ 0 w 2902"/>
                <a:gd name="T9" fmla="*/ 0 h 11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02"/>
                <a:gd name="T16" fmla="*/ 0 h 1185"/>
                <a:gd name="T17" fmla="*/ 2902 w 2902"/>
                <a:gd name="T18" fmla="*/ 1185 h 11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02" h="1185">
                  <a:moveTo>
                    <a:pt x="0" y="0"/>
                  </a:moveTo>
                  <a:lnTo>
                    <a:pt x="2895" y="937"/>
                  </a:lnTo>
                  <a:lnTo>
                    <a:pt x="2902" y="1185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AC22EF9-DE74-4C03-9D12-720AF598F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025" y="2418557"/>
              <a:ext cx="2087563" cy="1168400"/>
            </a:xfrm>
            <a:custGeom>
              <a:avLst/>
              <a:gdLst>
                <a:gd name="T0" fmla="*/ 0 w 2902"/>
                <a:gd name="T1" fmla="*/ 0 h 1185"/>
                <a:gd name="T2" fmla="*/ 2147483646 w 2902"/>
                <a:gd name="T3" fmla="*/ 2147483646 h 1185"/>
                <a:gd name="T4" fmla="*/ 2147483646 w 2902"/>
                <a:gd name="T5" fmla="*/ 2147483646 h 1185"/>
                <a:gd name="T6" fmla="*/ 0 w 2902"/>
                <a:gd name="T7" fmla="*/ 2147483646 h 1185"/>
                <a:gd name="T8" fmla="*/ 0 w 2902"/>
                <a:gd name="T9" fmla="*/ 0 h 11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02"/>
                <a:gd name="T16" fmla="*/ 0 h 1185"/>
                <a:gd name="T17" fmla="*/ 2902 w 2902"/>
                <a:gd name="T18" fmla="*/ 1185 h 11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02" h="1185">
                  <a:moveTo>
                    <a:pt x="0" y="0"/>
                  </a:moveTo>
                  <a:lnTo>
                    <a:pt x="2895" y="937"/>
                  </a:lnTo>
                  <a:lnTo>
                    <a:pt x="2902" y="1185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51E429FB-FC4D-4958-A9A6-EC4B6CB795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4488" y="3106738"/>
              <a:ext cx="2065337" cy="931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3BD85A73-B70F-456B-8551-BB05C8DEDF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4488" y="3357563"/>
              <a:ext cx="2065337" cy="931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15EC4F54-FEAA-4862-B3B6-DC285F85FF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8438" y="4283075"/>
              <a:ext cx="124251" cy="1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Line 41">
              <a:extLst>
                <a:ext uri="{FF2B5EF4-FFF2-40B4-BE49-F238E27FC236}">
                  <a16:creationId xmlns:a16="http://schemas.microsoft.com/office/drawing/2014/main" id="{441C1E55-0BED-4F52-B945-8C3BB309F2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4267" y="4536353"/>
              <a:ext cx="296390" cy="1260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Line 42">
              <a:extLst>
                <a:ext uri="{FF2B5EF4-FFF2-40B4-BE49-F238E27FC236}">
                  <a16:creationId xmlns:a16="http://schemas.microsoft.com/office/drawing/2014/main" id="{2BAF9E44-2D88-4C10-89B7-3BFA76F337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4360" y="4651663"/>
              <a:ext cx="506926" cy="2378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Line 44">
              <a:extLst>
                <a:ext uri="{FF2B5EF4-FFF2-40B4-BE49-F238E27FC236}">
                  <a16:creationId xmlns:a16="http://schemas.microsoft.com/office/drawing/2014/main" id="{37B2B9F1-4559-4AD9-A0B5-C3E73BF3D1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8438" y="4533900"/>
              <a:ext cx="124251" cy="1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0B6F8013-CE31-4484-ADB0-FF236119F7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4005" y="4836817"/>
              <a:ext cx="507109" cy="2372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Line 49">
              <a:extLst>
                <a:ext uri="{FF2B5EF4-FFF2-40B4-BE49-F238E27FC236}">
                  <a16:creationId xmlns:a16="http://schemas.microsoft.com/office/drawing/2014/main" id="{68FC9750-083D-4A59-BB3E-27B698110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3474" y="4777653"/>
              <a:ext cx="296390" cy="1260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Line 50">
              <a:extLst>
                <a:ext uri="{FF2B5EF4-FFF2-40B4-BE49-F238E27FC236}">
                  <a16:creationId xmlns:a16="http://schemas.microsoft.com/office/drawing/2014/main" id="{CB3DB74C-673D-423B-B120-E4AF73A73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473" y="4902488"/>
              <a:ext cx="506926" cy="2378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Line 51">
              <a:extLst>
                <a:ext uri="{FF2B5EF4-FFF2-40B4-BE49-F238E27FC236}">
                  <a16:creationId xmlns:a16="http://schemas.microsoft.com/office/drawing/2014/main" id="{98087C79-A76C-415A-A41D-E29922ADD6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9250" y="3609975"/>
              <a:ext cx="2065338" cy="9318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Box 52">
              <a:extLst>
                <a:ext uri="{FF2B5EF4-FFF2-40B4-BE49-F238E27FC236}">
                  <a16:creationId xmlns:a16="http://schemas.microsoft.com/office/drawing/2014/main" id="{25A2D337-516A-424E-9E9B-8E9B16499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788" y="3188443"/>
              <a:ext cx="3245371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두 번째 패킷의 마지막 비트 도착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ACK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전송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4" name="Line 53">
              <a:extLst>
                <a:ext uri="{FF2B5EF4-FFF2-40B4-BE49-F238E27FC236}">
                  <a16:creationId xmlns:a16="http://schemas.microsoft.com/office/drawing/2014/main" id="{2FCAF886-D450-4ABA-8B9A-5D22B7058B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9825" y="3335338"/>
              <a:ext cx="1127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Line 54">
              <a:extLst>
                <a:ext uri="{FF2B5EF4-FFF2-40B4-BE49-F238E27FC236}">
                  <a16:creationId xmlns:a16="http://schemas.microsoft.com/office/drawing/2014/main" id="{3EC0FC28-C415-4CCE-9FD2-B8C431BBC4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0938" y="3587750"/>
              <a:ext cx="1127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 Box 55">
              <a:extLst>
                <a:ext uri="{FF2B5EF4-FFF2-40B4-BE49-F238E27FC236}">
                  <a16:creationId xmlns:a16="http://schemas.microsoft.com/office/drawing/2014/main" id="{385ABE01-E387-4CED-B39D-833563BCC5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6025" y="3465198"/>
              <a:ext cx="3263647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 번째 패킷의 마지막 비트 도착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ACK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전송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7" name="Text Box 57">
              <a:extLst>
                <a:ext uri="{FF2B5EF4-FFF2-40B4-BE49-F238E27FC236}">
                  <a16:creationId xmlns:a16="http://schemas.microsoft.com/office/drawing/2014/main" id="{1E2F41F5-2409-4EB4-ACDA-EE319992EF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558" y="4299373"/>
              <a:ext cx="2455800" cy="627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3-packet pipelining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으로 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이용률이 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3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배 증가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!</a:t>
              </a:r>
            </a:p>
          </p:txBody>
        </p:sp>
        <p:sp>
          <p:nvSpPr>
            <p:cNvPr id="58" name="Line 58">
              <a:extLst>
                <a:ext uri="{FF2B5EF4-FFF2-40B4-BE49-F238E27FC236}">
                  <a16:creationId xmlns:a16="http://schemas.microsoft.com/office/drawing/2014/main" id="{0CE6608A-023E-4FB7-A2B4-5AE3D53282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5744" y="4881350"/>
              <a:ext cx="0" cy="785389"/>
            </a:xfrm>
            <a:prstGeom prst="line">
              <a:avLst/>
            </a:prstGeom>
            <a:noFill/>
            <a:ln w="12700">
              <a:solidFill>
                <a:srgbClr val="F27037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67B4847A-0B70-4CFB-9D74-079B9B14A5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8603" y="2973458"/>
              <a:ext cx="965200" cy="3397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ko-KR"/>
              </a:defPPr>
              <a:lvl1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ko-KR"/>
                <a:t>RTT </a:t>
              </a: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95EF267C-EA0F-4F3E-BF6E-C61608203E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7500" y="1708150"/>
              <a:ext cx="20638" cy="3284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270C5D8E-8CEA-422C-BC39-EFFEFE84A08E}"/>
                </a:ext>
              </a:extLst>
            </p:cNvPr>
            <p:cNvGrpSpPr/>
            <p:nvPr/>
          </p:nvGrpSpPr>
          <p:grpSpPr>
            <a:xfrm>
              <a:off x="1626346" y="5555250"/>
              <a:ext cx="5079643" cy="685897"/>
              <a:chOff x="1925494" y="5338080"/>
              <a:chExt cx="5079643" cy="685897"/>
            </a:xfrm>
          </p:grpSpPr>
          <p:sp>
            <p:nvSpPr>
              <p:cNvPr id="67" name="Rectangle 5">
                <a:extLst>
                  <a:ext uri="{FF2B5EF4-FFF2-40B4-BE49-F238E27FC236}">
                    <a16:creationId xmlns:a16="http://schemas.microsoft.com/office/drawing/2014/main" id="{5B2A1E10-6A6E-4B7B-A1D1-68FDF95D4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5494" y="5416531"/>
                <a:ext cx="1351642" cy="3877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lvl="3" latinLnBrk="0">
                  <a:lnSpc>
                    <a:spcPct val="120000"/>
                  </a:lnSpc>
                  <a:spcBef>
                    <a:spcPts val="600"/>
                  </a:spcBef>
                  <a:buClr>
                    <a:srgbClr val="0B4CA2"/>
                  </a:buClr>
                  <a:buSzPct val="80000"/>
                </a:pPr>
                <a:r>
                  <a:rPr lang="en-US" altLang="ko-KR" sz="1600" i="1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U</a:t>
                </a:r>
                <a:r>
                  <a:rPr lang="en-US" altLang="ko-KR" i="1" baseline="-250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sender  </a:t>
                </a:r>
                <a:r>
                  <a:rPr lang="en-US" altLang="ko-KR" sz="16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=</a:t>
                </a:r>
                <a:r>
                  <a:rPr lang="en-US" altLang="ko-KR" i="1" baseline="-250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</a:t>
                </a:r>
              </a:p>
            </p:txBody>
          </p: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E399D3C0-99EA-403E-A92B-A82233ECF2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7989" y="5656729"/>
                <a:ext cx="1307213" cy="0"/>
              </a:xfrm>
              <a:prstGeom prst="line">
                <a:avLst/>
              </a:prstGeom>
              <a:ln w="1905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089C3D5-B91A-48CE-92FC-1B596CD94B39}"/>
                  </a:ext>
                </a:extLst>
              </p:cNvPr>
              <p:cNvSpPr txBox="1"/>
              <p:nvPr/>
            </p:nvSpPr>
            <p:spPr>
              <a:xfrm>
                <a:off x="2892368" y="5685423"/>
                <a:ext cx="16784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6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RTT + L / R</a:t>
                </a:r>
                <a:endParaRPr lang="ko-KR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3D20508-7DA9-4416-90D8-6594788AD34F}"/>
                  </a:ext>
                </a:extLst>
              </p:cNvPr>
              <p:cNvSpPr txBox="1"/>
              <p:nvPr/>
            </p:nvSpPr>
            <p:spPr>
              <a:xfrm>
                <a:off x="2892368" y="5338080"/>
                <a:ext cx="16784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6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3L / R</a:t>
                </a:r>
                <a:endParaRPr lang="ko-KR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71" name="Rectangle 5">
                <a:extLst>
                  <a:ext uri="{FF2B5EF4-FFF2-40B4-BE49-F238E27FC236}">
                    <a16:creationId xmlns:a16="http://schemas.microsoft.com/office/drawing/2014/main" id="{E150F0AA-D741-4C41-A129-68C2C476C5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9728" y="5427223"/>
                <a:ext cx="383902" cy="3877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lvl="3" latinLnBrk="0">
                  <a:lnSpc>
                    <a:spcPct val="120000"/>
                  </a:lnSpc>
                  <a:spcBef>
                    <a:spcPts val="600"/>
                  </a:spcBef>
                  <a:buClr>
                    <a:srgbClr val="0B4CA2"/>
                  </a:buClr>
                  <a:buSzPct val="80000"/>
                </a:pPr>
                <a:r>
                  <a:rPr lang="en-US" altLang="ko-KR" sz="16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= 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D05EBC29-27F6-455A-A57B-897D0985A7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5991" y="5656729"/>
                <a:ext cx="803046" cy="0"/>
              </a:xfrm>
              <a:prstGeom prst="line">
                <a:avLst/>
              </a:prstGeom>
              <a:ln w="1905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4981593-3B0D-4466-AAD1-5AE31762E4EE}"/>
                  </a:ext>
                </a:extLst>
              </p:cNvPr>
              <p:cNvSpPr txBox="1"/>
              <p:nvPr/>
            </p:nvSpPr>
            <p:spPr>
              <a:xfrm>
                <a:off x="4572787" y="5685423"/>
                <a:ext cx="10294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6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30.008</a:t>
                </a:r>
                <a:endParaRPr lang="ko-KR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92B58F0-C089-466D-99A3-6814966BAD0A}"/>
                  </a:ext>
                </a:extLst>
              </p:cNvPr>
              <p:cNvSpPr txBox="1"/>
              <p:nvPr/>
            </p:nvSpPr>
            <p:spPr>
              <a:xfrm>
                <a:off x="4572787" y="5338080"/>
                <a:ext cx="10294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6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.0024</a:t>
                </a:r>
                <a:endParaRPr lang="ko-KR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75" name="Rectangle 5">
                <a:extLst>
                  <a:ext uri="{FF2B5EF4-FFF2-40B4-BE49-F238E27FC236}">
                    <a16:creationId xmlns:a16="http://schemas.microsoft.com/office/drawing/2014/main" id="{8989E1FF-6D15-443B-9F8A-99B7BA4EB4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4792" y="5416531"/>
                <a:ext cx="1490345" cy="3877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lvl="3" latinLnBrk="0">
                  <a:lnSpc>
                    <a:spcPct val="120000"/>
                  </a:lnSpc>
                  <a:spcBef>
                    <a:spcPts val="600"/>
                  </a:spcBef>
                  <a:buClr>
                    <a:srgbClr val="0B4CA2"/>
                  </a:buClr>
                  <a:buSzPct val="80000"/>
                </a:pPr>
                <a:r>
                  <a:rPr lang="en-US" altLang="ko-KR" sz="16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=</a:t>
                </a:r>
                <a:r>
                  <a:rPr lang="en-US" altLang="ko-KR" sz="1600" baseline="-250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</a:t>
                </a:r>
                <a:r>
                  <a:rPr lang="en-US" altLang="ko-KR" sz="16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0.00081 </a:t>
                </a:r>
                <a:endParaRPr lang="en-US" altLang="ko-KR" sz="1600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12872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 dirty="0">
                <a:cs typeface="+mj-cs"/>
              </a:rPr>
              <a:t>Pipelined </a:t>
            </a:r>
            <a:r>
              <a:rPr lang="en-US" altLang="ko-KR" sz="2000">
                <a:cs typeface="+mj-cs"/>
              </a:rPr>
              <a:t>protocols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>
                <a:cs typeface="+mj-cs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개요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38</a:t>
            </a:fld>
            <a:endParaRPr lang="en-US" dirty="0"/>
          </a:p>
        </p:txBody>
      </p:sp>
      <p:sp>
        <p:nvSpPr>
          <p:cNvPr id="5" name="텍스트 개체 틀 19">
            <a:extLst>
              <a:ext uri="{FF2B5EF4-FFF2-40B4-BE49-F238E27FC236}">
                <a16:creationId xmlns:a16="http://schemas.microsoft.com/office/drawing/2014/main" id="{62BE5B63-6B63-4DF4-8B63-73A5D48C6ECB}"/>
              </a:ext>
            </a:extLst>
          </p:cNvPr>
          <p:cNvSpPr txBox="1">
            <a:spLocks/>
          </p:cNvSpPr>
          <p:nvPr/>
        </p:nvSpPr>
        <p:spPr>
          <a:xfrm>
            <a:off x="1295406" y="1155777"/>
            <a:ext cx="7071353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SzPct val="65000"/>
              <a:defRPr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Go-back-N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8984D98-D194-4B17-82E0-58F0AD4C0535}"/>
              </a:ext>
            </a:extLst>
          </p:cNvPr>
          <p:cNvSpPr/>
          <p:nvPr/>
        </p:nvSpPr>
        <p:spPr>
          <a:xfrm>
            <a:off x="751417" y="1558658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" name="그래픽 13">
            <a:extLst>
              <a:ext uri="{FF2B5EF4-FFF2-40B4-BE49-F238E27FC236}">
                <a16:creationId xmlns:a16="http://schemas.microsoft.com/office/drawing/2014/main" id="{1826E3C4-8223-408F-B85B-B3D6B58C96E8}"/>
              </a:ext>
            </a:extLst>
          </p:cNvPr>
          <p:cNvSpPr/>
          <p:nvPr/>
        </p:nvSpPr>
        <p:spPr>
          <a:xfrm rot="5400000">
            <a:off x="620678" y="1080446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105BA0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" name="텍스트 개체 틀 19">
            <a:extLst>
              <a:ext uri="{FF2B5EF4-FFF2-40B4-BE49-F238E27FC236}">
                <a16:creationId xmlns:a16="http://schemas.microsoft.com/office/drawing/2014/main" id="{F4F25C78-60EA-40B6-A1A7-3D6DEB146856}"/>
              </a:ext>
            </a:extLst>
          </p:cNvPr>
          <p:cNvSpPr txBox="1">
            <a:spLocks/>
          </p:cNvSpPr>
          <p:nvPr/>
        </p:nvSpPr>
        <p:spPr>
          <a:xfrm>
            <a:off x="1295406" y="4112484"/>
            <a:ext cx="7071353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SzPct val="65000"/>
              <a:defRPr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Selective Repeat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7529146-9EEF-47B0-BC79-EE73D1F50341}"/>
              </a:ext>
            </a:extLst>
          </p:cNvPr>
          <p:cNvSpPr/>
          <p:nvPr/>
        </p:nvSpPr>
        <p:spPr>
          <a:xfrm>
            <a:off x="751417" y="4528849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0" name="그래픽 13">
            <a:extLst>
              <a:ext uri="{FF2B5EF4-FFF2-40B4-BE49-F238E27FC236}">
                <a16:creationId xmlns:a16="http://schemas.microsoft.com/office/drawing/2014/main" id="{CE23D90A-1FFF-494D-AEA1-22F09E833AE1}"/>
              </a:ext>
            </a:extLst>
          </p:cNvPr>
          <p:cNvSpPr/>
          <p:nvPr/>
        </p:nvSpPr>
        <p:spPr>
          <a:xfrm rot="5400000">
            <a:off x="630824" y="4037153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098983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23CE7B1-392B-4377-8288-DFA0E48B70B1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5805264"/>
            <a:ext cx="6976032" cy="36760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타이머가 종료되면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된 패킷만 재전송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6B6F5BE-8D49-48A0-9325-91541D515F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30" y="4148292"/>
            <a:ext cx="304800" cy="304800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D6E460A0-63B9-4C47-82C5-AC9FB42530BC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677876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 파이프라인에 최대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개의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된 패킷이 있을 수 있다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측은 각 패킷에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개별적인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ACK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보냄</a:t>
            </a:r>
            <a:endParaRPr lang="en-US" altLang="ko-KR" sz="16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측은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된 각 패킷에 타이머 관리</a:t>
            </a:r>
          </a:p>
          <a:p>
            <a:pPr marL="0" lvl="2" indent="0">
              <a:lnSpc>
                <a:spcPct val="120000"/>
              </a:lnSpc>
              <a:spcBef>
                <a:spcPts val="600"/>
              </a:spcBef>
              <a:buNone/>
            </a:pPr>
            <a:endParaRPr lang="ko-KR" altLang="en-US" sz="16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A8006BA-D9E4-4877-AB12-FEFCA17B10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35" y="1179014"/>
            <a:ext cx="301942" cy="301942"/>
          </a:xfrm>
          <a:prstGeom prst="rect">
            <a:avLst/>
          </a:prstGeom>
        </p:spPr>
      </p:pic>
      <p:sp>
        <p:nvSpPr>
          <p:cNvPr id="16" name="Rectangle 3">
            <a:extLst>
              <a:ext uri="{FF2B5EF4-FFF2-40B4-BE49-F238E27FC236}">
                <a16:creationId xmlns:a16="http://schemas.microsoft.com/office/drawing/2014/main" id="{7E427578-3525-451B-8FD7-EF10202660C6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728580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 파이프라인에 최대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개의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된 패킷이 있을 수 있다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측은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누적확인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응답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cumulative ack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함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7C759DD2-8971-4B33-97DE-E8F70DFFC6F9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2489794"/>
            <a:ext cx="6976032" cy="36760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앞에 빠진 부분이 있는 패킷은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보냄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6ABEE16D-FFBB-4D59-9C81-811A22BFC02A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92494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측은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된 패킷 중 가장 먼저 것에 타이머 관리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96265554-F7E0-4201-8695-FD75160259CD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3308050"/>
            <a:ext cx="6976032" cy="36760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타이머가 종료되면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ACK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된 모든 패킷 재전송</a:t>
            </a:r>
          </a:p>
        </p:txBody>
      </p:sp>
    </p:spTree>
    <p:extLst>
      <p:ext uri="{BB962C8B-B14F-4D97-AF65-F5344CB8AC3E}">
        <p14:creationId xmlns:p14="http://schemas.microsoft.com/office/powerpoint/2010/main" val="29121611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 dirty="0">
                <a:cs typeface="+mj-cs"/>
              </a:rPr>
              <a:t>N</a:t>
            </a:r>
            <a:r>
              <a:rPr lang="ko-KR" altLang="en-US" sz="2000" dirty="0">
                <a:cs typeface="+mj-cs"/>
              </a:rPr>
              <a:t>부터 반복</a:t>
            </a:r>
            <a:r>
              <a:rPr lang="en-US" altLang="ko-KR" sz="2000" dirty="0">
                <a:cs typeface="+mj-cs"/>
              </a:rPr>
              <a:t>(Go-Back-N, GBN)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 dirty="0">
                <a:cs typeface="+mj-cs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송신 측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39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48DB50-A6A4-4CA8-AE56-05D9878F918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118980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패킷 헤더에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k-bit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순서 번호가 있음</a:t>
            </a:r>
          </a:p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“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윈도우”에는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최대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개의 연속으로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되지 않은 패킷이 허용됨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D566F51-3B25-4B9F-BC77-B95521674F18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1857334"/>
            <a:ext cx="6976032" cy="3491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앞에 빠진 부분이 있는 패킷은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보냄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5F9396B-3805-42BA-9D30-5228A4B99A9E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456540"/>
            <a:ext cx="783788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ACK(n):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순서 번호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까지의 모든 패킷을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함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-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“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누적확인 응답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(cumulative ACK)”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438628F-10EC-413A-89A8-3F7B253A3BDE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5111074"/>
            <a:ext cx="6976032" cy="3491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중복된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받을 수도 있다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 참조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435B289-412A-412C-950C-0A6BAC0C1FC7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5607160"/>
            <a:ext cx="783788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in-flight(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보냈지만 아직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안 된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패킷 중 가장 먼저인 것에 대해 타이머 관리</a:t>
            </a:r>
          </a:p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timeout(n) 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패킷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과 그 뒤의 윈도우 내의 패킷들 모두 재전송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8D586C1-44ED-4A93-AD63-CD3CFE8B08D9}"/>
              </a:ext>
            </a:extLst>
          </p:cNvPr>
          <p:cNvGrpSpPr/>
          <p:nvPr/>
        </p:nvGrpSpPr>
        <p:grpSpPr>
          <a:xfrm>
            <a:off x="983432" y="3112770"/>
            <a:ext cx="762000" cy="495300"/>
            <a:chOff x="826294" y="3181350"/>
            <a:chExt cx="678975" cy="4953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E3CE435-0AF4-4420-A067-A23EC3205AD6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CAB52C8-BE71-4140-B720-949588709F64}"/>
                </a:ext>
              </a:extLst>
            </p:cNvPr>
            <p:cNvSpPr/>
            <p:nvPr/>
          </p:nvSpPr>
          <p:spPr>
            <a:xfrm>
              <a:off x="948373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6E0C0BC-7108-4FB8-AA09-D927CEE88D21}"/>
                </a:ext>
              </a:extLst>
            </p:cNvPr>
            <p:cNvSpPr/>
            <p:nvPr/>
          </p:nvSpPr>
          <p:spPr>
            <a:xfrm>
              <a:off x="1070452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2DC0372-1C92-4153-ACAA-D6410F88001A}"/>
                </a:ext>
              </a:extLst>
            </p:cNvPr>
            <p:cNvSpPr/>
            <p:nvPr/>
          </p:nvSpPr>
          <p:spPr>
            <a:xfrm>
              <a:off x="1192531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A401CE6-AC47-4AEA-BEAB-E5073B046FCB}"/>
                </a:ext>
              </a:extLst>
            </p:cNvPr>
            <p:cNvSpPr/>
            <p:nvPr/>
          </p:nvSpPr>
          <p:spPr>
            <a:xfrm>
              <a:off x="1314610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37AE769-51DD-4FEC-9333-17B3CDF55274}"/>
                </a:ext>
              </a:extLst>
            </p:cNvPr>
            <p:cNvSpPr/>
            <p:nvPr/>
          </p:nvSpPr>
          <p:spPr>
            <a:xfrm>
              <a:off x="1436689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185A6D4-816B-4A3E-8919-5077667F78BD}"/>
              </a:ext>
            </a:extLst>
          </p:cNvPr>
          <p:cNvGrpSpPr/>
          <p:nvPr/>
        </p:nvGrpSpPr>
        <p:grpSpPr>
          <a:xfrm>
            <a:off x="1843064" y="3112770"/>
            <a:ext cx="1054894" cy="495300"/>
            <a:chOff x="826294" y="3181350"/>
            <a:chExt cx="939956" cy="4953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9B5D183-4B71-414F-B288-CA2D50433CC2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ADB0B5B-B040-4325-8D5C-E6179F8C44B2}"/>
                </a:ext>
              </a:extLst>
            </p:cNvPr>
            <p:cNvSpPr/>
            <p:nvPr/>
          </p:nvSpPr>
          <p:spPr>
            <a:xfrm>
              <a:off x="950776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45AAB85-6E2B-4511-8B39-CF97C8058C41}"/>
                </a:ext>
              </a:extLst>
            </p:cNvPr>
            <p:cNvSpPr/>
            <p:nvPr/>
          </p:nvSpPr>
          <p:spPr>
            <a:xfrm>
              <a:off x="1075259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9E95821-4A74-4067-9F1C-3DC31F8EC427}"/>
                </a:ext>
              </a:extLst>
            </p:cNvPr>
            <p:cNvSpPr/>
            <p:nvPr/>
          </p:nvSpPr>
          <p:spPr>
            <a:xfrm>
              <a:off x="1199741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A2C020A-3F6C-409D-AFF0-9B6F686373F4}"/>
                </a:ext>
              </a:extLst>
            </p:cNvPr>
            <p:cNvSpPr/>
            <p:nvPr/>
          </p:nvSpPr>
          <p:spPr>
            <a:xfrm>
              <a:off x="1324223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F117132-97F1-44EA-83CF-58624184213A}"/>
                </a:ext>
              </a:extLst>
            </p:cNvPr>
            <p:cNvSpPr/>
            <p:nvPr/>
          </p:nvSpPr>
          <p:spPr>
            <a:xfrm>
              <a:off x="1448705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2D046AD-D595-4E84-83C6-85DC2C4B584C}"/>
                </a:ext>
              </a:extLst>
            </p:cNvPr>
            <p:cNvSpPr/>
            <p:nvPr/>
          </p:nvSpPr>
          <p:spPr>
            <a:xfrm>
              <a:off x="1573188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DC62B83-7811-4841-AA3B-8F02528189C6}"/>
                </a:ext>
              </a:extLst>
            </p:cNvPr>
            <p:cNvSpPr/>
            <p:nvPr/>
          </p:nvSpPr>
          <p:spPr>
            <a:xfrm>
              <a:off x="1697670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1762D3D-3CFB-448C-A4DB-42EBF96FC333}"/>
              </a:ext>
            </a:extLst>
          </p:cNvPr>
          <p:cNvGrpSpPr/>
          <p:nvPr/>
        </p:nvGrpSpPr>
        <p:grpSpPr>
          <a:xfrm>
            <a:off x="2982889" y="3112770"/>
            <a:ext cx="775485" cy="495300"/>
            <a:chOff x="826294" y="3181350"/>
            <a:chExt cx="690991" cy="4953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0DA8926-2CB3-43F7-85E2-9A6F1224E625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3953C111-C37A-4788-97D9-29F728FD0783}"/>
                </a:ext>
              </a:extLst>
            </p:cNvPr>
            <p:cNvSpPr/>
            <p:nvPr/>
          </p:nvSpPr>
          <p:spPr>
            <a:xfrm>
              <a:off x="950776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19D5A40E-8A55-43C1-B1F5-86BFAEB66941}"/>
                </a:ext>
              </a:extLst>
            </p:cNvPr>
            <p:cNvSpPr/>
            <p:nvPr/>
          </p:nvSpPr>
          <p:spPr>
            <a:xfrm>
              <a:off x="1075259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1F66B00-E6DF-4891-A0A8-9D9FFAEA8F31}"/>
                </a:ext>
              </a:extLst>
            </p:cNvPr>
            <p:cNvSpPr/>
            <p:nvPr/>
          </p:nvSpPr>
          <p:spPr>
            <a:xfrm>
              <a:off x="1199741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26F4C00-0173-423E-B684-C863B7F0CDE2}"/>
                </a:ext>
              </a:extLst>
            </p:cNvPr>
            <p:cNvSpPr/>
            <p:nvPr/>
          </p:nvSpPr>
          <p:spPr>
            <a:xfrm>
              <a:off x="1324223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DD360E3A-A248-400C-A813-CDAD865D79A5}"/>
                </a:ext>
              </a:extLst>
            </p:cNvPr>
            <p:cNvSpPr/>
            <p:nvPr/>
          </p:nvSpPr>
          <p:spPr>
            <a:xfrm>
              <a:off x="1448705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681394C-7E7D-40F9-BE46-B1DEE509E5DB}"/>
              </a:ext>
            </a:extLst>
          </p:cNvPr>
          <p:cNvGrpSpPr/>
          <p:nvPr/>
        </p:nvGrpSpPr>
        <p:grpSpPr>
          <a:xfrm>
            <a:off x="3824264" y="3112770"/>
            <a:ext cx="924710" cy="495300"/>
            <a:chOff x="826294" y="3181350"/>
            <a:chExt cx="823957" cy="4953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89FCFB80-56D3-4423-908E-EC6097DCE024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6E56768-04FF-43C1-BEC3-E2CF633CDD45}"/>
                </a:ext>
              </a:extLst>
            </p:cNvPr>
            <p:cNvSpPr/>
            <p:nvPr/>
          </p:nvSpPr>
          <p:spPr>
            <a:xfrm>
              <a:off x="952190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FAABF45-913F-48D0-9B73-4A9DC8AC8697}"/>
                </a:ext>
              </a:extLst>
            </p:cNvPr>
            <p:cNvSpPr/>
            <p:nvPr/>
          </p:nvSpPr>
          <p:spPr>
            <a:xfrm>
              <a:off x="1078087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1336EAAB-DFD6-419E-8C67-D037055767E9}"/>
                </a:ext>
              </a:extLst>
            </p:cNvPr>
            <p:cNvSpPr/>
            <p:nvPr/>
          </p:nvSpPr>
          <p:spPr>
            <a:xfrm>
              <a:off x="1203983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5097D6A-EA9F-400E-B988-9E7463BAD33D}"/>
                </a:ext>
              </a:extLst>
            </p:cNvPr>
            <p:cNvSpPr/>
            <p:nvPr/>
          </p:nvSpPr>
          <p:spPr>
            <a:xfrm>
              <a:off x="1329880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5EDB974-4D47-4AD4-A99C-4352F9A1FE83}"/>
                </a:ext>
              </a:extLst>
            </p:cNvPr>
            <p:cNvSpPr/>
            <p:nvPr/>
          </p:nvSpPr>
          <p:spPr>
            <a:xfrm>
              <a:off x="1455776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87414C3-4F59-4A55-84E6-F07AF883A264}"/>
                </a:ext>
              </a:extLst>
            </p:cNvPr>
            <p:cNvSpPr/>
            <p:nvPr/>
          </p:nvSpPr>
          <p:spPr>
            <a:xfrm>
              <a:off x="1581671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F608376-0B0D-4921-BA94-676805DA9876}"/>
              </a:ext>
            </a:extLst>
          </p:cNvPr>
          <p:cNvSpPr/>
          <p:nvPr/>
        </p:nvSpPr>
        <p:spPr>
          <a:xfrm>
            <a:off x="5047008" y="2851150"/>
            <a:ext cx="76966" cy="495300"/>
          </a:xfrm>
          <a:prstGeom prst="rect">
            <a:avLst/>
          </a:prstGeom>
          <a:solidFill>
            <a:srgbClr val="83C4C1"/>
          </a:solidFill>
          <a:ln>
            <a:solidFill>
              <a:srgbClr val="098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4DC7B13-E702-4C40-B616-3B50EB79ED77}"/>
              </a:ext>
            </a:extLst>
          </p:cNvPr>
          <p:cNvSpPr/>
          <p:nvPr/>
        </p:nvSpPr>
        <p:spPr>
          <a:xfrm>
            <a:off x="5047008" y="3448050"/>
            <a:ext cx="76966" cy="495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8CD701C-E0EB-4D24-8271-06C6654951EB}"/>
              </a:ext>
            </a:extLst>
          </p:cNvPr>
          <p:cNvSpPr/>
          <p:nvPr/>
        </p:nvSpPr>
        <p:spPr>
          <a:xfrm>
            <a:off x="6572278" y="2851150"/>
            <a:ext cx="76966" cy="495300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6E1E890-0200-423D-B8F2-2EDCE106B48C}"/>
              </a:ext>
            </a:extLst>
          </p:cNvPr>
          <p:cNvSpPr/>
          <p:nvPr/>
        </p:nvSpPr>
        <p:spPr>
          <a:xfrm>
            <a:off x="6572278" y="3448050"/>
            <a:ext cx="76966" cy="4953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F468FC-AD1A-43F3-8968-5B6EF2A77559}"/>
              </a:ext>
            </a:extLst>
          </p:cNvPr>
          <p:cNvSpPr txBox="1"/>
          <p:nvPr/>
        </p:nvSpPr>
        <p:spPr>
          <a:xfrm>
            <a:off x="5145405" y="2859524"/>
            <a:ext cx="12706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already ack'ed 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6BB591-9B3A-4DD4-91AE-9C2B1208B0A9}"/>
              </a:ext>
            </a:extLst>
          </p:cNvPr>
          <p:cNvSpPr txBox="1"/>
          <p:nvPr/>
        </p:nvSpPr>
        <p:spPr>
          <a:xfrm>
            <a:off x="5145405" y="3434090"/>
            <a:ext cx="12706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sent, not 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yet ack'ed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F25EF4E-21AB-4999-888F-B668915091EC}"/>
              </a:ext>
            </a:extLst>
          </p:cNvPr>
          <p:cNvSpPr txBox="1"/>
          <p:nvPr/>
        </p:nvSpPr>
        <p:spPr>
          <a:xfrm>
            <a:off x="6699885" y="2847350"/>
            <a:ext cx="12706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usable, not yet sent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DD4565-2EE5-4501-B860-7D43AB669F4A}"/>
              </a:ext>
            </a:extLst>
          </p:cNvPr>
          <p:cNvSpPr txBox="1"/>
          <p:nvPr/>
        </p:nvSpPr>
        <p:spPr>
          <a:xfrm>
            <a:off x="6699885" y="3541812"/>
            <a:ext cx="12706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not usable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8A07BB-C827-4454-ACF3-3B3DEC134190}"/>
              </a:ext>
            </a:extLst>
          </p:cNvPr>
          <p:cNvSpPr txBox="1"/>
          <p:nvPr/>
        </p:nvSpPr>
        <p:spPr>
          <a:xfrm>
            <a:off x="1241083" y="2535225"/>
            <a:ext cx="1491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send_base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9EDED5-E917-4028-A486-7A730F409C3B}"/>
              </a:ext>
            </a:extLst>
          </p:cNvPr>
          <p:cNvSpPr txBox="1"/>
          <p:nvPr/>
        </p:nvSpPr>
        <p:spPr>
          <a:xfrm>
            <a:off x="2589823" y="2535225"/>
            <a:ext cx="1491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nextseqnum</a:t>
            </a:r>
            <a:endParaRPr lang="ko-KR" altLang="en-US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13E55F9C-09B2-4C5E-8815-497F88177CE8}"/>
              </a:ext>
            </a:extLst>
          </p:cNvPr>
          <p:cNvCxnSpPr/>
          <p:nvPr/>
        </p:nvCxnSpPr>
        <p:spPr>
          <a:xfrm>
            <a:off x="1856398" y="2827020"/>
            <a:ext cx="0" cy="22098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23F7B5E7-EDB4-4221-9144-57C2880B2195}"/>
              </a:ext>
            </a:extLst>
          </p:cNvPr>
          <p:cNvCxnSpPr/>
          <p:nvPr/>
        </p:nvCxnSpPr>
        <p:spPr>
          <a:xfrm>
            <a:off x="3031148" y="2827020"/>
            <a:ext cx="0" cy="22098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279B2F3-F700-4D37-AA7E-217A52739E11}"/>
              </a:ext>
            </a:extLst>
          </p:cNvPr>
          <p:cNvSpPr/>
          <p:nvPr/>
        </p:nvSpPr>
        <p:spPr>
          <a:xfrm>
            <a:off x="731520" y="2461953"/>
            <a:ext cx="7414260" cy="1842655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683B119-1F7D-436E-9E2E-4601A6D4246E}"/>
              </a:ext>
            </a:extLst>
          </p:cNvPr>
          <p:cNvSpPr/>
          <p:nvPr/>
        </p:nvSpPr>
        <p:spPr>
          <a:xfrm>
            <a:off x="1783875" y="3052500"/>
            <a:ext cx="2011837" cy="622300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EB21F991-ABED-4CC7-ADBC-52BF4DA0DE1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00719" y="2774623"/>
            <a:ext cx="12700" cy="1838344"/>
          </a:xfrm>
          <a:prstGeom prst="bentConnector3">
            <a:avLst>
              <a:gd name="adj1" fmla="val 1800000"/>
            </a:avLst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D8179E5-5635-4A88-85D6-21EA4E023EC5}"/>
              </a:ext>
            </a:extLst>
          </p:cNvPr>
          <p:cNvSpPr txBox="1"/>
          <p:nvPr/>
        </p:nvSpPr>
        <p:spPr>
          <a:xfrm>
            <a:off x="2117344" y="3730295"/>
            <a:ext cx="1255474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window size</a:t>
            </a:r>
          </a:p>
          <a:p>
            <a:pPr algn="ctr">
              <a:spcBef>
                <a:spcPts val="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1455440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cs typeface="+mj-cs"/>
              </a:rPr>
              <a:t>GBN </a:t>
            </a:r>
            <a:r>
              <a:rPr lang="ko-KR" altLang="en-US" sz="2000">
                <a:cs typeface="+mj-cs"/>
              </a:rPr>
              <a:t>동작 예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40</a:t>
            </a:fld>
            <a:endParaRPr lang="en-US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88FD3D11-FAF9-487B-833E-AC3A9128F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6669" y="1423988"/>
            <a:ext cx="1064715" cy="138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pkt0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pkt1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pkt2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pkt3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(wait)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174E8B26-945F-45C4-976D-73EFFCE6D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674" y="1052513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43ED61B7-E94C-43CE-B3F9-C41B81FEF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3590" y="1052513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수신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7" name="Line 14">
            <a:extLst>
              <a:ext uri="{FF2B5EF4-FFF2-40B4-BE49-F238E27FC236}">
                <a16:creationId xmlns:a16="http://schemas.microsoft.com/office/drawing/2014/main" id="{9E7568F0-7CE6-495C-9493-9BC324AE0A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7533" y="1670051"/>
            <a:ext cx="9794" cy="4538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Text Box 15">
            <a:extLst>
              <a:ext uri="{FF2B5EF4-FFF2-40B4-BE49-F238E27FC236}">
                <a16:creationId xmlns:a16="http://schemas.microsoft.com/office/drawing/2014/main" id="{0DBA8465-4179-491D-8BDF-768DC695E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1029" y="1865313"/>
            <a:ext cx="2148217" cy="138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pkt0, send ack0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pkt1, send ack1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pkt3, discard, 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  (re)send ack1</a:t>
            </a:r>
          </a:p>
        </p:txBody>
      </p:sp>
      <p:sp>
        <p:nvSpPr>
          <p:cNvPr id="9" name="Text Box 22">
            <a:extLst>
              <a:ext uri="{FF2B5EF4-FFF2-40B4-BE49-F238E27FC236}">
                <a16:creationId xmlns:a16="http://schemas.microsoft.com/office/drawing/2014/main" id="{7297CC8E-7975-4FCE-9A94-72006C10C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5764" y="3027363"/>
            <a:ext cx="1795620" cy="843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ack0, send pkt4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ack1, send pkt5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endParaRPr lang="en-US" altLang="ko-KR" sz="13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1" name="Text Box 35">
            <a:extLst>
              <a:ext uri="{FF2B5EF4-FFF2-40B4-BE49-F238E27FC236}">
                <a16:creationId xmlns:a16="http://schemas.microsoft.com/office/drawing/2014/main" id="{3250D8F9-FC38-4ED7-B279-F546F1461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0346" y="4391026"/>
            <a:ext cx="1451038" cy="2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7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pkt 2 timeout</a:t>
            </a:r>
          </a:p>
        </p:txBody>
      </p:sp>
      <p:sp>
        <p:nvSpPr>
          <p:cNvPr id="12" name="Text Box 36">
            <a:extLst>
              <a:ext uri="{FF2B5EF4-FFF2-40B4-BE49-F238E27FC236}">
                <a16:creationId xmlns:a16="http://schemas.microsoft.com/office/drawing/2014/main" id="{027C3E61-F978-4E10-BE0C-3FE15FEAB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494" y="4605338"/>
            <a:ext cx="1051890" cy="1114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pkt2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pkt3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pkt4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pkt5</a:t>
            </a:r>
          </a:p>
        </p:txBody>
      </p:sp>
      <p:sp>
        <p:nvSpPr>
          <p:cNvPr id="13" name="Line 7">
            <a:extLst>
              <a:ext uri="{FF2B5EF4-FFF2-40B4-BE49-F238E27FC236}">
                <a16:creationId xmlns:a16="http://schemas.microsoft.com/office/drawing/2014/main" id="{012A332A-11AB-43C6-B16A-674199510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5720" y="1617663"/>
            <a:ext cx="1852432" cy="4683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205D2204-30F0-40A0-99CC-E5C392EE55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4320" y="1892301"/>
            <a:ext cx="1851033" cy="46831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4250E608-B080-4F97-AF39-1E933FC67E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311" y="2155826"/>
            <a:ext cx="772313" cy="2000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CB4C9034-DA88-4C58-8C27-3342154785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3908" y="2441576"/>
            <a:ext cx="1851033" cy="46831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8BAE4169-C9CB-422E-9324-83A9F8F105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1316" y="2141538"/>
            <a:ext cx="1775480" cy="1066800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8" name="Text Box 19">
            <a:extLst>
              <a:ext uri="{FF2B5EF4-FFF2-40B4-BE49-F238E27FC236}">
                <a16:creationId xmlns:a16="http://schemas.microsoft.com/office/drawing/2014/main" id="{03ED3638-F92B-46AD-81EF-95126811B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690" y="2190751"/>
            <a:ext cx="3674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  <a:cs typeface="+mj-cs"/>
              </a:rPr>
              <a:t>X</a:t>
            </a:r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2536FC1E-79EA-44FE-87EB-AFB635952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1160" y="2274888"/>
            <a:ext cx="5261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75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loss</a:t>
            </a:r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AD2B2C22-3212-4F43-A059-728993ADEF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28518" y="2427288"/>
            <a:ext cx="1775480" cy="1100138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1" name="Line 24">
            <a:extLst>
              <a:ext uri="{FF2B5EF4-FFF2-40B4-BE49-F238E27FC236}">
                <a16:creationId xmlns:a16="http://schemas.microsoft.com/office/drawing/2014/main" id="{28CDDE65-A95E-45C0-9238-674B5785B8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1316" y="3263901"/>
            <a:ext cx="1851032" cy="46831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2" name="Line 25">
            <a:extLst>
              <a:ext uri="{FF2B5EF4-FFF2-40B4-BE49-F238E27FC236}">
                <a16:creationId xmlns:a16="http://schemas.microsoft.com/office/drawing/2014/main" id="{8D31891E-2498-48FE-AF5F-02550C69B3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9299" y="3582988"/>
            <a:ext cx="1852432" cy="4683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3" name="Line 26">
            <a:extLst>
              <a:ext uri="{FF2B5EF4-FFF2-40B4-BE49-F238E27FC236}">
                <a16:creationId xmlns:a16="http://schemas.microsoft.com/office/drawing/2014/main" id="{174C1842-502E-465B-A2D3-C7E89418C1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56500" y="2957513"/>
            <a:ext cx="1775480" cy="1100138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8" name="Line 37">
            <a:extLst>
              <a:ext uri="{FF2B5EF4-FFF2-40B4-BE49-F238E27FC236}">
                <a16:creationId xmlns:a16="http://schemas.microsoft.com/office/drawing/2014/main" id="{A9D11906-8907-4155-9B46-5AF195C0A6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311" y="4776788"/>
            <a:ext cx="1851033" cy="4683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9" name="Line 38">
            <a:extLst>
              <a:ext uri="{FF2B5EF4-FFF2-40B4-BE49-F238E27FC236}">
                <a16:creationId xmlns:a16="http://schemas.microsoft.com/office/drawing/2014/main" id="{E3E17C21-1D7F-4B82-A295-D86EE6E479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1316" y="5021263"/>
            <a:ext cx="1852432" cy="4683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30" name="Line 39">
            <a:extLst>
              <a:ext uri="{FF2B5EF4-FFF2-40B4-BE49-F238E27FC236}">
                <a16:creationId xmlns:a16="http://schemas.microsoft.com/office/drawing/2014/main" id="{279954B0-BB1D-41E7-9F61-8E96AE0256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5720" y="5254626"/>
            <a:ext cx="1852432" cy="46831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31" name="Line 40">
            <a:extLst>
              <a:ext uri="{FF2B5EF4-FFF2-40B4-BE49-F238E27FC236}">
                <a16:creationId xmlns:a16="http://schemas.microsoft.com/office/drawing/2014/main" id="{B6FA8614-A5D9-4676-A9C9-4AAE551889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8518" y="5487988"/>
            <a:ext cx="1851032" cy="4683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32" name="Text Box 41">
            <a:extLst>
              <a:ext uri="{FF2B5EF4-FFF2-40B4-BE49-F238E27FC236}">
                <a16:creationId xmlns:a16="http://schemas.microsoft.com/office/drawing/2014/main" id="{B5C6C37C-0673-424C-BA43-18F6E1543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8231" y="3389313"/>
            <a:ext cx="1960537" cy="5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pkt4, discard, 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  (re)send ack1</a:t>
            </a:r>
          </a:p>
        </p:txBody>
      </p:sp>
      <p:sp>
        <p:nvSpPr>
          <p:cNvPr id="33" name="Text Box 42">
            <a:extLst>
              <a:ext uri="{FF2B5EF4-FFF2-40B4-BE49-F238E27FC236}">
                <a16:creationId xmlns:a16="http://schemas.microsoft.com/office/drawing/2014/main" id="{5073A1BB-36E7-4E52-9EE6-DEE288D06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021" y="3910013"/>
            <a:ext cx="1952522" cy="5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pkt5, discard, 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  (re)send ack1</a:t>
            </a:r>
          </a:p>
        </p:txBody>
      </p:sp>
      <p:sp>
        <p:nvSpPr>
          <p:cNvPr id="34" name="Text Box 43">
            <a:extLst>
              <a:ext uri="{FF2B5EF4-FFF2-40B4-BE49-F238E27FC236}">
                <a16:creationId xmlns:a16="http://schemas.microsoft.com/office/drawing/2014/main" id="{47029DD7-D3EF-4952-BEF6-FD0E5B94F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4815" y="5064126"/>
            <a:ext cx="2401170" cy="1114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pkt2, deliver, send ack2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pkt3, deliver, send ack3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pkt4, deliver, send ack4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pkt5, deliver, send ack5</a:t>
            </a:r>
          </a:p>
        </p:txBody>
      </p:sp>
      <p:sp>
        <p:nvSpPr>
          <p:cNvPr id="35" name="Text Box 44">
            <a:extLst>
              <a:ext uri="{FF2B5EF4-FFF2-40B4-BE49-F238E27FC236}">
                <a16:creationId xmlns:a16="http://schemas.microsoft.com/office/drawing/2014/main" id="{D1015134-AB66-40EE-9123-C702E6314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7679" y="3892551"/>
            <a:ext cx="1593705" cy="300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중복된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무시</a:t>
            </a:r>
            <a:endParaRPr lang="en-US" altLang="ko-KR" sz="13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7" name="Rectangle 60">
            <a:extLst>
              <a:ext uri="{FF2B5EF4-FFF2-40B4-BE49-F238E27FC236}">
                <a16:creationId xmlns:a16="http://schemas.microsoft.com/office/drawing/2014/main" id="{FDD2DC40-ECE6-4FB4-A7F2-6994734EF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45" y="1497013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38" name="Text Box 46">
            <a:extLst>
              <a:ext uri="{FF2B5EF4-FFF2-40B4-BE49-F238E27FC236}">
                <a16:creationId xmlns:a16="http://schemas.microsoft.com/office/drawing/2014/main" id="{F1AA55E5-1003-44DD-AB21-959A12FCA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1462088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0 1 2 3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4 5 6 7 8 </a:t>
            </a:r>
          </a:p>
        </p:txBody>
      </p:sp>
      <p:sp>
        <p:nvSpPr>
          <p:cNvPr id="39" name="Text Box 59">
            <a:extLst>
              <a:ext uri="{FF2B5EF4-FFF2-40B4-BE49-F238E27FC236}">
                <a16:creationId xmlns:a16="http://schemas.microsoft.com/office/drawing/2014/main" id="{9DCBB874-78D1-416F-9EF6-2496ACCE2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74" y="1052513"/>
            <a:ext cx="23439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송신 측 윈도우</a:t>
            </a:r>
            <a:r>
              <a:rPr lang="en-US" altLang="ko-KR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(N=4)</a:t>
            </a:r>
          </a:p>
        </p:txBody>
      </p:sp>
      <p:sp>
        <p:nvSpPr>
          <p:cNvPr id="66" name="Line 98">
            <a:extLst>
              <a:ext uri="{FF2B5EF4-FFF2-40B4-BE49-F238E27FC236}">
                <a16:creationId xmlns:a16="http://schemas.microsoft.com/office/drawing/2014/main" id="{8758077F-2FFC-403A-910D-4A8ACBBF91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67326" y="3768726"/>
            <a:ext cx="910826" cy="563562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7" name="Line 99">
            <a:extLst>
              <a:ext uri="{FF2B5EF4-FFF2-40B4-BE49-F238E27FC236}">
                <a16:creationId xmlns:a16="http://schemas.microsoft.com/office/drawing/2014/main" id="{1CA88177-DA64-4B91-8C76-F9D605DE7A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72922" y="4078288"/>
            <a:ext cx="910826" cy="563563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8" name="Line 100">
            <a:extLst>
              <a:ext uri="{FF2B5EF4-FFF2-40B4-BE49-F238E27FC236}">
                <a16:creationId xmlns:a16="http://schemas.microsoft.com/office/drawing/2014/main" id="{24EF1A5C-99D8-4833-BAAB-98147CABBD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68725" y="5268913"/>
            <a:ext cx="910825" cy="563563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9" name="Line 101">
            <a:extLst>
              <a:ext uri="{FF2B5EF4-FFF2-40B4-BE49-F238E27FC236}">
                <a16:creationId xmlns:a16="http://schemas.microsoft.com/office/drawing/2014/main" id="{3EAC19A8-CAFE-44C7-88AE-D3C545AF19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4734" y="5522913"/>
            <a:ext cx="910825" cy="563563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70" name="Line 102">
            <a:extLst>
              <a:ext uri="{FF2B5EF4-FFF2-40B4-BE49-F238E27FC236}">
                <a16:creationId xmlns:a16="http://schemas.microsoft.com/office/drawing/2014/main" id="{2CBCD75E-71F6-4350-AD21-87554BBBC6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0743" y="5765801"/>
            <a:ext cx="910825" cy="563562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71" name="Line 103">
            <a:extLst>
              <a:ext uri="{FF2B5EF4-FFF2-40B4-BE49-F238E27FC236}">
                <a16:creationId xmlns:a16="http://schemas.microsoft.com/office/drawing/2014/main" id="{AA41AA67-403D-4455-BF82-81423DDA4A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26752" y="6008688"/>
            <a:ext cx="910825" cy="563563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2" name="Rectangle 60">
            <a:extLst>
              <a:ext uri="{FF2B5EF4-FFF2-40B4-BE49-F238E27FC236}">
                <a16:creationId xmlns:a16="http://schemas.microsoft.com/office/drawing/2014/main" id="{FD3BEDD8-FC6E-40DD-BF5E-EF4B21517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45" y="1765300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03" name="Text Box 46">
            <a:extLst>
              <a:ext uri="{FF2B5EF4-FFF2-40B4-BE49-F238E27FC236}">
                <a16:creationId xmlns:a16="http://schemas.microsoft.com/office/drawing/2014/main" id="{8937C1C7-1080-42F1-BEC8-91E2E80D0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1730375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0 1 2 3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4 5 6 7 8 </a:t>
            </a:r>
          </a:p>
        </p:txBody>
      </p:sp>
      <p:sp>
        <p:nvSpPr>
          <p:cNvPr id="105" name="Rectangle 60">
            <a:extLst>
              <a:ext uri="{FF2B5EF4-FFF2-40B4-BE49-F238E27FC236}">
                <a16:creationId xmlns:a16="http://schemas.microsoft.com/office/drawing/2014/main" id="{AB3EEE58-23AC-4B0D-8AE8-8EAD054FA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45" y="2033587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06" name="Text Box 46">
            <a:extLst>
              <a:ext uri="{FF2B5EF4-FFF2-40B4-BE49-F238E27FC236}">
                <a16:creationId xmlns:a16="http://schemas.microsoft.com/office/drawing/2014/main" id="{E152C6F7-E833-4418-8373-2AF255288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1998662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0 1 2 3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4 5 6 7 8 </a:t>
            </a:r>
          </a:p>
        </p:txBody>
      </p:sp>
      <p:sp>
        <p:nvSpPr>
          <p:cNvPr id="108" name="Rectangle 60">
            <a:extLst>
              <a:ext uri="{FF2B5EF4-FFF2-40B4-BE49-F238E27FC236}">
                <a16:creationId xmlns:a16="http://schemas.microsoft.com/office/drawing/2014/main" id="{4AD4F649-9AD2-4133-83A1-88B2E023C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45" y="230187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09" name="Text Box 46">
            <a:extLst>
              <a:ext uri="{FF2B5EF4-FFF2-40B4-BE49-F238E27FC236}">
                <a16:creationId xmlns:a16="http://schemas.microsoft.com/office/drawing/2014/main" id="{F1BD4D12-E1B3-47B8-AEDD-C671F09F7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226694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0 1 2 3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4 5 6 7 8 </a:t>
            </a:r>
          </a:p>
        </p:txBody>
      </p:sp>
      <p:sp>
        <p:nvSpPr>
          <p:cNvPr id="111" name="Rectangle 60">
            <a:extLst>
              <a:ext uri="{FF2B5EF4-FFF2-40B4-BE49-F238E27FC236}">
                <a16:creationId xmlns:a16="http://schemas.microsoft.com/office/drawing/2014/main" id="{84B8D339-3269-46A5-9FCF-EE98EA1A0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920" y="3082924"/>
            <a:ext cx="636155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12" name="Text Box 46">
            <a:extLst>
              <a:ext uri="{FF2B5EF4-FFF2-40B4-BE49-F238E27FC236}">
                <a16:creationId xmlns:a16="http://schemas.microsoft.com/office/drawing/2014/main" id="{C5E99DD2-69AA-4149-94F2-859047A30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304799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1 2 3 4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5 6 7 8 </a:t>
            </a:r>
          </a:p>
        </p:txBody>
      </p:sp>
      <p:sp>
        <p:nvSpPr>
          <p:cNvPr id="114" name="Rectangle 60">
            <a:extLst>
              <a:ext uri="{FF2B5EF4-FFF2-40B4-BE49-F238E27FC236}">
                <a16:creationId xmlns:a16="http://schemas.microsoft.com/office/drawing/2014/main" id="{EA98C944-D716-43F0-B7EC-CEFB593DB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0" y="336867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15" name="Text Box 46">
            <a:extLst>
              <a:ext uri="{FF2B5EF4-FFF2-40B4-BE49-F238E27FC236}">
                <a16:creationId xmlns:a16="http://schemas.microsoft.com/office/drawing/2014/main" id="{41BA8C73-DDAF-4F46-B0D1-B2137F17F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333374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18" name="Rectangle 60">
            <a:extLst>
              <a:ext uri="{FF2B5EF4-FFF2-40B4-BE49-F238E27FC236}">
                <a16:creationId xmlns:a16="http://schemas.microsoft.com/office/drawing/2014/main" id="{887BB810-7614-4DF4-BE54-9BB853F90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0" y="467042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19" name="Text Box 46">
            <a:extLst>
              <a:ext uri="{FF2B5EF4-FFF2-40B4-BE49-F238E27FC236}">
                <a16:creationId xmlns:a16="http://schemas.microsoft.com/office/drawing/2014/main" id="{EAA4A5C9-EC49-4EAF-9232-6ED93200C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463549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21" name="Rectangle 60">
            <a:extLst>
              <a:ext uri="{FF2B5EF4-FFF2-40B4-BE49-F238E27FC236}">
                <a16:creationId xmlns:a16="http://schemas.microsoft.com/office/drawing/2014/main" id="{40CE3E5D-5197-4B76-AD72-5AA6C164F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0" y="494982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22" name="Text Box 46">
            <a:extLst>
              <a:ext uri="{FF2B5EF4-FFF2-40B4-BE49-F238E27FC236}">
                <a16:creationId xmlns:a16="http://schemas.microsoft.com/office/drawing/2014/main" id="{B842C33D-6A05-444F-9218-C3892EB1B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491489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24" name="Rectangle 60">
            <a:extLst>
              <a:ext uri="{FF2B5EF4-FFF2-40B4-BE49-F238E27FC236}">
                <a16:creationId xmlns:a16="http://schemas.microsoft.com/office/drawing/2014/main" id="{FC726C53-E819-4FD7-95AC-1020524E7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0" y="522922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25" name="Text Box 46">
            <a:extLst>
              <a:ext uri="{FF2B5EF4-FFF2-40B4-BE49-F238E27FC236}">
                <a16:creationId xmlns:a16="http://schemas.microsoft.com/office/drawing/2014/main" id="{0200B549-50FE-41AA-B061-3A87CDC75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519429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27" name="Rectangle 60">
            <a:extLst>
              <a:ext uri="{FF2B5EF4-FFF2-40B4-BE49-F238E27FC236}">
                <a16:creationId xmlns:a16="http://schemas.microsoft.com/office/drawing/2014/main" id="{F7161F58-9F24-4184-9F61-017287E5C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0" y="550862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28" name="Text Box 46">
            <a:extLst>
              <a:ext uri="{FF2B5EF4-FFF2-40B4-BE49-F238E27FC236}">
                <a16:creationId xmlns:a16="http://schemas.microsoft.com/office/drawing/2014/main" id="{1861C21B-2BBF-43E4-876F-BDC6E6297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547369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29" name="오른쪽 대괄호 128">
            <a:extLst>
              <a:ext uri="{FF2B5EF4-FFF2-40B4-BE49-F238E27FC236}">
                <a16:creationId xmlns:a16="http://schemas.microsoft.com/office/drawing/2014/main" id="{49CF6D77-C80A-407A-8A79-E51D134AFBB6}"/>
              </a:ext>
            </a:extLst>
          </p:cNvPr>
          <p:cNvSpPr/>
          <p:nvPr/>
        </p:nvSpPr>
        <p:spPr>
          <a:xfrm>
            <a:off x="3937000" y="2139950"/>
            <a:ext cx="98425" cy="2384425"/>
          </a:xfrm>
          <a:prstGeom prst="rightBracket">
            <a:avLst>
              <a:gd name="adj" fmla="val 0"/>
            </a:avLst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239544E0-BAAF-44B4-954C-4F515E196C8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33" y="4207318"/>
            <a:ext cx="281483" cy="46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5654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>
                <a:cs typeface="+mj-cs"/>
              </a:rPr>
              <a:t>선택적 반복</a:t>
            </a:r>
            <a:r>
              <a:rPr lang="en-US" altLang="ko-KR" sz="2000" dirty="0">
                <a:solidFill>
                  <a:schemeClr val="bg1"/>
                </a:solidFill>
                <a:cs typeface="+mj-cs"/>
              </a:rPr>
              <a:t>(Selective repeat, SR)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AED5F9-ECB4-4902-B660-6098D734B9D6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78722"/>
            <a:ext cx="74416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수신 측은 올바르게 수신된 모든 패킷에 대해 개별적으로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ACK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7D4DE67-B954-4577-929C-EF5CD8DA2067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519024"/>
            <a:ext cx="646549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필요하다면 패킷을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버퍼링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한다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나중에 순서를 맞추어 위로 전달하기 위해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DC34F6B-6D3E-4E0A-B1AC-E6CDCC795BC5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252202"/>
            <a:ext cx="74416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송신 측은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ACK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되지 않은 패킷만 재전송한다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0E51E15-3D91-4B8C-96C9-B80669E27585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692504"/>
            <a:ext cx="646549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된 패킷에 대해 타이머 사용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C598601-3455-4825-99C6-58A97E60D0BC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429000"/>
            <a:ext cx="74416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송신 측 윈도우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1BC6690-357F-49E9-AE83-85F97B19278C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869302"/>
            <a:ext cx="646549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개의 연속된 순서 번호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보냈지만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된 패킷의 순서 번호를 제한함</a:t>
            </a:r>
          </a:p>
        </p:txBody>
      </p:sp>
    </p:spTree>
    <p:extLst>
      <p:ext uri="{BB962C8B-B14F-4D97-AF65-F5344CB8AC3E}">
        <p14:creationId xmlns:p14="http://schemas.microsoft.com/office/powerpoint/2010/main" val="25538801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>
            <a:extLst>
              <a:ext uri="{FF2B5EF4-FFF2-40B4-BE49-F238E27FC236}">
                <a16:creationId xmlns:a16="http://schemas.microsoft.com/office/drawing/2014/main" id="{ACAD26FF-2353-45F5-B0A8-BD8F4844AF0A}"/>
              </a:ext>
            </a:extLst>
          </p:cNvPr>
          <p:cNvSpPr/>
          <p:nvPr/>
        </p:nvSpPr>
        <p:spPr>
          <a:xfrm>
            <a:off x="731520" y="4008543"/>
            <a:ext cx="7414260" cy="1842655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3FBB2B68-A683-46B2-A320-F98A73DB4415}"/>
              </a:ext>
            </a:extLst>
          </p:cNvPr>
          <p:cNvSpPr/>
          <p:nvPr/>
        </p:nvSpPr>
        <p:spPr>
          <a:xfrm>
            <a:off x="2232025" y="4479924"/>
            <a:ext cx="2124075" cy="622300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>
                <a:cs typeface="+mj-cs"/>
              </a:rPr>
              <a:t>선택적 반복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송수신 측의 윈도우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42</a:t>
            </a:fld>
            <a:endParaRPr 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B169BD5-38E8-414B-93C9-F7D512DA679E}"/>
              </a:ext>
            </a:extLst>
          </p:cNvPr>
          <p:cNvGrpSpPr/>
          <p:nvPr/>
        </p:nvGrpSpPr>
        <p:grpSpPr>
          <a:xfrm>
            <a:off x="983432" y="1900285"/>
            <a:ext cx="762000" cy="495300"/>
            <a:chOff x="826294" y="3181350"/>
            <a:chExt cx="678975" cy="4953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FC296F9-9E29-467F-8D27-EACA25A84983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979F0D9-6ABE-480D-8348-38997CD6C44E}"/>
                </a:ext>
              </a:extLst>
            </p:cNvPr>
            <p:cNvSpPr/>
            <p:nvPr/>
          </p:nvSpPr>
          <p:spPr>
            <a:xfrm>
              <a:off x="948373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C283EEB-137C-4221-8C63-86BCEA9530B9}"/>
                </a:ext>
              </a:extLst>
            </p:cNvPr>
            <p:cNvSpPr/>
            <p:nvPr/>
          </p:nvSpPr>
          <p:spPr>
            <a:xfrm>
              <a:off x="1070452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4CC2412-0A5C-48F5-866D-132DE60E9303}"/>
                </a:ext>
              </a:extLst>
            </p:cNvPr>
            <p:cNvSpPr/>
            <p:nvPr/>
          </p:nvSpPr>
          <p:spPr>
            <a:xfrm>
              <a:off x="1192531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0051972-D231-472E-9AB9-AB17DE03C9CF}"/>
                </a:ext>
              </a:extLst>
            </p:cNvPr>
            <p:cNvSpPr/>
            <p:nvPr/>
          </p:nvSpPr>
          <p:spPr>
            <a:xfrm>
              <a:off x="1314610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6EE819B-8144-4F20-BD3F-46DA4FB548AE}"/>
                </a:ext>
              </a:extLst>
            </p:cNvPr>
            <p:cNvSpPr/>
            <p:nvPr/>
          </p:nvSpPr>
          <p:spPr>
            <a:xfrm>
              <a:off x="1436689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DAC2621-CF30-4653-9985-735CB9B150C9}"/>
              </a:ext>
            </a:extLst>
          </p:cNvPr>
          <p:cNvGrpSpPr/>
          <p:nvPr/>
        </p:nvGrpSpPr>
        <p:grpSpPr>
          <a:xfrm>
            <a:off x="1843064" y="1900285"/>
            <a:ext cx="1054894" cy="495300"/>
            <a:chOff x="826294" y="3181350"/>
            <a:chExt cx="939956" cy="4953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4920394-F27A-4E81-B728-5AF64ED6681F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CB32CF6-4DE5-40BB-A131-EFC8E355E3F6}"/>
                </a:ext>
              </a:extLst>
            </p:cNvPr>
            <p:cNvSpPr/>
            <p:nvPr/>
          </p:nvSpPr>
          <p:spPr>
            <a:xfrm>
              <a:off x="950776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1DD8657-DC2C-4E8D-B354-C2986FC1CDE7}"/>
                </a:ext>
              </a:extLst>
            </p:cNvPr>
            <p:cNvSpPr/>
            <p:nvPr/>
          </p:nvSpPr>
          <p:spPr>
            <a:xfrm>
              <a:off x="1075259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F9FD767-A7DE-4E97-855F-DF2C6563B4CA}"/>
                </a:ext>
              </a:extLst>
            </p:cNvPr>
            <p:cNvSpPr/>
            <p:nvPr/>
          </p:nvSpPr>
          <p:spPr>
            <a:xfrm>
              <a:off x="1199741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CE9A0B8-07BB-49F2-AA5E-9A28EC8C684D}"/>
                </a:ext>
              </a:extLst>
            </p:cNvPr>
            <p:cNvSpPr/>
            <p:nvPr/>
          </p:nvSpPr>
          <p:spPr>
            <a:xfrm>
              <a:off x="1324223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6AD61DD-AC72-4F43-97EE-7D4335FE71C7}"/>
                </a:ext>
              </a:extLst>
            </p:cNvPr>
            <p:cNvSpPr/>
            <p:nvPr/>
          </p:nvSpPr>
          <p:spPr>
            <a:xfrm>
              <a:off x="1448705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F027109-76DE-4D8E-9BA8-C416EEEBFFE4}"/>
                </a:ext>
              </a:extLst>
            </p:cNvPr>
            <p:cNvSpPr/>
            <p:nvPr/>
          </p:nvSpPr>
          <p:spPr>
            <a:xfrm>
              <a:off x="1573188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A98B1E0-E423-4191-A409-562369516B0C}"/>
                </a:ext>
              </a:extLst>
            </p:cNvPr>
            <p:cNvSpPr/>
            <p:nvPr/>
          </p:nvSpPr>
          <p:spPr>
            <a:xfrm>
              <a:off x="1697670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456F3E5-B4C7-452D-86F7-C05FC13D555A}"/>
              </a:ext>
            </a:extLst>
          </p:cNvPr>
          <p:cNvGrpSpPr/>
          <p:nvPr/>
        </p:nvGrpSpPr>
        <p:grpSpPr>
          <a:xfrm>
            <a:off x="2982889" y="1900285"/>
            <a:ext cx="775485" cy="495300"/>
            <a:chOff x="826294" y="3181350"/>
            <a:chExt cx="690991" cy="4953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2C4F46A0-1AEE-43B1-8F02-196A5D88A81B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5FCE928-843A-4534-8F0B-1DAACA2B227A}"/>
                </a:ext>
              </a:extLst>
            </p:cNvPr>
            <p:cNvSpPr/>
            <p:nvPr/>
          </p:nvSpPr>
          <p:spPr>
            <a:xfrm>
              <a:off x="950776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FCC2EC9-213B-4943-BF54-C58699C51762}"/>
                </a:ext>
              </a:extLst>
            </p:cNvPr>
            <p:cNvSpPr/>
            <p:nvPr/>
          </p:nvSpPr>
          <p:spPr>
            <a:xfrm>
              <a:off x="1075259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9C133E5-022C-4A7A-BF27-41F7842FDE63}"/>
                </a:ext>
              </a:extLst>
            </p:cNvPr>
            <p:cNvSpPr/>
            <p:nvPr/>
          </p:nvSpPr>
          <p:spPr>
            <a:xfrm>
              <a:off x="1199741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DB07673-0A43-402D-96FC-47A8C3AEB2DB}"/>
                </a:ext>
              </a:extLst>
            </p:cNvPr>
            <p:cNvSpPr/>
            <p:nvPr/>
          </p:nvSpPr>
          <p:spPr>
            <a:xfrm>
              <a:off x="1324223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260A090-9E4C-4BAB-BC98-52D713EC5AFF}"/>
                </a:ext>
              </a:extLst>
            </p:cNvPr>
            <p:cNvSpPr/>
            <p:nvPr/>
          </p:nvSpPr>
          <p:spPr>
            <a:xfrm>
              <a:off x="1448705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19EF6C2-B84C-48A9-97FC-4EC934B28928}"/>
              </a:ext>
            </a:extLst>
          </p:cNvPr>
          <p:cNvGrpSpPr/>
          <p:nvPr/>
        </p:nvGrpSpPr>
        <p:grpSpPr>
          <a:xfrm>
            <a:off x="3824264" y="1900285"/>
            <a:ext cx="924710" cy="495300"/>
            <a:chOff x="826294" y="3181350"/>
            <a:chExt cx="823957" cy="4953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A513DD4-5C8D-4EC8-8307-5EF2CC652077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F30B40A-28A1-4676-B037-0135F7358520}"/>
                </a:ext>
              </a:extLst>
            </p:cNvPr>
            <p:cNvSpPr/>
            <p:nvPr/>
          </p:nvSpPr>
          <p:spPr>
            <a:xfrm>
              <a:off x="952190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B73ADBB-126C-4604-BFD6-A5A97886BF37}"/>
                </a:ext>
              </a:extLst>
            </p:cNvPr>
            <p:cNvSpPr/>
            <p:nvPr/>
          </p:nvSpPr>
          <p:spPr>
            <a:xfrm>
              <a:off x="1078087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ACBBEFA-EDF4-42CA-B896-88387D5AC45B}"/>
                </a:ext>
              </a:extLst>
            </p:cNvPr>
            <p:cNvSpPr/>
            <p:nvPr/>
          </p:nvSpPr>
          <p:spPr>
            <a:xfrm>
              <a:off x="1203983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6FDD0B70-E66F-42BA-AA45-C6FA243F3BD9}"/>
                </a:ext>
              </a:extLst>
            </p:cNvPr>
            <p:cNvSpPr/>
            <p:nvPr/>
          </p:nvSpPr>
          <p:spPr>
            <a:xfrm>
              <a:off x="1329880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568D5E1E-EBFC-48A3-BDB9-78FEAE378F62}"/>
                </a:ext>
              </a:extLst>
            </p:cNvPr>
            <p:cNvSpPr/>
            <p:nvPr/>
          </p:nvSpPr>
          <p:spPr>
            <a:xfrm>
              <a:off x="1455776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349B5DBE-7732-40AB-AEFF-0C4542F1663A}"/>
                </a:ext>
              </a:extLst>
            </p:cNvPr>
            <p:cNvSpPr/>
            <p:nvPr/>
          </p:nvSpPr>
          <p:spPr>
            <a:xfrm>
              <a:off x="1581671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93F4110-E463-49B2-9078-59E7F4726E0B}"/>
              </a:ext>
            </a:extLst>
          </p:cNvPr>
          <p:cNvSpPr/>
          <p:nvPr/>
        </p:nvSpPr>
        <p:spPr>
          <a:xfrm>
            <a:off x="4985593" y="1638665"/>
            <a:ext cx="76966" cy="495300"/>
          </a:xfrm>
          <a:prstGeom prst="rect">
            <a:avLst/>
          </a:prstGeom>
          <a:solidFill>
            <a:srgbClr val="83C4C1"/>
          </a:solidFill>
          <a:ln>
            <a:solidFill>
              <a:srgbClr val="098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3AB67DC-B342-44B9-9AD1-B39171CAB270}"/>
              </a:ext>
            </a:extLst>
          </p:cNvPr>
          <p:cNvSpPr/>
          <p:nvPr/>
        </p:nvSpPr>
        <p:spPr>
          <a:xfrm>
            <a:off x="4985593" y="2235565"/>
            <a:ext cx="76966" cy="495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8603C92-67E3-42E2-98AF-E2B54821661E}"/>
              </a:ext>
            </a:extLst>
          </p:cNvPr>
          <p:cNvSpPr/>
          <p:nvPr/>
        </p:nvSpPr>
        <p:spPr>
          <a:xfrm>
            <a:off x="6528496" y="1638665"/>
            <a:ext cx="76966" cy="495300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9251E02-B2DC-4649-ABD6-F6F8287A49D0}"/>
              </a:ext>
            </a:extLst>
          </p:cNvPr>
          <p:cNvSpPr/>
          <p:nvPr/>
        </p:nvSpPr>
        <p:spPr>
          <a:xfrm>
            <a:off x="6528496" y="2235565"/>
            <a:ext cx="76966" cy="4953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4FDF80-123A-4A97-BADB-10B228BD5951}"/>
              </a:ext>
            </a:extLst>
          </p:cNvPr>
          <p:cNvSpPr txBox="1"/>
          <p:nvPr/>
        </p:nvSpPr>
        <p:spPr>
          <a:xfrm>
            <a:off x="5083990" y="1647039"/>
            <a:ext cx="12706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already ack'ed 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98F9AD-D727-46E6-A344-0DEC9427FA05}"/>
              </a:ext>
            </a:extLst>
          </p:cNvPr>
          <p:cNvSpPr txBox="1"/>
          <p:nvPr/>
        </p:nvSpPr>
        <p:spPr>
          <a:xfrm>
            <a:off x="5083990" y="2221605"/>
            <a:ext cx="12706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sent, not yet ack'ed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9CE557-2FAD-45AA-8F9D-705857698C73}"/>
              </a:ext>
            </a:extLst>
          </p:cNvPr>
          <p:cNvSpPr txBox="1"/>
          <p:nvPr/>
        </p:nvSpPr>
        <p:spPr>
          <a:xfrm>
            <a:off x="6656103" y="1634865"/>
            <a:ext cx="12706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usable, not yet sent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1B2C77-DA97-4BC5-8129-41EC2498C03B}"/>
              </a:ext>
            </a:extLst>
          </p:cNvPr>
          <p:cNvSpPr txBox="1"/>
          <p:nvPr/>
        </p:nvSpPr>
        <p:spPr>
          <a:xfrm>
            <a:off x="6656103" y="2329327"/>
            <a:ext cx="12706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not usable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07A4FC-685E-4B58-82C6-8E5D0432BE80}"/>
              </a:ext>
            </a:extLst>
          </p:cNvPr>
          <p:cNvSpPr txBox="1"/>
          <p:nvPr/>
        </p:nvSpPr>
        <p:spPr>
          <a:xfrm>
            <a:off x="1241083" y="1322740"/>
            <a:ext cx="1491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send_base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601A84-C5E3-47E5-8312-61B3DAD3680F}"/>
              </a:ext>
            </a:extLst>
          </p:cNvPr>
          <p:cNvSpPr txBox="1"/>
          <p:nvPr/>
        </p:nvSpPr>
        <p:spPr>
          <a:xfrm>
            <a:off x="2589823" y="1322740"/>
            <a:ext cx="1491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nextseqnum</a:t>
            </a:r>
            <a:endParaRPr lang="ko-KR" altLang="en-US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D4B0966C-9E47-45C4-BCBF-7819DC799973}"/>
              </a:ext>
            </a:extLst>
          </p:cNvPr>
          <p:cNvCxnSpPr/>
          <p:nvPr/>
        </p:nvCxnSpPr>
        <p:spPr>
          <a:xfrm>
            <a:off x="1856398" y="1614535"/>
            <a:ext cx="0" cy="22098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F1D75BD6-1966-413E-89B9-B33FA47C7659}"/>
              </a:ext>
            </a:extLst>
          </p:cNvPr>
          <p:cNvCxnSpPr/>
          <p:nvPr/>
        </p:nvCxnSpPr>
        <p:spPr>
          <a:xfrm>
            <a:off x="3031148" y="1614535"/>
            <a:ext cx="0" cy="22098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2A67CA9-1FB9-40AB-BB2F-701CC878AE48}"/>
              </a:ext>
            </a:extLst>
          </p:cNvPr>
          <p:cNvSpPr/>
          <p:nvPr/>
        </p:nvSpPr>
        <p:spPr>
          <a:xfrm>
            <a:off x="731520" y="1249468"/>
            <a:ext cx="7414260" cy="1906482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A8B3AA-7FED-4604-807A-0728BEC68CD8}"/>
              </a:ext>
            </a:extLst>
          </p:cNvPr>
          <p:cNvSpPr txBox="1"/>
          <p:nvPr/>
        </p:nvSpPr>
        <p:spPr>
          <a:xfrm>
            <a:off x="1466850" y="3230046"/>
            <a:ext cx="6115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 (a) sender view of sequence numbers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AE544B8F-1467-4E3C-9D0F-410EA25B3553}"/>
              </a:ext>
            </a:extLst>
          </p:cNvPr>
          <p:cNvGrpSpPr/>
          <p:nvPr/>
        </p:nvGrpSpPr>
        <p:grpSpPr>
          <a:xfrm>
            <a:off x="983432" y="4567285"/>
            <a:ext cx="762000" cy="495300"/>
            <a:chOff x="826294" y="3181350"/>
            <a:chExt cx="678975" cy="495300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52C2F82-9672-45C1-8A7D-F9FE6CDE5001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C0CFE4C-6712-4690-9EA3-B45083382D58}"/>
                </a:ext>
              </a:extLst>
            </p:cNvPr>
            <p:cNvSpPr/>
            <p:nvPr/>
          </p:nvSpPr>
          <p:spPr>
            <a:xfrm>
              <a:off x="948373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E8F0DE88-D6B2-4FD3-BB56-DA6BFFCFDF61}"/>
                </a:ext>
              </a:extLst>
            </p:cNvPr>
            <p:cNvSpPr/>
            <p:nvPr/>
          </p:nvSpPr>
          <p:spPr>
            <a:xfrm>
              <a:off x="1070452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ACE5B7F0-1142-4A3C-A216-16A42207D465}"/>
                </a:ext>
              </a:extLst>
            </p:cNvPr>
            <p:cNvSpPr/>
            <p:nvPr/>
          </p:nvSpPr>
          <p:spPr>
            <a:xfrm>
              <a:off x="1192531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AD4C0E64-80CF-4AC9-B24B-2E6E87E96BFE}"/>
                </a:ext>
              </a:extLst>
            </p:cNvPr>
            <p:cNvSpPr/>
            <p:nvPr/>
          </p:nvSpPr>
          <p:spPr>
            <a:xfrm>
              <a:off x="1314610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2FD272A5-5AB1-4009-BB1E-37660C97ADC2}"/>
                </a:ext>
              </a:extLst>
            </p:cNvPr>
            <p:cNvSpPr/>
            <p:nvPr/>
          </p:nvSpPr>
          <p:spPr>
            <a:xfrm>
              <a:off x="1436689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89BFBE3-7986-4BC1-BB5A-DB02FA028651}"/>
              </a:ext>
            </a:extLst>
          </p:cNvPr>
          <p:cNvGrpSpPr/>
          <p:nvPr/>
        </p:nvGrpSpPr>
        <p:grpSpPr>
          <a:xfrm>
            <a:off x="1843064" y="4567285"/>
            <a:ext cx="1054894" cy="495300"/>
            <a:chOff x="826294" y="3181350"/>
            <a:chExt cx="939956" cy="4953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ACA129AA-B737-43C5-A99C-29DCD1B60199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FD1A19A9-2318-43B0-9E36-97A35587F9C3}"/>
                </a:ext>
              </a:extLst>
            </p:cNvPr>
            <p:cNvSpPr/>
            <p:nvPr/>
          </p:nvSpPr>
          <p:spPr>
            <a:xfrm>
              <a:off x="950776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33188BC-B0E4-4129-9CBC-388DB4CE3E45}"/>
                </a:ext>
              </a:extLst>
            </p:cNvPr>
            <p:cNvSpPr/>
            <p:nvPr/>
          </p:nvSpPr>
          <p:spPr>
            <a:xfrm>
              <a:off x="1075259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77922565-B452-4345-9119-FF9EB17330D9}"/>
                </a:ext>
              </a:extLst>
            </p:cNvPr>
            <p:cNvSpPr/>
            <p:nvPr/>
          </p:nvSpPr>
          <p:spPr>
            <a:xfrm>
              <a:off x="1199741" y="3181350"/>
              <a:ext cx="68580" cy="4953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53AB327D-1789-46A4-8BB4-A5C952F305F7}"/>
                </a:ext>
              </a:extLst>
            </p:cNvPr>
            <p:cNvSpPr/>
            <p:nvPr/>
          </p:nvSpPr>
          <p:spPr>
            <a:xfrm>
              <a:off x="1324223" y="3181350"/>
              <a:ext cx="68580" cy="495300"/>
            </a:xfrm>
            <a:prstGeom prst="rect">
              <a:avLst/>
            </a:prstGeom>
            <a:solidFill>
              <a:srgbClr val="DF177A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CD275C87-7545-4F68-A0B2-099CB2BAFC88}"/>
                </a:ext>
              </a:extLst>
            </p:cNvPr>
            <p:cNvSpPr/>
            <p:nvPr/>
          </p:nvSpPr>
          <p:spPr>
            <a:xfrm>
              <a:off x="1448705" y="3181350"/>
              <a:ext cx="68580" cy="495300"/>
            </a:xfrm>
            <a:prstGeom prst="rect">
              <a:avLst/>
            </a:prstGeom>
            <a:solidFill>
              <a:srgbClr val="DF177A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D0D60180-CEFF-4B27-B8E8-BC846B8D4D73}"/>
                </a:ext>
              </a:extLst>
            </p:cNvPr>
            <p:cNvSpPr/>
            <p:nvPr/>
          </p:nvSpPr>
          <p:spPr>
            <a:xfrm>
              <a:off x="1573188" y="3181350"/>
              <a:ext cx="68580" cy="4953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EA0C8C36-1761-4CFF-A7DF-3C2B0E8E92EE}"/>
                </a:ext>
              </a:extLst>
            </p:cNvPr>
            <p:cNvSpPr/>
            <p:nvPr/>
          </p:nvSpPr>
          <p:spPr>
            <a:xfrm>
              <a:off x="1697670" y="3181350"/>
              <a:ext cx="68580" cy="495300"/>
            </a:xfrm>
            <a:prstGeom prst="rect">
              <a:avLst/>
            </a:prstGeom>
            <a:solidFill>
              <a:srgbClr val="DF177A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274FF134-C807-4FF9-83D9-F29FB97A8420}"/>
              </a:ext>
            </a:extLst>
          </p:cNvPr>
          <p:cNvGrpSpPr/>
          <p:nvPr/>
        </p:nvGrpSpPr>
        <p:grpSpPr>
          <a:xfrm>
            <a:off x="2982889" y="4567285"/>
            <a:ext cx="775485" cy="495300"/>
            <a:chOff x="826294" y="3181350"/>
            <a:chExt cx="690991" cy="4953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3C89864E-1D59-4322-8F23-63DA5A2BB445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B540F8E6-B7D7-4574-B347-B544493F23A4}"/>
                </a:ext>
              </a:extLst>
            </p:cNvPr>
            <p:cNvSpPr/>
            <p:nvPr/>
          </p:nvSpPr>
          <p:spPr>
            <a:xfrm>
              <a:off x="950776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8171DFC7-4405-4320-82E9-7672366040FD}"/>
                </a:ext>
              </a:extLst>
            </p:cNvPr>
            <p:cNvSpPr/>
            <p:nvPr/>
          </p:nvSpPr>
          <p:spPr>
            <a:xfrm>
              <a:off x="1075259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7E1450EB-0D76-4E6B-B5C6-FCFE8EC825B2}"/>
                </a:ext>
              </a:extLst>
            </p:cNvPr>
            <p:cNvSpPr/>
            <p:nvPr/>
          </p:nvSpPr>
          <p:spPr>
            <a:xfrm>
              <a:off x="1199741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D6B163A0-D98E-4671-9333-733E1EB5DA23}"/>
                </a:ext>
              </a:extLst>
            </p:cNvPr>
            <p:cNvSpPr/>
            <p:nvPr/>
          </p:nvSpPr>
          <p:spPr>
            <a:xfrm>
              <a:off x="1324223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FF186A64-5F4D-4D4E-A7A8-2B5D459813D8}"/>
                </a:ext>
              </a:extLst>
            </p:cNvPr>
            <p:cNvSpPr/>
            <p:nvPr/>
          </p:nvSpPr>
          <p:spPr>
            <a:xfrm>
              <a:off x="1448705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948D07D5-C28C-4BD9-9E1C-325D5F822159}"/>
              </a:ext>
            </a:extLst>
          </p:cNvPr>
          <p:cNvGrpSpPr/>
          <p:nvPr/>
        </p:nvGrpSpPr>
        <p:grpSpPr>
          <a:xfrm>
            <a:off x="3824264" y="4567285"/>
            <a:ext cx="783421" cy="495300"/>
            <a:chOff x="826294" y="3181350"/>
            <a:chExt cx="698062" cy="4953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BD3258DE-E167-4A45-BA28-78F0DE8CA2ED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91730C4F-4A19-4D5F-BDCD-698818D37F5E}"/>
                </a:ext>
              </a:extLst>
            </p:cNvPr>
            <p:cNvSpPr/>
            <p:nvPr/>
          </p:nvSpPr>
          <p:spPr>
            <a:xfrm>
              <a:off x="952190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D4E55457-7B3B-4818-9978-2FE23002C5DE}"/>
                </a:ext>
              </a:extLst>
            </p:cNvPr>
            <p:cNvSpPr/>
            <p:nvPr/>
          </p:nvSpPr>
          <p:spPr>
            <a:xfrm>
              <a:off x="1078087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2834A895-A285-4178-ACB2-C6A881906C1A}"/>
                </a:ext>
              </a:extLst>
            </p:cNvPr>
            <p:cNvSpPr/>
            <p:nvPr/>
          </p:nvSpPr>
          <p:spPr>
            <a:xfrm>
              <a:off x="1203983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9BFE0708-F119-4BC7-A428-8C44FB1C4CB0}"/>
                </a:ext>
              </a:extLst>
            </p:cNvPr>
            <p:cNvSpPr/>
            <p:nvPr/>
          </p:nvSpPr>
          <p:spPr>
            <a:xfrm>
              <a:off x="1329880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738C3A51-672E-4CC2-8FF3-278179AE78CE}"/>
                </a:ext>
              </a:extLst>
            </p:cNvPr>
            <p:cNvSpPr/>
            <p:nvPr/>
          </p:nvSpPr>
          <p:spPr>
            <a:xfrm>
              <a:off x="1455776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003D182F-94B0-4D2E-95FA-2675B6E01B41}"/>
              </a:ext>
            </a:extLst>
          </p:cNvPr>
          <p:cNvSpPr/>
          <p:nvPr/>
        </p:nvSpPr>
        <p:spPr>
          <a:xfrm>
            <a:off x="4903707" y="4305665"/>
            <a:ext cx="76966" cy="495300"/>
          </a:xfrm>
          <a:prstGeom prst="rect">
            <a:avLst/>
          </a:prstGeom>
          <a:solidFill>
            <a:srgbClr val="DF177A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1987AC52-0017-43DB-9609-F0516E655824}"/>
              </a:ext>
            </a:extLst>
          </p:cNvPr>
          <p:cNvSpPr/>
          <p:nvPr/>
        </p:nvSpPr>
        <p:spPr>
          <a:xfrm>
            <a:off x="4903707" y="4996008"/>
            <a:ext cx="76966" cy="495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C55B1BB-D698-4915-BD50-00881238FB23}"/>
              </a:ext>
            </a:extLst>
          </p:cNvPr>
          <p:cNvSpPr/>
          <p:nvPr/>
        </p:nvSpPr>
        <p:spPr>
          <a:xfrm>
            <a:off x="6624030" y="4305665"/>
            <a:ext cx="76966" cy="495300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8AA0A0A-E617-4337-83C7-DB937496BCA9}"/>
              </a:ext>
            </a:extLst>
          </p:cNvPr>
          <p:cNvSpPr/>
          <p:nvPr/>
        </p:nvSpPr>
        <p:spPr>
          <a:xfrm>
            <a:off x="6624030" y="4996008"/>
            <a:ext cx="76966" cy="4953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1C3085C-32E6-42F3-AA2E-97DB8BE4339C}"/>
              </a:ext>
            </a:extLst>
          </p:cNvPr>
          <p:cNvSpPr txBox="1"/>
          <p:nvPr/>
        </p:nvSpPr>
        <p:spPr>
          <a:xfrm>
            <a:off x="4988756" y="4160944"/>
            <a:ext cx="1550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out of order</a:t>
            </a:r>
          </a:p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(buffered) but already ack'ed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1AB57C5-EBB4-4CD1-8B16-485D2365CA90}"/>
              </a:ext>
            </a:extLst>
          </p:cNvPr>
          <p:cNvSpPr txBox="1"/>
          <p:nvPr/>
        </p:nvSpPr>
        <p:spPr>
          <a:xfrm>
            <a:off x="5002104" y="4982048"/>
            <a:ext cx="1489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Expected, not</a:t>
            </a:r>
          </a:p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yet received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5FA9293-02BE-445C-B7AD-69C48ECF2CA1}"/>
              </a:ext>
            </a:extLst>
          </p:cNvPr>
          <p:cNvSpPr txBox="1"/>
          <p:nvPr/>
        </p:nvSpPr>
        <p:spPr>
          <a:xfrm>
            <a:off x="6738289" y="4160944"/>
            <a:ext cx="12706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acceptable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(within window)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6D66735-9B79-4E0D-80FF-6A0AC8991523}"/>
              </a:ext>
            </a:extLst>
          </p:cNvPr>
          <p:cNvSpPr txBox="1"/>
          <p:nvPr/>
        </p:nvSpPr>
        <p:spPr>
          <a:xfrm>
            <a:off x="6751637" y="5089770"/>
            <a:ext cx="12706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not usable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BE91B15-4743-4712-B5DA-53CD9CBD4D37}"/>
              </a:ext>
            </a:extLst>
          </p:cNvPr>
          <p:cNvSpPr txBox="1"/>
          <p:nvPr/>
        </p:nvSpPr>
        <p:spPr>
          <a:xfrm>
            <a:off x="1466850" y="5897046"/>
            <a:ext cx="6115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(b) receiver view of sequence numbers</a:t>
            </a:r>
          </a:p>
        </p:txBody>
      </p:sp>
      <p:sp>
        <p:nvSpPr>
          <p:cNvPr id="103" name="오른쪽 대괄호 102">
            <a:extLst>
              <a:ext uri="{FF2B5EF4-FFF2-40B4-BE49-F238E27FC236}">
                <a16:creationId xmlns:a16="http://schemas.microsoft.com/office/drawing/2014/main" id="{AFD8C9EE-ACB7-402D-9035-EF86D5ED34B5}"/>
              </a:ext>
            </a:extLst>
          </p:cNvPr>
          <p:cNvSpPr/>
          <p:nvPr/>
        </p:nvSpPr>
        <p:spPr>
          <a:xfrm rot="5400000">
            <a:off x="3208340" y="4192590"/>
            <a:ext cx="179386" cy="1989140"/>
          </a:xfrm>
          <a:prstGeom prst="rightBracket">
            <a:avLst>
              <a:gd name="adj" fmla="val 0"/>
            </a:avLst>
          </a:prstGeom>
          <a:ln w="12700">
            <a:solidFill>
              <a:schemeClr val="tx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71F06A0-4BCA-44AC-8F39-875C4A04E0DA}"/>
              </a:ext>
            </a:extLst>
          </p:cNvPr>
          <p:cNvSpPr txBox="1"/>
          <p:nvPr/>
        </p:nvSpPr>
        <p:spPr>
          <a:xfrm>
            <a:off x="2670295" y="5137185"/>
            <a:ext cx="1255474" cy="58734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window size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30A5410-9656-4C0A-A43B-D9D3FE37D98C}"/>
              </a:ext>
            </a:extLst>
          </p:cNvPr>
          <p:cNvSpPr txBox="1"/>
          <p:nvPr/>
        </p:nvSpPr>
        <p:spPr>
          <a:xfrm>
            <a:off x="1618908" y="5513740"/>
            <a:ext cx="1491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rcv_base</a:t>
            </a:r>
            <a:endParaRPr lang="ko-KR" altLang="en-US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554978C-0BB2-4435-BC39-6AE488FA3785}"/>
              </a:ext>
            </a:extLst>
          </p:cNvPr>
          <p:cNvCxnSpPr>
            <a:cxnSpLocks/>
          </p:cNvCxnSpPr>
          <p:nvPr/>
        </p:nvCxnSpPr>
        <p:spPr>
          <a:xfrm flipV="1">
            <a:off x="2300898" y="5314950"/>
            <a:ext cx="0" cy="21600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09559F57-1BB4-4068-9DA1-715703C180E3}"/>
              </a:ext>
            </a:extLst>
          </p:cNvPr>
          <p:cNvSpPr/>
          <p:nvPr/>
        </p:nvSpPr>
        <p:spPr>
          <a:xfrm>
            <a:off x="1790700" y="1844674"/>
            <a:ext cx="2001044" cy="622300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9" name="오른쪽 대괄호 108">
            <a:extLst>
              <a:ext uri="{FF2B5EF4-FFF2-40B4-BE49-F238E27FC236}">
                <a16:creationId xmlns:a16="http://schemas.microsoft.com/office/drawing/2014/main" id="{6AE460B0-82A4-4BBF-A5C9-F1D1B6C47BCD}"/>
              </a:ext>
            </a:extLst>
          </p:cNvPr>
          <p:cNvSpPr/>
          <p:nvPr/>
        </p:nvSpPr>
        <p:spPr>
          <a:xfrm rot="5400000">
            <a:off x="2719771" y="1683577"/>
            <a:ext cx="179386" cy="1823273"/>
          </a:xfrm>
          <a:prstGeom prst="rightBracket">
            <a:avLst>
              <a:gd name="adj" fmla="val 0"/>
            </a:avLst>
          </a:prstGeom>
          <a:ln w="12700">
            <a:solidFill>
              <a:schemeClr val="tx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6C7B24-C491-4C7D-B6DF-6AF966390196}"/>
              </a:ext>
            </a:extLst>
          </p:cNvPr>
          <p:cNvSpPr txBox="1"/>
          <p:nvPr/>
        </p:nvSpPr>
        <p:spPr>
          <a:xfrm>
            <a:off x="2181727" y="2517810"/>
            <a:ext cx="1255474" cy="58734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window size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</a:t>
            </a: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DBE481FD-7C0E-49C5-8DB4-1FEACCAFE615}"/>
              </a:ext>
            </a:extLst>
          </p:cNvPr>
          <p:cNvCxnSpPr/>
          <p:nvPr/>
        </p:nvCxnSpPr>
        <p:spPr>
          <a:xfrm>
            <a:off x="2235200" y="2530475"/>
            <a:ext cx="0" cy="1892300"/>
          </a:xfrm>
          <a:prstGeom prst="line">
            <a:avLst/>
          </a:prstGeom>
          <a:ln w="15875">
            <a:solidFill>
              <a:srgbClr val="105B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8394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7E5E3B33-F732-466D-B10B-4EB632A0D2B0}"/>
              </a:ext>
            </a:extLst>
          </p:cNvPr>
          <p:cNvSpPr/>
          <p:nvPr/>
        </p:nvSpPr>
        <p:spPr>
          <a:xfrm>
            <a:off x="4454209" y="1300708"/>
            <a:ext cx="3764279" cy="5077232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>
                <a:cs typeface="+mj-cs"/>
              </a:rPr>
              <a:t>선택적 반복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43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30A913F-CC7B-402F-93D1-5733F6BCCE8E}"/>
              </a:ext>
            </a:extLst>
          </p:cNvPr>
          <p:cNvSpPr txBox="1">
            <a:spLocks noChangeArrowheads="1"/>
          </p:cNvSpPr>
          <p:nvPr/>
        </p:nvSpPr>
        <p:spPr>
          <a:xfrm>
            <a:off x="783756" y="1628800"/>
            <a:ext cx="779089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4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위로부터 데이터 받음</a:t>
            </a:r>
            <a:endParaRPr lang="en-US" altLang="ko-KR" sz="16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1B7E92-6A54-4DF7-8E9E-502179DE7039}"/>
              </a:ext>
            </a:extLst>
          </p:cNvPr>
          <p:cNvSpPr/>
          <p:nvPr/>
        </p:nvSpPr>
        <p:spPr>
          <a:xfrm>
            <a:off x="670561" y="1303020"/>
            <a:ext cx="3575703" cy="5067300"/>
          </a:xfrm>
          <a:prstGeom prst="rect">
            <a:avLst/>
          </a:prstGeom>
          <a:noFill/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0052929D-136D-4508-ABBD-45D2D7C6CD0D}"/>
              </a:ext>
            </a:extLst>
          </p:cNvPr>
          <p:cNvSpPr/>
          <p:nvPr/>
        </p:nvSpPr>
        <p:spPr>
          <a:xfrm>
            <a:off x="764729" y="1056124"/>
            <a:ext cx="1215707" cy="381380"/>
          </a:xfrm>
          <a:prstGeom prst="snip1Rect">
            <a:avLst>
              <a:gd name="adj" fmla="val 28162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5" name="텍스트 개체 틀 19">
            <a:extLst>
              <a:ext uri="{FF2B5EF4-FFF2-40B4-BE49-F238E27FC236}">
                <a16:creationId xmlns:a16="http://schemas.microsoft.com/office/drawing/2014/main" id="{077340FE-E015-402B-AEA8-027C24D6BA5B}"/>
              </a:ext>
            </a:extLst>
          </p:cNvPr>
          <p:cNvSpPr txBox="1">
            <a:spLocks/>
          </p:cNvSpPr>
          <p:nvPr/>
        </p:nvSpPr>
        <p:spPr>
          <a:xfrm>
            <a:off x="945332" y="1067625"/>
            <a:ext cx="1606604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송신 측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9C07939-63E3-4346-A321-BE6B48D123F9}"/>
              </a:ext>
            </a:extLst>
          </p:cNvPr>
          <p:cNvSpPr txBox="1">
            <a:spLocks noChangeArrowheads="1"/>
          </p:cNvSpPr>
          <p:nvPr/>
        </p:nvSpPr>
        <p:spPr>
          <a:xfrm>
            <a:off x="1020768" y="2012796"/>
            <a:ext cx="2842572" cy="6292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다음 순서 번호가 윈도우 내이면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패킷 전송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22F191FE-EB9B-4AE0-97D8-667DCDC1ABE5}"/>
              </a:ext>
            </a:extLst>
          </p:cNvPr>
          <p:cNvSpPr txBox="1">
            <a:spLocks noChangeArrowheads="1"/>
          </p:cNvSpPr>
          <p:nvPr/>
        </p:nvSpPr>
        <p:spPr>
          <a:xfrm>
            <a:off x="783756" y="2762260"/>
            <a:ext cx="779089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4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timeout(n):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EF602846-4FA5-43BD-BACC-72F3242C6AD6}"/>
              </a:ext>
            </a:extLst>
          </p:cNvPr>
          <p:cNvSpPr txBox="1">
            <a:spLocks noChangeArrowheads="1"/>
          </p:cNvSpPr>
          <p:nvPr/>
        </p:nvSpPr>
        <p:spPr>
          <a:xfrm>
            <a:off x="1020768" y="3177892"/>
            <a:ext cx="3170232" cy="3491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패킷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n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재전송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타이머 재개시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A03761D-568A-4828-8CE5-8C749E4FF8F5}"/>
              </a:ext>
            </a:extLst>
          </p:cNvPr>
          <p:cNvSpPr txBox="1">
            <a:spLocks noChangeArrowheads="1"/>
          </p:cNvSpPr>
          <p:nvPr/>
        </p:nvSpPr>
        <p:spPr>
          <a:xfrm>
            <a:off x="783756" y="3717032"/>
            <a:ext cx="3460584" cy="624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400"/>
              </a:spcBef>
              <a:buBlip>
                <a:blip r:embed="rId2"/>
              </a:buBlip>
            </a:pPr>
            <a:r>
              <a:rPr lang="pt-BR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ACK(n) </a:t>
            </a:r>
            <a:r>
              <a:rPr lang="pt-BR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in </a:t>
            </a:r>
          </a:p>
          <a:p>
            <a:pPr marL="0" lvl="2" indent="0">
              <a:lnSpc>
                <a:spcPct val="130000"/>
              </a:lnSpc>
              <a:spcBef>
                <a:spcPts val="400"/>
              </a:spcBef>
              <a:buNone/>
            </a:pPr>
            <a:r>
              <a:rPr lang="pt-BR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  </a:t>
            </a:r>
            <a:r>
              <a:rPr lang="pt-BR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[sendbase, sendbase+N]: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EC18DB73-3618-453E-85D5-5CE2EB0F22B0}"/>
              </a:ext>
            </a:extLst>
          </p:cNvPr>
          <p:cNvSpPr txBox="1">
            <a:spLocks noChangeArrowheads="1"/>
          </p:cNvSpPr>
          <p:nvPr/>
        </p:nvSpPr>
        <p:spPr>
          <a:xfrm>
            <a:off x="1020768" y="4445084"/>
            <a:ext cx="2762250" cy="154644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패킷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n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을 받았다고 표시</a:t>
            </a:r>
          </a:p>
          <a:p>
            <a:pPr marL="180000" lvl="3" indent="-18000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n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이전 것들이 모두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됐으면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윈도우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base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를 다음의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안 된 가장 작은 패킷으로 이동시킴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B0065F0-D7E7-4098-B4DA-703977DD2FB9}"/>
              </a:ext>
            </a:extLst>
          </p:cNvPr>
          <p:cNvSpPr txBox="1">
            <a:spLocks noChangeArrowheads="1"/>
          </p:cNvSpPr>
          <p:nvPr/>
        </p:nvSpPr>
        <p:spPr>
          <a:xfrm>
            <a:off x="4811337" y="1971852"/>
            <a:ext cx="3090603" cy="190347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ACK(n)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전송</a:t>
            </a:r>
          </a:p>
          <a:p>
            <a:pPr marL="180000" lvl="3" indent="-180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순서 바뀐 것은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버퍼링</a:t>
            </a:r>
          </a:p>
          <a:p>
            <a:pPr marL="180000" lvl="3" indent="-180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순서 맞으면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위로 전달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버퍼링됐던 것들과 함께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), 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아직 안 받은 패킷 위치로 윈도우 이동</a:t>
            </a:r>
          </a:p>
        </p:txBody>
      </p:sp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A3DA7A4A-ECED-434B-886D-980A9568665E}"/>
              </a:ext>
            </a:extLst>
          </p:cNvPr>
          <p:cNvSpPr/>
          <p:nvPr/>
        </p:nvSpPr>
        <p:spPr>
          <a:xfrm>
            <a:off x="4548378" y="1056124"/>
            <a:ext cx="1220824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8" name="텍스트 개체 틀 19">
            <a:extLst>
              <a:ext uri="{FF2B5EF4-FFF2-40B4-BE49-F238E27FC236}">
                <a16:creationId xmlns:a16="http://schemas.microsoft.com/office/drawing/2014/main" id="{FC9EB8BE-8599-4DB1-8ED9-D87B48CC8EF7}"/>
              </a:ext>
            </a:extLst>
          </p:cNvPr>
          <p:cNvSpPr txBox="1">
            <a:spLocks/>
          </p:cNvSpPr>
          <p:nvPr/>
        </p:nvSpPr>
        <p:spPr>
          <a:xfrm>
            <a:off x="4728981" y="1072793"/>
            <a:ext cx="1606604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수신 측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7341E38-28C8-47DD-BC05-14F82BF3C160}"/>
              </a:ext>
            </a:extLst>
          </p:cNvPr>
          <p:cNvSpPr txBox="1">
            <a:spLocks noChangeArrowheads="1"/>
          </p:cNvSpPr>
          <p:nvPr/>
        </p:nvSpPr>
        <p:spPr>
          <a:xfrm>
            <a:off x="4505745" y="1574520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패킷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n in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[rcvbase, rcvbase+N-1]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FADB7A2D-5F25-4998-B7CF-9C6EDC016BCF}"/>
              </a:ext>
            </a:extLst>
          </p:cNvPr>
          <p:cNvSpPr txBox="1">
            <a:spLocks noChangeArrowheads="1"/>
          </p:cNvSpPr>
          <p:nvPr/>
        </p:nvSpPr>
        <p:spPr>
          <a:xfrm>
            <a:off x="4811337" y="4341672"/>
            <a:ext cx="3090603" cy="3491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ACK(n)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B04E0A50-1D3C-4944-9B61-54B2A6FB91DE}"/>
              </a:ext>
            </a:extLst>
          </p:cNvPr>
          <p:cNvSpPr txBox="1">
            <a:spLocks noChangeArrowheads="1"/>
          </p:cNvSpPr>
          <p:nvPr/>
        </p:nvSpPr>
        <p:spPr>
          <a:xfrm>
            <a:off x="4505745" y="3944340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패킷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n in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[</a:t>
            </a: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rcvbase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-N, rcvbase-1]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2376D240-2ADD-454D-A108-3F11AEF05264}"/>
              </a:ext>
            </a:extLst>
          </p:cNvPr>
          <p:cNvSpPr txBox="1">
            <a:spLocks noChangeArrowheads="1"/>
          </p:cNvSpPr>
          <p:nvPr/>
        </p:nvSpPr>
        <p:spPr>
          <a:xfrm>
            <a:off x="4811337" y="5278932"/>
            <a:ext cx="3090603" cy="3491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무시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74AEB1E5-E9B4-4E95-A1B1-E4A6BC4510E1}"/>
              </a:ext>
            </a:extLst>
          </p:cNvPr>
          <p:cNvSpPr txBox="1">
            <a:spLocks noChangeArrowheads="1"/>
          </p:cNvSpPr>
          <p:nvPr/>
        </p:nvSpPr>
        <p:spPr>
          <a:xfrm>
            <a:off x="4505745" y="4881600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나머지 경우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39007006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>
                <a:cs typeface="+mj-cs"/>
              </a:rPr>
              <a:t>선택적 반복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동작 예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44</a:t>
            </a:fld>
            <a:endParaRPr lang="en-US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DD26BD39-C764-4206-BB06-C518AB639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0237" y="1433513"/>
            <a:ext cx="1064714" cy="138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pkt0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pkt1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pkt2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pkt3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(wait)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DAD175CC-F9C2-48F4-8C80-2B3B6F8C5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541" y="1068388"/>
            <a:ext cx="83388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송신 측</a:t>
            </a:r>
            <a:endParaRPr lang="en-US" altLang="ko-KR" sz="16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27801010-80FF-46C4-A093-B87C755FE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3597" y="1068388"/>
            <a:ext cx="83388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수신 측</a:t>
            </a:r>
            <a:endParaRPr lang="en-US" altLang="ko-KR" sz="16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403A07BA-25A0-4821-865A-EF95D14882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4589" y="1679575"/>
            <a:ext cx="11112" cy="4538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FE5E02C0-9559-4E3A-9CB1-F1C3AD404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0939" y="1874838"/>
            <a:ext cx="2148217" cy="138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pkt0, send ack0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pkt1, send ack1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pkt3, buffer, 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  send ack3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938E00F-CBD3-4447-BEE1-34D6CB7B3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19" y="3125598"/>
            <a:ext cx="1795620" cy="843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ack0, send pkt4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ack1, send pkt5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endParaRPr lang="en-US" altLang="ko-KR" sz="13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2705E78E-F573-4642-86D5-0170341F7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338" y="4400550"/>
            <a:ext cx="1451038" cy="2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75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pkt 2 timeout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CD879CFF-947D-44C3-8274-3EE39E98C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5838" y="4614863"/>
            <a:ext cx="1043876" cy="300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pkt2</a:t>
            </a: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F00DB4D0-E505-4FD3-BA04-B05E45EA90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9401" y="1627188"/>
            <a:ext cx="2101850" cy="46831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4E0D5682-EF28-473B-8428-28B74C75C5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7814" y="1901825"/>
            <a:ext cx="2100262" cy="4683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1270F43B-1E24-4147-84CE-1A886C4717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3689" y="2165350"/>
            <a:ext cx="876300" cy="2000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01FE3517-DA30-4284-8DE8-4A9E6BFE1F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0039" y="2451100"/>
            <a:ext cx="2100262" cy="4683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9FA0C887-6693-48A1-AABD-38CA68A711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25751" y="2151063"/>
            <a:ext cx="2014538" cy="1066800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8" name="Text Box 19">
            <a:extLst>
              <a:ext uri="{FF2B5EF4-FFF2-40B4-BE49-F238E27FC236}">
                <a16:creationId xmlns:a16="http://schemas.microsoft.com/office/drawing/2014/main" id="{7F06888C-4A25-47A1-83BC-C907E2B95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2641" y="2200275"/>
            <a:ext cx="3674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8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  <a:cs typeface="+mj-cs"/>
              </a:rPr>
              <a:t>X</a:t>
            </a:r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3C68DC7C-ED83-4725-92F7-D4E25DDFD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60" y="2287588"/>
            <a:ext cx="604653" cy="279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75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loss</a:t>
            </a:r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DB1A2C3F-1842-45D4-9B9B-A251B82C96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22576" y="2436813"/>
            <a:ext cx="2014538" cy="1100137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CA3C7386-DBB4-45EA-A0ED-786A1D4BB39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5751" y="3273425"/>
            <a:ext cx="2100263" cy="4683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2" name="Line 23">
            <a:extLst>
              <a:ext uri="{FF2B5EF4-FFF2-40B4-BE49-F238E27FC236}">
                <a16:creationId xmlns:a16="http://schemas.microsoft.com/office/drawing/2014/main" id="{B7B9CCFC-E044-4B54-9EA9-BE6391285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4549" y="3582537"/>
            <a:ext cx="2144802" cy="478288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248CAC7E-A9AD-4AA0-8CF2-F5E38E6C25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4326" y="2967038"/>
            <a:ext cx="2014538" cy="1100137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74B8AD76-1FBC-4690-B3AF-09B52E3101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5914" y="4786313"/>
            <a:ext cx="2100262" cy="46831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9" name="Text Box 33">
            <a:extLst>
              <a:ext uri="{FF2B5EF4-FFF2-40B4-BE49-F238E27FC236}">
                <a16:creationId xmlns:a16="http://schemas.microsoft.com/office/drawing/2014/main" id="{AED41F46-F1BC-42EC-8AAC-34E9858C5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0939" y="3398838"/>
            <a:ext cx="1854482" cy="5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pkt4, buffer, 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  send ack4</a:t>
            </a:r>
          </a:p>
        </p:txBody>
      </p:sp>
      <p:sp>
        <p:nvSpPr>
          <p:cNvPr id="30" name="Text Box 34">
            <a:extLst>
              <a:ext uri="{FF2B5EF4-FFF2-40B4-BE49-F238E27FC236}">
                <a16:creationId xmlns:a16="http://schemas.microsoft.com/office/drawing/2014/main" id="{87CCB4A1-04BD-42B1-B67C-6EAAA43B4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0939" y="3919538"/>
            <a:ext cx="1846468" cy="5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pkt5, buffer, 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  send ack5</a:t>
            </a:r>
          </a:p>
        </p:txBody>
      </p:sp>
      <p:sp>
        <p:nvSpPr>
          <p:cNvPr id="31" name="Text Box 35">
            <a:extLst>
              <a:ext uri="{FF2B5EF4-FFF2-40B4-BE49-F238E27FC236}">
                <a16:creationId xmlns:a16="http://schemas.microsoft.com/office/drawing/2014/main" id="{425A5B30-C780-4503-B132-A3DBAF66B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0939" y="5073650"/>
            <a:ext cx="2371162" cy="5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pkt2; deliver pkt2,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pkt3, pkt4, pkt5; send ack2</a:t>
            </a:r>
          </a:p>
        </p:txBody>
      </p:sp>
      <p:sp>
        <p:nvSpPr>
          <p:cNvPr id="32" name="Text Box 36">
            <a:extLst>
              <a:ext uri="{FF2B5EF4-FFF2-40B4-BE49-F238E27FC236}">
                <a16:creationId xmlns:a16="http://schemas.microsoft.com/office/drawing/2014/main" id="{6DBC234F-757F-462E-ADEE-1D7E2788D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6233" y="3902075"/>
            <a:ext cx="1790618" cy="300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record ack3 arrived</a:t>
            </a:r>
          </a:p>
        </p:txBody>
      </p:sp>
      <p:sp>
        <p:nvSpPr>
          <p:cNvPr id="36" name="Text Box 40">
            <a:extLst>
              <a:ext uri="{FF2B5EF4-FFF2-40B4-BE49-F238E27FC236}">
                <a16:creationId xmlns:a16="http://schemas.microsoft.com/office/drawing/2014/main" id="{D0E01284-1F19-4681-BB57-919B1D46D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068388"/>
            <a:ext cx="20986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송신 측 윈도우</a:t>
            </a:r>
            <a:r>
              <a:rPr lang="en-US" altLang="ko-KR" sz="16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(N=4)</a:t>
            </a:r>
          </a:p>
        </p:txBody>
      </p:sp>
      <p:sp>
        <p:nvSpPr>
          <p:cNvPr id="64" name="Line 88">
            <a:extLst>
              <a:ext uri="{FF2B5EF4-FFF2-40B4-BE49-F238E27FC236}">
                <a16:creationId xmlns:a16="http://schemas.microsoft.com/office/drawing/2014/main" id="{0FCA4706-31AF-4348-9A72-A5D7ADBA62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28926" y="3776663"/>
            <a:ext cx="2070100" cy="1344612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5" name="Line 89">
            <a:extLst>
              <a:ext uri="{FF2B5EF4-FFF2-40B4-BE49-F238E27FC236}">
                <a16:creationId xmlns:a16="http://schemas.microsoft.com/office/drawing/2014/main" id="{E21DD25C-AC66-42A2-A8EC-2BAB2B37F1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1314" y="4084638"/>
            <a:ext cx="2070100" cy="1344612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6" name="Text Box 90">
            <a:extLst>
              <a:ext uri="{FF2B5EF4-FFF2-40B4-BE49-F238E27FC236}">
                <a16:creationId xmlns:a16="http://schemas.microsoft.com/office/drawing/2014/main" id="{EFE1E4A1-E395-4B1C-97A0-AA25BEFDB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105" y="4946650"/>
            <a:ext cx="1798634" cy="300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record ack4 arrived</a:t>
            </a:r>
          </a:p>
        </p:txBody>
      </p:sp>
      <p:sp>
        <p:nvSpPr>
          <p:cNvPr id="68" name="Line 92">
            <a:extLst>
              <a:ext uri="{FF2B5EF4-FFF2-40B4-BE49-F238E27FC236}">
                <a16:creationId xmlns:a16="http://schemas.microsoft.com/office/drawing/2014/main" id="{9D5E970F-5AAE-45EC-B7E2-C5FB9CEC8F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2564" y="5295900"/>
            <a:ext cx="922337" cy="574675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9" name="Rectangle 60">
            <a:extLst>
              <a:ext uri="{FF2B5EF4-FFF2-40B4-BE49-F238E27FC236}">
                <a16:creationId xmlns:a16="http://schemas.microsoft.com/office/drawing/2014/main" id="{8CD126BB-CBAD-4FC0-9B4C-561DF0339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40" y="3094354"/>
            <a:ext cx="636155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10" name="Text Box 46">
            <a:extLst>
              <a:ext uri="{FF2B5EF4-FFF2-40B4-BE49-F238E27FC236}">
                <a16:creationId xmlns:a16="http://schemas.microsoft.com/office/drawing/2014/main" id="{0C6EFC21-13A3-4B55-AB5F-4EC131067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8" y="305942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1 2 3 4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5 6 7 8 </a:t>
            </a:r>
          </a:p>
        </p:txBody>
      </p:sp>
      <p:sp>
        <p:nvSpPr>
          <p:cNvPr id="125" name="Rectangle 60">
            <a:extLst>
              <a:ext uri="{FF2B5EF4-FFF2-40B4-BE49-F238E27FC236}">
                <a16:creationId xmlns:a16="http://schemas.microsoft.com/office/drawing/2014/main" id="{74C2FF3D-A60E-415E-8DCD-860A73D2B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640" y="338010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26" name="Text Box 46">
            <a:extLst>
              <a:ext uri="{FF2B5EF4-FFF2-40B4-BE49-F238E27FC236}">
                <a16:creationId xmlns:a16="http://schemas.microsoft.com/office/drawing/2014/main" id="{70A2822A-FA87-4085-B21F-48F9047BF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8" y="334517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23" name="Rectangle 60">
            <a:extLst>
              <a:ext uri="{FF2B5EF4-FFF2-40B4-BE49-F238E27FC236}">
                <a16:creationId xmlns:a16="http://schemas.microsoft.com/office/drawing/2014/main" id="{47772D10-6A72-4911-913B-17A45A8A7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640" y="476567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24" name="Text Box 46">
            <a:extLst>
              <a:ext uri="{FF2B5EF4-FFF2-40B4-BE49-F238E27FC236}">
                <a16:creationId xmlns:a16="http://schemas.microsoft.com/office/drawing/2014/main" id="{0C1014A7-A741-4AE2-BE43-23424924C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8" y="473074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21" name="Rectangle 60">
            <a:extLst>
              <a:ext uri="{FF2B5EF4-FFF2-40B4-BE49-F238E27FC236}">
                <a16:creationId xmlns:a16="http://schemas.microsoft.com/office/drawing/2014/main" id="{833A85C6-EF1E-4188-8883-21378A9CD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640" y="504507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22" name="Text Box 46">
            <a:extLst>
              <a:ext uri="{FF2B5EF4-FFF2-40B4-BE49-F238E27FC236}">
                <a16:creationId xmlns:a16="http://schemas.microsoft.com/office/drawing/2014/main" id="{C3C7EA66-5220-4514-BED6-976BE3189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8" y="501014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19" name="Rectangle 60">
            <a:extLst>
              <a:ext uri="{FF2B5EF4-FFF2-40B4-BE49-F238E27FC236}">
                <a16:creationId xmlns:a16="http://schemas.microsoft.com/office/drawing/2014/main" id="{F32A7126-E1F7-44D9-94CD-62E2EA9F7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640" y="532447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20" name="Text Box 46">
            <a:extLst>
              <a:ext uri="{FF2B5EF4-FFF2-40B4-BE49-F238E27FC236}">
                <a16:creationId xmlns:a16="http://schemas.microsoft.com/office/drawing/2014/main" id="{7A911A51-38C8-460B-81FD-F9F0BE2A6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8" y="528954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17" name="Rectangle 60">
            <a:extLst>
              <a:ext uri="{FF2B5EF4-FFF2-40B4-BE49-F238E27FC236}">
                <a16:creationId xmlns:a16="http://schemas.microsoft.com/office/drawing/2014/main" id="{5593AC36-3503-4532-A967-D80102CB0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640" y="560387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18" name="Text Box 46">
            <a:extLst>
              <a:ext uri="{FF2B5EF4-FFF2-40B4-BE49-F238E27FC236}">
                <a16:creationId xmlns:a16="http://schemas.microsoft.com/office/drawing/2014/main" id="{5223B6C5-1983-4BAE-8193-7AD98DC01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8" y="556894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35" name="오른쪽 대괄호 134">
            <a:extLst>
              <a:ext uri="{FF2B5EF4-FFF2-40B4-BE49-F238E27FC236}">
                <a16:creationId xmlns:a16="http://schemas.microsoft.com/office/drawing/2014/main" id="{18B8ED10-9EF3-4F53-A221-5BA030E9695E}"/>
              </a:ext>
            </a:extLst>
          </p:cNvPr>
          <p:cNvSpPr/>
          <p:nvPr/>
        </p:nvSpPr>
        <p:spPr>
          <a:xfrm>
            <a:off x="3718560" y="2120900"/>
            <a:ext cx="98425" cy="2384425"/>
          </a:xfrm>
          <a:prstGeom prst="rightBracket">
            <a:avLst>
              <a:gd name="adj" fmla="val 0"/>
            </a:avLst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Rectangle 60">
            <a:extLst>
              <a:ext uri="{FF2B5EF4-FFF2-40B4-BE49-F238E27FC236}">
                <a16:creationId xmlns:a16="http://schemas.microsoft.com/office/drawing/2014/main" id="{BF447B06-15FB-416F-8E5C-38F9162B2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05" y="1471613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34" name="Text Box 46">
            <a:extLst>
              <a:ext uri="{FF2B5EF4-FFF2-40B4-BE49-F238E27FC236}">
                <a16:creationId xmlns:a16="http://schemas.microsoft.com/office/drawing/2014/main" id="{FFE255CC-26D2-47B2-A8ED-2FF242DEF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648" y="1436688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0 1 2 3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4 5 6 7 8 </a:t>
            </a:r>
          </a:p>
        </p:txBody>
      </p:sp>
      <p:sp>
        <p:nvSpPr>
          <p:cNvPr id="131" name="Rectangle 60">
            <a:extLst>
              <a:ext uri="{FF2B5EF4-FFF2-40B4-BE49-F238E27FC236}">
                <a16:creationId xmlns:a16="http://schemas.microsoft.com/office/drawing/2014/main" id="{5A2A189B-B72F-47F4-9D8A-8860DDCDB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05" y="1739900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32" name="Text Box 46">
            <a:extLst>
              <a:ext uri="{FF2B5EF4-FFF2-40B4-BE49-F238E27FC236}">
                <a16:creationId xmlns:a16="http://schemas.microsoft.com/office/drawing/2014/main" id="{7BD37122-2308-407A-891F-D855654E1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648" y="1704975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0 1 2 3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4 5 6 7 8 </a:t>
            </a:r>
          </a:p>
        </p:txBody>
      </p:sp>
      <p:sp>
        <p:nvSpPr>
          <p:cNvPr id="129" name="Rectangle 60">
            <a:extLst>
              <a:ext uri="{FF2B5EF4-FFF2-40B4-BE49-F238E27FC236}">
                <a16:creationId xmlns:a16="http://schemas.microsoft.com/office/drawing/2014/main" id="{69C776C9-3CA9-4532-B414-577889038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05" y="2008187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30" name="Text Box 46">
            <a:extLst>
              <a:ext uri="{FF2B5EF4-FFF2-40B4-BE49-F238E27FC236}">
                <a16:creationId xmlns:a16="http://schemas.microsoft.com/office/drawing/2014/main" id="{F877E2D3-64E0-4A13-89D7-41DCA0E45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648" y="1973262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0 1 2 3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4 5 6 7 8 </a:t>
            </a:r>
          </a:p>
        </p:txBody>
      </p:sp>
      <p:sp>
        <p:nvSpPr>
          <p:cNvPr id="127" name="Rectangle 60">
            <a:extLst>
              <a:ext uri="{FF2B5EF4-FFF2-40B4-BE49-F238E27FC236}">
                <a16:creationId xmlns:a16="http://schemas.microsoft.com/office/drawing/2014/main" id="{398A46F7-EC81-45B8-A022-D3493A3C1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05" y="227647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28" name="Text Box 46">
            <a:extLst>
              <a:ext uri="{FF2B5EF4-FFF2-40B4-BE49-F238E27FC236}">
                <a16:creationId xmlns:a16="http://schemas.microsoft.com/office/drawing/2014/main" id="{805C4BC9-E0F3-4674-A705-76DD72611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648" y="224154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0 1 2 3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4 5 6 7 8 </a:t>
            </a:r>
          </a:p>
        </p:txBody>
      </p:sp>
      <p:sp>
        <p:nvSpPr>
          <p:cNvPr id="137" name="Rectangle 60">
            <a:extLst>
              <a:ext uri="{FF2B5EF4-FFF2-40B4-BE49-F238E27FC236}">
                <a16:creationId xmlns:a16="http://schemas.microsoft.com/office/drawing/2014/main" id="{9CAAB897-E121-44CE-9F3C-9EB11A91B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05" y="2539999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54" name="Text Box 90">
            <a:extLst>
              <a:ext uri="{FF2B5EF4-FFF2-40B4-BE49-F238E27FC236}">
                <a16:creationId xmlns:a16="http://schemas.microsoft.com/office/drawing/2014/main" id="{3D31AF4B-814B-48F5-AEED-B680597EF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105" y="5274310"/>
            <a:ext cx="1798634" cy="300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record ack5 arrived</a:t>
            </a: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689635DE-8C9C-4728-A035-2135C5811083}"/>
              </a:ext>
            </a:extLst>
          </p:cNvPr>
          <p:cNvGrpSpPr/>
          <p:nvPr/>
        </p:nvGrpSpPr>
        <p:grpSpPr>
          <a:xfrm>
            <a:off x="2776354" y="5919430"/>
            <a:ext cx="4203872" cy="522631"/>
            <a:chOff x="2147429" y="5922986"/>
            <a:chExt cx="4566925" cy="662666"/>
          </a:xfrm>
        </p:grpSpPr>
        <p:sp>
          <p:nvSpPr>
            <p:cNvPr id="160" name="사각형: 잘린 한쪽 모서리 159">
              <a:extLst>
                <a:ext uri="{FF2B5EF4-FFF2-40B4-BE49-F238E27FC236}">
                  <a16:creationId xmlns:a16="http://schemas.microsoft.com/office/drawing/2014/main" id="{0BB1289C-5C6F-4E95-BD74-5703F077B6DF}"/>
                </a:ext>
              </a:extLst>
            </p:cNvPr>
            <p:cNvSpPr/>
            <p:nvPr/>
          </p:nvSpPr>
          <p:spPr>
            <a:xfrm>
              <a:off x="2406335" y="6022971"/>
              <a:ext cx="3700789" cy="485678"/>
            </a:xfrm>
            <a:prstGeom prst="snip1Rect">
              <a:avLst>
                <a:gd name="adj" fmla="val 24985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  <a:sym typeface="Arial"/>
              </a:endParaRPr>
            </a:p>
          </p:txBody>
        </p:sp>
        <p:sp>
          <p:nvSpPr>
            <p:cNvPr id="161" name="Rectangle 5">
              <a:extLst>
                <a:ext uri="{FF2B5EF4-FFF2-40B4-BE49-F238E27FC236}">
                  <a16:creationId xmlns:a16="http://schemas.microsoft.com/office/drawing/2014/main" id="{0F83014F-981D-42B8-9EE5-B1DFD587F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5791" y="6028426"/>
              <a:ext cx="4048563" cy="4995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ct val="85000"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G마켓 산스 TTF Medium"/>
                  <a:ea typeface="넥슨Lv1고딕 Bold" panose="00000800000000000000" pitchFamily="2" charset="-127"/>
                  <a:cs typeface="+mn-cs"/>
                </a:rPr>
                <a:t>ack2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G마켓 산스 TTF Medium"/>
                  <a:ea typeface="넥슨Lv1고딕 Bold" panose="00000800000000000000" pitchFamily="2" charset="-127"/>
                  <a:cs typeface="+mn-cs"/>
                </a:rPr>
                <a:t>가 도착하면 어떻게 되는가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G마켓 산스 TTF Medium"/>
                  <a:ea typeface="넥슨Lv1고딕 Bold" panose="00000800000000000000" pitchFamily="2" charset="-127"/>
                  <a:cs typeface="+mn-cs"/>
                </a:rPr>
                <a:t>?</a:t>
              </a:r>
            </a:p>
          </p:txBody>
        </p:sp>
        <p:grpSp>
          <p:nvGrpSpPr>
            <p:cNvPr id="162" name="그룹 161">
              <a:extLst>
                <a:ext uri="{FF2B5EF4-FFF2-40B4-BE49-F238E27FC236}">
                  <a16:creationId xmlns:a16="http://schemas.microsoft.com/office/drawing/2014/main" id="{25F05AAE-B7F9-4A57-8788-C692E5EE1430}"/>
                </a:ext>
              </a:extLst>
            </p:cNvPr>
            <p:cNvGrpSpPr/>
            <p:nvPr/>
          </p:nvGrpSpPr>
          <p:grpSpPr>
            <a:xfrm>
              <a:off x="2147429" y="5922986"/>
              <a:ext cx="518267" cy="662666"/>
              <a:chOff x="585329" y="5716077"/>
              <a:chExt cx="518267" cy="662666"/>
            </a:xfrm>
          </p:grpSpPr>
          <p:sp>
            <p:nvSpPr>
              <p:cNvPr id="163" name="타원 162">
                <a:extLst>
                  <a:ext uri="{FF2B5EF4-FFF2-40B4-BE49-F238E27FC236}">
                    <a16:creationId xmlns:a16="http://schemas.microsoft.com/office/drawing/2014/main" id="{3D65FFE5-2699-4F7C-8FE0-B16691265726}"/>
                  </a:ext>
                </a:extLst>
              </p:cNvPr>
              <p:cNvSpPr/>
              <p:nvPr/>
            </p:nvSpPr>
            <p:spPr>
              <a:xfrm>
                <a:off x="693394" y="6294322"/>
                <a:ext cx="314384" cy="84421"/>
              </a:xfrm>
              <a:prstGeom prst="ellipse">
                <a:avLst/>
              </a:prstGeom>
              <a:solidFill>
                <a:srgbClr val="DCF5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pic>
            <p:nvPicPr>
              <p:cNvPr id="164" name="그래픽 163">
                <a:extLst>
                  <a:ext uri="{FF2B5EF4-FFF2-40B4-BE49-F238E27FC236}">
                    <a16:creationId xmlns:a16="http://schemas.microsoft.com/office/drawing/2014/main" id="{3A0546A2-1D01-4504-B39E-1DB2AF9C57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572859" y="5816110"/>
                <a:ext cx="558670" cy="502804"/>
              </a:xfrm>
              <a:prstGeom prst="rect">
                <a:avLst/>
              </a:prstGeom>
            </p:spPr>
          </p:pic>
          <p:sp>
            <p:nvSpPr>
              <p:cNvPr id="165" name="Rectangle 5">
                <a:extLst>
                  <a:ext uri="{FF2B5EF4-FFF2-40B4-BE49-F238E27FC236}">
                    <a16:creationId xmlns:a16="http://schemas.microsoft.com/office/drawing/2014/main" id="{9ABBCE5F-88BA-4B68-B8B4-15BC02B5A5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329" y="5716077"/>
                <a:ext cx="502805" cy="6429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D7D31"/>
                  </a:buClr>
                  <a:buSzPct val="85000"/>
                  <a:buFontTx/>
                  <a:buNone/>
                  <a:tabLst/>
                  <a:defRPr/>
                </a:pPr>
                <a:r>
                  <a:rPr kumimoji="0" lang="en-US" altLang="ko-KR" sz="2200" b="0" i="0" u="none" strike="noStrike" kern="1200" cap="none" spc="0" normalizeH="0" baseline="0" noProof="0" dirty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마켓 산스 TTF Bold"/>
                    <a:ea typeface="G마켓 산스 TTF Bold"/>
                    <a:cs typeface="+mn-cs"/>
                  </a:rPr>
                  <a:t>Q</a:t>
                </a:r>
                <a:endParaRPr kumimoji="0" lang="en-US" altLang="ko-KR" sz="2200" b="0" i="0" u="none" strike="noStrike" kern="1200" cap="none" spc="0" normalizeH="0" baseline="0" noProof="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TTF Bold"/>
                  <a:ea typeface="G마켓 산스 TTF Bold"/>
                  <a:cs typeface="+mn-cs"/>
                </a:endParaRPr>
              </a:p>
            </p:txBody>
          </p:sp>
        </p:grpSp>
      </p:grpSp>
      <p:pic>
        <p:nvPicPr>
          <p:cNvPr id="167" name="그림 166">
            <a:extLst>
              <a:ext uri="{FF2B5EF4-FFF2-40B4-BE49-F238E27FC236}">
                <a16:creationId xmlns:a16="http://schemas.microsoft.com/office/drawing/2014/main" id="{A41AF759-78AE-408A-A889-4DA86231253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91354" y="4248262"/>
            <a:ext cx="281483" cy="46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8322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>
                <a:cs typeface="+mj-cs"/>
              </a:rPr>
              <a:t>선택적 반복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 dirty="0">
                <a:cs typeface="+mj-cs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고민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45</a:t>
            </a:fld>
            <a:endParaRPr lang="en-US" dirty="0"/>
          </a:p>
        </p:txBody>
      </p:sp>
      <p:sp>
        <p:nvSpPr>
          <p:cNvPr id="4" name="Text Box 40">
            <a:extLst>
              <a:ext uri="{FF2B5EF4-FFF2-40B4-BE49-F238E27FC236}">
                <a16:creationId xmlns:a16="http://schemas.microsoft.com/office/drawing/2014/main" id="{5D8011F0-D8B7-4B2A-AB6C-92EBD329F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4477" y="1124744"/>
            <a:ext cx="11560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수신 측 윈도우</a:t>
            </a:r>
            <a:endParaRPr lang="en-US" altLang="ko-KR" sz="12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(</a:t>
            </a:r>
            <a:r>
              <a:rPr lang="ko-KR" altLang="en-US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패킷 수신 후</a:t>
            </a:r>
            <a:r>
              <a:rPr lang="en-US" altLang="ko-KR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)</a:t>
            </a:r>
          </a:p>
        </p:txBody>
      </p:sp>
      <p:sp>
        <p:nvSpPr>
          <p:cNvPr id="5" name="Text Box 41">
            <a:extLst>
              <a:ext uri="{FF2B5EF4-FFF2-40B4-BE49-F238E27FC236}">
                <a16:creationId xmlns:a16="http://schemas.microsoft.com/office/drawing/2014/main" id="{EDBA9750-B82C-462F-AE52-9BEB11072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1" y="1124744"/>
            <a:ext cx="11560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송신 측 윈도우</a:t>
            </a:r>
            <a:endParaRPr lang="en-US" altLang="ko-KR" sz="12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(</a:t>
            </a:r>
            <a:r>
              <a:rPr lang="ko-KR" altLang="en-US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패킷 수신 후</a:t>
            </a:r>
            <a:r>
              <a:rPr lang="en-US" altLang="ko-KR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)</a:t>
            </a:r>
          </a:p>
        </p:txBody>
      </p:sp>
      <p:sp>
        <p:nvSpPr>
          <p:cNvPr id="80" name="Rectangle 73">
            <a:extLst>
              <a:ext uri="{FF2B5EF4-FFF2-40B4-BE49-F238E27FC236}">
                <a16:creationId xmlns:a16="http://schemas.microsoft.com/office/drawing/2014/main" id="{16FE38BC-E860-4167-86BE-9CEBCE0D3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071" y="1620569"/>
            <a:ext cx="430729" cy="165963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81" name="Text Box 74">
            <a:extLst>
              <a:ext uri="{FF2B5EF4-FFF2-40B4-BE49-F238E27FC236}">
                <a16:creationId xmlns:a16="http://schemas.microsoft.com/office/drawing/2014/main" id="{65050E0E-06CF-46DA-A47B-8692981AB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29" y="1558285"/>
            <a:ext cx="1157688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  <a:defRPr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3"/>
            <a:r>
              <a:rPr lang="en-US" altLang="ko-KR" dirty="0">
                <a:solidFill>
                  <a:schemeClr val="bg1"/>
                </a:solidFill>
              </a:rPr>
              <a:t>0 1 2 </a:t>
            </a:r>
            <a:r>
              <a:rPr lang="en-US" altLang="ko-KR" dirty="0"/>
              <a:t>3 0 1 2</a:t>
            </a:r>
          </a:p>
        </p:txBody>
      </p:sp>
      <p:sp>
        <p:nvSpPr>
          <p:cNvPr id="78" name="Rectangle 76">
            <a:extLst>
              <a:ext uri="{FF2B5EF4-FFF2-40B4-BE49-F238E27FC236}">
                <a16:creationId xmlns:a16="http://schemas.microsoft.com/office/drawing/2014/main" id="{08A798BC-B433-47C0-9211-CFB3EF63A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730" y="1849383"/>
            <a:ext cx="402883" cy="165963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ko-KR" altLang="ko-KR" sz="1600">
              <a:latin typeface="G마켓 산스 TTF Medium" panose="02000000000000000000" pitchFamily="2" charset="-127"/>
              <a:ea typeface="ＭＳ Ｐゴシック" panose="020B0600070205080204" pitchFamily="34" charset="-128"/>
            </a:endParaRPr>
          </a:p>
        </p:txBody>
      </p:sp>
      <p:sp>
        <p:nvSpPr>
          <p:cNvPr id="76" name="Rectangle 79">
            <a:extLst>
              <a:ext uri="{FF2B5EF4-FFF2-40B4-BE49-F238E27FC236}">
                <a16:creationId xmlns:a16="http://schemas.microsoft.com/office/drawing/2014/main" id="{FCB8CA5C-73F9-426D-8B40-310C34A41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320" y="2080702"/>
            <a:ext cx="402883" cy="165963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ko-KR" altLang="ko-KR" sz="1600">
              <a:latin typeface="G마켓 산스 TTF Medium" panose="02000000000000000000" pitchFamily="2" charset="-127"/>
              <a:ea typeface="ＭＳ Ｐゴシック" panose="020B0600070205080204" pitchFamily="34" charset="-128"/>
            </a:endParaRPr>
          </a:p>
        </p:txBody>
      </p:sp>
      <p:sp>
        <p:nvSpPr>
          <p:cNvPr id="49" name="Line 81">
            <a:extLst>
              <a:ext uri="{FF2B5EF4-FFF2-40B4-BE49-F238E27FC236}">
                <a16:creationId xmlns:a16="http://schemas.microsoft.com/office/drawing/2014/main" id="{AE03456A-3113-46E8-B13D-5849BCF29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8705" y="1679620"/>
            <a:ext cx="1757065" cy="209197"/>
          </a:xfrm>
          <a:prstGeom prst="line">
            <a:avLst/>
          </a:prstGeom>
          <a:noFill/>
          <a:ln w="19050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50" name="Line 82">
            <a:extLst>
              <a:ext uri="{FF2B5EF4-FFF2-40B4-BE49-F238E27FC236}">
                <a16:creationId xmlns:a16="http://schemas.microsoft.com/office/drawing/2014/main" id="{3EFA5087-E1A0-4AF9-B9CD-34562C20DB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7710" y="1930657"/>
            <a:ext cx="1738746" cy="200829"/>
          </a:xfrm>
          <a:prstGeom prst="line">
            <a:avLst/>
          </a:prstGeom>
          <a:noFill/>
          <a:ln w="19050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51" name="Line 83">
            <a:extLst>
              <a:ext uri="{FF2B5EF4-FFF2-40B4-BE49-F238E27FC236}">
                <a16:creationId xmlns:a16="http://schemas.microsoft.com/office/drawing/2014/main" id="{A9102247-5B5D-4A6F-B0F9-AD7BE39E6C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6714" y="2181694"/>
            <a:ext cx="1715848" cy="184093"/>
          </a:xfrm>
          <a:prstGeom prst="line">
            <a:avLst/>
          </a:prstGeom>
          <a:noFill/>
          <a:ln w="19050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52" name="Text Box 84">
            <a:extLst>
              <a:ext uri="{FF2B5EF4-FFF2-40B4-BE49-F238E27FC236}">
                <a16:creationId xmlns:a16="http://schemas.microsoft.com/office/drawing/2014/main" id="{E5B0BF72-646B-4EF6-ADA5-06EA5B220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4008" y="1491343"/>
            <a:ext cx="5357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pkt0</a:t>
            </a:r>
          </a:p>
        </p:txBody>
      </p:sp>
      <p:sp>
        <p:nvSpPr>
          <p:cNvPr id="53" name="Text Box 85">
            <a:extLst>
              <a:ext uri="{FF2B5EF4-FFF2-40B4-BE49-F238E27FC236}">
                <a16:creationId xmlns:a16="http://schemas.microsoft.com/office/drawing/2014/main" id="{E7EB6F4C-7CC9-4FB7-90F9-A90B1DA08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846" y="1742380"/>
            <a:ext cx="51488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pkt1</a:t>
            </a:r>
          </a:p>
        </p:txBody>
      </p:sp>
      <p:sp>
        <p:nvSpPr>
          <p:cNvPr id="54" name="Text Box 86">
            <a:extLst>
              <a:ext uri="{FF2B5EF4-FFF2-40B4-BE49-F238E27FC236}">
                <a16:creationId xmlns:a16="http://schemas.microsoft.com/office/drawing/2014/main" id="{BE9477D6-C891-441A-85B6-DDA4DF957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3244" y="1993416"/>
            <a:ext cx="5164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pkt2</a:t>
            </a:r>
          </a:p>
        </p:txBody>
      </p:sp>
      <p:sp>
        <p:nvSpPr>
          <p:cNvPr id="55" name="Rectangle 88">
            <a:extLst>
              <a:ext uri="{FF2B5EF4-FFF2-40B4-BE49-F238E27FC236}">
                <a16:creationId xmlns:a16="http://schemas.microsoft.com/office/drawing/2014/main" id="{D5F345BC-558C-43BE-9E32-D506F41D8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233" y="2717318"/>
            <a:ext cx="439806" cy="165963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ko-KR" altLang="ko-KR" sz="1600">
              <a:latin typeface="G마켓 산스 TTF Medium" panose="02000000000000000000" pitchFamily="2" charset="-127"/>
              <a:ea typeface="ＭＳ Ｐゴシック" panose="020B0600070205080204" pitchFamily="34" charset="-128"/>
            </a:endParaRPr>
          </a:p>
        </p:txBody>
      </p:sp>
      <p:sp>
        <p:nvSpPr>
          <p:cNvPr id="56" name="Text Box 89">
            <a:extLst>
              <a:ext uri="{FF2B5EF4-FFF2-40B4-BE49-F238E27FC236}">
                <a16:creationId xmlns:a16="http://schemas.microsoft.com/office/drawing/2014/main" id="{331BFB5D-08AC-4B09-873B-038F4F40F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128" y="2662384"/>
            <a:ext cx="1157689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3 0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</a:t>
            </a:r>
          </a:p>
        </p:txBody>
      </p:sp>
      <p:sp>
        <p:nvSpPr>
          <p:cNvPr id="57" name="Line 90">
            <a:extLst>
              <a:ext uri="{FF2B5EF4-FFF2-40B4-BE49-F238E27FC236}">
                <a16:creationId xmlns:a16="http://schemas.microsoft.com/office/drawing/2014/main" id="{CD4613AA-E1EC-49BF-A7C0-DD107FBB25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9236" y="2820442"/>
            <a:ext cx="1715848" cy="196645"/>
          </a:xfrm>
          <a:prstGeom prst="line">
            <a:avLst/>
          </a:prstGeom>
          <a:noFill/>
          <a:ln w="19050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58" name="Text Box 91">
            <a:extLst>
              <a:ext uri="{FF2B5EF4-FFF2-40B4-BE49-F238E27FC236}">
                <a16:creationId xmlns:a16="http://schemas.microsoft.com/office/drawing/2014/main" id="{8A41F346-41D5-471A-B9E8-70BF9B1C4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4008" y="2827415"/>
            <a:ext cx="5357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pkt0</a:t>
            </a:r>
          </a:p>
        </p:txBody>
      </p:sp>
      <p:sp>
        <p:nvSpPr>
          <p:cNvPr id="59" name="Rectangle 95">
            <a:extLst>
              <a:ext uri="{FF2B5EF4-FFF2-40B4-BE49-F238E27FC236}">
                <a16:creationId xmlns:a16="http://schemas.microsoft.com/office/drawing/2014/main" id="{A3D350C6-F428-4554-B7AC-D0D507D84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735" y="1830846"/>
            <a:ext cx="424841" cy="182559"/>
          </a:xfrm>
          <a:prstGeom prst="rect">
            <a:avLst/>
          </a:prstGeom>
          <a:solidFill>
            <a:srgbClr val="098983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0" name="Text Box 96">
            <a:extLst>
              <a:ext uri="{FF2B5EF4-FFF2-40B4-BE49-F238E27FC236}">
                <a16:creationId xmlns:a16="http://schemas.microsoft.com/office/drawing/2014/main" id="{A1BF04C9-ED14-4A82-BB34-3743E7E21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157" y="1780035"/>
            <a:ext cx="1157689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1 2 3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</a:t>
            </a:r>
          </a:p>
        </p:txBody>
      </p:sp>
      <p:sp>
        <p:nvSpPr>
          <p:cNvPr id="61" name="Rectangle 97">
            <a:extLst>
              <a:ext uri="{FF2B5EF4-FFF2-40B4-BE49-F238E27FC236}">
                <a16:creationId xmlns:a16="http://schemas.microsoft.com/office/drawing/2014/main" id="{3801CA9D-FE27-4725-8777-A2FF7F24E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1628" y="2078856"/>
            <a:ext cx="424841" cy="182559"/>
          </a:xfrm>
          <a:prstGeom prst="rect">
            <a:avLst/>
          </a:prstGeom>
          <a:solidFill>
            <a:srgbClr val="098983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2" name="Text Box 98">
            <a:extLst>
              <a:ext uri="{FF2B5EF4-FFF2-40B4-BE49-F238E27FC236}">
                <a16:creationId xmlns:a16="http://schemas.microsoft.com/office/drawing/2014/main" id="{2F5DF940-C480-4EBC-A084-FEFE98ED0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3103" y="2021309"/>
            <a:ext cx="1157689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2 3 0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1 2</a:t>
            </a:r>
          </a:p>
        </p:txBody>
      </p:sp>
      <p:sp>
        <p:nvSpPr>
          <p:cNvPr id="63" name="Rectangle 99">
            <a:extLst>
              <a:ext uri="{FF2B5EF4-FFF2-40B4-BE49-F238E27FC236}">
                <a16:creationId xmlns:a16="http://schemas.microsoft.com/office/drawing/2014/main" id="{22FEF147-35DE-4F9E-B6EA-62F4A89CD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5166" y="2305965"/>
            <a:ext cx="386219" cy="165963"/>
          </a:xfrm>
          <a:prstGeom prst="rect">
            <a:avLst/>
          </a:prstGeom>
          <a:solidFill>
            <a:srgbClr val="098983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4" name="Text Box 100">
            <a:extLst>
              <a:ext uri="{FF2B5EF4-FFF2-40B4-BE49-F238E27FC236}">
                <a16:creationId xmlns:a16="http://schemas.microsoft.com/office/drawing/2014/main" id="{15175136-AB47-4B2B-B9CB-514493385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157" y="2252821"/>
            <a:ext cx="1157689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3 0 1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</a:t>
            </a:r>
          </a:p>
        </p:txBody>
      </p:sp>
      <p:sp>
        <p:nvSpPr>
          <p:cNvPr id="65" name="Line 103">
            <a:extLst>
              <a:ext uri="{FF2B5EF4-FFF2-40B4-BE49-F238E27FC236}">
                <a16:creationId xmlns:a16="http://schemas.microsoft.com/office/drawing/2014/main" id="{D839DA15-0028-4F85-A0D7-C5ED0908C7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08020" y="1895791"/>
            <a:ext cx="1715848" cy="645722"/>
          </a:xfrm>
          <a:prstGeom prst="line">
            <a:avLst/>
          </a:prstGeom>
          <a:noFill/>
          <a:ln w="19050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6" name="Line 104">
            <a:extLst>
              <a:ext uri="{FF2B5EF4-FFF2-40B4-BE49-F238E27FC236}">
                <a16:creationId xmlns:a16="http://schemas.microsoft.com/office/drawing/2014/main" id="{40B0C78B-8D5A-4C26-B279-B3B3D5D415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6338" y="2127302"/>
            <a:ext cx="1726534" cy="666642"/>
          </a:xfrm>
          <a:prstGeom prst="line">
            <a:avLst/>
          </a:prstGeom>
          <a:noFill/>
          <a:ln w="19050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7" name="Text Box 107">
            <a:extLst>
              <a:ext uri="{FF2B5EF4-FFF2-40B4-BE49-F238E27FC236}">
                <a16:creationId xmlns:a16="http://schemas.microsoft.com/office/drawing/2014/main" id="{D6885AF1-C71D-41BC-9C37-D381F4CCE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8551" y="2502463"/>
            <a:ext cx="3401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F27037"/>
                </a:solidFill>
                <a:latin typeface="G마켓 산스 TTF Medium" panose="02000000000000000000" pitchFamily="2" charset="-127"/>
              </a:rPr>
              <a:t>X</a:t>
            </a:r>
          </a:p>
        </p:txBody>
      </p:sp>
      <p:sp>
        <p:nvSpPr>
          <p:cNvPr id="68" name="Text Box 109">
            <a:extLst>
              <a:ext uri="{FF2B5EF4-FFF2-40B4-BE49-F238E27FC236}">
                <a16:creationId xmlns:a16="http://schemas.microsoft.com/office/drawing/2014/main" id="{167ACEE2-A207-46AC-8BE1-B8DBD0B9B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276" y="2859492"/>
            <a:ext cx="1260281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순서 번호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인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패킷을 받아들임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9" name="Line 110">
            <a:extLst>
              <a:ext uri="{FF2B5EF4-FFF2-40B4-BE49-F238E27FC236}">
                <a16:creationId xmlns:a16="http://schemas.microsoft.com/office/drawing/2014/main" id="{2C20B2B4-F7D0-4420-9A0B-370C9416571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84296" y="2513620"/>
            <a:ext cx="0" cy="391896"/>
          </a:xfrm>
          <a:prstGeom prst="line">
            <a:avLst/>
          </a:prstGeom>
          <a:noFill/>
          <a:ln w="15875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70" name="Line 112">
            <a:extLst>
              <a:ext uri="{FF2B5EF4-FFF2-40B4-BE49-F238E27FC236}">
                <a16:creationId xmlns:a16="http://schemas.microsoft.com/office/drawing/2014/main" id="{921A851B-5317-49BD-B01A-B0931C352C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1603" y="2565222"/>
            <a:ext cx="567879" cy="64154"/>
          </a:xfrm>
          <a:prstGeom prst="line">
            <a:avLst/>
          </a:prstGeom>
          <a:noFill/>
          <a:ln w="19050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74" name="Rectangle 113">
            <a:extLst>
              <a:ext uri="{FF2B5EF4-FFF2-40B4-BE49-F238E27FC236}">
                <a16:creationId xmlns:a16="http://schemas.microsoft.com/office/drawing/2014/main" id="{06351746-2218-4A92-9C37-C24F62239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021" y="2477961"/>
            <a:ext cx="438228" cy="165963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ko-KR" altLang="ko-KR" sz="1600">
              <a:latin typeface="G마켓 산스 TTF Medium" panose="02000000000000000000" pitchFamily="2" charset="-127"/>
              <a:ea typeface="ＭＳ Ｐゴシック" panose="020B0600070205080204" pitchFamily="34" charset="-128"/>
            </a:endParaRPr>
          </a:p>
        </p:txBody>
      </p:sp>
      <p:sp>
        <p:nvSpPr>
          <p:cNvPr id="75" name="Text Box 114">
            <a:extLst>
              <a:ext uri="{FF2B5EF4-FFF2-40B4-BE49-F238E27FC236}">
                <a16:creationId xmlns:a16="http://schemas.microsoft.com/office/drawing/2014/main" id="{703A6279-3826-4CDD-A197-03F57456B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045" y="2425912"/>
            <a:ext cx="1157689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1 2 3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1 2</a:t>
            </a:r>
          </a:p>
        </p:txBody>
      </p:sp>
      <p:sp>
        <p:nvSpPr>
          <p:cNvPr id="72" name="Text Box 116">
            <a:extLst>
              <a:ext uri="{FF2B5EF4-FFF2-40B4-BE49-F238E27FC236}">
                <a16:creationId xmlns:a16="http://schemas.microsoft.com/office/drawing/2014/main" id="{89BA72C3-811D-41C4-8193-3D7AC5B93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3244" y="2375550"/>
            <a:ext cx="5164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pkt3</a:t>
            </a:r>
          </a:p>
        </p:txBody>
      </p:sp>
      <p:sp>
        <p:nvSpPr>
          <p:cNvPr id="73" name="Text Box 119">
            <a:extLst>
              <a:ext uri="{FF2B5EF4-FFF2-40B4-BE49-F238E27FC236}">
                <a16:creationId xmlns:a16="http://schemas.microsoft.com/office/drawing/2014/main" id="{5995EF8A-056E-4A80-828C-55ADB934A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29" y="3137768"/>
            <a:ext cx="1095172" cy="300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(a) </a:t>
            </a: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문제없음</a:t>
            </a:r>
            <a:endParaRPr lang="en-US" altLang="ko-KR" sz="13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85" name="Text Box 121">
            <a:extLst>
              <a:ext uri="{FF2B5EF4-FFF2-40B4-BE49-F238E27FC236}">
                <a16:creationId xmlns:a16="http://schemas.microsoft.com/office/drawing/2014/main" id="{D836BF72-A05D-43E8-8AB4-909F9210E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947" y="3550920"/>
            <a:ext cx="3833894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latinLnBrk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수신 </a:t>
            </a:r>
            <a:r>
              <a:rPr lang="ko-KR" altLang="en-US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측에게는</a:t>
            </a: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 송신 측이  안 보이므로 두 경우 모두 동일하게 행동함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! </a:t>
            </a: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  <a:cs typeface="+mj-cs"/>
              </a:rPr>
              <a:t>뭔가 아주 잘못 되었다</a:t>
            </a:r>
            <a:r>
              <a:rPr lang="en-US" altLang="ja-JP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  <a:cs typeface="+mj-cs"/>
              </a:rPr>
              <a:t>!</a:t>
            </a:r>
            <a:endParaRPr lang="en-US" altLang="ko-KR" sz="14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F27037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87" name="사각형: 잘린 한쪽 모서리 86">
            <a:extLst>
              <a:ext uri="{FF2B5EF4-FFF2-40B4-BE49-F238E27FC236}">
                <a16:creationId xmlns:a16="http://schemas.microsoft.com/office/drawing/2014/main" id="{1A703F4A-1FCF-47D3-82FE-3C9FBAFEAA63}"/>
              </a:ext>
            </a:extLst>
          </p:cNvPr>
          <p:cNvSpPr/>
          <p:nvPr/>
        </p:nvSpPr>
        <p:spPr>
          <a:xfrm>
            <a:off x="4924078" y="1133573"/>
            <a:ext cx="884237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88" name="텍스트 개체 틀 19">
            <a:extLst>
              <a:ext uri="{FF2B5EF4-FFF2-40B4-BE49-F238E27FC236}">
                <a16:creationId xmlns:a16="http://schemas.microsoft.com/office/drawing/2014/main" id="{FB26761A-D3C8-44D2-89E2-26D64AB5EF4B}"/>
              </a:ext>
            </a:extLst>
          </p:cNvPr>
          <p:cNvSpPr txBox="1">
            <a:spLocks/>
          </p:cNvSpPr>
          <p:nvPr/>
        </p:nvSpPr>
        <p:spPr>
          <a:xfrm>
            <a:off x="5104681" y="1182466"/>
            <a:ext cx="601973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예시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0075E91-92A1-4681-8987-2A5FFB2A9B90}"/>
              </a:ext>
            </a:extLst>
          </p:cNvPr>
          <p:cNvSpPr txBox="1"/>
          <p:nvPr/>
        </p:nvSpPr>
        <p:spPr>
          <a:xfrm>
            <a:off x="5803462" y="1182466"/>
            <a:ext cx="2453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두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16-bit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정수를 더한다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.</a:t>
            </a:r>
            <a:endParaRPr lang="ko-KR" altLang="en-US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+mj-cs"/>
            </a:endParaRPr>
          </a:p>
        </p:txBody>
      </p:sp>
      <p:sp>
        <p:nvSpPr>
          <p:cNvPr id="90" name="Rectangle 3">
            <a:extLst>
              <a:ext uri="{FF2B5EF4-FFF2-40B4-BE49-F238E27FC236}">
                <a16:creationId xmlns:a16="http://schemas.microsoft.com/office/drawing/2014/main" id="{8F5135AB-93FD-43C0-92DE-7E6F2E7B2158}"/>
              </a:ext>
            </a:extLst>
          </p:cNvPr>
          <p:cNvSpPr txBox="1">
            <a:spLocks noChangeArrowheads="1"/>
          </p:cNvSpPr>
          <p:nvPr/>
        </p:nvSpPr>
        <p:spPr>
          <a:xfrm>
            <a:off x="5052428" y="1699097"/>
            <a:ext cx="2842572" cy="7573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216000" lvl="2" indent="-216000">
              <a:lnSpc>
                <a:spcPct val="130000"/>
              </a:lnSpc>
              <a:spcBef>
                <a:spcPts val="400"/>
              </a:spcBef>
              <a:buFont typeface="Arial" panose="020B0604020202020204" pitchFamily="34" charset="0"/>
              <a:buBlip>
                <a:blip r:embed="rId2"/>
              </a:buBlip>
              <a:defRPr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2"/>
            <a:r>
              <a:rPr lang="ko-KR" altLang="en-US" dirty="0">
                <a:solidFill>
                  <a:schemeClr val="bg2">
                    <a:lumMod val="10000"/>
                  </a:schemeClr>
                </a:solidFill>
                <a:latin typeface="+mn-ea"/>
                <a:ea typeface="+mn-ea"/>
              </a:rPr>
              <a:t>순서 번호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  <a:latin typeface="+mn-ea"/>
                <a:ea typeface="+mn-ea"/>
              </a:rPr>
              <a:t>: 0, 1, 2, 3</a:t>
            </a:r>
          </a:p>
          <a:p>
            <a:pPr lvl="2"/>
            <a:r>
              <a:rPr lang="ko-KR" altLang="en-US" dirty="0">
                <a:solidFill>
                  <a:schemeClr val="bg2">
                    <a:lumMod val="10000"/>
                  </a:schemeClr>
                </a:solidFill>
                <a:latin typeface="+mn-ea"/>
                <a:ea typeface="+mn-ea"/>
              </a:rPr>
              <a:t>윈도우 크기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  <a:latin typeface="+mn-ea"/>
                <a:ea typeface="+mn-ea"/>
              </a:rPr>
              <a:t>=3</a:t>
            </a:r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958DFB0B-3363-45D4-A76E-80E1545953A4}"/>
              </a:ext>
            </a:extLst>
          </p:cNvPr>
          <p:cNvGrpSpPr/>
          <p:nvPr/>
        </p:nvGrpSpPr>
        <p:grpSpPr>
          <a:xfrm>
            <a:off x="5021349" y="2506706"/>
            <a:ext cx="3034714" cy="2719344"/>
            <a:chOff x="5021349" y="2506706"/>
            <a:chExt cx="3034714" cy="2719344"/>
          </a:xfrm>
        </p:grpSpPr>
        <p:sp>
          <p:nvSpPr>
            <p:cNvPr id="91" name="Rectangle 3">
              <a:extLst>
                <a:ext uri="{FF2B5EF4-FFF2-40B4-BE49-F238E27FC236}">
                  <a16:creationId xmlns:a16="http://schemas.microsoft.com/office/drawing/2014/main" id="{B3FE3130-E933-48E4-B4E0-D441AD4C2D0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052428" y="2506706"/>
              <a:ext cx="2842572" cy="139749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defPPr>
                <a:defRPr lang="ko-KR"/>
              </a:defPPr>
              <a:lvl1pPr marL="228600" indent="-2286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/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/>
              </a:lvl2pPr>
              <a:lvl3pPr marL="216000" lvl="2" indent="-216000">
                <a:lnSpc>
                  <a:spcPct val="130000"/>
                </a:lnSpc>
                <a:spcBef>
                  <a:spcPts val="400"/>
                </a:spcBef>
                <a:buFont typeface="Arial" panose="020B0604020202020204" pitchFamily="34" charset="0"/>
                <a:buBlip>
                  <a:blip r:embed="rId2"/>
                </a:buBlip>
                <a:defRPr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2" latinLnBrk="0"/>
              <a:r>
                <a:rPr lang="ko-KR" altLang="en-US" dirty="0">
                  <a:solidFill>
                    <a:schemeClr val="bg2">
                      <a:lumMod val="10000"/>
                    </a:schemeClr>
                  </a:solidFill>
                  <a:latin typeface="+mn-ea"/>
                  <a:ea typeface="+mn-ea"/>
                </a:rPr>
                <a:t>수신 측은 두 시나리오의 차이를 알아채지 못함</a:t>
              </a:r>
              <a:r>
                <a:rPr lang="en-US" altLang="ko-KR" dirty="0">
                  <a:solidFill>
                    <a:schemeClr val="bg2">
                      <a:lumMod val="10000"/>
                    </a:schemeClr>
                  </a:solidFill>
                  <a:latin typeface="+mn-ea"/>
                  <a:ea typeface="+mn-ea"/>
                </a:rPr>
                <a:t>!</a:t>
              </a:r>
            </a:p>
            <a:p>
              <a:pPr lvl="2" latinLnBrk="0"/>
              <a:r>
                <a:rPr lang="en-US" altLang="ko-KR" dirty="0">
                  <a:solidFill>
                    <a:schemeClr val="bg2">
                      <a:lumMod val="10000"/>
                    </a:schemeClr>
                  </a:solidFill>
                  <a:latin typeface="+mn-ea"/>
                  <a:ea typeface="+mn-ea"/>
                </a:rPr>
                <a:t>(b)</a:t>
              </a:r>
              <a:r>
                <a:rPr lang="ko-KR" altLang="en-US" dirty="0">
                  <a:solidFill>
                    <a:schemeClr val="bg2">
                      <a:lumMod val="10000"/>
                    </a:schemeClr>
                  </a:solidFill>
                  <a:latin typeface="+mn-ea"/>
                  <a:ea typeface="+mn-ea"/>
                </a:rPr>
                <a:t>에서 중복된 데이터를 </a:t>
              </a:r>
              <a:br>
                <a:rPr lang="en-US" altLang="ko-KR" dirty="0">
                  <a:solidFill>
                    <a:schemeClr val="bg2">
                      <a:lumMod val="10000"/>
                    </a:schemeClr>
                  </a:solidFill>
                  <a:latin typeface="+mn-ea"/>
                  <a:ea typeface="+mn-ea"/>
                </a:rPr>
              </a:br>
              <a:r>
                <a:rPr lang="ko-KR" altLang="en-US" dirty="0">
                  <a:solidFill>
                    <a:schemeClr val="bg2">
                      <a:lumMod val="10000"/>
                    </a:schemeClr>
                  </a:solidFill>
                  <a:latin typeface="+mn-ea"/>
                  <a:ea typeface="+mn-ea"/>
                </a:rPr>
                <a:t>새 데이터로 받아들임</a:t>
              </a:r>
            </a:p>
          </p:txBody>
        </p:sp>
        <p:sp>
          <p:nvSpPr>
            <p:cNvPr id="93" name="사각형: 잘린 한쪽 모서리 92">
              <a:extLst>
                <a:ext uri="{FF2B5EF4-FFF2-40B4-BE49-F238E27FC236}">
                  <a16:creationId xmlns:a16="http://schemas.microsoft.com/office/drawing/2014/main" id="{E11DAC2F-03E6-4925-B156-F7EE9C8AE778}"/>
                </a:ext>
              </a:extLst>
            </p:cNvPr>
            <p:cNvSpPr/>
            <p:nvPr/>
          </p:nvSpPr>
          <p:spPr>
            <a:xfrm>
              <a:off x="5292840" y="4107403"/>
              <a:ext cx="2763223" cy="1118647"/>
            </a:xfrm>
            <a:prstGeom prst="snip1Rect">
              <a:avLst>
                <a:gd name="adj" fmla="val 966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  <a:sym typeface="Arial"/>
              </a:endParaRPr>
            </a:p>
          </p:txBody>
        </p:sp>
        <p:sp>
          <p:nvSpPr>
            <p:cNvPr id="94" name="Rectangle 5">
              <a:extLst>
                <a:ext uri="{FF2B5EF4-FFF2-40B4-BE49-F238E27FC236}">
                  <a16:creationId xmlns:a16="http://schemas.microsoft.com/office/drawing/2014/main" id="{D0C92A4B-B27C-4146-8CAF-9A0EF4FB3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4023" y="4207364"/>
              <a:ext cx="2532039" cy="916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ct val="85000"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G마켓 산스 TTF Medium"/>
                  <a:ea typeface="넥슨Lv1고딕 Bold" panose="00000800000000000000" pitchFamily="2" charset="-127"/>
                  <a:cs typeface="+mn-cs"/>
                </a:rPr>
                <a:t>이런 문제를 피하려면</a:t>
              </a:r>
              <a:endParaRPr kumimoji="0" lang="en-US" altLang="ko-KR" sz="1400" b="0" i="0" u="none" strike="noStrike" kern="1200" cap="none" spc="0" normalizeH="0" baseline="0" noProof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G마켓 산스 TTF Medium"/>
                <a:ea typeface="넥슨Lv1고딕 Bold" panose="00000800000000000000" pitchFamily="2" charset="-127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ct val="85000"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G마켓 산스 TTF Medium"/>
                  <a:ea typeface="넥슨Lv1고딕 Bold" panose="00000800000000000000" pitchFamily="2" charset="-127"/>
                  <a:cs typeface="+mn-cs"/>
                </a:rPr>
                <a:t>순서 번호 크기와 윈도우 크기 관계를 어떻게 해야 </a:t>
              </a: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44546A">
                      <a:lumMod val="50000"/>
                    </a:srgbClr>
                  </a:solidFill>
                  <a:latin typeface="G마켓 산스 TTF Medium"/>
                  <a:ea typeface="넥슨Lv1고딕 Bold" panose="00000800000000000000" pitchFamily="2" charset="-127"/>
                </a:rPr>
                <a:t>하는가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G마켓 산스 TTF Medium"/>
                  <a:ea typeface="넥슨Lv1고딕 Bold" panose="00000800000000000000" pitchFamily="2" charset="-127"/>
                  <a:cs typeface="+mn-cs"/>
                </a:rPr>
                <a:t>?</a:t>
              </a:r>
            </a:p>
          </p:txBody>
        </p: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F81A1B41-DA9B-4566-8699-60431CDCF2BF}"/>
                </a:ext>
              </a:extLst>
            </p:cNvPr>
            <p:cNvGrpSpPr/>
            <p:nvPr/>
          </p:nvGrpSpPr>
          <p:grpSpPr>
            <a:xfrm>
              <a:off x="5021349" y="3942803"/>
              <a:ext cx="507687" cy="593792"/>
              <a:chOff x="595909" y="5784951"/>
              <a:chExt cx="507687" cy="593792"/>
            </a:xfrm>
          </p:grpSpPr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69136D9B-C166-400C-9D86-25B2D6EF717B}"/>
                  </a:ext>
                </a:extLst>
              </p:cNvPr>
              <p:cNvSpPr/>
              <p:nvPr/>
            </p:nvSpPr>
            <p:spPr>
              <a:xfrm>
                <a:off x="693394" y="6294322"/>
                <a:ext cx="314384" cy="84421"/>
              </a:xfrm>
              <a:prstGeom prst="ellipse">
                <a:avLst/>
              </a:prstGeom>
              <a:solidFill>
                <a:srgbClr val="DCF5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pic>
            <p:nvPicPr>
              <p:cNvPr id="97" name="그래픽 96">
                <a:extLst>
                  <a:ext uri="{FF2B5EF4-FFF2-40B4-BE49-F238E27FC236}">
                    <a16:creationId xmlns:a16="http://schemas.microsoft.com/office/drawing/2014/main" id="{E169E301-862A-4A15-BC49-F9366C5872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572859" y="5816110"/>
                <a:ext cx="558670" cy="502804"/>
              </a:xfrm>
              <a:prstGeom prst="rect">
                <a:avLst/>
              </a:prstGeom>
            </p:spPr>
          </p:pic>
          <p:sp>
            <p:nvSpPr>
              <p:cNvPr id="98" name="Rectangle 5">
                <a:extLst>
                  <a:ext uri="{FF2B5EF4-FFF2-40B4-BE49-F238E27FC236}">
                    <a16:creationId xmlns:a16="http://schemas.microsoft.com/office/drawing/2014/main" id="{7CA279AE-6C0F-41B3-B7CB-7F5B3B66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909" y="5784951"/>
                <a:ext cx="498162" cy="5070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D7D31"/>
                  </a:buClr>
                  <a:buSzPct val="85000"/>
                  <a:buFontTx/>
                  <a:buNone/>
                  <a:tabLst/>
                  <a:defRPr/>
                </a:pPr>
                <a:r>
                  <a:rPr kumimoji="0" lang="en-US" altLang="ko-KR" sz="2200" b="0" i="0" u="none" strike="noStrike" kern="1200" cap="none" spc="0" normalizeH="0" baseline="0" noProof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마켓 산스 TTF Bold"/>
                    <a:ea typeface="G마켓 산스 TTF Bold"/>
                    <a:cs typeface="+mn-cs"/>
                  </a:rPr>
                  <a:t>Q</a:t>
                </a:r>
                <a:endParaRPr kumimoji="0" lang="en-US" altLang="ko-KR" sz="2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TTF Bold"/>
                  <a:ea typeface="G마켓 산스 TTF Bold"/>
                  <a:cs typeface="+mn-cs"/>
                </a:endParaRP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0E60022D-5FB6-4E6B-8840-D73F1131BF0A}"/>
              </a:ext>
            </a:extLst>
          </p:cNvPr>
          <p:cNvGrpSpPr/>
          <p:nvPr/>
        </p:nvGrpSpPr>
        <p:grpSpPr>
          <a:xfrm>
            <a:off x="656437" y="4282632"/>
            <a:ext cx="4356120" cy="2161432"/>
            <a:chOff x="656437" y="4282632"/>
            <a:chExt cx="4356120" cy="2161432"/>
          </a:xfrm>
        </p:grpSpPr>
        <p:sp>
          <p:nvSpPr>
            <p:cNvPr id="43" name="Rectangle 7">
              <a:extLst>
                <a:ext uri="{FF2B5EF4-FFF2-40B4-BE49-F238E27FC236}">
                  <a16:creationId xmlns:a16="http://schemas.microsoft.com/office/drawing/2014/main" id="{6484CCF9-D5CD-4981-9AC4-1412EADE2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557" y="4384511"/>
              <a:ext cx="424841" cy="182559"/>
            </a:xfrm>
            <a:prstGeom prst="rect">
              <a:avLst/>
            </a:prstGeom>
            <a:solidFill>
              <a:srgbClr val="105BA0"/>
            </a:solidFill>
            <a:ln>
              <a:noFill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41" name="Rectangle 10">
              <a:extLst>
                <a:ext uri="{FF2B5EF4-FFF2-40B4-BE49-F238E27FC236}">
                  <a16:creationId xmlns:a16="http://schemas.microsoft.com/office/drawing/2014/main" id="{32E86BE9-A2A3-4CD8-9E19-8E1C46342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134" y="4619693"/>
              <a:ext cx="424841" cy="182559"/>
            </a:xfrm>
            <a:prstGeom prst="rect">
              <a:avLst/>
            </a:prstGeom>
            <a:solidFill>
              <a:srgbClr val="105BA0"/>
            </a:solidFill>
            <a:ln>
              <a:noFill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C0E3AEF4-C1EE-4D1E-B897-0420ED394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556" y="4863252"/>
              <a:ext cx="424841" cy="182559"/>
            </a:xfrm>
            <a:prstGeom prst="rect">
              <a:avLst/>
            </a:prstGeom>
            <a:solidFill>
              <a:srgbClr val="105BA0"/>
            </a:solidFill>
            <a:ln>
              <a:noFill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771812D3-BF9D-4CDD-8CEB-62581C85D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1913" y="4470909"/>
              <a:ext cx="1757065" cy="209197"/>
            </a:xfrm>
            <a:prstGeom prst="line">
              <a:avLst/>
            </a:prstGeom>
            <a:noFill/>
            <a:ln w="19050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3" name="Line 16">
              <a:extLst>
                <a:ext uri="{FF2B5EF4-FFF2-40B4-BE49-F238E27FC236}">
                  <a16:creationId xmlns:a16="http://schemas.microsoft.com/office/drawing/2014/main" id="{A9F2C62E-6150-445F-AF81-9A8A5679B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0917" y="4721946"/>
              <a:ext cx="1738746" cy="200829"/>
            </a:xfrm>
            <a:prstGeom prst="line">
              <a:avLst/>
            </a:prstGeom>
            <a:noFill/>
            <a:ln w="19050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4" name="Line 17">
              <a:extLst>
                <a:ext uri="{FF2B5EF4-FFF2-40B4-BE49-F238E27FC236}">
                  <a16:creationId xmlns:a16="http://schemas.microsoft.com/office/drawing/2014/main" id="{FDCE0C97-ADF4-46F7-92DC-52D1D41866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9922" y="4972983"/>
              <a:ext cx="1715849" cy="184093"/>
            </a:xfrm>
            <a:prstGeom prst="line">
              <a:avLst/>
            </a:prstGeom>
            <a:noFill/>
            <a:ln w="19050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5" name="Text Box 18">
              <a:extLst>
                <a:ext uri="{FF2B5EF4-FFF2-40B4-BE49-F238E27FC236}">
                  <a16:creationId xmlns:a16="http://schemas.microsoft.com/office/drawing/2014/main" id="{52A0A4B9-C41C-40D1-97A9-2359D3E40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5845" y="4282632"/>
              <a:ext cx="53572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pkt0</a:t>
              </a:r>
            </a:p>
          </p:txBody>
        </p:sp>
        <p:sp>
          <p:nvSpPr>
            <p:cNvPr id="16" name="Text Box 19">
              <a:extLst>
                <a:ext uri="{FF2B5EF4-FFF2-40B4-BE49-F238E27FC236}">
                  <a16:creationId xmlns:a16="http://schemas.microsoft.com/office/drawing/2014/main" id="{C9469A68-4FC7-47E7-9348-3350149019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3211" y="4533669"/>
              <a:ext cx="51488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pkt1</a:t>
              </a:r>
            </a:p>
          </p:txBody>
        </p:sp>
        <p:sp>
          <p:nvSpPr>
            <p:cNvPr id="17" name="Text Box 20">
              <a:extLst>
                <a:ext uri="{FF2B5EF4-FFF2-40B4-BE49-F238E27FC236}">
                  <a16:creationId xmlns:a16="http://schemas.microsoft.com/office/drawing/2014/main" id="{BCC02066-F40F-4F25-AEF1-D28D829E94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9357" y="4784705"/>
              <a:ext cx="51648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pkt2</a:t>
              </a:r>
            </a:p>
          </p:txBody>
        </p:sp>
        <p:sp>
          <p:nvSpPr>
            <p:cNvPr id="37" name="Rectangle 24">
              <a:extLst>
                <a:ext uri="{FF2B5EF4-FFF2-40B4-BE49-F238E27FC236}">
                  <a16:creationId xmlns:a16="http://schemas.microsoft.com/office/drawing/2014/main" id="{60279DF7-4BF1-43A3-9D5A-B198D32ED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679" y="5787991"/>
              <a:ext cx="401846" cy="165963"/>
            </a:xfrm>
            <a:prstGeom prst="rect">
              <a:avLst/>
            </a:prstGeom>
            <a:solidFill>
              <a:srgbClr val="105BA0"/>
            </a:solidFill>
            <a:ln>
              <a:noFill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38" name="Text Box 25">
              <a:extLst>
                <a:ext uri="{FF2B5EF4-FFF2-40B4-BE49-F238E27FC236}">
                  <a16:creationId xmlns:a16="http://schemas.microsoft.com/office/drawing/2014/main" id="{6554580E-5498-4D50-88FE-5AA2101B23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437" y="5733256"/>
              <a:ext cx="1157689" cy="284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algn="r" latinLnBrk="0">
                <a:lnSpc>
                  <a:spcPct val="11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0 1 2 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3 0 1 2</a:t>
              </a:r>
            </a:p>
          </p:txBody>
        </p:sp>
        <p:sp>
          <p:nvSpPr>
            <p:cNvPr id="19" name="Line 32">
              <a:extLst>
                <a:ext uri="{FF2B5EF4-FFF2-40B4-BE49-F238E27FC236}">
                  <a16:creationId xmlns:a16="http://schemas.microsoft.com/office/drawing/2014/main" id="{0A07DFD7-9DA6-4643-9A12-161346C58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2975" y="5846032"/>
              <a:ext cx="1715849" cy="196645"/>
            </a:xfrm>
            <a:prstGeom prst="line">
              <a:avLst/>
            </a:prstGeom>
            <a:noFill/>
            <a:ln w="19050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0" name="Text Box 35">
              <a:extLst>
                <a:ext uri="{FF2B5EF4-FFF2-40B4-BE49-F238E27FC236}">
                  <a16:creationId xmlns:a16="http://schemas.microsoft.com/office/drawing/2014/main" id="{08A4F3DF-D0B7-43D3-BFB2-DDA2AF9A18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9429" y="5657755"/>
              <a:ext cx="53572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pkt0</a:t>
              </a:r>
            </a:p>
          </p:txBody>
        </p:sp>
        <p:sp>
          <p:nvSpPr>
            <p:cNvPr id="21" name="Text Box 39">
              <a:extLst>
                <a:ext uri="{FF2B5EF4-FFF2-40B4-BE49-F238E27FC236}">
                  <a16:creationId xmlns:a16="http://schemas.microsoft.com/office/drawing/2014/main" id="{558887E0-E7AE-4400-8A11-2B28C843CC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437" y="5277225"/>
              <a:ext cx="1023037" cy="539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1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timeout</a:t>
              </a:r>
            </a:p>
            <a:p>
              <a:pPr marL="0" lvl="3" indent="0" latinLnBrk="0">
                <a:lnSpc>
                  <a:spcPct val="11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pkt0 </a:t>
              </a: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재전송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2" name="Rectangle 45">
              <a:extLst>
                <a:ext uri="{FF2B5EF4-FFF2-40B4-BE49-F238E27FC236}">
                  <a16:creationId xmlns:a16="http://schemas.microsoft.com/office/drawing/2014/main" id="{2012CDA4-A091-4EF9-BFD2-1C46FC788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2312" y="4618165"/>
              <a:ext cx="424841" cy="182559"/>
            </a:xfrm>
            <a:prstGeom prst="rect">
              <a:avLst/>
            </a:prstGeom>
            <a:solidFill>
              <a:srgbClr val="098983"/>
            </a:solidFill>
            <a:ln>
              <a:noFill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23" name="Text Box 46">
              <a:extLst>
                <a:ext uri="{FF2B5EF4-FFF2-40B4-BE49-F238E27FC236}">
                  <a16:creationId xmlns:a16="http://schemas.microsoft.com/office/drawing/2014/main" id="{7A727C14-63C7-42E2-AD2A-BEE215B724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4887" y="4571324"/>
              <a:ext cx="1157689" cy="284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algn="r" latinLnBrk="0">
                <a:lnSpc>
                  <a:spcPct val="11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0 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1 2 3 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0 1 2</a:t>
              </a:r>
            </a:p>
          </p:txBody>
        </p:sp>
        <p:sp>
          <p:nvSpPr>
            <p:cNvPr id="24" name="Rectangle 50">
              <a:extLst>
                <a:ext uri="{FF2B5EF4-FFF2-40B4-BE49-F238E27FC236}">
                  <a16:creationId xmlns:a16="http://schemas.microsoft.com/office/drawing/2014/main" id="{9A60CCCA-8793-4432-B8E1-0582F62D1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380" y="4863795"/>
              <a:ext cx="424841" cy="182559"/>
            </a:xfrm>
            <a:prstGeom prst="rect">
              <a:avLst/>
            </a:prstGeom>
            <a:solidFill>
              <a:srgbClr val="098983"/>
            </a:solidFill>
            <a:ln>
              <a:noFill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25" name="Text Box 51">
              <a:extLst>
                <a:ext uri="{FF2B5EF4-FFF2-40B4-BE49-F238E27FC236}">
                  <a16:creationId xmlns:a16="http://schemas.microsoft.com/office/drawing/2014/main" id="{9B616EE2-19C9-4055-8779-EF0F78EE9D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4887" y="4812598"/>
              <a:ext cx="1157689" cy="284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algn="r" latinLnBrk="0">
                <a:lnSpc>
                  <a:spcPct val="11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0 1 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2 3 0 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1 2</a:t>
              </a:r>
            </a:p>
          </p:txBody>
        </p:sp>
        <p:sp>
          <p:nvSpPr>
            <p:cNvPr id="26" name="Rectangle 53">
              <a:extLst>
                <a:ext uri="{FF2B5EF4-FFF2-40B4-BE49-F238E27FC236}">
                  <a16:creationId xmlns:a16="http://schemas.microsoft.com/office/drawing/2014/main" id="{F03A0F24-3C5C-453E-9246-3795EC1B2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558" y="5095306"/>
              <a:ext cx="424841" cy="182559"/>
            </a:xfrm>
            <a:prstGeom prst="rect">
              <a:avLst/>
            </a:prstGeom>
            <a:solidFill>
              <a:srgbClr val="098983"/>
            </a:solidFill>
            <a:ln>
              <a:noFill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27" name="Text Box 54">
              <a:extLst>
                <a:ext uri="{FF2B5EF4-FFF2-40B4-BE49-F238E27FC236}">
                  <a16:creationId xmlns:a16="http://schemas.microsoft.com/office/drawing/2014/main" id="{D206D6FE-275E-4B90-AEF0-0F6ECF155C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4887" y="5044110"/>
              <a:ext cx="1157689" cy="284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algn="r" latinLnBrk="0">
                <a:lnSpc>
                  <a:spcPct val="11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0 1 2 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3 0 1 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2</a:t>
              </a:r>
            </a:p>
          </p:txBody>
        </p:sp>
        <p:sp>
          <p:nvSpPr>
            <p:cNvPr id="28" name="Line 62">
              <a:extLst>
                <a:ext uri="{FF2B5EF4-FFF2-40B4-BE49-F238E27FC236}">
                  <a16:creationId xmlns:a16="http://schemas.microsoft.com/office/drawing/2014/main" id="{0482C35D-BCEA-451E-BA79-84B3FD54B1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2246" y="4687080"/>
              <a:ext cx="1254829" cy="479759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9" name="Line 63">
              <a:extLst>
                <a:ext uri="{FF2B5EF4-FFF2-40B4-BE49-F238E27FC236}">
                  <a16:creationId xmlns:a16="http://schemas.microsoft.com/office/drawing/2014/main" id="{57E765EB-C464-4BE9-B0B9-11C1701564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81252" y="4918591"/>
              <a:ext cx="1254829" cy="479759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30" name="Line 64">
              <a:extLst>
                <a:ext uri="{FF2B5EF4-FFF2-40B4-BE49-F238E27FC236}">
                  <a16:creationId xmlns:a16="http://schemas.microsoft.com/office/drawing/2014/main" id="{FAB3C592-E012-4310-9F93-84C179B29A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10256" y="5150103"/>
              <a:ext cx="1254829" cy="479759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31" name="Text Box 65">
              <a:extLst>
                <a:ext uri="{FF2B5EF4-FFF2-40B4-BE49-F238E27FC236}">
                  <a16:creationId xmlns:a16="http://schemas.microsoft.com/office/drawing/2014/main" id="{379DF739-015A-42D6-A9E7-3F862ED095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3171" y="4983992"/>
              <a:ext cx="3401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rgbClr val="F27037"/>
                  </a:solidFill>
                  <a:latin typeface="G마켓 산스 TTF Medium" panose="02000000000000000000" pitchFamily="2" charset="-127"/>
                </a:rPr>
                <a:t>X</a:t>
              </a:r>
            </a:p>
          </p:txBody>
        </p:sp>
        <p:sp>
          <p:nvSpPr>
            <p:cNvPr id="32" name="Text Box 66">
              <a:extLst>
                <a:ext uri="{FF2B5EF4-FFF2-40B4-BE49-F238E27FC236}">
                  <a16:creationId xmlns:a16="http://schemas.microsoft.com/office/drawing/2014/main" id="{5FB5DA6C-C757-4E3E-98A6-7D9242D8D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1490" y="5235028"/>
              <a:ext cx="3401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>
                  <a:solidFill>
                    <a:srgbClr val="F27037"/>
                  </a:solidFill>
                  <a:latin typeface="G마켓 산스 TTF Medium" panose="02000000000000000000" pitchFamily="2" charset="-127"/>
                </a:rPr>
                <a:t>X</a:t>
              </a:r>
            </a:p>
          </p:txBody>
        </p:sp>
        <p:sp>
          <p:nvSpPr>
            <p:cNvPr id="33" name="Text Box 67">
              <a:extLst>
                <a:ext uri="{FF2B5EF4-FFF2-40B4-BE49-F238E27FC236}">
                  <a16:creationId xmlns:a16="http://schemas.microsoft.com/office/drawing/2014/main" id="{493177F6-20CA-4582-B462-79A65223F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0494" y="5456777"/>
              <a:ext cx="3401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>
                  <a:solidFill>
                    <a:srgbClr val="F27037"/>
                  </a:solidFill>
                  <a:latin typeface="G마켓 산스 TTF Medium" panose="02000000000000000000" pitchFamily="2" charset="-127"/>
                </a:rPr>
                <a:t>X</a:t>
              </a:r>
            </a:p>
          </p:txBody>
        </p:sp>
        <p:sp>
          <p:nvSpPr>
            <p:cNvPr id="34" name="Text Box 68">
              <a:extLst>
                <a:ext uri="{FF2B5EF4-FFF2-40B4-BE49-F238E27FC236}">
                  <a16:creationId xmlns:a16="http://schemas.microsoft.com/office/drawing/2014/main" id="{AAC5BE4A-D999-4992-BC3E-EA4635002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2276" y="5836270"/>
              <a:ext cx="1260281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순서 번호 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0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인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패킷을 받아들임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5" name="Line 69">
              <a:extLst>
                <a:ext uri="{FF2B5EF4-FFF2-40B4-BE49-F238E27FC236}">
                  <a16:creationId xmlns:a16="http://schemas.microsoft.com/office/drawing/2014/main" id="{74DE4C46-AA8B-4484-A816-ADBFDBF53C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3185" y="5304909"/>
              <a:ext cx="0" cy="557859"/>
            </a:xfrm>
            <a:prstGeom prst="line">
              <a:avLst/>
            </a:prstGeom>
            <a:noFill/>
            <a:ln w="15875">
              <a:solidFill>
                <a:srgbClr val="F27037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36" name="Text Box 117">
              <a:extLst>
                <a:ext uri="{FF2B5EF4-FFF2-40B4-BE49-F238E27FC236}">
                  <a16:creationId xmlns:a16="http://schemas.microsoft.com/office/drawing/2014/main" id="{5519E6ED-D109-4FB7-8032-A9DC9405BA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29" y="6143212"/>
              <a:ext cx="907621" cy="3008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1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3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(b) oops!</a:t>
              </a:r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1DFDBFE2-56BE-49D8-9333-614E14D36402}"/>
              </a:ext>
            </a:extLst>
          </p:cNvPr>
          <p:cNvGrpSpPr/>
          <p:nvPr/>
        </p:nvGrpSpPr>
        <p:grpSpPr>
          <a:xfrm>
            <a:off x="2768653" y="1483397"/>
            <a:ext cx="478730" cy="4811891"/>
            <a:chOff x="2768653" y="1483397"/>
            <a:chExt cx="478730" cy="4811891"/>
          </a:xfrm>
        </p:grpSpPr>
        <p:pic>
          <p:nvPicPr>
            <p:cNvPr id="103" name="그림 102" descr="커튼, 가구, 빨간색, 플라스틱이(가) 표시된 사진&#10;&#10;자동 생성된 설명">
              <a:extLst>
                <a:ext uri="{FF2B5EF4-FFF2-40B4-BE49-F238E27FC236}">
                  <a16:creationId xmlns:a16="http://schemas.microsoft.com/office/drawing/2014/main" id="{A43E06A6-B043-4D14-92D9-7480D72CE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8653" y="1483397"/>
              <a:ext cx="462165" cy="1945603"/>
            </a:xfrm>
            <a:prstGeom prst="rect">
              <a:avLst/>
            </a:prstGeom>
          </p:spPr>
        </p:pic>
        <p:pic>
          <p:nvPicPr>
            <p:cNvPr id="107" name="그림 106" descr="커튼, 가구, 빨간색, 플라스틱이(가) 표시된 사진&#10;&#10;자동 생성된 설명">
              <a:extLst>
                <a:ext uri="{FF2B5EF4-FFF2-40B4-BE49-F238E27FC236}">
                  <a16:creationId xmlns:a16="http://schemas.microsoft.com/office/drawing/2014/main" id="{9CA790B8-04BF-4CDC-9B64-999C728AA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85218" y="4349685"/>
              <a:ext cx="462165" cy="1945603"/>
            </a:xfrm>
            <a:prstGeom prst="rect">
              <a:avLst/>
            </a:prstGeom>
          </p:spPr>
        </p:pic>
      </p:grpSp>
      <p:sp>
        <p:nvSpPr>
          <p:cNvPr id="101" name="Text Box 25">
            <a:extLst>
              <a:ext uri="{FF2B5EF4-FFF2-40B4-BE49-F238E27FC236}">
                <a16:creationId xmlns:a16="http://schemas.microsoft.com/office/drawing/2014/main" id="{3A5D3056-185F-40E6-8F48-144457CBD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912" y="4335212"/>
            <a:ext cx="1157689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3 0 1 2</a:t>
            </a:r>
          </a:p>
        </p:txBody>
      </p:sp>
      <p:sp>
        <p:nvSpPr>
          <p:cNvPr id="102" name="Text Box 25">
            <a:extLst>
              <a:ext uri="{FF2B5EF4-FFF2-40B4-BE49-F238E27FC236}">
                <a16:creationId xmlns:a16="http://schemas.microsoft.com/office/drawing/2014/main" id="{96D5B4A7-405D-40E3-B985-4C53CB999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34" y="4571588"/>
            <a:ext cx="1157689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3 0 1 2</a:t>
            </a:r>
          </a:p>
        </p:txBody>
      </p:sp>
      <p:sp>
        <p:nvSpPr>
          <p:cNvPr id="104" name="Text Box 25">
            <a:extLst>
              <a:ext uri="{FF2B5EF4-FFF2-40B4-BE49-F238E27FC236}">
                <a16:creationId xmlns:a16="http://schemas.microsoft.com/office/drawing/2014/main" id="{C83CC612-C740-4E6D-8A34-0C4AED0B4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386" y="4819856"/>
            <a:ext cx="1157689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3 0 1 2</a:t>
            </a:r>
          </a:p>
        </p:txBody>
      </p:sp>
      <p:sp>
        <p:nvSpPr>
          <p:cNvPr id="106" name="Text Box 74">
            <a:extLst>
              <a:ext uri="{FF2B5EF4-FFF2-40B4-BE49-F238E27FC236}">
                <a16:creationId xmlns:a16="http://schemas.microsoft.com/office/drawing/2014/main" id="{330DD482-9F11-44A3-905E-2F4615069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128" y="1795466"/>
            <a:ext cx="1157688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  <a:defRPr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3"/>
            <a:r>
              <a:rPr lang="en-US" altLang="ko-KR" dirty="0">
                <a:solidFill>
                  <a:schemeClr val="bg1"/>
                </a:solidFill>
              </a:rPr>
              <a:t>0 1 2 </a:t>
            </a:r>
            <a:r>
              <a:rPr lang="en-US" altLang="ko-KR" dirty="0"/>
              <a:t>3 0 1 2</a:t>
            </a:r>
          </a:p>
        </p:txBody>
      </p:sp>
      <p:sp>
        <p:nvSpPr>
          <p:cNvPr id="110" name="Text Box 74">
            <a:extLst>
              <a:ext uri="{FF2B5EF4-FFF2-40B4-BE49-F238E27FC236}">
                <a16:creationId xmlns:a16="http://schemas.microsoft.com/office/drawing/2014/main" id="{51E2DF96-7025-4833-8659-60EA3CEAB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136" y="2020538"/>
            <a:ext cx="1157688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  <a:defRPr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3"/>
            <a:r>
              <a:rPr lang="en-US" altLang="ko-KR" dirty="0">
                <a:solidFill>
                  <a:schemeClr val="bg1"/>
                </a:solidFill>
              </a:rPr>
              <a:t>0 1 2 </a:t>
            </a:r>
            <a:r>
              <a:rPr lang="en-US" altLang="ko-KR" dirty="0"/>
              <a:t>3 0 1 2</a:t>
            </a:r>
          </a:p>
        </p:txBody>
      </p:sp>
    </p:spTree>
    <p:extLst>
      <p:ext uri="{BB962C8B-B14F-4D97-AF65-F5344CB8AC3E}">
        <p14:creationId xmlns:p14="http://schemas.microsoft.com/office/powerpoint/2010/main" val="258625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46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D05E98-1A34-4B57-A27B-F3EB9AFB2885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78722"/>
            <a:ext cx="74416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 이면의 원리를 이해한다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7AC9B20-2160-4890-84D7-1A79E20CC0E2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519024"/>
            <a:ext cx="6465492" cy="133946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다중화와 </a:t>
            </a:r>
            <a:r>
              <a:rPr lang="ko-KR" altLang="en-US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역다중화</a:t>
            </a:r>
            <a:endParaRPr lang="ko-KR" altLang="en-US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신뢰성 있는 데이터 전송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흐름 제어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혼잡 제어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66EE62F-9198-473B-8B24-648FAF43A4A4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021822"/>
            <a:ext cx="74416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인터넷 트랜스포트 계층의 프로토콜에 대해 공부한다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939C1E9-FDBE-4809-BBF9-03EEB8FC50FF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462124"/>
            <a:ext cx="646549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UDP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비연결형 트랜스포트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연결지향형 트랜스포트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60D3D83-27D4-4F6B-A747-A60980210DD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347702"/>
            <a:ext cx="74416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4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장에서는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77857ED-0284-4EAF-BB4C-9BC2F2AD07F6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788004"/>
            <a:ext cx="6465492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Edge (Application, Transport)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를 떠나서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Core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에 관한 공부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넥슨Lv1고딕" panose="00000500000000000000" pitchFamily="2" charset="-127"/>
                <a:cs typeface="Arial" panose="020B0604020202020204" pitchFamily="34" charset="0"/>
              </a:rPr>
              <a:t>→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Network Layer</a:t>
            </a:r>
          </a:p>
        </p:txBody>
      </p:sp>
    </p:spTree>
    <p:extLst>
      <p:ext uri="{BB962C8B-B14F-4D97-AF65-F5344CB8AC3E}">
        <p14:creationId xmlns:p14="http://schemas.microsoft.com/office/powerpoint/2010/main" val="1431646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1">
      <a:majorFont>
        <a:latin typeface="G마켓 산스 TTF Bold"/>
        <a:ea typeface="G마켓 산스 TTF Bold"/>
        <a:cs typeface=""/>
      </a:majorFont>
      <a:minorFont>
        <a:latin typeface="G마켓 산스 TTF Medium"/>
        <a:ea typeface="넥슨Lv1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 defTabSz="914583">
          <a:defRPr>
            <a:solidFill>
              <a:prstClr val="white"/>
            </a:solidFill>
            <a:latin typeface="나눔스퀘어" panose="020B0600000101010101" pitchFamily="50" charset="-127"/>
            <a:ea typeface="나눔스퀘어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91440" tIns="45720" rIns="91440" bIns="45720" rtlCol="0">
        <a:spAutoFit/>
      </a:bodyPr>
      <a:lstStyle>
        <a:defPPr marL="180000" indent="-180000" algn="l">
          <a:lnSpc>
            <a:spcPct val="120000"/>
          </a:lnSpc>
          <a:spcBef>
            <a:spcPts val="600"/>
          </a:spcBef>
          <a:buClr>
            <a:srgbClr val="0B4CA2"/>
          </a:buClr>
          <a:buSzPct val="80000"/>
          <a:defRPr sz="1600">
            <a:ln>
              <a:solidFill>
                <a:srgbClr val="2D5897">
                  <a:alpha val="0"/>
                </a:srgbClr>
              </a:solidFill>
            </a:ln>
            <a:latin typeface="넥슨Lv1고딕" panose="00000500000000000000" pitchFamily="2" charset="-127"/>
            <a:ea typeface="넥슨Lv1고딕" panose="000005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4658</TotalTime>
  <Words>4294</Words>
  <Application>Microsoft Office PowerPoint</Application>
  <PresentationFormat>와이드스크린</PresentationFormat>
  <Paragraphs>1059</Paragraphs>
  <Slides>46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4" baseType="lpstr">
      <vt:lpstr>Arial</vt:lpstr>
      <vt:lpstr>넥슨Lv1고딕 Bold</vt:lpstr>
      <vt:lpstr>G마켓 산스 TTF Medium</vt:lpstr>
      <vt:lpstr>ＭＳ Ｐゴシック</vt:lpstr>
      <vt:lpstr>넥슨Lv1고딕</vt:lpstr>
      <vt:lpstr>G마켓 산스 TTF Bold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 템포</dc:creator>
  <cp:lastModifiedBy>이지형</cp:lastModifiedBy>
  <cp:revision>69</cp:revision>
  <dcterms:created xsi:type="dcterms:W3CDTF">2021-12-17T00:49:19Z</dcterms:created>
  <dcterms:modified xsi:type="dcterms:W3CDTF">2026-10-15T03:23:31Z</dcterms:modified>
</cp:coreProperties>
</file>