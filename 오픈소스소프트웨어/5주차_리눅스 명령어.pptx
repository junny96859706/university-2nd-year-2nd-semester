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90" r:id="rId6"/>
    <p:sldId id="261" r:id="rId7"/>
    <p:sldId id="262" r:id="rId8"/>
    <p:sldId id="263" r:id="rId9"/>
    <p:sldId id="264" r:id="rId10"/>
    <p:sldId id="265" r:id="rId11"/>
    <p:sldId id="284" r:id="rId12"/>
    <p:sldId id="267" r:id="rId13"/>
    <p:sldId id="268" r:id="rId14"/>
    <p:sldId id="269" r:id="rId15"/>
    <p:sldId id="270" r:id="rId16"/>
    <p:sldId id="271" r:id="rId17"/>
    <p:sldId id="291" r:id="rId18"/>
    <p:sldId id="273" r:id="rId19"/>
    <p:sldId id="274" r:id="rId20"/>
    <p:sldId id="275" r:id="rId21"/>
    <p:sldId id="286" r:id="rId22"/>
    <p:sldId id="296" r:id="rId23"/>
    <p:sldId id="292" r:id="rId24"/>
    <p:sldId id="293" r:id="rId25"/>
    <p:sldId id="294" r:id="rId26"/>
    <p:sldId id="295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101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661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023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882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16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831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87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7450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80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0067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480560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773168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5065776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</p:sp>
      <p:sp>
        <p:nvSpPr>
          <p:cNvPr id="5" name="Shape 3"/>
          <p:cNvSpPr/>
          <p:nvPr/>
        </p:nvSpPr>
        <p:spPr>
          <a:xfrm>
            <a:off x="9418320" y="5358384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</p:sp>
      <p:sp>
        <p:nvSpPr>
          <p:cNvPr id="6" name="Shape 4"/>
          <p:cNvSpPr/>
          <p:nvPr/>
        </p:nvSpPr>
        <p:spPr>
          <a:xfrm>
            <a:off x="9710928" y="4480560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</p:sp>
      <p:sp>
        <p:nvSpPr>
          <p:cNvPr id="7" name="Shape 5"/>
          <p:cNvSpPr/>
          <p:nvPr/>
        </p:nvSpPr>
        <p:spPr>
          <a:xfrm>
            <a:off x="9710928" y="4773168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</p:sp>
      <p:sp>
        <p:nvSpPr>
          <p:cNvPr id="8" name="Shape 6"/>
          <p:cNvSpPr/>
          <p:nvPr/>
        </p:nvSpPr>
        <p:spPr>
          <a:xfrm>
            <a:off x="9710928" y="5065776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</p:sp>
      <p:sp>
        <p:nvSpPr>
          <p:cNvPr id="9" name="Shape 7"/>
          <p:cNvSpPr/>
          <p:nvPr/>
        </p:nvSpPr>
        <p:spPr>
          <a:xfrm>
            <a:off x="9710928" y="5358384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</p:sp>
      <p:sp>
        <p:nvSpPr>
          <p:cNvPr id="10" name="Shape 8"/>
          <p:cNvSpPr/>
          <p:nvPr/>
        </p:nvSpPr>
        <p:spPr>
          <a:xfrm>
            <a:off x="10003536" y="4480560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</p:sp>
      <p:sp>
        <p:nvSpPr>
          <p:cNvPr id="11" name="Shape 9"/>
          <p:cNvSpPr/>
          <p:nvPr/>
        </p:nvSpPr>
        <p:spPr>
          <a:xfrm>
            <a:off x="10003536" y="4773168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03536" y="5065776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03536" y="5358384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96144" y="4480560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96144" y="4773168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96144" y="5065776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96144" y="5358384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88752" y="4480560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88752" y="4773168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</p:sp>
      <p:sp>
        <p:nvSpPr>
          <p:cNvPr id="20" name="Shape 18"/>
          <p:cNvSpPr/>
          <p:nvPr/>
        </p:nvSpPr>
        <p:spPr>
          <a:xfrm>
            <a:off x="10588752" y="5065776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88752" y="5358384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</p:sp>
      <p:sp>
        <p:nvSpPr>
          <p:cNvPr id="22" name="Shape 20"/>
          <p:cNvSpPr/>
          <p:nvPr/>
        </p:nvSpPr>
        <p:spPr>
          <a:xfrm>
            <a:off x="10881360" y="4480560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</p:sp>
      <p:sp>
        <p:nvSpPr>
          <p:cNvPr id="23" name="Shape 21"/>
          <p:cNvSpPr/>
          <p:nvPr/>
        </p:nvSpPr>
        <p:spPr>
          <a:xfrm>
            <a:off x="10881360" y="4773168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</p:sp>
      <p:sp>
        <p:nvSpPr>
          <p:cNvPr id="24" name="Shape 22"/>
          <p:cNvSpPr/>
          <p:nvPr/>
        </p:nvSpPr>
        <p:spPr>
          <a:xfrm>
            <a:off x="10881360" y="5065776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</p:sp>
      <p:sp>
        <p:nvSpPr>
          <p:cNvPr id="25" name="Shape 23"/>
          <p:cNvSpPr/>
          <p:nvPr/>
        </p:nvSpPr>
        <p:spPr>
          <a:xfrm>
            <a:off x="10881360" y="5358384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196596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1965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LINUX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24688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4600" dirty="0"/>
          </a:p>
        </p:txBody>
      </p:sp>
      <p:sp>
        <p:nvSpPr>
          <p:cNvPr id="29" name="Text 27"/>
          <p:cNvSpPr/>
          <p:nvPr/>
        </p:nvSpPr>
        <p:spPr>
          <a:xfrm>
            <a:off x="457200" y="3520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FE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명령어로 리눅스 시스템을 자유자재로 다루기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 기본 구조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명령어를 실행하려면, 명령어 이름과 인자를 커맨드라인에 입력합니다.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47802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47802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" y="247802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71576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2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 -l  /etc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33832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3813048"/>
            <a:ext cx="512064" cy="512064"/>
          </a:xfrm>
          <a:prstGeom prst="ellipse">
            <a:avLst/>
          </a:prstGeom>
          <a:solidFill>
            <a:srgbClr val="1FAF7D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813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 이름 (command)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48463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실행할 프로그램의 이름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60520" y="3611880"/>
            <a:ext cx="33832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61688" y="3813048"/>
            <a:ext cx="512064" cy="512064"/>
          </a:xfrm>
          <a:prstGeom prst="ellipse">
            <a:avLst/>
          </a:prstGeom>
          <a:solidFill>
            <a:srgbClr val="1FAF7D"/>
          </a:solidFill>
          <a:ln/>
        </p:spPr>
      </p:sp>
      <p:sp>
        <p:nvSpPr>
          <p:cNvPr id="20" name="Text 18"/>
          <p:cNvSpPr/>
          <p:nvPr/>
        </p:nvSpPr>
        <p:spPr>
          <a:xfrm>
            <a:off x="4361688" y="3813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434840" y="4389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옵션 (options / flags)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34840" y="48463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방식을 바꾸는 </a:t>
            </a:r>
            <a:r>
              <a:rPr lang="en-US" sz="14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시작하는 값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891272" y="3611880"/>
            <a:ext cx="33832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92440" y="3813048"/>
            <a:ext cx="512064" cy="512064"/>
          </a:xfrm>
          <a:prstGeom prst="ellipse">
            <a:avLst/>
          </a:prstGeom>
          <a:solidFill>
            <a:srgbClr val="1FAF7D"/>
          </a:solidFill>
          <a:ln/>
        </p:spPr>
      </p:sp>
      <p:sp>
        <p:nvSpPr>
          <p:cNvPr id="25" name="Text 23"/>
          <p:cNvSpPr/>
          <p:nvPr/>
        </p:nvSpPr>
        <p:spPr>
          <a:xfrm>
            <a:off x="8092440" y="3813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165592" y="4389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인자 (arguments)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65592" y="48463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명령어가 작업할 대상(파일·경로 등)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도움말 보기: man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리눅스의 HELP에 해당하는 것이 man (manual)입니다.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&lt;명령어&gt; 로 해당 명령어의 도움말을 확인합니다.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출력은 한 </a:t>
            </a:r>
            <a:r>
              <a:rPr lang="en-US" sz="15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페이지씩</a:t>
            </a:r>
            <a:r>
              <a:rPr lang="en-US" sz="15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보여집니다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5852160" cy="1371600"/>
          </a:xfrm>
          <a:prstGeom prst="roundRect">
            <a:avLst>
              <a:gd name="adj" fmla="val 5333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" y="37581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1" name="Shape 9"/>
          <p:cNvSpPr/>
          <p:nvPr/>
        </p:nvSpPr>
        <p:spPr>
          <a:xfrm>
            <a:off x="804672" y="37581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2" name="Shape 10"/>
          <p:cNvSpPr/>
          <p:nvPr/>
        </p:nvSpPr>
        <p:spPr>
          <a:xfrm>
            <a:off x="987552" y="37581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703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예시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" y="3995928"/>
            <a:ext cx="5340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man </a:t>
            </a:r>
            <a:r>
              <a:rPr lang="en-US" sz="1300" b="1" dirty="0" smtClean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5257800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E4F5E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5257800"/>
            <a:ext cx="54864" cy="914400"/>
          </a:xfrm>
          <a:prstGeom prst="roundRect">
            <a:avLst/>
          </a:prstGeom>
          <a:solidFill>
            <a:srgbClr val="1FAF7D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257800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페이지가 없는 명령어는 --help 옵션으로 간단한 사용법을 확인할 수 있습니다 (예: ls --help)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29400" y="1965960"/>
            <a:ext cx="5102352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페이지 탐색 키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903720" y="2788920"/>
            <a:ext cx="1417320" cy="502920"/>
          </a:xfrm>
          <a:prstGeom prst="roundRect">
            <a:avLst>
              <a:gd name="adj" fmla="val 16364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2788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58200" y="2788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 페이지로 이동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03720" y="3566160"/>
            <a:ext cx="1417320" cy="502920"/>
          </a:xfrm>
          <a:prstGeom prst="roundRect">
            <a:avLst>
              <a:gd name="adj" fmla="val 16364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35661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</a:t>
            </a:r>
            <a:r>
              <a:rPr lang="ko-KR" altLang="en-US" sz="1300" b="1" dirty="0" smtClean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혹은</a:t>
            </a:r>
            <a:r>
              <a:rPr lang="en-US" sz="1300" b="1" dirty="0" smtClean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58200" y="3566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페이지로 이동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903720" y="4343400"/>
            <a:ext cx="1417320" cy="502920"/>
          </a:xfrm>
          <a:prstGeom prst="roundRect">
            <a:avLst>
              <a:gd name="adj" fmla="val 16364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4343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58200" y="4343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종료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03720" y="5120640"/>
            <a:ext cx="1417320" cy="502920"/>
          </a:xfrm>
          <a:prstGeom prst="roundRect">
            <a:avLst>
              <a:gd name="adj" fmla="val 16364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5120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/검색어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58200" y="5120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 내 검색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상승: sudo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권한이 필요한 작업은 sudo를 앞에 붙여 실행합니다.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BEEDD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965960"/>
            <a:ext cx="54864" cy="868680"/>
          </a:xfrm>
          <a:prstGeom prst="roundRect">
            <a:avLst/>
          </a:prstGeom>
          <a:solidFill>
            <a:srgbClr val="D98E2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65960"/>
            <a:ext cx="10863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98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 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EC2의 기본 사용자(ec2-user 등)는 root 비밀번호가 없고 sudo 그룹에 속해 있어, sudo로만 관리자 권한을 사용할 수 있습니다.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199" y="3383280"/>
            <a:ext cx="7556269" cy="2169622"/>
          </a:xfrm>
          <a:prstGeom prst="roundRect">
            <a:avLst>
              <a:gd name="adj" fmla="val 3902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" y="35295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35295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4" name="Shape 12"/>
          <p:cNvSpPr/>
          <p:nvPr/>
        </p:nvSpPr>
        <p:spPr>
          <a:xfrm>
            <a:off x="987552" y="35295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4747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사용 예시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3231" y="3767328"/>
            <a:ext cx="5812259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dnf install httpd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관리자 권한으로 httpd 설치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-i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root </a:t>
            </a:r>
            <a:r>
              <a:rPr lang="ko-KR" altLang="en-US" sz="1300" dirty="0" smtClean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사용자로</a:t>
            </a:r>
            <a:r>
              <a:rPr lang="en-US" sz="1300" dirty="0" smtClean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전환 (비밀번호 없이 가능)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 입출력 스트림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프로세스는 세 가지 표준 스트림을 통해 터미널과 데이터를 주고받습니다.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167128"/>
            <a:ext cx="475488" cy="475488"/>
          </a:xfrm>
          <a:prstGeom prst="ellipse">
            <a:avLst/>
          </a:prstGeom>
          <a:solidFill>
            <a:srgbClr val="1FAF7D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167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stdin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26060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명령어가 입력을 받는 곳 — 기본값은 터미널(키보드)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3401568"/>
            <a:ext cx="475488" cy="475488"/>
          </a:xfrm>
          <a:prstGeom prst="ellipse">
            <a:avLst/>
          </a:prstGeom>
          <a:solidFill>
            <a:srgbClr val="1FAF7D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401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stdout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" y="384048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명령어가 결과를 출력하는 곳 — 기본값은 터미널(화면)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636008"/>
            <a:ext cx="475488" cy="475488"/>
          </a:xfrm>
          <a:prstGeom prst="ellipse">
            <a:avLst/>
          </a:prstGeom>
          <a:solidFill>
            <a:srgbClr val="1FAF7D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636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88720" y="4617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stderr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7200" y="507492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명령어가 오류 메시지를 출력하는 곳 — 기본값은 터미널(화면)</a:t>
            </a:r>
            <a:endParaRPr lang="en-US" sz="1250" dirty="0"/>
          </a:p>
        </p:txBody>
      </p:sp>
      <p:sp>
        <p:nvSpPr>
          <p:cNvPr id="34" name="Shape 6"/>
          <p:cNvSpPr/>
          <p:nvPr/>
        </p:nvSpPr>
        <p:spPr>
          <a:xfrm>
            <a:off x="6949440" y="2103120"/>
            <a:ext cx="4754880" cy="3931920"/>
          </a:xfrm>
          <a:prstGeom prst="roundRect">
            <a:avLst>
              <a:gd name="adj" fmla="val 2093"/>
            </a:avLst>
          </a:prstGeom>
          <a:solidFill>
            <a:srgbClr val="262E39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5" name="Text 7"/>
          <p:cNvSpPr/>
          <p:nvPr/>
        </p:nvSpPr>
        <p:spPr>
          <a:xfrm>
            <a:off x="7178040" y="22677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300" dirty="0"/>
          </a:p>
        </p:txBody>
      </p:sp>
      <p:sp>
        <p:nvSpPr>
          <p:cNvPr id="36" name="Shape 8"/>
          <p:cNvSpPr/>
          <p:nvPr/>
        </p:nvSpPr>
        <p:spPr>
          <a:xfrm>
            <a:off x="8321040" y="2743200"/>
            <a:ext cx="29260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7" name="Text 9"/>
          <p:cNvSpPr/>
          <p:nvPr/>
        </p:nvSpPr>
        <p:spPr>
          <a:xfrm>
            <a:off x="8321040" y="2743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Keyboard</a:t>
            </a:r>
            <a:endParaRPr lang="en-US" sz="1500" dirty="0"/>
          </a:p>
        </p:txBody>
      </p:sp>
      <p:sp>
        <p:nvSpPr>
          <p:cNvPr id="38" name="Shape 10"/>
          <p:cNvSpPr/>
          <p:nvPr/>
        </p:nvSpPr>
        <p:spPr>
          <a:xfrm>
            <a:off x="8321040" y="4892040"/>
            <a:ext cx="29260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9" name="Text 11"/>
          <p:cNvSpPr/>
          <p:nvPr/>
        </p:nvSpPr>
        <p:spPr>
          <a:xfrm>
            <a:off x="8321040" y="4892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Display</a:t>
            </a:r>
            <a:endParaRPr lang="en-US" sz="1500" dirty="0"/>
          </a:p>
        </p:txBody>
      </p:sp>
      <p:sp>
        <p:nvSpPr>
          <p:cNvPr id="40" name="Shape 12"/>
          <p:cNvSpPr/>
          <p:nvPr/>
        </p:nvSpPr>
        <p:spPr>
          <a:xfrm flipH="1">
            <a:off x="7057505" y="3154680"/>
            <a:ext cx="1263535" cy="566928"/>
          </a:xfrm>
          <a:prstGeom prst="line">
            <a:avLst/>
          </a:prstGeom>
          <a:noFill/>
          <a:ln w="25400">
            <a:solidFill>
              <a:srgbClr val="8FE3C0"/>
            </a:solidFill>
            <a:prstDash val="solid"/>
            <a:tailEnd type="triangle"/>
          </a:ln>
        </p:spPr>
      </p:sp>
      <p:sp>
        <p:nvSpPr>
          <p:cNvPr id="41" name="Shape 13"/>
          <p:cNvSpPr/>
          <p:nvPr/>
        </p:nvSpPr>
        <p:spPr>
          <a:xfrm>
            <a:off x="7132320" y="4069080"/>
            <a:ext cx="1188720" cy="987552"/>
          </a:xfrm>
          <a:prstGeom prst="line">
            <a:avLst/>
          </a:prstGeom>
          <a:noFill/>
          <a:ln w="25400">
            <a:solidFill>
              <a:srgbClr val="1FAF7D"/>
            </a:solidFill>
            <a:prstDash val="solid"/>
            <a:tailEnd type="triangle"/>
          </a:ln>
        </p:spPr>
      </p:sp>
      <p:sp>
        <p:nvSpPr>
          <p:cNvPr id="42" name="Shape 14"/>
          <p:cNvSpPr/>
          <p:nvPr/>
        </p:nvSpPr>
        <p:spPr>
          <a:xfrm>
            <a:off x="7132320" y="4069080"/>
            <a:ext cx="1188720" cy="1481328"/>
          </a:xfrm>
          <a:prstGeom prst="line">
            <a:avLst/>
          </a:prstGeom>
          <a:noFill/>
          <a:ln w="25400">
            <a:solidFill>
              <a:srgbClr val="E8A0A0"/>
            </a:solidFill>
            <a:prstDash val="dash"/>
            <a:tailEnd type="triangle"/>
          </a:ln>
        </p:spPr>
      </p:sp>
      <p:sp>
        <p:nvSpPr>
          <p:cNvPr id="43" name="Shape 15"/>
          <p:cNvSpPr/>
          <p:nvPr/>
        </p:nvSpPr>
        <p:spPr>
          <a:xfrm>
            <a:off x="5760720" y="3383280"/>
            <a:ext cx="1371600" cy="1371600"/>
          </a:xfrm>
          <a:prstGeom prst="ellipse">
            <a:avLst/>
          </a:prstGeom>
          <a:solidFill>
            <a:srgbClr val="1FAF7D"/>
          </a:solidFill>
          <a:ln/>
        </p:spPr>
      </p:sp>
      <p:sp>
        <p:nvSpPr>
          <p:cNvPr id="44" name="Text 16"/>
          <p:cNvSpPr/>
          <p:nvPr/>
        </p:nvSpPr>
        <p:spPr>
          <a:xfrm>
            <a:off x="5760720" y="3383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45" name="Text 17"/>
          <p:cNvSpPr/>
          <p:nvPr/>
        </p:nvSpPr>
        <p:spPr>
          <a:xfrm>
            <a:off x="7498080" y="31945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</a:t>
            </a:r>
            <a:endParaRPr lang="en-US" sz="1100" dirty="0"/>
          </a:p>
        </p:txBody>
      </p:sp>
      <p:sp>
        <p:nvSpPr>
          <p:cNvPr id="46" name="Text 18"/>
          <p:cNvSpPr/>
          <p:nvPr/>
        </p:nvSpPr>
        <p:spPr>
          <a:xfrm>
            <a:off x="7498080" y="4197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AF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</a:t>
            </a:r>
            <a:endParaRPr lang="en-US" sz="1100" dirty="0"/>
          </a:p>
        </p:txBody>
      </p:sp>
      <p:sp>
        <p:nvSpPr>
          <p:cNvPr id="47" name="Text 19"/>
          <p:cNvSpPr/>
          <p:nvPr/>
        </p:nvSpPr>
        <p:spPr>
          <a:xfrm>
            <a:off x="7498080" y="4919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66108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리다이렉션 (&gt;, 2&gt;)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5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명령어의</a:t>
            </a:r>
            <a:r>
              <a:rPr lang="en-US" altLang="ko-KR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5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출력을</a:t>
            </a:r>
            <a:r>
              <a:rPr lang="en-US" altLang="ko-KR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5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파일로</a:t>
            </a:r>
            <a:r>
              <a:rPr lang="en-US" altLang="ko-KR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5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보낼</a:t>
            </a:r>
            <a:r>
              <a:rPr lang="en-US" altLang="ko-KR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수 </a:t>
            </a:r>
            <a:r>
              <a:rPr lang="en-US" altLang="ko-KR" sz="145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있습니다</a:t>
            </a:r>
            <a:r>
              <a:rPr lang="en-US" altLang="ko-KR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"&gt;"로 </a:t>
            </a:r>
            <a:r>
              <a:rPr lang="en-US" altLang="ko-KR" sz="145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r>
              <a:rPr lang="en-US" altLang="ko-KR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5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파일을</a:t>
            </a:r>
            <a:r>
              <a:rPr lang="en-US" altLang="ko-KR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5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지정</a:t>
            </a:r>
            <a:r>
              <a:rPr lang="en-US" altLang="ko-KR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(1&gt;과 </a:t>
            </a:r>
            <a:r>
              <a:rPr lang="en-US" altLang="ko-KR" sz="145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</a:t>
            </a:r>
            <a:r>
              <a:rPr lang="en-US" altLang="ko-KR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altLang="ko-KR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11274552" cy="3977640"/>
          </a:xfrm>
          <a:prstGeom prst="roundRect">
            <a:avLst>
              <a:gd name="adj" fmla="val 1839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20370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20370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" y="220370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14884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리다이렉션 예제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2441448"/>
            <a:ext cx="107624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 &gt; output.txt</a:t>
            </a:r>
            <a:endParaRPr lang="en-US" sz="15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표준출력을 output.txt로 저장</a:t>
            </a:r>
            <a:endParaRPr lang="en-US" sz="1500" dirty="0"/>
          </a:p>
          <a:p>
            <a:pPr marL="0" indent="0" algn="l">
              <a:lnSpc>
                <a:spcPct val="128000"/>
              </a:lnSpc>
              <a:buNone/>
            </a:pPr>
            <a:endParaRPr lang="en-US" sz="15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javac HelloWorld.java 2&gt; error.txt</a:t>
            </a:r>
            <a:endParaRPr lang="en-US" sz="15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HelloWorld.java를 컴파일하고, 에러 메시지만 error.txt에 저장</a:t>
            </a:r>
            <a:endParaRPr lang="en-US" sz="1500" dirty="0"/>
          </a:p>
          <a:p>
            <a:pPr marL="0" indent="0" algn="l">
              <a:lnSpc>
                <a:spcPct val="128000"/>
              </a:lnSpc>
              <a:buNone/>
            </a:pPr>
            <a:endParaRPr lang="en-US" sz="15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javac HelloWorld.java &gt; output.txt 2&gt; error.txt</a:t>
            </a:r>
            <a:endParaRPr lang="en-US" sz="15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표준출력은 output.txt, 표준에러는 error.txt로 각각 분리 저장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리다이렉션과 파이프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74552" cy="1600200"/>
          </a:xfrm>
          <a:prstGeom prst="roundRect">
            <a:avLst>
              <a:gd name="adj" fmla="val 4571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0" name="Shape 8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입력 리다이렉션 ( &lt; 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395728"/>
            <a:ext cx="10762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wc -l &lt; input.txt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input.txt를 입력으로 받아 줄 수를 출력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11274552" cy="2240280"/>
          </a:xfrm>
          <a:prstGeom prst="roundRect">
            <a:avLst>
              <a:gd name="adj" fmla="val 3265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" y="394106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394106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6" name="Shape 14"/>
          <p:cNvSpPr/>
          <p:nvPr/>
        </p:nvSpPr>
        <p:spPr>
          <a:xfrm>
            <a:off x="987552" y="394106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388620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파이프 ( | ) — 한 명령의 출력을 다른 명령의 입력으로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3232" y="4178808"/>
            <a:ext cx="107624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ps -ef | grep httpd | wc -l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ps 결과 → grep으로 "httpd" 포함 줄만 추림 → wc로 그 줄 수를 셈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결과: httpd 관련 프로세스 개수 출력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명령어: pwd · who · whoami · which · su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852160" cy="4023360"/>
          </a:xfrm>
          <a:prstGeom prst="roundRect">
            <a:avLst>
              <a:gd name="adj" fmla="val 1818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0" name="Shape 8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1031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기본 명령어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395728"/>
            <a:ext cx="534009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pwd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/home/ec2-user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whoami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ec2-user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which whoami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/usr/bin/whoami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2940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66760" y="2011680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작업 디렉터리(print working directory) 출력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6629400" y="27980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whoami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66760" y="2798064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로그인한 사용자 이름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629400" y="35844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66760" y="3584448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명령어의 전체 경로 표시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6629400" y="43708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66760" y="4370832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시스템에 로그인한 모든 사용자 목록 표시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6629400" y="51572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 - &lt;계정명&gt;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66760" y="5157216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 전환. exit로 이전 계정 복귀 (예: su - root)</a:t>
            </a:r>
            <a:endParaRPr lang="en-US" sz="11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디렉터리 구조 기호와 이동 (cd)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74552" cy="285292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1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5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5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5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예시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루트 디렉터리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최상위 디렉터리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디렉터리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./script.sh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위치 기준 상위(부모) 디렉터리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 ..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홈 디렉터리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 ~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바로 이전 디렉터리 (cd 전용)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 -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07492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1792" y="522122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7" name="Shape 7"/>
          <p:cNvSpPr/>
          <p:nvPr/>
        </p:nvSpPr>
        <p:spPr>
          <a:xfrm>
            <a:off x="804672" y="522122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1" name="Shape 8"/>
          <p:cNvSpPr/>
          <p:nvPr/>
        </p:nvSpPr>
        <p:spPr>
          <a:xfrm>
            <a:off x="987552" y="522122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2" name="Text 9"/>
          <p:cNvSpPr/>
          <p:nvPr/>
        </p:nvSpPr>
        <p:spPr>
          <a:xfrm>
            <a:off x="1280160" y="516636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예시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13232" y="5458968"/>
            <a:ext cx="10762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~ &amp;&amp; pwd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/home/ec2-user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명령어: cp · mv · touch · rm · mkdir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74552" cy="4160520"/>
          </a:xfrm>
          <a:prstGeom prst="roundRect">
            <a:avLst>
              <a:gd name="adj" fmla="val 1758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0" name="Shape 8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파일·디렉터리 다루기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395728"/>
            <a:ext cx="1076248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fromfile tofile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fromfile을 tofile로 복사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mv fromfile tofile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fromfile을 tofile로 이동/이름변경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touch sample.txt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빈 파일 생성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rm sample.txt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파일 삭제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rm -r somedir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somedir 안의 모든 파일·디렉터리까지 재귀적으로 삭제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newdir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새 디렉터리 생성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rmdir olddir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비어 있는 디렉터리만 삭제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링크: 심볼릭 링크 vs 하드 링크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211226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11226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0" name="Shape 8"/>
          <p:cNvSpPr/>
          <p:nvPr/>
        </p:nvSpPr>
        <p:spPr>
          <a:xfrm>
            <a:off x="987552" y="211226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05740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심볼릭 링크 생성 (symlink가 이미 있으면 실패)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350008"/>
            <a:ext cx="10762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ln -s /path/file /path/symlink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544068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298094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심볼릭 </a:t>
            </a:r>
            <a:r>
              <a:rPr lang="en-US" sz="1400" b="1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</a:t>
            </a:r>
            <a:r>
              <a:rPr lang="en-US" sz="14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smtClean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(=soft </a:t>
            </a:r>
            <a:r>
              <a:rPr lang="en-US" sz="14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401568"/>
            <a:ext cx="1828800" cy="502920"/>
          </a:xfrm>
          <a:prstGeom prst="roundRect">
            <a:avLst>
              <a:gd name="adj" fmla="val 16364"/>
            </a:avLst>
          </a:prstGeom>
          <a:solidFill>
            <a:srgbClr val="262E39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01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파일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(original)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88820" y="4544568"/>
            <a:ext cx="2377440" cy="502920"/>
          </a:xfrm>
          <a:prstGeom prst="roundRect">
            <a:avLst>
              <a:gd name="adj" fmla="val 16364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88820" y="4544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데이터 (inode)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645920" y="3904488"/>
            <a:ext cx="1056132" cy="640080"/>
          </a:xfrm>
          <a:prstGeom prst="line">
            <a:avLst/>
          </a:prstGeom>
          <a:noFill/>
          <a:ln w="19050">
            <a:solidFill>
              <a:srgbClr val="6B758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94760" y="3401568"/>
            <a:ext cx="1828800" cy="502920"/>
          </a:xfrm>
          <a:prstGeom prst="roundRect">
            <a:avLst>
              <a:gd name="adj" fmla="val 16364"/>
            </a:avLst>
          </a:prstGeom>
          <a:solidFill>
            <a:srgbClr val="FBEEDD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3401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8E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symlink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20440" y="3108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98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경로(path)만 참조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52120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파일의 "경로"를 가리키는 바로가기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원본을 삭제하면 경로가 끊어져 symlink가 깨짐 (broken link</a:t>
            </a:r>
            <a:r>
              <a:rPr lang="en-US" sz="1150" dirty="0" smtClean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342900" indent="-342900">
              <a:lnSpc>
                <a:spcPct val="125000"/>
              </a:lnSpc>
              <a:buSzPct val="100000"/>
              <a:buFontTx/>
              <a:buChar char="•"/>
            </a:pP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디렉터리에도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만들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수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있고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파일시스템의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파일도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가리킬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수 </a:t>
            </a:r>
            <a:r>
              <a:rPr lang="en-US" altLang="ko-KR" sz="1100" dirty="0" err="1" smtClean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있음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45352" y="2834640"/>
            <a:ext cx="544068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3952" y="298094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하드 링크 (hard link)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519672" y="3401568"/>
            <a:ext cx="1828800" cy="502920"/>
          </a:xfrm>
          <a:prstGeom prst="roundRect">
            <a:avLst>
              <a:gd name="adj" fmla="val 16364"/>
            </a:avLst>
          </a:prstGeom>
          <a:solidFill>
            <a:srgbClr val="262E39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9672" y="3401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파일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(original)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6972" y="4544568"/>
            <a:ext cx="2377440" cy="502920"/>
          </a:xfrm>
          <a:prstGeom prst="roundRect">
            <a:avLst>
              <a:gd name="adj" fmla="val 16364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6972" y="4544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데이터 (inode)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434072" y="3904488"/>
            <a:ext cx="1056132" cy="640080"/>
          </a:xfrm>
          <a:prstGeom prst="line">
            <a:avLst/>
          </a:prstGeom>
          <a:noFill/>
          <a:ln w="19050">
            <a:solidFill>
              <a:srgbClr val="6B758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582912" y="3401568"/>
            <a:ext cx="1828800" cy="502920"/>
          </a:xfrm>
          <a:prstGeom prst="roundRect">
            <a:avLst>
              <a:gd name="adj" fmla="val 16364"/>
            </a:avLst>
          </a:prstGeom>
          <a:solidFill>
            <a:srgbClr val="262E39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82912" y="3401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하드링크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(hardlink)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 flipH="1">
            <a:off x="9582912" y="3904488"/>
            <a:ext cx="914400" cy="640080"/>
          </a:xfrm>
          <a:prstGeom prst="line">
            <a:avLst/>
          </a:prstGeom>
          <a:noFill/>
          <a:ln w="19050">
            <a:solidFill>
              <a:srgbClr val="6B7583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9308592" y="3108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동일하게 직접 참조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19672" y="52120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원본과 하드링크 모두 같은 데이터(inode)를 직접 가리킴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원본을 삭제해도 하드링크 이름이 남아있으면 </a:t>
            </a:r>
            <a:r>
              <a:rPr lang="en-US" sz="115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데이터는</a:t>
            </a:r>
            <a:r>
              <a:rPr lang="en-US" sz="11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유지됨</a:t>
            </a:r>
            <a:endParaRPr lang="en-US" sz="1150" dirty="0" smtClean="0">
              <a:solidFill>
                <a:srgbClr val="1B202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25000"/>
              </a:lnSpc>
              <a:buSzPct val="100000"/>
              <a:buFontTx/>
              <a:buChar char="•"/>
            </a:pP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디렉터리에는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만들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수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없고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파일시스템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안에서만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</a:t>
            </a:r>
            <a:endParaRPr lang="en-US" altLang="ko-KR" sz="1100" dirty="0"/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</p:txBody>
      </p:sp>
      <p:sp>
        <p:nvSpPr>
          <p:cNvPr id="37" name="Shape 17"/>
          <p:cNvSpPr/>
          <p:nvPr/>
        </p:nvSpPr>
        <p:spPr>
          <a:xfrm flipH="1" flipV="1">
            <a:off x="2546604" y="3632662"/>
            <a:ext cx="1216152" cy="6650"/>
          </a:xfrm>
          <a:prstGeom prst="line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4061239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내용 보기: cat · more · less · head · tail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74552" cy="4160520"/>
          </a:xfrm>
          <a:prstGeom prst="roundRect">
            <a:avLst>
              <a:gd name="adj" fmla="val 1758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0" name="Shape 8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파일 보기 명령어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395728"/>
            <a:ext cx="1076248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sample.txt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파일 내용을 표준출력으로 그대로 출력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more sample.txt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한 페이지씩 보기, 스페이스바로 다음 페이지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less sample.txt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more과 유사하지만 위아래 모두 이동 가능 (f/b, j/k, /검색, q종료)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head sample.txt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파일의 처음 10줄 표시 (head -n N: N줄)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tail -f /var/log/messages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파일 끝부분을 실시간으로 계속 보여줌 (로그 모니터링에 유용)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ls와 파일 권한 개요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74552" cy="1920240"/>
          </a:xfrm>
          <a:prstGeom prst="roundRect">
            <a:avLst>
              <a:gd name="adj" fmla="val 3810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0" name="Shape 8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395728"/>
            <a:ext cx="10762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-al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-a: 숨김 파일 포함, -l: 상세 정보(long format)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drwxr-xr-x  2 ec2-user ec2-user  4096  Sep 10 10:00 .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-rw-r--r--  1 ec2-user ec2-user   220  Sep 10 10:00 sample.txt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E4F5E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4160520"/>
            <a:ext cx="54864" cy="1234440"/>
          </a:xfrm>
          <a:prstGeom prst="roundRect">
            <a:avLst/>
          </a:prstGeom>
          <a:solidFill>
            <a:srgbClr val="1FAF7D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160520"/>
            <a:ext cx="108630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맨 앞 10글자가 파일 종류(d=디렉터리, -=파일)와 권한(rwx)을 나타냅니다 — 다음 슬라이드에서 자세히 설명합니다.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상세: User · Group · Other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파일·디렉터리는 소유자(User) · 그룹(Group) · 그 외(Other) 각각에 대해 rwx 권한을 가집니다.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1168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37360" y="324612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37360" y="37947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34640" y="324612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834640" y="37947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51376" y="201168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51376" y="201168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334256" y="324612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34256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334256" y="37947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31536" y="324612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31536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31536" y="37947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28816" y="324612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28816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528816" y="37947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845552" y="201168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45552" y="201168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028432" y="324612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28432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028432" y="37947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125712" y="324612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25712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125712" y="37947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222992" y="324612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22992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0222992" y="37947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457200" y="44348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권한</a:t>
            </a:r>
            <a:endParaRPr lang="en-US" sz="1400" dirty="0"/>
          </a:p>
        </p:txBody>
      </p:sp>
      <p:sp>
        <p:nvSpPr>
          <p:cNvPr id="46" name="Text 40"/>
          <p:cNvSpPr/>
          <p:nvPr/>
        </p:nvSpPr>
        <p:spPr>
          <a:xfrm>
            <a:off x="457200" y="4745736"/>
            <a:ext cx="5440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  <a:buSzPct val="100000"/>
            </a:pPr>
            <a:r>
              <a:rPr lang="en-US" sz="1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(r)  </a:t>
            </a: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내용을 화면에서 확인 (cat, less 등)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(w)  </a:t>
            </a: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내용을 수정 · 삭제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(x)  </a:t>
            </a: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파일을 프로그램 · 스크립트로 실행</a:t>
            </a:r>
            <a:endParaRPr lang="en-US" sz="1200" dirty="0"/>
          </a:p>
        </p:txBody>
      </p:sp>
      <p:sp>
        <p:nvSpPr>
          <p:cNvPr id="47" name="Text 41"/>
          <p:cNvSpPr/>
          <p:nvPr/>
        </p:nvSpPr>
        <p:spPr>
          <a:xfrm>
            <a:off x="6245352" y="44348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디렉터리 권한</a:t>
            </a:r>
            <a:endParaRPr lang="en-US" sz="1400" dirty="0"/>
          </a:p>
        </p:txBody>
      </p:sp>
      <p:sp>
        <p:nvSpPr>
          <p:cNvPr id="48" name="Text 42"/>
          <p:cNvSpPr/>
          <p:nvPr/>
        </p:nvSpPr>
        <p:spPr>
          <a:xfrm>
            <a:off x="6245352" y="4745736"/>
            <a:ext cx="5440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  <a:buSzPct val="100000"/>
            </a:pPr>
            <a:r>
              <a:rPr lang="en-US" sz="1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(r)  </a:t>
            </a: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ls로 디렉터리 안의 파일 목록을 확인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(w)  </a:t>
            </a: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디렉터리 안에 파일 · 폴더를 생성 · 삭제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(x)  </a:t>
            </a: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뿐만 아니라, 그 디렉터리를 통과할 수 있는 권한</a:t>
            </a:r>
            <a:endParaRPr lang="en-US" sz="1200" dirty="0"/>
          </a:p>
        </p:txBody>
      </p:sp>
      <p:sp>
        <p:nvSpPr>
          <p:cNvPr id="49" name="Shape 43"/>
          <p:cNvSpPr/>
          <p:nvPr/>
        </p:nvSpPr>
        <p:spPr>
          <a:xfrm>
            <a:off x="457200" y="5943600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FBEEDD"/>
          </a:solidFill>
          <a:ln/>
        </p:spPr>
      </p:sp>
      <p:sp>
        <p:nvSpPr>
          <p:cNvPr id="50" name="Shape 44"/>
          <p:cNvSpPr/>
          <p:nvPr/>
        </p:nvSpPr>
        <p:spPr>
          <a:xfrm>
            <a:off x="457200" y="5943600"/>
            <a:ext cx="54864" cy="457200"/>
          </a:xfrm>
          <a:prstGeom prst="roundRect">
            <a:avLst/>
          </a:prstGeom>
          <a:solidFill>
            <a:srgbClr val="D98E2C"/>
          </a:solidFill>
          <a:ln/>
        </p:spPr>
      </p:sp>
      <p:sp>
        <p:nvSpPr>
          <p:cNvPr id="51" name="Text 45"/>
          <p:cNvSpPr/>
          <p:nvPr/>
        </p:nvSpPr>
        <p:spPr>
          <a:xfrm>
            <a:off x="685800" y="5943600"/>
            <a:ext cx="1086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98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디렉터리는 read(목록 보기)와 execute(통과 · 접근)가 서로 다른 권한입니다 — x 없이 r만 있으면 목록은 보여도 안에 들어가거나 파일을 열 수 없습니다.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— 권한 변경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파일·디렉터리의 접근 권한을 변경합니다.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852160" cy="2331720"/>
          </a:xfrm>
          <a:prstGeom prst="roundRect">
            <a:avLst>
              <a:gd name="adj" fmla="val 3137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1031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예시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2395728"/>
            <a:ext cx="534009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a+x filename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소유자·그룹·기타 모두에게 실행 권한 부여 (a=all)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u-rx filename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소유자(u)의 읽기·실행 권한 제거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526280"/>
            <a:ext cx="5852160" cy="1600200"/>
          </a:xfrm>
          <a:prstGeom prst="roundRect">
            <a:avLst>
              <a:gd name="adj" fmla="val 4571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" y="46725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" y="46725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7" name="Shape 15"/>
          <p:cNvSpPr/>
          <p:nvPr/>
        </p:nvSpPr>
        <p:spPr>
          <a:xfrm>
            <a:off x="987552" y="46725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46177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숫자 모드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3232" y="4910328"/>
            <a:ext cx="5340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664 filename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숫자 모드: 소유자·그룹은 읽기+쓰기(6), 기타는 읽기만(4)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2011680"/>
            <a:ext cx="5102352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03720" y="2194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rw-</a:t>
            </a:r>
            <a:r>
              <a:rPr lang="en-US" sz="1600" b="1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rw-</a:t>
            </a:r>
            <a:r>
              <a:rPr lang="en-US" sz="1600" b="1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r--</a:t>
            </a:r>
            <a:r>
              <a:rPr lang="en-US" sz="1600" b="1" dirty="0">
                <a:solidFill>
                  <a:srgbClr val="1B2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6 6 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03720" y="278892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92440" y="2788920"/>
            <a:ext cx="1371600" cy="777240"/>
          </a:xfrm>
          <a:prstGeom prst="roundRect">
            <a:avLst>
              <a:gd name="adj" fmla="val 10588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0" y="27889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rw-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0" y="278892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1 1 0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744200" y="2788920"/>
            <a:ext cx="777240" cy="777240"/>
          </a:xfrm>
          <a:prstGeom prst="roundRect">
            <a:avLst>
              <a:gd name="adj" fmla="val 10588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44200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03720" y="37947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92440" y="3794760"/>
            <a:ext cx="1371600" cy="777240"/>
          </a:xfrm>
          <a:prstGeom prst="roundRect">
            <a:avLst>
              <a:gd name="adj" fmla="val 10588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2440" y="37947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rw-</a:t>
            </a:r>
            <a:endParaRPr lang="en-US" sz="1800" dirty="0">
              <a:solidFill>
                <a:srgbClr val="FFC000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9601200" y="37947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1 1 0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744200" y="3794760"/>
            <a:ext cx="777240" cy="777240"/>
          </a:xfrm>
          <a:prstGeom prst="roundRect">
            <a:avLst>
              <a:gd name="adj" fmla="val 10588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44200" y="3794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903720" y="48006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092440" y="4800600"/>
            <a:ext cx="1371600" cy="777240"/>
          </a:xfrm>
          <a:prstGeom prst="roundRect">
            <a:avLst>
              <a:gd name="adj" fmla="val 10588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92440" y="48006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r--</a:t>
            </a:r>
            <a:endParaRPr lang="en-US" sz="1800" dirty="0">
              <a:solidFill>
                <a:srgbClr val="00B050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9601200" y="480060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1 0 0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0744200" y="4800600"/>
            <a:ext cx="777240" cy="777240"/>
          </a:xfrm>
          <a:prstGeom prst="roundRect">
            <a:avLst>
              <a:gd name="adj" fmla="val 10588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44200" y="4800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chown · chgrp — 소유자 변경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chmod가 "권한"을 바꾼다면, chown/chgrp는 파일의 "소유자·그룹" 자체를 바꿉니다.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74552" cy="2606040"/>
          </a:xfrm>
          <a:prstGeom prst="roundRect">
            <a:avLst>
              <a:gd name="adj" fmla="val 2807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chown · chgrp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2395728"/>
            <a:ext cx="107624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chown ec2-user sample.txt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소유자를 ec2-user로 변경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chown ec2-user:webteam sample.txt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소유자와 그룹을 동시에 변경 (사용자:그룹)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chgrp webteam sample.txt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그룹만 webteam으로 변경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BEEDD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892040"/>
            <a:ext cx="54864" cy="960120"/>
          </a:xfrm>
          <a:prstGeom prst="roundRect">
            <a:avLst/>
          </a:prstGeom>
          <a:solidFill>
            <a:srgbClr val="D98E2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892040"/>
            <a:ext cx="10863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98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소유자·그룹 변경은 관리자 권한(sudo)이 필요한 경우가 대부분입니다.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— 파일 검색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디렉터리 안에서 조건에 맞는 파일을 검색합니다.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74552" cy="2679192"/>
          </a:xfrm>
          <a:prstGeom prst="roundRect">
            <a:avLst>
              <a:gd name="adj" fmla="val 3077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예시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2395728"/>
            <a:ext cx="107624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find . -name "*.java"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현재 디렉터리 이하에서 이름이 .java로 끝나는 파일 검색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find /var/log -type f -mtime -1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/var/log에서 최근 1일 이내 수정된 일반 파일 검색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find . -size +100M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현재 위치 이하에서 100MB보다 큰 파일 검색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5414080"/>
            <a:ext cx="3607857" cy="384048"/>
          </a:xfrm>
          <a:prstGeom prst="rect">
            <a:avLst/>
          </a:prstGeom>
          <a:solidFill>
            <a:srgbClr val="E4F5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5"/>
          <p:cNvSpPr/>
          <p:nvPr/>
        </p:nvSpPr>
        <p:spPr>
          <a:xfrm>
            <a:off x="457200" y="5414080"/>
            <a:ext cx="36078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-mtime -1  (0~24시간)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065057" y="5414080"/>
            <a:ext cx="3833348" cy="384048"/>
          </a:xfrm>
          <a:prstGeom prst="rect">
            <a:avLst/>
          </a:prstGeom>
          <a:solidFill>
            <a:srgbClr val="262E3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65057" y="5414080"/>
            <a:ext cx="3833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-mtime 1  (24~48시간)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898404" y="5414080"/>
            <a:ext cx="3833348" cy="384048"/>
          </a:xfrm>
          <a:prstGeom prst="rect">
            <a:avLst/>
          </a:prstGeom>
          <a:solidFill>
            <a:srgbClr val="FBEE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98404" y="5414080"/>
            <a:ext cx="3833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8E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-mtime +1  (48시간~)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270320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— 패턴 검색 기본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74552" cy="777240"/>
          </a:xfrm>
          <a:prstGeom prst="roundRect">
            <a:avLst>
              <a:gd name="adj" fmla="val 10588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11680"/>
            <a:ext cx="1083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[옵션] 패턴 [파일...]  </a:t>
            </a:r>
            <a:r>
              <a:rPr lang="en-US" sz="13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ko-KR" altLang="en-US" sz="1350" dirty="0" smtClean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파일에서 </a:t>
            </a:r>
            <a:r>
              <a:rPr lang="en-US" sz="1350" dirty="0" err="1" smtClean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</a:t>
            </a:r>
            <a:r>
              <a:rPr lang="en-US" sz="1350" dirty="0" smtClean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패턴이 포함된 줄을 찾아 출력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11274552" cy="3063240"/>
          </a:xfrm>
          <a:prstGeom prst="roundRect">
            <a:avLst>
              <a:gd name="adj" fmla="val 2388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" y="316382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1" name="Shape 9"/>
          <p:cNvSpPr/>
          <p:nvPr/>
        </p:nvSpPr>
        <p:spPr>
          <a:xfrm>
            <a:off x="804672" y="316382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2" name="Shape 10"/>
          <p:cNvSpPr/>
          <p:nvPr/>
        </p:nvSpPr>
        <p:spPr>
          <a:xfrm>
            <a:off x="987552" y="316382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10896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access.log에서 IP 검색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" y="3401568"/>
            <a:ext cx="107624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"192.168.1.1" access.log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192.168.1.1 - - [26/Aug/2024:12:30:45 +0000] "GET /page1 HTTP/1.1" 200 1234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192.168.1.1 - - [26/Aug/2024:14:20:10 +0000] "POST /submit HTTP/1.1" 302 8765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192.168.1.1이 포함된 로그 줄만 출력됨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옵션 활용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74552" cy="4160520"/>
          </a:xfrm>
          <a:prstGeom prst="roundRect">
            <a:avLst>
              <a:gd name="adj" fmla="val 1758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0" name="Shape 8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자주 쓰는 grep 옵션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395728"/>
            <a:ext cx="1076248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-r "hello" .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-r: 현재 디렉터리와 모든 하위 디렉터리를 재귀적으로 검색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-rn "hello" .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-n: 매칭된 줄의 라인 번호까지 함께 표시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-ir "hello" .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-i: 대소문자 구분 없이 검색 (Hello, HELLO도 매칭)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-r "t[wo]o" .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정규식 사용: t 다음 w 또는 o, 그 다음 o → "two", "too" 매칭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+ xargs + grep 파이프라인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0" name="Shape 8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조합 예시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39572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find . -name "*.java" | xargs grep -i "hello"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2377440" cy="822960"/>
          </a:xfrm>
          <a:prstGeom prst="roundRect">
            <a:avLst>
              <a:gd name="adj" fmla="val 10000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834640" y="3840480"/>
            <a:ext cx="1705356" cy="0"/>
          </a:xfrm>
          <a:prstGeom prst="line">
            <a:avLst/>
          </a:prstGeom>
          <a:noFill/>
          <a:ln w="31750">
            <a:solidFill>
              <a:srgbClr val="1FAF7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39996" y="3429000"/>
            <a:ext cx="2377440" cy="822960"/>
          </a:xfrm>
          <a:prstGeom prst="roundRect">
            <a:avLst>
              <a:gd name="adj" fmla="val 10000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9996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xargs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917436" y="3840480"/>
            <a:ext cx="1705356" cy="0"/>
          </a:xfrm>
          <a:prstGeom prst="line">
            <a:avLst/>
          </a:prstGeom>
          <a:noFill/>
          <a:ln w="31750">
            <a:solidFill>
              <a:srgbClr val="1FAF7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622792" y="3429000"/>
            <a:ext cx="2377440" cy="822960"/>
          </a:xfrm>
          <a:prstGeom prst="roundRect">
            <a:avLst>
              <a:gd name="adj" fmla="val 10000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22792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82880" y="43434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.java 파일 목록을 찾음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65676" y="43434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파일명들을 </a:t>
            </a:r>
            <a:r>
              <a:rPr lang="en-US" sz="110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받아</a:t>
            </a:r>
            <a:r>
              <a:rPr lang="en-US" sz="11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 smtClean="0">
              <a:solidFill>
                <a:srgbClr val="6B758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 err="1" smtClean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</a:t>
            </a:r>
            <a:r>
              <a:rPr lang="en-US" sz="1100" dirty="0" smtClean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 hello &lt;file1&gt; &lt;file2&gt; ... 형태로 실행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48472" y="43434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.java </a:t>
            </a:r>
            <a:r>
              <a:rPr lang="en-US" sz="110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파일에서</a:t>
            </a:r>
            <a:r>
              <a:rPr lang="en-US" sz="11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 smtClean="0">
              <a:solidFill>
                <a:srgbClr val="6B758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 smtClean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11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hello"(대소문자 무시)를 검색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8788" y="539496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E4F5E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5394960"/>
            <a:ext cx="54864" cy="777240"/>
          </a:xfrm>
          <a:prstGeom prst="roundRect">
            <a:avLst/>
          </a:prstGeom>
          <a:solidFill>
            <a:srgbClr val="1FAF7D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394960"/>
            <a:ext cx="10863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-ir "hello" .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 비슷하지만, find로 검색 대상을 더 정교하게 지정할 수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처리 도구 더 보기: sed · awk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grep이 "찾기"에 특화되어 있다면, sed와 awk는 텍스트를 찾아서 바꾸거나 가공하는 데 사용합니다.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852160" cy="2697480"/>
          </a:xfrm>
          <a:prstGeom prst="roundRect">
            <a:avLst>
              <a:gd name="adj" fmla="val 2712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1031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 — Stream EDitor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2395728"/>
            <a:ext cx="534009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file.txt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 bar foo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's/foo/bar/g' file.txt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 bar bar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화면에 출력만 함 (file.txt 내용은 그대로)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-i 's/foo/bar/g' file.txt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-i: file.txt 자체를 bar bar bar로 덮어씀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846320"/>
            <a:ext cx="5852160" cy="1234440"/>
          </a:xfrm>
          <a:prstGeom prst="roundRect">
            <a:avLst>
              <a:gd name="adj" fmla="val 5926"/>
            </a:avLst>
          </a:prstGeom>
          <a:solidFill>
            <a:srgbClr val="E4F5E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846320"/>
            <a:ext cx="54864" cy="1234440"/>
          </a:xfrm>
          <a:prstGeom prst="roundRect">
            <a:avLst/>
          </a:prstGeom>
          <a:solidFill>
            <a:srgbClr val="1FAF7D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846320"/>
            <a:ext cx="5440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 smtClean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</a:t>
            </a:r>
            <a:r>
              <a:rPr lang="en-US" sz="125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기본적으로 원본을 열어 고치지 않고, 한 줄씩 읽으며 바뀐 결과를 화면에 출력합니다. -i 옵션을 주면 그 결과로 원본 파일 자체를 덮어쓰므로, 실수에 대비해 sed -i.bak 처럼 백업 확장자를 함께 쓰는 </a:t>
            </a:r>
            <a:r>
              <a:rPr lang="en-US" sz="125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것이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 smtClean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안전합니다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50" dirty="0" err="1" smtClean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file.txt.bak</a:t>
            </a:r>
            <a:r>
              <a:rPr lang="ko-KR" altLang="en-US" sz="1250" dirty="0" smtClean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원본</a:t>
            </a:r>
            <a:r>
              <a:rPr lang="en-US" altLang="ko-KR" sz="1250" dirty="0" smtClean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2011680"/>
            <a:ext cx="5102352" cy="1965960"/>
          </a:xfrm>
          <a:prstGeom prst="roundRect">
            <a:avLst>
              <a:gd name="adj" fmla="val 3721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939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9" name="Shape 17"/>
          <p:cNvSpPr/>
          <p:nvPr/>
        </p:nvSpPr>
        <p:spPr>
          <a:xfrm>
            <a:off x="69768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0" name="Shape 18"/>
          <p:cNvSpPr/>
          <p:nvPr/>
        </p:nvSpPr>
        <p:spPr>
          <a:xfrm>
            <a:off x="71597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21" name="Text 19"/>
          <p:cNvSpPr/>
          <p:nvPr/>
        </p:nvSpPr>
        <p:spPr>
          <a:xfrm>
            <a:off x="7452360" y="2103120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awk — 필드 기반 처리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85432" y="2395728"/>
            <a:ext cx="45902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access.log</a:t>
            </a:r>
            <a:endParaRPr lang="en-US" sz="1050" dirty="0"/>
          </a:p>
          <a:p>
            <a:pPr>
              <a:lnSpc>
                <a:spcPct val="128000"/>
              </a:lnSpc>
            </a:pPr>
            <a:r>
              <a:rPr lang="en-US" altLang="ko-KR" sz="10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192.168.1.1 - - [26/Aug/2024:12:30:45 +0000] "GET /page1 HTTP/1.1" 200 1234</a:t>
            </a:r>
            <a:endParaRPr lang="en-US" altLang="ko-KR" sz="1050" dirty="0"/>
          </a:p>
          <a:p>
            <a:pPr marL="0" indent="0" algn="l">
              <a:lnSpc>
                <a:spcPct val="128000"/>
              </a:lnSpc>
              <a:buNone/>
            </a:pPr>
            <a:endParaRPr lang="en-US" sz="1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awk '{print $1}' access.log</a:t>
            </a:r>
            <a:endParaRPr lang="en-US" sz="1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</a:t>
            </a:r>
            <a:endParaRPr lang="en-US" sz="1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공백 기준으로 나눈 첫 번째 필드(IP) 출력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29400" y="4114800"/>
            <a:ext cx="510235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0" y="4251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필드(field) 분해 — 위 access.log 기준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58000" y="4617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26680" y="46177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 (IP)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6858000" y="494690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$6~8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26680" y="49469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"GET /page1 HTTP/1.1" (요청)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6858000" y="52760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26680" y="527608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(상태 코드)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6858000" y="560527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$NF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26680" y="56052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 필드 (여기서는 1234, 응답 크기)</a:t>
            </a:r>
            <a:endParaRPr lang="en-US" sz="1080" dirty="0"/>
          </a:p>
        </p:txBody>
      </p:sp>
    </p:spTree>
    <p:extLst>
      <p:ext uri="{BB962C8B-B14F-4D97-AF65-F5344CB8AC3E}">
        <p14:creationId xmlns:p14="http://schemas.microsoft.com/office/powerpoint/2010/main" val="23608749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압축과 해제: tar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509760" y="2468880"/>
            <a:ext cx="1463040" cy="914400"/>
          </a:xfrm>
          <a:prstGeom prst="roundRect">
            <a:avLst>
              <a:gd name="adj" fmla="val 6000"/>
            </a:avLst>
          </a:prstGeom>
          <a:solidFill>
            <a:srgbClr val="D98E2C"/>
          </a:solidFill>
          <a:ln/>
        </p:spPr>
      </p:sp>
      <p:sp>
        <p:nvSpPr>
          <p:cNvPr id="8" name="Shape 6"/>
          <p:cNvSpPr/>
          <p:nvPr/>
        </p:nvSpPr>
        <p:spPr>
          <a:xfrm>
            <a:off x="9436608" y="2148840"/>
            <a:ext cx="1609344" cy="384048"/>
          </a:xfrm>
          <a:prstGeom prst="roundRect">
            <a:avLst>
              <a:gd name="adj" fmla="val 14286"/>
            </a:avLst>
          </a:prstGeom>
          <a:solidFill>
            <a:srgbClr val="E7A94D"/>
          </a:solidFill>
          <a:ln/>
        </p:spPr>
      </p:sp>
      <p:sp>
        <p:nvSpPr>
          <p:cNvPr id="9" name="Shape 7"/>
          <p:cNvSpPr/>
          <p:nvPr/>
        </p:nvSpPr>
        <p:spPr>
          <a:xfrm>
            <a:off x="9948672" y="2313432"/>
            <a:ext cx="585216" cy="128016"/>
          </a:xfrm>
          <a:prstGeom prst="rect">
            <a:avLst/>
          </a:prstGeom>
          <a:solidFill>
            <a:srgbClr val="C87F1F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.tar.gz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5852160" cy="1828800"/>
          </a:xfrm>
          <a:prstGeom prst="roundRect">
            <a:avLst>
              <a:gd name="adj" fmla="val 4000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" y="229514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229514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4" name="Shape 12"/>
          <p:cNvSpPr/>
          <p:nvPr/>
        </p:nvSpPr>
        <p:spPr>
          <a:xfrm>
            <a:off x="987552" y="229514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22402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압축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3232" y="2532888"/>
            <a:ext cx="5340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tar -czvf archive.tar.gz </a:t>
            </a:r>
            <a:r>
              <a:rPr lang="en-US" sz="1350" dirty="0" smtClean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/path/directory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아카이브 생성      </a:t>
            </a: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-z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gzip으로 압축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-v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상황 표시   </a:t>
            </a: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파일명 지정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5074920"/>
            <a:ext cx="8138160" cy="1417320"/>
          </a:xfrm>
          <a:prstGeom prst="roundRect">
            <a:avLst>
              <a:gd name="adj" fmla="val 5161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" y="522122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" y="522122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1" name="Shape 19"/>
          <p:cNvSpPr/>
          <p:nvPr/>
        </p:nvSpPr>
        <p:spPr>
          <a:xfrm>
            <a:off x="987552" y="522122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516636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압축 해제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3232" y="5458968"/>
            <a:ext cx="7626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tar -xzvf archive.tar.gz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-x: 압축 해제(extract)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0626479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셸 스크립트 작성하기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셸이 직접 실행하도록 만든 프로그램(스크립트)입니다.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74552" cy="1691640"/>
          </a:xfrm>
          <a:prstGeom prst="roundRect">
            <a:avLst>
              <a:gd name="adj" fmla="val 4324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sample.sh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2395728"/>
            <a:ext cx="10762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target_dir="/path/to/directory"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output_file="archive.tar.gz"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"$target_dir" -type f -name "*.txt" | xargs tar -czvf "$output_file"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E4F5E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840480"/>
            <a:ext cx="54864" cy="777240"/>
          </a:xfrm>
          <a:prstGeom prst="roundRect">
            <a:avLst/>
          </a:prstGeom>
          <a:solidFill>
            <a:srgbClr val="1FAF7D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840480"/>
            <a:ext cx="10863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하는 일 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target_dir 안(하위 디렉터리 포함)에 있는 모든 .txt 파일만 골라 archive.tar.gz라는 압축 파일 하나로 묶습니다 — .jpg, .log 같은 다른 확장자 파일은 무시됩니다.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80060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" y="494690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4672" y="494690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0" name="Shape 18"/>
          <p:cNvSpPr/>
          <p:nvPr/>
        </p:nvSpPr>
        <p:spPr>
          <a:xfrm>
            <a:off x="987552" y="494690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21" name="Text 19"/>
          <p:cNvSpPr/>
          <p:nvPr/>
        </p:nvSpPr>
        <p:spPr>
          <a:xfrm>
            <a:off x="1280160" y="489204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실행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3232" y="5184648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a+x sample.sh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실행 권한 부여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./sample.sh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648992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다운로드 &amp; 웹 통신: wget · curl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wget은 다운로드 전용 도구이고, curl은 다양한 프로토콜과 통신하는 범용 클라이언트입니다 — 다운로드는 curl 기능의 일부일 뿐입니다.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54406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2176272"/>
            <a:ext cx="585216" cy="585216"/>
          </a:xfrm>
          <a:prstGeom prst="ellipse">
            <a:avLst/>
          </a:prstGeom>
          <a:solidFill>
            <a:srgbClr val="1FAF7D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1122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wget — 다운로드 전용 도구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4597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HTTP·HTTPS·FTP에서 파일을 받아 저장하는 데 특화 — 기본 동작 자체가 곧 다운로드입니다.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245352" y="1965960"/>
            <a:ext cx="54406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01384" y="2176272"/>
            <a:ext cx="585216" cy="585216"/>
          </a:xfrm>
          <a:prstGeom prst="ellipse">
            <a:avLst/>
          </a:prstGeom>
          <a:solidFill>
            <a:srgbClr val="1FAF7D"/>
          </a:solidFill>
          <a:ln/>
        </p:spPr>
      </p:sp>
      <p:sp>
        <p:nvSpPr>
          <p:cNvPr id="15" name="Text 13"/>
          <p:cNvSpPr/>
          <p:nvPr/>
        </p:nvSpPr>
        <p:spPr>
          <a:xfrm>
            <a:off x="6501384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51192" y="21122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— 범용 통신 클라이언트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251192" y="24597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URL의 약자 — HTTP·FTP·SMTP 등 다양한 프로토콜로 데이터를 주고받음. 다운로드는 -O로 켜는 기능 중 하나일 뿐입니다.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5852160" cy="1691640"/>
          </a:xfrm>
          <a:prstGeom prst="roundRect">
            <a:avLst>
              <a:gd name="adj" fmla="val 4324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" y="334670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" y="334670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1" name="Shape 19"/>
          <p:cNvSpPr/>
          <p:nvPr/>
        </p:nvSpPr>
        <p:spPr>
          <a:xfrm>
            <a:off x="987552" y="334670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32918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wget — 저장이 기본값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3232" y="3584448"/>
            <a:ext cx="5340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wget https://example.com/file.png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웹에서 파일을 그대로 다운로드해 저장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옵션 없이 실행해도 동작은 "다운로드" 하나뿐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29400" y="3200400"/>
            <a:ext cx="5102352" cy="2606040"/>
          </a:xfrm>
          <a:prstGeom prst="roundRect">
            <a:avLst>
              <a:gd name="adj" fmla="val 2807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93992" y="334670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26" name="Shape 24"/>
          <p:cNvSpPr/>
          <p:nvPr/>
        </p:nvSpPr>
        <p:spPr>
          <a:xfrm>
            <a:off x="6976872" y="334670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7" name="Shape 25"/>
          <p:cNvSpPr/>
          <p:nvPr/>
        </p:nvSpPr>
        <p:spPr>
          <a:xfrm>
            <a:off x="7159752" y="334670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28" name="Text 26"/>
          <p:cNvSpPr/>
          <p:nvPr/>
        </p:nvSpPr>
        <p:spPr>
          <a:xfrm>
            <a:off x="7452360" y="3291840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— 저장은 옵션(-O)일 뿐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85432" y="3584448"/>
            <a:ext cx="45902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8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-O https://.../file.png</a:t>
            </a: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8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-O: 파일로 저장 (다운로드 모드로 전환)</a:t>
            </a: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8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-I https://example.com</a:t>
            </a: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8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응답 헤더만 확인 — 파일을 받지 않고 "접속"만 함</a:t>
            </a: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8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-X POST -d '{"name":"kim"}' \</a:t>
            </a: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8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https://api.example.com/users</a:t>
            </a: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8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서버로 데이터 전송 — 다운로드와 반대 방향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457200" y="5943600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FBEEDD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5943600"/>
            <a:ext cx="54864" cy="457200"/>
          </a:xfrm>
          <a:prstGeom prst="roundRect">
            <a:avLst/>
          </a:prstGeom>
          <a:solidFill>
            <a:srgbClr val="D98E2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5943600"/>
            <a:ext cx="1086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98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Linux 2023 등 최신 배포판에는 curl이 기본 설치되어 있으나, wget은 별도로 dnf install wget이 필요할 수 있습니다.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634715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환경 설정: .bash_profile · .bashrc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4406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075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.bash_profile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39572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로그인할 때 한 번 실행되며, 로그인 세션의 초기 설정을 구성합니다.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45352" y="1965960"/>
            <a:ext cx="54406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73952" y="2075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.bashrc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73952" y="239572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셸(터미널)을 열 때마다 실행되며, alias·PATH 등 개인화 설정에 사용됩니다.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2743200" cy="594360"/>
          </a:xfrm>
          <a:prstGeom prst="roundRect">
            <a:avLst>
              <a:gd name="adj" fmla="val 13846"/>
            </a:avLst>
          </a:prstGeom>
          <a:solidFill>
            <a:srgbClr val="262E39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46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로그인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(세션 시작)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2743200" cy="594360"/>
          </a:xfrm>
          <a:prstGeom prst="roundRect">
            <a:avLst>
              <a:gd name="adj" fmla="val 13846"/>
            </a:avLst>
          </a:prstGeom>
          <a:solidFill>
            <a:srgbClr val="262E39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343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터미널 창 / 서브셸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(열 때마다 반복)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11880" y="3246120"/>
            <a:ext cx="3063240" cy="594360"/>
          </a:xfrm>
          <a:prstGeom prst="roundRect">
            <a:avLst>
              <a:gd name="adj" fmla="val 13846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32461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.bash_profile 실행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(세션당 1회)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3794760"/>
            <a:ext cx="3502152" cy="685800"/>
          </a:xfrm>
          <a:prstGeom prst="roundRect">
            <a:avLst>
              <a:gd name="adj" fmla="val 12000"/>
            </a:avLst>
          </a:prstGeom>
          <a:solidFill>
            <a:srgbClr val="1FAF7D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3794760"/>
            <a:ext cx="3502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.bashrc 실행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0" y="3543300"/>
            <a:ext cx="411480" cy="0"/>
          </a:xfrm>
          <a:prstGeom prst="line">
            <a:avLst/>
          </a:prstGeom>
          <a:noFill/>
          <a:ln w="22225">
            <a:solidFill>
              <a:srgbClr val="6B758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75120" y="3543300"/>
            <a:ext cx="640080" cy="457200"/>
          </a:xfrm>
          <a:prstGeom prst="line">
            <a:avLst/>
          </a:prstGeom>
          <a:noFill/>
          <a:ln w="25400">
            <a:solidFill>
              <a:srgbClr val="168F65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720840" y="32506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내부에서 source ~/.bashrc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4640580"/>
            <a:ext cx="4114800" cy="0"/>
          </a:xfrm>
          <a:prstGeom prst="line">
            <a:avLst/>
          </a:prstGeom>
          <a:noFill/>
          <a:ln w="22225">
            <a:solidFill>
              <a:srgbClr val="6B758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57200" y="521208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E4F5EF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5212080"/>
            <a:ext cx="54864" cy="914400"/>
          </a:xfrm>
          <a:prstGeom prst="roundRect">
            <a:avLst/>
          </a:prstGeom>
          <a:solidFill>
            <a:srgbClr val="1FAF7D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5212080"/>
            <a:ext cx="10863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로그인할 때는 .bash_profile → .bashrc 순서로 둘 다 실행되지만, 이후 새 터미널·서브셸에서는 .bashrc만 실행됩니다. (.bash_profile 안의 if [ -f ~/.bashrc ]; then . ~/.bashrc; fi 코드가 이 연결을 담당)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256285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· PATH · 환경변수 커스터마이징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6035040" cy="4160520"/>
          </a:xfrm>
          <a:prstGeom prst="roundRect">
            <a:avLst>
              <a:gd name="adj" fmla="val 1758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0" name="Shape 8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1031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.bashrc 커스터마이징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395728"/>
            <a:ext cx="552297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your own aliases here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 ll='ls -alF'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 myalias='echo This is my alias!'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Additional paths to be added to PATH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! [[ "$PATH" =~ "/opt/myapp/bin:" ]]; then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PATH="/opt/myapp/bin:$PATH"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PATH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2011680"/>
            <a:ext cx="5010912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환경변수란?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0" y="2697480"/>
            <a:ext cx="4526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PATH처럼 셸과 프로그램이 참조하는 이름-값 쌍의 설정 정보입니다.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export로 지정하면 이후 실행되는 자식 프로세스에도 값이 전달됩니다.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명령으로 전체 목록을 확인할 수 있습니다.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8977452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정리하기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1637429"/>
            <a:ext cx="292608" cy="292608"/>
          </a:xfrm>
          <a:prstGeom prst="ellipse">
            <a:avLst/>
          </a:prstGeom>
          <a:solidFill>
            <a:srgbClr val="1FAF7D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" y="163742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1508760"/>
            <a:ext cx="10774375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명령어는 이름 + 옵션 + 인자 구조이며, man으로 사용법을 확인하고 관리자 작업은 sudo로 실행합니다.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75488" y="2297103"/>
            <a:ext cx="292608" cy="292608"/>
          </a:xfrm>
          <a:prstGeom prst="ellipse">
            <a:avLst/>
          </a:prstGeom>
          <a:solidFill>
            <a:srgbClr val="1FAF7D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229710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168434"/>
            <a:ext cx="10774375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 입출력(stdin/stdout/stderr)을 &gt;, &lt;, | 로 자유롭게 연결·저장할 수 있습니다.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75488" y="2956778"/>
            <a:ext cx="292608" cy="292608"/>
          </a:xfrm>
          <a:prstGeom prst="ellipse">
            <a:avLst/>
          </a:prstGeom>
          <a:solidFill>
            <a:srgbClr val="1FAF7D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295677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828109"/>
            <a:ext cx="10774375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cp/mv/rm/mkdir 등으로 파일을 다루고, ln -s(심볼릭)와 ln(하드) 링크의 차이를 구분합니다.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75488" y="3616452"/>
            <a:ext cx="292608" cy="292608"/>
          </a:xfrm>
          <a:prstGeom prst="ellipse">
            <a:avLst/>
          </a:prstGeom>
          <a:solidFill>
            <a:srgbClr val="1FAF7D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36164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3487783"/>
            <a:ext cx="10774375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chmod로 권한을, chown/chgrp로 소유자·그룹을 관리합니다.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75488" y="4276126"/>
            <a:ext cx="292608" cy="292608"/>
          </a:xfrm>
          <a:prstGeom prst="ellipse">
            <a:avLst/>
          </a:prstGeom>
          <a:solidFill>
            <a:srgbClr val="1FAF7D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427612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4147457"/>
            <a:ext cx="10774375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find·grep·sed·awk·xargs를 조합하면 대량의 텍스트/파일을 강력하게 처리할 수 있습니다.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75488" y="4935801"/>
            <a:ext cx="292608" cy="292608"/>
          </a:xfrm>
          <a:prstGeom prst="ellipse">
            <a:avLst/>
          </a:prstGeom>
          <a:solidFill>
            <a:srgbClr val="1FAF7D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493580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4807131"/>
            <a:ext cx="10774375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tar로 압축하고, 셸 스크립트로 반복 작업을 자동화하며, curl/wget으로 파일을 내려받습니다.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75488" y="5595475"/>
            <a:ext cx="292608" cy="292608"/>
          </a:xfrm>
          <a:prstGeom prst="ellipse">
            <a:avLst/>
          </a:prstGeom>
          <a:solidFill>
            <a:srgbClr val="1FAF7D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559547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5466806"/>
            <a:ext cx="10774375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.bash_profile · .bashrc · 환경변수로 나만의 작업 환경을 구성합니다.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2581</Words>
  <Application>Microsoft Office PowerPoint</Application>
  <PresentationFormat>와이드스크린</PresentationFormat>
  <Paragraphs>498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맑은 고딕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Hansung</cp:lastModifiedBy>
  <cp:revision>15</cp:revision>
  <dcterms:created xsi:type="dcterms:W3CDTF">2026-09-12T06:18:56Z</dcterms:created>
  <dcterms:modified xsi:type="dcterms:W3CDTF">2026-09-13T05:45:42Z</dcterms:modified>
</cp:coreProperties>
</file>