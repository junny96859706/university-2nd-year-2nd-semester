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9" r:id="rId3"/>
    <p:sldId id="276" r:id="rId4"/>
    <p:sldId id="277" r:id="rId5"/>
    <p:sldId id="278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8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10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629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528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37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29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79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85800"/>
            <a:ext cx="109728" cy="109728"/>
          </a:xfrm>
          <a:prstGeom prst="ellipse">
            <a:avLst/>
          </a:prstGeom>
          <a:solidFill>
            <a:srgbClr val="FF9900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744200" y="1234440"/>
            <a:ext cx="146304" cy="146304"/>
          </a:xfrm>
          <a:prstGeom prst="ellipse">
            <a:avLst/>
          </a:prstGeom>
          <a:solidFill>
            <a:srgbClr val="0972D3">
              <a:alpha val="5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104120" y="1874520"/>
            <a:ext cx="82296" cy="82296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09960" y="1965960"/>
            <a:ext cx="182880" cy="182880"/>
          </a:xfrm>
          <a:prstGeom prst="ellipse">
            <a:avLst/>
          </a:prstGeom>
          <a:solidFill>
            <a:srgbClr val="0972D3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646920" y="2514600"/>
            <a:ext cx="100584" cy="100584"/>
          </a:xfrm>
          <a:prstGeom prst="ellipse">
            <a:avLst/>
          </a:prstGeom>
          <a:solidFill>
            <a:srgbClr val="FF990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835640" y="2880360"/>
            <a:ext cx="128016" cy="128016"/>
          </a:xfrm>
          <a:prstGeom prst="ellipse">
            <a:avLst/>
          </a:prstGeom>
          <a:solidFill>
            <a:srgbClr val="0972D3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418320" y="3337560"/>
            <a:ext cx="73152" cy="73152"/>
          </a:xfrm>
          <a:prstGeom prst="ellipse">
            <a:avLst/>
          </a:prstGeom>
          <a:solidFill>
            <a:srgbClr val="FF9900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338560" y="3657600"/>
            <a:ext cx="91440" cy="91440"/>
          </a:xfrm>
          <a:prstGeom prst="ellipse">
            <a:avLst/>
          </a:prstGeom>
          <a:solidFill>
            <a:srgbClr val="0972D3">
              <a:alpha val="3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66960" y="685800"/>
            <a:ext cx="777240" cy="5486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744200" y="1234440"/>
            <a:ext cx="365760" cy="7315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966960" y="685800"/>
            <a:ext cx="137160" cy="11887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104120" y="1874520"/>
            <a:ext cx="0" cy="64008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646920" y="2514600"/>
            <a:ext cx="1188720" cy="36576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835640" y="2880360"/>
            <a:ext cx="502920" cy="7772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109960" y="1965960"/>
            <a:ext cx="0" cy="91440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02920" y="1737360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173736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9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 · 개념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2860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Computing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502920" y="324612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C9D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On-demand delivery of compute power, database, storage,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C9D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applications, and other IT resources via the internet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C9D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pay-as-you-go pricing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21792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계정 설정하기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7AFDA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Configure an AWS Account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1B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1B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15"/>
          <p:cNvSpPr/>
          <p:nvPr/>
        </p:nvSpPr>
        <p:spPr>
          <a:xfrm>
            <a:off x="621792" y="2528316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16"/>
          <p:cNvSpPr/>
          <p:nvPr/>
        </p:nvSpPr>
        <p:spPr>
          <a:xfrm>
            <a:off x="621792" y="25283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9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4154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36976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계정 설정하기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Region 선택하기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Regions and Availability Zones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세계에 분산된 독립적인 데이터센터 클러스터.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리전(ap-northeast-2)처럼 지리적 위치 단위로 구분됩니다.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920240"/>
            <a:ext cx="5577840" cy="1874520"/>
          </a:xfrm>
          <a:prstGeom prst="roundRect">
            <a:avLst>
              <a:gd name="adj" fmla="val 3902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Availability Zone (AZ)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248716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Region 안에 물리적으로 분리된 복수의 데이터센터.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리전에는 현재 4개의 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AZ가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있습니다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ap-northeast-2a, 2b, 2c, 2d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590" y="3927763"/>
            <a:ext cx="1712931" cy="2453086"/>
          </a:xfrm>
          <a:prstGeom prst="rect">
            <a:avLst/>
          </a:prstGeom>
        </p:spPr>
      </p:pic>
      <p:sp>
        <p:nvSpPr>
          <p:cNvPr id="46" name="Shape RegionBox"/>
          <p:cNvSpPr/>
          <p:nvPr/>
        </p:nvSpPr>
        <p:spPr>
          <a:xfrm>
            <a:off x="4099001" y="4241985"/>
            <a:ext cx="7400000" cy="187452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9050">
            <a:solidFill>
              <a:srgbClr val="8A7CC7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Pic mark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601" y="4379145"/>
            <a:ext cx="274320" cy="274320"/>
          </a:xfrm>
          <a:prstGeom prst="rect">
            <a:avLst/>
          </a:prstGeom>
        </p:spPr>
      </p:pic>
      <p:sp>
        <p:nvSpPr>
          <p:cNvPr id="48" name="Text RegionLabel"/>
          <p:cNvSpPr/>
          <p:nvPr/>
        </p:nvSpPr>
        <p:spPr>
          <a:xfrm>
            <a:off x="4693361" y="4379145"/>
            <a:ext cx="657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Region : ap-northeast-2 (서울)</a:t>
            </a:r>
            <a:endParaRPr lang="en-US" sz="1300" dirty="0"/>
          </a:p>
        </p:txBody>
      </p:sp>
      <p:sp>
        <p:nvSpPr>
          <p:cNvPr id="49" name="Text RegionDef"/>
          <p:cNvSpPr/>
          <p:nvPr/>
        </p:nvSpPr>
        <p:spPr>
          <a:xfrm>
            <a:off x="4327601" y="4699185"/>
            <a:ext cx="69428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전 세계에 흩어진, 서로 독립적인 데이터센터 클러스터</a:t>
            </a:r>
            <a:endParaRPr lang="en-US" sz="950" dirty="0"/>
          </a:p>
        </p:txBody>
      </p:sp>
      <p:sp>
        <p:nvSpPr>
          <p:cNvPr id="50" name="Shape AZ0"/>
          <p:cNvSpPr/>
          <p:nvPr/>
        </p:nvSpPr>
        <p:spPr>
          <a:xfrm>
            <a:off x="4327601" y="5004905"/>
            <a:ext cx="1667120" cy="1065880"/>
          </a:xfrm>
          <a:prstGeom prst="roundRect">
            <a:avLst>
              <a:gd name="adj" fmla="val 6000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1" name="Pic AZicon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141" y="5073485"/>
            <a:ext cx="320040" cy="320040"/>
          </a:xfrm>
          <a:prstGeom prst="rect">
            <a:avLst/>
          </a:prstGeom>
        </p:spPr>
      </p:pic>
      <p:sp>
        <p:nvSpPr>
          <p:cNvPr id="52" name="Text AZlabel0"/>
          <p:cNvSpPr/>
          <p:nvPr/>
        </p:nvSpPr>
        <p:spPr>
          <a:xfrm>
            <a:off x="4327601" y="5430101"/>
            <a:ext cx="166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 · 2a</a:t>
            </a:r>
            <a:endParaRPr lang="en-US" sz="1050" dirty="0"/>
          </a:p>
        </p:txBody>
      </p:sp>
      <p:sp>
        <p:nvSpPr>
          <p:cNvPr id="53" name="Shape AZ1"/>
          <p:cNvSpPr/>
          <p:nvPr/>
        </p:nvSpPr>
        <p:spPr>
          <a:xfrm>
            <a:off x="6086161" y="5004905"/>
            <a:ext cx="1667120" cy="1065880"/>
          </a:xfrm>
          <a:prstGeom prst="roundRect">
            <a:avLst>
              <a:gd name="adj" fmla="val 6000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4" name="Pic AZicon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701" y="5073485"/>
            <a:ext cx="320040" cy="320040"/>
          </a:xfrm>
          <a:prstGeom prst="rect">
            <a:avLst/>
          </a:prstGeom>
        </p:spPr>
      </p:pic>
      <p:sp>
        <p:nvSpPr>
          <p:cNvPr id="55" name="Text AZlabel1"/>
          <p:cNvSpPr/>
          <p:nvPr/>
        </p:nvSpPr>
        <p:spPr>
          <a:xfrm>
            <a:off x="6086161" y="5430101"/>
            <a:ext cx="166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 · 2b</a:t>
            </a:r>
            <a:endParaRPr lang="en-US" sz="1050" dirty="0"/>
          </a:p>
        </p:txBody>
      </p:sp>
      <p:sp>
        <p:nvSpPr>
          <p:cNvPr id="56" name="Shape AZ2"/>
          <p:cNvSpPr/>
          <p:nvPr/>
        </p:nvSpPr>
        <p:spPr>
          <a:xfrm>
            <a:off x="7844721" y="5004905"/>
            <a:ext cx="1667120" cy="1065880"/>
          </a:xfrm>
          <a:prstGeom prst="roundRect">
            <a:avLst>
              <a:gd name="adj" fmla="val 6000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7" name="Pic AZicon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8261" y="5073485"/>
            <a:ext cx="320040" cy="320040"/>
          </a:xfrm>
          <a:prstGeom prst="rect">
            <a:avLst/>
          </a:prstGeom>
        </p:spPr>
      </p:pic>
      <p:sp>
        <p:nvSpPr>
          <p:cNvPr id="58" name="Text AZlabel2"/>
          <p:cNvSpPr/>
          <p:nvPr/>
        </p:nvSpPr>
        <p:spPr>
          <a:xfrm>
            <a:off x="7844721" y="5430101"/>
            <a:ext cx="166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 · 2c</a:t>
            </a:r>
            <a:endParaRPr lang="en-US" sz="1050" dirty="0"/>
          </a:p>
        </p:txBody>
      </p:sp>
      <p:sp>
        <p:nvSpPr>
          <p:cNvPr id="59" name="Shape AZ3"/>
          <p:cNvSpPr/>
          <p:nvPr/>
        </p:nvSpPr>
        <p:spPr>
          <a:xfrm>
            <a:off x="9603281" y="5004905"/>
            <a:ext cx="1667120" cy="1065880"/>
          </a:xfrm>
          <a:prstGeom prst="roundRect">
            <a:avLst>
              <a:gd name="adj" fmla="val 6000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0" name="Pic AZicon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6821" y="5073485"/>
            <a:ext cx="320040" cy="320040"/>
          </a:xfrm>
          <a:prstGeom prst="rect">
            <a:avLst/>
          </a:prstGeom>
        </p:spPr>
      </p:pic>
      <p:sp>
        <p:nvSpPr>
          <p:cNvPr id="61" name="Text AZlabel3"/>
          <p:cNvSpPr/>
          <p:nvPr/>
        </p:nvSpPr>
        <p:spPr>
          <a:xfrm>
            <a:off x="9603281" y="5430101"/>
            <a:ext cx="166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 · 2d</a:t>
            </a:r>
            <a:endParaRPr lang="en-US" sz="1050" dirty="0"/>
          </a:p>
        </p:txBody>
      </p:sp>
      <p:cxnSp>
        <p:nvCxnSpPr>
          <p:cNvPr id="62" name="Connector0"/>
          <p:cNvCxnSpPr/>
          <p:nvPr/>
        </p:nvCxnSpPr>
        <p:spPr>
          <a:xfrm>
            <a:off x="5994721" y="5537845"/>
            <a:ext cx="91440" cy="0"/>
          </a:xfrm>
          <a:prstGeom prst="line">
            <a:avLst/>
          </a:prstGeom>
          <a:ln w="12700">
            <a:solidFill>
              <a:srgbClr val="9991B8"/>
            </a:solidFill>
            <a:prstDash val="sysDot"/>
          </a:ln>
        </p:spPr>
      </p:cxnSp>
      <p:cxnSp>
        <p:nvCxnSpPr>
          <p:cNvPr id="63" name="Connector1"/>
          <p:cNvCxnSpPr/>
          <p:nvPr/>
        </p:nvCxnSpPr>
        <p:spPr>
          <a:xfrm>
            <a:off x="7753281" y="5537845"/>
            <a:ext cx="91440" cy="0"/>
          </a:xfrm>
          <a:prstGeom prst="line">
            <a:avLst/>
          </a:prstGeom>
          <a:ln w="12700">
            <a:solidFill>
              <a:srgbClr val="9991B8"/>
            </a:solidFill>
            <a:prstDash val="sysDot"/>
          </a:ln>
        </p:spPr>
      </p:cxnSp>
      <p:cxnSp>
        <p:nvCxnSpPr>
          <p:cNvPr id="64" name="Connector2"/>
          <p:cNvCxnSpPr/>
          <p:nvPr/>
        </p:nvCxnSpPr>
        <p:spPr>
          <a:xfrm>
            <a:off x="9511841" y="5537845"/>
            <a:ext cx="91440" cy="0"/>
          </a:xfrm>
          <a:prstGeom prst="line">
            <a:avLst/>
          </a:prstGeom>
          <a:ln w="12700">
            <a:solidFill>
              <a:srgbClr val="9991B8"/>
            </a:solidFill>
            <a:prstDash val="sysDot"/>
          </a:ln>
        </p:spPr>
      </p:cxnSp>
    </p:spTree>
    <p:extLst>
      <p:ext uri="{BB962C8B-B14F-4D97-AF65-F5344CB8AC3E}">
        <p14:creationId xmlns:p14="http://schemas.microsoft.com/office/powerpoint/2010/main" val="3727159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36976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계정 설정하기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3607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 전략 예시 — 4개의 웹 애플리케이션 서버가 있다면?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8288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가용성(Availability) ↔ 네트워크 비용·복잡성 — 이 사이의 Trade-off를 고려해 배치를 결정합니다.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462" y="1533324"/>
            <a:ext cx="986877" cy="866342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462" y="2635431"/>
            <a:ext cx="986877" cy="866342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312" y="2637321"/>
            <a:ext cx="986877" cy="866342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312" y="1538464"/>
            <a:ext cx="986877" cy="86634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932240" y="1230687"/>
            <a:ext cx="748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Region</a:t>
            </a:r>
            <a:endParaRPr lang="ko-KR" altLang="en-US" sz="1400" dirty="0"/>
          </a:p>
        </p:txBody>
      </p:sp>
      <p:cxnSp>
        <p:nvCxnSpPr>
          <p:cNvPr id="31" name="직선 화살표 연결선 30"/>
          <p:cNvCxnSpPr>
            <a:stCxn id="26" idx="3"/>
            <a:endCxn id="29" idx="1"/>
          </p:cNvCxnSpPr>
          <p:nvPr/>
        </p:nvCxnSpPr>
        <p:spPr>
          <a:xfrm>
            <a:off x="5061339" y="1966495"/>
            <a:ext cx="539973" cy="51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26" idx="2"/>
            <a:endCxn id="27" idx="0"/>
          </p:cNvCxnSpPr>
          <p:nvPr/>
        </p:nvCxnSpPr>
        <p:spPr>
          <a:xfrm>
            <a:off x="4567901" y="2399666"/>
            <a:ext cx="0" cy="2357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6094750" y="2409853"/>
            <a:ext cx="0" cy="2357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5077958" y="2988481"/>
            <a:ext cx="539973" cy="51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>
            <a:off x="3877056" y="1248934"/>
            <a:ext cx="3061653" cy="23621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 12"/>
          <p:cNvSpPr/>
          <p:nvPr/>
        </p:nvSpPr>
        <p:spPr>
          <a:xfrm>
            <a:off x="822960" y="4372491"/>
            <a:ext cx="310896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서버를 4개 AZ에 각각 배치</a:t>
            </a:r>
            <a:endParaRPr lang="en-US" sz="1100" dirty="0"/>
          </a:p>
        </p:txBody>
      </p:sp>
      <p:sp>
        <p:nvSpPr>
          <p:cNvPr id="39" name="Text 13"/>
          <p:cNvSpPr/>
          <p:nvPr/>
        </p:nvSpPr>
        <p:spPr>
          <a:xfrm>
            <a:off x="822960" y="5183931"/>
            <a:ext cx="3108960" cy="605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가용성 최대 — 한 AZ가 장애나도 나머지 3곳이 서비스 유지</a:t>
            </a:r>
            <a:endParaRPr lang="en-US" sz="950" dirty="0"/>
          </a:p>
        </p:txBody>
      </p:sp>
      <p:sp>
        <p:nvSpPr>
          <p:cNvPr id="40" name="Text 15"/>
          <p:cNvSpPr/>
          <p:nvPr/>
        </p:nvSpPr>
        <p:spPr>
          <a:xfrm>
            <a:off x="4526280" y="4372491"/>
            <a:ext cx="310896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2개씩, 2개 AZ에 배치</a:t>
            </a:r>
            <a:endParaRPr lang="en-US" sz="1100" dirty="0"/>
          </a:p>
        </p:txBody>
      </p:sp>
      <p:sp>
        <p:nvSpPr>
          <p:cNvPr id="41" name="Text 16"/>
          <p:cNvSpPr/>
          <p:nvPr/>
        </p:nvSpPr>
        <p:spPr>
          <a:xfrm>
            <a:off x="4236212" y="5121487"/>
            <a:ext cx="3108960" cy="605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가용성과 비용의 균형 — 실무에서 가장 흔한 절충안</a:t>
            </a:r>
            <a:endParaRPr lang="en-US" sz="950" dirty="0"/>
          </a:p>
        </p:txBody>
      </p:sp>
      <p:sp>
        <p:nvSpPr>
          <p:cNvPr id="42" name="Text 18"/>
          <p:cNvSpPr/>
          <p:nvPr/>
        </p:nvSpPr>
        <p:spPr>
          <a:xfrm>
            <a:off x="8229600" y="4372491"/>
            <a:ext cx="310896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서버를 1개 AZ에 모두 배치</a:t>
            </a:r>
            <a:endParaRPr lang="en-US" sz="1100" dirty="0"/>
          </a:p>
        </p:txBody>
      </p:sp>
      <p:sp>
        <p:nvSpPr>
          <p:cNvPr id="43" name="Text 19"/>
          <p:cNvSpPr/>
          <p:nvPr/>
        </p:nvSpPr>
        <p:spPr>
          <a:xfrm>
            <a:off x="8229600" y="5183931"/>
            <a:ext cx="3108960" cy="605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저렴하고 단순하지만, 그 AZ가 장애나면 서비스 전체 중단</a:t>
            </a:r>
            <a:endParaRPr lang="en-US" sz="950" dirty="0"/>
          </a:p>
        </p:txBody>
      </p:sp>
      <p:sp>
        <p:nvSpPr>
          <p:cNvPr id="44" name="AZmini640080_0a"/>
          <p:cNvSpPr/>
          <p:nvPr/>
        </p:nvSpPr>
        <p:spPr>
          <a:xfrm>
            <a:off x="1117410" y="4781487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AZmini640080_0b"/>
          <p:cNvSpPr/>
          <p:nvPr/>
        </p:nvSpPr>
        <p:spPr>
          <a:xfrm>
            <a:off x="1117410" y="4781487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46" name="AZmini640080_1a"/>
          <p:cNvSpPr/>
          <p:nvPr/>
        </p:nvSpPr>
        <p:spPr>
          <a:xfrm>
            <a:off x="1525990" y="4781487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AZmini640080_1b"/>
          <p:cNvSpPr/>
          <p:nvPr/>
        </p:nvSpPr>
        <p:spPr>
          <a:xfrm>
            <a:off x="1525990" y="4781487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48" name="AZmini640080_2a"/>
          <p:cNvSpPr/>
          <p:nvPr/>
        </p:nvSpPr>
        <p:spPr>
          <a:xfrm>
            <a:off x="1934570" y="4781487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AZmini640080_2b"/>
          <p:cNvSpPr/>
          <p:nvPr/>
        </p:nvSpPr>
        <p:spPr>
          <a:xfrm>
            <a:off x="1934570" y="4781487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50" name="AZmini640080_3a"/>
          <p:cNvSpPr/>
          <p:nvPr/>
        </p:nvSpPr>
        <p:spPr>
          <a:xfrm>
            <a:off x="2343150" y="4781487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AZmini640080_3b"/>
          <p:cNvSpPr/>
          <p:nvPr/>
        </p:nvSpPr>
        <p:spPr>
          <a:xfrm>
            <a:off x="2343150" y="4781487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52" name="AZmini4343400_0a"/>
          <p:cNvSpPr/>
          <p:nvPr/>
        </p:nvSpPr>
        <p:spPr>
          <a:xfrm>
            <a:off x="4499378" y="4798211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AZmini4343400_0b"/>
          <p:cNvSpPr/>
          <p:nvPr/>
        </p:nvSpPr>
        <p:spPr>
          <a:xfrm>
            <a:off x="4499378" y="4798211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50" dirty="0"/>
          </a:p>
        </p:txBody>
      </p:sp>
      <p:sp>
        <p:nvSpPr>
          <p:cNvPr id="54" name="AZmini4343400_1a"/>
          <p:cNvSpPr/>
          <p:nvPr/>
        </p:nvSpPr>
        <p:spPr>
          <a:xfrm>
            <a:off x="4907958" y="4798211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AZmini4343400_1b"/>
          <p:cNvSpPr/>
          <p:nvPr/>
        </p:nvSpPr>
        <p:spPr>
          <a:xfrm>
            <a:off x="4907958" y="4798211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50" dirty="0"/>
          </a:p>
        </p:txBody>
      </p:sp>
      <p:sp>
        <p:nvSpPr>
          <p:cNvPr id="56" name="AZmini4343400_2a"/>
          <p:cNvSpPr/>
          <p:nvPr/>
        </p:nvSpPr>
        <p:spPr>
          <a:xfrm>
            <a:off x="5316538" y="4798211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F1E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AZmini4343400_2c"/>
          <p:cNvSpPr/>
          <p:nvPr/>
        </p:nvSpPr>
        <p:spPr>
          <a:xfrm>
            <a:off x="5316538" y="4798211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C2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150" dirty="0"/>
          </a:p>
        </p:txBody>
      </p:sp>
      <p:sp>
        <p:nvSpPr>
          <p:cNvPr id="58" name="AZmini4343400_3a"/>
          <p:cNvSpPr/>
          <p:nvPr/>
        </p:nvSpPr>
        <p:spPr>
          <a:xfrm>
            <a:off x="5725118" y="4798211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F1E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AZmini4343400_3c"/>
          <p:cNvSpPr/>
          <p:nvPr/>
        </p:nvSpPr>
        <p:spPr>
          <a:xfrm>
            <a:off x="5725118" y="4798211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C2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150" dirty="0"/>
          </a:p>
        </p:txBody>
      </p:sp>
      <p:sp>
        <p:nvSpPr>
          <p:cNvPr id="60" name="AZmini8046720_0a"/>
          <p:cNvSpPr/>
          <p:nvPr/>
        </p:nvSpPr>
        <p:spPr>
          <a:xfrm>
            <a:off x="8252630" y="4791764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AZmini8046720_0b"/>
          <p:cNvSpPr/>
          <p:nvPr/>
        </p:nvSpPr>
        <p:spPr>
          <a:xfrm>
            <a:off x="8252630" y="4791764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50" dirty="0"/>
          </a:p>
        </p:txBody>
      </p:sp>
      <p:sp>
        <p:nvSpPr>
          <p:cNvPr id="62" name="AZmini8046720_1a"/>
          <p:cNvSpPr/>
          <p:nvPr/>
        </p:nvSpPr>
        <p:spPr>
          <a:xfrm>
            <a:off x="8661210" y="4791764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F1E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AZmini8046720_1c"/>
          <p:cNvSpPr/>
          <p:nvPr/>
        </p:nvSpPr>
        <p:spPr>
          <a:xfrm>
            <a:off x="8661210" y="4791764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C2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150" dirty="0"/>
          </a:p>
        </p:txBody>
      </p:sp>
      <p:sp>
        <p:nvSpPr>
          <p:cNvPr id="64" name="AZmini8046720_2a"/>
          <p:cNvSpPr/>
          <p:nvPr/>
        </p:nvSpPr>
        <p:spPr>
          <a:xfrm>
            <a:off x="9069790" y="4791764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F1E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AZmini8046720_2c"/>
          <p:cNvSpPr/>
          <p:nvPr/>
        </p:nvSpPr>
        <p:spPr>
          <a:xfrm>
            <a:off x="9069790" y="4791764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C2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150" dirty="0"/>
          </a:p>
        </p:txBody>
      </p:sp>
      <p:sp>
        <p:nvSpPr>
          <p:cNvPr id="66" name="AZmini8046720_3a"/>
          <p:cNvSpPr/>
          <p:nvPr/>
        </p:nvSpPr>
        <p:spPr>
          <a:xfrm>
            <a:off x="9478370" y="4791764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F1EF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AZmini8046720_3c"/>
          <p:cNvSpPr/>
          <p:nvPr/>
        </p:nvSpPr>
        <p:spPr>
          <a:xfrm>
            <a:off x="9478370" y="4791764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C2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150" dirty="0"/>
          </a:p>
        </p:txBody>
      </p:sp>
      <p:sp>
        <p:nvSpPr>
          <p:cNvPr id="68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 배치 전략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2631940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36976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계정 설정하기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Cost Management — AWS Budgets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4206240" cy="3840480"/>
          </a:xfrm>
          <a:prstGeom prst="roundRect">
            <a:avLst>
              <a:gd name="adj" fmla="val 1905"/>
            </a:avLst>
          </a:prstGeom>
          <a:solidFill>
            <a:srgbClr val="1410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Budgets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 임계값을 초과할 때 알려주는, 사용자 지정 예산을 설정하는 서비스입니다.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제로 지출 예산 — $0.01 초과 시 즉시 알림 (실습 중 실수 방지에 유용)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31596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월별 비용 예산 — 매달 정해진 한도 안에서 관리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497433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예약 사용량 예산 — 사용률이 목표 아래로 떨어지면 알림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74919" y="1920240"/>
            <a:ext cx="5656811" cy="38404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221224" y="203911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04104" y="203911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586984" y="203911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50" dirty="0"/>
              <a:t>실습 계정에서는 </a:t>
            </a:r>
            <a:r>
              <a:rPr lang="en-US" altLang="ko-KR" sz="1050" dirty="0"/>
              <a:t>'</a:t>
            </a:r>
            <a:r>
              <a:rPr lang="ko-KR" altLang="en-US" sz="1050" dirty="0"/>
              <a:t>제로 지출 예산</a:t>
            </a:r>
            <a:r>
              <a:rPr lang="en-US" altLang="ko-KR" sz="1050" dirty="0"/>
              <a:t>'</a:t>
            </a:r>
            <a:r>
              <a:rPr lang="ko-KR" altLang="en-US" sz="1050" dirty="0"/>
              <a:t>을 가장 먼저 설정해 의도치 않은 비용 발생을 즉시 </a:t>
            </a:r>
            <a:r>
              <a:rPr lang="ko-KR" altLang="en-US" sz="1050" dirty="0" err="1"/>
              <a:t>알림받는</a:t>
            </a:r>
            <a:r>
              <a:rPr lang="ko-KR" altLang="en-US" sz="1050" dirty="0"/>
              <a:t> 것을 권장하며</a:t>
            </a:r>
            <a:r>
              <a:rPr lang="en-US" altLang="ko-KR" sz="1050" dirty="0"/>
              <a:t>, </a:t>
            </a:r>
            <a:r>
              <a:rPr lang="ko-KR" altLang="en-US" sz="1050" dirty="0"/>
              <a:t>필요하다면 월별 비용 예산을 추가로 설정해 전체 지출 흐름도 함께 관리할 수 있습니다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942" y="2148840"/>
            <a:ext cx="4224763" cy="346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06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85800"/>
            <a:ext cx="109728" cy="109728"/>
          </a:xfrm>
          <a:prstGeom prst="ellipse">
            <a:avLst/>
          </a:prstGeom>
          <a:solidFill>
            <a:srgbClr val="FF9900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744200" y="1234440"/>
            <a:ext cx="146304" cy="146304"/>
          </a:xfrm>
          <a:prstGeom prst="ellipse">
            <a:avLst/>
          </a:prstGeom>
          <a:solidFill>
            <a:srgbClr val="0972D3">
              <a:alpha val="5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104120" y="1874520"/>
            <a:ext cx="82296" cy="82296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09960" y="1965960"/>
            <a:ext cx="182880" cy="182880"/>
          </a:xfrm>
          <a:prstGeom prst="ellipse">
            <a:avLst/>
          </a:prstGeom>
          <a:solidFill>
            <a:srgbClr val="0972D3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646920" y="2514600"/>
            <a:ext cx="100584" cy="100584"/>
          </a:xfrm>
          <a:prstGeom prst="ellipse">
            <a:avLst/>
          </a:prstGeom>
          <a:solidFill>
            <a:srgbClr val="FF990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835640" y="2880360"/>
            <a:ext cx="128016" cy="128016"/>
          </a:xfrm>
          <a:prstGeom prst="ellipse">
            <a:avLst/>
          </a:prstGeom>
          <a:solidFill>
            <a:srgbClr val="0972D3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418320" y="3337560"/>
            <a:ext cx="73152" cy="73152"/>
          </a:xfrm>
          <a:prstGeom prst="ellipse">
            <a:avLst/>
          </a:prstGeom>
          <a:solidFill>
            <a:srgbClr val="FF9900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338560" y="3657600"/>
            <a:ext cx="91440" cy="91440"/>
          </a:xfrm>
          <a:prstGeom prst="ellipse">
            <a:avLst/>
          </a:prstGeom>
          <a:solidFill>
            <a:srgbClr val="0972D3">
              <a:alpha val="3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66960" y="685800"/>
            <a:ext cx="777240" cy="5486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744200" y="1234440"/>
            <a:ext cx="365760" cy="7315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966960" y="685800"/>
            <a:ext cx="137160" cy="11887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104120" y="1874520"/>
            <a:ext cx="0" cy="64008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646920" y="2514600"/>
            <a:ext cx="1188720" cy="36576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835640" y="2880360"/>
            <a:ext cx="502920" cy="7772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109960" y="1965960"/>
            <a:ext cx="0" cy="91440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02920" y="2514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2514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9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99923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 a Key Pair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02920" y="37947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9D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Username/Password 대신 Key Pair로 EC2 인스턴스에 안전하게 인증합니다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Connect to your EC2 Instance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Amazon EC2는 </a:t>
            </a:r>
            <a:r>
              <a:rPr lang="en-US" sz="1500" b="1" u="sng" dirty="0">
                <a:solidFill>
                  <a:srgbClr val="0972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public-key cryptography</a:t>
            </a:r>
            <a:r>
              <a:rPr lang="en-US" sz="15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이용해 로그인 정보를 암호화·복호화합니다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56032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Pair 구성: Public Key + Private Key</a:t>
            </a:r>
            <a:endParaRPr lang="en-US" sz="15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Management Console에서 Key Pair 생성</a:t>
            </a:r>
            <a:endParaRPr lang="en-US" sz="15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Private Key(*.pem) 다운로드</a:t>
            </a:r>
            <a:endParaRPr lang="en-US" sz="15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SSH 클라이언트 실행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63640" y="169164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</a:rPr>
              <a:t>SSH Client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</a:rPr>
              <a:t>(Your Computer)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509760" y="169164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3DF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509760" y="169164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</a:rPr>
              <a:t>SSH Server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</a:rPr>
              <a:t>(Amazon EC2)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0" y="2048256"/>
            <a:ext cx="1097280" cy="0"/>
          </a:xfrm>
          <a:prstGeom prst="line">
            <a:avLst/>
          </a:prstGeom>
          <a:noFill/>
          <a:ln w="19050">
            <a:solidFill>
              <a:srgbClr val="0972D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/>
          <p:nvPr/>
        </p:nvSpPr>
        <p:spPr>
          <a:xfrm>
            <a:off x="6263640" y="2110105"/>
            <a:ext cx="53949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72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Port 22 (TCP)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63640" y="13990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ssh (secure shell)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509760" y="245973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Public Key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93815" y="2943130"/>
            <a:ext cx="5394960" cy="320669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63640" y="2907792"/>
            <a:ext cx="539496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263640" y="3035808"/>
            <a:ext cx="5394960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263640" y="3163824"/>
            <a:ext cx="539496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391656" y="2994660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537960" y="2994660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684264" y="2994660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6027041" y="619758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</a:t>
            </a:r>
            <a:r>
              <a:rPr lang="ko-KR" alt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인스턴스의 </a:t>
            </a:r>
            <a:r>
              <a:rPr lang="en-US" altLang="ko-KR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~/.</a:t>
            </a:r>
            <a:r>
              <a:rPr lang="en-US" sz="1100" dirty="0" err="1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ssh</a:t>
            </a: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→ </a:t>
            </a: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Public Key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022" y="3258934"/>
            <a:ext cx="3954162" cy="2795774"/>
          </a:xfrm>
          <a:prstGeom prst="rect">
            <a:avLst/>
          </a:prstGeom>
        </p:spPr>
      </p:pic>
      <p:sp>
        <p:nvSpPr>
          <p:cNvPr id="27" name="Text 11"/>
          <p:cNvSpPr/>
          <p:nvPr/>
        </p:nvSpPr>
        <p:spPr>
          <a:xfrm>
            <a:off x="6391656" y="24917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Private Key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6444" y="457200"/>
            <a:ext cx="90575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316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원리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to authenticate a user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96112" y="2194560"/>
            <a:ext cx="2350008" cy="950976"/>
          </a:xfrm>
          <a:prstGeom prst="roundRect">
            <a:avLst>
              <a:gd name="adj" fmla="val 9615"/>
            </a:avLst>
          </a:prstGeom>
          <a:solidFill>
            <a:srgbClr val="E8F1FC"/>
          </a:solidFill>
          <a:ln w="12700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96112" y="2194560"/>
            <a:ext cx="23500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Alice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316382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개인키(Private Key) 보유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025128" y="2205310"/>
            <a:ext cx="2350008" cy="950976"/>
          </a:xfrm>
          <a:prstGeom prst="roundRect">
            <a:avLst>
              <a:gd name="adj" fmla="val 9615"/>
            </a:avLst>
          </a:prstGeom>
          <a:solidFill>
            <a:srgbClr val="FFF3DF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027954" y="2232742"/>
            <a:ext cx="23500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951976" y="316382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공개키(Public Key) 보관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249424"/>
            <a:ext cx="5705856" cy="0"/>
          </a:xfrm>
          <a:prstGeom prst="line">
            <a:avLst/>
          </a:prstGeom>
          <a:noFill/>
          <a:ln w="19050">
            <a:solidFill>
              <a:srgbClr val="0972D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46120" y="3063981"/>
            <a:ext cx="5705856" cy="0"/>
          </a:xfrm>
          <a:prstGeom prst="line">
            <a:avLst/>
          </a:prstGeom>
          <a:noFill/>
          <a:ln w="19050">
            <a:solidFill>
              <a:srgbClr val="0972D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46120" y="1956816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"I'm Alice"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80217" y="2378181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R (임의의 난수)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2807949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[R]</a:t>
            </a:r>
            <a:r>
              <a:rPr lang="en-US" sz="10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Alice</a:t>
            </a:r>
            <a:r>
              <a:rPr lang="en-US" sz="14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개인키로 R을 암호화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66176" y="3566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{[R]</a:t>
            </a:r>
            <a:r>
              <a:rPr lang="en-US" sz="10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Alice</a:t>
            </a:r>
            <a:r>
              <a:rPr lang="en-US" sz="16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} — 공개키로 복호화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" y="4553712"/>
            <a:ext cx="11185855" cy="1078992"/>
          </a:xfrm>
          <a:prstGeom prst="roundRect">
            <a:avLst>
              <a:gd name="adj" fmla="val 7627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77240" y="4553712"/>
            <a:ext cx="1063721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AWS EC2는 Alice의 공개키로 [R]</a:t>
            </a: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Alice</a:t>
            </a: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</a:t>
            </a:r>
            <a:r>
              <a:rPr lang="en-US" sz="135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복호화해</a:t>
            </a: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R’을</a:t>
            </a: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얻고, </a:t>
            </a:r>
            <a:r>
              <a:rPr lang="en-US" sz="1350" b="1" dirty="0">
                <a:solidFill>
                  <a:srgbClr val="FF9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= R’</a:t>
            </a: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이면</a:t>
            </a: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</a:t>
            </a: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</a:t>
            </a: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</a:t>
            </a:r>
          </a:p>
        </p:txBody>
      </p:sp>
      <p:sp>
        <p:nvSpPr>
          <p:cNvPr id="20" name="Text 18"/>
          <p:cNvSpPr/>
          <p:nvPr/>
        </p:nvSpPr>
        <p:spPr>
          <a:xfrm>
            <a:off x="4892040" y="5897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99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{ </a:t>
            </a:r>
            <a:r>
              <a:rPr lang="en-US" sz="2200" b="1" dirty="0">
                <a:solidFill>
                  <a:srgbClr val="00B0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</a:t>
            </a:r>
            <a:r>
              <a:rPr lang="en-US" sz="2200" dirty="0">
                <a:solidFill>
                  <a:srgbClr val="232F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2200" b="1" dirty="0">
                <a:solidFill>
                  <a:srgbClr val="00B0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]</a:t>
            </a:r>
            <a:r>
              <a:rPr lang="en-US" sz="1200" dirty="0">
                <a:solidFill>
                  <a:srgbClr val="232F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Alice</a:t>
            </a:r>
            <a:r>
              <a:rPr lang="en-US" sz="2200" b="1" dirty="0">
                <a:solidFill>
                  <a:srgbClr val="FF99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}</a:t>
            </a:r>
            <a:r>
              <a:rPr lang="en-US" sz="1200" dirty="0">
                <a:solidFill>
                  <a:srgbClr val="232F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Alice</a:t>
            </a:r>
            <a:r>
              <a:rPr lang="en-US" sz="2200" dirty="0">
                <a:solidFill>
                  <a:srgbClr val="232F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0" y="5760555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972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6480" y="57652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공개키</a:t>
            </a:r>
            <a:endParaRPr lang="en-US" sz="1050" dirty="0">
              <a:solidFill>
                <a:schemeClr val="accent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25" name="Shape 9"/>
          <p:cNvSpPr/>
          <p:nvPr/>
        </p:nvSpPr>
        <p:spPr>
          <a:xfrm>
            <a:off x="3242919" y="2648959"/>
            <a:ext cx="5705856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Creating Key Pairs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84632" y="1472184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84632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81113"/>
            <a:ext cx="2331720" cy="3977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881113"/>
            <a:ext cx="233172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02920" y="2009129"/>
            <a:ext cx="2331720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2920" y="2137145"/>
            <a:ext cx="233172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30936" y="1967981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77240" y="1967981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23544" y="1967981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/home/claude/work2/build/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96" y="2201153"/>
            <a:ext cx="1559169" cy="359359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136392" y="1472184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3136392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154680" y="1881113"/>
            <a:ext cx="2331720" cy="3977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3154680" y="1881113"/>
            <a:ext cx="233172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3154680" y="2009129"/>
            <a:ext cx="2331720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3154680" y="2137145"/>
            <a:ext cx="233172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3282696" y="1967981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3429000" y="1967981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3575304" y="1967981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1" descr="/home/claude/work2/build/assets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399" y="2201153"/>
            <a:ext cx="1934282" cy="3593592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788152" y="1472184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/>
          <p:nvPr/>
        </p:nvSpPr>
        <p:spPr>
          <a:xfrm>
            <a:off x="5788152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5806440" y="1881113"/>
            <a:ext cx="5882335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5806440" y="1881113"/>
            <a:ext cx="5882335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5"/>
          <p:cNvSpPr/>
          <p:nvPr/>
        </p:nvSpPr>
        <p:spPr>
          <a:xfrm>
            <a:off x="5806440" y="2009129"/>
            <a:ext cx="5882335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6"/>
          <p:cNvSpPr/>
          <p:nvPr/>
        </p:nvSpPr>
        <p:spPr>
          <a:xfrm>
            <a:off x="5806440" y="2137145"/>
            <a:ext cx="5882335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7"/>
          <p:cNvSpPr/>
          <p:nvPr/>
        </p:nvSpPr>
        <p:spPr>
          <a:xfrm>
            <a:off x="5934456" y="1967981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8"/>
          <p:cNvSpPr/>
          <p:nvPr/>
        </p:nvSpPr>
        <p:spPr>
          <a:xfrm>
            <a:off x="6080760" y="1967981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9"/>
          <p:cNvSpPr/>
          <p:nvPr/>
        </p:nvSpPr>
        <p:spPr>
          <a:xfrm>
            <a:off x="6227064" y="1967981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2" descr="/home/claude/work2/build/assets/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402" y="2201153"/>
            <a:ext cx="4514410" cy="149047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806440" y="3892793"/>
            <a:ext cx="5882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페어 생성 </a:t>
            </a:r>
            <a:r>
              <a:rPr lang="en-US" sz="1150" dirty="0" err="1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5806440" y="4194545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aws.amazon.com/ko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806440" y="4578593"/>
            <a:ext cx="5882335" cy="1280160"/>
          </a:xfrm>
          <a:prstGeom prst="roundRect">
            <a:avLst>
              <a:gd name="adj" fmla="val 6429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3"/>
          <p:cNvSpPr/>
          <p:nvPr/>
        </p:nvSpPr>
        <p:spPr>
          <a:xfrm>
            <a:off x="6007608" y="4779761"/>
            <a:ext cx="626364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4"/>
          <p:cNvSpPr/>
          <p:nvPr/>
        </p:nvSpPr>
        <p:spPr>
          <a:xfrm>
            <a:off x="6007608" y="4779761"/>
            <a:ext cx="626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6007608" y="5163809"/>
            <a:ext cx="547999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관리자(Administrator) IAM 사용자도 ec2:CreateKeyPair 권한만 있으면 Key Pair를 생성할 수 있습니다. 반드시 루트 계정일 필요는 없습니다.</a:t>
            </a:r>
            <a:endParaRPr lang="en-US" sz="1250" dirty="0"/>
          </a:p>
        </p:txBody>
      </p:sp>
      <p:sp>
        <p:nvSpPr>
          <p:cNvPr id="41" name="Text 36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502920" y="5919753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콘솔 좌측 메뉴에서 EC2 선택</a:t>
            </a:r>
            <a:endParaRPr lang="en-US" sz="1150" dirty="0"/>
          </a:p>
        </p:txBody>
      </p:sp>
      <p:sp>
        <p:nvSpPr>
          <p:cNvPr id="46" name="Text 39"/>
          <p:cNvSpPr/>
          <p:nvPr/>
        </p:nvSpPr>
        <p:spPr>
          <a:xfrm>
            <a:off x="3154680" y="5919753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'네트워크 및 보안' → 키 페어 클릭</a:t>
            </a:r>
            <a:endParaRPr lang="en-US" sz="1150" dirty="0"/>
          </a:p>
        </p:txBody>
      </p:sp>
      <p:sp>
        <p:nvSpPr>
          <p:cNvPr id="43" name="타원 42"/>
          <p:cNvSpPr/>
          <p:nvPr/>
        </p:nvSpPr>
        <p:spPr>
          <a:xfrm>
            <a:off x="3429000" y="5252435"/>
            <a:ext cx="829376" cy="31652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/>
          <p:cNvSpPr/>
          <p:nvPr/>
        </p:nvSpPr>
        <p:spPr>
          <a:xfrm>
            <a:off x="846001" y="2272542"/>
            <a:ext cx="700166" cy="2446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Creating Key Pairs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84632" y="1472184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84632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48162"/>
            <a:ext cx="46634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848162"/>
            <a:ext cx="466344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02920" y="1976178"/>
            <a:ext cx="4663440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2920" y="2104194"/>
            <a:ext cx="466344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30936" y="1935030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77240" y="1935030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23544" y="1935030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/home/claude/work2/build/asset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179802"/>
            <a:ext cx="4407408" cy="3570393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513832" y="1472184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513832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532120" y="1848162"/>
            <a:ext cx="6156655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532120" y="1848162"/>
            <a:ext cx="6156655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5532120" y="1976178"/>
            <a:ext cx="6156655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5532120" y="2104194"/>
            <a:ext cx="6156655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5660136" y="1935030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5806440" y="1935030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5952744" y="1935030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1" descr="/home/claude/work2/build/assets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711" y="2168202"/>
            <a:ext cx="5659473" cy="1490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532120" y="3859842"/>
            <a:ext cx="6156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osskey.pem 자동 다운로드, 적절한 위치로 이동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85800"/>
            <a:ext cx="109728" cy="109728"/>
          </a:xfrm>
          <a:prstGeom prst="ellipse">
            <a:avLst/>
          </a:prstGeom>
          <a:solidFill>
            <a:srgbClr val="FF9900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744200" y="1234440"/>
            <a:ext cx="146304" cy="146304"/>
          </a:xfrm>
          <a:prstGeom prst="ellipse">
            <a:avLst/>
          </a:prstGeom>
          <a:solidFill>
            <a:srgbClr val="0972D3">
              <a:alpha val="5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104120" y="1874520"/>
            <a:ext cx="82296" cy="82296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09960" y="1965960"/>
            <a:ext cx="182880" cy="182880"/>
          </a:xfrm>
          <a:prstGeom prst="ellipse">
            <a:avLst/>
          </a:prstGeom>
          <a:solidFill>
            <a:srgbClr val="0972D3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646920" y="2514600"/>
            <a:ext cx="100584" cy="100584"/>
          </a:xfrm>
          <a:prstGeom prst="ellipse">
            <a:avLst/>
          </a:prstGeom>
          <a:solidFill>
            <a:srgbClr val="FF990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835640" y="2880360"/>
            <a:ext cx="128016" cy="128016"/>
          </a:xfrm>
          <a:prstGeom prst="ellipse">
            <a:avLst/>
          </a:prstGeom>
          <a:solidFill>
            <a:srgbClr val="0972D3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418320" y="3337560"/>
            <a:ext cx="73152" cy="73152"/>
          </a:xfrm>
          <a:prstGeom prst="ellipse">
            <a:avLst/>
          </a:prstGeom>
          <a:solidFill>
            <a:srgbClr val="FF9900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338560" y="3657600"/>
            <a:ext cx="91440" cy="91440"/>
          </a:xfrm>
          <a:prstGeom prst="ellipse">
            <a:avLst/>
          </a:prstGeom>
          <a:solidFill>
            <a:srgbClr val="0972D3">
              <a:alpha val="3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66960" y="685800"/>
            <a:ext cx="777240" cy="5486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744200" y="1234440"/>
            <a:ext cx="365760" cy="7315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966960" y="685800"/>
            <a:ext cx="137160" cy="11887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104120" y="1874520"/>
            <a:ext cx="0" cy="64008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646920" y="2514600"/>
            <a:ext cx="1188720" cy="36576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835640" y="2880360"/>
            <a:ext cx="502920" cy="7772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109960" y="1965960"/>
            <a:ext cx="0" cy="91440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02920" y="2514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2514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9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99923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 an EC2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02920" y="37947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9D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콘솔에서 EC2 인스턴스를 생성하고 접속까지 진행합니다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9319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393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 인스턴스 개념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630936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630936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819656"/>
            <a:ext cx="6309360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947672"/>
            <a:ext cx="630936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30936" y="1778508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77240" y="1778508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23544" y="1778508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/home/claude/work2/build/assets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91" y="2011680"/>
            <a:ext cx="6030818" cy="34107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559612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AWS Compute Services 개요 (Tutorials Dojo)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223760" y="1828800"/>
            <a:ext cx="44650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5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호스트 머신에 하이퍼바이저(hypervisor)를 설치</a:t>
            </a:r>
            <a:endParaRPr lang="en-US" sz="1550" dirty="0"/>
          </a:p>
          <a:p>
            <a:pPr marL="203200" indent="-2032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5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위에서 여러 개의 가상 머신 실행</a:t>
            </a:r>
            <a:endParaRPr lang="en-US" sz="1550" dirty="0"/>
          </a:p>
          <a:p>
            <a:pPr marL="203200" indent="-2032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5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호스트 머신의 하드웨어 리소스를 가상 머신들이 공유</a:t>
            </a:r>
            <a:endParaRPr lang="en-US" sz="1550" dirty="0"/>
          </a:p>
          <a:p>
            <a:pPr marL="203200" indent="-2032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5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운영체제의 가상 머신을 하나의 물리 서버에서 </a:t>
            </a:r>
            <a:r>
              <a:rPr lang="en-US" sz="15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15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</a:t>
            </a:r>
            <a:endParaRPr lang="en-US" sz="1550" dirty="0">
              <a:solidFill>
                <a:srgbClr val="232F3E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203200" indent="-2032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altLang="ko-KR" sz="1600" dirty="0"/>
              <a:t>EC2 Instance = AWS</a:t>
            </a:r>
            <a:r>
              <a:rPr lang="ko-KR" altLang="en-US" sz="1600" dirty="0"/>
              <a:t>가 물리 서버 위에 </a:t>
            </a:r>
            <a:r>
              <a:rPr lang="ko-KR" altLang="en-US" sz="1600" dirty="0" err="1"/>
              <a:t>하이퍼바이저로</a:t>
            </a:r>
            <a:r>
              <a:rPr lang="ko-KR" altLang="en-US" sz="1600" dirty="0"/>
              <a:t> 만들어준 가상 머신</a:t>
            </a:r>
            <a:r>
              <a:rPr lang="en-US" altLang="ko-KR" sz="1600" dirty="0"/>
              <a:t>(VM)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Creating an EC2 Instance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72488" y="1618488"/>
            <a:ext cx="420624" cy="420624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072488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18208" y="2138132"/>
            <a:ext cx="795528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118208" y="2138132"/>
            <a:ext cx="795528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118208" y="2266148"/>
            <a:ext cx="7955280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18208" y="2394164"/>
            <a:ext cx="795528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246224" y="2225000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392528" y="2225000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538832" y="2225000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/home/claude/work2/build/asset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034" y="2458172"/>
            <a:ext cx="6817627" cy="286207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118208" y="55671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콘솔에서 '</a:t>
            </a:r>
            <a:r>
              <a:rPr lang="en-US" sz="1250" b="1" dirty="0">
                <a:solidFill>
                  <a:schemeClr val="accent2">
                    <a:lumMod val="75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시작</a:t>
            </a: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 버튼을 클릭해 새 인스턴스 생성을 시작합니다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23015" y="6379629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Creating an EC2 Instance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84632" y="1472184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84632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48162"/>
            <a:ext cx="69494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848162"/>
            <a:ext cx="694944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02920" y="1976178"/>
            <a:ext cx="6949440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2920" y="2104194"/>
            <a:ext cx="694944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30936" y="1935030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77240" y="1935030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23544" y="1935030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/home/claude/work2/build/assets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796" y="2168202"/>
            <a:ext cx="5213689" cy="121615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16811" y="4596839"/>
            <a:ext cx="3916375" cy="897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Amazon Machine Image (AMI) </a:t>
            </a:r>
            <a:r>
              <a:rPr lang="en-US" sz="1300" b="1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1300" b="1" dirty="0">
              <a:solidFill>
                <a:srgbClr val="232F3E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/>
              <a:t>(AMI = </a:t>
            </a:r>
            <a:r>
              <a:rPr lang="ko-KR" altLang="en-US" sz="1200" dirty="0"/>
              <a:t>운영체제 설치 이미지 </a:t>
            </a:r>
            <a:r>
              <a:rPr lang="en-US" altLang="ko-KR" sz="1200" dirty="0"/>
              <a:t>+ </a:t>
            </a:r>
            <a:r>
              <a:rPr lang="ko-KR" altLang="en-US" sz="1200" dirty="0"/>
              <a:t>기본 </a:t>
            </a:r>
            <a:r>
              <a:rPr lang="ko-KR" altLang="en-US" sz="1200" dirty="0" err="1"/>
              <a:t>세팅값</a:t>
            </a:r>
            <a:r>
              <a:rPr lang="en-US" altLang="ko-KR" sz="1200" dirty="0"/>
              <a:t>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4632" y="3575304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84632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02920" y="3943043"/>
            <a:ext cx="5980258" cy="2336903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502920" y="3943044"/>
            <a:ext cx="548640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502920" y="4071060"/>
            <a:ext cx="5486400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502920" y="4199076"/>
            <a:ext cx="548640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630936" y="4029912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777240" y="4029912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923544" y="4029912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1" descr="/home/claude/work2/build/assets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274" y="4263083"/>
            <a:ext cx="4983241" cy="1791727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767459" y="2319078"/>
            <a:ext cx="3485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이름 및 태그 입력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Creating an EC2 Instance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981048" y="1435608"/>
            <a:ext cx="420624" cy="420624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981048" y="1435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81048" y="1897589"/>
            <a:ext cx="7803032" cy="3322804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026768" y="1897589"/>
            <a:ext cx="813816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026768" y="2025605"/>
            <a:ext cx="8138160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026768" y="2153621"/>
            <a:ext cx="813816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154784" y="1984457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301088" y="1984457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447392" y="1984457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/home/claude/work2/build/assets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468" y="2258148"/>
            <a:ext cx="5482143" cy="291120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981048" y="5465305"/>
            <a:ext cx="813816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400" dirty="0"/>
              <a:t>인스턴스 유형 </a:t>
            </a:r>
            <a:r>
              <a:rPr lang="en-US" altLang="ko-KR" sz="1400" dirty="0"/>
              <a:t>= </a:t>
            </a:r>
            <a:r>
              <a:rPr lang="ko-KR" altLang="en-US" sz="1400" dirty="0"/>
              <a:t>하드웨어 사양</a:t>
            </a:r>
            <a:r>
              <a:rPr lang="en-US" altLang="ko-KR" sz="1400" dirty="0"/>
              <a:t>(</a:t>
            </a:r>
            <a:r>
              <a:rPr lang="ko-KR" altLang="en-US" sz="1400" dirty="0"/>
              <a:t>스펙</a:t>
            </a:r>
            <a:r>
              <a:rPr lang="en-US" altLang="ko-KR" sz="1400" dirty="0"/>
              <a:t>)</a:t>
            </a:r>
            <a:r>
              <a:rPr lang="ko-KR" altLang="en-US" sz="1400" dirty="0"/>
              <a:t>을 미리 정해놓은 규격</a:t>
            </a:r>
            <a:endParaRPr lang="en-US" altLang="ko-KR" sz="1400" dirty="0"/>
          </a:p>
        </p:txBody>
      </p:sp>
      <p:sp>
        <p:nvSpPr>
          <p:cNvPr id="20" name="Shape 17"/>
          <p:cNvSpPr/>
          <p:nvPr/>
        </p:nvSpPr>
        <p:spPr>
          <a:xfrm>
            <a:off x="1981048" y="5940000"/>
            <a:ext cx="2672080" cy="350000"/>
          </a:xfrm>
          <a:prstGeom prst="roundRect">
            <a:avLst>
              <a:gd name="adj" fmla="val 20000"/>
            </a:avLst>
          </a:prstGeom>
          <a:solidFill>
            <a:srgbClr val="E8F1FC"/>
          </a:solidFill>
          <a:ln w="9525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1981048" y="5940000"/>
            <a:ext cx="26720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T3 · 범용(General Purpose)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714088" y="5940000"/>
            <a:ext cx="2672080" cy="350000"/>
          </a:xfrm>
          <a:prstGeom prst="roundRect">
            <a:avLst>
              <a:gd name="adj" fmla="val 20000"/>
            </a:avLst>
          </a:prstGeom>
          <a:solidFill>
            <a:srgbClr val="E8F1FC"/>
          </a:solidFill>
          <a:ln w="9525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4714088" y="5940000"/>
            <a:ext cx="26720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 · vCPU 2 · RAM 1GiB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447128" y="5940000"/>
            <a:ext cx="2672080" cy="350000"/>
          </a:xfrm>
          <a:prstGeom prst="roundRect">
            <a:avLst>
              <a:gd name="adj" fmla="val 20000"/>
            </a:avLst>
          </a:prstGeom>
          <a:solidFill>
            <a:srgbClr val="E8F1FC"/>
          </a:solidFill>
          <a:ln w="9525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/>
          <p:nvPr/>
        </p:nvSpPr>
        <p:spPr>
          <a:xfrm>
            <a:off x="7447128" y="5940000"/>
            <a:ext cx="26720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972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시간당 $0.013 · 월 $9.4(≈12,700원)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Security Group &amp; VPC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Security Group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984248"/>
            <a:ext cx="4695156" cy="3102784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984248"/>
            <a:ext cx="443484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2112264"/>
            <a:ext cx="4434840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443484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30936" y="2071116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77240" y="2071116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23544" y="2071116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/home/claude/work2/build/assets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292" y="2304287"/>
            <a:ext cx="2860383" cy="275256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2920" y="517847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miro.medium.com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943100" y="548936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12700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1943100" y="5489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 포트 80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394960" y="1600200"/>
            <a:ext cx="6293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VPC 구조 (Region → VPC → Subnet)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394960" y="1984247"/>
            <a:ext cx="6293815" cy="3121479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5394960" y="1984248"/>
            <a:ext cx="6293815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5394960" y="2112264"/>
            <a:ext cx="6293815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5394960" y="2240280"/>
            <a:ext cx="6293815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5522976" y="2071116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5669280" y="2071116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5815584" y="2071116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1" descr="/home/claude/work2/build/assets/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618" y="2304288"/>
            <a:ext cx="4238363" cy="253000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522976" y="5181763"/>
            <a:ext cx="62938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docs.aws.amazon.com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5522975" y="5529234"/>
            <a:ext cx="6293815" cy="1120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region 내에 여러 개의 VPC를 생성 가능</a:t>
            </a:r>
            <a:endParaRPr lang="en-US" sz="1150" dirty="0"/>
          </a:p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VPC 안에는 여러 개의 subnet을 생성 가능</a:t>
            </a:r>
            <a:endParaRPr lang="en-US" sz="1150" dirty="0"/>
          </a:p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subnet은 여러 가용 영역(AZ)에 </a:t>
            </a:r>
            <a:r>
              <a:rPr lang="en-US" sz="11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분산</a:t>
            </a:r>
            <a:r>
              <a:rPr lang="en-US" sz="11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</a:t>
            </a:r>
            <a:r>
              <a:rPr lang="en-US" sz="11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altLang="ko-KR" sz="1200" dirty="0"/>
              <a:t>Subnet 1</a:t>
            </a:r>
            <a:r>
              <a:rPr lang="ko-KR" altLang="en-US" sz="1200" dirty="0"/>
              <a:t>개 자체는 </a:t>
            </a:r>
            <a:r>
              <a:rPr lang="en-US" altLang="ko-KR" sz="1200" dirty="0"/>
              <a:t>AZ 1</a:t>
            </a:r>
            <a:r>
              <a:rPr lang="ko-KR" altLang="en-US" sz="1200" dirty="0"/>
              <a:t>개에만 속함</a:t>
            </a:r>
            <a:endParaRPr lang="en-US" sz="1150" dirty="0">
              <a:solidFill>
                <a:srgbClr val="232F3E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instance</a:t>
            </a:r>
            <a:r>
              <a:rPr lang="ko-KR" altLang="en-US" sz="11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</a:t>
            </a:r>
            <a:r>
              <a:rPr lang="en-US" sz="11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subnet </a:t>
            </a:r>
            <a:r>
              <a:rPr lang="ko-KR" altLang="en-US" sz="11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안에 배치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30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Network Settings 구성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352648" y="1435608"/>
            <a:ext cx="420624" cy="420624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352648" y="1435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98368" y="1914064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398368" y="1914064"/>
            <a:ext cx="539496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398368" y="2042080"/>
            <a:ext cx="5394960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398368" y="2170096"/>
            <a:ext cx="539496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526384" y="2000932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672688" y="2000932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818992" y="2000932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/home/claude/work2/build/assets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245" y="2234104"/>
            <a:ext cx="3675205" cy="386791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398368" y="63031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그룹 규칙에서 SSH(22), 필요 시 HTTP/HTTPS </a:t>
            </a:r>
            <a:r>
              <a:rPr lang="en-US" sz="1200" dirty="0" err="1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포트를</a:t>
            </a: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</a:t>
            </a: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18" name="왼쪽 중괄호 17"/>
          <p:cNvSpPr/>
          <p:nvPr/>
        </p:nvSpPr>
        <p:spPr>
          <a:xfrm>
            <a:off x="4197927" y="2610196"/>
            <a:ext cx="60318" cy="1055717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왼쪽 중괄호 18"/>
          <p:cNvSpPr/>
          <p:nvPr/>
        </p:nvSpPr>
        <p:spPr>
          <a:xfrm>
            <a:off x="4197927" y="3860251"/>
            <a:ext cx="60318" cy="2041785"/>
          </a:xfrm>
          <a:prstGeom prst="leftBrac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Configure Storage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84632" y="1472184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84632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56400"/>
            <a:ext cx="507492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856400"/>
            <a:ext cx="507492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02920" y="1984416"/>
            <a:ext cx="5074920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2920" y="2112432"/>
            <a:ext cx="507492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30936" y="1943268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77240" y="1943268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23544" y="1943268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/home/claude/work2/build/assets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0" y="2176440"/>
            <a:ext cx="4779660" cy="286207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0160" y="524583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 볼륨 크기 및 스토리지 유형 설정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25470" y="3849792"/>
            <a:ext cx="5653735" cy="1252728"/>
          </a:xfrm>
          <a:prstGeom prst="roundRect">
            <a:avLst>
              <a:gd name="adj" fmla="val 4865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5926638" y="4050960"/>
            <a:ext cx="626364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926638" y="4050960"/>
            <a:ext cx="626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926638" y="4435008"/>
            <a:ext cx="5251399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인스턴스라면 파일 시스템은 보통 '없음'을 선택합니다. 위에서 설정한 루트 EBS 볼륨만으로 충분합니다.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26" name="Text 12"/>
          <p:cNvSpPr/>
          <p:nvPr/>
        </p:nvSpPr>
        <p:spPr>
          <a:xfrm>
            <a:off x="5577840" y="25466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/>
              <a:t>gp3: </a:t>
            </a:r>
            <a:r>
              <a:rPr lang="ko-KR" altLang="en-US" sz="1400" dirty="0"/>
              <a:t>가장 기본적이고 널리 쓰이는 </a:t>
            </a:r>
            <a:r>
              <a:rPr lang="en-US" altLang="ko-KR" sz="1400" dirty="0"/>
              <a:t>SSD </a:t>
            </a:r>
            <a:r>
              <a:rPr lang="ko-KR" altLang="en-US" sz="1400" dirty="0"/>
              <a:t>볼륨 타입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Launch Instance — 요약 확인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947008" y="1600200"/>
            <a:ext cx="420624" cy="420624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947008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992728" y="2020992"/>
            <a:ext cx="4206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992728" y="2020992"/>
            <a:ext cx="420624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992728" y="2149008"/>
            <a:ext cx="4206240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992728" y="2277024"/>
            <a:ext cx="420624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120744" y="2107860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267048" y="2107860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413352" y="2107860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/home/claude/work2/build/assets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744" y="2448502"/>
            <a:ext cx="3950208" cy="356153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19" y="626838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패널에서 설정을 확인하고 '</a:t>
            </a:r>
            <a:r>
              <a:rPr lang="en-US" sz="1300" b="1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시작</a:t>
            </a:r>
            <a:r>
              <a:rPr lang="en-US" sz="13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'을 클릭합니다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Viewing Created EC2 Instance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1185855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1185855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2276856"/>
            <a:ext cx="11185855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2404872"/>
            <a:ext cx="11185855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30936" y="2235708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77240" y="2235708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23544" y="2235708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/home/claude/work2/build/assets/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487787"/>
            <a:ext cx="10929823" cy="177269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45720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생성된 인스턴스 목록에서 상태(Instance state)가 </a:t>
            </a:r>
            <a:r>
              <a:rPr lang="ko-KR" altLang="en-US" sz="1300" dirty="0" err="1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실행중</a:t>
            </a:r>
            <a:r>
              <a:rPr lang="en-US" altLang="ko-KR" sz="13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en-US" sz="13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Running)</a:t>
            </a:r>
            <a:r>
              <a:rPr lang="en-US" sz="1300" dirty="0" err="1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인지</a:t>
            </a:r>
            <a:r>
              <a:rPr lang="en-US" sz="13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확인합니다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  <p:sp>
        <p:nvSpPr>
          <p:cNvPr id="16" name="Shape 16"/>
          <p:cNvSpPr/>
          <p:nvPr/>
        </p:nvSpPr>
        <p:spPr>
          <a:xfrm>
            <a:off x="502920" y="4964608"/>
            <a:ext cx="11185855" cy="1300000"/>
          </a:xfrm>
          <a:prstGeom prst="roundRect">
            <a:avLst>
              <a:gd name="adj" fmla="val 2500"/>
            </a:avLst>
          </a:prstGeom>
          <a:solidFill>
            <a:srgbClr val="FFF3DF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7"/>
          <p:cNvSpPr/>
          <p:nvPr/>
        </p:nvSpPr>
        <p:spPr>
          <a:xfrm>
            <a:off x="630936" y="5069608"/>
            <a:ext cx="750000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7"/>
          <p:cNvSpPr/>
          <p:nvPr/>
        </p:nvSpPr>
        <p:spPr>
          <a:xfrm>
            <a:off x="630936" y="5069608"/>
            <a:ext cx="7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주의</a:t>
            </a:r>
            <a:endParaRPr lang="en-US" sz="1050" dirty="0"/>
          </a:p>
        </p:txBody>
      </p:sp>
      <p:sp>
        <p:nvSpPr>
          <p:cNvPr id="19" name="Text 18"/>
          <p:cNvSpPr/>
          <p:nvPr/>
        </p:nvSpPr>
        <p:spPr>
          <a:xfrm>
            <a:off x="630936" y="5453656"/>
            <a:ext cx="10804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B86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실습이 끝나면 반드시 인스턴스를 중지(Stop)하거나 종료(Terminate)하세요 — 켜둔 채로 두면 계속 요금이 발생합니다.</a:t>
            </a:r>
            <a:endParaRPr lang="en-US" sz="1150" b="1" dirty="0"/>
          </a:p>
          <a:p>
            <a:pPr marL="203200" indent="-203200">
              <a:lnSpc>
                <a:spcPct val="110000"/>
              </a:lnSpc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중지(Stop): 컴퓨팅 비용은 멈추지만 EBS 볼륨(스토리지) 비용은 계속 발생 — 나중에 다시 시작 가능</a:t>
            </a:r>
            <a:endParaRPr lang="en-US" sz="1000" dirty="0"/>
          </a:p>
          <a:p>
            <a:pPr marL="203200" indent="-203200">
              <a:lnSpc>
                <a:spcPct val="110000"/>
              </a:lnSpc>
              <a:buSzPct val="100000"/>
              <a:buChar char="●"/>
            </a:pPr>
            <a:r>
              <a:rPr lang="en-US" sz="10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종료(Terminate): 인스턴스와 볼륨이 삭제되어 비용이 완전히 중단 — 단, 되돌릴 수 없음(재사용 불가)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세부 정보 확인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483968" y="1691640"/>
            <a:ext cx="7574432" cy="4190176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483968" y="1691640"/>
            <a:ext cx="722376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483968" y="1819656"/>
            <a:ext cx="7223760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483968" y="1947672"/>
            <a:ext cx="722376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611984" y="1778508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58288" y="1778508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904592" y="1778508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/home/claude/work2/build/assets/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451" y="2011680"/>
            <a:ext cx="6937391" cy="36559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483967" y="5984540"/>
            <a:ext cx="7223760" cy="53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400" dirty="0"/>
              <a:t>접속 전 필수 확인 </a:t>
            </a:r>
            <a:r>
              <a:rPr lang="en-US" altLang="ko-KR" sz="1400" dirty="0"/>
              <a:t>— </a:t>
            </a:r>
            <a:r>
              <a:rPr lang="ko-KR" altLang="en-US" sz="1400" dirty="0"/>
              <a:t>인스턴스 상태</a:t>
            </a:r>
            <a:r>
              <a:rPr lang="en-US" altLang="ko-KR" sz="1400" dirty="0"/>
              <a:t>(</a:t>
            </a:r>
            <a:r>
              <a:rPr lang="ko-KR" altLang="en-US" sz="1400" dirty="0"/>
              <a:t>실행 중</a:t>
            </a:r>
            <a:r>
              <a:rPr lang="en-US" altLang="ko-KR" sz="1400" dirty="0"/>
              <a:t>) · </a:t>
            </a:r>
            <a:r>
              <a:rPr lang="ko-KR" altLang="en-US" sz="1400" dirty="0" err="1"/>
              <a:t>퍼블릭</a:t>
            </a:r>
            <a:r>
              <a:rPr lang="ko-KR" altLang="en-US" sz="1400" dirty="0"/>
              <a:t> </a:t>
            </a:r>
            <a:r>
              <a:rPr lang="en-US" altLang="ko-KR" sz="1400" dirty="0"/>
              <a:t>IPv4 </a:t>
            </a:r>
            <a:r>
              <a:rPr lang="ko-KR" altLang="en-US" sz="1400" dirty="0"/>
              <a:t>주소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5162204" y="2443942"/>
            <a:ext cx="1429789" cy="72320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그룹 확인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12567" y="1783080"/>
            <a:ext cx="6991605" cy="3810412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12568" y="1783080"/>
            <a:ext cx="676656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712568" y="1911096"/>
            <a:ext cx="6766560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12568" y="2039112"/>
            <a:ext cx="676656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840584" y="1869948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986888" y="1869948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133192" y="1869948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/home/claude/work2/build/assets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917" y="2107815"/>
            <a:ext cx="6812904" cy="324323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712568" y="56886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포트 22(SSH) 연결이 허용되어 있습니다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00" dirty="0"/>
          </a:p>
        </p:txBody>
      </p:sp>
      <p:sp>
        <p:nvSpPr>
          <p:cNvPr id="16" name="타원 15"/>
          <p:cNvSpPr/>
          <p:nvPr/>
        </p:nvSpPr>
        <p:spPr>
          <a:xfrm>
            <a:off x="5486400" y="3857105"/>
            <a:ext cx="723207" cy="4904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2986888" y="3624349"/>
            <a:ext cx="49614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Connecting to an EC2 Instance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543695"/>
            <a:ext cx="39776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2543695"/>
            <a:ext cx="397764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2671711"/>
            <a:ext cx="3977640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2799727"/>
            <a:ext cx="397764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30936" y="2630563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77240" y="2630563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23544" y="2630563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/home/claude/work2/build/assets/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416" y="2863735"/>
            <a:ext cx="2778648" cy="28620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892040" y="2543695"/>
            <a:ext cx="6796735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892040" y="2543695"/>
            <a:ext cx="6796735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892040" y="2671711"/>
            <a:ext cx="6796735" cy="128016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892040" y="2799727"/>
            <a:ext cx="6796735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020056" y="2630563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5166360" y="2630563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5312664" y="2630563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/home/claude/work2/build/assets/image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842" y="2863735"/>
            <a:ext cx="4437131" cy="2862072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02920" y="5820000"/>
            <a:ext cx="11185855" cy="650000"/>
          </a:xfrm>
          <a:prstGeom prst="roundRect">
            <a:avLst>
              <a:gd name="adj" fmla="val 10588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/>
          <p:cNvSpPr/>
          <p:nvPr/>
        </p:nvSpPr>
        <p:spPr>
          <a:xfrm>
            <a:off x="704088" y="5930000"/>
            <a:ext cx="1467612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6"/>
          <p:cNvSpPr/>
          <p:nvPr/>
        </p:nvSpPr>
        <p:spPr>
          <a:xfrm>
            <a:off x="704088" y="5930000"/>
            <a:ext cx="14676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사용자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704088" y="6256032"/>
            <a:ext cx="1078351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프롬프트에는 chmod가 없습니다 — Git Bash, WSL을 쓰거나 PowerShell의 icacls 명령으로 동일하게 키 파일 권한을 제한하세요.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00" dirty="0"/>
          </a:p>
        </p:txBody>
      </p:sp>
      <p:sp>
        <p:nvSpPr>
          <p:cNvPr id="29" name="타원 28"/>
          <p:cNvSpPr/>
          <p:nvPr/>
        </p:nvSpPr>
        <p:spPr>
          <a:xfrm>
            <a:off x="1102416" y="2799727"/>
            <a:ext cx="975766" cy="39319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/>
          <p:cNvSpPr/>
          <p:nvPr/>
        </p:nvSpPr>
        <p:spPr>
          <a:xfrm>
            <a:off x="7032161" y="2784209"/>
            <a:ext cx="1097686" cy="4087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 25"/>
          <p:cNvSpPr/>
          <p:nvPr/>
        </p:nvSpPr>
        <p:spPr>
          <a:xfrm>
            <a:off x="502920" y="1736783"/>
            <a:ext cx="11185855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인스턴스 접속 방법은 크게 두 </a:t>
            </a:r>
            <a:r>
              <a:rPr lang="en-US" sz="1200" dirty="0" err="1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가지입니다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972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웹 브라우저(EC2 Instance Connect)</a:t>
            </a:r>
            <a:r>
              <a:rPr lang="en-US" sz="12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설치 없이 브라우저에서 즉시 </a:t>
            </a:r>
            <a:r>
              <a:rPr lang="en-US" sz="12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</a:t>
            </a:r>
            <a:r>
              <a:rPr lang="en-US" sz="120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</a:t>
            </a:r>
            <a:r>
              <a:rPr lang="en-US" sz="1200" b="1" dirty="0">
                <a:solidFill>
                  <a:srgbClr val="FF9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SSH 클라이언트</a:t>
            </a:r>
            <a:r>
              <a:rPr lang="en-US" sz="12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Private Key(.pem)로 터미널에서 직접 접속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1201</Words>
  <Application>Microsoft Office PowerPoint</Application>
  <PresentationFormat>와이드스크린</PresentationFormat>
  <Paragraphs>246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맑은 고딕</vt:lpstr>
      <vt:lpstr>Arial</vt:lpstr>
      <vt:lpstr>Calibri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이지형</cp:lastModifiedBy>
  <cp:revision>18</cp:revision>
  <dcterms:created xsi:type="dcterms:W3CDTF">2026-08-24T09:22:17Z</dcterms:created>
  <dcterms:modified xsi:type="dcterms:W3CDTF">2026-10-18T13:23:16Z</dcterms:modified>
</cp:coreProperties>
</file>