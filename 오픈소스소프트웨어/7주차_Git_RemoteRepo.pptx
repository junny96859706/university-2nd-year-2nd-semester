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2" r:id="rId11"/>
    <p:sldId id="266" r:id="rId12"/>
    <p:sldId id="269" r:id="rId13"/>
    <p:sldId id="270" r:id="rId14"/>
    <p:sldId id="283" r:id="rId15"/>
    <p:sldId id="284" r:id="rId16"/>
    <p:sldId id="277" r:id="rId17"/>
    <p:sldId id="278" r:id="rId18"/>
    <p:sldId id="279" r:id="rId19"/>
    <p:sldId id="280" r:id="rId20"/>
    <p:sldId id="28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1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09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26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72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63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3" name="Shape 1"/>
          <p:cNvSpPr/>
          <p:nvPr/>
        </p:nvSpPr>
        <p:spPr>
          <a:xfrm>
            <a:off x="9710928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4" name="Shape 2"/>
          <p:cNvSpPr/>
          <p:nvPr/>
        </p:nvSpPr>
        <p:spPr>
          <a:xfrm>
            <a:off x="10003536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5" name="Shape 3"/>
          <p:cNvSpPr/>
          <p:nvPr/>
        </p:nvSpPr>
        <p:spPr>
          <a:xfrm>
            <a:off x="10296144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6" name="Shape 4"/>
          <p:cNvSpPr/>
          <p:nvPr/>
        </p:nvSpPr>
        <p:spPr>
          <a:xfrm>
            <a:off x="10588752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0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8" name="Shape 6"/>
          <p:cNvSpPr/>
          <p:nvPr/>
        </p:nvSpPr>
        <p:spPr>
          <a:xfrm>
            <a:off x="9710928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9" name="Shape 7"/>
          <p:cNvSpPr/>
          <p:nvPr/>
        </p:nvSpPr>
        <p:spPr>
          <a:xfrm>
            <a:off x="10003536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0" name="Shape 8"/>
          <p:cNvSpPr/>
          <p:nvPr/>
        </p:nvSpPr>
        <p:spPr>
          <a:xfrm>
            <a:off x="10296144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1" name="Shape 9"/>
          <p:cNvSpPr/>
          <p:nvPr/>
        </p:nvSpPr>
        <p:spPr>
          <a:xfrm>
            <a:off x="10588752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2" name="Shape 10"/>
          <p:cNvSpPr/>
          <p:nvPr/>
        </p:nvSpPr>
        <p:spPr>
          <a:xfrm>
            <a:off x="9418320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0928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03536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96144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88752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7" name="Shape 15"/>
          <p:cNvSpPr/>
          <p:nvPr/>
        </p:nvSpPr>
        <p:spPr>
          <a:xfrm>
            <a:off x="9418320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8" name="Shape 16"/>
          <p:cNvSpPr/>
          <p:nvPr/>
        </p:nvSpPr>
        <p:spPr>
          <a:xfrm>
            <a:off x="9710928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03536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96144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88752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2" name="Shape 20"/>
          <p:cNvSpPr/>
          <p:nvPr/>
        </p:nvSpPr>
        <p:spPr>
          <a:xfrm>
            <a:off x="9418320" y="5650992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3" name="Shape 21"/>
          <p:cNvSpPr/>
          <p:nvPr/>
        </p:nvSpPr>
        <p:spPr>
          <a:xfrm>
            <a:off x="9710928" y="5650992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03536" y="5650992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6144" y="5650992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88752" y="5650992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19659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GIT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— 원격 저장소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5204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dirty="0" smtClean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ko-KR" altLang="en-US" sz="1600" dirty="0" smtClean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원격 </a:t>
            </a:r>
            <a:r>
              <a:rPr lang="ko-KR" altLang="en-US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</a:t>
            </a:r>
            <a:r>
              <a:rPr lang="ko-KR" altLang="en-US" sz="1600" dirty="0" smtClean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만들어 연결하기</a:t>
            </a:r>
            <a:r>
              <a:rPr lang="en-US" altLang="ko-KR" sz="1600" dirty="0" smtClean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ko-KR" altLang="en-US" sz="1600" dirty="0" smtClean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</a:t>
            </a:r>
            <a:r>
              <a:rPr lang="en-US" altLang="ko-KR" sz="1600" dirty="0" smtClean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</a:t>
            </a:r>
            <a:r>
              <a:rPr lang="en-US" altLang="ko-KR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pull · </a:t>
            </a:r>
            <a:r>
              <a:rPr lang="en-US" altLang="ko-KR" sz="1600" dirty="0" smtClean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r>
              <a:rPr lang="ko-KR" altLang="en-US" sz="1600" dirty="0" smtClean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</a:t>
            </a:r>
            <a:r>
              <a:rPr lang="en-US" altLang="ko-KR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dirty="0" smtClean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협업하기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234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저장소(Remote Repository)란?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저장소 만들기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488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148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 연결하기 (git remote)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060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606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인증(Authentication) — Personal Access Token(PAT)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632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063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— 로컬 변경사항을 원격으로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5204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3520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— 원격 저장소 복제하기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9776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3977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태그(Tag)로 릴리스 지점 표시하기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530352" cy="365760"/>
          </a:xfrm>
          <a:prstGeom prst="roundRect">
            <a:avLst>
              <a:gd name="adj" fmla="val 225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43484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70432" y="4434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나의 저장소를 GitHub에 올리기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속 브랜치와 커밋, 다시 보기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저장소 안에서 브랜치와 커밋이 어떻게 구성되는지 복습합니다.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56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표시(A~E)는 커밋(commit) 하나하나를, B 지점은 브랜치가 갈라져 나온(branch) 지점을 의미합니다.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16636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E9E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516636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커밋(commit)은 특정 시점의 스냅샷이고, 브랜치(branch)는 커밋이 이어진 독립적인 작업 흐름입니다.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5"/>
          <p:cNvSpPr/>
          <p:nvPr/>
        </p:nvSpPr>
        <p:spPr>
          <a:xfrm>
            <a:off x="457200" y="2148840"/>
            <a:ext cx="11277295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32" name="Text 6"/>
          <p:cNvSpPr txBox="1"/>
          <p:nvPr/>
        </p:nvSpPr>
        <p:spPr>
          <a:xfrm>
            <a:off x="731520" y="2313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33" name="Shape 7"/>
          <p:cNvSpPr/>
          <p:nvPr/>
        </p:nvSpPr>
        <p:spPr>
          <a:xfrm>
            <a:off x="1280160" y="2910535"/>
            <a:ext cx="4754880" cy="31090"/>
          </a:xfrm>
          <a:prstGeom prst="rect">
            <a:avLst/>
          </a:prstGeom>
          <a:solidFill>
            <a:srgbClr val="E0492B"/>
          </a:solidFill>
          <a:ln/>
        </p:spPr>
      </p:sp>
      <p:sp>
        <p:nvSpPr>
          <p:cNvPr id="34" name="Shape 8"/>
          <p:cNvSpPr/>
          <p:nvPr/>
        </p:nvSpPr>
        <p:spPr>
          <a:xfrm>
            <a:off x="1124712" y="2770632"/>
            <a:ext cx="310896" cy="310896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9"/>
          <p:cNvSpPr txBox="1"/>
          <p:nvPr/>
        </p:nvSpPr>
        <p:spPr>
          <a:xfrm>
            <a:off x="112471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6" name="Shape 10"/>
          <p:cNvSpPr/>
          <p:nvPr/>
        </p:nvSpPr>
        <p:spPr>
          <a:xfrm>
            <a:off x="3593592" y="2770632"/>
            <a:ext cx="310896" cy="310896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11"/>
          <p:cNvSpPr txBox="1"/>
          <p:nvPr/>
        </p:nvSpPr>
        <p:spPr>
          <a:xfrm>
            <a:off x="359359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8" name="Shape 12"/>
          <p:cNvSpPr/>
          <p:nvPr/>
        </p:nvSpPr>
        <p:spPr>
          <a:xfrm>
            <a:off x="5879592" y="2770632"/>
            <a:ext cx="310896" cy="310896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13"/>
          <p:cNvSpPr txBox="1"/>
          <p:nvPr/>
        </p:nvSpPr>
        <p:spPr>
          <a:xfrm>
            <a:off x="587959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40" name="Text 14"/>
          <p:cNvSpPr txBox="1"/>
          <p:nvPr/>
        </p:nvSpPr>
        <p:spPr>
          <a:xfrm>
            <a:off x="7818120" y="2706624"/>
            <a:ext cx="3596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배포된 버전의 이력</a:t>
            </a:r>
            <a:endParaRPr lang="en-US" sz="1250" dirty="0"/>
          </a:p>
        </p:txBody>
      </p:sp>
      <p:sp>
        <p:nvSpPr>
          <p:cNvPr id="41" name="Shape 15"/>
          <p:cNvSpPr/>
          <p:nvPr/>
        </p:nvSpPr>
        <p:spPr>
          <a:xfrm>
            <a:off x="3718866" y="3093414"/>
            <a:ext cx="45719" cy="564185"/>
          </a:xfrm>
          <a:prstGeom prst="rect">
            <a:avLst/>
          </a:prstGeom>
          <a:solidFill>
            <a:srgbClr val="0757BA"/>
          </a:solidFill>
          <a:ln/>
        </p:spPr>
      </p:sp>
      <p:sp>
        <p:nvSpPr>
          <p:cNvPr id="42" name="Shape 16"/>
          <p:cNvSpPr/>
          <p:nvPr/>
        </p:nvSpPr>
        <p:spPr>
          <a:xfrm>
            <a:off x="3749040" y="3642055"/>
            <a:ext cx="3383280" cy="31090"/>
          </a:xfrm>
          <a:prstGeom prst="rect">
            <a:avLst/>
          </a:prstGeom>
          <a:solidFill>
            <a:srgbClr val="0757BA"/>
          </a:solidFill>
          <a:ln/>
        </p:spPr>
      </p:sp>
      <p:sp>
        <p:nvSpPr>
          <p:cNvPr id="43" name="Shape 17"/>
          <p:cNvSpPr/>
          <p:nvPr/>
        </p:nvSpPr>
        <p:spPr>
          <a:xfrm>
            <a:off x="6976872" y="3502152"/>
            <a:ext cx="310896" cy="310896"/>
          </a:xfrm>
          <a:prstGeom prst="ellipse">
            <a:avLst/>
          </a:prstGeom>
          <a:solidFill>
            <a:srgbClr val="0757B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18"/>
          <p:cNvSpPr txBox="1"/>
          <p:nvPr/>
        </p:nvSpPr>
        <p:spPr>
          <a:xfrm>
            <a:off x="6976872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45" name="Text 19"/>
          <p:cNvSpPr txBox="1"/>
          <p:nvPr/>
        </p:nvSpPr>
        <p:spPr>
          <a:xfrm>
            <a:off x="7818120" y="3438144"/>
            <a:ext cx="3596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57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새 기능 개발 이력</a:t>
            </a:r>
            <a:endParaRPr lang="en-US" sz="1250" dirty="0"/>
          </a:p>
        </p:txBody>
      </p:sp>
      <p:sp>
        <p:nvSpPr>
          <p:cNvPr id="46" name="Shape 20"/>
          <p:cNvSpPr/>
          <p:nvPr/>
        </p:nvSpPr>
        <p:spPr>
          <a:xfrm>
            <a:off x="3718866" y="3081528"/>
            <a:ext cx="45719" cy="1307592"/>
          </a:xfrm>
          <a:prstGeom prst="rect">
            <a:avLst/>
          </a:prstGeom>
          <a:solidFill>
            <a:srgbClr val="C67C1E"/>
          </a:solidFill>
          <a:ln/>
        </p:spPr>
      </p:sp>
      <p:sp>
        <p:nvSpPr>
          <p:cNvPr id="47" name="Shape 21"/>
          <p:cNvSpPr/>
          <p:nvPr/>
        </p:nvSpPr>
        <p:spPr>
          <a:xfrm>
            <a:off x="3749040" y="4356949"/>
            <a:ext cx="3383280" cy="31090"/>
          </a:xfrm>
          <a:prstGeom prst="rect">
            <a:avLst/>
          </a:prstGeom>
          <a:solidFill>
            <a:srgbClr val="C67C1E"/>
          </a:solidFill>
          <a:ln/>
        </p:spPr>
      </p:sp>
      <p:sp>
        <p:nvSpPr>
          <p:cNvPr id="48" name="Shape 22"/>
          <p:cNvSpPr/>
          <p:nvPr/>
        </p:nvSpPr>
        <p:spPr>
          <a:xfrm>
            <a:off x="6976872" y="4217046"/>
            <a:ext cx="310896" cy="310896"/>
          </a:xfrm>
          <a:prstGeom prst="ellipse">
            <a:avLst/>
          </a:prstGeom>
          <a:solidFill>
            <a:srgbClr val="C67C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23"/>
          <p:cNvSpPr txBox="1"/>
          <p:nvPr/>
        </p:nvSpPr>
        <p:spPr>
          <a:xfrm>
            <a:off x="6976872" y="42170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50" name="Text 24"/>
          <p:cNvSpPr txBox="1"/>
          <p:nvPr/>
        </p:nvSpPr>
        <p:spPr>
          <a:xfrm>
            <a:off x="7818120" y="4153038"/>
            <a:ext cx="3596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7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긴급 버그 수정 이력</a:t>
            </a:r>
            <a:endParaRPr lang="en-US" sz="1250" dirty="0"/>
          </a:p>
        </p:txBody>
      </p:sp>
      <p:sp>
        <p:nvSpPr>
          <p:cNvPr id="51" name="Label 101"/>
          <p:cNvSpPr txBox="1"/>
          <p:nvPr/>
        </p:nvSpPr>
        <p:spPr>
          <a:xfrm>
            <a:off x="5035040" y="2260000"/>
            <a:ext cx="20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ko-KR" sz="115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r>
              <a:rPr lang="ko-KR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(커밋)</a:t>
            </a:r>
          </a:p>
          <a:p>
            <a:pPr algn="ctr">
              <a:buNone/>
            </a:pPr>
            <a:r>
              <a:rPr lang="ko-KR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</a:p>
        </p:txBody>
      </p:sp>
      <p:sp>
        <p:nvSpPr>
          <p:cNvPr id="53" name="Label 104"/>
          <p:cNvSpPr txBox="1"/>
          <p:nvPr/>
        </p:nvSpPr>
        <p:spPr>
          <a:xfrm>
            <a:off x="7818120" y="2380000"/>
            <a:ext cx="359633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altLang="ko-KR" sz="1400" b="1" dirty="0" smtClean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</a:t>
            </a:r>
            <a:r>
              <a:rPr lang="ko-KR" sz="1400" b="1" dirty="0" err="1" smtClean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r>
              <a:rPr lang="en-US" altLang="ko-KR" sz="1400" b="1" dirty="0" smtClean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 smtClean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r>
              <a:rPr lang="en-US" altLang="ko-KR" sz="1400" b="1" dirty="0" smtClean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ko-KR" sz="1400" dirty="0" smtClean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ko-KR" sz="1400" dirty="0">
              <a:solidFill>
                <a:srgbClr val="5B64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 vs 원격 저장소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지금까지는 내 컴퓨터(로컬) 안에서만 Git을 사용했습니다. 이제 GitHub 같은 원격 저장소와 연결합니다.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965959"/>
            <a:ext cx="5204308" cy="2805545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 (Local)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87752"/>
            <a:ext cx="4655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컴퓨터(또는 실습용 EC2) 안의 .git 폴더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4655668" cy="1483822"/>
          </a:xfrm>
          <a:prstGeom prst="roundRect">
            <a:avLst>
              <a:gd name="adj" fmla="val 4286"/>
            </a:avLst>
          </a:prstGeom>
          <a:solidFill>
            <a:srgbClr val="1B1F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175461"/>
            <a:ext cx="4198468" cy="134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hello-git/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.git/  (커밋 이력)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Hello.java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1508" y="25146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1508" y="34290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clone/pull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887885"/>
            <a:ext cx="11277295" cy="868680"/>
          </a:xfrm>
          <a:prstGeom prst="roundRect">
            <a:avLst>
              <a:gd name="adj" fmla="val 9474"/>
            </a:avLst>
          </a:prstGeom>
          <a:solidFill>
            <a:srgbClr val="FBE9E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887885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저장소(remote repository)는 인터넷 어딘가에 호스팅된 Git 저장소입니다. GitHub · GitLab · Bitbucket이 대표적인 호스팅 서비스입니다.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Shape 9"/>
          <p:cNvSpPr/>
          <p:nvPr/>
        </p:nvSpPr>
        <p:spPr>
          <a:xfrm>
            <a:off x="6530188" y="1965960"/>
            <a:ext cx="5204308" cy="2805545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25" name="Text 10"/>
          <p:cNvSpPr txBox="1"/>
          <p:nvPr/>
        </p:nvSpPr>
        <p:spPr>
          <a:xfrm>
            <a:off x="6804508" y="2194560"/>
            <a:ext cx="4655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 (Remote)</a:t>
            </a:r>
            <a:endParaRPr lang="en-US" sz="1600" dirty="0"/>
          </a:p>
        </p:txBody>
      </p:sp>
      <p:sp>
        <p:nvSpPr>
          <p:cNvPr id="26" name="Text 11"/>
          <p:cNvSpPr txBox="1"/>
          <p:nvPr/>
        </p:nvSpPr>
        <p:spPr>
          <a:xfrm>
            <a:off x="6804508" y="2587752"/>
            <a:ext cx="4655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서버에 호스팅된 동일한 저장소</a:t>
            </a:r>
            <a:endParaRPr lang="en-US" sz="1250" dirty="0"/>
          </a:p>
        </p:txBody>
      </p:sp>
      <p:sp>
        <p:nvSpPr>
          <p:cNvPr id="27" name="Shape 12"/>
          <p:cNvSpPr/>
          <p:nvPr/>
        </p:nvSpPr>
        <p:spPr>
          <a:xfrm>
            <a:off x="6804508" y="3063240"/>
            <a:ext cx="4655668" cy="1600200"/>
          </a:xfrm>
          <a:prstGeom prst="roundRect">
            <a:avLst>
              <a:gd name="adj" fmla="val 3429"/>
            </a:avLst>
          </a:prstGeom>
          <a:solidFill>
            <a:srgbClr val="1B1F24"/>
          </a:solidFill>
          <a:ln/>
        </p:spPr>
      </p:sp>
      <p:sp>
        <p:nvSpPr>
          <p:cNvPr id="28" name="Text 13"/>
          <p:cNvSpPr txBox="1"/>
          <p:nvPr/>
        </p:nvSpPr>
        <p:spPr>
          <a:xfrm>
            <a:off x="7033108" y="3200400"/>
            <a:ext cx="41984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github.com/kim/hello-git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(커밋 이력 전체 보관)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Hello.java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계정 만들기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에서 무료 계정을 만들고, 코드를 안전하게 지킬 보안 설정까지 함께 진행합니다.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130552"/>
            <a:ext cx="329184" cy="32918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10312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접속 → Sign 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43230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· 사용자명(username) · 비밀번호 입력 (이메일 인증 필요)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329184" cy="32918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0632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사용자명(username) 확정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39242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저장소 주소가 github.com/&lt;username&gt;/&lt;repo&gt; 형태로 생성됩니다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50792"/>
            <a:ext cx="329184" cy="32918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02336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인증(2FA) 설정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35254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Password and authentication → Two-factor authentication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212080"/>
            <a:ext cx="11277295" cy="868680"/>
          </a:xfrm>
          <a:prstGeom prst="roundRect">
            <a:avLst>
              <a:gd name="adj" fmla="val 9474"/>
            </a:avLst>
          </a:prstGeom>
          <a:solidFill>
            <a:srgbClr val="E3F0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52120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팁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GitHub는 코드에 기여하거나 조직을 관리하는 계정에 2FA를 단계적으로 의무화하고 있습니다. 지금 미리 설정해두면 나중에 강제 전환으로 당황할 일이 없습니다.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원격 저장소 만들기 (New Repository)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우측 상단의 + 버튼 → New repository 를 선택합니다.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8" name="Shape 40"/>
          <p:cNvSpPr/>
          <p:nvPr/>
        </p:nvSpPr>
        <p:spPr>
          <a:xfrm>
            <a:off x="457200" y="576072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E9E5"/>
          </a:solidFill>
          <a:ln/>
        </p:spPr>
      </p:sp>
      <p:sp>
        <p:nvSpPr>
          <p:cNvPr id="69" name="Text 41"/>
          <p:cNvSpPr txBox="1"/>
          <p:nvPr/>
        </p:nvSpPr>
        <p:spPr>
          <a:xfrm>
            <a:off x="685800" y="576072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2020년 10월부터 GitHub 저장소의 기본 </a:t>
            </a:r>
            <a:r>
              <a:rPr 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브랜치명은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smtClean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</a:t>
            </a:r>
            <a:r>
              <a:rPr lang="ko-KR" altLang="en-US" sz="1250" dirty="0" smtClean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입니다</a:t>
            </a:r>
            <a:r>
              <a:rPr lang="en-US" sz="1250" dirty="0" smtClean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6" name="Shape 4"/>
          <p:cNvSpPr/>
          <p:nvPr/>
        </p:nvSpPr>
        <p:spPr>
          <a:xfrm>
            <a:off x="457200" y="1783080"/>
            <a:ext cx="11277295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27000" dist="38100" dir="5400000" algn="bl" rotWithShape="0">
              <a:srgbClr val="1B1F24">
                <a:alpha val="15000"/>
              </a:srgbClr>
            </a:outerShdw>
          </a:effectLst>
        </p:spPr>
      </p:sp>
      <p:sp>
        <p:nvSpPr>
          <p:cNvPr id="107" name="Shape 5"/>
          <p:cNvSpPr/>
          <p:nvPr/>
        </p:nvSpPr>
        <p:spPr>
          <a:xfrm>
            <a:off x="457200" y="1783080"/>
            <a:ext cx="11277295" cy="384048"/>
          </a:xfrm>
          <a:prstGeom prst="roundRect">
            <a:avLst>
              <a:gd name="adj" fmla="val 19048"/>
            </a:avLst>
          </a:prstGeom>
          <a:solidFill>
            <a:srgbClr val="262B33"/>
          </a:solidFill>
          <a:ln/>
        </p:spPr>
      </p:sp>
      <p:sp>
        <p:nvSpPr>
          <p:cNvPr id="108" name="Shape 6"/>
          <p:cNvSpPr/>
          <p:nvPr/>
        </p:nvSpPr>
        <p:spPr>
          <a:xfrm>
            <a:off x="621792" y="1920240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9" name="Shape 7"/>
          <p:cNvSpPr/>
          <p:nvPr/>
        </p:nvSpPr>
        <p:spPr>
          <a:xfrm>
            <a:off x="804672" y="1920240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0" name="Shape 8"/>
          <p:cNvSpPr/>
          <p:nvPr/>
        </p:nvSpPr>
        <p:spPr>
          <a:xfrm>
            <a:off x="987552" y="1920240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1" name="Text 9"/>
          <p:cNvSpPr txBox="1"/>
          <p:nvPr/>
        </p:nvSpPr>
        <p:spPr>
          <a:xfrm>
            <a:off x="1234440" y="1865376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github.com/new</a:t>
            </a:r>
            <a:endParaRPr lang="en-US" sz="1050" dirty="0"/>
          </a:p>
        </p:txBody>
      </p:sp>
      <p:sp>
        <p:nvSpPr>
          <p:cNvPr id="112" name="Shape 10"/>
          <p:cNvSpPr/>
          <p:nvPr/>
        </p:nvSpPr>
        <p:spPr>
          <a:xfrm>
            <a:off x="777240" y="2313432"/>
            <a:ext cx="201168" cy="201168"/>
          </a:xfrm>
          <a:prstGeom prst="ellipse">
            <a:avLst/>
          </a:prstGeom>
          <a:solidFill>
            <a:srgbClr val="F6F7F8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3" name="Text 11"/>
          <p:cNvSpPr txBox="1"/>
          <p:nvPr/>
        </p:nvSpPr>
        <p:spPr>
          <a:xfrm>
            <a:off x="777240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4" name="Text 12"/>
          <p:cNvSpPr txBox="1"/>
          <p:nvPr/>
        </p:nvSpPr>
        <p:spPr>
          <a:xfrm>
            <a:off x="1115568" y="2276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00" dirty="0"/>
          </a:p>
        </p:txBody>
      </p:sp>
      <p:sp>
        <p:nvSpPr>
          <p:cNvPr id="115" name="Text 13"/>
          <p:cNvSpPr txBox="1"/>
          <p:nvPr/>
        </p:nvSpPr>
        <p:spPr>
          <a:xfrm>
            <a:off x="1115568" y="26060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/  Repository name</a:t>
            </a:r>
            <a:endParaRPr lang="en-US" sz="1100" dirty="0"/>
          </a:p>
        </p:txBody>
      </p:sp>
      <p:sp>
        <p:nvSpPr>
          <p:cNvPr id="116" name="Shape 14"/>
          <p:cNvSpPr/>
          <p:nvPr/>
        </p:nvSpPr>
        <p:spPr>
          <a:xfrm>
            <a:off x="4937760" y="2606040"/>
            <a:ext cx="6476695" cy="274320"/>
          </a:xfrm>
          <a:prstGeom prst="roundRect">
            <a:avLst>
              <a:gd name="adj" fmla="val 16667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7" name="Text 15"/>
          <p:cNvSpPr txBox="1"/>
          <p:nvPr/>
        </p:nvSpPr>
        <p:spPr>
          <a:xfrm>
            <a:off x="5065776" y="2606040"/>
            <a:ext cx="6257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</a:t>
            </a:r>
            <a:r>
              <a:rPr lang="en-US" sz="1200" dirty="0">
                <a:solidFill>
                  <a:srgbClr val="E2E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</a:t>
            </a: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hello-git</a:t>
            </a:r>
            <a:endParaRPr lang="en-US" sz="1200" dirty="0"/>
          </a:p>
        </p:txBody>
      </p:sp>
      <p:sp>
        <p:nvSpPr>
          <p:cNvPr id="118" name="Text 16"/>
          <p:cNvSpPr txBox="1"/>
          <p:nvPr/>
        </p:nvSpPr>
        <p:spPr>
          <a:xfrm>
            <a:off x="1115568" y="2971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19" name="Shape 17"/>
          <p:cNvSpPr/>
          <p:nvPr/>
        </p:nvSpPr>
        <p:spPr>
          <a:xfrm>
            <a:off x="4937760" y="2971800"/>
            <a:ext cx="6476695" cy="274320"/>
          </a:xfrm>
          <a:prstGeom prst="roundRect">
            <a:avLst>
              <a:gd name="adj" fmla="val 16667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0" name="Text 18"/>
          <p:cNvSpPr txBox="1"/>
          <p:nvPr/>
        </p:nvSpPr>
        <p:spPr>
          <a:xfrm>
            <a:off x="5065776" y="2971800"/>
            <a:ext cx="6257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실습용 저장소</a:t>
            </a:r>
            <a:endParaRPr lang="en-US" sz="1200" dirty="0"/>
          </a:p>
        </p:txBody>
      </p:sp>
      <p:sp>
        <p:nvSpPr>
          <p:cNvPr id="121" name="Shape 19"/>
          <p:cNvSpPr/>
          <p:nvPr/>
        </p:nvSpPr>
        <p:spPr>
          <a:xfrm>
            <a:off x="731520" y="3337560"/>
            <a:ext cx="10728655" cy="10973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22" name="Shape 20"/>
          <p:cNvSpPr/>
          <p:nvPr/>
        </p:nvSpPr>
        <p:spPr>
          <a:xfrm>
            <a:off x="777240" y="3447288"/>
            <a:ext cx="201168" cy="201168"/>
          </a:xfrm>
          <a:prstGeom prst="ellipse">
            <a:avLst/>
          </a:prstGeom>
          <a:solidFill>
            <a:srgbClr val="F6F7F8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3" name="Text 21"/>
          <p:cNvSpPr txBox="1"/>
          <p:nvPr/>
        </p:nvSpPr>
        <p:spPr>
          <a:xfrm>
            <a:off x="777240" y="3438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24" name="Text 22"/>
          <p:cNvSpPr txBox="1"/>
          <p:nvPr/>
        </p:nvSpPr>
        <p:spPr>
          <a:xfrm>
            <a:off x="1115568" y="3410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125" name="Text 23"/>
          <p:cNvSpPr txBox="1"/>
          <p:nvPr/>
        </p:nvSpPr>
        <p:spPr>
          <a:xfrm>
            <a:off x="1115568" y="375818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visibility</a:t>
            </a:r>
            <a:endParaRPr lang="en-US" sz="1150" dirty="0"/>
          </a:p>
        </p:txBody>
      </p:sp>
      <p:sp>
        <p:nvSpPr>
          <p:cNvPr id="126" name="Shape 24"/>
          <p:cNvSpPr/>
          <p:nvPr/>
        </p:nvSpPr>
        <p:spPr>
          <a:xfrm>
            <a:off x="4937760" y="3758184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7" name="Text 25"/>
          <p:cNvSpPr txBox="1"/>
          <p:nvPr/>
        </p:nvSpPr>
        <p:spPr>
          <a:xfrm>
            <a:off x="5047488" y="37581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100" dirty="0"/>
          </a:p>
        </p:txBody>
      </p:sp>
      <p:sp>
        <p:nvSpPr>
          <p:cNvPr id="128" name="Text 26"/>
          <p:cNvSpPr txBox="1"/>
          <p:nvPr/>
        </p:nvSpPr>
        <p:spPr>
          <a:xfrm>
            <a:off x="1115568" y="403250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template</a:t>
            </a:r>
            <a:endParaRPr lang="en-US" sz="1150" dirty="0"/>
          </a:p>
        </p:txBody>
      </p:sp>
      <p:sp>
        <p:nvSpPr>
          <p:cNvPr id="129" name="Shape 27"/>
          <p:cNvSpPr/>
          <p:nvPr/>
        </p:nvSpPr>
        <p:spPr>
          <a:xfrm>
            <a:off x="4937760" y="4032504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0" name="Text 28"/>
          <p:cNvSpPr txBox="1"/>
          <p:nvPr/>
        </p:nvSpPr>
        <p:spPr>
          <a:xfrm>
            <a:off x="5047488" y="4032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template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100" dirty="0"/>
          </a:p>
        </p:txBody>
      </p:sp>
      <p:sp>
        <p:nvSpPr>
          <p:cNvPr id="131" name="Text 29"/>
          <p:cNvSpPr txBox="1"/>
          <p:nvPr/>
        </p:nvSpPr>
        <p:spPr>
          <a:xfrm>
            <a:off x="1115568" y="430682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README</a:t>
            </a:r>
            <a:endParaRPr lang="en-US" sz="1150" dirty="0"/>
          </a:p>
        </p:txBody>
      </p:sp>
      <p:sp>
        <p:nvSpPr>
          <p:cNvPr id="132" name="Text 30"/>
          <p:cNvSpPr txBox="1"/>
          <p:nvPr/>
        </p:nvSpPr>
        <p:spPr>
          <a:xfrm>
            <a:off x="4480560" y="4306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50" dirty="0"/>
          </a:p>
        </p:txBody>
      </p:sp>
      <p:sp>
        <p:nvSpPr>
          <p:cNvPr id="133" name="Shape 31"/>
          <p:cNvSpPr/>
          <p:nvPr/>
        </p:nvSpPr>
        <p:spPr>
          <a:xfrm>
            <a:off x="4983480" y="4325112"/>
            <a:ext cx="347472" cy="182880"/>
          </a:xfrm>
          <a:prstGeom prst="roundRect">
            <a:avLst>
              <a:gd name="adj" fmla="val 50000"/>
            </a:avLst>
          </a:prstGeom>
          <a:solidFill>
            <a:srgbClr val="E2E5E9"/>
          </a:solidFill>
          <a:ln/>
        </p:spPr>
      </p:sp>
      <p:sp>
        <p:nvSpPr>
          <p:cNvPr id="134" name="Shape 32"/>
          <p:cNvSpPr/>
          <p:nvPr/>
        </p:nvSpPr>
        <p:spPr>
          <a:xfrm>
            <a:off x="5001768" y="43434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5" name="Text 33"/>
          <p:cNvSpPr txBox="1"/>
          <p:nvPr/>
        </p:nvSpPr>
        <p:spPr>
          <a:xfrm>
            <a:off x="1115568" y="458114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.gitignore</a:t>
            </a:r>
            <a:endParaRPr lang="en-US" sz="1150" dirty="0"/>
          </a:p>
        </p:txBody>
      </p:sp>
      <p:sp>
        <p:nvSpPr>
          <p:cNvPr id="136" name="Shape 34"/>
          <p:cNvSpPr/>
          <p:nvPr/>
        </p:nvSpPr>
        <p:spPr>
          <a:xfrm>
            <a:off x="4937760" y="4581144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7" name="Text 35"/>
          <p:cNvSpPr txBox="1"/>
          <p:nvPr/>
        </p:nvSpPr>
        <p:spPr>
          <a:xfrm>
            <a:off x="5047488" y="45811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.gitignore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100" dirty="0"/>
          </a:p>
        </p:txBody>
      </p:sp>
      <p:sp>
        <p:nvSpPr>
          <p:cNvPr id="138" name="Text 36"/>
          <p:cNvSpPr txBox="1"/>
          <p:nvPr/>
        </p:nvSpPr>
        <p:spPr>
          <a:xfrm>
            <a:off x="1115568" y="485546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license</a:t>
            </a:r>
            <a:endParaRPr lang="en-US" sz="1150" dirty="0"/>
          </a:p>
        </p:txBody>
      </p:sp>
      <p:sp>
        <p:nvSpPr>
          <p:cNvPr id="139" name="Shape 37"/>
          <p:cNvSpPr/>
          <p:nvPr/>
        </p:nvSpPr>
        <p:spPr>
          <a:xfrm>
            <a:off x="4937760" y="4855464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40" name="Text 38"/>
          <p:cNvSpPr txBox="1"/>
          <p:nvPr/>
        </p:nvSpPr>
        <p:spPr>
          <a:xfrm>
            <a:off x="5047488" y="48554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100" dirty="0"/>
          </a:p>
        </p:txBody>
      </p:sp>
      <p:sp>
        <p:nvSpPr>
          <p:cNvPr id="141" name="Text 39"/>
          <p:cNvSpPr txBox="1"/>
          <p:nvPr/>
        </p:nvSpPr>
        <p:spPr>
          <a:xfrm>
            <a:off x="1115568" y="5166360"/>
            <a:ext cx="10271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로컬에 이미 같은 이름의 저장소가 있다면 README·.gitignore·license 없이 완전히 빈 저장소로 생성하세요 (충돌 방지).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add — 원격 저장소에 이름 붙이기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저장소가 원격 저장소의 URL을 기억하도록 이름(별칭)을 등록합니다.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847088"/>
          </a:xfrm>
          <a:prstGeom prst="roundRect">
            <a:avLst>
              <a:gd name="adj" fmla="val 4455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원격 저장소 연결하기 (HTTPS)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https://github.com/kim/hello-git.git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-v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https://github.com/kim/hello-git.git (fetch)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https://github.com/kim/hello-git.git (push)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&lt;원격이름&gt; &lt;원격저장소 URL&gt;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11277295" cy="868680"/>
          </a:xfrm>
          <a:prstGeom prst="roundRect">
            <a:avLst>
              <a:gd name="adj" fmla="val 9474"/>
            </a:avLst>
          </a:prstGeom>
          <a:solidFill>
            <a:srgbClr val="FBE9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6177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origin은 관례적으로 쓰는 원격 저장소의 기본 별칭입니다. 반드시 이 이름이어야 하는 것은 아니지만, 대부분의 Git 문서와 도구가 origin을 기본값으로 가정합니다.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연결 확인 · 이름 변경 · 해제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연결한 원격 저장소는 언제든 목록을 확인하고, 이름을 바꾸거나 제거할 수 있습니다.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536192"/>
          </a:xfrm>
          <a:prstGeom prst="roundRect">
            <a:avLst>
              <a:gd name="adj" fmla="val 5357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연결 목록 확인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-v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https://github.com/kim/hello-git.git (fetch)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https://github.com/kim/hello-git.git (push)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1277295" cy="1225296"/>
          </a:xfrm>
          <a:prstGeom prst="roundRect">
            <a:avLst>
              <a:gd name="adj" fmla="val 671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9867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9867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" y="39867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9410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 변경 / 연결 해제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261104"/>
            <a:ext cx="1076523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rename origin upstream   # origin → upstream 으로 이름 변경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remove upstream          # upstream 연결 해제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인증 — 비밀번호 대신 PAT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2021년 8월부터 GitHub는 git push/pull 시 계정 비밀번호를 받지 않습니다. 대신 Personal Access Token(PAT)을 사용합니다.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455768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16712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계정 비밀번호 (사용 불가)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49071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2021년 8월부터 git push/pull 인증에 사용 불가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유출되면 계정 전체가 위험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권한 범위나 사용 기한을 제한할 수 없음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웹사이트 로그인에만 사용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965960"/>
            <a:ext cx="5455768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53048" y="216712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 (PAT)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51760"/>
            <a:ext cx="49071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비밀번호 자리에 입력하는 긴 문자열 (ghp_로 시작)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필요한 권한(scope)만 골라서 발급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만료 기한을 정할 수 있고, 언제든 삭제 가능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유출돼도 토큰만 삭제하면 계정은 안전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Token(PAT) 발급하기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토큰은 Collaborator로 초대받은 저장소에 push할 수 없으므로, 이번 실습은 Alice · Bob 모두 classic 토큰을 사용합니다.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81051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Developer settings → Personal access tokens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157984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(classic) → Generate new token → Generate new token (classic)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50545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화면에서 Note · Expiration · Select scopes를 설정합니다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45576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303580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· Expiration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520440"/>
            <a:ext cx="4907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Note: 토큰 용도 메모 (예: git-class)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Expiration: 7 days 등 짧게 설정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Custom을 고르면 실습 종료일로 지정 가능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2834640"/>
            <a:ext cx="545576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53048" y="303580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scopes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3520440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 항목 아래 public_repo 만 체크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공개 저장소에 push 가능 · Private 저장소는 접근 불가</a:t>
            </a:r>
            <a:endParaRPr lang="en-US" sz="1150" dirty="0"/>
          </a:p>
          <a:p>
            <a:pPr marL="0" indent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Private 저장소라면 repo 전체 체크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내가 접근 가능한 모든 저장소(Private 포함)에 전체 권한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020056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5020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00176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 클릭 → 표시된 토큰 값을 즉시 복사 (다시 보여주지 않음)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422392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F0D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5422392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6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PAT는 비밀번호와 같습니다. 코드에 커밋하거나 다른 사람과 공유하지 마세요 — 공유받은 사람은 토큰 주인으로 접속하게 됩니다.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20988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PAT로 push/pull 인증하기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push나 pull 시 비밀번호를 묻는 화면에 발급받은 PAT를 붙여넣습니다.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536192"/>
          </a:xfrm>
          <a:prstGeom prst="roundRect">
            <a:avLst>
              <a:gd name="adj" fmla="val 5357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PAT로 인증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kim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&lt;PAT를 붙여넣기, 화면에 표시되지 않음&gt;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1277295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9867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9867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" y="39867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9410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dirty="0" smtClean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</a:t>
            </a:r>
            <a:r>
              <a:rPr lang="ko-KR" alt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를 저장해 다음부터 자동으로 인증되도록 설정 </a:t>
            </a:r>
            <a:r>
              <a:rPr lang="en-US" altLang="ko-KR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ko-KR" alt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본인만 쓰는 </a:t>
            </a:r>
            <a:r>
              <a:rPr lang="en-US" altLang="ko-KR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PC·</a:t>
            </a:r>
            <a:r>
              <a:rPr lang="ko-KR" alt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서버에서만</a:t>
            </a:r>
            <a:r>
              <a:rPr lang="en-US" altLang="ko-KR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261104"/>
            <a:ext cx="10765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credential.helper store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1277295" cy="868680"/>
          </a:xfrm>
          <a:prstGeom prst="roundRect">
            <a:avLst>
              <a:gd name="adj" fmla="val 9474"/>
            </a:avLst>
          </a:prstGeom>
          <a:solidFill>
            <a:srgbClr val="E3F0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507492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팁  </a:t>
            </a:r>
            <a:r>
              <a:rPr lang="en-US" altLang="ko-KR" sz="1250" dirty="0" err="1" smtClean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credential.helper</a:t>
            </a:r>
            <a:r>
              <a:rPr lang="en-US" altLang="ko-KR" sz="1250" dirty="0" smtClean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토큰을 </a:t>
            </a:r>
            <a:r>
              <a:rPr lang="ko-KR" alt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평문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파일에 저장합니다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암호화된 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저장소를 쓰려면 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Credential Manager(GCM),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osxkeychain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Linux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libsecret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선택하세요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— 브랜치를 원격 저장소로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&lt;원격이름&gt; &lt;로컬브랜치이름&gt; — 로컬 브랜치의 커밋을 원격 저장소에 반영합니다.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225296"/>
          </a:xfrm>
          <a:prstGeom prst="roundRect">
            <a:avLst>
              <a:gd name="adj" fmla="val 671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로컬 main 브랜치 → 원격 origin/main 브랜치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3986" y="4135581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B1F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753986" y="4135581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로컬  main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135581"/>
            <a:ext cx="4693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96240" y="4135581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B1F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96240" y="4135581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원격 origin/main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옵션 — upstream 브랜치 설정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-u(--set-upstream)는 로컬 브랜치와 원격 브랜치를 연결해, 이후 명령을 짧게 줄여줍니다.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225296"/>
          </a:xfrm>
          <a:prstGeom prst="roundRect">
            <a:avLst>
              <a:gd name="adj" fmla="val 671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최초 push (upstream 설정)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'main' set up to track 'origin/main'.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1277295" cy="1225296"/>
          </a:xfrm>
          <a:prstGeom prst="roundRect">
            <a:avLst>
              <a:gd name="adj" fmla="val 671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66674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66674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" y="366674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62102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이후에는 이름 없이 사용 가능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941064"/>
            <a:ext cx="1076523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pull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E3F0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98348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팁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옵션은 처음 한 번만 붙이면 됩니다. 이후에는 git push, git pull만으로 origin의 main 브랜치와 동기화됩니다.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— 저장소 통째로 복제하기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저장소의 커밋 이력 전체를 새 디렉터리로 내려받습니다.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HTTPS로 clone (새 디렉터리에)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https://github.com/kim/hello-git.git hello-git-cloned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77295" cy="1536192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3009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clone된 저장소의 원격 연결 확인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621024"/>
            <a:ext cx="107652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hello-git-cloned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-v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https://github.com/kim/hello-git.git (fetch)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937760"/>
            <a:ext cx="11277295" cy="868680"/>
          </a:xfrm>
          <a:prstGeom prst="roundRect">
            <a:avLst>
              <a:gd name="adj" fmla="val 9474"/>
            </a:avLst>
          </a:prstGeom>
          <a:solidFill>
            <a:srgbClr val="FBE9E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93776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clone으로 만든 디렉터리는 이미 origin이라는 이름으로 원격이 자동 연결되어 있습니다. 로컬의 기존 hello-git과 겹치지 않도록 디렉터리 이름을 hello-git-cloned로 지정했습니다.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83190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태그(Tag)로 릴리스 지점 표시하기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태그는 특정 커밋에 붙이는 '이름표'로, 주로 릴리스 버전(v1.0.0 등)을 표시할 때 사용합니다.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1277295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101600" dist="381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0632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063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74520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1" name="Shape 9"/>
          <p:cNvSpPr/>
          <p:nvPr/>
        </p:nvSpPr>
        <p:spPr>
          <a:xfrm>
            <a:off x="1984248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2093976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2203704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2313432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5" name="Shape 13"/>
          <p:cNvSpPr/>
          <p:nvPr/>
        </p:nvSpPr>
        <p:spPr>
          <a:xfrm>
            <a:off x="2423160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2532888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2642616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344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3184855"/>
            <a:ext cx="2651760" cy="31090"/>
          </a:xfrm>
          <a:prstGeom prst="rect">
            <a:avLst/>
          </a:prstGeom>
          <a:solidFill>
            <a:srgbClr val="E0492B"/>
          </a:solidFill>
          <a:ln/>
        </p:spPr>
      </p:sp>
      <p:sp>
        <p:nvSpPr>
          <p:cNvPr id="20" name="Shape 18"/>
          <p:cNvSpPr/>
          <p:nvPr/>
        </p:nvSpPr>
        <p:spPr>
          <a:xfrm>
            <a:off x="5577840" y="3184855"/>
            <a:ext cx="4572000" cy="31090"/>
          </a:xfrm>
          <a:prstGeom prst="rect">
            <a:avLst/>
          </a:prstGeom>
          <a:solidFill>
            <a:srgbClr val="E049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49840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9568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69296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9024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88752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98480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08208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17936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27664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37392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47120" y="318942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32" name="Shape 30"/>
          <p:cNvSpPr/>
          <p:nvPr/>
        </p:nvSpPr>
        <p:spPr>
          <a:xfrm>
            <a:off x="2825496" y="309981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77256" y="309981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49256" y="309981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10535" y="2907792"/>
            <a:ext cx="31090" cy="164592"/>
          </a:xfrm>
          <a:prstGeom prst="rect">
            <a:avLst/>
          </a:prstGeom>
          <a:solidFill>
            <a:srgbClr val="E0492B"/>
          </a:solidFill>
          <a:ln/>
        </p:spPr>
      </p:sp>
      <p:sp>
        <p:nvSpPr>
          <p:cNvPr id="36" name="Shape 34"/>
          <p:cNvSpPr/>
          <p:nvPr/>
        </p:nvSpPr>
        <p:spPr>
          <a:xfrm>
            <a:off x="2642616" y="263347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0492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642616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v0.1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62295" y="2907792"/>
            <a:ext cx="31090" cy="164592"/>
          </a:xfrm>
          <a:prstGeom prst="rect">
            <a:avLst/>
          </a:prstGeom>
          <a:solidFill>
            <a:srgbClr val="E0492B"/>
          </a:solidFill>
          <a:ln/>
        </p:spPr>
      </p:sp>
      <p:sp>
        <p:nvSpPr>
          <p:cNvPr id="39" name="Shape 37"/>
          <p:cNvSpPr/>
          <p:nvPr/>
        </p:nvSpPr>
        <p:spPr>
          <a:xfrm>
            <a:off x="5294376" y="263347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0492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294376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v0.2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134295" y="2907792"/>
            <a:ext cx="31090" cy="164592"/>
          </a:xfrm>
          <a:prstGeom prst="rect">
            <a:avLst/>
          </a:prstGeom>
          <a:solidFill>
            <a:srgbClr val="E0492B"/>
          </a:solidFill>
          <a:ln/>
        </p:spPr>
      </p:sp>
      <p:sp>
        <p:nvSpPr>
          <p:cNvPr id="42" name="Shape 40"/>
          <p:cNvSpPr/>
          <p:nvPr/>
        </p:nvSpPr>
        <p:spPr>
          <a:xfrm>
            <a:off x="9866376" y="2633472"/>
            <a:ext cx="566928" cy="274320"/>
          </a:xfrm>
          <a:prstGeom prst="roundRect">
            <a:avLst>
              <a:gd name="adj" fmla="val 16667"/>
            </a:avLst>
          </a:prstGeom>
          <a:solidFill>
            <a:srgbClr val="E0492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866376" y="2633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1520" y="4114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757B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3152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895905" y="3300984"/>
            <a:ext cx="45720" cy="950976"/>
          </a:xfrm>
          <a:prstGeom prst="rect">
            <a:avLst/>
          </a:prstGeom>
          <a:solidFill>
            <a:srgbClr val="0757BA"/>
          </a:solidFill>
          <a:ln/>
        </p:spPr>
      </p:sp>
      <p:sp>
        <p:nvSpPr>
          <p:cNvPr id="47" name="Shape 45"/>
          <p:cNvSpPr/>
          <p:nvPr/>
        </p:nvSpPr>
        <p:spPr>
          <a:xfrm>
            <a:off x="2926080" y="4236415"/>
            <a:ext cx="2834640" cy="31090"/>
          </a:xfrm>
          <a:prstGeom prst="rect">
            <a:avLst/>
          </a:prstGeom>
          <a:solidFill>
            <a:srgbClr val="0757BA"/>
          </a:solidFill>
          <a:ln/>
        </p:spPr>
      </p:sp>
      <p:sp>
        <p:nvSpPr>
          <p:cNvPr id="48" name="Shape 46"/>
          <p:cNvSpPr/>
          <p:nvPr/>
        </p:nvSpPr>
        <p:spPr>
          <a:xfrm>
            <a:off x="576072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49" name="Shape 47"/>
          <p:cNvSpPr/>
          <p:nvPr/>
        </p:nvSpPr>
        <p:spPr>
          <a:xfrm>
            <a:off x="587044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50" name="Shape 48"/>
          <p:cNvSpPr/>
          <p:nvPr/>
        </p:nvSpPr>
        <p:spPr>
          <a:xfrm>
            <a:off x="598017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51" name="Shape 49"/>
          <p:cNvSpPr/>
          <p:nvPr/>
        </p:nvSpPr>
        <p:spPr>
          <a:xfrm>
            <a:off x="608990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52" name="Shape 50"/>
          <p:cNvSpPr/>
          <p:nvPr/>
        </p:nvSpPr>
        <p:spPr>
          <a:xfrm>
            <a:off x="619963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53" name="Shape 51"/>
          <p:cNvSpPr/>
          <p:nvPr/>
        </p:nvSpPr>
        <p:spPr>
          <a:xfrm>
            <a:off x="630936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54" name="Shape 52"/>
          <p:cNvSpPr/>
          <p:nvPr/>
        </p:nvSpPr>
        <p:spPr>
          <a:xfrm>
            <a:off x="641908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55" name="Shape 53"/>
          <p:cNvSpPr/>
          <p:nvPr/>
        </p:nvSpPr>
        <p:spPr>
          <a:xfrm>
            <a:off x="652881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56" name="Shape 54"/>
          <p:cNvSpPr/>
          <p:nvPr/>
        </p:nvSpPr>
        <p:spPr>
          <a:xfrm>
            <a:off x="663854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57" name="Shape 55"/>
          <p:cNvSpPr/>
          <p:nvPr/>
        </p:nvSpPr>
        <p:spPr>
          <a:xfrm>
            <a:off x="674827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58" name="Shape 56"/>
          <p:cNvSpPr/>
          <p:nvPr/>
        </p:nvSpPr>
        <p:spPr>
          <a:xfrm>
            <a:off x="685800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59" name="Shape 57"/>
          <p:cNvSpPr/>
          <p:nvPr/>
        </p:nvSpPr>
        <p:spPr>
          <a:xfrm>
            <a:off x="696772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60" name="Shape 58"/>
          <p:cNvSpPr/>
          <p:nvPr/>
        </p:nvSpPr>
        <p:spPr>
          <a:xfrm>
            <a:off x="707745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61" name="Shape 59"/>
          <p:cNvSpPr/>
          <p:nvPr/>
        </p:nvSpPr>
        <p:spPr>
          <a:xfrm>
            <a:off x="718718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62" name="Shape 60"/>
          <p:cNvSpPr/>
          <p:nvPr/>
        </p:nvSpPr>
        <p:spPr>
          <a:xfrm>
            <a:off x="729691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63" name="Shape 61"/>
          <p:cNvSpPr/>
          <p:nvPr/>
        </p:nvSpPr>
        <p:spPr>
          <a:xfrm>
            <a:off x="740664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64" name="Shape 62"/>
          <p:cNvSpPr/>
          <p:nvPr/>
        </p:nvSpPr>
        <p:spPr>
          <a:xfrm>
            <a:off x="751636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65" name="Shape 63"/>
          <p:cNvSpPr/>
          <p:nvPr/>
        </p:nvSpPr>
        <p:spPr>
          <a:xfrm>
            <a:off x="762609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66" name="Shape 64"/>
          <p:cNvSpPr/>
          <p:nvPr/>
        </p:nvSpPr>
        <p:spPr>
          <a:xfrm>
            <a:off x="773582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67" name="Shape 65"/>
          <p:cNvSpPr/>
          <p:nvPr/>
        </p:nvSpPr>
        <p:spPr>
          <a:xfrm>
            <a:off x="784555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68" name="Shape 66"/>
          <p:cNvSpPr/>
          <p:nvPr/>
        </p:nvSpPr>
        <p:spPr>
          <a:xfrm>
            <a:off x="795528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69" name="Shape 67"/>
          <p:cNvSpPr/>
          <p:nvPr/>
        </p:nvSpPr>
        <p:spPr>
          <a:xfrm>
            <a:off x="806500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0" name="Shape 68"/>
          <p:cNvSpPr/>
          <p:nvPr/>
        </p:nvSpPr>
        <p:spPr>
          <a:xfrm>
            <a:off x="817473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1" name="Shape 69"/>
          <p:cNvSpPr/>
          <p:nvPr/>
        </p:nvSpPr>
        <p:spPr>
          <a:xfrm>
            <a:off x="828446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2" name="Shape 70"/>
          <p:cNvSpPr/>
          <p:nvPr/>
        </p:nvSpPr>
        <p:spPr>
          <a:xfrm>
            <a:off x="839419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3" name="Shape 71"/>
          <p:cNvSpPr/>
          <p:nvPr/>
        </p:nvSpPr>
        <p:spPr>
          <a:xfrm>
            <a:off x="850392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4" name="Shape 72"/>
          <p:cNvSpPr/>
          <p:nvPr/>
        </p:nvSpPr>
        <p:spPr>
          <a:xfrm>
            <a:off x="861364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5" name="Shape 73"/>
          <p:cNvSpPr/>
          <p:nvPr/>
        </p:nvSpPr>
        <p:spPr>
          <a:xfrm>
            <a:off x="872337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6" name="Shape 74"/>
          <p:cNvSpPr/>
          <p:nvPr/>
        </p:nvSpPr>
        <p:spPr>
          <a:xfrm>
            <a:off x="883310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7" name="Shape 75"/>
          <p:cNvSpPr/>
          <p:nvPr/>
        </p:nvSpPr>
        <p:spPr>
          <a:xfrm>
            <a:off x="894283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8" name="Shape 76"/>
          <p:cNvSpPr/>
          <p:nvPr/>
        </p:nvSpPr>
        <p:spPr>
          <a:xfrm>
            <a:off x="905256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79" name="Shape 77"/>
          <p:cNvSpPr/>
          <p:nvPr/>
        </p:nvSpPr>
        <p:spPr>
          <a:xfrm>
            <a:off x="916228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0" name="Shape 78"/>
          <p:cNvSpPr/>
          <p:nvPr/>
        </p:nvSpPr>
        <p:spPr>
          <a:xfrm>
            <a:off x="927201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1" name="Shape 79"/>
          <p:cNvSpPr/>
          <p:nvPr/>
        </p:nvSpPr>
        <p:spPr>
          <a:xfrm>
            <a:off x="938174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2" name="Shape 80"/>
          <p:cNvSpPr/>
          <p:nvPr/>
        </p:nvSpPr>
        <p:spPr>
          <a:xfrm>
            <a:off x="949147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3" name="Shape 81"/>
          <p:cNvSpPr/>
          <p:nvPr/>
        </p:nvSpPr>
        <p:spPr>
          <a:xfrm>
            <a:off x="960120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4" name="Shape 82"/>
          <p:cNvSpPr/>
          <p:nvPr/>
        </p:nvSpPr>
        <p:spPr>
          <a:xfrm>
            <a:off x="971092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5" name="Shape 83"/>
          <p:cNvSpPr/>
          <p:nvPr/>
        </p:nvSpPr>
        <p:spPr>
          <a:xfrm>
            <a:off x="982065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6" name="Shape 84"/>
          <p:cNvSpPr/>
          <p:nvPr/>
        </p:nvSpPr>
        <p:spPr>
          <a:xfrm>
            <a:off x="993038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7" name="Shape 85"/>
          <p:cNvSpPr/>
          <p:nvPr/>
        </p:nvSpPr>
        <p:spPr>
          <a:xfrm>
            <a:off x="1004011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8" name="Shape 86"/>
          <p:cNvSpPr/>
          <p:nvPr/>
        </p:nvSpPr>
        <p:spPr>
          <a:xfrm>
            <a:off x="1014984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89" name="Shape 87"/>
          <p:cNvSpPr/>
          <p:nvPr/>
        </p:nvSpPr>
        <p:spPr>
          <a:xfrm>
            <a:off x="1025956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90" name="Shape 88"/>
          <p:cNvSpPr/>
          <p:nvPr/>
        </p:nvSpPr>
        <p:spPr>
          <a:xfrm>
            <a:off x="1036929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91" name="Shape 89"/>
          <p:cNvSpPr/>
          <p:nvPr/>
        </p:nvSpPr>
        <p:spPr>
          <a:xfrm>
            <a:off x="1047902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92" name="Shape 90"/>
          <p:cNvSpPr/>
          <p:nvPr/>
        </p:nvSpPr>
        <p:spPr>
          <a:xfrm>
            <a:off x="1058875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93" name="Shape 91"/>
          <p:cNvSpPr/>
          <p:nvPr/>
        </p:nvSpPr>
        <p:spPr>
          <a:xfrm>
            <a:off x="1069848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94" name="Shape 92"/>
          <p:cNvSpPr/>
          <p:nvPr/>
        </p:nvSpPr>
        <p:spPr>
          <a:xfrm>
            <a:off x="10808208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95" name="Shape 93"/>
          <p:cNvSpPr/>
          <p:nvPr/>
        </p:nvSpPr>
        <p:spPr>
          <a:xfrm>
            <a:off x="10917936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96" name="Shape 94"/>
          <p:cNvSpPr/>
          <p:nvPr/>
        </p:nvSpPr>
        <p:spPr>
          <a:xfrm>
            <a:off x="11027664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97" name="Shape 95"/>
          <p:cNvSpPr/>
          <p:nvPr/>
        </p:nvSpPr>
        <p:spPr>
          <a:xfrm>
            <a:off x="11137392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98" name="Shape 96"/>
          <p:cNvSpPr/>
          <p:nvPr/>
        </p:nvSpPr>
        <p:spPr>
          <a:xfrm>
            <a:off x="11247120" y="4240987"/>
            <a:ext cx="54864" cy="21946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99" name="Shape 97"/>
          <p:cNvSpPr/>
          <p:nvPr/>
        </p:nvSpPr>
        <p:spPr>
          <a:xfrm>
            <a:off x="3328416" y="4151376"/>
            <a:ext cx="201168" cy="201168"/>
          </a:xfrm>
          <a:prstGeom prst="ellipse">
            <a:avLst/>
          </a:prstGeom>
          <a:solidFill>
            <a:srgbClr val="0757B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05656" y="4151376"/>
            <a:ext cx="201168" cy="201168"/>
          </a:xfrm>
          <a:prstGeom prst="ellipse">
            <a:avLst/>
          </a:prstGeom>
          <a:solidFill>
            <a:srgbClr val="0757B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882896" y="4151376"/>
            <a:ext cx="201168" cy="201168"/>
          </a:xfrm>
          <a:prstGeom prst="ellipse">
            <a:avLst/>
          </a:prstGeom>
          <a:solidFill>
            <a:srgbClr val="0757B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660136" y="4151376"/>
            <a:ext cx="201168" cy="201168"/>
          </a:xfrm>
          <a:prstGeom prst="ellipse">
            <a:avLst/>
          </a:prstGeom>
          <a:solidFill>
            <a:srgbClr val="0757B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57200" y="516636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E9E5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685800" y="516636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태그는 브랜치와 달리 위치가 고정됩니다. 코드를 자주 커밋·push해 백업하고, 기능이 안정된 지점에서 태그를 남기는 것이 좋은 습관입니다.</a:t>
            </a:r>
            <a:endParaRPr lang="en-US" sz="1250" dirty="0"/>
          </a:p>
        </p:txBody>
      </p:sp>
      <p:sp>
        <p:nvSpPr>
          <p:cNvPr id="105" name="Text 10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14807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Tag 만들기 (git tag -a)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옵션으로 만든 태그는 작성자 · 날짜 · 메시지가 함께 저장되는 '주석 태그'입니다.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최신 커밋에 태그 달기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tag -a v1.0.0 -m "First stable release"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77295" cy="1225296"/>
          </a:xfrm>
          <a:prstGeom prst="roundRect">
            <a:avLst>
              <a:gd name="adj" fmla="val 671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3009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특정(과거) 커밋에 태그 달기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621024"/>
            <a:ext cx="1076523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tag -a v0.9.0 a1b2c3d -m "Beta release"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a1b2c3d 자리에 커밋 해시를 지정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E9E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66344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데이터베이스에는 태그를 만든 사람, 날짜, 태그 메시지, 그리고 태그가 가리키는 커밋 정보가 함께 저장됩니다.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 목록 조회하기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만들어 둔 태그의 목록과 상세 정보를 확인합니다.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1536192"/>
          </a:xfrm>
          <a:prstGeom prst="roundRect">
            <a:avLst>
              <a:gd name="adj" fmla="val 5357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태그 목록 보기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tag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v0.9.0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v1.0.0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1277295" cy="2157984"/>
          </a:xfrm>
          <a:prstGeom prst="roundRect">
            <a:avLst>
              <a:gd name="adj" fmla="val 4455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9867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9867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" y="39867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9410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태그 상세 정보 보기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261104"/>
            <a:ext cx="10765231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show v1.0.0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 v1.0.0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Tagger: Kim &lt;kim@example.com&gt;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  Wed Sep 30 14:00:00 2026 +0900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stable release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태그를 원격 저장소에 push하기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push만으로는 태그가 원격에 올라가지 않습니다 — 태그는 별도로 push해야 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1277295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11226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태그 하나만 push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432304"/>
            <a:ext cx="10765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v1.0.0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77295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346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346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" y="3346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300984"/>
            <a:ext cx="10271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모든 태그를 한 번에 push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621024"/>
            <a:ext cx="107652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--tags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11277295" cy="594360"/>
          </a:xfrm>
          <a:prstGeom prst="roundRect">
            <a:avLst>
              <a:gd name="adj" fmla="val 13846"/>
            </a:avLst>
          </a:prstGeom>
          <a:solidFill>
            <a:srgbClr val="FBE9E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38912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저장소의 Releases 메뉴에서, push된 태그를 바탕으로 릴리스 노트를 작성할 수 있습니다.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325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저장소는 GitHub 같은 서버에 호스팅된 Git 저장소이며, git remote add로 로컬에 이름(origin)을 붙여 연결합니다.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75688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842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2021년 8월부터 GitHub는 비밀번호 인증을 지원하지 않습니다 — 비밀번호 자리에 Personal Access Token(PAT)을 입력합니다.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34056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64261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&lt;원격&gt; &lt;브랜치&gt;로 올리고, -u 옵션으로 upstream을 설정하면 이후 git push / git pull만으로 충분합니다.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92424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3009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clone은 원격 저장소 전체를 복제하며, 복제된 저장소에는 origin이 자동으로 연결됩니다.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50792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274320" cy="2743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44575" y="389991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-a로 릴리스 지점을 표시하고, git push origin --tags로 원격에 반영합니다.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4575" y="45582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시간에는 브랜치(Branch)와 병합(Merge), 충돌 해결을 다룹니다.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나의 저장소를 GitHub에 올리기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→ Bob 순서로 진행합니다 (2인 1조, 역할은 서로 바꿔서 다시 해봐도 좋습니다).</a:t>
            </a:r>
            <a:endParaRPr lang="en-US" sz="14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997758"/>
              </p:ext>
            </p:extLst>
          </p:nvPr>
        </p:nvGraphicFramePr>
        <p:xfrm>
          <a:off x="457200" y="1965960"/>
          <a:ext cx="11277295" cy="378561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 / 단계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 내용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계정 생성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회원가입 및 2FA 설정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원격 저장소 생성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repository로 hello-git 생성 — README/.gitignore 없이, 기본 브랜치 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인증 준비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PAT 발급 (public_repo 권한, 짧은 만료)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로컬 연결 &amp; push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branch -M main  →  git remote add origin ...  →  git push -u origin 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Bob 초대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→ Collaborators → Add people 로 Bob 초대 (Bob은 메일·알림에서 수락)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Bob: 저장소 clone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clone https://github.com/kim/hello-git.git  (Public 저장소라 인증 불필요)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Bob: 변경 후 push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Bob도 classic PAT 발급 → 파일 수정 → git add → git commit → git push (PAT로 인증)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Alice: 최신 변경 받기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 로 Bob의 변경사항 확인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RemoteRepo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1809</Words>
  <Application>Microsoft Office PowerPoint</Application>
  <PresentationFormat>와이드스크린</PresentationFormat>
  <Paragraphs>320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 — 원격 저장소 (Remote Repo)</dc:title>
  <dc:subject>PptxGenJS Presentation</dc:subject>
  <dc:creator>Git &amp; GitHub Course</dc:creator>
  <cp:lastModifiedBy>Hansung</cp:lastModifiedBy>
  <cp:revision>15</cp:revision>
  <dcterms:created xsi:type="dcterms:W3CDTF">2026-09-28T13:31:26Z</dcterms:created>
  <dcterms:modified xsi:type="dcterms:W3CDTF">2026-10-01T05:30:49Z</dcterms:modified>
</cp:coreProperties>
</file>