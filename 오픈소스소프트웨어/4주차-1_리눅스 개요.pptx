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1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10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1899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931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710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685800"/>
            <a:ext cx="109728" cy="109728"/>
          </a:xfrm>
          <a:prstGeom prst="ellipse">
            <a:avLst/>
          </a:prstGeom>
          <a:solidFill>
            <a:srgbClr val="FF990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1234440"/>
            <a:ext cx="146304" cy="146304"/>
          </a:xfrm>
          <a:prstGeom prst="ellipse">
            <a:avLst/>
          </a:prstGeom>
          <a:solidFill>
            <a:srgbClr val="0972D3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04120" y="1874520"/>
            <a:ext cx="82296" cy="82296"/>
          </a:xfrm>
          <a:prstGeom prst="ellipse">
            <a:avLst/>
          </a:prstGeom>
          <a:solidFill>
            <a:srgbClr val="FF9900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09960" y="1965960"/>
            <a:ext cx="182880" cy="182880"/>
          </a:xfrm>
          <a:prstGeom prst="ellipse">
            <a:avLst/>
          </a:prstGeom>
          <a:solidFill>
            <a:srgbClr val="0972D3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46920" y="2514600"/>
            <a:ext cx="100584" cy="100584"/>
          </a:xfrm>
          <a:prstGeom prst="ellipse">
            <a:avLst/>
          </a:prstGeom>
          <a:solidFill>
            <a:srgbClr val="FF9900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0" y="2880360"/>
            <a:ext cx="128016" cy="128016"/>
          </a:xfrm>
          <a:prstGeom prst="ellipse">
            <a:avLst/>
          </a:prstGeom>
          <a:solidFill>
            <a:srgbClr val="0972D3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18320" y="3337560"/>
            <a:ext cx="73152" cy="73152"/>
          </a:xfrm>
          <a:prstGeom prst="ellipse">
            <a:avLst/>
          </a:prstGeom>
          <a:solidFill>
            <a:srgbClr val="FF9900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338560" y="3657600"/>
            <a:ext cx="91440" cy="91440"/>
          </a:xfrm>
          <a:prstGeom prst="ellipse">
            <a:avLst/>
          </a:prstGeom>
          <a:solidFill>
            <a:srgbClr val="0972D3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0" y="685800"/>
            <a:ext cx="777240" cy="54864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1234440"/>
            <a:ext cx="365760" cy="73152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0" y="685800"/>
            <a:ext cx="137160" cy="118872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04120" y="1874520"/>
            <a:ext cx="0" cy="64008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46920" y="2514600"/>
            <a:ext cx="1188720" cy="36576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35640" y="2880360"/>
            <a:ext cx="502920" cy="77724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9960" y="1965960"/>
            <a:ext cx="0" cy="914400"/>
          </a:xfrm>
          <a:prstGeom prst="line">
            <a:avLst/>
          </a:prstGeom>
          <a:noFill/>
          <a:ln w="9525">
            <a:solidFill>
              <a:srgbClr val="5A6B7B">
                <a:alpha val="4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803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Introduction to Linux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02920" y="38862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C9D3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리눅스란 무엇인가, 대표 배포판, 그리고 vi 에디터까지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시간에 배울 내용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556434" cy="3291840"/>
          </a:xfrm>
          <a:prstGeom prst="roundRect">
            <a:avLst>
              <a:gd name="adj" fmla="val 321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2075688"/>
            <a:ext cx="548640" cy="548640"/>
          </a:xfrm>
          <a:prstGeom prst="ellipse">
            <a:avLst/>
          </a:prstGeom>
          <a:solidFill>
            <a:srgbClr val="0972D3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2834640"/>
            <a:ext cx="20443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Linux?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58952" y="3520440"/>
            <a:ext cx="20443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리눅스의 정의와 라이선스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79394" y="1783080"/>
            <a:ext cx="2556434" cy="3291840"/>
          </a:xfrm>
          <a:prstGeom prst="roundRect">
            <a:avLst>
              <a:gd name="adj" fmla="val 321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5426" y="2075688"/>
            <a:ext cx="548640" cy="548640"/>
          </a:xfrm>
          <a:prstGeom prst="ellipse">
            <a:avLst/>
          </a:prstGeom>
          <a:solidFill>
            <a:srgbClr val="0972D3"/>
          </a:solidFill>
          <a:ln/>
        </p:spPr>
      </p:sp>
      <p:sp>
        <p:nvSpPr>
          <p:cNvPr id="12" name="Text 10"/>
          <p:cNvSpPr/>
          <p:nvPr/>
        </p:nvSpPr>
        <p:spPr>
          <a:xfrm>
            <a:off x="3635426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35426" y="2834640"/>
            <a:ext cx="20443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Distributions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35426" y="3520440"/>
            <a:ext cx="20443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배포판과 선택 기준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2556434" cy="3291840"/>
          </a:xfrm>
          <a:prstGeom prst="roundRect">
            <a:avLst>
              <a:gd name="adj" fmla="val 321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11900" y="2075688"/>
            <a:ext cx="548640" cy="548640"/>
          </a:xfrm>
          <a:prstGeom prst="ellipse">
            <a:avLst/>
          </a:prstGeom>
          <a:solidFill>
            <a:srgbClr val="0972D3"/>
          </a:solidFill>
          <a:ln/>
        </p:spPr>
      </p:sp>
      <p:sp>
        <p:nvSpPr>
          <p:cNvPr id="17" name="Text 15"/>
          <p:cNvSpPr/>
          <p:nvPr/>
        </p:nvSpPr>
        <p:spPr>
          <a:xfrm>
            <a:off x="651190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11900" y="2834640"/>
            <a:ext cx="20443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 Editor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511900" y="3520440"/>
            <a:ext cx="20443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3가지 모드와 자주 쓰는 명령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32341" y="1783080"/>
            <a:ext cx="2556434" cy="3291840"/>
          </a:xfrm>
          <a:prstGeom prst="roundRect">
            <a:avLst>
              <a:gd name="adj" fmla="val 321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88373" y="2075688"/>
            <a:ext cx="548640" cy="548640"/>
          </a:xfrm>
          <a:prstGeom prst="ellipse">
            <a:avLst/>
          </a:prstGeom>
          <a:solidFill>
            <a:srgbClr val="0972D3"/>
          </a:solidFill>
          <a:ln/>
        </p:spPr>
      </p:sp>
      <p:sp>
        <p:nvSpPr>
          <p:cNvPr id="22" name="Text 20"/>
          <p:cNvSpPr/>
          <p:nvPr/>
        </p:nvSpPr>
        <p:spPr>
          <a:xfrm>
            <a:off x="9388373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88373" y="2834640"/>
            <a:ext cx="20443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Package Management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388373" y="3520440"/>
            <a:ext cx="20443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RPM · YUM으로 패키지 관리하기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97764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39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Linux?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922184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2400"/>
              </a:spcAft>
              <a:buSzPct val="100000"/>
              <a:buChar char="●"/>
            </a:pPr>
            <a:r>
              <a:rPr lang="en-US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Unix 계열 운영체제 (Free Unix-type operating system)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2400"/>
              </a:spcAft>
              <a:buSzPct val="100000"/>
              <a:buChar char="●"/>
            </a:pPr>
            <a:r>
              <a:rPr lang="en-US" altLang="ko-KR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Linus Torvalds</a:t>
            </a:r>
            <a:r>
              <a:rPr lang="ko-KR" altLang="en-US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처음 만들었고</a:t>
            </a:r>
            <a:r>
              <a:rPr lang="en-US" altLang="ko-KR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전 세계 개발자들의 협업으로 발전해 옴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2400"/>
              </a:spcAft>
              <a:buSzPct val="100000"/>
              <a:buChar char="●"/>
            </a:pPr>
            <a:r>
              <a:rPr lang="en-US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 커널은 GPLv2 라이선스로 배포됨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2400"/>
              </a:spcAft>
              <a:buSzPct val="100000"/>
              <a:buChar char="●"/>
            </a:pPr>
            <a:r>
              <a:rPr lang="en-US" sz="18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 코드가 누구에게나 자유롭게 공개되어 있음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5166360"/>
            <a:ext cx="11185855" cy="1051560"/>
          </a:xfrm>
          <a:prstGeom prst="roundRect">
            <a:avLst>
              <a:gd name="adj" fmla="val 7826"/>
            </a:avLst>
          </a:prstGeom>
          <a:solidFill>
            <a:srgbClr val="E8F1FC"/>
          </a:solidFill>
          <a:ln w="12700">
            <a:solidFill>
              <a:srgbClr val="C7DE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5385816"/>
            <a:ext cx="521208" cy="256032"/>
          </a:xfrm>
          <a:prstGeom prst="roundRect">
            <a:avLst>
              <a:gd name="adj" fmla="val 50000"/>
            </a:avLst>
          </a:prstGeom>
          <a:solidFill>
            <a:srgbClr val="0972D3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5385816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5769864"/>
            <a:ext cx="10746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오픈소스이기 때문에 누구나 </a:t>
            </a:r>
            <a:r>
              <a:rPr lang="en-US" sz="135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자유롭게</a:t>
            </a: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r>
              <a:rPr lang="en-US" altLang="ko-KR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en-US" sz="135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</a:t>
            </a:r>
            <a:r>
              <a:rPr lang="en-US" altLang="ko-KR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en-US" sz="135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배포할</a:t>
            </a: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 있고, 이 덕분에 다양한 배포판(distribution)이 만들어졌습니다.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97764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39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Distribution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9456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 배포판(distribution)은 Kernel + Shell + Application의 계층 구조로 이루어짐</a:t>
            </a:r>
            <a:endParaRPr lang="en-US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배포판은 이 계층 구조를 공유하지만, Shell 종류·응용 프로그램·설치/설정 도구 같은 세부 구성은 배포판마다 다름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914400" y="3429000"/>
            <a:ext cx="2834640" cy="2834640"/>
          </a:xfrm>
          <a:prstGeom prst="ellipse">
            <a:avLst/>
          </a:prstGeom>
          <a:solidFill>
            <a:srgbClr val="9FC7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9032" y="3913632"/>
            <a:ext cx="1865376" cy="1865376"/>
          </a:xfrm>
          <a:prstGeom prst="ellipse">
            <a:avLst/>
          </a:prstGeom>
          <a:solidFill>
            <a:srgbClr val="5B9BD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74520" y="4389120"/>
            <a:ext cx="914400" cy="914400"/>
          </a:xfrm>
          <a:prstGeom prst="ellipse">
            <a:avLst/>
          </a:prstGeom>
          <a:solidFill>
            <a:srgbClr val="232F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7452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Kernel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399032" y="4034935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3511296"/>
            <a:ext cx="164592" cy="164592"/>
          </a:xfrm>
          <a:prstGeom prst="ellipse">
            <a:avLst/>
          </a:prstGeom>
          <a:solidFill>
            <a:srgbClr val="9FC7ED"/>
          </a:solidFill>
          <a:ln/>
        </p:spPr>
      </p:sp>
      <p:sp>
        <p:nvSpPr>
          <p:cNvPr id="13" name="Text 11"/>
          <p:cNvSpPr/>
          <p:nvPr/>
        </p:nvSpPr>
        <p:spPr>
          <a:xfrm>
            <a:off x="4636008" y="3419856"/>
            <a:ext cx="7052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36008" y="3730752"/>
            <a:ext cx="70527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Manager (GNOME, KDE), Apache Web Server, Mail Server 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4443984"/>
            <a:ext cx="164592" cy="164592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16" name="Text 14"/>
          <p:cNvSpPr/>
          <p:nvPr/>
        </p:nvSpPr>
        <p:spPr>
          <a:xfrm>
            <a:off x="4636008" y="4352544"/>
            <a:ext cx="7052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Shell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36008" y="4663440"/>
            <a:ext cx="70527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해석기 — bash, csh 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5376672"/>
            <a:ext cx="164592" cy="164592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5285232"/>
            <a:ext cx="7052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Kernel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36008" y="5596128"/>
            <a:ext cx="70527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메모리/프로세스 관리, 하드웨어 관리 (H/W: CPU, Memory, HDD…)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Famous Distributions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230428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Hat 계열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" y="2715768"/>
            <a:ext cx="2997098" cy="365760"/>
          </a:xfrm>
          <a:prstGeom prst="roundRect">
            <a:avLst>
              <a:gd name="adj" fmla="val 50000"/>
            </a:avLst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715768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RHEL(Red Hat Enterprise Linux)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118104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Hat 공식 상용 배포판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" y="3931920"/>
            <a:ext cx="299709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972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9319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972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· Rocky · AlmaLinux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4334256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소스 기반 커뮤니티 재배포판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85800" y="4602753"/>
            <a:ext cx="3088538" cy="868680"/>
          </a:xfrm>
          <a:prstGeom prst="roundRect">
            <a:avLst>
              <a:gd name="adj" fmla="val 7368"/>
            </a:avLst>
          </a:prstGeom>
          <a:solidFill>
            <a:srgbClr val="FFF3DF"/>
          </a:solidFill>
          <a:ln w="12700">
            <a:solidFill>
              <a:srgbClr val="F0C7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4602753"/>
            <a:ext cx="28690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B863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등은 Red Hat이 배포하는 제품이 아닌, </a:t>
            </a:r>
            <a:r>
              <a:rPr lang="en-US" sz="1200" dirty="0" err="1">
                <a:solidFill>
                  <a:srgbClr val="B863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별도의</a:t>
            </a:r>
            <a:r>
              <a:rPr lang="en-US" sz="1200" dirty="0">
                <a:solidFill>
                  <a:srgbClr val="B863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커뮤니티가 RHEL 소스로 만든 재배포판입니다.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68698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68698" y="230428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Debian 계열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97298" y="2715768"/>
            <a:ext cx="2997098" cy="365760"/>
          </a:xfrm>
          <a:prstGeom prst="roundRect">
            <a:avLst>
              <a:gd name="adj" fmla="val 50000"/>
            </a:avLst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97298" y="2715768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97298" y="3118104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Debian 기반, 데스크톱 친화적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643018" y="4023360"/>
            <a:ext cx="29056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인기 있는 데스크톱·서버 배포판 중 하나로, 리눅스를 처음 접하는 사용자에게 특히 추천됩니다.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34477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4477" y="230428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SUSE 계열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463077" y="2715768"/>
            <a:ext cx="2997098" cy="365760"/>
          </a:xfrm>
          <a:prstGeom prst="roundRect">
            <a:avLst>
              <a:gd name="adj" fmla="val 50000"/>
            </a:avLst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63077" y="2715768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openSUSE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8463077" y="3118104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SUSE가 후원하는 오픈소스 버전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508797" y="4023360"/>
            <a:ext cx="29056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기업용 SUSE Linux Enterprise를 기반으로, SUSE사가 직접 후원·관리하는 커뮤니티 배포판입니다.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88695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RedHat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19" y="2286000"/>
            <a:ext cx="2155717" cy="502920"/>
          </a:xfrm>
          <a:prstGeom prst="roundRect">
            <a:avLst>
              <a:gd name="adj" fmla="val 1454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502919" y="2286000"/>
            <a:ext cx="21557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RedHat Linux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54680" y="1783080"/>
            <a:ext cx="2910218" cy="502920"/>
          </a:xfrm>
          <a:prstGeom prst="roundRect">
            <a:avLst>
              <a:gd name="adj" fmla="val 14545"/>
            </a:avLst>
          </a:prstGeom>
          <a:solidFill>
            <a:srgbClr val="E8F1FC"/>
          </a:solidFill>
          <a:ln w="12700">
            <a:solidFill>
              <a:srgbClr val="0972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1783080"/>
            <a:ext cx="2910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Fedora 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(커뮤니티 · Open-Source)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2788920"/>
            <a:ext cx="2910218" cy="502920"/>
          </a:xfrm>
          <a:prstGeom prst="roundRect">
            <a:avLst>
              <a:gd name="adj" fmla="val 14545"/>
            </a:avLst>
          </a:prstGeom>
          <a:solidFill>
            <a:srgbClr val="FFF3DF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54680" y="2788920"/>
            <a:ext cx="2910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(엔터프라이즈 · Commercial)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flipV="1">
            <a:off x="2658636" y="2116836"/>
            <a:ext cx="429797" cy="324612"/>
          </a:xfrm>
          <a:prstGeom prst="line">
            <a:avLst/>
          </a:prstGeom>
          <a:noFill/>
          <a:ln w="12700">
            <a:solidFill>
              <a:srgbClr val="8695A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8636" y="2606973"/>
            <a:ext cx="496044" cy="283464"/>
          </a:xfrm>
          <a:prstGeom prst="line">
            <a:avLst/>
          </a:prstGeom>
          <a:noFill/>
          <a:ln w="12700">
            <a:solidFill>
              <a:srgbClr val="8695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74904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RHEL(Red Hat Enterprise Linux): 서버·데스크톱용 상용 배포판</a:t>
            </a:r>
            <a:endParaRPr lang="en-US" sz="14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Fedora 오픈소스 프로젝트를 기반으로 하되, 장기 지원(LTS)을 갖춘 안정적인 플랫폼으로 설계됨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86600" y="1783080"/>
            <a:ext cx="4602175" cy="3200400"/>
          </a:xfrm>
          <a:prstGeom prst="roundRect">
            <a:avLst>
              <a:gd name="adj" fmla="val 2571"/>
            </a:avLst>
          </a:prstGeom>
          <a:solidFill>
            <a:srgbClr val="E8F1FC"/>
          </a:solidFill>
          <a:ln w="12700">
            <a:solidFill>
              <a:srgbClr val="C7DE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06056" y="2002536"/>
            <a:ext cx="2308860" cy="256032"/>
          </a:xfrm>
          <a:prstGeom prst="roundRect">
            <a:avLst>
              <a:gd name="adj" fmla="val 50000"/>
            </a:avLst>
          </a:prstGeom>
          <a:solidFill>
            <a:srgbClr val="0972D3"/>
          </a:solidFill>
          <a:ln/>
        </p:spPr>
      </p:sp>
      <p:sp>
        <p:nvSpPr>
          <p:cNvPr id="16" name="Text 14"/>
          <p:cNvSpPr/>
          <p:nvPr/>
        </p:nvSpPr>
        <p:spPr>
          <a:xfrm>
            <a:off x="7306056" y="2002536"/>
            <a:ext cx="2308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 버전 (2026년 8월 기준)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06056" y="2386584"/>
            <a:ext cx="4163263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Fedora Linux 44</a:t>
            </a:r>
            <a:endParaRPr lang="en-US" sz="16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Hat Enterprise Linux (RHEL) 10.2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</a:t>
            </a:r>
            <a:endParaRPr lang="en-US" sz="2800" dirty="0"/>
          </a:p>
        </p:txBody>
      </p:sp>
      <p:pic>
        <p:nvPicPr>
          <p:cNvPr id="5" name="Image 0" descr="/home/claude/work3/build/assets/cento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5735" y="502920"/>
            <a:ext cx="1463040" cy="10041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783080"/>
            <a:ext cx="11185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소스 코드에서 Red Hat 상표만 제거해 무료로 재배포한 커뮤니티 프로젝트</a:t>
            </a:r>
            <a:endParaRPr lang="en-US" sz="1650" dirty="0"/>
          </a:p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안정성이 매우 뛰어나 서버용으로 널리 쓰여 왔음</a:t>
            </a:r>
            <a:endParaRPr lang="en-US" sz="1650" dirty="0"/>
          </a:p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주기가 느긋해 데스크톱 최신 기능이 필요한 일반 사용자에게는 적합하지 않았음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502920" y="4297680"/>
            <a:ext cx="11185855" cy="1874520"/>
          </a:xfrm>
          <a:prstGeom prst="roundRect">
            <a:avLst>
              <a:gd name="adj" fmla="val 4390"/>
            </a:avLst>
          </a:prstGeom>
          <a:solidFill>
            <a:srgbClr val="FFF3DF"/>
          </a:solidFill>
          <a:ln w="12700">
            <a:solidFill>
              <a:srgbClr val="F0C77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22376" y="4517136"/>
            <a:ext cx="1362456" cy="256032"/>
          </a:xfrm>
          <a:prstGeom prst="roundRect">
            <a:avLst>
              <a:gd name="adj" fmla="val 50000"/>
            </a:avLst>
          </a:prstGeom>
          <a:solidFill>
            <a:srgbClr val="B8630A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" y="4517136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업데이트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22376" y="4901184"/>
            <a:ext cx="107469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전통적인 CentOS Linux는 2024년 6월(CentOS 7 EOL)로 서비스가 종료되었습니다.</a:t>
            </a:r>
            <a:endParaRPr lang="en-US" sz="13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'CentOS'는 RHEL의 업스트림 개발판(= RHEL에 새 기능이 정식 반영되기 전, 미리 적용해 테스트하는 버전)인 CentOS Stream만 남아 있으며, 예전 CentOS의 역할(무료 RHEL 호환 서버 배포판)은 Rocky Linux와 AlmaLinux가 이어받고 있습니다.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</a:t>
            </a:r>
            <a:endParaRPr lang="en-US" sz="2800" dirty="0"/>
          </a:p>
        </p:txBody>
      </p:sp>
      <p:pic>
        <p:nvPicPr>
          <p:cNvPr id="5" name="Image 0" descr="/home/claude/work3/build/assets/ubunt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1335" y="566928"/>
            <a:ext cx="2377440" cy="5327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8778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20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인기 있는 리눅스 배포판 중 하나로, 리눅스를 처음 접하는 사용자에게 특히 추천됨</a:t>
            </a:r>
            <a:endParaRPr lang="en-US" sz="1700" dirty="0"/>
          </a:p>
          <a:p>
            <a:pPr marL="203200" indent="-203200">
              <a:lnSpc>
                <a:spcPct val="120000"/>
              </a:lnSpc>
              <a:spcAft>
                <a:spcPts val="20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Debian을 기반으로 만들어짐</a:t>
            </a:r>
            <a:endParaRPr lang="en-US" sz="1700" dirty="0"/>
          </a:p>
          <a:p>
            <a:pPr marL="203200" indent="-203200">
              <a:lnSpc>
                <a:spcPct val="120000"/>
              </a:lnSpc>
              <a:spcAft>
                <a:spcPts val="20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사용하기 쉬운 데스크톱 환경을 제공하며, 폭넓은 하드웨어·소프트웨어와 호환됨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vs Ubuntu — 초보자에게는?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074920" cy="3200400"/>
          </a:xfrm>
          <a:prstGeom prst="roundRect">
            <a:avLst>
              <a:gd name="adj" fmla="val 2571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048256"/>
            <a:ext cx="1257300" cy="256032"/>
          </a:xfrm>
          <a:prstGeom prst="roundRect">
            <a:avLst>
              <a:gd name="adj" fmla="val 50000"/>
            </a:avLst>
          </a:prstGeom>
          <a:solidFill>
            <a:srgbClr val="8695A4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2048256"/>
            <a:ext cx="1257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계열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" y="2432304"/>
            <a:ext cx="46360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자료가 </a:t>
            </a:r>
            <a:r>
              <a:rPr lang="en-US" sz="1450" u="sng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서버·엔터프라이즈 </a:t>
            </a: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환경에 치우쳐 있음</a:t>
            </a:r>
            <a:endParaRPr lang="en-US" sz="145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사용성보다 안정성에 초점</a:t>
            </a:r>
            <a:endParaRPr lang="en-US" sz="145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altLang="ko-KR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Rocky </a:t>
            </a:r>
            <a:r>
              <a:rPr lang="en-US" altLang="ko-KR" sz="160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Linux와</a:t>
            </a:r>
            <a:r>
              <a:rPr lang="en-US" altLang="ko-KR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60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AlmaLinux가</a:t>
            </a:r>
            <a:r>
              <a:rPr lang="en-US" altLang="ko-KR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600" dirty="0" err="1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이어받고</a:t>
            </a:r>
            <a:r>
              <a:rPr lang="en-US" altLang="ko-KR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6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5074920" cy="3200400"/>
          </a:xfrm>
          <a:prstGeom prst="roundRect">
            <a:avLst>
              <a:gd name="adj" fmla="val 2571"/>
            </a:avLst>
          </a:prstGeom>
          <a:solidFill>
            <a:srgbClr val="FFF3DF"/>
          </a:solidFill>
          <a:ln w="12700">
            <a:solidFill>
              <a:srgbClr val="F0C7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2048256"/>
            <a:ext cx="1677924" cy="256032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2048256"/>
            <a:ext cx="167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 — 추천 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00216" y="2432304"/>
            <a:ext cx="46360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무료로 도움받을 수 있는 커뮤니티가 매우 큼</a:t>
            </a:r>
            <a:endParaRPr lang="en-US" sz="145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가정용 </a:t>
            </a:r>
            <a:r>
              <a:rPr lang="en-US" sz="1450" u="sng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</a:t>
            </a:r>
            <a:r>
              <a:rPr lang="en-US" sz="14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리눅스 중 압도적으로 인기가 높음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vs Ubuntu — 기업 환경에서는?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074920" cy="2926080"/>
          </a:xfrm>
          <a:prstGeom prst="roundRect">
            <a:avLst>
              <a:gd name="adj" fmla="val 2813"/>
            </a:avLst>
          </a:prstGeom>
          <a:solidFill>
            <a:srgbClr val="FFF3DF"/>
          </a:solidFill>
          <a:ln w="12700">
            <a:solidFill>
              <a:srgbClr val="F0C7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048256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20482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계열 — 추천 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" y="2432304"/>
            <a:ext cx="46360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주기가 느린 대신 오래 검증된 안정 버전만 릴리스됨</a:t>
            </a:r>
            <a:endParaRPr lang="en-US" sz="14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안정성·보안에 강점이 있어 웹 서버·DB 서버에 적합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5074920" cy="2926080"/>
          </a:xfrm>
          <a:prstGeom prst="roundRect">
            <a:avLst>
              <a:gd name="adj" fmla="val 2813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2048256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8695A4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204825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00216" y="2432304"/>
            <a:ext cx="46360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사용하기 쉬운 환경과 최신 소프트웨어 제공</a:t>
            </a:r>
            <a:endParaRPr lang="en-US" sz="14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데스크톱·개인용 컴퓨팅에 더 적합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4983480"/>
            <a:ext cx="11185855" cy="877824"/>
          </a:xfrm>
          <a:prstGeom prst="roundRect">
            <a:avLst>
              <a:gd name="adj" fmla="val 10588"/>
            </a:avLst>
          </a:prstGeom>
          <a:solidFill>
            <a:srgbClr val="E8F1FC"/>
          </a:solidFill>
          <a:ln w="12700">
            <a:solidFill>
              <a:srgbClr val="C7DE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" y="5202936"/>
            <a:ext cx="521208" cy="256032"/>
          </a:xfrm>
          <a:prstGeom prst="roundRect">
            <a:avLst>
              <a:gd name="adj" fmla="val 50000"/>
            </a:avLst>
          </a:prstGeom>
          <a:solidFill>
            <a:srgbClr val="0972D3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5202936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22376" y="5586984"/>
            <a:ext cx="10746943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서버에서는 CentOS 대신 Rocky Linux · AlmaLinux · RHEL이 같은 역할을 담당합니다.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vs Ubuntu — 패키지 관리자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048256"/>
            <a:ext cx="1993392" cy="256032"/>
          </a:xfrm>
          <a:prstGeom prst="roundRect">
            <a:avLst>
              <a:gd name="adj" fmla="val 50000"/>
            </a:avLst>
          </a:prstGeom>
          <a:solidFill>
            <a:srgbClr val="8695A4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204825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CentOS / RHEL 계열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" y="2432304"/>
            <a:ext cx="4636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.rpm 패키지 + yum (최신 배포판은 dnf)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F2F6FA"/>
          </a:solidFill>
          <a:ln w="12700">
            <a:solidFill>
              <a:srgbClr val="DDE6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2048256"/>
            <a:ext cx="2203704" cy="256032"/>
          </a:xfrm>
          <a:prstGeom prst="roundRect">
            <a:avLst>
              <a:gd name="adj" fmla="val 50000"/>
            </a:avLst>
          </a:prstGeom>
          <a:solidFill>
            <a:srgbClr val="8695A4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2048256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 / Debian 계열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00216" y="2432304"/>
            <a:ext cx="4636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.deb 패키지 + apt-get (최신 명령은 apt)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85855" cy="1280160"/>
          </a:xfrm>
          <a:prstGeom prst="roundRect">
            <a:avLst>
              <a:gd name="adj" fmla="val 6429"/>
            </a:avLst>
          </a:prstGeom>
          <a:solidFill>
            <a:srgbClr val="E8F1FC"/>
          </a:solidFill>
          <a:ln w="12700">
            <a:solidFill>
              <a:srgbClr val="C7DE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" y="4654296"/>
            <a:ext cx="626364" cy="256032"/>
          </a:xfrm>
          <a:prstGeom prst="roundRect">
            <a:avLst>
              <a:gd name="adj" fmla="val 50000"/>
            </a:avLst>
          </a:prstGeom>
          <a:solidFill>
            <a:srgbClr val="0972D3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4654296"/>
            <a:ext cx="6263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22376" y="5038344"/>
            <a:ext cx="10746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8 이상과 최신 Fedora는 dnf(Dandified YUM)가 기본이며, yum 명령은 dnf의 별칭으로 그대로 동작합니다.</a:t>
            </a:r>
            <a:endParaRPr lang="en-US" sz="140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Ubuntu에서도 apt-get보다 사람이 읽기 쉬운 apt 명령 사용이 권장됩니다</a:t>
            </a:r>
            <a:r>
              <a:rPr lang="en-US" sz="12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97764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39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vi Editor?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778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 환경의 표준 텍스트 에디터</a:t>
            </a:r>
            <a:endParaRPr lang="en-US" sz="1700" dirty="0"/>
          </a:p>
          <a:p>
            <a:pPr marL="203200" indent="-2032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가볍지만 강력하여 시스템 설정 편집과 코딩에 널리 사용됨</a:t>
            </a:r>
            <a:endParaRPr lang="en-US" sz="1700" dirty="0"/>
          </a:p>
          <a:p>
            <a:pPr marL="203200" indent="-2032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모드를 기반으로 구성됨: Command Mode · Insert Mode · Ex (Last line) Mode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4754880" cy="1051560"/>
          </a:xfrm>
          <a:prstGeom prst="roundRect">
            <a:avLst>
              <a:gd name="adj" fmla="val 6957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4206240"/>
            <a:ext cx="4754880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325112"/>
            <a:ext cx="4754880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428853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10" name="Shape 8"/>
          <p:cNvSpPr/>
          <p:nvPr/>
        </p:nvSpPr>
        <p:spPr>
          <a:xfrm>
            <a:off x="758952" y="428853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428853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42062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파일 열기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67512" y="4542739"/>
            <a:ext cx="4425696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filename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Modes of vi (1)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8F1FC"/>
          </a:solidFill>
          <a:ln w="12700">
            <a:solidFill>
              <a:srgbClr val="C7DE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002536"/>
            <a:ext cx="1572768" cy="256032"/>
          </a:xfrm>
          <a:prstGeom prst="roundRect">
            <a:avLst>
              <a:gd name="adj" fmla="val 50000"/>
            </a:avLst>
          </a:prstGeom>
          <a:solidFill>
            <a:srgbClr val="0972D3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200253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Command Mode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" y="2386584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 시작 시 기본 모드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22376" y="2770632"/>
            <a:ext cx="495604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이동, 복사/붙여넣기, 텍스트 삭제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dd (줄 삭제), yy (줄 복사), p (붙여넣기)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379415" cy="1828800"/>
          </a:xfrm>
          <a:prstGeom prst="roundRect">
            <a:avLst>
              <a:gd name="adj" fmla="val 4500"/>
            </a:avLst>
          </a:prstGeom>
          <a:solidFill>
            <a:srgbClr val="FFF3DF"/>
          </a:solidFill>
          <a:ln w="12700">
            <a:solidFill>
              <a:srgbClr val="F0C77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2002536"/>
            <a:ext cx="1467612" cy="256032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28816" y="2002536"/>
            <a:ext cx="1467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Insert Mode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28816" y="2386584"/>
            <a:ext cx="49405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i, a, o 키로 진입</a:t>
            </a:r>
            <a:endParaRPr lang="en-US" sz="13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입력 가능, Esc로 Command Mode 복귀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8430" y="4014216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 j k l — 방향키 이동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9068" y="5303520"/>
            <a:ext cx="0" cy="59436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99068" y="5303520"/>
            <a:ext cx="59436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816188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6188" y="5989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01788" y="51663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30588" y="51663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25" name="Shape 16"/>
          <p:cNvSpPr/>
          <p:nvPr/>
        </p:nvSpPr>
        <p:spPr>
          <a:xfrm>
            <a:off x="8403778" y="5301031"/>
            <a:ext cx="59436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headEnd type="triangle" w="med" len="med"/>
            <a:tailEnd type="none" w="med" len="med"/>
          </a:ln>
        </p:spPr>
      </p:sp>
      <p:sp>
        <p:nvSpPr>
          <p:cNvPr id="26" name="Shape 14"/>
          <p:cNvSpPr/>
          <p:nvPr/>
        </p:nvSpPr>
        <p:spPr>
          <a:xfrm>
            <a:off x="8998138" y="4725333"/>
            <a:ext cx="0" cy="59436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headEnd type="triangle" w="med" len="med"/>
            <a:tailEnd type="none" w="med" len="me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Modes of vi (2)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1185855" cy="960120"/>
          </a:xfrm>
          <a:prstGeom prst="roundRect">
            <a:avLst>
              <a:gd name="adj" fmla="val 8571"/>
            </a:avLst>
          </a:prstGeom>
          <a:solidFill>
            <a:srgbClr val="E8F7EF"/>
          </a:solidFill>
          <a:ln w="12700">
            <a:solidFill>
              <a:srgbClr val="BCE7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002536"/>
            <a:ext cx="1046988" cy="256032"/>
          </a:xfrm>
          <a:prstGeom prst="roundRect">
            <a:avLst>
              <a:gd name="adj" fmla="val 50000"/>
            </a:avLst>
          </a:prstGeom>
          <a:solidFill>
            <a:srgbClr val="6FCF97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2002536"/>
            <a:ext cx="1046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 Mode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" y="2386584"/>
            <a:ext cx="107469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키를 눌러 진입하며, 저장·종료뿐 아니라 검색과 치환(substitute)에도 사용됩니다.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971800"/>
            <a:ext cx="5410048" cy="3108960"/>
          </a:xfrm>
          <a:prstGeom prst="roundRect">
            <a:avLst>
              <a:gd name="adj" fmla="val 2353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971800"/>
            <a:ext cx="5410048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090672"/>
            <a:ext cx="5410048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305409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13" name="Shape 11"/>
          <p:cNvSpPr/>
          <p:nvPr/>
        </p:nvSpPr>
        <p:spPr>
          <a:xfrm>
            <a:off x="758952" y="305409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05409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9718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 · 종료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7512" y="3308299"/>
            <a:ext cx="5080864" cy="2673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:w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저장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:q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종료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:wq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저장 후 종료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:q!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저장하지 않고 종료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8728" y="2971800"/>
            <a:ext cx="5410048" cy="3108960"/>
          </a:xfrm>
          <a:prstGeom prst="roundRect">
            <a:avLst>
              <a:gd name="adj" fmla="val 2353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8728" y="2971800"/>
            <a:ext cx="5410048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78728" y="3090672"/>
            <a:ext cx="5410048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20" name="Shape 18"/>
          <p:cNvSpPr/>
          <p:nvPr/>
        </p:nvSpPr>
        <p:spPr>
          <a:xfrm>
            <a:off x="6397600" y="305409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05409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22" name="Shape 20"/>
          <p:cNvSpPr/>
          <p:nvPr/>
        </p:nvSpPr>
        <p:spPr>
          <a:xfrm>
            <a:off x="6671920" y="305409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23" name="Text 21"/>
          <p:cNvSpPr/>
          <p:nvPr/>
        </p:nvSpPr>
        <p:spPr>
          <a:xfrm>
            <a:off x="6278728" y="29718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검색 · 치환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3320" y="3308299"/>
            <a:ext cx="5080864" cy="2673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/text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아래 방향으로 text 검색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:s/old/new/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현재 줄에서 old를 new로 치환(첫 번째만)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:s/old/new/g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현재 줄 전체에서 old를 new로 치환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:%s/old/new/g</a:t>
            </a:r>
            <a:endParaRPr lang="en-US" sz="11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파일 전체에서 old를 new로 치환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61618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E8F1FC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2F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Frequently Used Commands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484778" cy="4023360"/>
          </a:xfrm>
          <a:prstGeom prst="roundRect">
            <a:avLst>
              <a:gd name="adj" fmla="val 2099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783080"/>
            <a:ext cx="3484778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01952"/>
            <a:ext cx="3484778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86537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9" name="Shape 7"/>
          <p:cNvSpPr/>
          <p:nvPr/>
        </p:nvSpPr>
        <p:spPr>
          <a:xfrm>
            <a:off x="758952" y="186537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186537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34847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 &amp; Quit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67512" y="2119579"/>
            <a:ext cx="3155594" cy="358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:w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:q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종료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:wq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 후 종료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:q!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저장하지 않고 종료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53458" y="1783080"/>
            <a:ext cx="3484778" cy="4023360"/>
          </a:xfrm>
          <a:prstGeom prst="roundRect">
            <a:avLst>
              <a:gd name="adj" fmla="val 2099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53458" y="1783080"/>
            <a:ext cx="3484778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53458" y="1901952"/>
            <a:ext cx="3484778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2330" y="186537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17" name="Shape 15"/>
          <p:cNvSpPr/>
          <p:nvPr/>
        </p:nvSpPr>
        <p:spPr>
          <a:xfrm>
            <a:off x="4609490" y="186537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46650" y="186537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19" name="Text 17"/>
          <p:cNvSpPr/>
          <p:nvPr/>
        </p:nvSpPr>
        <p:spPr>
          <a:xfrm>
            <a:off x="4353458" y="1783080"/>
            <a:ext cx="34847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18050" y="2119579"/>
            <a:ext cx="3155594" cy="358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모드 진입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글자 삭제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줄 삭제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줄 복사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붙여넣기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03997" y="1783080"/>
            <a:ext cx="3484778" cy="4023360"/>
          </a:xfrm>
          <a:prstGeom prst="roundRect">
            <a:avLst>
              <a:gd name="adj" fmla="val 2099"/>
            </a:avLst>
          </a:prstGeom>
          <a:solidFill>
            <a:srgbClr val="1B2430"/>
          </a:solidFill>
          <a:ln/>
          <a:effectLst>
            <a:outerShdw blurRad="101600" dist="38100" dir="5400000" algn="bl" rotWithShape="0">
              <a:srgbClr val="10161F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03997" y="1783080"/>
            <a:ext cx="3484778" cy="237744"/>
          </a:xfrm>
          <a:prstGeom prst="roundRect">
            <a:avLst>
              <a:gd name="adj" fmla="val 30769"/>
            </a:avLst>
          </a:prstGeom>
          <a:solidFill>
            <a:srgbClr val="141C28"/>
          </a:solidFill>
          <a:ln/>
        </p:spPr>
      </p:sp>
      <p:sp>
        <p:nvSpPr>
          <p:cNvPr id="23" name="Shape 21"/>
          <p:cNvSpPr/>
          <p:nvPr/>
        </p:nvSpPr>
        <p:spPr>
          <a:xfrm>
            <a:off x="8203997" y="1901952"/>
            <a:ext cx="3484778" cy="118872"/>
          </a:xfrm>
          <a:prstGeom prst="rect">
            <a:avLst/>
          </a:prstGeom>
          <a:solidFill>
            <a:srgbClr val="141C28"/>
          </a:solidFill>
          <a:ln/>
        </p:spPr>
      </p:sp>
      <p:sp>
        <p:nvSpPr>
          <p:cNvPr id="24" name="Shape 22"/>
          <p:cNvSpPr/>
          <p:nvPr/>
        </p:nvSpPr>
        <p:spPr>
          <a:xfrm>
            <a:off x="8322869" y="1865376"/>
            <a:ext cx="73152" cy="73152"/>
          </a:xfrm>
          <a:prstGeom prst="ellipse">
            <a:avLst/>
          </a:prstGeom>
          <a:solidFill>
            <a:srgbClr val="F1A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8460029" y="1865376"/>
            <a:ext cx="73152" cy="73152"/>
          </a:xfrm>
          <a:prstGeom prst="ellipse">
            <a:avLst/>
          </a:prstGeom>
          <a:solidFill>
            <a:srgbClr val="F6D186"/>
          </a:solidFill>
          <a:ln/>
        </p:spPr>
      </p:sp>
      <p:sp>
        <p:nvSpPr>
          <p:cNvPr id="26" name="Shape 24"/>
          <p:cNvSpPr/>
          <p:nvPr/>
        </p:nvSpPr>
        <p:spPr>
          <a:xfrm>
            <a:off x="8597189" y="1865376"/>
            <a:ext cx="73152" cy="73152"/>
          </a:xfrm>
          <a:prstGeom prst="ellipse">
            <a:avLst/>
          </a:prstGeom>
          <a:solidFill>
            <a:srgbClr val="A9D6A5"/>
          </a:solidFill>
          <a:ln/>
        </p:spPr>
      </p:sp>
      <p:sp>
        <p:nvSpPr>
          <p:cNvPr id="27" name="Text 25"/>
          <p:cNvSpPr/>
          <p:nvPr/>
        </p:nvSpPr>
        <p:spPr>
          <a:xfrm>
            <a:off x="8203997" y="1783080"/>
            <a:ext cx="34847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68589" y="2119579"/>
            <a:ext cx="3155594" cy="358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/text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앞으로 검색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D7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AF0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?text</a:t>
            </a:r>
            <a:endParaRPr lang="en-US" sz="12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C8B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뒤로 검색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6519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System Administration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23015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95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1042</Words>
  <Application>Microsoft Office PowerPoint</Application>
  <PresentationFormat>와이드스크린</PresentationFormat>
  <Paragraphs>233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10</cp:revision>
  <dcterms:created xsi:type="dcterms:W3CDTF">2026-08-24T09:57:24Z</dcterms:created>
  <dcterms:modified xsi:type="dcterms:W3CDTF">2026-09-12T02:15:51Z</dcterms:modified>
</cp:coreProperties>
</file>