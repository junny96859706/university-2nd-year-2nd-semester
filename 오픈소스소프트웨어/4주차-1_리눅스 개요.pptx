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1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899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931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71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685800"/>
            <a:ext cx="109728" cy="109728"/>
          </a:xfrm>
          <a:prstGeom prst="ellipse">
            <a:avLst/>
          </a:prstGeom>
          <a:solidFill>
            <a:srgbClr val="FF99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44200" y="1234440"/>
            <a:ext cx="146304" cy="146304"/>
          </a:xfrm>
          <a:prstGeom prst="ellipse">
            <a:avLst/>
          </a:prstGeom>
          <a:solidFill>
            <a:srgbClr val="0972D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04120" y="1874520"/>
            <a:ext cx="82296" cy="82296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109960" y="1965960"/>
            <a:ext cx="182880" cy="182880"/>
          </a:xfrm>
          <a:prstGeom prst="ellipse">
            <a:avLst/>
          </a:prstGeom>
          <a:solidFill>
            <a:srgbClr val="0972D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2514600"/>
            <a:ext cx="100584" cy="100584"/>
          </a:xfrm>
          <a:prstGeom prst="ellipse">
            <a:avLst/>
          </a:prstGeom>
          <a:solidFill>
            <a:srgbClr val="FF990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835640" y="2880360"/>
            <a:ext cx="128016" cy="128016"/>
          </a:xfrm>
          <a:prstGeom prst="ellipse">
            <a:avLst/>
          </a:prstGeom>
          <a:solidFill>
            <a:srgbClr val="0972D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3337560"/>
            <a:ext cx="73152" cy="73152"/>
          </a:xfrm>
          <a:prstGeom prst="ellipse">
            <a:avLst/>
          </a:prstGeom>
          <a:solidFill>
            <a:srgbClr val="FF9900">
              <a:alpha val="2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338560" y="3657600"/>
            <a:ext cx="91440" cy="91440"/>
          </a:xfrm>
          <a:prstGeom prst="ellipse">
            <a:avLst/>
          </a:prstGeom>
          <a:solidFill>
            <a:srgbClr val="0972D3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0" y="685800"/>
            <a:ext cx="777240" cy="5486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1234440"/>
            <a:ext cx="365760" cy="7315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66960" y="685800"/>
            <a:ext cx="137160" cy="118872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04120" y="1874520"/>
            <a:ext cx="0" cy="64008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2514600"/>
            <a:ext cx="1188720" cy="36576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35640" y="2880360"/>
            <a:ext cx="502920" cy="77724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09960" y="1965960"/>
            <a:ext cx="0" cy="914400"/>
          </a:xfrm>
          <a:prstGeom prst="line">
            <a:avLst/>
          </a:prstGeom>
          <a:noFill/>
          <a:ln w="9525">
            <a:solidFill>
              <a:srgbClr val="5A6B7B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80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Introduction to Linux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502920" y="38862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C9D3D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리눅스란 무엇인가, 대표 배포판, 그리고 vi 에디터까지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 배울 내용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Linux?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리눅스의 정의와 라이선스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79394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5426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5426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5426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Distributions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635426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배포판과 선택 기준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55868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1900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</p:sp>
      <p:sp>
        <p:nvSpPr>
          <p:cNvPr id="17" name="Text 15"/>
          <p:cNvSpPr/>
          <p:nvPr/>
        </p:nvSpPr>
        <p:spPr>
          <a:xfrm>
            <a:off x="651190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11900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 Editor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11900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3가지 모드와 자주 쓰는 명령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2341" y="1783080"/>
            <a:ext cx="2556434" cy="3291840"/>
          </a:xfrm>
          <a:prstGeom prst="roundRect">
            <a:avLst>
              <a:gd name="adj" fmla="val 321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88373" y="2075688"/>
            <a:ext cx="548640" cy="548640"/>
          </a:xfrm>
          <a:prstGeom prst="ellipse">
            <a:avLst/>
          </a:prstGeom>
          <a:solidFill>
            <a:srgbClr val="0972D3"/>
          </a:solidFill>
          <a:ln/>
        </p:spPr>
      </p:sp>
      <p:sp>
        <p:nvSpPr>
          <p:cNvPr id="22" name="Text 20"/>
          <p:cNvSpPr/>
          <p:nvPr/>
        </p:nvSpPr>
        <p:spPr>
          <a:xfrm>
            <a:off x="9388373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88373" y="2834640"/>
            <a:ext cx="20443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Package Management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388373" y="3520440"/>
            <a:ext cx="204437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RPM · YUM으로 패키지 관리하기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Linux?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92218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Unix 계열 운영체제 (Free Unix-type operating system)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altLang="ko-KR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Linus Torvalds</a:t>
            </a:r>
            <a:r>
              <a:rPr lang="ko-KR" alt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처음 만들었고</a:t>
            </a:r>
            <a:r>
              <a:rPr lang="en-US" altLang="ko-KR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전 세계 개발자들의 협업으로 발전해 옴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커널은 GPLv2 라이선스로 배포됨</a:t>
            </a:r>
            <a:endParaRPr lang="en-US" sz="1800" dirty="0"/>
          </a:p>
          <a:p>
            <a:pPr marL="203200" indent="-203200">
              <a:lnSpc>
                <a:spcPct val="120000"/>
              </a:lnSpc>
              <a:spcAft>
                <a:spcPts val="2400"/>
              </a:spcAft>
              <a:buSzPct val="100000"/>
              <a:buChar char="●"/>
            </a:pPr>
            <a:r>
              <a:rPr lang="en-US" sz="18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 코드가 누구에게나 자유롭게 공개되어 있음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7826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538581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538581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" y="5769864"/>
            <a:ext cx="107469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오픈소스이기 때문에 누구나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자유롭게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lang="en-US" altLang="ko-KR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r>
              <a:rPr lang="en-US" altLang="ko-KR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</a:t>
            </a:r>
            <a:r>
              <a:rPr lang="en-US" sz="135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배포할</a:t>
            </a: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있고, 이 덕분에 다양한 배포판(distribution)이 만들어졌습니다.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Distribution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945662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배포판(distribution)은 Kernel + Shell + Application의 계층 구조로 이루어짐</a:t>
            </a:r>
            <a:endParaRPr lang="en-US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배포판은 이 계층 구조를 공유하지만, Shell 종류·응용 프로그램·설치/설정 도구 같은 세부 구성은 배포판마다 다름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914400" y="3429000"/>
            <a:ext cx="2834640" cy="2834640"/>
          </a:xfrm>
          <a:prstGeom prst="ellipse">
            <a:avLst/>
          </a:prstGeom>
          <a:solidFill>
            <a:srgbClr val="9FC7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3913632"/>
            <a:ext cx="1865376" cy="1865376"/>
          </a:xfrm>
          <a:prstGeom prst="ellipse">
            <a:avLst/>
          </a:prstGeom>
          <a:solidFill>
            <a:srgbClr val="5B9B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4389120"/>
            <a:ext cx="914400" cy="914400"/>
          </a:xfrm>
          <a:prstGeom prst="ellipse">
            <a:avLst/>
          </a:prstGeom>
          <a:solidFill>
            <a:srgbClr val="232F3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4389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Kernel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99032" y="4034935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3511296"/>
            <a:ext cx="164592" cy="164592"/>
          </a:xfrm>
          <a:prstGeom prst="ellipse">
            <a:avLst/>
          </a:prstGeom>
          <a:solidFill>
            <a:srgbClr val="9FC7ED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3419856"/>
            <a:ext cx="7052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36008" y="3730752"/>
            <a:ext cx="7052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 Manager (GNOME, KDE), Apache Web Server, Mail Server 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43400" y="4443984"/>
            <a:ext cx="164592" cy="164592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4636008" y="4352544"/>
            <a:ext cx="7052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Shell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36008" y="4663440"/>
            <a:ext cx="7052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해석기 — bash, csh 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5376672"/>
            <a:ext cx="164592" cy="164592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5285232"/>
            <a:ext cx="7052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Kernel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36008" y="5596128"/>
            <a:ext cx="7052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메모리/프로세스 관리, 하드웨어 관리 (H/W: CPU, Memory, HDD…)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Famous Distributions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30428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계열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" y="2715768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7157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RHEL(Red Hat Enterprise Linux)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118104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공식 상용 배포판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1520" y="3931920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93192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72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· Rocky · AlmaLinux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4334256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소스 기반 커뮤니티 재배포판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5800" y="4602753"/>
            <a:ext cx="3088538" cy="868680"/>
          </a:xfrm>
          <a:prstGeom prst="roundRect">
            <a:avLst>
              <a:gd name="adj" fmla="val 7368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" y="4602753"/>
            <a:ext cx="286908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등은 Red Hat이 배포하는 제품이 아닌, </a:t>
            </a:r>
            <a:r>
              <a:rPr lang="en-US" sz="1200" dirty="0" err="1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별도의</a:t>
            </a:r>
            <a:r>
              <a:rPr lang="en-US" sz="1200" dirty="0">
                <a:solidFill>
                  <a:srgbClr val="B8630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커뮤니티가 RHEL 소스로 만든 재배포판입니다.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68698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68698" y="230428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 계열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97298" y="2715768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97298" y="27157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97298" y="3118104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 기반, 데스크톱 친화적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643018" y="402336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인기 있는 데스크톱·서버 배포판 중 하나로, 리눅스를 처음 접하는 사용자에게 특히 추천됩니다.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34477" y="1737360"/>
            <a:ext cx="3454298" cy="4023360"/>
          </a:xfrm>
          <a:prstGeom prst="roundRect">
            <a:avLst>
              <a:gd name="adj" fmla="val 2647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34477" y="2304288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SUSE 계열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463077" y="2715768"/>
            <a:ext cx="2997098" cy="36576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63077" y="2715768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openSUSE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8463077" y="3118104"/>
            <a:ext cx="2997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SUSE가 후원하는 오픈소스 버전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508797" y="4023360"/>
            <a:ext cx="29056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기업용 SUSE Linux Enterprise를 기반으로, SUSE사가 직접 후원·관리하는 커뮤니티 배포판입니다.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8869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RedHat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19" y="2286000"/>
            <a:ext cx="2155717" cy="502920"/>
          </a:xfrm>
          <a:prstGeom prst="roundRect">
            <a:avLst>
              <a:gd name="adj" fmla="val 14545"/>
            </a:avLst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502919" y="2286000"/>
            <a:ext cx="21557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RedHat Linux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1783080"/>
            <a:ext cx="2910218" cy="502920"/>
          </a:xfrm>
          <a:prstGeom prst="roundRect">
            <a:avLst>
              <a:gd name="adj" fmla="val 14545"/>
            </a:avLst>
          </a:prstGeom>
          <a:solidFill>
            <a:srgbClr val="E8F1FC"/>
          </a:solidFill>
          <a:ln w="12700">
            <a:solidFill>
              <a:srgbClr val="097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783080"/>
            <a:ext cx="2910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Fedora 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(커뮤니티 · Open-Source)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54680" y="2788920"/>
            <a:ext cx="2910218" cy="502920"/>
          </a:xfrm>
          <a:prstGeom prst="roundRect">
            <a:avLst>
              <a:gd name="adj" fmla="val 14545"/>
            </a:avLst>
          </a:prstGeom>
          <a:solidFill>
            <a:srgbClr val="FFF3DF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2788920"/>
            <a:ext cx="2910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 </a:t>
            </a:r>
          </a:p>
          <a:p>
            <a:pPr marL="0" indent="0" algn="ctr">
              <a:buNone/>
            </a:pPr>
            <a:r>
              <a:rPr lang="en-US" sz="14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(엔터프라이즈 · Commercial)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 flipV="1">
            <a:off x="2658636" y="2116836"/>
            <a:ext cx="429797" cy="324612"/>
          </a:xfrm>
          <a:prstGeom prst="line">
            <a:avLst/>
          </a:prstGeom>
          <a:noFill/>
          <a:ln w="12700">
            <a:solidFill>
              <a:srgbClr val="8695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8636" y="2606973"/>
            <a:ext cx="496044" cy="283464"/>
          </a:xfrm>
          <a:prstGeom prst="line">
            <a:avLst/>
          </a:prstGeom>
          <a:noFill/>
          <a:ln w="12700">
            <a:solidFill>
              <a:srgbClr val="8695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4904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RHEL(Red Hat Enterprise Linux): 서버·데스크톱용 상용 배포판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Fedora 오픈소스 프로젝트를 기반으로 하되, 장기 지원(LTS)을 갖춘 안정적인 플랫폼으로 설계됨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86600" y="1783080"/>
            <a:ext cx="4602175" cy="3200400"/>
          </a:xfrm>
          <a:prstGeom prst="roundRect">
            <a:avLst>
              <a:gd name="adj" fmla="val 2571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06056" y="2002536"/>
            <a:ext cx="2308860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6" name="Text 14"/>
          <p:cNvSpPr/>
          <p:nvPr/>
        </p:nvSpPr>
        <p:spPr>
          <a:xfrm>
            <a:off x="7306056" y="2002536"/>
            <a:ext cx="23088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버전 (2026년 8월 기준)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06056" y="2386584"/>
            <a:ext cx="4163263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Fedora Linux 44</a:t>
            </a:r>
            <a:endParaRPr lang="en-US" sz="16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Hat Enterprise Linux (RHEL) 10.2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</a:t>
            </a:r>
            <a:endParaRPr lang="en-US" sz="2800" dirty="0"/>
          </a:p>
        </p:txBody>
      </p:sp>
      <p:pic>
        <p:nvPicPr>
          <p:cNvPr id="5" name="Image 0" descr="/home/claude/work3/build/assets/cento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735" y="502920"/>
            <a:ext cx="1463040" cy="1004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783080"/>
            <a:ext cx="111858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소스 코드에서 Red Hat 상표만 제거해 무료로 재배포한 커뮤니티 프로젝트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안정성이 매우 뛰어나 서버용으로 널리 쓰여 왔음</a:t>
            </a:r>
            <a:endParaRPr lang="en-US" sz="16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16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주기가 느긋해 데스크톱 최신 기능이 필요한 일반 사용자에게는 적합하지 않았음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502920" y="4297680"/>
            <a:ext cx="11185855" cy="1874520"/>
          </a:xfrm>
          <a:prstGeom prst="roundRect">
            <a:avLst>
              <a:gd name="adj" fmla="val 4390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2376" y="4517136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B8630A"/>
          </a:solidFill>
          <a:ln/>
        </p:spPr>
      </p:sp>
      <p:sp>
        <p:nvSpPr>
          <p:cNvPr id="9" name="Text 6"/>
          <p:cNvSpPr/>
          <p:nvPr/>
        </p:nvSpPr>
        <p:spPr>
          <a:xfrm>
            <a:off x="722376" y="4517136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업데이트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22376" y="4901184"/>
            <a:ext cx="1074694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전통적인 CentOS Linux는 2024년 6월(CentOS 7 EOL)로 서비스가 종료되었습니다.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지금의 'CentOS'는 RHEL의 업스트림 개발판(= RHEL에 새 기능이 정식 반영되기 전, 미리 적용해 테스트하는 버전)인 CentOS Stream만 남아 있으며, 예전 CentOS의 역할(무료 RHEL 호환 서버 배포판)은 Rocky Linux와 AlmaLinux가 이어받고 있습니다.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</a:t>
            </a:r>
            <a:endParaRPr lang="en-US" sz="2800" dirty="0"/>
          </a:p>
        </p:txBody>
      </p:sp>
      <p:pic>
        <p:nvPicPr>
          <p:cNvPr id="5" name="Image 0" descr="/home/claude/work3/build/assets/ubunt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335" y="566928"/>
            <a:ext cx="2377440" cy="5327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20240"/>
            <a:ext cx="8778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인기 있는 리눅스 배포판 중 하나로, 리눅스를 처음 접하는 사용자에게 특히 추천됨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Debian을 기반으로 만들어짐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20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사용하기 쉬운 데스크톱 환경을 제공하며, 폭넓은 하드웨어·소프트웨어와 호환됨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vs Ubuntu — 초보자에게는?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48256"/>
            <a:ext cx="1257300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48256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계열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4636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자료가 </a:t>
            </a:r>
            <a:r>
              <a:rPr lang="en-US" sz="145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서버·엔터프라이즈 </a:t>
            </a: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환경에 치우쳐 있음</a:t>
            </a:r>
            <a:endParaRPr lang="en-US" sz="14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사용성보다 안정성에 초점</a:t>
            </a:r>
            <a:endParaRPr lang="en-US" sz="14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Rocky </a:t>
            </a:r>
            <a:r>
              <a:rPr lang="en-US" altLang="ko-KR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Linux와</a:t>
            </a: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AlmaLinux가</a:t>
            </a: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600" dirty="0" err="1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이어받고</a:t>
            </a:r>
            <a:r>
              <a:rPr lang="en-US" altLang="ko-KR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6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있음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3200400"/>
          </a:xfrm>
          <a:prstGeom prst="roundRect">
            <a:avLst>
              <a:gd name="adj" fmla="val 2571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2048256"/>
            <a:ext cx="1677924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2048256"/>
            <a:ext cx="16779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— 추천 ✓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0216" y="2432304"/>
            <a:ext cx="46360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무료로 도움받을 수 있는 커뮤니티가 매우 큼</a:t>
            </a:r>
            <a:endParaRPr lang="en-US" sz="14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가정용 </a:t>
            </a:r>
            <a:r>
              <a:rPr lang="en-US" sz="1450" u="sng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</a:t>
            </a:r>
            <a:r>
              <a:rPr lang="en-US" sz="14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리눅스 중 압도적으로 인기가 높음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vs Ubuntu — 기업 환경에서는?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2926080"/>
          </a:xfrm>
          <a:prstGeom prst="roundRect">
            <a:avLst>
              <a:gd name="adj" fmla="val 2813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48256"/>
            <a:ext cx="1783080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482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계열 — 추천 ✓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46360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주기가 느린 대신 오래 검증된 안정 버전만 릴리스됨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안정성·보안에 강점이 있어 웹 서버·DB 서버에 적합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2926080"/>
          </a:xfrm>
          <a:prstGeom prst="roundRect">
            <a:avLst>
              <a:gd name="adj" fmla="val 2813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2048256"/>
            <a:ext cx="941832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2048256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0216" y="2432304"/>
            <a:ext cx="46360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사용하기 쉬운 환경과 최신 소프트웨어 제공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데스크톱·개인용 컴퓨팅에 더 적합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983480"/>
            <a:ext cx="11185855" cy="877824"/>
          </a:xfrm>
          <a:prstGeom prst="roundRect">
            <a:avLst>
              <a:gd name="adj" fmla="val 10588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5202936"/>
            <a:ext cx="52120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5202936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2376" y="5586984"/>
            <a:ext cx="1074694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서버에서는 CentOS 대신 Rocky Linux · AlmaLinux · RHEL이 같은 역할을 담당합니다.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2-4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vs Ubuntu — 패키지 관리자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48256"/>
            <a:ext cx="1993392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4825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CentOS / RHEL 계열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432304"/>
            <a:ext cx="4636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.rpm 패키지 + yum (최신 배포판은 dnf)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0760" y="1828800"/>
            <a:ext cx="5074920" cy="2331720"/>
          </a:xfrm>
          <a:prstGeom prst="roundRect">
            <a:avLst>
              <a:gd name="adj" fmla="val 3529"/>
            </a:avLst>
          </a:prstGeom>
          <a:solidFill>
            <a:srgbClr val="F2F6FA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0216" y="2048256"/>
            <a:ext cx="2203704" cy="256032"/>
          </a:xfrm>
          <a:prstGeom prst="roundRect">
            <a:avLst>
              <a:gd name="adj" fmla="val 50000"/>
            </a:avLst>
          </a:prstGeom>
          <a:solidFill>
            <a:srgbClr val="8695A4"/>
          </a:solidFill>
          <a:ln/>
        </p:spPr>
      </p:sp>
      <p:sp>
        <p:nvSpPr>
          <p:cNvPr id="11" name="Text 9"/>
          <p:cNvSpPr/>
          <p:nvPr/>
        </p:nvSpPr>
        <p:spPr>
          <a:xfrm>
            <a:off x="6300216" y="2048256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 / Debian 계열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0216" y="2432304"/>
            <a:ext cx="46360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.deb 패키지 + apt-get (최신 명령은 apt)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434840"/>
            <a:ext cx="11185855" cy="1280160"/>
          </a:xfrm>
          <a:prstGeom prst="roundRect">
            <a:avLst>
              <a:gd name="adj" fmla="val 6429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4654296"/>
            <a:ext cx="626364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" y="4654296"/>
            <a:ext cx="626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2376" y="5038344"/>
            <a:ext cx="107469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RHEL 8 이상과 최신 Fedora는 dnf(Dandified YUM)가 기본이며, yum 명령은 dnf의 별칭으로 그대로 동작합니다.</a:t>
            </a:r>
            <a:endParaRPr lang="en-US" sz="140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Ubuntu에서도 apt-get보다 사람이 읽기 쉬운 apt 명령 사용이 권장됩니다</a:t>
            </a:r>
            <a:r>
              <a:rPr lang="en-US" sz="12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977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is vi Editor?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8778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리눅스 환경의 표준 텍스트 에디터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가볍지만 강력하여 시스템 설정 편집과 코딩에 널리 사용됨</a:t>
            </a:r>
            <a:endParaRPr lang="en-US" sz="1700" dirty="0"/>
          </a:p>
          <a:p>
            <a:pPr marL="203200" indent="-2032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7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모드를 기반으로 구성됨: Command Mode · Insert Mode · Ex (Last line) Mode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420624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4206240"/>
            <a:ext cx="4754880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4325112"/>
            <a:ext cx="4754880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428853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428853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428853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2062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파일 열기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4542739"/>
            <a:ext cx="4425696" cy="616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 filename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Modes of vi (1)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E8F1FC"/>
          </a:solidFill>
          <a:ln w="12700">
            <a:solidFill>
              <a:srgbClr val="C7DE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02536"/>
            <a:ext cx="1572768" cy="256032"/>
          </a:xfrm>
          <a:prstGeom prst="roundRect">
            <a:avLst>
              <a:gd name="adj" fmla="val 50000"/>
            </a:avLst>
          </a:prstGeom>
          <a:solidFill>
            <a:srgbClr val="0972D3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0253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Command Mode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38658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 시작 시 기본 모드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2376" y="2770632"/>
            <a:ext cx="4956048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커서 이동, 복사/붙여넣기, 텍스트 삭제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1200"/>
              </a:spcAft>
              <a:buSzPct val="100000"/>
              <a:buChar char="●"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dd (줄 삭제), yy (줄 복사), p (붙여넣기)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79415" cy="1828800"/>
          </a:xfrm>
          <a:prstGeom prst="roundRect">
            <a:avLst>
              <a:gd name="adj" fmla="val 4500"/>
            </a:avLst>
          </a:prstGeom>
          <a:solidFill>
            <a:srgbClr val="FFF3DF"/>
          </a:solidFill>
          <a:ln w="12700">
            <a:solidFill>
              <a:srgbClr val="F0C7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28816" y="2002536"/>
            <a:ext cx="1467612" cy="256032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28816" y="2002536"/>
            <a:ext cx="14676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Insert Mode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28816" y="2386584"/>
            <a:ext cx="49405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i, a, o 키로 진입</a:t>
            </a:r>
            <a:endParaRPr lang="en-US" sz="1300" dirty="0"/>
          </a:p>
          <a:p>
            <a:pPr marL="177800" indent="-1778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입력 가능, Esc로 Command Mode 복귀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8430" y="4014216"/>
            <a:ext cx="5379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 j k l — 방향키 이동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99068" y="5303520"/>
            <a:ext cx="0" cy="5943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99068" y="5303520"/>
            <a:ext cx="5943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816188" y="4361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16188" y="5989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1788" y="5166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30588" y="5166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F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25" name="Shape 16"/>
          <p:cNvSpPr/>
          <p:nvPr/>
        </p:nvSpPr>
        <p:spPr>
          <a:xfrm>
            <a:off x="8403778" y="5301031"/>
            <a:ext cx="59436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6" name="Shape 14"/>
          <p:cNvSpPr/>
          <p:nvPr/>
        </p:nvSpPr>
        <p:spPr>
          <a:xfrm>
            <a:off x="8998138" y="4725333"/>
            <a:ext cx="0" cy="59436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  <a:headEnd type="triangle" w="med" len="med"/>
            <a:tailEnd type="none" w="med" len="me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 Modes of vi (2)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960120"/>
          </a:xfrm>
          <a:prstGeom prst="roundRect">
            <a:avLst>
              <a:gd name="adj" fmla="val 8571"/>
            </a:avLst>
          </a:prstGeom>
          <a:solidFill>
            <a:srgbClr val="E8F7EF"/>
          </a:solidFill>
          <a:ln w="12700">
            <a:solidFill>
              <a:srgbClr val="BCE7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002536"/>
            <a:ext cx="1046988" cy="256032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/>
        </p:spPr>
      </p:sp>
      <p:sp>
        <p:nvSpPr>
          <p:cNvPr id="7" name="Text 5"/>
          <p:cNvSpPr/>
          <p:nvPr/>
        </p:nvSpPr>
        <p:spPr>
          <a:xfrm>
            <a:off x="722376" y="2002536"/>
            <a:ext cx="10469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 Mode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" y="2386584"/>
            <a:ext cx="1074694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키를 눌러 진입하며, 저장·종료뿐 아니라 검색과 치환(substitute)에도 사용됩니다.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5410048" cy="3108960"/>
          </a:xfrm>
          <a:prstGeom prst="roundRect">
            <a:avLst>
              <a:gd name="adj" fmla="val 235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97180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309067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305409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" y="305409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05409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7180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· 종료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" y="3308299"/>
            <a:ext cx="5080864" cy="26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저장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저장 후 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:q!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저장하지 않고 종료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8728" y="2971800"/>
            <a:ext cx="5410048" cy="3108960"/>
          </a:xfrm>
          <a:prstGeom prst="roundRect">
            <a:avLst>
              <a:gd name="adj" fmla="val 2353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8728" y="2971800"/>
            <a:ext cx="541004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19" name="Shape 17"/>
          <p:cNvSpPr/>
          <p:nvPr/>
        </p:nvSpPr>
        <p:spPr>
          <a:xfrm>
            <a:off x="6278728" y="3090672"/>
            <a:ext cx="541004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7600" y="305409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4760" y="305409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1920" y="305409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23" name="Text 21"/>
          <p:cNvSpPr/>
          <p:nvPr/>
        </p:nvSpPr>
        <p:spPr>
          <a:xfrm>
            <a:off x="6278728" y="2971800"/>
            <a:ext cx="541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검색 · 치환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3320" y="3308299"/>
            <a:ext cx="5080864" cy="2673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/text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아래 방향으로 text 검색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:s/old/new/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현재 줄에서 old를 new로 치환(첫 번째만)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:s/old/new/g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현재 줄 전체에서 old를 new로 치환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1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:%s/old/new/g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파일 전체에서 old를 new로 치환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61618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44652" cy="292608"/>
          </a:xfrm>
          <a:prstGeom prst="roundRect">
            <a:avLst>
              <a:gd name="adj" fmla="val 50000"/>
            </a:avLst>
          </a:prstGeom>
          <a:solidFill>
            <a:srgbClr val="E8F1FC"/>
          </a:solidFill>
          <a:ln w="9525">
            <a:solidFill>
              <a:srgbClr val="0972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6446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32F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Frequently Used Commands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83080"/>
            <a:ext cx="348477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01952"/>
            <a:ext cx="348477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3484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&amp; Quit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2119579"/>
            <a:ext cx="3155594" cy="358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:wq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 후 종료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:q!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저장하지 않고 종료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3458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53458" y="1783080"/>
            <a:ext cx="348477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15" name="Shape 13"/>
          <p:cNvSpPr/>
          <p:nvPr/>
        </p:nvSpPr>
        <p:spPr>
          <a:xfrm>
            <a:off x="4353458" y="1901952"/>
            <a:ext cx="348477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4472330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4609490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46650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19" name="Text 17"/>
          <p:cNvSpPr/>
          <p:nvPr/>
        </p:nvSpPr>
        <p:spPr>
          <a:xfrm>
            <a:off x="4353458" y="1783080"/>
            <a:ext cx="3484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18050" y="2119579"/>
            <a:ext cx="3155594" cy="358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모드 진입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글자 삭제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줄 삭제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yy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줄 복사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붙여넣기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03997" y="1783080"/>
            <a:ext cx="3484778" cy="4023360"/>
          </a:xfrm>
          <a:prstGeom prst="roundRect">
            <a:avLst>
              <a:gd name="adj" fmla="val 2099"/>
            </a:avLst>
          </a:prstGeom>
          <a:solidFill>
            <a:srgbClr val="1B2430"/>
          </a:solidFill>
          <a:ln/>
          <a:effectLst>
            <a:outerShdw blurRad="101600" dist="38100" dir="5400000" algn="bl" rotWithShape="0">
              <a:srgbClr val="10161F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03997" y="1783080"/>
            <a:ext cx="3484778" cy="237744"/>
          </a:xfrm>
          <a:prstGeom prst="roundRect">
            <a:avLst>
              <a:gd name="adj" fmla="val 30769"/>
            </a:avLst>
          </a:prstGeom>
          <a:solidFill>
            <a:srgbClr val="141C28"/>
          </a:solidFill>
          <a:ln/>
        </p:spPr>
      </p:sp>
      <p:sp>
        <p:nvSpPr>
          <p:cNvPr id="23" name="Shape 21"/>
          <p:cNvSpPr/>
          <p:nvPr/>
        </p:nvSpPr>
        <p:spPr>
          <a:xfrm>
            <a:off x="8203997" y="1901952"/>
            <a:ext cx="3484778" cy="118872"/>
          </a:xfrm>
          <a:prstGeom prst="rect">
            <a:avLst/>
          </a:prstGeom>
          <a:solidFill>
            <a:srgbClr val="141C28"/>
          </a:solidFill>
          <a:ln/>
        </p:spPr>
      </p:sp>
      <p:sp>
        <p:nvSpPr>
          <p:cNvPr id="24" name="Shape 22"/>
          <p:cNvSpPr/>
          <p:nvPr/>
        </p:nvSpPr>
        <p:spPr>
          <a:xfrm>
            <a:off x="8322869" y="1865376"/>
            <a:ext cx="73152" cy="73152"/>
          </a:xfrm>
          <a:prstGeom prst="ellipse">
            <a:avLst/>
          </a:prstGeom>
          <a:solidFill>
            <a:srgbClr val="F1A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8460029" y="1865376"/>
            <a:ext cx="73152" cy="73152"/>
          </a:xfrm>
          <a:prstGeom prst="ellipse">
            <a:avLst/>
          </a:prstGeom>
          <a:solidFill>
            <a:srgbClr val="F6D186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7189" y="1865376"/>
            <a:ext cx="73152" cy="73152"/>
          </a:xfrm>
          <a:prstGeom prst="ellipse">
            <a:avLst/>
          </a:prstGeom>
          <a:solidFill>
            <a:srgbClr val="A9D6A5"/>
          </a:solidFill>
          <a:ln/>
        </p:spPr>
      </p:sp>
      <p:sp>
        <p:nvSpPr>
          <p:cNvPr id="27" name="Text 25"/>
          <p:cNvSpPr/>
          <p:nvPr/>
        </p:nvSpPr>
        <p:spPr>
          <a:xfrm>
            <a:off x="8203997" y="1783080"/>
            <a:ext cx="34847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68589" y="2119579"/>
            <a:ext cx="3155594" cy="358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/text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앞으로 검색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250" dirty="0">
                <a:solidFill>
                  <a:srgbClr val="EAF0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?text</a:t>
            </a:r>
            <a:endParaRPr lang="en-US" sz="12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7C8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뒤로 검색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23015" y="65196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95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1042</Words>
  <Application>Microsoft Office PowerPoint</Application>
  <PresentationFormat>와이드스크린</PresentationFormat>
  <Paragraphs>233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이지형</cp:lastModifiedBy>
  <cp:revision>10</cp:revision>
  <dcterms:created xsi:type="dcterms:W3CDTF">2026-08-24T09:57:24Z</dcterms:created>
  <dcterms:modified xsi:type="dcterms:W3CDTF">2026-10-18T14:16:04Z</dcterms:modified>
</cp:coreProperties>
</file>