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80" r:id="rId9"/>
    <p:sldId id="263" r:id="rId10"/>
    <p:sldId id="264" r:id="rId11"/>
    <p:sldId id="265" r:id="rId12"/>
    <p:sldId id="279" r:id="rId13"/>
    <p:sldId id="266" r:id="rId14"/>
    <p:sldId id="267" r:id="rId15"/>
    <p:sldId id="268" r:id="rId16"/>
    <p:sldId id="269" r:id="rId17"/>
    <p:sldId id="270" r:id="rId18"/>
    <p:sldId id="272" r:id="rId19"/>
    <p:sldId id="284" r:id="rId20"/>
    <p:sldId id="283" r:id="rId21"/>
    <p:sldId id="273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305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On-Premise vs Cloud 비교 슬라이드. 슬라이드 3의 전력회사 비유(직접 발전소를 짓지 않고 전력회사로부터 전기를 쓴 만큼 요금을 내는 것)를 그림으로 확장한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24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85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60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155680" y="146304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881360" y="210312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521440" y="182880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32720" y="265176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0" y="310896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E1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3강 · 클라우드 &amp; AWS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23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Computing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&amp; AWS 계정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클라우드란 무엇인가부터, AWS 계정을 </a:t>
            </a:r>
            <a:r>
              <a:rPr lang="en-US" sz="1500" dirty="0" err="1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만들고</a:t>
            </a: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설정하는</a:t>
            </a: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법까지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컴퓨팅이란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939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정의와, 오늘날 클라우드 시장의 모습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70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계정 만들기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0083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전 과정과 Free Tier 정책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84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</a:t>
            </a: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보안의 첫걸음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9227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계정을 지키고 IAM으로 전환하기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38912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Computing이란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인터넷을 통해 컴퓨팅 파워, 데이터베이스, 스토리지, 애플리케이션 등 IT 자원을 필요한 만큼 즉시 빌려 쓰고, 쓴 만큼만 지불하는 방식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On-Demand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63931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즉시, 클릭 몇 번으로 자원을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301752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80560" y="32186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Pay-as-you-go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363931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만큼만 비용을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초기 투자 비용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301752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92440" y="32186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Self-Service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363931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부서에 요청하지 않고</a:t>
            </a: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콘솔에서 클릭 몇 번으로 자원을 직접 구성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비유하자면  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발전소를 </a:t>
            </a:r>
            <a:r>
              <a:rPr lang="en-US" sz="1250" dirty="0" err="1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짓지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250" dirty="0" err="1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전력회사</a:t>
            </a:r>
            <a:r>
              <a:rPr lang="ko-KR" alt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로부터 전기를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쓴 만큼 요금을 내는 것과 같습니다 — 서버를 직접 사서 관리하는 대신, AWS 같은 클라우드 사업자의 인프라를 빌려서 쓰는 것이 클라우드 컴퓨팅입니다.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35433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vs Cloud Computing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9213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온프레미스는 직접 발전소를 짓는 것, </a:t>
            </a:r>
            <a:r>
              <a:rPr lang="en-US" sz="14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클라우드는</a:t>
            </a: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전력회사에서</a:t>
            </a: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전기를 쓴 만큼 요금을 내는 것과 같습니다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8555"/>
            <a:ext cx="5166360" cy="4522123"/>
          </a:xfrm>
          <a:prstGeom prst="roundRect">
            <a:avLst>
              <a:gd name="adj" fmla="val 2264"/>
            </a:avLst>
          </a:prstGeom>
          <a:solidFill>
            <a:srgbClr val="EAF2F7"/>
          </a:solidFill>
          <a:ln/>
          <a:effectLst>
            <a:outerShdw blurRad="101600" dist="38100" dir="5400000" algn="bl" rotWithShape="0">
              <a:srgbClr val="8A8A8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46520" y="1928555"/>
            <a:ext cx="5166360" cy="4522123"/>
          </a:xfrm>
          <a:prstGeom prst="roundRect">
            <a:avLst>
              <a:gd name="adj" fmla="val 2264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8A8A8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829300" y="4100255"/>
            <a:ext cx="502920" cy="502920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8A8A8A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829300" y="41002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8" name="Image 0" descr="/home/claude/slide_build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248595"/>
            <a:ext cx="777240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11780" y="2637215"/>
            <a:ext cx="640080" cy="0"/>
          </a:xfrm>
          <a:prstGeom prst="line">
            <a:avLst/>
          </a:prstGeom>
          <a:noFill/>
          <a:ln w="285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home/claude/slide_build/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2248595"/>
            <a:ext cx="777240" cy="777240"/>
          </a:xfrm>
          <a:prstGeom prst="rect">
            <a:avLst/>
          </a:prstGeom>
        </p:spPr>
      </p:pic>
      <p:pic>
        <p:nvPicPr>
          <p:cNvPr id="11" name="Image 2" descr="/home/claude/slide_build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516" y="2490911"/>
            <a:ext cx="292608" cy="292608"/>
          </a:xfrm>
          <a:prstGeom prst="rect">
            <a:avLst/>
          </a:prstGeom>
        </p:spPr>
      </p:pic>
      <p:pic>
        <p:nvPicPr>
          <p:cNvPr id="12" name="Image 3" descr="/home/claude/slide_build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2248595"/>
            <a:ext cx="77724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709660" y="2637215"/>
            <a:ext cx="64008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/home/claude/slide_build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740" y="2248595"/>
            <a:ext cx="777240" cy="777240"/>
          </a:xfrm>
          <a:prstGeom prst="rect">
            <a:avLst/>
          </a:prstGeom>
        </p:spPr>
      </p:pic>
      <p:pic>
        <p:nvPicPr>
          <p:cNvPr id="15" name="Image 5" descr="/home/claude/slide_build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396" y="2490911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" y="3162995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6446520" y="3162995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822960" y="3528755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회사가 직접 발전소를 짓고 운영하는 것과 같습니다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720840" y="3528755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전력회사에서 전기를 쓴 만큼 요금을 내는 것과 같습니다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822960" y="4260275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/home/claude/slide_build/tool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4342571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71600" y="415969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서버·인프라 직접 구축, 초기 비용 큼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822960" y="4991795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7" descr="/home/claude/slide_build/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5074091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71600" y="489121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사용량과 무관하게 고정 비용 지출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822960" y="5723315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8" descr="/home/claude/slide_build/industr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" y="5805611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371600" y="562273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유지보수·운영을 직접 담당</a:t>
            </a:r>
            <a:endParaRPr lang="en-US" sz="1300" dirty="0"/>
          </a:p>
        </p:txBody>
      </p:sp>
      <p:sp>
        <p:nvSpPr>
          <p:cNvPr id="29" name="Shape 18"/>
          <p:cNvSpPr/>
          <p:nvPr/>
        </p:nvSpPr>
        <p:spPr>
          <a:xfrm>
            <a:off x="6720840" y="4260275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9" descr="/home/claude/slide_build/plu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3136" y="4342571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269480" y="415969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필요할 때 바로 연결해서 사용, 구축 불필요</a:t>
            </a:r>
            <a:endParaRPr lang="en-US" sz="1300" dirty="0"/>
          </a:p>
        </p:txBody>
      </p:sp>
      <p:sp>
        <p:nvSpPr>
          <p:cNvPr id="32" name="Shape 20"/>
          <p:cNvSpPr/>
          <p:nvPr/>
        </p:nvSpPr>
        <p:spPr>
          <a:xfrm>
            <a:off x="6720840" y="4991795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0" descr="/home/claude/slide_build/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5074091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269480" y="489121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사용한 만큼만 요금 지불, 종량제</a:t>
            </a:r>
            <a:endParaRPr lang="en-US" sz="1300" dirty="0"/>
          </a:p>
        </p:txBody>
      </p:sp>
      <p:sp>
        <p:nvSpPr>
          <p:cNvPr id="35" name="Shape 22"/>
          <p:cNvSpPr/>
          <p:nvPr/>
        </p:nvSpPr>
        <p:spPr>
          <a:xfrm>
            <a:off x="6720840" y="5723315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1" descr="/home/claude/slide_build/chec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3136" y="5805611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7269480" y="562273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유지보수는 클라우드 사업자가 담당</a:t>
            </a:r>
            <a:endParaRPr lang="en-US" sz="1300" dirty="0"/>
          </a:p>
        </p:txBody>
      </p:sp>
      <p:sp>
        <p:nvSpPr>
          <p:cNvPr id="40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2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9711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클라우드인가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온프레미스(직접 서버 구축) 대비, 클라우드가 주는 4가지 이점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효율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Efficient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시스템을 직접 구매·관리·업그레이드하는 초기 비용을 절감. 사용한 만큼만 지불하는 'pay as you go' 방식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글로벌 배포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 in Minutes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몇 번으로 전 세계 여러 물리적 위치에 애플리케이션을 배포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67912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40507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398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7365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수요에 맞춰 자원을 즉시 늘리거나 줄일 수 있음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867912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40507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· 가용성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55080" y="4398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 Resilient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7365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장애에 강한</a:t>
            </a: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(fault resilient)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구조로 설계</a:t>
            </a: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스템의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안정성을 높이는 동시에, 정보를 항상 이용 가능한 상태로 유지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오늘날, 클라우드 시장의 모습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AWS부터 배우는가 — 여전히 시장을 이끄는 1위 사업자입니다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80560" y="21488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8620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92440" y="21488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92440" y="28620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회사가 전 세계 클라우드 인프라 지출의 약 63%를 차지합니다 (Synergy Research Group, 2026년 1분기 기준)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4599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왜 AWS부터 배우나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AWS는 2006년 가장 먼저 클라우드 서비스를 시작한 선발주자로, </a:t>
            </a: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200개 이상의 서비스</a:t>
            </a: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가장 넓은 글로벌 인프라를 갖추고 있습니다. Azure·Google Cloud가 빠르게 성장하고 있지만(2026년 2분기 기준 매출 성장률 각각 +43%, +82%), AWS도 +37% 성장하며 18분기 만에 최고 성장률을 기록했습니다. 실무·자격증·구직 시장에서는 여전히 AWS 경험이 가장 폭넓게 요구됩니다.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1792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계정 만들기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Sign Up for AWS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생성, 전체 흐름 한눈에 보기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슬라이드부터 각 단계를 실제 화면으로 따라갑니다</a:t>
            </a:r>
            <a:endParaRPr lang="en-US" sz="1350" dirty="0"/>
          </a:p>
        </p:txBody>
      </p:sp>
      <p:sp>
        <p:nvSpPr>
          <p:cNvPr id="900" name="Shape 900"/>
          <p:cNvSpPr/>
          <p:nvPr/>
        </p:nvSpPr>
        <p:spPr>
          <a:xfrm>
            <a:off x="640080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1" name="Shape 901"/>
          <p:cNvSpPr/>
          <p:nvPr/>
        </p:nvSpPr>
        <p:spPr>
          <a:xfrm>
            <a:off x="749808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2" name="Text 902"/>
          <p:cNvSpPr/>
          <p:nvPr/>
        </p:nvSpPr>
        <p:spPr>
          <a:xfrm>
            <a:off x="749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03" name="Text 903"/>
          <p:cNvSpPr/>
          <p:nvPr/>
        </p:nvSpPr>
        <p:spPr>
          <a:xfrm>
            <a:off x="731520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· 계정명</a:t>
            </a:r>
            <a:endParaRPr lang="en-US" sz="1000" dirty="0"/>
          </a:p>
        </p:txBody>
      </p:sp>
      <p:sp>
        <p:nvSpPr>
          <p:cNvPr id="904" name="Text 904"/>
          <p:cNvSpPr/>
          <p:nvPr/>
        </p:nvSpPr>
        <p:spPr>
          <a:xfrm>
            <a:off x="731520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홈페이지에서 가입 시작</a:t>
            </a:r>
            <a:endParaRPr lang="en-US" sz="750" dirty="0"/>
          </a:p>
        </p:txBody>
      </p:sp>
      <p:sp>
        <p:nvSpPr>
          <p:cNvPr id="905" name="Shape 905"/>
          <p:cNvSpPr/>
          <p:nvPr/>
        </p:nvSpPr>
        <p:spPr>
          <a:xfrm>
            <a:off x="2016252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6" name="Shape 906"/>
          <p:cNvSpPr/>
          <p:nvPr/>
        </p:nvSpPr>
        <p:spPr>
          <a:xfrm>
            <a:off x="2125980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7" name="Text 907"/>
          <p:cNvSpPr/>
          <p:nvPr/>
        </p:nvSpPr>
        <p:spPr>
          <a:xfrm>
            <a:off x="2125980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908" name="Text 908"/>
          <p:cNvSpPr/>
          <p:nvPr/>
        </p:nvSpPr>
        <p:spPr>
          <a:xfrm>
            <a:off x="2107692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</a:t>
            </a:r>
            <a:endParaRPr lang="en-US" sz="1000" dirty="0"/>
          </a:p>
        </p:txBody>
      </p:sp>
      <p:sp>
        <p:nvSpPr>
          <p:cNvPr id="909" name="Text 909"/>
          <p:cNvSpPr/>
          <p:nvPr/>
        </p:nvSpPr>
        <p:spPr>
          <a:xfrm>
            <a:off x="2107692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코드로 본인 확인</a:t>
            </a:r>
            <a:endParaRPr lang="en-US" sz="750" dirty="0"/>
          </a:p>
        </p:txBody>
      </p:sp>
      <p:sp>
        <p:nvSpPr>
          <p:cNvPr id="910" name="Shape 910"/>
          <p:cNvSpPr/>
          <p:nvPr/>
        </p:nvSpPr>
        <p:spPr>
          <a:xfrm>
            <a:off x="4751139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1" name="Shape 911"/>
          <p:cNvSpPr/>
          <p:nvPr/>
        </p:nvSpPr>
        <p:spPr>
          <a:xfrm>
            <a:off x="4860867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2" name="Text 912"/>
          <p:cNvSpPr/>
          <p:nvPr/>
        </p:nvSpPr>
        <p:spPr>
          <a:xfrm>
            <a:off x="4860867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913" name="Text 913"/>
          <p:cNvSpPr/>
          <p:nvPr/>
        </p:nvSpPr>
        <p:spPr>
          <a:xfrm>
            <a:off x="4842579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플랜</a:t>
            </a:r>
            <a:endParaRPr lang="en-US" sz="1000" dirty="0"/>
          </a:p>
        </p:txBody>
      </p:sp>
      <p:sp>
        <p:nvSpPr>
          <p:cNvPr id="914" name="Text 914"/>
          <p:cNvSpPr/>
          <p:nvPr/>
        </p:nvSpPr>
        <p:spPr>
          <a:xfrm>
            <a:off x="4842579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무료(6개월) 또는 유료 플랜 선택</a:t>
            </a:r>
            <a:endParaRPr lang="en-US" sz="750" dirty="0"/>
          </a:p>
        </p:txBody>
      </p:sp>
      <p:sp>
        <p:nvSpPr>
          <p:cNvPr id="915" name="Shape 915"/>
          <p:cNvSpPr/>
          <p:nvPr/>
        </p:nvSpPr>
        <p:spPr>
          <a:xfrm>
            <a:off x="3392424" y="2153412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6" name="Shape 916"/>
          <p:cNvSpPr/>
          <p:nvPr/>
        </p:nvSpPr>
        <p:spPr>
          <a:xfrm>
            <a:off x="3502152" y="226314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7" name="Text 917"/>
          <p:cNvSpPr/>
          <p:nvPr/>
        </p:nvSpPr>
        <p:spPr>
          <a:xfrm>
            <a:off x="3502152" y="2263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918" name="Text 918"/>
          <p:cNvSpPr/>
          <p:nvPr/>
        </p:nvSpPr>
        <p:spPr>
          <a:xfrm>
            <a:off x="3483864" y="2720340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설정</a:t>
            </a:r>
            <a:endParaRPr lang="en-US" sz="1000" dirty="0"/>
          </a:p>
        </p:txBody>
      </p:sp>
      <p:sp>
        <p:nvSpPr>
          <p:cNvPr id="919" name="Text 919"/>
          <p:cNvSpPr/>
          <p:nvPr/>
        </p:nvSpPr>
        <p:spPr>
          <a:xfrm>
            <a:off x="3483864" y="3140964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보호를 위한 암호 등록</a:t>
            </a:r>
            <a:endParaRPr lang="en-US" sz="750" dirty="0"/>
          </a:p>
        </p:txBody>
      </p:sp>
      <p:sp>
        <p:nvSpPr>
          <p:cNvPr id="920" name="Shape 920"/>
          <p:cNvSpPr/>
          <p:nvPr/>
        </p:nvSpPr>
        <p:spPr>
          <a:xfrm>
            <a:off x="6144768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1" name="Shape 921"/>
          <p:cNvSpPr/>
          <p:nvPr/>
        </p:nvSpPr>
        <p:spPr>
          <a:xfrm>
            <a:off x="6254496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2" name="Text 922"/>
          <p:cNvSpPr/>
          <p:nvPr/>
        </p:nvSpPr>
        <p:spPr>
          <a:xfrm>
            <a:off x="6254496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923" name="Text 923"/>
          <p:cNvSpPr/>
          <p:nvPr/>
        </p:nvSpPr>
        <p:spPr>
          <a:xfrm>
            <a:off x="6236208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· 주소</a:t>
            </a:r>
            <a:endParaRPr lang="en-US" sz="1000" dirty="0"/>
          </a:p>
        </p:txBody>
      </p:sp>
      <p:sp>
        <p:nvSpPr>
          <p:cNvPr id="924" name="Text 924"/>
          <p:cNvSpPr/>
          <p:nvPr/>
        </p:nvSpPr>
        <p:spPr>
          <a:xfrm>
            <a:off x="6236208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연락처 · 주소 입력</a:t>
            </a:r>
            <a:endParaRPr lang="en-US" sz="750" dirty="0"/>
          </a:p>
        </p:txBody>
      </p:sp>
      <p:sp>
        <p:nvSpPr>
          <p:cNvPr id="925" name="Shape 925"/>
          <p:cNvSpPr/>
          <p:nvPr/>
        </p:nvSpPr>
        <p:spPr>
          <a:xfrm>
            <a:off x="7520940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6" name="Shape 926"/>
          <p:cNvSpPr/>
          <p:nvPr/>
        </p:nvSpPr>
        <p:spPr>
          <a:xfrm>
            <a:off x="7630668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7" name="Text 927"/>
          <p:cNvSpPr/>
          <p:nvPr/>
        </p:nvSpPr>
        <p:spPr>
          <a:xfrm>
            <a:off x="763066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928" name="Text 928"/>
          <p:cNvSpPr/>
          <p:nvPr/>
        </p:nvSpPr>
        <p:spPr>
          <a:xfrm>
            <a:off x="7612380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정보</a:t>
            </a:r>
            <a:endParaRPr lang="en-US" sz="1000" dirty="0"/>
          </a:p>
        </p:txBody>
      </p:sp>
      <p:sp>
        <p:nvSpPr>
          <p:cNvPr id="929" name="Text 929"/>
          <p:cNvSpPr/>
          <p:nvPr/>
        </p:nvSpPr>
        <p:spPr>
          <a:xfrm>
            <a:off x="7612380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등록 (소액 인증 후 환불)</a:t>
            </a:r>
            <a:endParaRPr lang="en-US" sz="750" dirty="0"/>
          </a:p>
        </p:txBody>
      </p:sp>
      <p:sp>
        <p:nvSpPr>
          <p:cNvPr id="930" name="Shape 930"/>
          <p:cNvSpPr/>
          <p:nvPr/>
        </p:nvSpPr>
        <p:spPr>
          <a:xfrm>
            <a:off x="8897112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1" name="Shape 931"/>
          <p:cNvSpPr/>
          <p:nvPr/>
        </p:nvSpPr>
        <p:spPr>
          <a:xfrm>
            <a:off x="9006840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2" name="Text 932"/>
          <p:cNvSpPr/>
          <p:nvPr/>
        </p:nvSpPr>
        <p:spPr>
          <a:xfrm>
            <a:off x="9006840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933" name="Text 933"/>
          <p:cNvSpPr/>
          <p:nvPr/>
        </p:nvSpPr>
        <p:spPr>
          <a:xfrm>
            <a:off x="8988552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인증</a:t>
            </a:r>
            <a:endParaRPr lang="en-US" sz="1000" dirty="0"/>
          </a:p>
        </p:txBody>
      </p:sp>
      <p:sp>
        <p:nvSpPr>
          <p:cNvPr id="934" name="Text 934"/>
          <p:cNvSpPr/>
          <p:nvPr/>
        </p:nvSpPr>
        <p:spPr>
          <a:xfrm>
            <a:off x="8988552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SMS로 2차 본인 확인</a:t>
            </a:r>
            <a:endParaRPr lang="en-US" sz="750" dirty="0"/>
          </a:p>
        </p:txBody>
      </p:sp>
      <p:sp>
        <p:nvSpPr>
          <p:cNvPr id="935" name="Shape 935"/>
          <p:cNvSpPr/>
          <p:nvPr/>
        </p:nvSpPr>
        <p:spPr>
          <a:xfrm>
            <a:off x="10273284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6" name="Shape 936"/>
          <p:cNvSpPr/>
          <p:nvPr/>
        </p:nvSpPr>
        <p:spPr>
          <a:xfrm>
            <a:off x="10383012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7" name="Text 937"/>
          <p:cNvSpPr/>
          <p:nvPr/>
        </p:nvSpPr>
        <p:spPr>
          <a:xfrm>
            <a:off x="10383012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sp>
        <p:nvSpPr>
          <p:cNvPr id="938" name="Text 938"/>
          <p:cNvSpPr/>
          <p:nvPr/>
        </p:nvSpPr>
        <p:spPr>
          <a:xfrm>
            <a:off x="10364724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Support 플랜</a:t>
            </a:r>
            <a:endParaRPr lang="en-US" sz="1000" dirty="0"/>
          </a:p>
        </p:txBody>
      </p:sp>
      <p:sp>
        <p:nvSpPr>
          <p:cNvPr id="939" name="Text 939"/>
          <p:cNvSpPr/>
          <p:nvPr/>
        </p:nvSpPr>
        <p:spPr>
          <a:xfrm>
            <a:off x="10364724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Support 플랜 선택 후 가입 완료</a:t>
            </a:r>
            <a:endParaRPr lang="en-US" sz="750" dirty="0"/>
          </a:p>
        </p:txBody>
      </p:sp>
      <p:sp>
        <p:nvSpPr>
          <p:cNvPr id="940" name="Text 940"/>
          <p:cNvSpPr/>
          <p:nvPr/>
        </p:nvSpPr>
        <p:spPr>
          <a:xfrm>
            <a:off x="1815084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1" name="Text 941"/>
          <p:cNvSpPr/>
          <p:nvPr/>
        </p:nvSpPr>
        <p:spPr>
          <a:xfrm>
            <a:off x="319125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2" name="Text 942"/>
          <p:cNvSpPr/>
          <p:nvPr/>
        </p:nvSpPr>
        <p:spPr>
          <a:xfrm>
            <a:off x="4567428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3" name="Text 943"/>
          <p:cNvSpPr/>
          <p:nvPr/>
        </p:nvSpPr>
        <p:spPr>
          <a:xfrm>
            <a:off x="5943600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4" name="Text 944"/>
          <p:cNvSpPr/>
          <p:nvPr/>
        </p:nvSpPr>
        <p:spPr>
          <a:xfrm>
            <a:off x="7319772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5" name="Text 945"/>
          <p:cNvSpPr/>
          <p:nvPr/>
        </p:nvSpPr>
        <p:spPr>
          <a:xfrm>
            <a:off x="8695944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6" name="Text 946"/>
          <p:cNvSpPr/>
          <p:nvPr/>
        </p:nvSpPr>
        <p:spPr>
          <a:xfrm>
            <a:off x="1007211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아래부터는 실제 AWS 콘솔 화면입니다. 화면 구성은 AWS 정책에 따라 수시로 바뀔 수 있습니다.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3168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시작 — 이메일과 계정 이름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(aws.amazon.com)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'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무료로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AWS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시작하기'를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누르면, 루트 사용자 이메일 주소와 AWS 계정 이름을 입력하는 화면이 나옵니다.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881360" cy="502920"/>
          </a:xfrm>
          <a:prstGeom prst="roundRect">
            <a:avLst>
              <a:gd name="adj" fmla="val 12727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— 학교 이메일 계정 사용을 권장합니다 (개인 이메일과 계정을 분리해 관리하기 쉬움)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6263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6384" y="32278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69264" y="32278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52144" y="32278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086600" y="3108960"/>
            <a:ext cx="44348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232904" y="32278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415784" y="32278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598664" y="32278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9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96" y="3564936"/>
            <a:ext cx="5591607" cy="231588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409" y="3476844"/>
            <a:ext cx="3059222" cy="2492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 코드 확인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입력한 이메일 주소로 발송된 확인 코드를 입력해 본인 확인을 완료합니다.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51760" y="2423160"/>
            <a:ext cx="68580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98064" y="25420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80944" y="25420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63824" y="25420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10</a:t>
            </a:r>
            <a:endParaRPr lang="en-US" sz="9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3142875"/>
            <a:ext cx="5679757" cy="2227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설정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계정을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보호할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“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 비밀번호를 설정합니다. 이 비밀번호는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IAM(</a:t>
            </a:r>
            <a:r>
              <a:rPr lang="en-US" altLang="ko-KR" sz="1400" dirty="0"/>
              <a:t>Identity and Access Management)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사용자로 전환하기 전까지 계정 전체에 대한 접근 권한을 가지므로 각별히 안전하게 관리해야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51760" y="2606040"/>
            <a:ext cx="685800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98064" y="27249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80944" y="27249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63824" y="27249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286" y="2770632"/>
            <a:ext cx="4394947" cy="3162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계정 플랜 선택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목적에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맞는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플랜을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선택합니다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6858000" cy="3913632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9264" y="25420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2144" y="25420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35024" y="25420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071" y="2542032"/>
            <a:ext cx="4831964" cy="3611880"/>
          </a:xfrm>
          <a:prstGeom prst="rect">
            <a:avLst/>
          </a:prstGeom>
        </p:spPr>
      </p:pic>
      <p:sp>
        <p:nvSpPr>
          <p:cNvPr id="15" name="타원 14"/>
          <p:cNvSpPr/>
          <p:nvPr/>
        </p:nvSpPr>
        <p:spPr>
          <a:xfrm>
            <a:off x="2252749" y="5797858"/>
            <a:ext cx="2044931" cy="3394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930343" y="3890357"/>
            <a:ext cx="3474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무료 플랜은 신규 고객 전용이며</a:t>
            </a:r>
            <a:r>
              <a:rPr lang="en-US" altLang="ko-KR" sz="1400" dirty="0"/>
              <a:t>, </a:t>
            </a:r>
            <a:r>
              <a:rPr lang="ko-KR" altLang="en-US" sz="1400" dirty="0"/>
              <a:t>기존 </a:t>
            </a:r>
            <a:r>
              <a:rPr lang="en-US" altLang="ko-KR" sz="1400" dirty="0"/>
              <a:t>AWS </a:t>
            </a:r>
            <a:r>
              <a:rPr lang="ko-KR" altLang="en-US" sz="1400" dirty="0"/>
              <a:t>계정 보유</a:t>
            </a:r>
            <a:r>
              <a:rPr lang="en-US" altLang="ko-KR" sz="1400" dirty="0"/>
              <a:t>(</a:t>
            </a:r>
            <a:r>
              <a:rPr lang="ko-KR" altLang="en-US" sz="1400" dirty="0"/>
              <a:t>이력</a:t>
            </a:r>
            <a:r>
              <a:rPr lang="en-US" altLang="ko-KR" sz="1400" dirty="0"/>
              <a:t>) </a:t>
            </a:r>
            <a:r>
              <a:rPr lang="ko-KR" altLang="en-US" sz="1400" dirty="0"/>
              <a:t>시 무료 플랜에 가입할 수 없습니다</a:t>
            </a:r>
          </a:p>
        </p:txBody>
      </p:sp>
    </p:spTree>
    <p:extLst>
      <p:ext uri="{BB962C8B-B14F-4D97-AF65-F5344CB8AC3E}">
        <p14:creationId xmlns:p14="http://schemas.microsoft.com/office/powerpoint/2010/main" val="1756019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및 주소 정보 입력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주소를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입력하고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AWS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이용약관에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동의합니다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항목이라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비워둬도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altLang="ko-KR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44805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0934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79222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97510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172200" y="2377440"/>
            <a:ext cx="44805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31850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50138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68426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124" y="2783879"/>
            <a:ext cx="2645612" cy="3237913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741" y="2652591"/>
            <a:ext cx="2409477" cy="3360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정보 입력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7F5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 정보를 입력합니다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카드 번호, 만료일, 카드 소유자 이름을 입력합니다.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본인 확인을 위해 소액이 결제 대기(hold) </a:t>
            </a:r>
            <a:r>
              <a:rPr lang="en-US" sz="11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상태로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잡혔다가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1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취소됩니다.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709160" cy="1737360"/>
          </a:xfrm>
          <a:prstGeom prst="roundRect">
            <a:avLst>
              <a:gd name="adj" fmla="val 3158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41605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결제 대기 금액 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AWS는 카드 인증을 위해 3~5일간 1 USD(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100</a:t>
            </a:r>
            <a:r>
              <a:rPr lang="ko-KR" alt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)를 결제 대기 상태로 걸어둡니다. 이 금액은 실제로 청구되지 않고 자동 취소됩니다.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8745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27064" y="199339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9944" y="199339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92824" y="199339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05" y="2286000"/>
            <a:ext cx="2340864" cy="319020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331148"/>
            <a:ext cx="213360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전화(SMS) 인증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휴대전화 번호로 전송된 인증 코드를 입력해 2차 본인 확인을 완료합니다. 자동입력 방지를 위한 음성/오디오 보안 검사가 함께 나타날 수 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3566160" cy="38404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518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9806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98094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aws_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137" y="2761488"/>
            <a:ext cx="1717647" cy="33467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09360" y="237744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5566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63854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82142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/home/claude/aws_assets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412" y="2761488"/>
            <a:ext cx="2990057" cy="2615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Support 플랜 선택 &amp; 가입 완료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7076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 Support 플랜을 선택합니다. 학습·실습 목적이라면 무료인 '기본 지원'으로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충분합니다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선택을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마치면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뜨고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AWS Management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Console로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이동할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5778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8638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926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5214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46520" y="2377440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59282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7570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95858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917" y="2542032"/>
            <a:ext cx="3822123" cy="3590144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3310656"/>
            <a:ext cx="4052383" cy="19740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로그인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40080" y="1770763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Management Console에 로그인할 때는 '루트 사용자'와 'IAM 사용자' 중 선택할 수 있습니다. 지금은 계정을 막 만든 상태라 루트 사용자로 </a:t>
            </a:r>
            <a:r>
              <a:rPr lang="en-US" sz="12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로그인합니다</a:t>
            </a:r>
            <a:r>
              <a:rPr 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MFA(</a:t>
            </a:r>
            <a:r>
              <a:rPr lang="en-US" altLang="ko-KR" sz="1200" dirty="0"/>
              <a:t>Multi-Factor Authentication)</a:t>
            </a:r>
            <a:r>
              <a:rPr 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등록을 위해  휴대폰에 </a:t>
            </a:r>
            <a:r>
              <a:rPr lang="en-US" altLang="ko-KR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Authenticator </a:t>
            </a:r>
            <a:r>
              <a:rPr lang="ko-KR" alt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설치합니다</a:t>
            </a:r>
            <a:r>
              <a:rPr lang="en-US" altLang="ko-KR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2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인증후</a:t>
            </a:r>
            <a:r>
              <a:rPr lang="ko-KR" alt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Management Console</a:t>
            </a:r>
            <a:r>
              <a:rPr lang="ko-KR" alt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연결됩니다</a:t>
            </a:r>
            <a:r>
              <a:rPr lang="en-US" altLang="ko-KR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0" cy="3749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638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926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5214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114800" y="2468880"/>
            <a:ext cx="740664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26110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4398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2686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19222"/>
            <a:ext cx="2357280" cy="2878074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246" y="2679192"/>
            <a:ext cx="3031235" cy="349051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461" y="2919222"/>
            <a:ext cx="3457498" cy="26467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Plan / Paid Plan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Plan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입문자를 위한 무료 시작용 플랜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가입 즉시 $100 크레딧 제공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EC2 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실행</a:t>
            </a: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RDS DB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Lambda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ko-KR" altLang="en-US" sz="108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만들기</a:t>
            </a: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Bedrock 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플레이그라운드 사용</a:t>
            </a: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Budgets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ko-KR" altLang="en-US" sz="108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비용예산</a:t>
            </a:r>
            <a:r>
              <a:rPr lang="ko-KR" alt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r>
              <a:rPr lang="en-US" altLang="ko-KR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최대 $100 추가 크레딧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07822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최대 6개월 유효, 혹은 크레딧 소진 시 만료 (자동으로 계정 종료)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Paid 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유료 계정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모든 AWS 서비스를 제한 없이 사용 가능 (요금 발생 주의)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55080" y="3456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동일하게 $100 + 최대 $100 크레딧 제공, 소진 후에는 pay-as-you-go로 자동 전환 (계정 유지)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EC2 인스턴스를 1년간 무제한 무료로 쓰는 시대는 끝났습니다.  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AWS는 크레딧을 주고, 미션을 완료하면 추가 크레딧을 더 주는 방식으로 체험을 유도합니다. 이 강좌의 실습만 따라올 거라면 </a:t>
            </a: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Plan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만으로 충분합니다.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사용자 생성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 대신 사용할 </a:t>
            </a:r>
            <a:r>
              <a:rPr lang="en-US" sz="1350" u="sng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IAM 사용자</a:t>
            </a: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콘솔에서 직접 만들어봅니다</a:t>
            </a:r>
            <a:endParaRPr lang="en-US" sz="1350" dirty="0"/>
          </a:p>
        </p:txBody>
      </p:sp>
      <p:sp>
        <p:nvSpPr>
          <p:cNvPr id="6" name="Shape step0"/>
          <p:cNvSpPr/>
          <p:nvPr/>
        </p:nvSpPr>
        <p:spPr>
          <a:xfrm>
            <a:off x="640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badge0"/>
          <p:cNvSpPr/>
          <p:nvPr/>
        </p:nvSpPr>
        <p:spPr>
          <a:xfrm>
            <a:off x="749808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badgenum0"/>
          <p:cNvSpPr/>
          <p:nvPr/>
        </p:nvSpPr>
        <p:spPr>
          <a:xfrm>
            <a:off x="749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header0"/>
          <p:cNvSpPr/>
          <p:nvPr/>
        </p:nvSpPr>
        <p:spPr>
          <a:xfrm>
            <a:off x="731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콘솔 이동</a:t>
            </a:r>
            <a:endParaRPr lang="en-US" sz="1050" dirty="0"/>
          </a:p>
        </p:txBody>
      </p:sp>
      <p:sp>
        <p:nvSpPr>
          <p:cNvPr id="10" name="Text desc0"/>
          <p:cNvSpPr/>
          <p:nvPr/>
        </p:nvSpPr>
        <p:spPr>
          <a:xfrm>
            <a:off x="731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홈 검색창에 'IAM' 입력 후 이동</a:t>
            </a:r>
            <a:endParaRPr lang="en-US" sz="850" dirty="0"/>
          </a:p>
        </p:txBody>
      </p:sp>
      <p:sp>
        <p:nvSpPr>
          <p:cNvPr id="11" name="Shape step1"/>
          <p:cNvSpPr/>
          <p:nvPr/>
        </p:nvSpPr>
        <p:spPr>
          <a:xfrm>
            <a:off x="3307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badge1"/>
          <p:cNvSpPr/>
          <p:nvPr/>
        </p:nvSpPr>
        <p:spPr>
          <a:xfrm>
            <a:off x="3416808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badgenum1"/>
          <p:cNvSpPr/>
          <p:nvPr/>
        </p:nvSpPr>
        <p:spPr>
          <a:xfrm>
            <a:off x="3416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header1"/>
          <p:cNvSpPr/>
          <p:nvPr/>
        </p:nvSpPr>
        <p:spPr>
          <a:xfrm>
            <a:off x="3398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세부 정보 입력</a:t>
            </a:r>
            <a:endParaRPr lang="en-US" sz="1050" dirty="0"/>
          </a:p>
        </p:txBody>
      </p:sp>
      <p:sp>
        <p:nvSpPr>
          <p:cNvPr id="15" name="Text desc1"/>
          <p:cNvSpPr/>
          <p:nvPr/>
        </p:nvSpPr>
        <p:spPr>
          <a:xfrm>
            <a:off x="3398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 → Add users, 이름 입력 + 콘솔 액세스 허용 + 비밀번호 설정</a:t>
            </a:r>
            <a:endParaRPr lang="en-US" sz="850" dirty="0"/>
          </a:p>
        </p:txBody>
      </p:sp>
      <p:sp>
        <p:nvSpPr>
          <p:cNvPr id="16" name="Shape step2"/>
          <p:cNvSpPr/>
          <p:nvPr/>
        </p:nvSpPr>
        <p:spPr>
          <a:xfrm>
            <a:off x="5974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badge2"/>
          <p:cNvSpPr/>
          <p:nvPr/>
        </p:nvSpPr>
        <p:spPr>
          <a:xfrm>
            <a:off x="6083808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badgenum2"/>
          <p:cNvSpPr/>
          <p:nvPr/>
        </p:nvSpPr>
        <p:spPr>
          <a:xfrm>
            <a:off x="6083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header2"/>
          <p:cNvSpPr/>
          <p:nvPr/>
        </p:nvSpPr>
        <p:spPr>
          <a:xfrm>
            <a:off x="6065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설정</a:t>
            </a:r>
            <a:endParaRPr lang="en-US" sz="1050" dirty="0"/>
          </a:p>
        </p:txBody>
      </p:sp>
      <p:sp>
        <p:nvSpPr>
          <p:cNvPr id="20" name="Text desc2"/>
          <p:cNvSpPr/>
          <p:nvPr/>
        </p:nvSpPr>
        <p:spPr>
          <a:xfrm>
            <a:off x="6065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'admins' 그룹 생성 후 AdministratorAccess 정책 연결</a:t>
            </a:r>
            <a:endParaRPr lang="en-US" sz="850" dirty="0"/>
          </a:p>
        </p:txBody>
      </p:sp>
      <p:sp>
        <p:nvSpPr>
          <p:cNvPr id="26" name="Shape step4"/>
          <p:cNvSpPr/>
          <p:nvPr/>
        </p:nvSpPr>
        <p:spPr>
          <a:xfrm>
            <a:off x="8641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badge4"/>
          <p:cNvSpPr/>
          <p:nvPr/>
        </p:nvSpPr>
        <p:spPr>
          <a:xfrm>
            <a:off x="8750808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badgenum4"/>
          <p:cNvSpPr/>
          <p:nvPr/>
        </p:nvSpPr>
        <p:spPr>
          <a:xfrm>
            <a:off x="8750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header4"/>
          <p:cNvSpPr/>
          <p:nvPr/>
        </p:nvSpPr>
        <p:spPr>
          <a:xfrm>
            <a:off x="8732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완료</a:t>
            </a:r>
            <a:endParaRPr lang="en-US" sz="1050" dirty="0"/>
          </a:p>
        </p:txBody>
      </p:sp>
      <p:sp>
        <p:nvSpPr>
          <p:cNvPr id="30" name="Text desc4"/>
          <p:cNvSpPr/>
          <p:nvPr/>
        </p:nvSpPr>
        <p:spPr>
          <a:xfrm>
            <a:off x="8732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확인 후 생성, 로그인 정보(URL·ID) 저장</a:t>
            </a:r>
            <a:endParaRPr lang="en-US" sz="850" dirty="0"/>
          </a:p>
        </p:txBody>
      </p:sp>
      <p:sp>
        <p:nvSpPr>
          <p:cNvPr id="31" name="Text arrow0"/>
          <p:cNvSpPr/>
          <p:nvPr/>
        </p:nvSpPr>
        <p:spPr>
          <a:xfrm>
            <a:off x="308457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arrow1"/>
          <p:cNvSpPr/>
          <p:nvPr/>
        </p:nvSpPr>
        <p:spPr>
          <a:xfrm>
            <a:off x="575157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arrow2"/>
          <p:cNvSpPr/>
          <p:nvPr/>
        </p:nvSpPr>
        <p:spPr>
          <a:xfrm>
            <a:off x="841857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breadcrumb"/>
          <p:cNvSpPr/>
          <p:nvPr/>
        </p:nvSpPr>
        <p:spPr>
          <a:xfrm>
            <a:off x="640080" y="4133781"/>
            <a:ext cx="105156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경로: 콘솔 홈 → IAM → 사용자(Users) → 사용자 추가(Add users)</a:t>
            </a:r>
            <a:endParaRPr lang="en-US" sz="1000" dirty="0"/>
          </a:p>
        </p:txBody>
      </p:sp>
      <p:sp>
        <p:nvSpPr>
          <p:cNvPr id="36" name="Shape darkbox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1928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darkbox"/>
          <p:cNvSpPr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사용자 생성을 마치면, 이후 모든 로그인 · 실습은 이 계정으로 진행합니다.  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계정은 결제 정보 변경 등 </a:t>
            </a: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필요할 때만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사용합니다.</a:t>
            </a:r>
            <a:endParaRPr lang="en-US" sz="1200" dirty="0"/>
          </a:p>
        </p:txBody>
      </p:sp>
      <p:sp>
        <p:nvSpPr>
          <p:cNvPr id="38" name="Text brand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39" name="Text pagenum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19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700" b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사용자 생성</a:t>
            </a:r>
            <a:endParaRPr lang="en-US" altLang="ko-KR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0" cy="3749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638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926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5214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114800" y="2468880"/>
            <a:ext cx="740664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26110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4398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2686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21</a:t>
            </a:r>
            <a:endParaRPr lang="en-US" sz="9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980944"/>
            <a:ext cx="2676352" cy="263262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3010769"/>
            <a:ext cx="6562068" cy="158962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286" y="3835663"/>
            <a:ext cx="3173245" cy="2192624"/>
          </a:xfrm>
          <a:prstGeom prst="rect">
            <a:avLst/>
          </a:prstGeom>
        </p:spPr>
      </p:pic>
      <p:cxnSp>
        <p:nvCxnSpPr>
          <p:cNvPr id="27" name="직선 화살표 연결선 26"/>
          <p:cNvCxnSpPr/>
          <p:nvPr/>
        </p:nvCxnSpPr>
        <p:spPr>
          <a:xfrm flipH="1">
            <a:off x="9512531" y="4422371"/>
            <a:ext cx="1021357" cy="40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3"/>
          <p:cNvSpPr/>
          <p:nvPr/>
        </p:nvSpPr>
        <p:spPr>
          <a:xfrm>
            <a:off x="810768" y="1615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/>
              <a:t>사용자 이름을 입력하고 콘솔 </a:t>
            </a:r>
            <a:r>
              <a:rPr lang="ko-KR" altLang="en-US" sz="1400" dirty="0" err="1"/>
              <a:t>액세스용</a:t>
            </a:r>
            <a:r>
              <a:rPr lang="ko-KR" altLang="en-US" sz="1400" dirty="0"/>
              <a:t> 비밀번호를 설정합니다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권한 설정 단계에서는 </a:t>
            </a:r>
            <a:r>
              <a:rPr lang="en-US" altLang="ko-KR" sz="1400" dirty="0"/>
              <a:t>'admins'</a:t>
            </a:r>
            <a:r>
              <a:rPr lang="ko-KR" altLang="en-US" sz="1400" dirty="0"/>
              <a:t>라는 새 그룹을 생성해 </a:t>
            </a:r>
            <a:r>
              <a:rPr lang="en-US" altLang="ko-KR" sz="1400" dirty="0" err="1"/>
              <a:t>AdministratorAccess</a:t>
            </a:r>
            <a:r>
              <a:rPr lang="en-US" altLang="ko-KR" sz="1400" dirty="0"/>
              <a:t> </a:t>
            </a:r>
            <a:r>
              <a:rPr lang="ko-KR" altLang="en-US" sz="1400" dirty="0"/>
              <a:t>정책을 연결한 뒤</a:t>
            </a:r>
            <a:r>
              <a:rPr lang="en-US" altLang="ko-KR" sz="1400" dirty="0"/>
              <a:t>, </a:t>
            </a:r>
            <a:r>
              <a:rPr lang="ko-KR" altLang="en-US" sz="1400" dirty="0"/>
              <a:t>이 사용자를 그룹에 추가합니다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08328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로그인 후, 꼭 해야 할 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계정은 만능 열쇠입니다 — 평소 작업에는 절대 쓰지 않습니다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루트 계정 MFA(다단계 인증) 설정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루트 사용자는 결제 정보 변경, 계정 삭제 등 모든 권한을 가진 계정입니다.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비밀번호만으로는 부족합니다 — 로그인 시 스마트폰 앱(OTP)이나 보안 키로 추가 인증하는 MFA를 반드시 설정합니다.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루트 계정이 뚫리면 계정 전체와 결제 수단까지 공격자에게 넘어갈 수 있습니다.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IAM 관리자 사용자 만들기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IAM(Identity and Access Management)에서 '평소 작업용' 관리자 사용자를 새로 만듭니다.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355080" y="342900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이후 로그인·실습은 전부 이 IAM 사용자로 진행하고, 루트 계정은 결제 설정 변경 등 꼭 필요할 때만 사용합니다.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55080" y="420624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AWS 공식 문서도 '루트 사용자 일상적 사용 금지'를 가장 먼저 권장하는 모범 사례로 안내합니다.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정리하면: 루트 계정 로그인 → MFA 설정 → IAM 관리자 사용자 생성 → 이후로는 IAM 사용자로 로그인, 이 순서를 첫 실습 시간에 바로 진행합니다.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계정을 만드는 것보다 중요한 건,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계정을 안전하게 지키는 습관입니다.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0881360" cy="3127248"/>
          </a:xfrm>
          <a:prstGeom prst="roundRect">
            <a:avLst>
              <a:gd name="adj" fmla="val 2667"/>
            </a:avLst>
          </a:prstGeom>
          <a:solidFill>
            <a:srgbClr val="1E1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공식 홈페이지, aws.amazon.com/ko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Free Tier 안내 및 이용약관, aws.amazon.com/free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Identity and Access Management(IAM) 모범 사례, AWS 공식 문서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8097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Regions and Availability Zones, AWS 공식 문서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"AWS Free Tier now offers $200 in credits", AWS What's New, 2025.07.16</a:t>
            </a:r>
            <a:endParaRPr lang="en-US" sz="1150" dirty="0"/>
          </a:p>
        </p:txBody>
      </p:sp>
      <p:sp>
        <p:nvSpPr>
          <p:cNvPr id="13" name="Text 12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Synergy Research Group(2026.Q1), The Motley Fool(2026.08.18) — 클라우드 시장점유율·성장률 통계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1705</Words>
  <Application>Microsoft Office PowerPoint</Application>
  <PresentationFormat>와이드스크린</PresentationFormat>
  <Paragraphs>269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이지형</cp:lastModifiedBy>
  <cp:revision>31</cp:revision>
  <dcterms:created xsi:type="dcterms:W3CDTF">2026-08-21T14:58:53Z</dcterms:created>
  <dcterms:modified xsi:type="dcterms:W3CDTF">2026-10-18T10:52:39Z</dcterms:modified>
</cp:coreProperties>
</file>