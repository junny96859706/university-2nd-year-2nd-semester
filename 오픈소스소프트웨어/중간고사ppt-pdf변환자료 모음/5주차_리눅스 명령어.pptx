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90" r:id="rId6"/>
    <p:sldId id="261" r:id="rId7"/>
    <p:sldId id="262" r:id="rId8"/>
    <p:sldId id="263" r:id="rId9"/>
    <p:sldId id="264" r:id="rId10"/>
    <p:sldId id="265" r:id="rId11"/>
    <p:sldId id="284" r:id="rId12"/>
    <p:sldId id="267" r:id="rId13"/>
    <p:sldId id="268" r:id="rId14"/>
    <p:sldId id="269" r:id="rId15"/>
    <p:sldId id="270" r:id="rId16"/>
    <p:sldId id="271" r:id="rId17"/>
    <p:sldId id="291" r:id="rId18"/>
    <p:sldId id="273" r:id="rId19"/>
    <p:sldId id="274" r:id="rId20"/>
    <p:sldId id="275" r:id="rId21"/>
    <p:sldId id="286" r:id="rId22"/>
    <p:sldId id="296" r:id="rId23"/>
    <p:sldId id="292" r:id="rId24"/>
    <p:sldId id="293" r:id="rId25"/>
    <p:sldId id="294" r:id="rId26"/>
    <p:sldId id="295" r:id="rId27"/>
    <p:sldId id="282" r:id="rId2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33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51012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6616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1023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88824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3161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38316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4878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74504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1807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00672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0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4480560"/>
            <a:ext cx="45720" cy="45720"/>
          </a:xfrm>
          <a:prstGeom prst="ellipse">
            <a:avLst/>
          </a:prstGeom>
          <a:solidFill>
            <a:srgbClr val="262E3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9418320" y="4773168"/>
            <a:ext cx="45720" cy="45720"/>
          </a:xfrm>
          <a:prstGeom prst="ellipse">
            <a:avLst/>
          </a:prstGeom>
          <a:solidFill>
            <a:srgbClr val="262E3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418320" y="5065776"/>
            <a:ext cx="45720" cy="45720"/>
          </a:xfrm>
          <a:prstGeom prst="ellipse">
            <a:avLst/>
          </a:prstGeom>
          <a:solidFill>
            <a:srgbClr val="262E3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418320" y="5358384"/>
            <a:ext cx="45720" cy="45720"/>
          </a:xfrm>
          <a:prstGeom prst="ellipse">
            <a:avLst/>
          </a:prstGeom>
          <a:solidFill>
            <a:srgbClr val="262E3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9710928" y="4480560"/>
            <a:ext cx="45720" cy="45720"/>
          </a:xfrm>
          <a:prstGeom prst="ellipse">
            <a:avLst/>
          </a:prstGeom>
          <a:solidFill>
            <a:srgbClr val="262E3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710928" y="4773168"/>
            <a:ext cx="45720" cy="45720"/>
          </a:xfrm>
          <a:prstGeom prst="ellipse">
            <a:avLst/>
          </a:prstGeom>
          <a:solidFill>
            <a:srgbClr val="262E3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9710928" y="5065776"/>
            <a:ext cx="45720" cy="45720"/>
          </a:xfrm>
          <a:prstGeom prst="ellipse">
            <a:avLst/>
          </a:prstGeom>
          <a:solidFill>
            <a:srgbClr val="262E3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9710928" y="5358384"/>
            <a:ext cx="45720" cy="45720"/>
          </a:xfrm>
          <a:prstGeom prst="ellipse">
            <a:avLst/>
          </a:prstGeom>
          <a:solidFill>
            <a:srgbClr val="262E3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10003536" y="4480560"/>
            <a:ext cx="45720" cy="45720"/>
          </a:xfrm>
          <a:prstGeom prst="ellipse">
            <a:avLst/>
          </a:prstGeom>
          <a:solidFill>
            <a:srgbClr val="262E3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0003536" y="4773168"/>
            <a:ext cx="45720" cy="45720"/>
          </a:xfrm>
          <a:prstGeom prst="ellipse">
            <a:avLst/>
          </a:prstGeom>
          <a:solidFill>
            <a:srgbClr val="262E3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0003536" y="5065776"/>
            <a:ext cx="45720" cy="45720"/>
          </a:xfrm>
          <a:prstGeom prst="ellipse">
            <a:avLst/>
          </a:prstGeom>
          <a:solidFill>
            <a:srgbClr val="262E3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10003536" y="5358384"/>
            <a:ext cx="45720" cy="45720"/>
          </a:xfrm>
          <a:prstGeom prst="ellipse">
            <a:avLst/>
          </a:prstGeom>
          <a:solidFill>
            <a:srgbClr val="262E3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10296144" y="4480560"/>
            <a:ext cx="45720" cy="45720"/>
          </a:xfrm>
          <a:prstGeom prst="ellipse">
            <a:avLst/>
          </a:prstGeom>
          <a:solidFill>
            <a:srgbClr val="262E3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10296144" y="4773168"/>
            <a:ext cx="45720" cy="45720"/>
          </a:xfrm>
          <a:prstGeom prst="ellipse">
            <a:avLst/>
          </a:prstGeom>
          <a:solidFill>
            <a:srgbClr val="262E3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10296144" y="5065776"/>
            <a:ext cx="45720" cy="45720"/>
          </a:xfrm>
          <a:prstGeom prst="ellipse">
            <a:avLst/>
          </a:prstGeom>
          <a:solidFill>
            <a:srgbClr val="262E3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10296144" y="5358384"/>
            <a:ext cx="45720" cy="45720"/>
          </a:xfrm>
          <a:prstGeom prst="ellipse">
            <a:avLst/>
          </a:prstGeom>
          <a:solidFill>
            <a:srgbClr val="262E3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10588752" y="4480560"/>
            <a:ext cx="45720" cy="45720"/>
          </a:xfrm>
          <a:prstGeom prst="ellipse">
            <a:avLst/>
          </a:prstGeom>
          <a:solidFill>
            <a:srgbClr val="262E3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10588752" y="4773168"/>
            <a:ext cx="45720" cy="45720"/>
          </a:xfrm>
          <a:prstGeom prst="ellipse">
            <a:avLst/>
          </a:prstGeom>
          <a:solidFill>
            <a:srgbClr val="262E3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10588752" y="5065776"/>
            <a:ext cx="45720" cy="45720"/>
          </a:xfrm>
          <a:prstGeom prst="ellipse">
            <a:avLst/>
          </a:prstGeom>
          <a:solidFill>
            <a:srgbClr val="262E3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10588752" y="5358384"/>
            <a:ext cx="45720" cy="45720"/>
          </a:xfrm>
          <a:prstGeom prst="ellipse">
            <a:avLst/>
          </a:prstGeom>
          <a:solidFill>
            <a:srgbClr val="262E3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10881360" y="4480560"/>
            <a:ext cx="45720" cy="45720"/>
          </a:xfrm>
          <a:prstGeom prst="ellipse">
            <a:avLst/>
          </a:prstGeom>
          <a:solidFill>
            <a:srgbClr val="262E3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10881360" y="4773168"/>
            <a:ext cx="45720" cy="45720"/>
          </a:xfrm>
          <a:prstGeom prst="ellipse">
            <a:avLst/>
          </a:prstGeom>
          <a:solidFill>
            <a:srgbClr val="262E3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10881360" y="5065776"/>
            <a:ext cx="45720" cy="45720"/>
          </a:xfrm>
          <a:prstGeom prst="ellipse">
            <a:avLst/>
          </a:prstGeom>
          <a:solidFill>
            <a:srgbClr val="262E3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10881360" y="5358384"/>
            <a:ext cx="45720" cy="45720"/>
          </a:xfrm>
          <a:prstGeom prst="ellipse">
            <a:avLst/>
          </a:prstGeom>
          <a:solidFill>
            <a:srgbClr val="262E3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457200" y="1965960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1FAF7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457200" y="19659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05. LINUX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246888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F5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Command</a:t>
            </a:r>
            <a:endParaRPr lang="en-US" sz="4600" dirty="0"/>
          </a:p>
        </p:txBody>
      </p:sp>
      <p:sp>
        <p:nvSpPr>
          <p:cNvPr id="29" name="Text 27"/>
          <p:cNvSpPr/>
          <p:nvPr/>
        </p:nvSpPr>
        <p:spPr>
          <a:xfrm>
            <a:off x="457200" y="35204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FE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명령어로 리눅스 시스템을 자유자재로 다루기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Command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1FAF7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786384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명령어 기본 구조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명령어를 실행하려면, 명령어 이름과 인자를 커맨드라인에 입력합니다.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Command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11274552" cy="914400"/>
          </a:xfrm>
          <a:prstGeom prst="roundRect">
            <a:avLst>
              <a:gd name="adj" fmla="val 8000"/>
            </a:avLst>
          </a:prstGeom>
          <a:solidFill>
            <a:srgbClr val="1B2028"/>
          </a:solidFill>
          <a:ln/>
          <a:effectLst>
            <a:outerShdw blurRad="101600" dist="38100" dir="5400000" algn="bl" rotWithShape="0">
              <a:srgbClr val="1B202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621792" y="2478024"/>
            <a:ext cx="109728" cy="109728"/>
          </a:xfrm>
          <a:prstGeom prst="ellipse">
            <a:avLst/>
          </a:prstGeom>
          <a:solidFill>
            <a:srgbClr val="E5605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804672" y="2478024"/>
            <a:ext cx="109728" cy="109728"/>
          </a:xfrm>
          <a:prstGeom prst="ellipse">
            <a:avLst/>
          </a:prstGeom>
          <a:solidFill>
            <a:srgbClr val="E8B8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987552" y="2478024"/>
            <a:ext cx="109728" cy="109728"/>
          </a:xfrm>
          <a:prstGeom prst="ellipse">
            <a:avLst/>
          </a:prstGeom>
          <a:solidFill>
            <a:srgbClr val="3FBF6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713232" y="2715768"/>
            <a:ext cx="10762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2200" b="1" dirty="0">
                <a:solidFill>
                  <a:srgbClr val="F5F7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ls  -l  /etc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57200" y="3611880"/>
            <a:ext cx="338328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  <a:effectLst>
            <a:outerShdw blurRad="76200" dist="25400" dir="5400000" algn="bl" rotWithShape="0">
              <a:srgbClr val="1B2028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658368" y="3813048"/>
            <a:ext cx="512064" cy="512064"/>
          </a:xfrm>
          <a:prstGeom prst="ellipse">
            <a:avLst/>
          </a:prstGeom>
          <a:solidFill>
            <a:srgbClr val="1FAF7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58368" y="38130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31520" y="43891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명령어 이름 (command)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31520" y="484632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실행할 프로그램의 이름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160520" y="3611880"/>
            <a:ext cx="338328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  <a:effectLst>
            <a:outerShdw blurRad="76200" dist="25400" dir="5400000" algn="bl" rotWithShape="0">
              <a:srgbClr val="1B2028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4361688" y="3813048"/>
            <a:ext cx="512064" cy="512064"/>
          </a:xfrm>
          <a:prstGeom prst="ellipse">
            <a:avLst/>
          </a:prstGeom>
          <a:solidFill>
            <a:srgbClr val="1FAF7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361688" y="38130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434840" y="43891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옵션 (options / flags)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434840" y="484632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동작 방식을 바꾸는 </a:t>
            </a:r>
            <a:r>
              <a:rPr lang="en-US" sz="14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25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 시작하는 값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891272" y="3611880"/>
            <a:ext cx="338328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  <a:effectLst>
            <a:outerShdw blurRad="76200" dist="25400" dir="5400000" algn="bl" rotWithShape="0">
              <a:srgbClr val="1B2028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8092440" y="3813048"/>
            <a:ext cx="512064" cy="512064"/>
          </a:xfrm>
          <a:prstGeom prst="ellipse">
            <a:avLst/>
          </a:prstGeom>
          <a:solidFill>
            <a:srgbClr val="1FAF7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8092440" y="38130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165592" y="43891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인자 (arguments)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165592" y="484632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명령어가 작업할 대상(파일·경로 등)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786384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도움말 보기: man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리눅스의 HELP에 해당하는 것이 man (manual)입니다.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Command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965960"/>
            <a:ext cx="5852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5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 &lt;명령어&gt; 로 해당 명령어의 도움말을 확인합니다.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5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출력은 한 </a:t>
            </a:r>
            <a:r>
              <a:rPr lang="en-US" sz="1500" dirty="0" err="1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페이지씩</a:t>
            </a:r>
            <a:r>
              <a:rPr lang="en-US" sz="15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보여집니다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3611880"/>
            <a:ext cx="5852160" cy="1371600"/>
          </a:xfrm>
          <a:prstGeom prst="roundRect">
            <a:avLst>
              <a:gd name="adj" fmla="val 5333"/>
            </a:avLst>
          </a:prstGeom>
          <a:solidFill>
            <a:srgbClr val="1B2028"/>
          </a:solidFill>
          <a:ln/>
          <a:effectLst>
            <a:outerShdw blurRad="101600" dist="38100" dir="5400000" algn="bl" rotWithShape="0">
              <a:srgbClr val="1B202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621792" y="3758184"/>
            <a:ext cx="109728" cy="109728"/>
          </a:xfrm>
          <a:prstGeom prst="ellipse">
            <a:avLst/>
          </a:prstGeom>
          <a:solidFill>
            <a:srgbClr val="E5605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804672" y="3758184"/>
            <a:ext cx="109728" cy="109728"/>
          </a:xfrm>
          <a:prstGeom prst="ellipse">
            <a:avLst/>
          </a:prstGeom>
          <a:solidFill>
            <a:srgbClr val="E8B8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987552" y="3758184"/>
            <a:ext cx="109728" cy="109728"/>
          </a:xfrm>
          <a:prstGeom prst="ellipse">
            <a:avLst/>
          </a:prstGeom>
          <a:solidFill>
            <a:srgbClr val="3FBF6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280160" y="3703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예시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13232" y="3995928"/>
            <a:ext cx="5340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man ls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5257800"/>
            <a:ext cx="5852160" cy="914400"/>
          </a:xfrm>
          <a:prstGeom prst="roundRect">
            <a:avLst>
              <a:gd name="adj" fmla="val 8000"/>
            </a:avLst>
          </a:prstGeom>
          <a:solidFill>
            <a:srgbClr val="E4F5E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457200" y="5257800"/>
            <a:ext cx="54864" cy="914400"/>
          </a:xfrm>
          <a:prstGeom prst="roundRect">
            <a:avLst/>
          </a:prstGeom>
          <a:solidFill>
            <a:srgbClr val="1FAF7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85800" y="5257800"/>
            <a:ext cx="5440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68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r>
              <a:rPr lang="en-US" sz="125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 페이지가 없는 명령어는 --help 옵션으로 간단한 사용법을 확인할 수 있습니다 (예: ls --help)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629400" y="1965960"/>
            <a:ext cx="5102352" cy="4206240"/>
          </a:xfrm>
          <a:prstGeom prst="roundRect">
            <a:avLst>
              <a:gd name="adj" fmla="val 1957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  <a:effectLst>
            <a:outerShdw blurRad="76200" dist="25400" dir="5400000" algn="bl" rotWithShape="0">
              <a:srgbClr val="1B2028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903720" y="2194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 페이지 탐색 키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903720" y="2788920"/>
            <a:ext cx="1417320" cy="502920"/>
          </a:xfrm>
          <a:prstGeom prst="roundRect">
            <a:avLst>
              <a:gd name="adj" fmla="val 16364"/>
            </a:avLst>
          </a:prstGeom>
          <a:solidFill>
            <a:srgbClr val="1B2028"/>
          </a:solidFill>
          <a:ln w="1270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6903720" y="278892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7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458200" y="27889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이전 페이지로 이동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903720" y="3566160"/>
            <a:ext cx="1417320" cy="502920"/>
          </a:xfrm>
          <a:prstGeom prst="roundRect">
            <a:avLst>
              <a:gd name="adj" fmla="val 16364"/>
            </a:avLst>
          </a:prstGeom>
          <a:solidFill>
            <a:srgbClr val="1B2028"/>
          </a:solidFill>
          <a:ln w="1270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6903720" y="356616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7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 </a:t>
            </a:r>
            <a:r>
              <a:rPr lang="ko-KR" altLang="en-US" sz="1300" b="1" dirty="0">
                <a:solidFill>
                  <a:srgbClr val="F5F7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혹은</a:t>
            </a:r>
            <a:r>
              <a:rPr lang="en-US" sz="1300" b="1" dirty="0">
                <a:solidFill>
                  <a:srgbClr val="F5F7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space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458200" y="35661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페이지로 이동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903720" y="4343400"/>
            <a:ext cx="1417320" cy="502920"/>
          </a:xfrm>
          <a:prstGeom prst="roundRect">
            <a:avLst>
              <a:gd name="adj" fmla="val 16364"/>
            </a:avLst>
          </a:prstGeom>
          <a:solidFill>
            <a:srgbClr val="1B2028"/>
          </a:solidFill>
          <a:ln w="1270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6903720" y="43434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7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458200" y="43434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 종료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903720" y="5120640"/>
            <a:ext cx="1417320" cy="502920"/>
          </a:xfrm>
          <a:prstGeom prst="roundRect">
            <a:avLst>
              <a:gd name="adj" fmla="val 16364"/>
            </a:avLst>
          </a:prstGeom>
          <a:solidFill>
            <a:srgbClr val="1B2028"/>
          </a:solidFill>
          <a:ln w="1270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6903720" y="51206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7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/검색어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458200" y="51206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본문 내 검색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1FAF7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786384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권한 상승: sudo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관리자 권한이 필요한 작업은 sudo를 앞에 붙여 실행합니다.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Command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11274552" cy="868680"/>
          </a:xfrm>
          <a:prstGeom prst="roundRect">
            <a:avLst>
              <a:gd name="adj" fmla="val 8421"/>
            </a:avLst>
          </a:prstGeom>
          <a:solidFill>
            <a:srgbClr val="FBEED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57200" y="1965960"/>
            <a:ext cx="54864" cy="868680"/>
          </a:xfrm>
          <a:prstGeom prst="roundRect">
            <a:avLst/>
          </a:prstGeom>
          <a:solidFill>
            <a:srgbClr val="D98E2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85800" y="1965960"/>
            <a:ext cx="108630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D98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안내  </a:t>
            </a:r>
            <a:r>
              <a:rPr lang="en-US" sz="125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EC2의 기본 사용자(ec2-user 등)는 root 비밀번호가 없고 sudo 그룹에 속해 있어, sudo로만 관리자 권한을 사용할 수 있습니다.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199" y="3383280"/>
            <a:ext cx="7556269" cy="2169622"/>
          </a:xfrm>
          <a:prstGeom prst="roundRect">
            <a:avLst>
              <a:gd name="adj" fmla="val 3902"/>
            </a:avLst>
          </a:prstGeom>
          <a:solidFill>
            <a:srgbClr val="1B2028"/>
          </a:solidFill>
          <a:ln/>
          <a:effectLst>
            <a:outerShdw blurRad="101600" dist="38100" dir="5400000" algn="bl" rotWithShape="0">
              <a:srgbClr val="1B202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621792" y="3529584"/>
            <a:ext cx="109728" cy="109728"/>
          </a:xfrm>
          <a:prstGeom prst="ellipse">
            <a:avLst/>
          </a:prstGeom>
          <a:solidFill>
            <a:srgbClr val="E5605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804672" y="3529584"/>
            <a:ext cx="109728" cy="109728"/>
          </a:xfrm>
          <a:prstGeom prst="ellipse">
            <a:avLst/>
          </a:prstGeom>
          <a:solidFill>
            <a:srgbClr val="E8B8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987552" y="3529584"/>
            <a:ext cx="109728" cy="109728"/>
          </a:xfrm>
          <a:prstGeom prst="ellipse">
            <a:avLst/>
          </a:prstGeom>
          <a:solidFill>
            <a:srgbClr val="3FBF6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1280160" y="34747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사용 예시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13231" y="3767328"/>
            <a:ext cx="5812259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sudo dnf install httpd</a:t>
            </a:r>
            <a:endParaRPr lang="en-US" sz="13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관리자 권한으로 httpd 설치</a:t>
            </a:r>
            <a:endParaRPr lang="en-US" sz="1300" dirty="0"/>
          </a:p>
          <a:p>
            <a:pPr marL="0" indent="0" algn="l">
              <a:lnSpc>
                <a:spcPct val="128000"/>
              </a:lnSpc>
              <a:buNone/>
            </a:pPr>
            <a:endParaRPr lang="en-US" sz="13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sudo -i</a:t>
            </a:r>
            <a:endParaRPr lang="en-US" sz="13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root </a:t>
            </a:r>
            <a:r>
              <a:rPr lang="ko-KR" altLang="en-US" sz="13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사용자로</a:t>
            </a:r>
            <a:r>
              <a:rPr lang="en-US" sz="13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전환 (비밀번호 없이 가능)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1FAF7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786384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표준 입출력 스트림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프로세스는 세 가지 표준 스트림을 통해 터미널과 데이터를 주고받습니다.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Command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8640" y="2167128"/>
            <a:ext cx="475488" cy="475488"/>
          </a:xfrm>
          <a:prstGeom prst="ellipse">
            <a:avLst/>
          </a:prstGeom>
          <a:solidFill>
            <a:srgbClr val="1FAF7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548640" y="21671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88720" y="21488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0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stdin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57200" y="2606040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명령어가 입력을 받는 곳 — 기본값은 터미널(키보드)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48640" y="3401568"/>
            <a:ext cx="475488" cy="475488"/>
          </a:xfrm>
          <a:prstGeom prst="ellipse">
            <a:avLst/>
          </a:prstGeom>
          <a:solidFill>
            <a:srgbClr val="1FAF7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548640" y="34015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88720" y="33832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0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stdout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57200" y="3840480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명령어가 결과를 출력하는 곳 — 기본값은 터미널(화면)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48640" y="4636008"/>
            <a:ext cx="475488" cy="475488"/>
          </a:xfrm>
          <a:prstGeom prst="ellipse">
            <a:avLst/>
          </a:prstGeom>
          <a:solidFill>
            <a:srgbClr val="1FAF7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548640" y="46360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188720" y="46177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0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stderr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57200" y="5074920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명령어가 오류 메시지를 출력하는 곳 — 기본값은 터미널(화면)</a:t>
            </a:r>
            <a:endParaRPr lang="en-US" sz="1250" dirty="0"/>
          </a:p>
        </p:txBody>
      </p:sp>
      <p:sp>
        <p:nvSpPr>
          <p:cNvPr id="34" name="Shape 6"/>
          <p:cNvSpPr/>
          <p:nvPr/>
        </p:nvSpPr>
        <p:spPr>
          <a:xfrm>
            <a:off x="6949440" y="2103120"/>
            <a:ext cx="4754880" cy="3931920"/>
          </a:xfrm>
          <a:prstGeom prst="roundRect">
            <a:avLst>
              <a:gd name="adj" fmla="val 2093"/>
            </a:avLst>
          </a:prstGeom>
          <a:solidFill>
            <a:srgbClr val="262E39"/>
          </a:solidFill>
          <a:ln w="1270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7"/>
          <p:cNvSpPr/>
          <p:nvPr/>
        </p:nvSpPr>
        <p:spPr>
          <a:xfrm>
            <a:off x="7178040" y="226771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</a:t>
            </a:r>
            <a:endParaRPr lang="en-US" sz="1300" dirty="0"/>
          </a:p>
        </p:txBody>
      </p:sp>
      <p:sp>
        <p:nvSpPr>
          <p:cNvPr id="36" name="Shape 8"/>
          <p:cNvSpPr/>
          <p:nvPr/>
        </p:nvSpPr>
        <p:spPr>
          <a:xfrm>
            <a:off x="8321040" y="2743200"/>
            <a:ext cx="292608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9"/>
          <p:cNvSpPr/>
          <p:nvPr/>
        </p:nvSpPr>
        <p:spPr>
          <a:xfrm>
            <a:off x="8321040" y="27432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⌨  Keyboard</a:t>
            </a:r>
            <a:endParaRPr lang="en-US" sz="1500" dirty="0"/>
          </a:p>
        </p:txBody>
      </p:sp>
      <p:sp>
        <p:nvSpPr>
          <p:cNvPr id="38" name="Shape 10"/>
          <p:cNvSpPr/>
          <p:nvPr/>
        </p:nvSpPr>
        <p:spPr>
          <a:xfrm>
            <a:off x="8321040" y="4892040"/>
            <a:ext cx="292608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11"/>
          <p:cNvSpPr/>
          <p:nvPr/>
        </p:nvSpPr>
        <p:spPr>
          <a:xfrm>
            <a:off x="8321040" y="48920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  Display</a:t>
            </a:r>
            <a:endParaRPr lang="en-US" sz="1500" dirty="0"/>
          </a:p>
        </p:txBody>
      </p:sp>
      <p:sp>
        <p:nvSpPr>
          <p:cNvPr id="40" name="Shape 12"/>
          <p:cNvSpPr/>
          <p:nvPr/>
        </p:nvSpPr>
        <p:spPr>
          <a:xfrm flipH="1">
            <a:off x="7057505" y="3154680"/>
            <a:ext cx="1263535" cy="566928"/>
          </a:xfrm>
          <a:prstGeom prst="line">
            <a:avLst/>
          </a:prstGeom>
          <a:noFill/>
          <a:ln w="25400">
            <a:solidFill>
              <a:srgbClr val="8FE3C0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13"/>
          <p:cNvSpPr/>
          <p:nvPr/>
        </p:nvSpPr>
        <p:spPr>
          <a:xfrm>
            <a:off x="7132320" y="4069080"/>
            <a:ext cx="1188720" cy="987552"/>
          </a:xfrm>
          <a:prstGeom prst="line">
            <a:avLst/>
          </a:prstGeom>
          <a:noFill/>
          <a:ln w="25400">
            <a:solidFill>
              <a:srgbClr val="1FAF7D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14"/>
          <p:cNvSpPr/>
          <p:nvPr/>
        </p:nvSpPr>
        <p:spPr>
          <a:xfrm>
            <a:off x="7132320" y="4069080"/>
            <a:ext cx="1188720" cy="1481328"/>
          </a:xfrm>
          <a:prstGeom prst="line">
            <a:avLst/>
          </a:prstGeom>
          <a:noFill/>
          <a:ln w="25400">
            <a:solidFill>
              <a:srgbClr val="E8A0A0"/>
            </a:solidFill>
            <a:prstDash val="dash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15"/>
          <p:cNvSpPr/>
          <p:nvPr/>
        </p:nvSpPr>
        <p:spPr>
          <a:xfrm>
            <a:off x="5760720" y="3383280"/>
            <a:ext cx="1371600" cy="1371600"/>
          </a:xfrm>
          <a:prstGeom prst="ellipse">
            <a:avLst/>
          </a:prstGeom>
          <a:solidFill>
            <a:srgbClr val="1FAF7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Text 16"/>
          <p:cNvSpPr/>
          <p:nvPr/>
        </p:nvSpPr>
        <p:spPr>
          <a:xfrm>
            <a:off x="5760720" y="338328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300" dirty="0"/>
          </a:p>
        </p:txBody>
      </p:sp>
      <p:sp>
        <p:nvSpPr>
          <p:cNvPr id="45" name="Text 17"/>
          <p:cNvSpPr/>
          <p:nvPr/>
        </p:nvSpPr>
        <p:spPr>
          <a:xfrm>
            <a:off x="7498080" y="31945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FE3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</a:t>
            </a:r>
            <a:endParaRPr lang="en-US" sz="1100" dirty="0"/>
          </a:p>
        </p:txBody>
      </p:sp>
      <p:sp>
        <p:nvSpPr>
          <p:cNvPr id="46" name="Text 18"/>
          <p:cNvSpPr/>
          <p:nvPr/>
        </p:nvSpPr>
        <p:spPr>
          <a:xfrm>
            <a:off x="7498080" y="419709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AF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</a:t>
            </a:r>
            <a:endParaRPr lang="en-US" sz="1100" dirty="0"/>
          </a:p>
        </p:txBody>
      </p:sp>
      <p:sp>
        <p:nvSpPr>
          <p:cNvPr id="47" name="Text 19"/>
          <p:cNvSpPr/>
          <p:nvPr/>
        </p:nvSpPr>
        <p:spPr>
          <a:xfrm>
            <a:off x="7498080" y="49194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#2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7661083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786384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출력 리다이렉션 (&gt;, 2&gt;)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450" dirty="0" err="1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명령어의</a:t>
            </a:r>
            <a:r>
              <a:rPr lang="en-US" altLang="ko-KR" sz="145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450" dirty="0" err="1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출력을</a:t>
            </a:r>
            <a:r>
              <a:rPr lang="en-US" altLang="ko-KR" sz="145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450" dirty="0" err="1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파일로</a:t>
            </a:r>
            <a:r>
              <a:rPr lang="en-US" altLang="ko-KR" sz="145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450" dirty="0" err="1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보낼</a:t>
            </a:r>
            <a:r>
              <a:rPr lang="en-US" altLang="ko-KR" sz="145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수 </a:t>
            </a:r>
            <a:r>
              <a:rPr lang="en-US" altLang="ko-KR" sz="1450" dirty="0" err="1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있습니다</a:t>
            </a:r>
            <a:r>
              <a:rPr lang="en-US" altLang="ko-KR" sz="145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"&gt;"로 </a:t>
            </a:r>
            <a:r>
              <a:rPr lang="en-US" altLang="ko-KR" sz="1450" dirty="0" err="1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출력</a:t>
            </a:r>
            <a:r>
              <a:rPr lang="en-US" altLang="ko-KR" sz="145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450" dirty="0" err="1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파일을</a:t>
            </a:r>
            <a:r>
              <a:rPr lang="en-US" altLang="ko-KR" sz="145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450" dirty="0" err="1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지정</a:t>
            </a:r>
            <a:r>
              <a:rPr lang="en-US" altLang="ko-KR" sz="145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(1&gt;과 </a:t>
            </a:r>
            <a:r>
              <a:rPr lang="en-US" altLang="ko-KR" sz="1450" dirty="0" err="1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동일</a:t>
            </a:r>
            <a:r>
              <a:rPr lang="en-US" altLang="ko-KR" sz="145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n-US" altLang="ko-KR" sz="145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Command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11274552" cy="3977640"/>
          </a:xfrm>
          <a:prstGeom prst="roundRect">
            <a:avLst>
              <a:gd name="adj" fmla="val 1839"/>
            </a:avLst>
          </a:prstGeom>
          <a:solidFill>
            <a:srgbClr val="1B2028"/>
          </a:solidFill>
          <a:ln/>
          <a:effectLst>
            <a:outerShdw blurRad="101600" dist="38100" dir="5400000" algn="bl" rotWithShape="0">
              <a:srgbClr val="1B202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621792" y="2203704"/>
            <a:ext cx="109728" cy="109728"/>
          </a:xfrm>
          <a:prstGeom prst="ellipse">
            <a:avLst/>
          </a:prstGeom>
          <a:solidFill>
            <a:srgbClr val="E5605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804672" y="2203704"/>
            <a:ext cx="109728" cy="109728"/>
          </a:xfrm>
          <a:prstGeom prst="ellipse">
            <a:avLst/>
          </a:prstGeom>
          <a:solidFill>
            <a:srgbClr val="E8B8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987552" y="2203704"/>
            <a:ext cx="109728" cy="109728"/>
          </a:xfrm>
          <a:prstGeom prst="ellipse">
            <a:avLst/>
          </a:prstGeom>
          <a:solidFill>
            <a:srgbClr val="3FBF6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280160" y="2148840"/>
            <a:ext cx="9994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리다이렉션 예제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13232" y="2441448"/>
            <a:ext cx="10762488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ls -l &gt; output.txt</a:t>
            </a:r>
            <a:endParaRPr lang="en-US" sz="15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5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표준출력을 output.txt로 저장</a:t>
            </a:r>
            <a:endParaRPr lang="en-US" sz="1500" dirty="0"/>
          </a:p>
          <a:p>
            <a:pPr marL="0" indent="0" algn="l">
              <a:lnSpc>
                <a:spcPct val="128000"/>
              </a:lnSpc>
              <a:buNone/>
            </a:pPr>
            <a:endParaRPr lang="en-US" sz="15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javac HelloWorld.java 2&gt; error.txt</a:t>
            </a:r>
            <a:endParaRPr lang="en-US" sz="15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5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HelloWorld.java를 컴파일하고, 에러 메시지만 error.txt에 저장</a:t>
            </a:r>
            <a:endParaRPr lang="en-US" sz="1500" dirty="0"/>
          </a:p>
          <a:p>
            <a:pPr marL="0" indent="0" algn="l">
              <a:lnSpc>
                <a:spcPct val="128000"/>
              </a:lnSpc>
              <a:buNone/>
            </a:pPr>
            <a:endParaRPr lang="en-US" sz="15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javac HelloWorld.java &gt; output.txt 2&gt; error.txt</a:t>
            </a:r>
            <a:endParaRPr lang="en-US" sz="15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5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표준출력은 output.txt, 표준에러는 error.txt로 각각 분리 저장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786384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 리다이렉션과 파이프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Command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11274552" cy="1600200"/>
          </a:xfrm>
          <a:prstGeom prst="roundRect">
            <a:avLst>
              <a:gd name="adj" fmla="val 4571"/>
            </a:avLst>
          </a:prstGeom>
          <a:solidFill>
            <a:srgbClr val="1B2028"/>
          </a:solidFill>
          <a:ln/>
          <a:effectLst>
            <a:outerShdw blurRad="101600" dist="38100" dir="5400000" algn="bl" rotWithShape="0">
              <a:srgbClr val="1B202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621792" y="2157984"/>
            <a:ext cx="109728" cy="109728"/>
          </a:xfrm>
          <a:prstGeom prst="ellipse">
            <a:avLst/>
          </a:prstGeom>
          <a:solidFill>
            <a:srgbClr val="E5605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804672" y="2157984"/>
            <a:ext cx="109728" cy="109728"/>
          </a:xfrm>
          <a:prstGeom prst="ellipse">
            <a:avLst/>
          </a:prstGeom>
          <a:solidFill>
            <a:srgbClr val="E8B8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987552" y="2157984"/>
            <a:ext cx="109728" cy="109728"/>
          </a:xfrm>
          <a:prstGeom prst="ellipse">
            <a:avLst/>
          </a:prstGeom>
          <a:solidFill>
            <a:srgbClr val="3FBF6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280160" y="2103120"/>
            <a:ext cx="9994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입력 리다이렉션 ( &lt; 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13232" y="2395728"/>
            <a:ext cx="107624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wc -l &lt; input.txt</a:t>
            </a:r>
            <a:endParaRPr lang="en-US" sz="13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input.txt를 입력으로 받아 줄 수를 출력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794760"/>
            <a:ext cx="11274552" cy="2240280"/>
          </a:xfrm>
          <a:prstGeom prst="roundRect">
            <a:avLst>
              <a:gd name="adj" fmla="val 3265"/>
            </a:avLst>
          </a:prstGeom>
          <a:solidFill>
            <a:srgbClr val="1B2028"/>
          </a:solidFill>
          <a:ln/>
          <a:effectLst>
            <a:outerShdw blurRad="101600" dist="38100" dir="5400000" algn="bl" rotWithShape="0">
              <a:srgbClr val="1B202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621792" y="3941064"/>
            <a:ext cx="109728" cy="109728"/>
          </a:xfrm>
          <a:prstGeom prst="ellipse">
            <a:avLst/>
          </a:prstGeom>
          <a:solidFill>
            <a:srgbClr val="E5605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804672" y="3941064"/>
            <a:ext cx="109728" cy="109728"/>
          </a:xfrm>
          <a:prstGeom prst="ellipse">
            <a:avLst/>
          </a:prstGeom>
          <a:solidFill>
            <a:srgbClr val="E8B8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987552" y="3941064"/>
            <a:ext cx="109728" cy="109728"/>
          </a:xfrm>
          <a:prstGeom prst="ellipse">
            <a:avLst/>
          </a:prstGeom>
          <a:solidFill>
            <a:srgbClr val="3FBF6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1280160" y="3886200"/>
            <a:ext cx="9994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파이프 ( | ) — 한 명령의 출력을 다른 명령의 입력으로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13232" y="4178808"/>
            <a:ext cx="1076248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ps -ef | grep httpd | wc -l</a:t>
            </a:r>
            <a:endParaRPr lang="en-US" sz="13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ps 결과 → grep으로 "httpd" 포함 줄만 추림 → wc로 그 줄 수를 셈</a:t>
            </a:r>
            <a:endParaRPr lang="en-US" sz="13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결과: httpd 관련 프로세스 개수 출력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1FAF7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786384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기본 명령어: pwd · who · whoami · which · su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Command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5852160" cy="4023360"/>
          </a:xfrm>
          <a:prstGeom prst="roundRect">
            <a:avLst>
              <a:gd name="adj" fmla="val 1818"/>
            </a:avLst>
          </a:prstGeom>
          <a:solidFill>
            <a:srgbClr val="1B2028"/>
          </a:solidFill>
          <a:ln/>
          <a:effectLst>
            <a:outerShdw blurRad="101600" dist="38100" dir="5400000" algn="bl" rotWithShape="0">
              <a:srgbClr val="1B202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621792" y="2157984"/>
            <a:ext cx="109728" cy="109728"/>
          </a:xfrm>
          <a:prstGeom prst="ellipse">
            <a:avLst/>
          </a:prstGeom>
          <a:solidFill>
            <a:srgbClr val="E5605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804672" y="2157984"/>
            <a:ext cx="109728" cy="109728"/>
          </a:xfrm>
          <a:prstGeom prst="ellipse">
            <a:avLst/>
          </a:prstGeom>
          <a:solidFill>
            <a:srgbClr val="E8B8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987552" y="2157984"/>
            <a:ext cx="109728" cy="109728"/>
          </a:xfrm>
          <a:prstGeom prst="ellipse">
            <a:avLst/>
          </a:prstGeom>
          <a:solidFill>
            <a:srgbClr val="3FBF6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280160" y="21031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기본 명령어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13232" y="2395728"/>
            <a:ext cx="5340096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pwd</a:t>
            </a:r>
            <a:endParaRPr lang="en-US" sz="13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0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/home/ec2-user</a:t>
            </a:r>
            <a:endParaRPr lang="en-US" sz="1300" dirty="0"/>
          </a:p>
          <a:p>
            <a:pPr marL="0" indent="0" algn="l">
              <a:lnSpc>
                <a:spcPct val="128000"/>
              </a:lnSpc>
              <a:buNone/>
            </a:pPr>
            <a:endParaRPr lang="en-US" sz="13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whoami</a:t>
            </a:r>
            <a:endParaRPr lang="en-US" sz="13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0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ec2-user</a:t>
            </a:r>
            <a:endParaRPr lang="en-US" sz="1300" dirty="0"/>
          </a:p>
          <a:p>
            <a:pPr marL="0" indent="0" algn="l">
              <a:lnSpc>
                <a:spcPct val="128000"/>
              </a:lnSpc>
              <a:buNone/>
            </a:pPr>
            <a:endParaRPr lang="en-US" sz="13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which whoami</a:t>
            </a:r>
            <a:endParaRPr lang="en-US" sz="13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0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/usr/bin/whoami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29400" y="20116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8F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pwd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366760" y="2011680"/>
            <a:ext cx="3364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작업 디렉터리(print working directory) 출력</a:t>
            </a:r>
            <a:endParaRPr lang="en-US" sz="1180" dirty="0"/>
          </a:p>
        </p:txBody>
      </p:sp>
      <p:sp>
        <p:nvSpPr>
          <p:cNvPr id="15" name="Text 13"/>
          <p:cNvSpPr/>
          <p:nvPr/>
        </p:nvSpPr>
        <p:spPr>
          <a:xfrm>
            <a:off x="6629400" y="279806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8F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whoami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366760" y="2798064"/>
            <a:ext cx="3364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로그인한 사용자 이름</a:t>
            </a:r>
            <a:endParaRPr lang="en-US" sz="1180" dirty="0"/>
          </a:p>
        </p:txBody>
      </p:sp>
      <p:sp>
        <p:nvSpPr>
          <p:cNvPr id="17" name="Text 15"/>
          <p:cNvSpPr/>
          <p:nvPr/>
        </p:nvSpPr>
        <p:spPr>
          <a:xfrm>
            <a:off x="6629400" y="358444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8F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which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366760" y="3584448"/>
            <a:ext cx="3364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명령어의 전체 경로 표시</a:t>
            </a:r>
            <a:endParaRPr lang="en-US" sz="1180" dirty="0"/>
          </a:p>
        </p:txBody>
      </p:sp>
      <p:sp>
        <p:nvSpPr>
          <p:cNvPr id="19" name="Text 17"/>
          <p:cNvSpPr/>
          <p:nvPr/>
        </p:nvSpPr>
        <p:spPr>
          <a:xfrm>
            <a:off x="6629400" y="437083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8F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who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366760" y="4370832"/>
            <a:ext cx="3364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시스템에 로그인한 모든 사용자 목록 표시</a:t>
            </a:r>
            <a:endParaRPr lang="en-US" sz="1180" dirty="0"/>
          </a:p>
        </p:txBody>
      </p:sp>
      <p:sp>
        <p:nvSpPr>
          <p:cNvPr id="21" name="Text 19"/>
          <p:cNvSpPr/>
          <p:nvPr/>
        </p:nvSpPr>
        <p:spPr>
          <a:xfrm>
            <a:off x="6629400" y="515721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8F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 - &lt;계정명&gt;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366760" y="5157216"/>
            <a:ext cx="3364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계정 전환. exit로 이전 계정 복귀 (예: su - root)</a:t>
            </a:r>
            <a:endParaRPr lang="en-US" sz="11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786384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디렉터리 구조 기호와 이동 (cd)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Command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11680"/>
          <a:ext cx="11274552" cy="2852928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710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5F7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기호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0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5F7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의미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0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5F7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예시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0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B20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B20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루트 디렉터리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B20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최상위 디렉터리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B20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B20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현재 디렉터리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B20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./script.sh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B20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B20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현재 위치 기준 상위(부모) 디렉터리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B20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cd ..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B20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B20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홈 디렉터리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B20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cd ~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B20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B20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바로 이전 디렉터리 (cd 전용)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B20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cd -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5074920"/>
            <a:ext cx="11274552" cy="1051560"/>
          </a:xfrm>
          <a:prstGeom prst="roundRect">
            <a:avLst>
              <a:gd name="adj" fmla="val 6957"/>
            </a:avLst>
          </a:prstGeom>
          <a:solidFill>
            <a:srgbClr val="1B2028"/>
          </a:solidFill>
          <a:ln/>
          <a:effectLst>
            <a:outerShdw blurRad="101600" dist="38100" dir="5400000" algn="bl" rotWithShape="0">
              <a:srgbClr val="1B202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621792" y="5221224"/>
            <a:ext cx="109728" cy="109728"/>
          </a:xfrm>
          <a:prstGeom prst="ellipse">
            <a:avLst/>
          </a:prstGeom>
          <a:solidFill>
            <a:srgbClr val="E5605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7"/>
          <p:cNvSpPr/>
          <p:nvPr/>
        </p:nvSpPr>
        <p:spPr>
          <a:xfrm>
            <a:off x="804672" y="5221224"/>
            <a:ext cx="109728" cy="109728"/>
          </a:xfrm>
          <a:prstGeom prst="ellipse">
            <a:avLst/>
          </a:prstGeom>
          <a:solidFill>
            <a:srgbClr val="E8B8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987552" y="5221224"/>
            <a:ext cx="109728" cy="109728"/>
          </a:xfrm>
          <a:prstGeom prst="ellipse">
            <a:avLst/>
          </a:prstGeom>
          <a:solidFill>
            <a:srgbClr val="3FBF6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1280160" y="5166360"/>
            <a:ext cx="9994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예시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13232" y="5458968"/>
            <a:ext cx="10762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cd ~ &amp;&amp; pwd</a:t>
            </a:r>
            <a:endParaRPr lang="en-US" sz="13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0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/home/ec2-user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1FAF7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786384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 명령어: cp · mv · touch · rm · mkdir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Command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11274552" cy="4160520"/>
          </a:xfrm>
          <a:prstGeom prst="roundRect">
            <a:avLst>
              <a:gd name="adj" fmla="val 1758"/>
            </a:avLst>
          </a:prstGeom>
          <a:solidFill>
            <a:srgbClr val="1B2028"/>
          </a:solidFill>
          <a:ln/>
          <a:effectLst>
            <a:outerShdw blurRad="101600" dist="38100" dir="5400000" algn="bl" rotWithShape="0">
              <a:srgbClr val="1B202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621792" y="2157984"/>
            <a:ext cx="109728" cy="109728"/>
          </a:xfrm>
          <a:prstGeom prst="ellipse">
            <a:avLst/>
          </a:prstGeom>
          <a:solidFill>
            <a:srgbClr val="E5605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804672" y="2157984"/>
            <a:ext cx="109728" cy="109728"/>
          </a:xfrm>
          <a:prstGeom prst="ellipse">
            <a:avLst/>
          </a:prstGeom>
          <a:solidFill>
            <a:srgbClr val="E8B8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987552" y="2157984"/>
            <a:ext cx="109728" cy="109728"/>
          </a:xfrm>
          <a:prstGeom prst="ellipse">
            <a:avLst/>
          </a:prstGeom>
          <a:solidFill>
            <a:srgbClr val="3FBF6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280160" y="2103120"/>
            <a:ext cx="9994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파일·디렉터리 다루기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13232" y="2395728"/>
            <a:ext cx="1076248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5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cp fromfile tofile</a:t>
            </a:r>
            <a:endParaRPr lang="en-US" sz="12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fromfile을 tofile로 복사</a:t>
            </a:r>
            <a:endParaRPr lang="en-US" sz="12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25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mv fromfile tofile</a:t>
            </a:r>
            <a:endParaRPr lang="en-US" sz="12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fromfile을 tofile로 이동/이름변경</a:t>
            </a:r>
            <a:endParaRPr lang="en-US" sz="12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25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touch sample.txt</a:t>
            </a:r>
            <a:endParaRPr lang="en-US" sz="12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빈 파일 생성</a:t>
            </a:r>
            <a:endParaRPr lang="en-US" sz="12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25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rm sample.txt</a:t>
            </a:r>
            <a:endParaRPr lang="en-US" sz="12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파일 삭제</a:t>
            </a:r>
            <a:endParaRPr lang="en-US" sz="12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25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rm -r somedir</a:t>
            </a:r>
            <a:endParaRPr lang="en-US" sz="12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somedir 안의 모든 파일·디렉터리까지 재귀적으로 삭제</a:t>
            </a:r>
            <a:endParaRPr lang="en-US" sz="12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25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mkdir newdir</a:t>
            </a:r>
            <a:endParaRPr lang="en-US" sz="12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새 디렉터리 생성</a:t>
            </a:r>
            <a:endParaRPr lang="en-US" sz="12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25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rmdir olddir</a:t>
            </a:r>
            <a:endParaRPr lang="en-US" sz="12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비어 있는 디렉터리만 삭제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786384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링크: 심볼릭 링크 vs 하드 링크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Command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11274552" cy="777240"/>
          </a:xfrm>
          <a:prstGeom prst="roundRect">
            <a:avLst>
              <a:gd name="adj" fmla="val 9412"/>
            </a:avLst>
          </a:prstGeom>
          <a:solidFill>
            <a:srgbClr val="1B2028"/>
          </a:solidFill>
          <a:ln/>
          <a:effectLst>
            <a:outerShdw blurRad="101600" dist="38100" dir="5400000" algn="bl" rotWithShape="0">
              <a:srgbClr val="1B202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621792" y="2112264"/>
            <a:ext cx="109728" cy="109728"/>
          </a:xfrm>
          <a:prstGeom prst="ellipse">
            <a:avLst/>
          </a:prstGeom>
          <a:solidFill>
            <a:srgbClr val="E5605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804672" y="2112264"/>
            <a:ext cx="109728" cy="109728"/>
          </a:xfrm>
          <a:prstGeom prst="ellipse">
            <a:avLst/>
          </a:prstGeom>
          <a:solidFill>
            <a:srgbClr val="E8B8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987552" y="2112264"/>
            <a:ext cx="109728" cy="109728"/>
          </a:xfrm>
          <a:prstGeom prst="ellipse">
            <a:avLst/>
          </a:prstGeom>
          <a:solidFill>
            <a:srgbClr val="3FBF6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280160" y="2057400"/>
            <a:ext cx="9994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심볼릭 링크 생성 (symlink가 이미 있으면 실패)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13232" y="2350008"/>
            <a:ext cx="10762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40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ln -s /path/file /path/symlink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5440680" cy="3429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  <a:effectLst>
            <a:outerShdw blurRad="76200" dist="25400" dir="5400000" algn="bl" rotWithShape="0">
              <a:srgbClr val="1B2028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85800" y="2980944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심볼릭 </a:t>
            </a:r>
            <a:r>
              <a:rPr lang="en-US" sz="1400" b="1" dirty="0" err="1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링크</a:t>
            </a:r>
            <a:r>
              <a:rPr lang="en-US" sz="14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(=soft link)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31520" y="3401568"/>
            <a:ext cx="1828800" cy="502920"/>
          </a:xfrm>
          <a:prstGeom prst="roundRect">
            <a:avLst>
              <a:gd name="adj" fmla="val 16364"/>
            </a:avLst>
          </a:prstGeom>
          <a:solidFill>
            <a:srgbClr val="262E39"/>
          </a:solidFill>
          <a:ln w="1270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731520" y="340156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5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원본 파일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5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(original)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988820" y="4544568"/>
            <a:ext cx="2377440" cy="502920"/>
          </a:xfrm>
          <a:prstGeom prst="roundRect">
            <a:avLst>
              <a:gd name="adj" fmla="val 16364"/>
            </a:avLst>
          </a:prstGeom>
          <a:solidFill>
            <a:srgbClr val="E4F5EF"/>
          </a:solidFill>
          <a:ln w="1270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1988820" y="454456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8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데이터 (inode)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1645920" y="3904488"/>
            <a:ext cx="1056132" cy="640080"/>
          </a:xfrm>
          <a:prstGeom prst="line">
            <a:avLst/>
          </a:prstGeom>
          <a:noFill/>
          <a:ln w="19050">
            <a:solidFill>
              <a:srgbClr val="6B7583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3794760" y="3401568"/>
            <a:ext cx="1828800" cy="502920"/>
          </a:xfrm>
          <a:prstGeom prst="roundRect">
            <a:avLst>
              <a:gd name="adj" fmla="val 16364"/>
            </a:avLst>
          </a:prstGeom>
          <a:solidFill>
            <a:srgbClr val="FBEEDD"/>
          </a:solidFill>
          <a:ln w="1270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3794760" y="340156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8E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symlink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520440" y="31089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D98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경로(path)만 참조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31520" y="521208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원본 파일의 "경로"를 가리키는 바로가기</a:t>
            </a:r>
            <a:endParaRPr lang="en-US" sz="11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원본을 삭제하면 경로가 끊어져 symlink가 깨짐 (broken link)</a:t>
            </a:r>
          </a:p>
          <a:p>
            <a:pPr marL="342900" indent="-342900">
              <a:lnSpc>
                <a:spcPct val="125000"/>
              </a:lnSpc>
              <a:buSzPct val="100000"/>
              <a:buFontTx/>
              <a:buChar char="•"/>
            </a:pPr>
            <a:r>
              <a:rPr lang="en-US" altLang="ko-KR" sz="1100" dirty="0" err="1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디렉터리에도</a:t>
            </a:r>
            <a:r>
              <a:rPr lang="en-US" altLang="ko-KR" sz="11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100" dirty="0" err="1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만들</a:t>
            </a:r>
            <a:r>
              <a:rPr lang="en-US" altLang="ko-KR" sz="11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수 </a:t>
            </a:r>
            <a:r>
              <a:rPr lang="en-US" altLang="ko-KR" sz="1100" dirty="0" err="1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있고</a:t>
            </a:r>
            <a:r>
              <a:rPr lang="en-US" altLang="ko-KR" sz="11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altLang="ko-KR" sz="1100" dirty="0" err="1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다른</a:t>
            </a:r>
            <a:r>
              <a:rPr lang="en-US" altLang="ko-KR" sz="11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100" dirty="0" err="1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파일시스템의</a:t>
            </a:r>
            <a:r>
              <a:rPr lang="en-US" altLang="ko-KR" sz="11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100" dirty="0" err="1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파일도</a:t>
            </a:r>
            <a:r>
              <a:rPr lang="en-US" altLang="ko-KR" sz="11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100" dirty="0" err="1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가리킬</a:t>
            </a:r>
            <a:r>
              <a:rPr lang="en-US" altLang="ko-KR" sz="11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수 </a:t>
            </a:r>
            <a:r>
              <a:rPr lang="en-US" altLang="ko-KR" sz="1100" dirty="0" err="1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있음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245352" y="2834640"/>
            <a:ext cx="5440680" cy="3429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  <a:effectLst>
            <a:outerShdw blurRad="76200" dist="25400" dir="5400000" algn="bl" rotWithShape="0">
              <a:srgbClr val="1B2028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6473952" y="2980944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하드 링크 (hard link)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519672" y="3401568"/>
            <a:ext cx="1828800" cy="502920"/>
          </a:xfrm>
          <a:prstGeom prst="roundRect">
            <a:avLst>
              <a:gd name="adj" fmla="val 16364"/>
            </a:avLst>
          </a:prstGeom>
          <a:solidFill>
            <a:srgbClr val="262E39"/>
          </a:solidFill>
          <a:ln w="1270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6519672" y="340156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5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원본 파일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5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(original)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776972" y="4544568"/>
            <a:ext cx="2377440" cy="502920"/>
          </a:xfrm>
          <a:prstGeom prst="roundRect">
            <a:avLst>
              <a:gd name="adj" fmla="val 16364"/>
            </a:avLst>
          </a:prstGeom>
          <a:solidFill>
            <a:srgbClr val="E4F5EF"/>
          </a:solidFill>
          <a:ln w="1270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7776972" y="454456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8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데이터 (inode)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7434072" y="3904488"/>
            <a:ext cx="1056132" cy="640080"/>
          </a:xfrm>
          <a:prstGeom prst="line">
            <a:avLst/>
          </a:prstGeom>
          <a:noFill/>
          <a:ln w="19050">
            <a:solidFill>
              <a:srgbClr val="6B7583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9582912" y="3401568"/>
            <a:ext cx="1828800" cy="502920"/>
          </a:xfrm>
          <a:prstGeom prst="roundRect">
            <a:avLst>
              <a:gd name="adj" fmla="val 16364"/>
            </a:avLst>
          </a:prstGeom>
          <a:solidFill>
            <a:srgbClr val="262E39"/>
          </a:solidFill>
          <a:ln w="1270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9582912" y="340156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5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하드링크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5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(hardlink)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 flipH="1">
            <a:off x="9582912" y="3904488"/>
            <a:ext cx="914400" cy="640080"/>
          </a:xfrm>
          <a:prstGeom prst="line">
            <a:avLst/>
          </a:prstGeom>
          <a:noFill/>
          <a:ln w="19050">
            <a:solidFill>
              <a:srgbClr val="6B7583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9308592" y="31089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데이터를 동일하게 직접 참조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519672" y="521208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원본과 하드링크 모두 같은 데이터(inode)를 직접 가리킴</a:t>
            </a:r>
            <a:endParaRPr lang="en-US" sz="11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원본을 삭제해도 하드링크 이름이 남아있으면 </a:t>
            </a:r>
            <a:r>
              <a:rPr lang="en-US" sz="1150" dirty="0" err="1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데이터는</a:t>
            </a:r>
            <a:r>
              <a:rPr lang="en-US" sz="115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유지됨</a:t>
            </a:r>
            <a:endParaRPr lang="en-US" sz="1150" dirty="0">
              <a:solidFill>
                <a:srgbClr val="1B202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lnSpc>
                <a:spcPct val="125000"/>
              </a:lnSpc>
              <a:buSzPct val="100000"/>
              <a:buFontTx/>
              <a:buChar char="•"/>
            </a:pPr>
            <a:r>
              <a:rPr lang="en-US" altLang="ko-KR" sz="1100" dirty="0" err="1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디렉터리에는</a:t>
            </a:r>
            <a:r>
              <a:rPr lang="en-US" altLang="ko-KR" sz="11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100" dirty="0" err="1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만들</a:t>
            </a:r>
            <a:r>
              <a:rPr lang="en-US" altLang="ko-KR" sz="11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수 </a:t>
            </a:r>
            <a:r>
              <a:rPr lang="en-US" altLang="ko-KR" sz="1100" dirty="0" err="1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없고</a:t>
            </a:r>
            <a:r>
              <a:rPr lang="en-US" altLang="ko-KR" sz="11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altLang="ko-KR" sz="1100" dirty="0" err="1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</a:t>
            </a:r>
            <a:r>
              <a:rPr lang="en-US" altLang="ko-KR" sz="11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100" dirty="0" err="1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파일시스템</a:t>
            </a:r>
            <a:r>
              <a:rPr lang="en-US" altLang="ko-KR" sz="11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100" dirty="0" err="1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안에서만</a:t>
            </a:r>
            <a:r>
              <a:rPr lang="en-US" altLang="ko-KR" sz="11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100" dirty="0" err="1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가능</a:t>
            </a:r>
            <a:endParaRPr lang="en-US" altLang="ko-KR" sz="1100" dirty="0"/>
          </a:p>
          <a:p>
            <a:pPr>
              <a:lnSpc>
                <a:spcPct val="125000"/>
              </a:lnSpc>
              <a:buSzPct val="100000"/>
            </a:pPr>
            <a:endParaRPr lang="en-US" sz="1150" dirty="0"/>
          </a:p>
        </p:txBody>
      </p:sp>
      <p:sp>
        <p:nvSpPr>
          <p:cNvPr id="37" name="Shape 17"/>
          <p:cNvSpPr/>
          <p:nvPr/>
        </p:nvSpPr>
        <p:spPr>
          <a:xfrm flipH="1" flipV="1">
            <a:off x="2546604" y="3632662"/>
            <a:ext cx="1216152" cy="6650"/>
          </a:xfrm>
          <a:prstGeom prst="line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12391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786384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 내용 보기: cat · more · less · head · tail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Command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11274552" cy="4160520"/>
          </a:xfrm>
          <a:prstGeom prst="roundRect">
            <a:avLst>
              <a:gd name="adj" fmla="val 1758"/>
            </a:avLst>
          </a:prstGeom>
          <a:solidFill>
            <a:srgbClr val="1B2028"/>
          </a:solidFill>
          <a:ln/>
          <a:effectLst>
            <a:outerShdw blurRad="101600" dist="38100" dir="5400000" algn="bl" rotWithShape="0">
              <a:srgbClr val="1B202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621792" y="2157984"/>
            <a:ext cx="109728" cy="109728"/>
          </a:xfrm>
          <a:prstGeom prst="ellipse">
            <a:avLst/>
          </a:prstGeom>
          <a:solidFill>
            <a:srgbClr val="E5605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804672" y="2157984"/>
            <a:ext cx="109728" cy="109728"/>
          </a:xfrm>
          <a:prstGeom prst="ellipse">
            <a:avLst/>
          </a:prstGeom>
          <a:solidFill>
            <a:srgbClr val="E8B8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987552" y="2157984"/>
            <a:ext cx="109728" cy="109728"/>
          </a:xfrm>
          <a:prstGeom prst="ellipse">
            <a:avLst/>
          </a:prstGeom>
          <a:solidFill>
            <a:srgbClr val="3FBF6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280160" y="2103120"/>
            <a:ext cx="9994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파일 보기 명령어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13232" y="2395728"/>
            <a:ext cx="1076248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cat sample.txt</a:t>
            </a:r>
            <a:endParaRPr lang="en-US" sz="13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파일 내용을 표준출력으로 그대로 출력</a:t>
            </a:r>
            <a:endParaRPr lang="en-US" sz="13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more sample.txt</a:t>
            </a:r>
            <a:endParaRPr lang="en-US" sz="13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한 페이지씩 보기, 스페이스바로 다음 페이지</a:t>
            </a:r>
            <a:endParaRPr lang="en-US" sz="13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less sample.txt</a:t>
            </a:r>
            <a:endParaRPr lang="en-US" sz="13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more과 유사하지만 위아래 모두 이동 가능 (f/b, j/k, /검색, q종료)</a:t>
            </a:r>
            <a:endParaRPr lang="en-US" sz="13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head sample.txt</a:t>
            </a:r>
            <a:endParaRPr lang="en-US" sz="13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파일의 처음 10줄 표시 (head -n N: N줄)</a:t>
            </a:r>
            <a:endParaRPr lang="en-US" sz="13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tail -f /var/log/messages</a:t>
            </a:r>
            <a:endParaRPr lang="en-US" sz="13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파일 끝부분을 실시간으로 계속 보여줌 (로그 모니터링에 유용)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1FAF7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786384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ls와 파일 권한 개요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Command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11274552" cy="1920240"/>
          </a:xfrm>
          <a:prstGeom prst="roundRect">
            <a:avLst>
              <a:gd name="adj" fmla="val 3810"/>
            </a:avLst>
          </a:prstGeom>
          <a:solidFill>
            <a:srgbClr val="1B2028"/>
          </a:solidFill>
          <a:ln/>
          <a:effectLst>
            <a:outerShdw blurRad="101600" dist="38100" dir="5400000" algn="bl" rotWithShape="0">
              <a:srgbClr val="1B202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621792" y="2157984"/>
            <a:ext cx="109728" cy="109728"/>
          </a:xfrm>
          <a:prstGeom prst="ellipse">
            <a:avLst/>
          </a:prstGeom>
          <a:solidFill>
            <a:srgbClr val="E5605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804672" y="2157984"/>
            <a:ext cx="109728" cy="109728"/>
          </a:xfrm>
          <a:prstGeom prst="ellipse">
            <a:avLst/>
          </a:prstGeom>
          <a:solidFill>
            <a:srgbClr val="E8B8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987552" y="2157984"/>
            <a:ext cx="109728" cy="109728"/>
          </a:xfrm>
          <a:prstGeom prst="ellipse">
            <a:avLst/>
          </a:prstGeom>
          <a:solidFill>
            <a:srgbClr val="3FBF6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280160" y="2103120"/>
            <a:ext cx="9994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 -al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13232" y="2395728"/>
            <a:ext cx="107624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ls -al</a:t>
            </a:r>
            <a:endParaRPr lang="en-US" sz="13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-a: 숨김 파일 포함, -l: 상세 정보(long format)</a:t>
            </a:r>
            <a:endParaRPr lang="en-US" sz="13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00" dirty="0">
                <a:solidFill>
                  <a:srgbClr val="F5F7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drwxr-xr-x  2 ec2-user ec2-user  4096  Sep 10 10:00 .</a:t>
            </a:r>
            <a:endParaRPr lang="en-US" sz="13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00" dirty="0">
                <a:solidFill>
                  <a:srgbClr val="F5F7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-rw-r--r--  1 ec2-user ec2-user   220  Sep 10 10:00 sample.txt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4160520"/>
            <a:ext cx="11274552" cy="1234440"/>
          </a:xfrm>
          <a:prstGeom prst="roundRect">
            <a:avLst>
              <a:gd name="adj" fmla="val 5926"/>
            </a:avLst>
          </a:prstGeom>
          <a:solidFill>
            <a:srgbClr val="E4F5E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457200" y="4160520"/>
            <a:ext cx="54864" cy="1234440"/>
          </a:xfrm>
          <a:prstGeom prst="roundRect">
            <a:avLst/>
          </a:prstGeom>
          <a:solidFill>
            <a:srgbClr val="1FAF7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85800" y="4160520"/>
            <a:ext cx="108630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68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 </a:t>
            </a:r>
            <a:r>
              <a:rPr lang="en-US" sz="125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맨 앞 10글자가 파일 종류(d=디렉터리, -=파일)와 권한(rwx)을 나타냅니다 — 다음 슬라이드에서 자세히 설명합니다.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786384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권한 상세: User · Group · Other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파일·디렉터리는 소유자(User) · 그룹(Group) · 그 외(Other) 각각에 대해 rwx 권한을 가집니다.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Command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3520440" cy="1051560"/>
          </a:xfrm>
          <a:prstGeom prst="roundRect">
            <a:avLst>
              <a:gd name="adj" fmla="val 7826"/>
            </a:avLst>
          </a:prstGeom>
          <a:solidFill>
            <a:srgbClr val="1B2028"/>
          </a:solidFill>
          <a:ln w="1270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57200" y="2011680"/>
            <a:ext cx="3520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40080" y="3246120"/>
            <a:ext cx="960120" cy="914400"/>
          </a:xfrm>
          <a:prstGeom prst="roundRect">
            <a:avLst>
              <a:gd name="adj" fmla="val 9000"/>
            </a:avLst>
          </a:prstGeom>
          <a:solidFill>
            <a:srgbClr val="E4F5EF"/>
          </a:solidFill>
          <a:ln w="1270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40080" y="329184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68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40080" y="379476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737360" y="3246120"/>
            <a:ext cx="960120" cy="914400"/>
          </a:xfrm>
          <a:prstGeom prst="roundRect">
            <a:avLst>
              <a:gd name="adj" fmla="val 9000"/>
            </a:avLst>
          </a:prstGeom>
          <a:solidFill>
            <a:srgbClr val="E4F5EF"/>
          </a:solidFill>
          <a:ln w="1270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737360" y="329184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68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737360" y="379476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834640" y="3246120"/>
            <a:ext cx="960120" cy="914400"/>
          </a:xfrm>
          <a:prstGeom prst="roundRect">
            <a:avLst>
              <a:gd name="adj" fmla="val 9000"/>
            </a:avLst>
          </a:prstGeom>
          <a:solidFill>
            <a:srgbClr val="E4F5EF"/>
          </a:solidFill>
          <a:ln w="1270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2834640" y="329184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68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834640" y="379476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151376" y="2011680"/>
            <a:ext cx="3520440" cy="1051560"/>
          </a:xfrm>
          <a:prstGeom prst="roundRect">
            <a:avLst>
              <a:gd name="adj" fmla="val 7826"/>
            </a:avLst>
          </a:prstGeom>
          <a:solidFill>
            <a:srgbClr val="1B2028"/>
          </a:solidFill>
          <a:ln w="1270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151376" y="2011680"/>
            <a:ext cx="3520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4334256" y="3246120"/>
            <a:ext cx="960120" cy="914400"/>
          </a:xfrm>
          <a:prstGeom prst="roundRect">
            <a:avLst>
              <a:gd name="adj" fmla="val 9000"/>
            </a:avLst>
          </a:prstGeom>
          <a:solidFill>
            <a:srgbClr val="E4F5EF"/>
          </a:solidFill>
          <a:ln w="1270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4334256" y="329184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68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334256" y="379476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31536" y="3246120"/>
            <a:ext cx="960120" cy="914400"/>
          </a:xfrm>
          <a:prstGeom prst="roundRect">
            <a:avLst>
              <a:gd name="adj" fmla="val 9000"/>
            </a:avLst>
          </a:prstGeom>
          <a:solidFill>
            <a:srgbClr val="E4F5EF"/>
          </a:solidFill>
          <a:ln w="1270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5431536" y="329184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68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431536" y="379476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528816" y="3246120"/>
            <a:ext cx="960120" cy="914400"/>
          </a:xfrm>
          <a:prstGeom prst="roundRect">
            <a:avLst>
              <a:gd name="adj" fmla="val 9000"/>
            </a:avLst>
          </a:prstGeom>
          <a:solidFill>
            <a:srgbClr val="E4F5EF"/>
          </a:solidFill>
          <a:ln w="1270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6528816" y="329184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68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528816" y="379476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845552" y="2011680"/>
            <a:ext cx="3520440" cy="1051560"/>
          </a:xfrm>
          <a:prstGeom prst="roundRect">
            <a:avLst>
              <a:gd name="adj" fmla="val 7826"/>
            </a:avLst>
          </a:prstGeom>
          <a:solidFill>
            <a:srgbClr val="1B2028"/>
          </a:solidFill>
          <a:ln w="1270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7845552" y="2011680"/>
            <a:ext cx="3520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8028432" y="3246120"/>
            <a:ext cx="960120" cy="914400"/>
          </a:xfrm>
          <a:prstGeom prst="roundRect">
            <a:avLst>
              <a:gd name="adj" fmla="val 9000"/>
            </a:avLst>
          </a:prstGeom>
          <a:solidFill>
            <a:srgbClr val="E4F5EF"/>
          </a:solidFill>
          <a:ln w="1270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8028432" y="329184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68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8028432" y="379476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9125712" y="3246120"/>
            <a:ext cx="960120" cy="914400"/>
          </a:xfrm>
          <a:prstGeom prst="roundRect">
            <a:avLst>
              <a:gd name="adj" fmla="val 9000"/>
            </a:avLst>
          </a:prstGeom>
          <a:solidFill>
            <a:srgbClr val="E4F5EF"/>
          </a:solidFill>
          <a:ln w="1270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9125712" y="329184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68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9125712" y="379476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10222992" y="3246120"/>
            <a:ext cx="960120" cy="914400"/>
          </a:xfrm>
          <a:prstGeom prst="roundRect">
            <a:avLst>
              <a:gd name="adj" fmla="val 9000"/>
            </a:avLst>
          </a:prstGeom>
          <a:solidFill>
            <a:srgbClr val="E4F5EF"/>
          </a:solidFill>
          <a:ln w="1270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10222992" y="329184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68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10222992" y="379476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45" name="Text 39"/>
          <p:cNvSpPr/>
          <p:nvPr/>
        </p:nvSpPr>
        <p:spPr>
          <a:xfrm>
            <a:off x="457200" y="443484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 권한</a:t>
            </a:r>
            <a:endParaRPr lang="en-US" sz="1400" dirty="0"/>
          </a:p>
        </p:txBody>
      </p:sp>
      <p:sp>
        <p:nvSpPr>
          <p:cNvPr id="46" name="Text 40"/>
          <p:cNvSpPr/>
          <p:nvPr/>
        </p:nvSpPr>
        <p:spPr>
          <a:xfrm>
            <a:off x="457200" y="4745736"/>
            <a:ext cx="5440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5000"/>
              </a:lnSpc>
              <a:buSzPct val="100000"/>
            </a:pPr>
            <a:r>
              <a:rPr lang="en-US" sz="1200" b="1" dirty="0">
                <a:solidFill>
                  <a:srgbClr val="168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(r)  </a:t>
            </a:r>
            <a:r>
              <a:rPr lang="en-US" sz="12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 내용을 화면에서 확인 (cat, less 등)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168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(w)  </a:t>
            </a:r>
            <a:r>
              <a:rPr lang="en-US" sz="12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 내용을 수정 · 삭제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168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(x)  </a:t>
            </a:r>
            <a:r>
              <a:rPr lang="en-US" sz="12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파일을 프로그램 · 스크립트로 실행</a:t>
            </a:r>
            <a:endParaRPr lang="en-US" sz="1200" dirty="0"/>
          </a:p>
        </p:txBody>
      </p:sp>
      <p:sp>
        <p:nvSpPr>
          <p:cNvPr id="47" name="Text 41"/>
          <p:cNvSpPr/>
          <p:nvPr/>
        </p:nvSpPr>
        <p:spPr>
          <a:xfrm>
            <a:off x="6245352" y="443484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디렉터리 권한</a:t>
            </a:r>
            <a:endParaRPr lang="en-US" sz="1400" dirty="0"/>
          </a:p>
        </p:txBody>
      </p:sp>
      <p:sp>
        <p:nvSpPr>
          <p:cNvPr id="48" name="Text 42"/>
          <p:cNvSpPr/>
          <p:nvPr/>
        </p:nvSpPr>
        <p:spPr>
          <a:xfrm>
            <a:off x="6245352" y="4745736"/>
            <a:ext cx="5440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5000"/>
              </a:lnSpc>
              <a:buSzPct val="100000"/>
            </a:pPr>
            <a:r>
              <a:rPr lang="en-US" sz="1200" b="1" dirty="0">
                <a:solidFill>
                  <a:srgbClr val="168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(r)  </a:t>
            </a:r>
            <a:r>
              <a:rPr lang="en-US" sz="12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ls로 디렉터리 안의 파일 목록을 확인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168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(w)  </a:t>
            </a:r>
            <a:r>
              <a:rPr lang="en-US" sz="12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디렉터리 안에 파일 · 폴더를 생성 · 삭제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168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(x)  </a:t>
            </a:r>
            <a:r>
              <a:rPr lang="en-US" sz="12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 뿐만 아니라, 그 디렉터리를 통과할 수 있는 권한</a:t>
            </a:r>
            <a:endParaRPr lang="en-US" sz="1200" dirty="0"/>
          </a:p>
        </p:txBody>
      </p:sp>
      <p:sp>
        <p:nvSpPr>
          <p:cNvPr id="49" name="Shape 43"/>
          <p:cNvSpPr/>
          <p:nvPr/>
        </p:nvSpPr>
        <p:spPr>
          <a:xfrm>
            <a:off x="457200" y="5943600"/>
            <a:ext cx="11274552" cy="457200"/>
          </a:xfrm>
          <a:prstGeom prst="roundRect">
            <a:avLst>
              <a:gd name="adj" fmla="val 16000"/>
            </a:avLst>
          </a:prstGeom>
          <a:solidFill>
            <a:srgbClr val="FBEED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4"/>
          <p:cNvSpPr/>
          <p:nvPr/>
        </p:nvSpPr>
        <p:spPr>
          <a:xfrm>
            <a:off x="457200" y="5943600"/>
            <a:ext cx="54864" cy="457200"/>
          </a:xfrm>
          <a:prstGeom prst="roundRect">
            <a:avLst/>
          </a:prstGeom>
          <a:solidFill>
            <a:srgbClr val="D98E2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5"/>
          <p:cNvSpPr/>
          <p:nvPr/>
        </p:nvSpPr>
        <p:spPr>
          <a:xfrm>
            <a:off x="685800" y="5943600"/>
            <a:ext cx="10863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D98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r>
              <a:rPr lang="en-US" sz="125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디렉터리는 read(목록 보기)와 execute(통과 · 접근)가 서로 다른 권한입니다 — x 없이 r만 있으면 목록은 보여도 안에 들어가거나 파일을 열 수 없습니다.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786384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chmod — 권한 변경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파일·디렉터리의 접근 권한을 변경합니다.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Command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5852160" cy="2331720"/>
          </a:xfrm>
          <a:prstGeom prst="roundRect">
            <a:avLst>
              <a:gd name="adj" fmla="val 3137"/>
            </a:avLst>
          </a:prstGeom>
          <a:solidFill>
            <a:srgbClr val="1B2028"/>
          </a:solidFill>
          <a:ln/>
          <a:effectLst>
            <a:outerShdw blurRad="101600" dist="38100" dir="5400000" algn="bl" rotWithShape="0">
              <a:srgbClr val="1B202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621792" y="2157984"/>
            <a:ext cx="109728" cy="109728"/>
          </a:xfrm>
          <a:prstGeom prst="ellipse">
            <a:avLst/>
          </a:prstGeom>
          <a:solidFill>
            <a:srgbClr val="E5605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804672" y="2157984"/>
            <a:ext cx="109728" cy="109728"/>
          </a:xfrm>
          <a:prstGeom prst="ellipse">
            <a:avLst/>
          </a:prstGeom>
          <a:solidFill>
            <a:srgbClr val="E8B8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987552" y="2157984"/>
            <a:ext cx="109728" cy="109728"/>
          </a:xfrm>
          <a:prstGeom prst="ellipse">
            <a:avLst/>
          </a:prstGeom>
          <a:solidFill>
            <a:srgbClr val="3FBF6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280160" y="21031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chmod 예시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13232" y="2395728"/>
            <a:ext cx="534009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chmod a+x filename</a:t>
            </a:r>
            <a:endParaRPr lang="en-US" sz="13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소유자·그룹·기타 모두에게 실행 권한 부여 (a=all)</a:t>
            </a:r>
            <a:endParaRPr lang="en-US" sz="1300" dirty="0"/>
          </a:p>
          <a:p>
            <a:pPr marL="0" indent="0" algn="l">
              <a:lnSpc>
                <a:spcPct val="128000"/>
              </a:lnSpc>
              <a:buNone/>
            </a:pPr>
            <a:endParaRPr lang="en-US" sz="13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chmod u-rx filename</a:t>
            </a:r>
            <a:endParaRPr lang="en-US" sz="13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소유자(u)의 읽기·실행 권한 제거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526280"/>
            <a:ext cx="5852160" cy="1600200"/>
          </a:xfrm>
          <a:prstGeom prst="roundRect">
            <a:avLst>
              <a:gd name="adj" fmla="val 4571"/>
            </a:avLst>
          </a:prstGeom>
          <a:solidFill>
            <a:srgbClr val="1B2028"/>
          </a:solidFill>
          <a:ln/>
          <a:effectLst>
            <a:outerShdw blurRad="101600" dist="38100" dir="5400000" algn="bl" rotWithShape="0">
              <a:srgbClr val="1B202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621792" y="4672584"/>
            <a:ext cx="109728" cy="109728"/>
          </a:xfrm>
          <a:prstGeom prst="ellipse">
            <a:avLst/>
          </a:prstGeom>
          <a:solidFill>
            <a:srgbClr val="E5605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804672" y="4672584"/>
            <a:ext cx="109728" cy="109728"/>
          </a:xfrm>
          <a:prstGeom prst="ellipse">
            <a:avLst/>
          </a:prstGeom>
          <a:solidFill>
            <a:srgbClr val="E8B8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987552" y="4672584"/>
            <a:ext cx="109728" cy="109728"/>
          </a:xfrm>
          <a:prstGeom prst="ellipse">
            <a:avLst/>
          </a:prstGeom>
          <a:solidFill>
            <a:srgbClr val="3FBF6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1280160" y="46177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숫자 모드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13232" y="4910328"/>
            <a:ext cx="53400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chmod 664 filename</a:t>
            </a:r>
            <a:endParaRPr lang="en-US" sz="13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숫자 모드: 소유자·그룹은 읽기+쓰기(6), 기타는 읽기만(4)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629400" y="2011680"/>
            <a:ext cx="5102352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  <a:effectLst>
            <a:outerShdw blurRad="76200" dist="25400" dir="5400000" algn="bl" rotWithShape="0">
              <a:srgbClr val="1B2028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6903720" y="21945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0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rw-</a:t>
            </a:r>
            <a:r>
              <a:rPr lang="en-US" sz="1600" b="1" dirty="0">
                <a:solidFill>
                  <a:srgbClr val="FFC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rw-</a:t>
            </a:r>
            <a:r>
              <a:rPr lang="en-US" sz="1600" b="1" dirty="0">
                <a:solidFill>
                  <a:srgbClr val="00B0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r--</a:t>
            </a:r>
            <a:r>
              <a:rPr lang="en-US" sz="1600" b="1" dirty="0">
                <a:solidFill>
                  <a:srgbClr val="1B20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6 6 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903720" y="278892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092440" y="2788920"/>
            <a:ext cx="1371600" cy="777240"/>
          </a:xfrm>
          <a:prstGeom prst="roundRect">
            <a:avLst>
              <a:gd name="adj" fmla="val 10588"/>
            </a:avLst>
          </a:prstGeom>
          <a:solidFill>
            <a:srgbClr val="1B2028"/>
          </a:solidFill>
          <a:ln w="1270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8092440" y="278892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F7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rw-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601200" y="2788920"/>
            <a:ext cx="1051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5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1 1 0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0744200" y="2788920"/>
            <a:ext cx="777240" cy="777240"/>
          </a:xfrm>
          <a:prstGeom prst="roundRect">
            <a:avLst>
              <a:gd name="adj" fmla="val 10588"/>
            </a:avLst>
          </a:prstGeom>
          <a:solidFill>
            <a:srgbClr val="E4F5EF"/>
          </a:solidFill>
          <a:ln w="1270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10744200" y="2788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8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903720" y="379476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092440" y="3794760"/>
            <a:ext cx="1371600" cy="777240"/>
          </a:xfrm>
          <a:prstGeom prst="roundRect">
            <a:avLst>
              <a:gd name="adj" fmla="val 10588"/>
            </a:avLst>
          </a:prstGeom>
          <a:solidFill>
            <a:srgbClr val="1B2028"/>
          </a:solidFill>
          <a:ln w="1270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8092440" y="379476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C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rw-</a:t>
            </a:r>
            <a:endParaRPr lang="en-US" sz="1800" dirty="0">
              <a:solidFill>
                <a:srgbClr val="FFC000"/>
              </a:solidFill>
            </a:endParaRPr>
          </a:p>
        </p:txBody>
      </p:sp>
      <p:sp>
        <p:nvSpPr>
          <p:cNvPr id="31" name="Text 29"/>
          <p:cNvSpPr/>
          <p:nvPr/>
        </p:nvSpPr>
        <p:spPr>
          <a:xfrm>
            <a:off x="9601200" y="3794760"/>
            <a:ext cx="1051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5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1 1 0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10744200" y="3794760"/>
            <a:ext cx="777240" cy="777240"/>
          </a:xfrm>
          <a:prstGeom prst="roundRect">
            <a:avLst>
              <a:gd name="adj" fmla="val 10588"/>
            </a:avLst>
          </a:prstGeom>
          <a:solidFill>
            <a:srgbClr val="E4F5EF"/>
          </a:solidFill>
          <a:ln w="1270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10744200" y="37947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8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903720" y="480060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8092440" y="4800600"/>
            <a:ext cx="1371600" cy="777240"/>
          </a:xfrm>
          <a:prstGeom prst="roundRect">
            <a:avLst>
              <a:gd name="adj" fmla="val 10588"/>
            </a:avLst>
          </a:prstGeom>
          <a:solidFill>
            <a:srgbClr val="1B2028"/>
          </a:solidFill>
          <a:ln w="1270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8092440" y="480060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0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r--</a:t>
            </a:r>
            <a:endParaRPr lang="en-US" sz="1800" dirty="0">
              <a:solidFill>
                <a:srgbClr val="00B050"/>
              </a:solidFill>
            </a:endParaRPr>
          </a:p>
        </p:txBody>
      </p:sp>
      <p:sp>
        <p:nvSpPr>
          <p:cNvPr id="37" name="Text 35"/>
          <p:cNvSpPr/>
          <p:nvPr/>
        </p:nvSpPr>
        <p:spPr>
          <a:xfrm>
            <a:off x="9601200" y="4800600"/>
            <a:ext cx="1051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5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1 0 0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10744200" y="4800600"/>
            <a:ext cx="777240" cy="777240"/>
          </a:xfrm>
          <a:prstGeom prst="roundRect">
            <a:avLst>
              <a:gd name="adj" fmla="val 10588"/>
            </a:avLst>
          </a:prstGeom>
          <a:solidFill>
            <a:srgbClr val="E4F5EF"/>
          </a:solidFill>
          <a:ln w="1270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10744200" y="48006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8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786384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chown · chgrp — 소유자 변경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chmod가 "권한"을 바꾼다면, chown/chgrp는 파일의 "소유자·그룹" 자체를 바꿉니다.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Command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11274552" cy="2606040"/>
          </a:xfrm>
          <a:prstGeom prst="roundRect">
            <a:avLst>
              <a:gd name="adj" fmla="val 2807"/>
            </a:avLst>
          </a:prstGeom>
          <a:solidFill>
            <a:srgbClr val="1B2028"/>
          </a:solidFill>
          <a:ln/>
          <a:effectLst>
            <a:outerShdw blurRad="101600" dist="38100" dir="5400000" algn="bl" rotWithShape="0">
              <a:srgbClr val="1B202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621792" y="2157984"/>
            <a:ext cx="109728" cy="109728"/>
          </a:xfrm>
          <a:prstGeom prst="ellipse">
            <a:avLst/>
          </a:prstGeom>
          <a:solidFill>
            <a:srgbClr val="E5605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804672" y="2157984"/>
            <a:ext cx="109728" cy="109728"/>
          </a:xfrm>
          <a:prstGeom prst="ellipse">
            <a:avLst/>
          </a:prstGeom>
          <a:solidFill>
            <a:srgbClr val="E8B8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987552" y="2157984"/>
            <a:ext cx="109728" cy="109728"/>
          </a:xfrm>
          <a:prstGeom prst="ellipse">
            <a:avLst/>
          </a:prstGeom>
          <a:solidFill>
            <a:srgbClr val="3FBF6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280160" y="2103120"/>
            <a:ext cx="9994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chown · chgrp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13232" y="2395728"/>
            <a:ext cx="1076248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sudo chown ec2-user sample.txt</a:t>
            </a:r>
            <a:endParaRPr lang="en-US" sz="13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소유자를 ec2-user로 변경</a:t>
            </a:r>
            <a:endParaRPr lang="en-US" sz="1300" dirty="0"/>
          </a:p>
          <a:p>
            <a:pPr marL="0" indent="0" algn="l">
              <a:lnSpc>
                <a:spcPct val="128000"/>
              </a:lnSpc>
              <a:buNone/>
            </a:pPr>
            <a:endParaRPr lang="en-US" sz="13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sudo chown ec2-user:webteam sample.txt</a:t>
            </a:r>
            <a:endParaRPr lang="en-US" sz="13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소유자와 그룹을 동시에 변경 (사용자:그룹)</a:t>
            </a:r>
            <a:endParaRPr lang="en-US" sz="1300" dirty="0"/>
          </a:p>
          <a:p>
            <a:pPr marL="0" indent="0" algn="l">
              <a:lnSpc>
                <a:spcPct val="128000"/>
              </a:lnSpc>
              <a:buNone/>
            </a:pPr>
            <a:endParaRPr lang="en-US" sz="13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sudo chgrp webteam sample.txt</a:t>
            </a:r>
            <a:endParaRPr lang="en-US" sz="13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그룹만 webteam으로 변경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892040"/>
            <a:ext cx="11274552" cy="960120"/>
          </a:xfrm>
          <a:prstGeom prst="roundRect">
            <a:avLst>
              <a:gd name="adj" fmla="val 7619"/>
            </a:avLst>
          </a:prstGeom>
          <a:solidFill>
            <a:srgbClr val="FBEED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457200" y="4892040"/>
            <a:ext cx="54864" cy="960120"/>
          </a:xfrm>
          <a:prstGeom prst="roundRect">
            <a:avLst/>
          </a:prstGeom>
          <a:solidFill>
            <a:srgbClr val="D98E2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85800" y="4892040"/>
            <a:ext cx="108630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D98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r>
              <a:rPr lang="en-US" sz="125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소유자·그룹 변경은 관리자 권한(sudo)이 필요한 경우가 대부분입니다.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1FAF7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786384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— 파일 검색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디렉터리 안에서 조건에 맞는 파일을 검색합니다.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Command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11274552" cy="2679192"/>
          </a:xfrm>
          <a:prstGeom prst="roundRect">
            <a:avLst>
              <a:gd name="adj" fmla="val 3077"/>
            </a:avLst>
          </a:prstGeom>
          <a:solidFill>
            <a:srgbClr val="1B2028"/>
          </a:solidFill>
          <a:ln/>
          <a:effectLst>
            <a:outerShdw blurRad="101600" dist="38100" dir="5400000" algn="bl" rotWithShape="0">
              <a:srgbClr val="1B202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621792" y="2157984"/>
            <a:ext cx="109728" cy="109728"/>
          </a:xfrm>
          <a:prstGeom prst="ellipse">
            <a:avLst/>
          </a:prstGeom>
          <a:solidFill>
            <a:srgbClr val="E5605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804672" y="2157984"/>
            <a:ext cx="109728" cy="109728"/>
          </a:xfrm>
          <a:prstGeom prst="ellipse">
            <a:avLst/>
          </a:prstGeom>
          <a:solidFill>
            <a:srgbClr val="E8B8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987552" y="2157984"/>
            <a:ext cx="109728" cy="109728"/>
          </a:xfrm>
          <a:prstGeom prst="ellipse">
            <a:avLst/>
          </a:prstGeom>
          <a:solidFill>
            <a:srgbClr val="3FBF6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280160" y="2103120"/>
            <a:ext cx="9994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 예시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13232" y="2395728"/>
            <a:ext cx="1076248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find . -name "*.java"</a:t>
            </a:r>
            <a:endParaRPr lang="en-US" sz="13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현재 디렉터리 이하에서 이름이 .java로 끝나는 파일 검색</a:t>
            </a:r>
            <a:endParaRPr lang="en-US" sz="1300" dirty="0"/>
          </a:p>
          <a:p>
            <a:pPr marL="0" indent="0" algn="l">
              <a:lnSpc>
                <a:spcPct val="128000"/>
              </a:lnSpc>
              <a:buNone/>
            </a:pPr>
            <a:endParaRPr lang="en-US" sz="13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find /var/log -type f -mtime -1</a:t>
            </a:r>
            <a:endParaRPr lang="en-US" sz="13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/var/log에서 최근 1일 이내 수정된 일반 파일 검색</a:t>
            </a:r>
            <a:endParaRPr lang="en-US" sz="1300" dirty="0"/>
          </a:p>
          <a:p>
            <a:pPr marL="0" indent="0" algn="l">
              <a:lnSpc>
                <a:spcPct val="128000"/>
              </a:lnSpc>
              <a:buNone/>
            </a:pPr>
            <a:endParaRPr lang="en-US" sz="13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find . -size +100M</a:t>
            </a:r>
            <a:endParaRPr lang="en-US" sz="13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현재 위치 이하에서 100MB보다 큰 파일 검색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57200" y="5414080"/>
            <a:ext cx="3607857" cy="384048"/>
          </a:xfrm>
          <a:prstGeom prst="rect">
            <a:avLst/>
          </a:prstGeom>
          <a:solidFill>
            <a:srgbClr val="E4F5EF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5"/>
          <p:cNvSpPr/>
          <p:nvPr/>
        </p:nvSpPr>
        <p:spPr>
          <a:xfrm>
            <a:off x="457200" y="5414080"/>
            <a:ext cx="360785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8F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-mtime -1  (0~24시간)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065057" y="5414080"/>
            <a:ext cx="3833348" cy="384048"/>
          </a:xfrm>
          <a:prstGeom prst="rect">
            <a:avLst/>
          </a:prstGeom>
          <a:solidFill>
            <a:srgbClr val="262E39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/>
          <p:nvPr/>
        </p:nvSpPr>
        <p:spPr>
          <a:xfrm>
            <a:off x="4065057" y="5414080"/>
            <a:ext cx="38333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5F7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-mtime 1  (24~48시간)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7898404" y="5414080"/>
            <a:ext cx="3833348" cy="384048"/>
          </a:xfrm>
          <a:prstGeom prst="rect">
            <a:avLst/>
          </a:prstGeom>
          <a:solidFill>
            <a:srgbClr val="FBEEDD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/>
          <p:nvPr/>
        </p:nvSpPr>
        <p:spPr>
          <a:xfrm>
            <a:off x="7898404" y="5414080"/>
            <a:ext cx="38333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98E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-mtime +1  (48시간~)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12703200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786384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grep — 패턴 검색 기본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Command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11274552" cy="777240"/>
          </a:xfrm>
          <a:prstGeom prst="roundRect">
            <a:avLst>
              <a:gd name="adj" fmla="val 10588"/>
            </a:avLst>
          </a:prstGeom>
          <a:solidFill>
            <a:srgbClr val="E4F5EF"/>
          </a:solidFill>
          <a:ln w="1270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85800" y="2011680"/>
            <a:ext cx="10835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8F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grep [옵션] 패턴 [파일...]  </a:t>
            </a:r>
            <a:r>
              <a:rPr lang="en-US" sz="135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ko-KR" altLang="en-US" sz="135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파일에서 </a:t>
            </a:r>
            <a:r>
              <a:rPr lang="en-US" sz="1350" dirty="0" err="1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특정</a:t>
            </a:r>
            <a:r>
              <a:rPr lang="en-US" sz="135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패턴이 포함된 줄을 찾아 출력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3017520"/>
            <a:ext cx="11274552" cy="3063240"/>
          </a:xfrm>
          <a:prstGeom prst="roundRect">
            <a:avLst>
              <a:gd name="adj" fmla="val 2388"/>
            </a:avLst>
          </a:prstGeom>
          <a:solidFill>
            <a:srgbClr val="1B2028"/>
          </a:solidFill>
          <a:ln/>
          <a:effectLst>
            <a:outerShdw blurRad="101600" dist="38100" dir="5400000" algn="bl" rotWithShape="0">
              <a:srgbClr val="1B202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621792" y="3163824"/>
            <a:ext cx="109728" cy="109728"/>
          </a:xfrm>
          <a:prstGeom prst="ellipse">
            <a:avLst/>
          </a:prstGeom>
          <a:solidFill>
            <a:srgbClr val="E5605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804672" y="3163824"/>
            <a:ext cx="109728" cy="109728"/>
          </a:xfrm>
          <a:prstGeom prst="ellipse">
            <a:avLst/>
          </a:prstGeom>
          <a:solidFill>
            <a:srgbClr val="E8B8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987552" y="3163824"/>
            <a:ext cx="109728" cy="109728"/>
          </a:xfrm>
          <a:prstGeom prst="ellipse">
            <a:avLst/>
          </a:prstGeom>
          <a:solidFill>
            <a:srgbClr val="3FBF6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280160" y="3108960"/>
            <a:ext cx="9994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access.log에서 IP 검색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13232" y="3401568"/>
            <a:ext cx="10762488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5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grep "192.168.1.1" access.log</a:t>
            </a:r>
            <a:endParaRPr lang="en-US" sz="12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25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192.168.1.1 - - [26/Aug/2024:12:30:45 +0000] "GET /page1 HTTP/1.1" 200 1234</a:t>
            </a:r>
            <a:endParaRPr lang="en-US" sz="12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25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192.168.1.1 - - [26/Aug/2024:14:20:10 +0000] "POST /submit HTTP/1.1" 302 8765</a:t>
            </a:r>
            <a:endParaRPr lang="en-US" sz="12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192.168.1.1이 포함된 로그 줄만 출력됨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786384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grep 옵션 활용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Command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11274552" cy="4160520"/>
          </a:xfrm>
          <a:prstGeom prst="roundRect">
            <a:avLst>
              <a:gd name="adj" fmla="val 1758"/>
            </a:avLst>
          </a:prstGeom>
          <a:solidFill>
            <a:srgbClr val="1B2028"/>
          </a:solidFill>
          <a:ln/>
          <a:effectLst>
            <a:outerShdw blurRad="101600" dist="38100" dir="5400000" algn="bl" rotWithShape="0">
              <a:srgbClr val="1B202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621792" y="2157984"/>
            <a:ext cx="109728" cy="109728"/>
          </a:xfrm>
          <a:prstGeom prst="ellipse">
            <a:avLst/>
          </a:prstGeom>
          <a:solidFill>
            <a:srgbClr val="E5605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804672" y="2157984"/>
            <a:ext cx="109728" cy="109728"/>
          </a:xfrm>
          <a:prstGeom prst="ellipse">
            <a:avLst/>
          </a:prstGeom>
          <a:solidFill>
            <a:srgbClr val="E8B8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987552" y="2157984"/>
            <a:ext cx="109728" cy="109728"/>
          </a:xfrm>
          <a:prstGeom prst="ellipse">
            <a:avLst/>
          </a:prstGeom>
          <a:solidFill>
            <a:srgbClr val="3FBF6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280160" y="2103120"/>
            <a:ext cx="9994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자주 쓰는 grep 옵션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13232" y="2395728"/>
            <a:ext cx="1076248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grep -r "hello" .</a:t>
            </a:r>
            <a:endParaRPr lang="en-US" sz="13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-r: 현재 디렉터리와 모든 하위 디렉터리를 재귀적으로 검색</a:t>
            </a:r>
            <a:endParaRPr lang="en-US" sz="13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grep -rn "hello" .</a:t>
            </a:r>
            <a:endParaRPr lang="en-US" sz="13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-n: 매칭된 줄의 라인 번호까지 함께 표시</a:t>
            </a:r>
            <a:endParaRPr lang="en-US" sz="13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grep -ir "hello" .</a:t>
            </a:r>
            <a:endParaRPr lang="en-US" sz="13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-i: 대소문자 구분 없이 검색 (Hello, HELLO도 매칭)</a:t>
            </a:r>
            <a:endParaRPr lang="en-US" sz="13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grep -r "t[wo]o" .</a:t>
            </a:r>
            <a:endParaRPr lang="en-US" sz="13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정규식 사용: t 다음 w 또는 o, 그 다음 o → "two", "too" 매칭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786384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+ xargs + grep 파이프라인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Command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11274552" cy="914400"/>
          </a:xfrm>
          <a:prstGeom prst="roundRect">
            <a:avLst>
              <a:gd name="adj" fmla="val 8000"/>
            </a:avLst>
          </a:prstGeom>
          <a:solidFill>
            <a:srgbClr val="1B2028"/>
          </a:solidFill>
          <a:ln/>
          <a:effectLst>
            <a:outerShdw blurRad="101600" dist="38100" dir="5400000" algn="bl" rotWithShape="0">
              <a:srgbClr val="1B202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621792" y="2157984"/>
            <a:ext cx="109728" cy="109728"/>
          </a:xfrm>
          <a:prstGeom prst="ellipse">
            <a:avLst/>
          </a:prstGeom>
          <a:solidFill>
            <a:srgbClr val="E5605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804672" y="2157984"/>
            <a:ext cx="109728" cy="109728"/>
          </a:xfrm>
          <a:prstGeom prst="ellipse">
            <a:avLst/>
          </a:prstGeom>
          <a:solidFill>
            <a:srgbClr val="E8B8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987552" y="2157984"/>
            <a:ext cx="109728" cy="109728"/>
          </a:xfrm>
          <a:prstGeom prst="ellipse">
            <a:avLst/>
          </a:prstGeom>
          <a:solidFill>
            <a:srgbClr val="3FBF6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280160" y="2103120"/>
            <a:ext cx="9994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조합 예시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13232" y="2395728"/>
            <a:ext cx="10762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find . -name "*.java" | xargs grep -i "hello"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3429000"/>
            <a:ext cx="2377440" cy="822960"/>
          </a:xfrm>
          <a:prstGeom prst="roundRect">
            <a:avLst>
              <a:gd name="adj" fmla="val 10000"/>
            </a:avLst>
          </a:prstGeom>
          <a:solidFill>
            <a:srgbClr val="1B2028"/>
          </a:solidFill>
          <a:ln w="1270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57200" y="34290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F7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2834640" y="3840480"/>
            <a:ext cx="1705356" cy="0"/>
          </a:xfrm>
          <a:prstGeom prst="line">
            <a:avLst/>
          </a:prstGeom>
          <a:noFill/>
          <a:ln w="31750">
            <a:solidFill>
              <a:srgbClr val="1FAF7D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4539996" y="3429000"/>
            <a:ext cx="2377440" cy="822960"/>
          </a:xfrm>
          <a:prstGeom prst="roundRect">
            <a:avLst>
              <a:gd name="adj" fmla="val 10000"/>
            </a:avLst>
          </a:prstGeom>
          <a:solidFill>
            <a:srgbClr val="1B2028"/>
          </a:solidFill>
          <a:ln w="1270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539996" y="34290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F7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xargs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917436" y="3840480"/>
            <a:ext cx="1705356" cy="0"/>
          </a:xfrm>
          <a:prstGeom prst="line">
            <a:avLst/>
          </a:prstGeom>
          <a:noFill/>
          <a:ln w="31750">
            <a:solidFill>
              <a:srgbClr val="1FAF7D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8622792" y="3429000"/>
            <a:ext cx="2377440" cy="822960"/>
          </a:xfrm>
          <a:prstGeom prst="roundRect">
            <a:avLst>
              <a:gd name="adj" fmla="val 10000"/>
            </a:avLst>
          </a:prstGeom>
          <a:solidFill>
            <a:srgbClr val="1B2028"/>
          </a:solidFill>
          <a:ln w="1270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8622792" y="34290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F7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grep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82880" y="43434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.java 파일 목록을 찾음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265676" y="43434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파일명들을 </a:t>
            </a:r>
            <a:r>
              <a:rPr lang="en-US" sz="1100" dirty="0" err="1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받아</a:t>
            </a:r>
            <a:r>
              <a:rPr lang="en-US" sz="11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dirty="0" err="1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grep</a:t>
            </a:r>
            <a:r>
              <a:rPr lang="en-US" sz="11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-i hello &lt;file1&gt; &lt;file2&gt; ... 형태로 실행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348472" y="43434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.java </a:t>
            </a:r>
            <a:r>
              <a:rPr lang="en-US" sz="1100" dirty="0" err="1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파일에서</a:t>
            </a:r>
            <a:r>
              <a:rPr lang="en-US" sz="11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"hello"(대소문자 무시)를 검색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8788" y="5394960"/>
            <a:ext cx="11274552" cy="777240"/>
          </a:xfrm>
          <a:prstGeom prst="roundRect">
            <a:avLst>
              <a:gd name="adj" fmla="val 9412"/>
            </a:avLst>
          </a:prstGeom>
          <a:solidFill>
            <a:srgbClr val="E4F5E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457200" y="5394960"/>
            <a:ext cx="54864" cy="777240"/>
          </a:xfrm>
          <a:prstGeom prst="roundRect">
            <a:avLst/>
          </a:prstGeom>
          <a:solidFill>
            <a:srgbClr val="1FAF7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685800" y="5394960"/>
            <a:ext cx="108630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68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 </a:t>
            </a:r>
            <a:r>
              <a:rPr lang="en-US" sz="1250" dirty="0">
                <a:solidFill>
                  <a:schemeClr val="accent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grep -ir "hello" . </a:t>
            </a:r>
            <a:r>
              <a:rPr lang="en-US" sz="125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와 비슷하지만, find로 검색 대상을 더 정교하게 지정할 수 있습니다.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1FAF7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786384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텍스트 처리 도구 더 보기: sed · awk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grep이 "찾기"에 특화되어 있다면, sed와 awk는 텍스트를 찾아서 바꾸거나 가공하는 데 사용합니다.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Command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5852160" cy="2697480"/>
          </a:xfrm>
          <a:prstGeom prst="roundRect">
            <a:avLst>
              <a:gd name="adj" fmla="val 2712"/>
            </a:avLst>
          </a:prstGeom>
          <a:solidFill>
            <a:srgbClr val="1B2028"/>
          </a:solidFill>
          <a:ln/>
          <a:effectLst>
            <a:outerShdw blurRad="101600" dist="38100" dir="5400000" algn="bl" rotWithShape="0">
              <a:srgbClr val="1B202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621792" y="2157984"/>
            <a:ext cx="109728" cy="109728"/>
          </a:xfrm>
          <a:prstGeom prst="ellipse">
            <a:avLst/>
          </a:prstGeom>
          <a:solidFill>
            <a:srgbClr val="E5605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804672" y="2157984"/>
            <a:ext cx="109728" cy="109728"/>
          </a:xfrm>
          <a:prstGeom prst="ellipse">
            <a:avLst/>
          </a:prstGeom>
          <a:solidFill>
            <a:srgbClr val="E8B8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987552" y="2157984"/>
            <a:ext cx="109728" cy="109728"/>
          </a:xfrm>
          <a:prstGeom prst="ellipse">
            <a:avLst/>
          </a:prstGeom>
          <a:solidFill>
            <a:srgbClr val="3FBF6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280160" y="21031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sed — Stream EDitor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13232" y="2395728"/>
            <a:ext cx="5340096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cat file.txt</a:t>
            </a:r>
            <a:endParaRPr lang="en-US" sz="12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foo bar foo</a:t>
            </a:r>
            <a:endParaRPr lang="en-US" sz="1200" dirty="0"/>
          </a:p>
          <a:p>
            <a:pPr marL="0" indent="0" algn="l">
              <a:lnSpc>
                <a:spcPct val="128000"/>
              </a:lnSpc>
              <a:buNone/>
            </a:pPr>
            <a:endParaRPr lang="en-US" sz="12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sed 's/foo/bar/g' file.txt</a:t>
            </a:r>
            <a:endParaRPr lang="en-US" sz="12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bar bar bar</a:t>
            </a:r>
            <a:endParaRPr lang="en-US" sz="12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화면에 출력만 함 (file.txt 내용은 그대로)</a:t>
            </a:r>
            <a:endParaRPr lang="en-US" sz="1200" dirty="0"/>
          </a:p>
          <a:p>
            <a:pPr marL="0" indent="0" algn="l">
              <a:lnSpc>
                <a:spcPct val="128000"/>
              </a:lnSpc>
              <a:buNone/>
            </a:pPr>
            <a:endParaRPr lang="en-US" sz="12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sed -i 's/foo/bar/g' file.txt</a:t>
            </a:r>
            <a:endParaRPr lang="en-US" sz="12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-i: file.txt 자체를 bar bar bar로 덮어씀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846320"/>
            <a:ext cx="5852160" cy="1234440"/>
          </a:xfrm>
          <a:prstGeom prst="roundRect">
            <a:avLst>
              <a:gd name="adj" fmla="val 5926"/>
            </a:avLst>
          </a:prstGeom>
          <a:solidFill>
            <a:srgbClr val="E4F5E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457200" y="4846320"/>
            <a:ext cx="54864" cy="1234440"/>
          </a:xfrm>
          <a:prstGeom prst="roundRect">
            <a:avLst/>
          </a:prstGeom>
          <a:solidFill>
            <a:srgbClr val="1FAF7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85800" y="4846320"/>
            <a:ext cx="5440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68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sed는</a:t>
            </a:r>
            <a:r>
              <a:rPr lang="en-US" sz="125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기본적으로 원본을 열어 고치지 않고, 한 줄씩 읽으며 바뀐 결과를 화면에 출력합니다. -i 옵션을 주면 그 결과로 원본 파일 자체를 덮어쓰므로, 실수에 대비해 sed -i.bak 처럼 백업 확장자를 함께 쓰는 </a:t>
            </a:r>
            <a:r>
              <a:rPr lang="en-US" sz="1250" dirty="0" err="1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것이</a:t>
            </a:r>
            <a:r>
              <a:rPr lang="en-US" sz="125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안전합니다</a:t>
            </a:r>
            <a:r>
              <a:rPr lang="en-US" sz="125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250" dirty="0" err="1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file.txt.bak</a:t>
            </a:r>
            <a:r>
              <a:rPr lang="ko-KR" altLang="en-US" sz="125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 원본</a:t>
            </a:r>
            <a:r>
              <a:rPr lang="en-US" altLang="ko-KR" sz="125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629400" y="2011680"/>
            <a:ext cx="5102352" cy="1965960"/>
          </a:xfrm>
          <a:prstGeom prst="roundRect">
            <a:avLst>
              <a:gd name="adj" fmla="val 3721"/>
            </a:avLst>
          </a:prstGeom>
          <a:solidFill>
            <a:srgbClr val="1B2028"/>
          </a:solidFill>
          <a:ln/>
          <a:effectLst>
            <a:outerShdw blurRad="101600" dist="38100" dir="5400000" algn="bl" rotWithShape="0">
              <a:srgbClr val="1B202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6793992" y="2157984"/>
            <a:ext cx="109728" cy="109728"/>
          </a:xfrm>
          <a:prstGeom prst="ellipse">
            <a:avLst/>
          </a:prstGeom>
          <a:solidFill>
            <a:srgbClr val="E5605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6976872" y="2157984"/>
            <a:ext cx="109728" cy="109728"/>
          </a:xfrm>
          <a:prstGeom prst="ellipse">
            <a:avLst/>
          </a:prstGeom>
          <a:solidFill>
            <a:srgbClr val="E8B8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7159752" y="2157984"/>
            <a:ext cx="109728" cy="109728"/>
          </a:xfrm>
          <a:prstGeom prst="ellipse">
            <a:avLst/>
          </a:prstGeom>
          <a:solidFill>
            <a:srgbClr val="3FBF6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7452360" y="2103120"/>
            <a:ext cx="3822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awk — 필드 기반 처리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885432" y="2395728"/>
            <a:ext cx="459028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cat access.log</a:t>
            </a:r>
            <a:endParaRPr lang="en-US" sz="1050" dirty="0"/>
          </a:p>
          <a:p>
            <a:pPr>
              <a:lnSpc>
                <a:spcPct val="128000"/>
              </a:lnSpc>
            </a:pPr>
            <a:r>
              <a:rPr lang="en-US" altLang="ko-KR" sz="105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192.168.1.1 - - [26/Aug/2024:12:30:45 +0000] "GET /page1 HTTP/1.1" 200 1234</a:t>
            </a:r>
            <a:endParaRPr lang="en-US" altLang="ko-KR" sz="1050" dirty="0"/>
          </a:p>
          <a:p>
            <a:pPr marL="0" indent="0" algn="l">
              <a:lnSpc>
                <a:spcPct val="128000"/>
              </a:lnSpc>
              <a:buNone/>
            </a:pPr>
            <a:endParaRPr lang="en-US" sz="10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05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awk '{print $1}' access.log</a:t>
            </a:r>
            <a:endParaRPr lang="en-US" sz="10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192.168.1.1</a:t>
            </a:r>
            <a:endParaRPr lang="en-US" sz="10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공백 기준으로 나눈 첫 번째 필드(IP) 출력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629400" y="4114800"/>
            <a:ext cx="5102352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  <a:effectLst>
            <a:outerShdw blurRad="76200" dist="25400" dir="5400000" algn="bl" rotWithShape="0">
              <a:srgbClr val="1B2028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6858000" y="42519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필드(field) 분해 — 위 access.log 기준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858000" y="461772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8F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$1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726680" y="461772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192.168.1.1 (IP)</a:t>
            </a:r>
            <a:endParaRPr lang="en-US" sz="1080" dirty="0"/>
          </a:p>
        </p:txBody>
      </p:sp>
      <p:sp>
        <p:nvSpPr>
          <p:cNvPr id="27" name="Text 25"/>
          <p:cNvSpPr/>
          <p:nvPr/>
        </p:nvSpPr>
        <p:spPr>
          <a:xfrm>
            <a:off x="6858000" y="4946904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8F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$6~8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726680" y="494690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"GET /page1 HTTP/1.1" (요청)</a:t>
            </a:r>
            <a:endParaRPr lang="en-US" sz="1080" dirty="0"/>
          </a:p>
        </p:txBody>
      </p:sp>
      <p:sp>
        <p:nvSpPr>
          <p:cNvPr id="29" name="Text 27"/>
          <p:cNvSpPr/>
          <p:nvPr/>
        </p:nvSpPr>
        <p:spPr>
          <a:xfrm>
            <a:off x="6858000" y="5276088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8F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$9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726680" y="527608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(상태 코드)</a:t>
            </a:r>
            <a:endParaRPr lang="en-US" sz="1080" dirty="0"/>
          </a:p>
        </p:txBody>
      </p:sp>
      <p:sp>
        <p:nvSpPr>
          <p:cNvPr id="31" name="Text 29"/>
          <p:cNvSpPr/>
          <p:nvPr/>
        </p:nvSpPr>
        <p:spPr>
          <a:xfrm>
            <a:off x="6858000" y="5605272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8F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$NF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726680" y="560527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마지막 필드 (여기서는 1234, 응답 크기)</a:t>
            </a:r>
            <a:endParaRPr lang="en-US" sz="1080" dirty="0"/>
          </a:p>
        </p:txBody>
      </p:sp>
    </p:spTree>
    <p:extLst>
      <p:ext uri="{BB962C8B-B14F-4D97-AF65-F5344CB8AC3E}">
        <p14:creationId xmlns:p14="http://schemas.microsoft.com/office/powerpoint/2010/main" val="23608749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1FAF7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786384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압축과 해제: tar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Command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9509760" y="2468880"/>
            <a:ext cx="1463040" cy="914400"/>
          </a:xfrm>
          <a:prstGeom prst="roundRect">
            <a:avLst>
              <a:gd name="adj" fmla="val 6000"/>
            </a:avLst>
          </a:prstGeom>
          <a:solidFill>
            <a:srgbClr val="D98E2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9436608" y="2148840"/>
            <a:ext cx="1609344" cy="384048"/>
          </a:xfrm>
          <a:prstGeom prst="roundRect">
            <a:avLst>
              <a:gd name="adj" fmla="val 14286"/>
            </a:avLst>
          </a:prstGeom>
          <a:solidFill>
            <a:srgbClr val="E7A94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9948672" y="2313432"/>
            <a:ext cx="585216" cy="128016"/>
          </a:xfrm>
          <a:prstGeom prst="rect">
            <a:avLst/>
          </a:prstGeom>
          <a:solidFill>
            <a:srgbClr val="C87F1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9326880" y="3429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5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.tar.gz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148840"/>
            <a:ext cx="5852160" cy="1828800"/>
          </a:xfrm>
          <a:prstGeom prst="roundRect">
            <a:avLst>
              <a:gd name="adj" fmla="val 4000"/>
            </a:avLst>
          </a:prstGeom>
          <a:solidFill>
            <a:srgbClr val="1B2028"/>
          </a:solidFill>
          <a:ln/>
          <a:effectLst>
            <a:outerShdw blurRad="101600" dist="38100" dir="5400000" algn="bl" rotWithShape="0">
              <a:srgbClr val="1B202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621792" y="2295144"/>
            <a:ext cx="109728" cy="109728"/>
          </a:xfrm>
          <a:prstGeom prst="ellipse">
            <a:avLst/>
          </a:prstGeom>
          <a:solidFill>
            <a:srgbClr val="E5605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804672" y="2295144"/>
            <a:ext cx="109728" cy="109728"/>
          </a:xfrm>
          <a:prstGeom prst="ellipse">
            <a:avLst/>
          </a:prstGeom>
          <a:solidFill>
            <a:srgbClr val="E8B8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987552" y="2295144"/>
            <a:ext cx="109728" cy="109728"/>
          </a:xfrm>
          <a:prstGeom prst="ellipse">
            <a:avLst/>
          </a:prstGeom>
          <a:solidFill>
            <a:srgbClr val="3FBF6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1280160" y="224028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압축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13232" y="2532888"/>
            <a:ext cx="53400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tar -czvf archive.tar.gz </a:t>
            </a:r>
            <a:r>
              <a:rPr lang="en-US" sz="1350" dirty="0">
                <a:solidFill>
                  <a:srgbClr val="F5F7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/path/directory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57200" y="411480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b="1" dirty="0">
                <a:solidFill>
                  <a:srgbClr val="168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-c </a:t>
            </a:r>
            <a:r>
              <a:rPr lang="en-US" sz="125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아카이브 생성      </a:t>
            </a:r>
            <a:r>
              <a:rPr lang="en-US" sz="1250" b="1" dirty="0">
                <a:solidFill>
                  <a:srgbClr val="168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-z </a:t>
            </a:r>
            <a:r>
              <a:rPr lang="en-US" sz="125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gzip으로 압축</a:t>
            </a:r>
            <a:endParaRPr lang="en-US" sz="12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50" b="1" dirty="0">
                <a:solidFill>
                  <a:srgbClr val="168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-v </a:t>
            </a:r>
            <a:r>
              <a:rPr lang="en-US" sz="125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진행 상황 표시   </a:t>
            </a:r>
            <a:r>
              <a:rPr lang="en-US" sz="1250" b="1" dirty="0">
                <a:solidFill>
                  <a:srgbClr val="168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-f </a:t>
            </a:r>
            <a:r>
              <a:rPr lang="en-US" sz="125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파일명 지정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57200" y="5074920"/>
            <a:ext cx="8138160" cy="1417320"/>
          </a:xfrm>
          <a:prstGeom prst="roundRect">
            <a:avLst>
              <a:gd name="adj" fmla="val 5161"/>
            </a:avLst>
          </a:prstGeom>
          <a:solidFill>
            <a:srgbClr val="1B2028"/>
          </a:solidFill>
          <a:ln/>
          <a:effectLst>
            <a:outerShdw blurRad="101600" dist="38100" dir="5400000" algn="bl" rotWithShape="0">
              <a:srgbClr val="1B202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621792" y="5221224"/>
            <a:ext cx="109728" cy="109728"/>
          </a:xfrm>
          <a:prstGeom prst="ellipse">
            <a:avLst/>
          </a:prstGeom>
          <a:solidFill>
            <a:srgbClr val="E5605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804672" y="5221224"/>
            <a:ext cx="109728" cy="109728"/>
          </a:xfrm>
          <a:prstGeom prst="ellipse">
            <a:avLst/>
          </a:prstGeom>
          <a:solidFill>
            <a:srgbClr val="E8B8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987552" y="5221224"/>
            <a:ext cx="109728" cy="109728"/>
          </a:xfrm>
          <a:prstGeom prst="ellipse">
            <a:avLst/>
          </a:prstGeom>
          <a:solidFill>
            <a:srgbClr val="3FBF6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1280160" y="5166360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압축 해제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13232" y="5458968"/>
            <a:ext cx="76260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tar -xzvf archive.tar.gz</a:t>
            </a:r>
            <a:endParaRPr lang="en-US" sz="13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-x: 압축 해제(extract)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30626479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1FAF7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786384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셸 스크립트 작성하기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셸이 직접 실행하도록 만든 프로그램(스크립트)입니다.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Command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11274552" cy="1691640"/>
          </a:xfrm>
          <a:prstGeom prst="roundRect">
            <a:avLst>
              <a:gd name="adj" fmla="val 4324"/>
            </a:avLst>
          </a:prstGeom>
          <a:solidFill>
            <a:srgbClr val="1B2028"/>
          </a:solidFill>
          <a:ln/>
          <a:effectLst>
            <a:outerShdw blurRad="101600" dist="38100" dir="5400000" algn="bl" rotWithShape="0">
              <a:srgbClr val="1B202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621792" y="2157984"/>
            <a:ext cx="109728" cy="109728"/>
          </a:xfrm>
          <a:prstGeom prst="ellipse">
            <a:avLst/>
          </a:prstGeom>
          <a:solidFill>
            <a:srgbClr val="E5605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804672" y="2157984"/>
            <a:ext cx="109728" cy="109728"/>
          </a:xfrm>
          <a:prstGeom prst="ellipse">
            <a:avLst/>
          </a:prstGeom>
          <a:solidFill>
            <a:srgbClr val="E8B8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987552" y="2157984"/>
            <a:ext cx="109728" cy="109728"/>
          </a:xfrm>
          <a:prstGeom prst="ellipse">
            <a:avLst/>
          </a:prstGeom>
          <a:solidFill>
            <a:srgbClr val="3FBF6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280160" y="2103120"/>
            <a:ext cx="9994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sample.sh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13232" y="2395728"/>
            <a:ext cx="107624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#!/bin/bash</a:t>
            </a:r>
            <a:endParaRPr lang="en-US" sz="13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F5F7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target_dir="/path/to/directory"</a:t>
            </a:r>
            <a:endParaRPr lang="en-US" sz="13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F5F7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output_file="archive.tar.gz"</a:t>
            </a:r>
            <a:endParaRPr lang="en-US" sz="13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F5F7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 "$target_dir" -type f -name "*.txt" | xargs tar -czvf "$output_file"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57200" y="3840480"/>
            <a:ext cx="11274552" cy="777240"/>
          </a:xfrm>
          <a:prstGeom prst="roundRect">
            <a:avLst>
              <a:gd name="adj" fmla="val 9412"/>
            </a:avLst>
          </a:prstGeom>
          <a:solidFill>
            <a:srgbClr val="E4F5E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457200" y="3840480"/>
            <a:ext cx="54864" cy="777240"/>
          </a:xfrm>
          <a:prstGeom prst="roundRect">
            <a:avLst/>
          </a:prstGeom>
          <a:solidFill>
            <a:srgbClr val="1FAF7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85800" y="3840480"/>
            <a:ext cx="108630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68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하는 일  </a:t>
            </a:r>
            <a:r>
              <a:rPr lang="en-US" sz="125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target_dir 안(하위 디렉터리 포함)에 있는 모든 .txt 파일만 골라 archive.tar.gz라는 압축 파일 하나로 묶습니다 — .jpg, .log 같은 다른 확장자 파일은 무시됩니다.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4800600"/>
            <a:ext cx="11274552" cy="1417320"/>
          </a:xfrm>
          <a:prstGeom prst="roundRect">
            <a:avLst>
              <a:gd name="adj" fmla="val 5161"/>
            </a:avLst>
          </a:prstGeom>
          <a:solidFill>
            <a:srgbClr val="1B2028"/>
          </a:solidFill>
          <a:ln/>
          <a:effectLst>
            <a:outerShdw blurRad="101600" dist="38100" dir="5400000" algn="bl" rotWithShape="0">
              <a:srgbClr val="1B202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621792" y="4946904"/>
            <a:ext cx="109728" cy="109728"/>
          </a:xfrm>
          <a:prstGeom prst="ellipse">
            <a:avLst/>
          </a:prstGeom>
          <a:solidFill>
            <a:srgbClr val="E5605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804672" y="4946904"/>
            <a:ext cx="109728" cy="109728"/>
          </a:xfrm>
          <a:prstGeom prst="ellipse">
            <a:avLst/>
          </a:prstGeom>
          <a:solidFill>
            <a:srgbClr val="E8B8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987552" y="4946904"/>
            <a:ext cx="109728" cy="109728"/>
          </a:xfrm>
          <a:prstGeom prst="ellipse">
            <a:avLst/>
          </a:prstGeom>
          <a:solidFill>
            <a:srgbClr val="3FBF6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1280160" y="4892040"/>
            <a:ext cx="9994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실행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13232" y="5184648"/>
            <a:ext cx="107624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chmod a+x sample.sh</a:t>
            </a:r>
            <a:endParaRPr lang="en-US" sz="13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실행 권한 부여</a:t>
            </a:r>
            <a:endParaRPr lang="en-US" sz="13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./sample.sh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26489922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1FAF7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786384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 다운로드 &amp; 웹 통신: wget · curl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wget은 다운로드 전용 도구이고, curl은 다양한 프로토콜과 통신하는 범용 클라이언트입니다 — 다운로드는 curl 기능의 일부일 뿐입니다.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Command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544068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  <a:effectLst>
            <a:outerShdw blurRad="76200" dist="25400" dir="5400000" algn="bl" rotWithShape="0">
              <a:srgbClr val="1B2028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713232" y="2176272"/>
            <a:ext cx="585216" cy="585216"/>
          </a:xfrm>
          <a:prstGeom prst="ellipse">
            <a:avLst/>
          </a:prstGeom>
          <a:solidFill>
            <a:srgbClr val="1FAF7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13232" y="21762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63040" y="211226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wget — 다운로드 전용 도구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63040" y="245973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HTTP·HTTPS·FTP에서 파일을 받아 저장하는 데 특화 — 기본 동작 자체가 곧 다운로드입니다.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6245352" y="1965960"/>
            <a:ext cx="544068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  <a:effectLst>
            <a:outerShdw blurRad="76200" dist="25400" dir="5400000" algn="bl" rotWithShape="0">
              <a:srgbClr val="1B2028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6501384" y="2176272"/>
            <a:ext cx="585216" cy="585216"/>
          </a:xfrm>
          <a:prstGeom prst="ellipse">
            <a:avLst/>
          </a:prstGeom>
          <a:solidFill>
            <a:srgbClr val="1FAF7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501384" y="21762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251192" y="211226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curl — 범용 통신 클라이언트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251192" y="245973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URL의 약자 — HTTP·FTP·SMTP 등 다양한 프로토콜로 데이터를 주고받음. 다운로드는 -O로 켜는 기능 중 하나일 뿐입니다.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457200" y="3200400"/>
            <a:ext cx="5852160" cy="1691640"/>
          </a:xfrm>
          <a:prstGeom prst="roundRect">
            <a:avLst>
              <a:gd name="adj" fmla="val 4324"/>
            </a:avLst>
          </a:prstGeom>
          <a:solidFill>
            <a:srgbClr val="1B2028"/>
          </a:solidFill>
          <a:ln/>
          <a:effectLst>
            <a:outerShdw blurRad="101600" dist="38100" dir="5400000" algn="bl" rotWithShape="0">
              <a:srgbClr val="1B202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621792" y="3346704"/>
            <a:ext cx="109728" cy="109728"/>
          </a:xfrm>
          <a:prstGeom prst="ellipse">
            <a:avLst/>
          </a:prstGeom>
          <a:solidFill>
            <a:srgbClr val="E5605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804672" y="3346704"/>
            <a:ext cx="109728" cy="109728"/>
          </a:xfrm>
          <a:prstGeom prst="ellipse">
            <a:avLst/>
          </a:prstGeom>
          <a:solidFill>
            <a:srgbClr val="E8B8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987552" y="3346704"/>
            <a:ext cx="109728" cy="109728"/>
          </a:xfrm>
          <a:prstGeom prst="ellipse">
            <a:avLst/>
          </a:prstGeom>
          <a:solidFill>
            <a:srgbClr val="3FBF6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1280160" y="329184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wget — 저장이 기본값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13232" y="3584448"/>
            <a:ext cx="534009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5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wget https://example.com/file.png</a:t>
            </a:r>
            <a:endParaRPr lang="en-US" sz="12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웹에서 파일을 그대로 다운로드해 저장</a:t>
            </a:r>
            <a:endParaRPr lang="en-US" sz="1250" dirty="0"/>
          </a:p>
          <a:p>
            <a:pPr marL="0" indent="0" algn="l">
              <a:lnSpc>
                <a:spcPct val="128000"/>
              </a:lnSpc>
              <a:buNone/>
            </a:pPr>
            <a:endParaRPr lang="en-US" sz="12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옵션 없이 실행해도 동작은 "다운로드" 하나뿐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629400" y="3200400"/>
            <a:ext cx="5102352" cy="2606040"/>
          </a:xfrm>
          <a:prstGeom prst="roundRect">
            <a:avLst>
              <a:gd name="adj" fmla="val 2807"/>
            </a:avLst>
          </a:prstGeom>
          <a:solidFill>
            <a:srgbClr val="1B2028"/>
          </a:solidFill>
          <a:ln/>
          <a:effectLst>
            <a:outerShdw blurRad="101600" dist="38100" dir="5400000" algn="bl" rotWithShape="0">
              <a:srgbClr val="1B202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6793992" y="3346704"/>
            <a:ext cx="109728" cy="109728"/>
          </a:xfrm>
          <a:prstGeom prst="ellipse">
            <a:avLst/>
          </a:prstGeom>
          <a:solidFill>
            <a:srgbClr val="E5605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6976872" y="3346704"/>
            <a:ext cx="109728" cy="109728"/>
          </a:xfrm>
          <a:prstGeom prst="ellipse">
            <a:avLst/>
          </a:prstGeom>
          <a:solidFill>
            <a:srgbClr val="E8B8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7159752" y="3346704"/>
            <a:ext cx="109728" cy="109728"/>
          </a:xfrm>
          <a:prstGeom prst="ellipse">
            <a:avLst/>
          </a:prstGeom>
          <a:solidFill>
            <a:srgbClr val="3FBF6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7452360" y="3291840"/>
            <a:ext cx="3822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— 저장은 옵션(-O)일 뿐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885432" y="3584448"/>
            <a:ext cx="459028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8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curl -O https://.../file.png</a:t>
            </a:r>
            <a:endParaRPr lang="en-US" sz="108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08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-O: 파일로 저장 (다운로드 모드로 전환)</a:t>
            </a:r>
            <a:endParaRPr lang="en-US" sz="1080" dirty="0"/>
          </a:p>
          <a:p>
            <a:pPr marL="0" indent="0" algn="l">
              <a:lnSpc>
                <a:spcPct val="128000"/>
              </a:lnSpc>
              <a:buNone/>
            </a:pPr>
            <a:endParaRPr lang="en-US" sz="108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08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curl -I https://example.com</a:t>
            </a:r>
            <a:endParaRPr lang="en-US" sz="108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08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응답 헤더만 확인 — 파일을 받지 않고 "접속"만 함</a:t>
            </a:r>
            <a:endParaRPr lang="en-US" sz="1080" dirty="0"/>
          </a:p>
          <a:p>
            <a:pPr marL="0" indent="0" algn="l">
              <a:lnSpc>
                <a:spcPct val="128000"/>
              </a:lnSpc>
              <a:buNone/>
            </a:pPr>
            <a:endParaRPr lang="en-US" sz="108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080" b="1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curl -X POST -d '{"name":"kim"}' \</a:t>
            </a:r>
            <a:endParaRPr lang="en-US" sz="108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080" dirty="0">
                <a:solidFill>
                  <a:srgbClr val="F5F7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https://api.example.com/users</a:t>
            </a:r>
            <a:endParaRPr lang="en-US" sz="108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08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서버로 데이터 전송 — 다운로드와 반대 방향</a:t>
            </a: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457200" y="5943600"/>
            <a:ext cx="11274552" cy="457200"/>
          </a:xfrm>
          <a:prstGeom prst="roundRect">
            <a:avLst>
              <a:gd name="adj" fmla="val 16000"/>
            </a:avLst>
          </a:prstGeom>
          <a:solidFill>
            <a:srgbClr val="FBEED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457200" y="5943600"/>
            <a:ext cx="54864" cy="457200"/>
          </a:xfrm>
          <a:prstGeom prst="roundRect">
            <a:avLst/>
          </a:prstGeom>
          <a:solidFill>
            <a:srgbClr val="D98E2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685800" y="5943600"/>
            <a:ext cx="10863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D98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r>
              <a:rPr lang="en-US" sz="125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Linux 2023 등 최신 배포판에는 curl이 기본 설치되어 있으나, wget은 별도로 dnf install wget이 필요할 수 있습니다.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1634715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1FAF7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786384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환경 설정: .bash_profile · .bashrc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Command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544068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  <a:effectLst>
            <a:outerShdw blurRad="76200" dist="25400" dir="5400000" algn="bl" rotWithShape="0">
              <a:srgbClr val="1B2028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85800" y="207568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8F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.bash_profile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2395728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사용자가 로그인할 때 한 번 실행되며, 로그인 세션의 초기 설정을 구성합니다.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45352" y="1965960"/>
            <a:ext cx="544068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  <a:effectLst>
            <a:outerShdw blurRad="76200" dist="25400" dir="5400000" algn="bl" rotWithShape="0">
              <a:srgbClr val="1B2028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473952" y="207568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8F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.bashrc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73952" y="2395728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 셸(터미널)을 열 때마다 실행되며, alias·PATH 등 개인화 설정에 사용됩니다.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246120"/>
            <a:ext cx="2743200" cy="594360"/>
          </a:xfrm>
          <a:prstGeom prst="roundRect">
            <a:avLst>
              <a:gd name="adj" fmla="val 13846"/>
            </a:avLst>
          </a:prstGeom>
          <a:solidFill>
            <a:srgbClr val="262E39"/>
          </a:solidFill>
          <a:ln w="1270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57200" y="324612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5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로그인</a:t>
            </a:r>
            <a:endParaRPr lang="en-US" sz="12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5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(세션 시작)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343400"/>
            <a:ext cx="2743200" cy="594360"/>
          </a:xfrm>
          <a:prstGeom prst="roundRect">
            <a:avLst>
              <a:gd name="adj" fmla="val 13846"/>
            </a:avLst>
          </a:prstGeom>
          <a:solidFill>
            <a:srgbClr val="262E39"/>
          </a:solidFill>
          <a:ln w="1270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457200" y="43434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5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 터미널 창 / 서브셸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5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(열 때마다 반복)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11880" y="3246120"/>
            <a:ext cx="3063240" cy="594360"/>
          </a:xfrm>
          <a:prstGeom prst="roundRect">
            <a:avLst>
              <a:gd name="adj" fmla="val 13846"/>
            </a:avLst>
          </a:prstGeom>
          <a:solidFill>
            <a:srgbClr val="E4F5EF"/>
          </a:solidFill>
          <a:ln w="1270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3611880" y="324612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68F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.bash_profile 실행</a:t>
            </a:r>
            <a:endParaRPr lang="en-US" sz="12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68F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(세션당 1회)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0" y="3794760"/>
            <a:ext cx="3502152" cy="685800"/>
          </a:xfrm>
          <a:prstGeom prst="roundRect">
            <a:avLst>
              <a:gd name="adj" fmla="val 12000"/>
            </a:avLst>
          </a:prstGeom>
          <a:solidFill>
            <a:srgbClr val="1FAF7D"/>
          </a:solidFill>
          <a:ln w="1270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7315200" y="3794760"/>
            <a:ext cx="3502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0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.bashrc 실행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200400" y="3543300"/>
            <a:ext cx="411480" cy="0"/>
          </a:xfrm>
          <a:prstGeom prst="line">
            <a:avLst/>
          </a:prstGeom>
          <a:noFill/>
          <a:ln w="22225">
            <a:solidFill>
              <a:srgbClr val="6B7583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6675120" y="3543300"/>
            <a:ext cx="640080" cy="457200"/>
          </a:xfrm>
          <a:prstGeom prst="line">
            <a:avLst/>
          </a:prstGeom>
          <a:noFill/>
          <a:ln w="25400">
            <a:solidFill>
              <a:srgbClr val="168F65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6720840" y="325069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68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내부에서 source ~/.bashrc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0" y="4640580"/>
            <a:ext cx="4114800" cy="0"/>
          </a:xfrm>
          <a:prstGeom prst="line">
            <a:avLst/>
          </a:prstGeom>
          <a:noFill/>
          <a:ln w="22225">
            <a:solidFill>
              <a:srgbClr val="6B7583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457200" y="5212080"/>
            <a:ext cx="11274552" cy="914400"/>
          </a:xfrm>
          <a:prstGeom prst="roundRect">
            <a:avLst>
              <a:gd name="adj" fmla="val 8000"/>
            </a:avLst>
          </a:prstGeom>
          <a:solidFill>
            <a:srgbClr val="E4F5E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457200" y="5212080"/>
            <a:ext cx="54864" cy="914400"/>
          </a:xfrm>
          <a:prstGeom prst="roundRect">
            <a:avLst/>
          </a:prstGeom>
          <a:solidFill>
            <a:srgbClr val="1FAF7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685800" y="5212080"/>
            <a:ext cx="10863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68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 </a:t>
            </a:r>
            <a:r>
              <a:rPr lang="en-US" sz="125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로그인할 때는 .bash_profile → .bashrc 순서로 둘 다 실행되지만, 이후 새 터미널·서브셸에서는 .bashrc만 실행됩니다. (.bash_profile 안의 if [ -f ~/.bashrc ]; then . ~/.bashrc; fi 코드가 이 연결을 담당)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32562853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786384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alias · PATH · 환경변수 커스터마이징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Command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6035040" cy="4160520"/>
          </a:xfrm>
          <a:prstGeom prst="roundRect">
            <a:avLst>
              <a:gd name="adj" fmla="val 1758"/>
            </a:avLst>
          </a:prstGeom>
          <a:solidFill>
            <a:srgbClr val="1B2028"/>
          </a:solidFill>
          <a:ln/>
          <a:effectLst>
            <a:outerShdw blurRad="101600" dist="38100" dir="5400000" algn="bl" rotWithShape="0">
              <a:srgbClr val="1B202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621792" y="2157984"/>
            <a:ext cx="109728" cy="109728"/>
          </a:xfrm>
          <a:prstGeom prst="ellipse">
            <a:avLst/>
          </a:prstGeom>
          <a:solidFill>
            <a:srgbClr val="E5605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804672" y="2157984"/>
            <a:ext cx="109728" cy="109728"/>
          </a:xfrm>
          <a:prstGeom prst="ellipse">
            <a:avLst/>
          </a:prstGeom>
          <a:solidFill>
            <a:srgbClr val="E8B8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987552" y="2157984"/>
            <a:ext cx="109728" cy="109728"/>
          </a:xfrm>
          <a:prstGeom prst="ellipse">
            <a:avLst/>
          </a:prstGeom>
          <a:solidFill>
            <a:srgbClr val="3FBF6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280160" y="210312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.bashrc 커스터마이징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13232" y="2395728"/>
            <a:ext cx="5522976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Add your own aliases here</a:t>
            </a:r>
            <a:endParaRPr lang="en-US" sz="12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F5F7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alias ll='ls -alF'</a:t>
            </a:r>
            <a:endParaRPr lang="en-US" sz="12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F5F7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alias myalias='echo This is my alias!'</a:t>
            </a:r>
            <a:endParaRPr lang="en-US" sz="1200" dirty="0"/>
          </a:p>
          <a:p>
            <a:pPr marL="0" indent="0" algn="l">
              <a:lnSpc>
                <a:spcPct val="128000"/>
              </a:lnSpc>
              <a:buNone/>
            </a:pPr>
            <a:endParaRPr lang="en-US" sz="12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Additional paths to be added to PATH</a:t>
            </a:r>
            <a:endParaRPr lang="en-US" sz="12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F5F7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! [[ "$PATH" =~ "/opt/myapp/bin:" ]]; then</a:t>
            </a:r>
            <a:endParaRPr lang="en-US" sz="12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F5F7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PATH="/opt/myapp/bin:$PATH"</a:t>
            </a:r>
            <a:endParaRPr lang="en-US" sz="12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F5F7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</a:t>
            </a:r>
            <a:endParaRPr lang="en-US" sz="12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F5F7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PATH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720840" y="2011680"/>
            <a:ext cx="5010912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  <a:effectLst>
            <a:outerShdw blurRad="76200" dist="25400" dir="5400000" algn="bl" rotWithShape="0">
              <a:srgbClr val="1B2028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949440" y="2194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환경변수란?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949440" y="2697480"/>
            <a:ext cx="45262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PATH처럼 셸과 프로그램이 참조하는 이름-값 쌍의 설정 정보입니다.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export로 지정하면 이후 실행되는 자식 프로세스에도 값이 전달됩니다.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명령으로 전체 목록을 확인할 수 있습니다.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8977452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B20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5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정리하기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75488" y="1637429"/>
            <a:ext cx="292608" cy="292608"/>
          </a:xfrm>
          <a:prstGeom prst="ellipse">
            <a:avLst/>
          </a:prstGeom>
          <a:solidFill>
            <a:srgbClr val="1FAF7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75488" y="1637429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60120" y="1508760"/>
            <a:ext cx="10774375" cy="659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50" dirty="0">
                <a:solidFill>
                  <a:srgbClr val="F5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명령어는 이름 + 옵션 + 인자 구조이며, man으로 사용법을 확인하고 관리자 작업은 sudo로 실행합니다.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75488" y="2297103"/>
            <a:ext cx="292608" cy="292608"/>
          </a:xfrm>
          <a:prstGeom prst="ellipse">
            <a:avLst/>
          </a:prstGeom>
          <a:solidFill>
            <a:srgbClr val="1FAF7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75488" y="2297103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2168434"/>
            <a:ext cx="10774375" cy="659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50" dirty="0">
                <a:solidFill>
                  <a:srgbClr val="F5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표준 입출력(stdin/stdout/stderr)을 &gt;, &lt;, | 로 자유롭게 연결·저장할 수 있습니다.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75488" y="2956778"/>
            <a:ext cx="292608" cy="292608"/>
          </a:xfrm>
          <a:prstGeom prst="ellipse">
            <a:avLst/>
          </a:prstGeom>
          <a:solidFill>
            <a:srgbClr val="1FAF7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75488" y="295677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2828109"/>
            <a:ext cx="10774375" cy="659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50" dirty="0">
                <a:solidFill>
                  <a:srgbClr val="F5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cp/mv/rm/mkdir 등으로 파일을 다루고, ln -s(심볼릭)와 ln(하드) 링크의 차이를 구분합니다.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475488" y="3616452"/>
            <a:ext cx="292608" cy="292608"/>
          </a:xfrm>
          <a:prstGeom prst="ellipse">
            <a:avLst/>
          </a:prstGeom>
          <a:solidFill>
            <a:srgbClr val="1FAF7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75488" y="36164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3487783"/>
            <a:ext cx="10774375" cy="659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50" dirty="0">
                <a:solidFill>
                  <a:srgbClr val="F5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chmod로 권한을, chown/chgrp로 소유자·그룹을 관리합니다.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475488" y="4276126"/>
            <a:ext cx="292608" cy="292608"/>
          </a:xfrm>
          <a:prstGeom prst="ellipse">
            <a:avLst/>
          </a:prstGeom>
          <a:solidFill>
            <a:srgbClr val="1FAF7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475488" y="427612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4147457"/>
            <a:ext cx="10774375" cy="659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50" dirty="0">
                <a:solidFill>
                  <a:srgbClr val="F5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find·grep·sed·awk·xargs를 조합하면 대량의 텍스트/파일을 강력하게 처리할 수 있습니다.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475488" y="4935801"/>
            <a:ext cx="292608" cy="292608"/>
          </a:xfrm>
          <a:prstGeom prst="ellipse">
            <a:avLst/>
          </a:prstGeom>
          <a:solidFill>
            <a:srgbClr val="1FAF7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75488" y="4935801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4807131"/>
            <a:ext cx="10774375" cy="659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50" dirty="0">
                <a:solidFill>
                  <a:srgbClr val="F5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tar로 압축하고, 셸 스크립트로 반복 작업을 자동화하며, curl/wget으로 파일을 내려받습니다.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475488" y="5595475"/>
            <a:ext cx="292608" cy="292608"/>
          </a:xfrm>
          <a:prstGeom prst="ellipse">
            <a:avLst/>
          </a:prstGeom>
          <a:solidFill>
            <a:srgbClr val="1FAF7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475488" y="5595475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5466806"/>
            <a:ext cx="10774375" cy="659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50" dirty="0">
                <a:solidFill>
                  <a:srgbClr val="F5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.bash_profile · .bashrc · 환경변수로 나만의 작업 환경을 구성합니다.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Command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2835</Words>
  <Application>Microsoft Office PowerPoint</Application>
  <PresentationFormat>와이드스크린</PresentationFormat>
  <Paragraphs>498</Paragraphs>
  <Slides>27</Slides>
  <Notes>27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1" baseType="lpstr">
      <vt:lpstr>Arial</vt:lpstr>
      <vt:lpstr>Calibri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이지형</cp:lastModifiedBy>
  <cp:revision>15</cp:revision>
  <dcterms:created xsi:type="dcterms:W3CDTF">2026-09-12T06:18:56Z</dcterms:created>
  <dcterms:modified xsi:type="dcterms:W3CDTF">2026-10-18T17:45:01Z</dcterms:modified>
</cp:coreProperties>
</file>