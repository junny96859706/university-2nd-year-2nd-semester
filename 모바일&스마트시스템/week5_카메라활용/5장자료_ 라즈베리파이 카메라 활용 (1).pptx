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60"/>
  </p:notesMasterIdLst>
  <p:sldIdLst>
    <p:sldId id="256" r:id="rId2"/>
    <p:sldId id="441" r:id="rId3"/>
    <p:sldId id="606" r:id="rId4"/>
    <p:sldId id="575" r:id="rId5"/>
    <p:sldId id="471" r:id="rId6"/>
    <p:sldId id="538" r:id="rId7"/>
    <p:sldId id="518" r:id="rId8"/>
    <p:sldId id="539" r:id="rId9"/>
    <p:sldId id="540" r:id="rId10"/>
    <p:sldId id="541" r:id="rId11"/>
    <p:sldId id="542" r:id="rId12"/>
    <p:sldId id="543" r:id="rId13"/>
    <p:sldId id="544" r:id="rId14"/>
    <p:sldId id="545" r:id="rId15"/>
    <p:sldId id="547" r:id="rId16"/>
    <p:sldId id="576" r:id="rId17"/>
    <p:sldId id="549" r:id="rId18"/>
    <p:sldId id="550" r:id="rId19"/>
    <p:sldId id="579" r:id="rId20"/>
    <p:sldId id="593" r:id="rId21"/>
    <p:sldId id="577" r:id="rId22"/>
    <p:sldId id="594" r:id="rId23"/>
    <p:sldId id="595" r:id="rId24"/>
    <p:sldId id="596" r:id="rId25"/>
    <p:sldId id="597" r:id="rId26"/>
    <p:sldId id="598" r:id="rId27"/>
    <p:sldId id="601" r:id="rId28"/>
    <p:sldId id="603" r:id="rId29"/>
    <p:sldId id="552" r:id="rId30"/>
    <p:sldId id="553" r:id="rId31"/>
    <p:sldId id="554" r:id="rId32"/>
    <p:sldId id="588" r:id="rId33"/>
    <p:sldId id="555" r:id="rId34"/>
    <p:sldId id="556" r:id="rId35"/>
    <p:sldId id="557" r:id="rId36"/>
    <p:sldId id="558" r:id="rId37"/>
    <p:sldId id="559" r:id="rId38"/>
    <p:sldId id="604" r:id="rId39"/>
    <p:sldId id="582" r:id="rId40"/>
    <p:sldId id="561" r:id="rId41"/>
    <p:sldId id="560" r:id="rId42"/>
    <p:sldId id="605" r:id="rId43"/>
    <p:sldId id="563" r:id="rId44"/>
    <p:sldId id="589" r:id="rId45"/>
    <p:sldId id="564" r:id="rId46"/>
    <p:sldId id="583" r:id="rId47"/>
    <p:sldId id="565" r:id="rId48"/>
    <p:sldId id="587" r:id="rId49"/>
    <p:sldId id="566" r:id="rId50"/>
    <p:sldId id="567" r:id="rId51"/>
    <p:sldId id="590" r:id="rId52"/>
    <p:sldId id="568" r:id="rId53"/>
    <p:sldId id="569" r:id="rId54"/>
    <p:sldId id="570" r:id="rId55"/>
    <p:sldId id="571" r:id="rId56"/>
    <p:sldId id="572" r:id="rId57"/>
    <p:sldId id="573" r:id="rId58"/>
    <p:sldId id="591" r:id="rId59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66375F2-88DD-437C-BAA4-1209B5C42EEB}">
          <p14:sldIdLst>
            <p14:sldId id="256"/>
            <p14:sldId id="441"/>
            <p14:sldId id="606"/>
            <p14:sldId id="575"/>
            <p14:sldId id="471"/>
            <p14:sldId id="538"/>
            <p14:sldId id="518"/>
            <p14:sldId id="539"/>
            <p14:sldId id="540"/>
            <p14:sldId id="541"/>
            <p14:sldId id="542"/>
            <p14:sldId id="543"/>
            <p14:sldId id="544"/>
            <p14:sldId id="545"/>
            <p14:sldId id="547"/>
            <p14:sldId id="576"/>
            <p14:sldId id="549"/>
            <p14:sldId id="550"/>
            <p14:sldId id="579"/>
            <p14:sldId id="593"/>
            <p14:sldId id="577"/>
            <p14:sldId id="594"/>
            <p14:sldId id="595"/>
            <p14:sldId id="596"/>
            <p14:sldId id="597"/>
            <p14:sldId id="598"/>
            <p14:sldId id="601"/>
            <p14:sldId id="603"/>
            <p14:sldId id="552"/>
            <p14:sldId id="553"/>
            <p14:sldId id="554"/>
            <p14:sldId id="588"/>
            <p14:sldId id="555"/>
            <p14:sldId id="556"/>
            <p14:sldId id="557"/>
            <p14:sldId id="558"/>
            <p14:sldId id="559"/>
            <p14:sldId id="604"/>
            <p14:sldId id="582"/>
            <p14:sldId id="561"/>
            <p14:sldId id="560"/>
            <p14:sldId id="605"/>
            <p14:sldId id="563"/>
            <p14:sldId id="589"/>
            <p14:sldId id="564"/>
            <p14:sldId id="583"/>
            <p14:sldId id="565"/>
            <p14:sldId id="587"/>
            <p14:sldId id="566"/>
            <p14:sldId id="567"/>
            <p14:sldId id="590"/>
            <p14:sldId id="568"/>
            <p14:sldId id="569"/>
            <p14:sldId id="570"/>
            <p14:sldId id="571"/>
            <p14:sldId id="572"/>
            <p14:sldId id="573"/>
            <p14:sldId id="591"/>
          </p14:sldIdLst>
        </p14:section>
        <p14:section name="제목 없는 구역" id="{50618249-BD4B-4608-80C6-F69DDB80ECB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재문" initials="이" lastIdx="1" clrIdx="0">
    <p:extLst>
      <p:ext uri="{19B8F6BF-5375-455C-9EA6-DF929625EA0E}">
        <p15:presenceInfo xmlns:p15="http://schemas.microsoft.com/office/powerpoint/2012/main" userId="S::jmlee@hansung.edu::60dd5729-9113-4c1b-96fb-fbf1f72f30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65D"/>
    <a:srgbClr val="FFFF66"/>
    <a:srgbClr val="C9E7A7"/>
    <a:srgbClr val="669900"/>
    <a:srgbClr val="FF5B5B"/>
    <a:srgbClr val="8BB0CF"/>
    <a:srgbClr val="7AA5C8"/>
    <a:srgbClr val="42739C"/>
    <a:srgbClr val="FF3300"/>
    <a:srgbClr val="8FF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5986" autoAdjust="0"/>
  </p:normalViewPr>
  <p:slideViewPr>
    <p:cSldViewPr>
      <p:cViewPr varScale="1">
        <p:scale>
          <a:sx n="114" d="100"/>
          <a:sy n="114" d="100"/>
        </p:scale>
        <p:origin x="929" y="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2040" y="-78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9897E-559B-4802-87FD-BDDBC21CBABC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AADCE-4523-43FE-B0A8-90B87F2F6B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413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012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HY나무L" pitchFamily="18" charset="-127"/>
                <a:ea typeface="HY나무L" pitchFamily="18" charset="-127"/>
              </a:defRPr>
            </a:lvl3pPr>
            <a:lvl4pPr>
              <a:defRPr sz="1400">
                <a:latin typeface="휴먼편지체" pitchFamily="18" charset="-127"/>
                <a:ea typeface="휴먼편지체" pitchFamily="18" charset="-127"/>
              </a:defRPr>
            </a:lvl4pPr>
          </a:lstStyle>
          <a:p>
            <a:pPr lvl="0" eaLnBrk="1" latinLnBrk="0" hangingPunct="1"/>
            <a:r>
              <a:rPr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lang="ko-KR" altLang="en-US" dirty="0"/>
              <a:t>둘째 수준</a:t>
            </a:r>
          </a:p>
          <a:p>
            <a:pPr lvl="2" eaLnBrk="1" latinLnBrk="0" hangingPunct="1"/>
            <a:r>
              <a:rPr lang="ko-KR" altLang="en-US" dirty="0"/>
              <a:t>셋째 수준</a:t>
            </a:r>
          </a:p>
          <a:p>
            <a:pPr lvl="3" eaLnBrk="1" latinLnBrk="0" hangingPunct="1"/>
            <a:r>
              <a:rPr lang="ko-KR" altLang="en-US" dirty="0"/>
              <a:t>넷째 수준</a:t>
            </a:r>
          </a:p>
          <a:p>
            <a:pPr lvl="4" eaLnBrk="1" latinLnBrk="0" hangingPunct="1"/>
            <a:r>
              <a:rPr lang="ko-KR" altLang="en-US" dirty="0"/>
              <a:t>다섯째 수준</a:t>
            </a:r>
            <a:endParaRPr kumimoji="0" 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>
            <a:normAutofit/>
          </a:bodyPr>
          <a:lstStyle>
            <a:lvl1pPr marL="342900" indent="-342900">
              <a:buSzPct val="100000"/>
              <a:buFont typeface="+mj-lt"/>
              <a:buAutoNum type="arabicPeriod"/>
              <a:defRPr sz="15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편집합니다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ko-KR" altLang="en-US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  <a:prstGeom prst="rect">
            <a:avLst/>
          </a:prstGeom>
        </p:spPr>
        <p:txBody>
          <a:bodyPr rtlCol="0"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편집합니다</a:t>
            </a:r>
          </a:p>
          <a:p>
            <a:pPr lvl="1" eaLnBrk="1" latinLnBrk="0" hangingPunct="1"/>
            <a:r>
              <a:rPr lang="ko-KR" altLang="en-US"/>
              <a:t>둘째 수준</a:t>
            </a:r>
          </a:p>
          <a:p>
            <a:pPr lvl="2" eaLnBrk="1" latinLnBrk="0" hangingPunct="1"/>
            <a:r>
              <a:rPr lang="ko-KR" altLang="en-US"/>
              <a:t>셋째 수준</a:t>
            </a:r>
          </a:p>
          <a:p>
            <a:pPr lvl="3" eaLnBrk="1" latinLnBrk="0" hangingPunct="1"/>
            <a:r>
              <a:rPr lang="ko-KR" altLang="en-US"/>
              <a:t>넷째 수준</a:t>
            </a:r>
          </a:p>
          <a:p>
            <a:pPr lvl="4" eaLnBrk="1" latinLnBrk="0" hangingPunct="1"/>
            <a:r>
              <a:rPr lang="ko-KR" altLang="en-US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명품 웹 프로그래밍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직사각형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 algn="r">
              <a:defRPr cap="all" baseline="0"/>
            </a:lvl1pPr>
          </a:lstStyle>
          <a:p>
            <a:endParaRPr kumimoji="0" lang="en-US" dirty="0"/>
          </a:p>
        </p:txBody>
      </p:sp>
      <p:sp>
        <p:nvSpPr>
          <p:cNvPr id="9" name="부제목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endParaRPr kumimoji="0" lang="en-US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  <a:prstGeom prst="rect">
            <a:avLst/>
          </a:prstGeom>
        </p:spPr>
        <p:txBody>
          <a:bodyPr/>
          <a:lstStyle>
            <a:lvl1pPr algn="r">
              <a:defRPr b="1">
                <a:solidFill>
                  <a:srgbClr val="FFC000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83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752128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 dirty="0"/>
              <a:t>마스터 제목 스타일 편집</a:t>
            </a:r>
            <a:endParaRPr kumimoji="0" 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590550" y="1394460"/>
            <a:ext cx="8153400" cy="505887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-8725" y="1052736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590550" y="1052736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슬라이드 번호 개체 틀 22"/>
          <p:cNvSpPr>
            <a:spLocks noGrp="1"/>
          </p:cNvSpPr>
          <p:nvPr>
            <p:ph type="sldNum" sz="quarter" idx="4"/>
          </p:nvPr>
        </p:nvSpPr>
        <p:spPr>
          <a:xfrm>
            <a:off x="-8725" y="1036860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1870596-DAFA-46D2-82A7-2B6B5F8E0EA4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hdr="0" dt="0"/>
  <p:txStyles>
    <p:titleStyle>
      <a:lvl1pPr algn="l" rtl="0" eaLnBrk="1" latinLnBrk="1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ko-KR" altLang="en-US"/>
              <a:t>장</a:t>
            </a:r>
            <a:r>
              <a:rPr lang="en-US" altLang="ko-KR"/>
              <a:t> </a:t>
            </a:r>
            <a:r>
              <a:rPr lang="ko-KR" altLang="en-US" dirty="0" err="1"/>
              <a:t>라즈베리파이</a:t>
            </a:r>
            <a:r>
              <a:rPr lang="ko-KR" altLang="en-US" dirty="0"/>
              <a:t> 카메라 활용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7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96"/>
    </mc:Choice>
    <mc:Fallback xmlns="">
      <p:transition spd="slow" advTm="1029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2197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 err="1"/>
              <a:t>라즈베리파이에서</a:t>
            </a:r>
            <a:r>
              <a:rPr lang="ko-KR" altLang="en-US" dirty="0"/>
              <a:t> 카메라를 활용할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2. VNC</a:t>
            </a:r>
            <a:r>
              <a:rPr lang="ko-KR" altLang="en-US" dirty="0"/>
              <a:t>를 활용하여 </a:t>
            </a:r>
            <a:r>
              <a:rPr lang="ko-KR" altLang="en-US" dirty="0" err="1"/>
              <a:t>라즈베리파이로</a:t>
            </a:r>
            <a:r>
              <a:rPr lang="ko-KR" altLang="en-US" dirty="0"/>
              <a:t> 원격 접속을 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en-US" altLang="ko-KR" dirty="0" err="1"/>
              <a:t>fswebcam</a:t>
            </a:r>
            <a:r>
              <a:rPr lang="en-US" altLang="ko-KR" dirty="0"/>
              <a:t> </a:t>
            </a:r>
            <a:r>
              <a:rPr lang="ko-KR" altLang="en-US" dirty="0"/>
              <a:t>명령을 사용하여 </a:t>
            </a:r>
            <a:r>
              <a:rPr lang="en-US" altLang="ko-KR" dirty="0"/>
              <a:t>USB </a:t>
            </a:r>
            <a:r>
              <a:rPr lang="ko-KR" altLang="en-US" dirty="0"/>
              <a:t>카메라를 제어할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4. OpenCV</a:t>
            </a:r>
            <a:r>
              <a:rPr lang="ko-KR" altLang="en-US" dirty="0"/>
              <a:t>를 이용하여 카메라를 제어 프로그램을 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객체의 버퍼 동작에 대하여 이해하고 활용할 수 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en-US" altLang="ko-KR" dirty="0" err="1"/>
              <a:t>Haar</a:t>
            </a:r>
            <a:r>
              <a:rPr lang="en-US" altLang="ko-KR" dirty="0"/>
              <a:t> Cascades</a:t>
            </a:r>
            <a:r>
              <a:rPr lang="ko-KR" altLang="en-US" dirty="0"/>
              <a:t>를 이용하여 얼굴 인식 프로그램을 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강의 목표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81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B5E8A677-21D6-43AF-99AC-30CFE20C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들어가기 전에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B1BA24-DCC1-447A-8839-9A507DD01F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USB </a:t>
            </a:r>
            <a:r>
              <a:rPr lang="ko-KR" altLang="en-US" dirty="0"/>
              <a:t>카메라 사용시 주의</a:t>
            </a:r>
            <a:endParaRPr lang="en-US" altLang="ko-KR" dirty="0"/>
          </a:p>
          <a:p>
            <a:pPr lvl="1"/>
            <a:r>
              <a:rPr lang="en-US" altLang="ko-KR"/>
              <a:t>USB </a:t>
            </a:r>
            <a:r>
              <a:rPr lang="ko-KR" altLang="en-US"/>
              <a:t>카메라 탈부착시 조심하여 다루어야 </a:t>
            </a:r>
            <a:r>
              <a:rPr lang="ko-KR" altLang="en-US" dirty="0"/>
              <a:t>함</a:t>
            </a:r>
            <a:endParaRPr lang="en-US" altLang="ko-KR" dirty="0"/>
          </a:p>
          <a:p>
            <a:r>
              <a:rPr lang="ko-KR" altLang="en-US"/>
              <a:t>오픈소스 </a:t>
            </a:r>
            <a:r>
              <a:rPr lang="ko-KR" altLang="en-US" dirty="0"/>
              <a:t>사용시 주의</a:t>
            </a:r>
            <a:endParaRPr lang="en-US" altLang="ko-KR" dirty="0"/>
          </a:p>
          <a:p>
            <a:pPr lvl="1"/>
            <a:r>
              <a:rPr lang="en-US" altLang="ko-KR"/>
              <a:t>OpenCV </a:t>
            </a:r>
            <a:r>
              <a:rPr lang="ko-KR" altLang="en-US"/>
              <a:t>등 오픈 소스 설치 사용시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ko-KR" altLang="en-US" dirty="0"/>
              <a:t>버전 불일치 </a:t>
            </a:r>
            <a:r>
              <a:rPr lang="ko-KR" altLang="en-US"/>
              <a:t>문제가 있을 수 있기 때문에 올바른 </a:t>
            </a:r>
            <a:r>
              <a:rPr lang="ko-KR" altLang="en-US" dirty="0"/>
              <a:t>버전을 찾아 설치하여야 함</a:t>
            </a:r>
            <a:endParaRPr lang="en-US" altLang="ko-KR" dirty="0"/>
          </a:p>
          <a:p>
            <a:r>
              <a:rPr lang="ko-KR" altLang="en-US"/>
              <a:t>예제와 실습은 </a:t>
            </a:r>
            <a:r>
              <a:rPr lang="en-US" altLang="ko-KR"/>
              <a:t>myenv </a:t>
            </a:r>
            <a:r>
              <a:rPr lang="ko-KR" altLang="en-US"/>
              <a:t>가상 환경에서 실행</a:t>
            </a:r>
            <a:endParaRPr lang="en-US" altLang="ko-KR"/>
          </a:p>
          <a:p>
            <a:pPr lvl="1"/>
            <a:r>
              <a:rPr lang="ko-KR" altLang="en-US"/>
              <a:t>파이썬 코드 실행 전</a:t>
            </a:r>
            <a:r>
              <a:rPr lang="en-US" altLang="ko-KR"/>
              <a:t> </a:t>
            </a:r>
            <a:r>
              <a:rPr lang="ko-KR" altLang="en-US"/>
              <a:t>반드시 가상 환경 활성화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 dirty="0"/>
          </a:p>
          <a:p>
            <a:r>
              <a:rPr lang="ko-KR" altLang="en-US" dirty="0"/>
              <a:t>예제 </a:t>
            </a:r>
            <a:r>
              <a:rPr lang="ko-KR" altLang="en-US" dirty="0" err="1"/>
              <a:t>파이썬</a:t>
            </a:r>
            <a:r>
              <a:rPr lang="ko-KR" altLang="en-US" dirty="0"/>
              <a:t> 코드는 </a:t>
            </a:r>
            <a:r>
              <a:rPr lang="en-US" altLang="ko-KR" dirty="0"/>
              <a:t>ch04 </a:t>
            </a:r>
            <a:r>
              <a:rPr lang="ko-KR" altLang="en-US" dirty="0"/>
              <a:t>디렉터리에 저장하고 실행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7134A7-1647-4558-B85E-D57EF885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D54256-F654-4A32-A5D1-0BB5771D1345}"/>
              </a:ext>
            </a:extLst>
          </p:cNvPr>
          <p:cNvSpPr/>
          <p:nvPr/>
        </p:nvSpPr>
        <p:spPr>
          <a:xfrm>
            <a:off x="1331640" y="5445224"/>
            <a:ext cx="4572000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pt-BR" altLang="ko-KR" sz="1400" b="1" dirty="0">
                <a:latin typeface="+mn-ea"/>
              </a:rPr>
              <a:t>(myenv) pi@pi:~ $ mkdir ch0</a:t>
            </a:r>
            <a:r>
              <a:rPr lang="en-US" altLang="ko-KR" sz="1400" b="1" dirty="0">
                <a:latin typeface="+mn-ea"/>
              </a:rPr>
              <a:t>4</a:t>
            </a:r>
            <a:endParaRPr lang="pt-BR" altLang="ko-KR" sz="1400" b="1" dirty="0">
              <a:latin typeface="+mn-ea"/>
            </a:endParaRPr>
          </a:p>
          <a:p>
            <a:r>
              <a:rPr lang="nb-NO" altLang="ko-KR" sz="1400" b="1" dirty="0">
                <a:latin typeface="+mn-ea"/>
              </a:rPr>
              <a:t>(myenv) pi@pi:~ $ cd ch0</a:t>
            </a:r>
            <a:r>
              <a:rPr lang="en-US" altLang="ko-KR" sz="1400" b="1" dirty="0">
                <a:latin typeface="+mn-ea"/>
              </a:rPr>
              <a:t>4</a:t>
            </a:r>
            <a:endParaRPr lang="nb-NO" altLang="ko-KR" sz="1400" b="1" dirty="0">
              <a:latin typeface="+mn-ea"/>
            </a:endParaRPr>
          </a:p>
          <a:p>
            <a:r>
              <a:rPr lang="en-US" altLang="ko-KR" sz="1400" b="1" dirty="0">
                <a:latin typeface="+mn-ea"/>
              </a:rPr>
              <a:t>(</a:t>
            </a:r>
            <a:r>
              <a:rPr lang="en-US" altLang="ko-KR" sz="1400" b="1" dirty="0" err="1">
                <a:latin typeface="+mn-ea"/>
              </a:rPr>
              <a:t>myenv</a:t>
            </a:r>
            <a:r>
              <a:rPr lang="en-US" altLang="ko-KR" sz="1400" b="1" dirty="0">
                <a:latin typeface="+mn-ea"/>
              </a:rPr>
              <a:t>) </a:t>
            </a:r>
            <a:r>
              <a:rPr lang="en-US" altLang="ko-KR" sz="1400" b="1" dirty="0" err="1">
                <a:latin typeface="+mn-ea"/>
              </a:rPr>
              <a:t>pi@pi</a:t>
            </a:r>
            <a:r>
              <a:rPr lang="en-US" altLang="ko-KR" sz="1400" b="1" dirty="0">
                <a:latin typeface="+mn-ea"/>
              </a:rPr>
              <a:t>:~/ch04 $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84B7E2-5107-446E-B2CF-810C5C07D38E}"/>
              </a:ext>
            </a:extLst>
          </p:cNvPr>
          <p:cNvSpPr/>
          <p:nvPr/>
        </p:nvSpPr>
        <p:spPr>
          <a:xfrm>
            <a:off x="1331640" y="4212377"/>
            <a:ext cx="4572000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r>
              <a:rPr lang="en-US" altLang="ko-KR" sz="1600" b="1">
                <a:latin typeface="+mn-ea"/>
              </a:rPr>
              <a:t>pi@pi:~ $ source myenv/bin/activate</a:t>
            </a:r>
          </a:p>
          <a:p>
            <a:r>
              <a:rPr lang="en-US" altLang="ko-KR" sz="1600" b="1">
                <a:latin typeface="+mn-ea"/>
              </a:rPr>
              <a:t>(myenv) pi@pi:~ $</a:t>
            </a:r>
            <a:endParaRPr lang="ko-KR" altLang="en-US" sz="1600" b="1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608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3833F37-AEDD-403E-AFC9-922CC3842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8D54F6-BB52-4076-8E3E-F27F9C6B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4.1 </a:t>
            </a:r>
            <a:r>
              <a:rPr lang="ko-KR" altLang="en-US"/>
              <a:t>카메라 </a:t>
            </a:r>
            <a:r>
              <a:rPr lang="ko-KR" altLang="en-US" dirty="0"/>
              <a:t>소개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9CEF7-EEF5-4991-8FBB-4FBA14ED6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17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86655D2-A782-45EF-A6B6-B4F01CA16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4103984"/>
            <a:ext cx="3932180" cy="25074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42E8C53-F848-8C45-9181-A7741D20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/>
              <a:t>파이 카메라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157035-8856-2448-BEDA-BE0D0F50200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ko-KR" altLang="en-US" err="1"/>
              <a:t>라즈베리파이용</a:t>
            </a:r>
            <a:r>
              <a:rPr kumimoji="1" lang="ko-KR" altLang="en-US"/>
              <a:t> 카메라 </a:t>
            </a:r>
            <a:r>
              <a:rPr kumimoji="1" lang="en-US" altLang="ko-KR"/>
              <a:t>2</a:t>
            </a:r>
            <a:r>
              <a:rPr kumimoji="1" lang="ko-KR" altLang="en-US"/>
              <a:t>종류</a:t>
            </a:r>
            <a:endParaRPr kumimoji="1" lang="en-US" altLang="ko-KR" dirty="0"/>
          </a:p>
          <a:p>
            <a:pPr lvl="1"/>
            <a:r>
              <a:rPr kumimoji="1" lang="ko-KR" altLang="en-US"/>
              <a:t>파이카메라</a:t>
            </a:r>
            <a:endParaRPr kumimoji="1" lang="en-US" altLang="ko-KR"/>
          </a:p>
          <a:p>
            <a:pPr lvl="1"/>
            <a:r>
              <a:rPr kumimoji="1" lang="en-US" altLang="ko-KR"/>
              <a:t>USB </a:t>
            </a:r>
            <a:r>
              <a:rPr kumimoji="1" lang="ko-KR" altLang="en-US"/>
              <a:t>카메라</a:t>
            </a:r>
            <a:endParaRPr kumimoji="1" lang="en-US" altLang="ko-KR" dirty="0"/>
          </a:p>
          <a:p>
            <a:r>
              <a:rPr kumimoji="1" lang="ko-KR" altLang="en-US"/>
              <a:t>파이 </a:t>
            </a:r>
            <a:r>
              <a:rPr kumimoji="1" lang="ko-KR" altLang="en-US" dirty="0"/>
              <a:t>카메라</a:t>
            </a:r>
            <a:endParaRPr kumimoji="1" lang="en-US" altLang="ko-KR" dirty="0"/>
          </a:p>
          <a:p>
            <a:pPr lvl="1" fontAlgn="base"/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CSI </a:t>
            </a:r>
            <a:r>
              <a:rPr lang="ko-KR" altLang="en-US" dirty="0"/>
              <a:t>소켓에 연결되는 </a:t>
            </a:r>
            <a:r>
              <a:rPr lang="ko-KR" altLang="en-US"/>
              <a:t>전용 카메라</a:t>
            </a:r>
            <a:endParaRPr lang="en-US" altLang="ko-KR"/>
          </a:p>
          <a:p>
            <a:pPr lvl="1" fontAlgn="base"/>
            <a:r>
              <a:rPr lang="ko-KR" altLang="en-US"/>
              <a:t>크기는 </a:t>
            </a:r>
            <a:r>
              <a:rPr lang="en-US" altLang="ko-KR"/>
              <a:t>20mm×25mm×9mm</a:t>
            </a:r>
            <a:r>
              <a:rPr lang="ko-KR" altLang="en-US"/>
              <a:t>으로 매우 소형</a:t>
            </a:r>
          </a:p>
          <a:p>
            <a:pPr lvl="1" fontAlgn="base"/>
            <a:r>
              <a:rPr lang="ko-KR" altLang="en-US"/>
              <a:t>제품에 </a:t>
            </a:r>
            <a:r>
              <a:rPr lang="ko-KR" altLang="en-US" dirty="0"/>
              <a:t>따라 다르지만</a:t>
            </a:r>
            <a:r>
              <a:rPr lang="en-US" altLang="ko-KR" dirty="0"/>
              <a:t>, </a:t>
            </a:r>
            <a:r>
              <a:rPr lang="ko-KR" altLang="en-US" dirty="0"/>
              <a:t>최고 </a:t>
            </a:r>
            <a:r>
              <a:rPr lang="en-US" altLang="ko-KR" dirty="0"/>
              <a:t>1080p </a:t>
            </a:r>
            <a:r>
              <a:rPr lang="ko-KR" altLang="en-US" dirty="0"/>
              <a:t>해상도</a:t>
            </a:r>
            <a:r>
              <a:rPr lang="en-US" altLang="ko-KR" dirty="0"/>
              <a:t>(1920 x 1080)</a:t>
            </a:r>
            <a:r>
              <a:rPr lang="ko-KR" altLang="en-US" dirty="0"/>
              <a:t>의 동영상과 사진 촬영</a:t>
            </a:r>
          </a:p>
          <a:p>
            <a:pPr lvl="1" fontAlgn="base"/>
            <a:r>
              <a:rPr lang="ko-KR" altLang="en-US" dirty="0"/>
              <a:t>모든 기종의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사용 가능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3D9C2-B7FA-0E46-9B19-4D12D842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677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7A35BB-DC1B-48D3-8900-E2AF7FF30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USB</a:t>
            </a:r>
            <a:r>
              <a:rPr lang="ko-KR" altLang="en-US" dirty="0"/>
              <a:t> 카메라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0A9A2E-523E-41C0-9908-888D58F5AF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USB</a:t>
            </a:r>
            <a:r>
              <a:rPr lang="ko-KR" altLang="en-US" dirty="0"/>
              <a:t> 카메라</a:t>
            </a:r>
            <a:endParaRPr lang="en-US" altLang="ko-KR" dirty="0"/>
          </a:p>
          <a:p>
            <a:pPr lvl="1" fontAlgn="base"/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USB </a:t>
            </a:r>
            <a:r>
              <a:rPr lang="ko-KR" altLang="en-US" dirty="0"/>
              <a:t>포트에 연결하여 사용</a:t>
            </a:r>
          </a:p>
          <a:p>
            <a:pPr lvl="1" fontAlgn="base"/>
            <a:r>
              <a:rPr lang="en-US" altLang="ko-KR" dirty="0"/>
              <a:t>SD(720x480), HD(1,280x720), FHD(1,920x1,080), 4K(3,840x2,160) </a:t>
            </a:r>
            <a:r>
              <a:rPr lang="ko-KR" altLang="en-US" dirty="0"/>
              <a:t>등 다양한 해상도 지원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78953A-CD8C-4BDA-A450-A8360A92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D5F298C-579C-4126-B89E-E5C8B15D6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924944"/>
            <a:ext cx="3958580" cy="337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82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/>
              <a:t>4.2 VNC</a:t>
            </a:r>
            <a:r>
              <a:rPr lang="ko-KR" altLang="en-US" dirty="0"/>
              <a:t>를 활용한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원격 접속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04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9D7C0B-BB2E-4EA0-9C15-D0E9C34A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75FD6-D158-445A-93D2-1174964B5A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ko-KR" altLang="en-US" dirty="0"/>
              <a:t> 원격 </a:t>
            </a:r>
            <a:r>
              <a:rPr lang="ko-KR" altLang="en-US"/>
              <a:t>접속 방법들</a:t>
            </a:r>
            <a:endParaRPr lang="en-US" altLang="ko-KR" dirty="0"/>
          </a:p>
          <a:p>
            <a:pPr lvl="1" fontAlgn="base"/>
            <a:r>
              <a:rPr lang="en-US" altLang="ko-KR" dirty="0"/>
              <a:t>putty</a:t>
            </a:r>
            <a:r>
              <a:rPr lang="ko-KR" altLang="en-US" dirty="0"/>
              <a:t>를 이용한 원격 접속</a:t>
            </a:r>
          </a:p>
          <a:p>
            <a:pPr lvl="1" fontAlgn="base"/>
            <a:r>
              <a:rPr lang="en-US" altLang="ko-KR"/>
              <a:t>GUI </a:t>
            </a:r>
            <a:r>
              <a:rPr lang="ko-KR" altLang="en-US"/>
              <a:t>방식</a:t>
            </a:r>
            <a:endParaRPr lang="en-US" altLang="ko-KR"/>
          </a:p>
          <a:p>
            <a:pPr lvl="2" fontAlgn="base"/>
            <a:r>
              <a:rPr lang="en-US" altLang="ko-KR"/>
              <a:t>VNC </a:t>
            </a:r>
            <a:r>
              <a:rPr lang="ko-KR" altLang="en-US" dirty="0"/>
              <a:t>기술을 활용한 원격 접속</a:t>
            </a:r>
          </a:p>
          <a:p>
            <a:pPr lvl="2" fontAlgn="base"/>
            <a:r>
              <a:rPr lang="ko-KR" altLang="en-US" dirty="0"/>
              <a:t>원격 데스크톱 기술을 활용한 </a:t>
            </a:r>
            <a:r>
              <a:rPr lang="ko-KR" altLang="en-US"/>
              <a:t>원격 접속</a:t>
            </a:r>
            <a:endParaRPr lang="en-US" altLang="ko-KR"/>
          </a:p>
          <a:p>
            <a:r>
              <a:rPr lang="en-US" altLang="ko-KR"/>
              <a:t>VNC</a:t>
            </a:r>
            <a:r>
              <a:rPr lang="ko-KR" altLang="en-US"/>
              <a:t>란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Virtual Network Computing, </a:t>
            </a:r>
            <a:r>
              <a:rPr lang="ko-KR" altLang="en-US" dirty="0"/>
              <a:t>가상 </a:t>
            </a:r>
            <a:r>
              <a:rPr lang="ko-KR" altLang="en-US"/>
              <a:t>네트워크 컴퓨팅</a:t>
            </a:r>
            <a:endParaRPr lang="en-US" altLang="ko-KR"/>
          </a:p>
          <a:p>
            <a:pPr lvl="1"/>
            <a:r>
              <a:rPr lang="ko-KR" altLang="en-US"/>
              <a:t>어떤 </a:t>
            </a:r>
            <a:r>
              <a:rPr lang="ko-KR" altLang="en-US" dirty="0"/>
              <a:t>컴퓨터를 원격에서 접속하여 그 컴퓨터와 동일한 </a:t>
            </a:r>
            <a:r>
              <a:rPr lang="en-US" altLang="ko-KR" dirty="0"/>
              <a:t>GUI </a:t>
            </a:r>
            <a:r>
              <a:rPr lang="ko-KR" altLang="en-US" dirty="0"/>
              <a:t>화면을 보면서 원격에서 마우스와 키보드를 그대로 사용할 수 있는 기술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61B26-1CC6-435D-B56A-01A5C6BF7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5313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8E98CF4A-1DB3-419C-8755-27F2E6438D87}"/>
              </a:ext>
            </a:extLst>
          </p:cNvPr>
          <p:cNvSpPr/>
          <p:nvPr/>
        </p:nvSpPr>
        <p:spPr>
          <a:xfrm>
            <a:off x="5982423" y="4839088"/>
            <a:ext cx="1944216" cy="9970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 descr="스크린샷, 멀티미디어 소프트웨어, 산, 경치이(가) 표시된 사진&#10;&#10;자동 생성된 설명">
            <a:extLst>
              <a:ext uri="{FF2B5EF4-FFF2-40B4-BE49-F238E27FC236}">
                <a16:creationId xmlns:a16="http://schemas.microsoft.com/office/drawing/2014/main" id="{3E336C57-6695-4700-F7A8-DD252D935B46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673" y="4873051"/>
            <a:ext cx="1882800" cy="9468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077D1C1-1798-46D0-BFBB-0B995D69CB3D}"/>
              </a:ext>
            </a:extLst>
          </p:cNvPr>
          <p:cNvSpPr/>
          <p:nvPr/>
        </p:nvSpPr>
        <p:spPr>
          <a:xfrm>
            <a:off x="5907322" y="2431921"/>
            <a:ext cx="1944216" cy="99707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3" name="그림 32" descr="스크린샷, 멀티미디어 소프트웨어, 산, 경치이(가) 표시된 사진&#10;&#10;자동 생성된 설명">
            <a:extLst>
              <a:ext uri="{FF2B5EF4-FFF2-40B4-BE49-F238E27FC236}">
                <a16:creationId xmlns:a16="http://schemas.microsoft.com/office/drawing/2014/main" id="{AFEC6838-84ED-7409-A7CB-CD326B51152F}"/>
              </a:ext>
            </a:extLst>
          </p:cNvPr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2482200"/>
            <a:ext cx="1882800" cy="9468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703E6BEF-6FC1-4984-B66D-AD167D12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VNC </a:t>
            </a:r>
            <a:r>
              <a:rPr lang="ko-KR" altLang="en-US" dirty="0"/>
              <a:t>구조 및 동작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328D12-CBFD-4A1F-8658-077428B027F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VNC </a:t>
            </a:r>
            <a:r>
              <a:rPr lang="ko-KR" altLang="en-US" dirty="0"/>
              <a:t>동작</a:t>
            </a:r>
            <a:endParaRPr lang="en-US" altLang="ko-KR" dirty="0"/>
          </a:p>
          <a:p>
            <a:pPr lvl="1"/>
            <a:r>
              <a:rPr lang="en-US" altLang="ko-KR" dirty="0"/>
              <a:t>VNC </a:t>
            </a:r>
            <a:r>
              <a:rPr lang="ko-KR" altLang="en-US" dirty="0"/>
              <a:t>서버와 </a:t>
            </a:r>
            <a:r>
              <a:rPr lang="en-US" altLang="ko-KR" dirty="0"/>
              <a:t>Viewer</a:t>
            </a:r>
            <a:r>
              <a:rPr lang="ko-KR" altLang="en-US" dirty="0"/>
              <a:t>로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456F94-42A8-4853-AF79-F4996CCB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D93601-A968-464C-811E-46BD9041081D}"/>
              </a:ext>
            </a:extLst>
          </p:cNvPr>
          <p:cNvSpPr/>
          <p:nvPr/>
        </p:nvSpPr>
        <p:spPr>
          <a:xfrm>
            <a:off x="1101596" y="3216612"/>
            <a:ext cx="2376264" cy="119307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B9CAE8-A2DF-4D0A-B1B7-ACC61BD35AAA}"/>
              </a:ext>
            </a:extLst>
          </p:cNvPr>
          <p:cNvSpPr/>
          <p:nvPr/>
        </p:nvSpPr>
        <p:spPr>
          <a:xfrm>
            <a:off x="5776160" y="4560765"/>
            <a:ext cx="2304256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F6C0AE-95E8-4776-A633-83100618BBBE}"/>
              </a:ext>
            </a:extLst>
          </p:cNvPr>
          <p:cNvSpPr txBox="1"/>
          <p:nvPr/>
        </p:nvSpPr>
        <p:spPr>
          <a:xfrm>
            <a:off x="4431659" y="291075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/>
              <a:t>라즈베리파이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C50EBE-97D8-426E-B782-70DE2AA08F99}"/>
              </a:ext>
            </a:extLst>
          </p:cNvPr>
          <p:cNvSpPr/>
          <p:nvPr/>
        </p:nvSpPr>
        <p:spPr>
          <a:xfrm>
            <a:off x="4628827" y="3216612"/>
            <a:ext cx="1918264" cy="105416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0C0564-8F3C-4099-90FE-384F0A2E42CB}"/>
              </a:ext>
            </a:extLst>
          </p:cNvPr>
          <p:cNvSpPr txBox="1"/>
          <p:nvPr/>
        </p:nvSpPr>
        <p:spPr>
          <a:xfrm>
            <a:off x="7879880" y="6035875"/>
            <a:ext cx="6511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PC/</a:t>
            </a:r>
            <a:r>
              <a:rPr lang="ko-KR" altLang="en-US" sz="1400" dirty="0"/>
              <a:t>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5F1B68-88D7-432B-A27A-748570F7A91B}"/>
              </a:ext>
            </a:extLst>
          </p:cNvPr>
          <p:cNvSpPr txBox="1"/>
          <p:nvPr/>
        </p:nvSpPr>
        <p:spPr>
          <a:xfrm>
            <a:off x="1838322" y="436727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스마트폰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775E3-00E3-4A8F-8C63-9BE53D144D77}"/>
              </a:ext>
            </a:extLst>
          </p:cNvPr>
          <p:cNvSpPr txBox="1"/>
          <p:nvPr/>
        </p:nvSpPr>
        <p:spPr>
          <a:xfrm>
            <a:off x="6333619" y="4544075"/>
            <a:ext cx="12755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VNC  Viewer</a:t>
            </a:r>
            <a:endParaRPr lang="ko-KR" altLang="en-US" sz="14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DB4AA9-4940-4C24-A382-D957E6FE0756}"/>
              </a:ext>
            </a:extLst>
          </p:cNvPr>
          <p:cNvSpPr txBox="1"/>
          <p:nvPr/>
        </p:nvSpPr>
        <p:spPr>
          <a:xfrm>
            <a:off x="1821458" y="3219435"/>
            <a:ext cx="1214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/>
              <a:t>VNC Viewer</a:t>
            </a:r>
            <a:endParaRPr lang="ko-KR" altLang="en-US" sz="1400" b="1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325A21-97B8-4024-9052-2EEEED729BDF}"/>
              </a:ext>
            </a:extLst>
          </p:cNvPr>
          <p:cNvSpPr/>
          <p:nvPr/>
        </p:nvSpPr>
        <p:spPr>
          <a:xfrm>
            <a:off x="5555585" y="3517654"/>
            <a:ext cx="703474" cy="545363"/>
          </a:xfrm>
          <a:prstGeom prst="rect">
            <a:avLst/>
          </a:prstGeom>
          <a:solidFill>
            <a:schemeClr val="bg1">
              <a:lumMod val="85000"/>
            </a:schemeClr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F962BA-8C5F-4DB6-A1F7-49AED8366150}"/>
              </a:ext>
            </a:extLst>
          </p:cNvPr>
          <p:cNvSpPr/>
          <p:nvPr/>
        </p:nvSpPr>
        <p:spPr>
          <a:xfrm>
            <a:off x="1620279" y="3479193"/>
            <a:ext cx="1512168" cy="8171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D9468B-27F7-4B3A-8C5B-811008BDB6D2}"/>
              </a:ext>
            </a:extLst>
          </p:cNvPr>
          <p:cNvSpPr/>
          <p:nvPr/>
        </p:nvSpPr>
        <p:spPr>
          <a:xfrm>
            <a:off x="4798614" y="3671708"/>
            <a:ext cx="612067" cy="396221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F8CF7C-69C2-4E56-8255-DB5770E2A58F}"/>
              </a:ext>
            </a:extLst>
          </p:cNvPr>
          <p:cNvSpPr/>
          <p:nvPr/>
        </p:nvSpPr>
        <p:spPr>
          <a:xfrm>
            <a:off x="4750923" y="3227973"/>
            <a:ext cx="6837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1"/>
              <a:t>VNC </a:t>
            </a:r>
          </a:p>
          <a:p>
            <a:pPr algn="ctr"/>
            <a:r>
              <a:rPr lang="en-US" altLang="ko-KR" sz="1200" b="1"/>
              <a:t>Server</a:t>
            </a:r>
            <a:endParaRPr lang="ko-KR" altLang="en-US" sz="1200" b="1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06F7B8F-6B93-40E5-9351-F94B6C32B197}"/>
              </a:ext>
            </a:extLst>
          </p:cNvPr>
          <p:cNvCxnSpPr>
            <a:cxnSpLocks/>
          </p:cNvCxnSpPr>
          <p:nvPr/>
        </p:nvCxnSpPr>
        <p:spPr>
          <a:xfrm flipV="1">
            <a:off x="5568643" y="2450799"/>
            <a:ext cx="338679" cy="1014329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2A47C80-821E-44C5-BB46-CF66B6DC06D6}"/>
              </a:ext>
            </a:extLst>
          </p:cNvPr>
          <p:cNvCxnSpPr>
            <a:cxnSpLocks/>
          </p:cNvCxnSpPr>
          <p:nvPr/>
        </p:nvCxnSpPr>
        <p:spPr>
          <a:xfrm flipV="1">
            <a:off x="6288457" y="3419447"/>
            <a:ext cx="1563081" cy="624825"/>
          </a:xfrm>
          <a:prstGeom prst="line">
            <a:avLst/>
          </a:prstGeom>
          <a:ln w="190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100A33E-5205-4D48-9085-0EF4CFBDE98C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3132447" y="3869819"/>
            <a:ext cx="1666167" cy="17929"/>
          </a:xfrm>
          <a:prstGeom prst="line">
            <a:avLst/>
          </a:prstGeom>
          <a:ln w="19050">
            <a:solidFill>
              <a:srgbClr val="C00000"/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C4201050-36AD-443F-A312-34DC743670EC}"/>
              </a:ext>
            </a:extLst>
          </p:cNvPr>
          <p:cNvSpPr/>
          <p:nvPr/>
        </p:nvSpPr>
        <p:spPr>
          <a:xfrm>
            <a:off x="6941304" y="5994271"/>
            <a:ext cx="0" cy="189372"/>
          </a:xfrm>
          <a:custGeom>
            <a:avLst/>
            <a:gdLst>
              <a:gd name="connsiteX0" fmla="*/ 0 w 0"/>
              <a:gd name="connsiteY0" fmla="*/ 0 h 189372"/>
              <a:gd name="connsiteX1" fmla="*/ 0 w 0"/>
              <a:gd name="connsiteY1" fmla="*/ 189372 h 189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89372">
                <a:moveTo>
                  <a:pt x="0" y="0"/>
                </a:moveTo>
                <a:lnTo>
                  <a:pt x="0" y="189372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68721381-7435-47B7-A691-4A3F9339C276}"/>
              </a:ext>
            </a:extLst>
          </p:cNvPr>
          <p:cNvSpPr/>
          <p:nvPr/>
        </p:nvSpPr>
        <p:spPr>
          <a:xfrm>
            <a:off x="6232508" y="6178233"/>
            <a:ext cx="1406770" cy="0"/>
          </a:xfrm>
          <a:custGeom>
            <a:avLst/>
            <a:gdLst>
              <a:gd name="connsiteX0" fmla="*/ 0 w 1406770"/>
              <a:gd name="connsiteY0" fmla="*/ 0 h 0"/>
              <a:gd name="connsiteX1" fmla="*/ 1406770 w 140677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06770">
                <a:moveTo>
                  <a:pt x="0" y="0"/>
                </a:moveTo>
                <a:lnTo>
                  <a:pt x="140677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F5D721-C195-4D80-BC8E-4CCAFEB301DF}"/>
              </a:ext>
            </a:extLst>
          </p:cNvPr>
          <p:cNvSpPr txBox="1"/>
          <p:nvPr/>
        </p:nvSpPr>
        <p:spPr>
          <a:xfrm>
            <a:off x="5659580" y="355557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프레임</a:t>
            </a:r>
            <a:endParaRPr lang="en-US" altLang="ko-KR" sz="1200"/>
          </a:p>
          <a:p>
            <a:r>
              <a:rPr lang="ko-KR" altLang="en-US" sz="1200"/>
              <a:t>버퍼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4C9280E1-DC7A-4845-88AB-A1C31F9E4C0E}"/>
              </a:ext>
            </a:extLst>
          </p:cNvPr>
          <p:cNvCxnSpPr>
            <a:cxnSpLocks/>
            <a:stCxn id="17" idx="2"/>
            <a:endCxn id="15" idx="1"/>
          </p:cNvCxnSpPr>
          <p:nvPr/>
        </p:nvCxnSpPr>
        <p:spPr>
          <a:xfrm rot="16200000" flipH="1">
            <a:off x="4908686" y="4263890"/>
            <a:ext cx="1269699" cy="877775"/>
          </a:xfrm>
          <a:prstGeom prst="bentConnector2">
            <a:avLst/>
          </a:prstGeom>
          <a:ln w="19050">
            <a:solidFill>
              <a:srgbClr val="C00000"/>
            </a:solidFill>
            <a:prstDash val="sysDot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2A992D15-A49D-4D89-9E3E-B3FD26A5C08C}"/>
              </a:ext>
            </a:extLst>
          </p:cNvPr>
          <p:cNvSpPr/>
          <p:nvPr/>
        </p:nvSpPr>
        <p:spPr>
          <a:xfrm>
            <a:off x="5245253" y="3844345"/>
            <a:ext cx="859309" cy="1293146"/>
          </a:xfrm>
          <a:custGeom>
            <a:avLst/>
            <a:gdLst>
              <a:gd name="connsiteX0" fmla="*/ 458921 w 859309"/>
              <a:gd name="connsiteY0" fmla="*/ 0 h 1293146"/>
              <a:gd name="connsiteX1" fmla="*/ 96408 w 859309"/>
              <a:gd name="connsiteY1" fmla="*/ 108213 h 1293146"/>
              <a:gd name="connsiteX2" fmla="*/ 4426 w 859309"/>
              <a:gd name="connsiteY2" fmla="*/ 340871 h 1293146"/>
              <a:gd name="connsiteX3" fmla="*/ 31480 w 859309"/>
              <a:gd name="connsiteY3" fmla="*/ 649278 h 1293146"/>
              <a:gd name="connsiteX4" fmla="*/ 177567 w 859309"/>
              <a:gd name="connsiteY4" fmla="*/ 1000971 h 1293146"/>
              <a:gd name="connsiteX5" fmla="*/ 404815 w 859309"/>
              <a:gd name="connsiteY5" fmla="*/ 1217397 h 1293146"/>
              <a:gd name="connsiteX6" fmla="*/ 859309 w 859309"/>
              <a:gd name="connsiteY6" fmla="*/ 1293146 h 1293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9309" h="1293146">
                <a:moveTo>
                  <a:pt x="458921" y="0"/>
                </a:moveTo>
                <a:cubicBezTo>
                  <a:pt x="315539" y="25700"/>
                  <a:pt x="172157" y="51401"/>
                  <a:pt x="96408" y="108213"/>
                </a:cubicBezTo>
                <a:cubicBezTo>
                  <a:pt x="20659" y="165025"/>
                  <a:pt x="15247" y="250694"/>
                  <a:pt x="4426" y="340871"/>
                </a:cubicBezTo>
                <a:cubicBezTo>
                  <a:pt x="-6395" y="431049"/>
                  <a:pt x="2623" y="539261"/>
                  <a:pt x="31480" y="649278"/>
                </a:cubicBezTo>
                <a:cubicBezTo>
                  <a:pt x="60337" y="759295"/>
                  <a:pt x="115345" y="906285"/>
                  <a:pt x="177567" y="1000971"/>
                </a:cubicBezTo>
                <a:cubicBezTo>
                  <a:pt x="239789" y="1095657"/>
                  <a:pt x="291192" y="1168701"/>
                  <a:pt x="404815" y="1217397"/>
                </a:cubicBezTo>
                <a:cubicBezTo>
                  <a:pt x="518438" y="1266093"/>
                  <a:pt x="688873" y="1279619"/>
                  <a:pt x="859309" y="1293146"/>
                </a:cubicBezTo>
              </a:path>
            </a:pathLst>
          </a:custGeom>
          <a:noFill/>
          <a:ln w="57150">
            <a:solidFill>
              <a:srgbClr val="00B0F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32" name="그림 31" descr="스크린샷, 멀티미디어 소프트웨어, 산, 경치이(가) 표시된 사진&#10;&#10;자동 생성된 설명">
            <a:extLst>
              <a:ext uri="{FF2B5EF4-FFF2-40B4-BE49-F238E27FC236}">
                <a16:creationId xmlns:a16="http://schemas.microsoft.com/office/drawing/2014/main" id="{AB97A832-6FB2-2CD3-BA72-5BC435262A3A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972" y="3483101"/>
            <a:ext cx="1436400" cy="791364"/>
          </a:xfrm>
          <a:prstGeom prst="rect">
            <a:avLst/>
          </a:prstGeom>
        </p:spPr>
      </p:pic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6DCB3053-E911-4364-A632-EFD69B98F49D}"/>
              </a:ext>
            </a:extLst>
          </p:cNvPr>
          <p:cNvSpPr/>
          <p:nvPr/>
        </p:nvSpPr>
        <p:spPr>
          <a:xfrm>
            <a:off x="2998850" y="3670907"/>
            <a:ext cx="2714070" cy="167603"/>
          </a:xfrm>
          <a:custGeom>
            <a:avLst/>
            <a:gdLst>
              <a:gd name="connsiteX0" fmla="*/ 2851413 w 2851413"/>
              <a:gd name="connsiteY0" fmla="*/ 37956 h 199852"/>
              <a:gd name="connsiteX1" fmla="*/ 2240009 w 2851413"/>
              <a:gd name="connsiteY1" fmla="*/ 194865 h 199852"/>
              <a:gd name="connsiteX2" fmla="*/ 1839621 w 2851413"/>
              <a:gd name="connsiteY2" fmla="*/ 146169 h 199852"/>
              <a:gd name="connsiteX3" fmla="*/ 946864 w 2851413"/>
              <a:gd name="connsiteY3" fmla="*/ 81 h 199852"/>
              <a:gd name="connsiteX4" fmla="*/ 0 w 2851413"/>
              <a:gd name="connsiteY4" fmla="*/ 167812 h 199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1413" h="199852">
                <a:moveTo>
                  <a:pt x="2851413" y="37956"/>
                </a:moveTo>
                <a:cubicBezTo>
                  <a:pt x="2630027" y="107393"/>
                  <a:pt x="2408641" y="176830"/>
                  <a:pt x="2240009" y="194865"/>
                </a:cubicBezTo>
                <a:cubicBezTo>
                  <a:pt x="2071377" y="212901"/>
                  <a:pt x="2055145" y="178633"/>
                  <a:pt x="1839621" y="146169"/>
                </a:cubicBezTo>
                <a:cubicBezTo>
                  <a:pt x="1624097" y="113705"/>
                  <a:pt x="1253467" y="-3526"/>
                  <a:pt x="946864" y="81"/>
                </a:cubicBezTo>
                <a:cubicBezTo>
                  <a:pt x="640261" y="3688"/>
                  <a:pt x="320130" y="85750"/>
                  <a:pt x="0" y="167812"/>
                </a:cubicBezTo>
              </a:path>
            </a:pathLst>
          </a:custGeom>
          <a:noFill/>
          <a:ln w="57150">
            <a:solidFill>
              <a:srgbClr val="00B0F0"/>
            </a:solidFill>
            <a:prstDash val="sysDot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A5182D-201A-4F99-97BF-1E5D6DD0F91B}"/>
              </a:ext>
            </a:extLst>
          </p:cNvPr>
          <p:cNvSpPr txBox="1"/>
          <p:nvPr/>
        </p:nvSpPr>
        <p:spPr>
          <a:xfrm>
            <a:off x="3675028" y="389292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통신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E62808-1FFB-4601-B212-A9D3422970CC}"/>
              </a:ext>
            </a:extLst>
          </p:cNvPr>
          <p:cNvSpPr txBox="1"/>
          <p:nvPr/>
        </p:nvSpPr>
        <p:spPr>
          <a:xfrm>
            <a:off x="4594868" y="507188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통신</a:t>
            </a:r>
          </a:p>
        </p:txBody>
      </p:sp>
    </p:spTree>
    <p:extLst>
      <p:ext uri="{BB962C8B-B14F-4D97-AF65-F5344CB8AC3E}">
        <p14:creationId xmlns:p14="http://schemas.microsoft.com/office/powerpoint/2010/main" val="352922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283499A-4F18-41F7-85D6-F1C6E114D211}"/>
              </a:ext>
            </a:extLst>
          </p:cNvPr>
          <p:cNvGrpSpPr/>
          <p:nvPr/>
        </p:nvGrpSpPr>
        <p:grpSpPr>
          <a:xfrm>
            <a:off x="451048" y="2348973"/>
            <a:ext cx="5400040" cy="2427605"/>
            <a:chOff x="2149296" y="1713384"/>
            <a:chExt cx="5400040" cy="2427605"/>
          </a:xfrm>
        </p:grpSpPr>
        <p:pic>
          <p:nvPicPr>
            <p:cNvPr id="12" name="Picture 1">
              <a:extLst>
                <a:ext uri="{FF2B5EF4-FFF2-40B4-BE49-F238E27FC236}">
                  <a16:creationId xmlns:a16="http://schemas.microsoft.com/office/drawing/2014/main" id="{5CF90D67-35EE-4377-BABB-F5C9395D4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149296" y="1713384"/>
              <a:ext cx="5400040" cy="242760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BB0EBD7-B721-4EE3-925F-4AC960FD9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0368" y="1737218"/>
              <a:ext cx="2590868" cy="114303"/>
            </a:xfrm>
            <a:prstGeom prst="rect">
              <a:avLst/>
            </a:prstGeom>
          </p:spPr>
        </p:pic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E9B1A207-5359-458E-8362-A00EF8DF9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라즈베리파이에서</a:t>
            </a:r>
            <a:r>
              <a:rPr lang="ko-KR" altLang="en-US" dirty="0"/>
              <a:t> </a:t>
            </a:r>
            <a:r>
              <a:rPr lang="en-US" altLang="ko-KR" dirty="0"/>
              <a:t>VNC </a:t>
            </a:r>
            <a:r>
              <a:rPr lang="ko-KR" altLang="en-US" dirty="0"/>
              <a:t>서버 활성화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F5AC1C-3E85-4AFC-8A03-0A81C1054E4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9552" y="1340768"/>
            <a:ext cx="8153400" cy="5040560"/>
          </a:xfrm>
        </p:spPr>
        <p:txBody>
          <a:bodyPr/>
          <a:lstStyle/>
          <a:p>
            <a:r>
              <a:rPr lang="ko-KR" altLang="en-US" dirty="0"/>
              <a:t>활성화 명령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234BF-15A1-42A6-A226-F1771E9FA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8D85107-F534-4554-917B-2F4A8C7DD840}"/>
              </a:ext>
            </a:extLst>
          </p:cNvPr>
          <p:cNvSpPr/>
          <p:nvPr/>
        </p:nvSpPr>
        <p:spPr>
          <a:xfrm>
            <a:off x="828128" y="1916832"/>
            <a:ext cx="8064352" cy="33855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it-IT" altLang="ko-KR" sz="1600" dirty="0"/>
              <a:t>pi@pi:~ $ </a:t>
            </a:r>
            <a:r>
              <a:rPr lang="it-IT" altLang="ko-KR" sz="1600" b="1" dirty="0"/>
              <a:t>sudo raspi-config</a:t>
            </a: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6E9B98ED-0CB6-4AD4-B2F3-D100B6DF52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11760" y="3399844"/>
            <a:ext cx="5400040" cy="246634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2E00572A-38C7-4695-9A6D-5E1A3274EC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884927" y="4726601"/>
            <a:ext cx="4007553" cy="182630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6328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8D96F-0780-4DB8-9056-4905271C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VNC </a:t>
            </a:r>
            <a:r>
              <a:rPr lang="ko-KR" altLang="en-US"/>
              <a:t>서버 활성화 후 실행 확인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388706-32C2-4480-8716-786D2C56310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trixie </a:t>
            </a:r>
            <a:r>
              <a:rPr lang="ko-KR" altLang="en-US"/>
              <a:t>운영체제가 지원하는 </a:t>
            </a:r>
            <a:r>
              <a:rPr lang="en-US" altLang="ko-KR"/>
              <a:t>VNC </a:t>
            </a:r>
            <a:r>
              <a:rPr lang="ko-KR" altLang="en-US"/>
              <a:t>서버</a:t>
            </a:r>
            <a:endParaRPr lang="en-US" altLang="ko-KR"/>
          </a:p>
          <a:p>
            <a:pPr lvl="1"/>
            <a:r>
              <a:rPr lang="en-US" altLang="ko-KR"/>
              <a:t>Wayvnc</a:t>
            </a:r>
            <a:r>
              <a:rPr lang="ko-KR" altLang="en-US"/>
              <a:t>와 </a:t>
            </a:r>
            <a:r>
              <a:rPr lang="en-US" altLang="ko-KR"/>
              <a:t>X11 </a:t>
            </a:r>
            <a:r>
              <a:rPr lang="ko-KR" altLang="en-US"/>
              <a:t>둘 다 지원</a:t>
            </a:r>
            <a:endParaRPr lang="en-US" altLang="ko-KR"/>
          </a:p>
          <a:p>
            <a:pPr lvl="1"/>
            <a:r>
              <a:rPr lang="ko-KR" altLang="en-US"/>
              <a:t>디폴트는 </a:t>
            </a:r>
            <a:r>
              <a:rPr lang="en-US" altLang="ko-KR"/>
              <a:t>Wayvnc</a:t>
            </a:r>
          </a:p>
          <a:p>
            <a:r>
              <a:rPr lang="en-US" altLang="ko-KR"/>
              <a:t>VNC </a:t>
            </a:r>
            <a:r>
              <a:rPr lang="ko-KR" altLang="en-US" dirty="0"/>
              <a:t>서버 </a:t>
            </a:r>
            <a:r>
              <a:rPr lang="ko-KR" altLang="en-US"/>
              <a:t>실행 확인 </a:t>
            </a:r>
            <a:r>
              <a:rPr lang="en-US" altLang="ko-KR"/>
              <a:t>- </a:t>
            </a:r>
            <a:r>
              <a:rPr lang="ko-KR" altLang="en-US"/>
              <a:t>디폴트 </a:t>
            </a:r>
            <a:r>
              <a:rPr lang="en-US" altLang="ko-KR"/>
              <a:t>Wayvnc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7DF03-B527-42CE-A361-536C8DFFF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D91EAE-C45A-4DB9-B789-11CC5E01A0D2}"/>
              </a:ext>
            </a:extLst>
          </p:cNvPr>
          <p:cNvSpPr/>
          <p:nvPr/>
        </p:nvSpPr>
        <p:spPr>
          <a:xfrm>
            <a:off x="975567" y="4659630"/>
            <a:ext cx="7555785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" altLang="ko-KR" sz="1200"/>
              <a:t>pi@pi:~ $ </a:t>
            </a:r>
            <a:r>
              <a:rPr lang="en" altLang="ko-KR" sz="1200" b="1"/>
              <a:t>sudo systemctl</a:t>
            </a:r>
            <a:r>
              <a:rPr lang="en" altLang="ko-KR" sz="1200" b="1" dirty="0"/>
              <a:t> status vncserver-x11-serviced.service</a:t>
            </a:r>
          </a:p>
          <a:p>
            <a:pPr defTabSz="180000"/>
            <a:r>
              <a:rPr lang="ko-KR" altLang="en-US" sz="1200"/>
              <a:t>○ </a:t>
            </a:r>
            <a:r>
              <a:rPr lang="en-US" altLang="ko-KR" sz="1200"/>
              <a:t>vncserver-x11-serviced.service - VNC Server in Service Mode daemon</a:t>
            </a:r>
          </a:p>
          <a:p>
            <a:pPr defTabSz="180000"/>
            <a:r>
              <a:rPr lang="en-US" altLang="ko-KR" sz="1200"/>
              <a:t>		Loaded: loaded (/usr/lib/systemd/system/vncserver-x11-serviced.service; disabled; preset: enabled)</a:t>
            </a:r>
          </a:p>
          <a:p>
            <a:pPr defTabSz="180000"/>
            <a:r>
              <a:rPr lang="en-US" altLang="ko-KR" sz="1200"/>
              <a:t>		Active: </a:t>
            </a:r>
            <a:r>
              <a:rPr lang="en-US" altLang="ko-KR" sz="1200" b="1"/>
              <a:t>inactive (dead)</a:t>
            </a:r>
          </a:p>
          <a:p>
            <a:pPr defTabSz="180000"/>
            <a:r>
              <a:rPr lang="en-US" altLang="ko-KR" sz="1200"/>
              <a:t>		...................</a:t>
            </a:r>
          </a:p>
          <a:p>
            <a:pPr defTabSz="180000"/>
            <a:r>
              <a:rPr lang="en" altLang="ko-KR" sz="1200"/>
              <a:t>pi@pi:~ $</a:t>
            </a:r>
            <a:endParaRPr lang="en" altLang="ko-KR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FC18CCE-5645-D87D-CEF6-DBD63A2ECE9A}"/>
              </a:ext>
            </a:extLst>
          </p:cNvPr>
          <p:cNvSpPr/>
          <p:nvPr/>
        </p:nvSpPr>
        <p:spPr>
          <a:xfrm>
            <a:off x="1002255" y="3096542"/>
            <a:ext cx="7529097" cy="120032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" altLang="ko-KR" sz="1200"/>
              <a:t>pi@pi:~ $ </a:t>
            </a:r>
            <a:r>
              <a:rPr lang="en" altLang="ko-KR" sz="1200" b="1"/>
              <a:t>sudo systemctl status wayvnc.service</a:t>
            </a:r>
            <a:endParaRPr lang="en" altLang="ko-KR" sz="1200" b="1" dirty="0"/>
          </a:p>
          <a:p>
            <a:pPr defTabSz="180000"/>
            <a:r>
              <a:rPr lang="en-US" altLang="ko-KR" sz="1200"/>
              <a:t>● wayvnc.service - VNC Server</a:t>
            </a:r>
          </a:p>
          <a:p>
            <a:pPr defTabSz="180000"/>
            <a:r>
              <a:rPr lang="en-US" altLang="ko-KR" sz="1200"/>
              <a:t>		Loaded: loaded (/usr/lib/systemd/system/wayvnc.service; enabled; preset: enabled)</a:t>
            </a:r>
          </a:p>
          <a:p>
            <a:pPr defTabSz="180000"/>
            <a:r>
              <a:rPr lang="en-US" altLang="ko-KR" sz="1200"/>
              <a:t>		Active: </a:t>
            </a:r>
            <a:r>
              <a:rPr lang="en-US" altLang="ko-KR" sz="1200" b="1"/>
              <a:t>active (running) </a:t>
            </a:r>
            <a:r>
              <a:rPr lang="en-US" altLang="ko-KR" sz="1200"/>
              <a:t>since Mon 2026-03-09 16:30:17 KST; 4 months 14 days ago</a:t>
            </a:r>
          </a:p>
          <a:p>
            <a:pPr defTabSz="180000"/>
            <a:r>
              <a:rPr lang="en-US" altLang="ko-KR" sz="1200"/>
              <a:t>		...................</a:t>
            </a:r>
          </a:p>
          <a:p>
            <a:pPr defTabSz="180000"/>
            <a:r>
              <a:rPr lang="en" altLang="ko-KR" sz="1200"/>
              <a:t>pi@pi:~ $</a:t>
            </a:r>
            <a:endParaRPr lang="en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6D03C2-6C05-DDF6-2B90-EE84F91B770B}"/>
              </a:ext>
            </a:extLst>
          </p:cNvPr>
          <p:cNvSpPr txBox="1"/>
          <p:nvPr/>
        </p:nvSpPr>
        <p:spPr>
          <a:xfrm>
            <a:off x="2987824" y="3899898"/>
            <a:ext cx="2232248" cy="476726"/>
          </a:xfrm>
          <a:prstGeom prst="wedgeRoundRectCallout">
            <a:avLst>
              <a:gd name="adj1" fmla="val -62349"/>
              <a:gd name="adj2" fmla="val -5700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i="1" dirty="0" err="1"/>
              <a:t>Active가</a:t>
            </a:r>
            <a:r>
              <a:rPr lang="ko-KR" altLang="en-US" sz="1100" i="1" dirty="0"/>
              <a:t> ‘</a:t>
            </a:r>
            <a:r>
              <a:rPr lang="ko-KR" altLang="en-US" sz="1100" i="1" dirty="0" err="1"/>
              <a:t>active</a:t>
            </a:r>
            <a:r>
              <a:rPr lang="ko-KR" altLang="en-US" sz="1100" i="1" dirty="0"/>
              <a:t> (</a:t>
            </a:r>
            <a:r>
              <a:rPr lang="ko-KR" altLang="en-US" sz="1100" i="1" dirty="0" err="1"/>
              <a:t>running</a:t>
            </a:r>
            <a:r>
              <a:rPr lang="ko-KR" altLang="en-US" sz="1100" i="1" dirty="0"/>
              <a:t>)’이면 VNC 서버가 정상 </a:t>
            </a:r>
            <a:r>
              <a:rPr lang="ko-KR" altLang="en-US" sz="1100" i="1"/>
              <a:t>실행 중</a:t>
            </a:r>
            <a:endParaRPr lang="ko-KR" alt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3761851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37384-272F-4F74-A019-2390822B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PC</a:t>
            </a:r>
            <a:r>
              <a:rPr lang="ko-KR" altLang="en-US" dirty="0"/>
              <a:t>에 </a:t>
            </a:r>
            <a:r>
              <a:rPr lang="en-US" altLang="ko-KR" dirty="0"/>
              <a:t>VNC </a:t>
            </a:r>
            <a:r>
              <a:rPr lang="ko-KR" altLang="en-US" dirty="0"/>
              <a:t>뷰어 설치하기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BBA746-C21B-4F90-91D2-A005377264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다양한 뷰어</a:t>
            </a:r>
            <a:endParaRPr lang="en-US" altLang="ko-KR" dirty="0"/>
          </a:p>
          <a:p>
            <a:pPr lvl="1"/>
            <a:r>
              <a:rPr lang="en-US" altLang="ko-KR" dirty="0" err="1"/>
              <a:t>TightVNC</a:t>
            </a:r>
            <a:r>
              <a:rPr lang="en-US" altLang="ko-KR" dirty="0"/>
              <a:t> </a:t>
            </a:r>
            <a:r>
              <a:rPr lang="ko-KR" altLang="en-US" dirty="0"/>
              <a:t>뷰어</a:t>
            </a:r>
            <a:r>
              <a:rPr lang="en-US" altLang="ko-KR" dirty="0"/>
              <a:t>, Ultra VNC </a:t>
            </a:r>
            <a:r>
              <a:rPr lang="ko-KR" altLang="en-US" dirty="0"/>
              <a:t>뷰어</a:t>
            </a:r>
            <a:r>
              <a:rPr lang="en-US" altLang="ko-KR" dirty="0"/>
              <a:t>, Real VNC </a:t>
            </a:r>
            <a:r>
              <a:rPr lang="ko-KR" altLang="en-US" dirty="0"/>
              <a:t>뷰어</a:t>
            </a:r>
          </a:p>
          <a:p>
            <a:pPr lvl="1"/>
            <a:r>
              <a:rPr lang="en-US" altLang="ko-KR" dirty="0"/>
              <a:t>Real VNC </a:t>
            </a:r>
            <a:r>
              <a:rPr lang="ko-KR" altLang="en-US"/>
              <a:t>뷰어 무료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2"/>
            <a:r>
              <a:rPr lang="en-US" altLang="ko-KR"/>
              <a:t>Wayvnc, X11 </a:t>
            </a:r>
            <a:r>
              <a:rPr lang="ko-KR" altLang="en-US"/>
              <a:t>서버와의 프로토콜 모두 지원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48EA83-391D-4007-8761-620658C53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84FE0FD-A202-4402-BB29-8C6D7C02BCA3}"/>
              </a:ext>
            </a:extLst>
          </p:cNvPr>
          <p:cNvSpPr/>
          <p:nvPr/>
        </p:nvSpPr>
        <p:spPr>
          <a:xfrm>
            <a:off x="1278032" y="2708920"/>
            <a:ext cx="6822632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 dirty="0"/>
              <a:t>https://www.realvnc.com/en/connect/download/viewer/</a:t>
            </a:r>
          </a:p>
        </p:txBody>
      </p:sp>
    </p:spTree>
    <p:extLst>
      <p:ext uri="{BB962C8B-B14F-4D97-AF65-F5344CB8AC3E}">
        <p14:creationId xmlns:p14="http://schemas.microsoft.com/office/powerpoint/2010/main" val="221393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FF5E31F-98E8-4E74-A602-A44DA3581C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48" y="1413394"/>
            <a:ext cx="5038725" cy="3248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56A369-F692-473F-AC47-148EF10FE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VNC </a:t>
            </a:r>
            <a:r>
              <a:rPr lang="ko-KR" altLang="en-US"/>
              <a:t>뷰어로 라즈베리파이에 원격 연결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E4E1CE-CA28-46E4-B780-13DEA64D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1A0992A-5B17-4A50-A982-06E4A958D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54" y="2829707"/>
            <a:ext cx="4730578" cy="3432858"/>
          </a:xfrm>
          <a:prstGeom prst="rect">
            <a:avLst/>
          </a:prstGeom>
        </p:spPr>
      </p:pic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54F7F5FB-5010-4D3E-82BD-9C09E7850BF9}"/>
              </a:ext>
            </a:extLst>
          </p:cNvPr>
          <p:cNvSpPr/>
          <p:nvPr/>
        </p:nvSpPr>
        <p:spPr>
          <a:xfrm>
            <a:off x="2405668" y="2071565"/>
            <a:ext cx="389567" cy="752080"/>
          </a:xfrm>
          <a:custGeom>
            <a:avLst/>
            <a:gdLst>
              <a:gd name="connsiteX0" fmla="*/ 0 w 389567"/>
              <a:gd name="connsiteY0" fmla="*/ 0 h 752080"/>
              <a:gd name="connsiteX1" fmla="*/ 302997 w 389567"/>
              <a:gd name="connsiteY1" fmla="*/ 270532 h 752080"/>
              <a:gd name="connsiteX2" fmla="*/ 389567 w 389567"/>
              <a:gd name="connsiteY2" fmla="*/ 752080 h 752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9567" h="752080">
                <a:moveTo>
                  <a:pt x="0" y="0"/>
                </a:moveTo>
                <a:cubicBezTo>
                  <a:pt x="119034" y="72593"/>
                  <a:pt x="238069" y="145186"/>
                  <a:pt x="302997" y="270532"/>
                </a:cubicBezTo>
                <a:cubicBezTo>
                  <a:pt x="367925" y="395878"/>
                  <a:pt x="378746" y="573979"/>
                  <a:pt x="389567" y="752080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CFCEA4-FF32-4561-BB04-03060BF99085}"/>
              </a:ext>
            </a:extLst>
          </p:cNvPr>
          <p:cNvSpPr/>
          <p:nvPr/>
        </p:nvSpPr>
        <p:spPr>
          <a:xfrm>
            <a:off x="2712814" y="2306560"/>
            <a:ext cx="20168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① 라즈베리파이의 </a:t>
            </a:r>
            <a:r>
              <a:rPr lang="en-US" altLang="ko-KR" sz="1200">
                <a:solidFill>
                  <a:srgbClr val="C00000"/>
                </a:solidFill>
              </a:rPr>
              <a:t>IP </a:t>
            </a:r>
            <a:r>
              <a:rPr lang="ko-KR" altLang="en-US" sz="1200">
                <a:solidFill>
                  <a:srgbClr val="C00000"/>
                </a:solidFill>
              </a:rPr>
              <a:t>주소</a:t>
            </a:r>
            <a:endParaRPr lang="en-US" altLang="ko-KR" sz="1200">
              <a:solidFill>
                <a:srgbClr val="C00000"/>
              </a:solidFill>
            </a:endParaRPr>
          </a:p>
          <a:p>
            <a:r>
              <a:rPr lang="en-US" altLang="ko-KR" sz="1200">
                <a:solidFill>
                  <a:srgbClr val="C00000"/>
                </a:solidFill>
              </a:rPr>
              <a:t>   </a:t>
            </a:r>
            <a:r>
              <a:rPr lang="ko-KR" altLang="en-US" sz="1200">
                <a:solidFill>
                  <a:srgbClr val="C00000"/>
                </a:solidFill>
              </a:rPr>
              <a:t> 입력 후 엔터키</a:t>
            </a:r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7ACE028-EC66-491B-8301-059B73419551}"/>
              </a:ext>
            </a:extLst>
          </p:cNvPr>
          <p:cNvSpPr/>
          <p:nvPr/>
        </p:nvSpPr>
        <p:spPr>
          <a:xfrm>
            <a:off x="3785384" y="5940180"/>
            <a:ext cx="1957964" cy="478510"/>
          </a:xfrm>
          <a:custGeom>
            <a:avLst/>
            <a:gdLst>
              <a:gd name="connsiteX0" fmla="*/ 0 w 1926192"/>
              <a:gd name="connsiteY0" fmla="*/ 0 h 478510"/>
              <a:gd name="connsiteX1" fmla="*/ 454495 w 1926192"/>
              <a:gd name="connsiteY1" fmla="*/ 427441 h 478510"/>
              <a:gd name="connsiteX2" fmla="*/ 1926192 w 1926192"/>
              <a:gd name="connsiteY2" fmla="*/ 454495 h 478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26192" h="478510">
                <a:moveTo>
                  <a:pt x="0" y="0"/>
                </a:moveTo>
                <a:cubicBezTo>
                  <a:pt x="66731" y="175846"/>
                  <a:pt x="133463" y="351692"/>
                  <a:pt x="454495" y="427441"/>
                </a:cubicBezTo>
                <a:cubicBezTo>
                  <a:pt x="775527" y="503190"/>
                  <a:pt x="1350859" y="478842"/>
                  <a:pt x="1926192" y="454495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8AF996-593D-4DC4-9F34-2F19DA4901FD}"/>
              </a:ext>
            </a:extLst>
          </p:cNvPr>
          <p:cNvSpPr/>
          <p:nvPr/>
        </p:nvSpPr>
        <p:spPr>
          <a:xfrm>
            <a:off x="3992548" y="6418690"/>
            <a:ext cx="17508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② </a:t>
            </a:r>
            <a:r>
              <a:rPr lang="en-US" altLang="ko-KR" sz="1200">
                <a:solidFill>
                  <a:srgbClr val="C00000"/>
                </a:solidFill>
              </a:rPr>
              <a:t>Continue </a:t>
            </a:r>
            <a:r>
              <a:rPr lang="ko-KR" altLang="en-US" sz="1200">
                <a:solidFill>
                  <a:srgbClr val="C00000"/>
                </a:solidFill>
              </a:rPr>
              <a:t>버튼 클릭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BB66341-57F6-4E23-A459-EEEBF47F9263}"/>
              </a:ext>
            </a:extLst>
          </p:cNvPr>
          <p:cNvSpPr/>
          <p:nvPr/>
        </p:nvSpPr>
        <p:spPr>
          <a:xfrm>
            <a:off x="5743348" y="2990015"/>
            <a:ext cx="29674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>
                <a:solidFill>
                  <a:srgbClr val="C00000"/>
                </a:solidFill>
              </a:rPr>
              <a:t>③ 사용자 이름과 암호 입력</a:t>
            </a:r>
            <a:endParaRPr lang="en-US" altLang="ko-KR" sz="1200">
              <a:solidFill>
                <a:srgbClr val="C00000"/>
              </a:solidFill>
            </a:endParaRPr>
          </a:p>
          <a:p>
            <a:r>
              <a:rPr lang="en-US" altLang="ko-KR" sz="1200">
                <a:solidFill>
                  <a:srgbClr val="C00000"/>
                </a:solidFill>
              </a:rPr>
              <a:t>    (</a:t>
            </a:r>
            <a:r>
              <a:rPr lang="ko-KR" altLang="en-US" sz="1200">
                <a:solidFill>
                  <a:srgbClr val="C00000"/>
                </a:solidFill>
              </a:rPr>
              <a:t>라즈베리파이의 로그인 이름과 암호</a:t>
            </a:r>
            <a:r>
              <a:rPr lang="en-US" altLang="ko-KR" sz="1200">
                <a:solidFill>
                  <a:srgbClr val="C00000"/>
                </a:solidFill>
              </a:rPr>
              <a:t>)</a:t>
            </a:r>
            <a:endParaRPr lang="ko-KR" altLang="en-US" sz="1200">
              <a:solidFill>
                <a:srgbClr val="C0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A6B0F1-B982-432F-A0DA-A3E5D350E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3350" y="3829050"/>
            <a:ext cx="3219450" cy="2800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8DDB518-B142-4E88-BEC7-E8D1E8845F19}"/>
              </a:ext>
            </a:extLst>
          </p:cNvPr>
          <p:cNvSpPr txBox="1"/>
          <p:nvPr/>
        </p:nvSpPr>
        <p:spPr>
          <a:xfrm>
            <a:off x="2215004" y="4420861"/>
            <a:ext cx="936104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tIns="0" rIns="0" bIns="0" rtlCol="0">
            <a:spAutoFit/>
          </a:bodyPr>
          <a:lstStyle/>
          <a:p>
            <a:pPr algn="r"/>
            <a:r>
              <a:rPr lang="en-US" altLang="ko-KR" sz="900" dirty="0"/>
              <a:t>192.168.0.5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7913BC-E416-48BB-AA34-16F4B6B866A4}"/>
              </a:ext>
            </a:extLst>
          </p:cNvPr>
          <p:cNvSpPr txBox="1"/>
          <p:nvPr/>
        </p:nvSpPr>
        <p:spPr>
          <a:xfrm>
            <a:off x="2267744" y="4620842"/>
            <a:ext cx="936104" cy="138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tIns="0" rIns="0" bIns="0" rtlCol="0">
            <a:spAutoFit/>
          </a:bodyPr>
          <a:lstStyle/>
          <a:p>
            <a:pPr algn="r"/>
            <a:r>
              <a:rPr lang="en-US" altLang="ko-KR" sz="900" dirty="0"/>
              <a:t>192.168.0.50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549804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2AD7C-2B0B-4527-BEA3-2B4E57C86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 </a:t>
            </a:r>
            <a:r>
              <a:rPr lang="ko-KR" altLang="en-US" dirty="0"/>
              <a:t>뷰어로 </a:t>
            </a:r>
            <a:r>
              <a:rPr lang="ko-KR" altLang="en-US" dirty="0" err="1"/>
              <a:t>라즈베리파이에</a:t>
            </a:r>
            <a:r>
              <a:rPr lang="ko-KR" altLang="en-US" dirty="0"/>
              <a:t> 원격 연결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BC0BD-4784-4FC1-BAE0-CF702FA1BE4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연결된 스크린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0BBA39-D01E-40BC-A1EA-48F5A4047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 dirty="0"/>
          </a:p>
        </p:txBody>
      </p:sp>
      <p:pic>
        <p:nvPicPr>
          <p:cNvPr id="7" name="그림 6" descr="스크린샷, 멀티미디어 소프트웨어, 산, 경치이(가) 표시된 사진&#10;&#10;자동 생성된 설명">
            <a:extLst>
              <a:ext uri="{FF2B5EF4-FFF2-40B4-BE49-F238E27FC236}">
                <a16:creationId xmlns:a16="http://schemas.microsoft.com/office/drawing/2014/main" id="{BC8332E8-7755-9EC4-6FF4-C6F23B504E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824809"/>
            <a:ext cx="7772400" cy="460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소프트웨어, 컴퓨터 아이콘이(가) 표시된 사진&#10;&#10;자동 생성된 설명">
            <a:extLst>
              <a:ext uri="{FF2B5EF4-FFF2-40B4-BE49-F238E27FC236}">
                <a16:creationId xmlns:a16="http://schemas.microsoft.com/office/drawing/2014/main" id="{3A1CE82A-8B18-1E9D-A529-3DE27C9614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40" y="1415381"/>
            <a:ext cx="6986767" cy="542003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665C123-0223-4C42-8F7B-6B019972F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데스크톱 </a:t>
            </a:r>
            <a:r>
              <a:rPr lang="en-US" altLang="ko-KR" dirty="0"/>
              <a:t>GUI </a:t>
            </a:r>
            <a:r>
              <a:rPr lang="ko-KR" altLang="en-US" dirty="0"/>
              <a:t>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87C13-FBA7-4B1F-B2CB-F872ADAC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D05CB8F-FD71-47AF-8855-261E1F806B3B}"/>
              </a:ext>
            </a:extLst>
          </p:cNvPr>
          <p:cNvSpPr/>
          <p:nvPr/>
        </p:nvSpPr>
        <p:spPr>
          <a:xfrm>
            <a:off x="3275856" y="1475932"/>
            <a:ext cx="1152128" cy="288277"/>
          </a:xfrm>
          <a:prstGeom prst="roundRect">
            <a:avLst>
              <a:gd name="adj" fmla="val 18849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태스크바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DB9809C-BAE1-4EA4-9BEF-7240562F3088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267744" y="1620071"/>
            <a:ext cx="1008112" cy="152745"/>
          </a:xfrm>
          <a:prstGeom prst="straightConnector1">
            <a:avLst/>
          </a:prstGeom>
          <a:ln w="28575">
            <a:solidFill>
              <a:srgbClr val="C00000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2389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0C2D0F6-0DAE-4D25-9359-C4D213C4E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84F327A-A027-4CBE-9154-1DE047EF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4.3 USB </a:t>
            </a:r>
            <a:r>
              <a:rPr lang="ko-KR" altLang="en-US" dirty="0"/>
              <a:t>카메라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DC9854-7357-4C7E-AA9B-34A0BF6DC2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4260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34025-08D6-4641-BC90-5814AA91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USB</a:t>
            </a:r>
            <a:r>
              <a:rPr lang="ko-KR" altLang="en-US" dirty="0"/>
              <a:t> 카메라 설치 확인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17FF7-075A-4B89-A207-DB3CCC33C2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lsusb</a:t>
            </a:r>
            <a:r>
              <a:rPr lang="en-US" altLang="ko-KR" dirty="0"/>
              <a:t> </a:t>
            </a:r>
            <a:r>
              <a:rPr lang="ko-KR" altLang="en-US" dirty="0"/>
              <a:t>명령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/>
              <a:t>첫 </a:t>
            </a:r>
            <a:r>
              <a:rPr lang="ko-KR" altLang="en-US" dirty="0"/>
              <a:t>줄 </a:t>
            </a:r>
            <a:r>
              <a:rPr lang="en-US" altLang="ko-KR" dirty="0"/>
              <a:t>'Bus 001 Device 004: ID 046d:0825 Logitech, Inc. Webcam C270'</a:t>
            </a:r>
          </a:p>
          <a:p>
            <a:pPr lvl="1"/>
            <a:r>
              <a:rPr lang="en-US" altLang="ko-KR" dirty="0"/>
              <a:t>Webcam C270 </a:t>
            </a:r>
            <a:r>
              <a:rPr lang="ko-KR" altLang="en-US" dirty="0"/>
              <a:t>카메라가 </a:t>
            </a:r>
            <a:r>
              <a:rPr lang="ko-KR" altLang="en-US" dirty="0" err="1"/>
              <a:t>라즈베리파이의</a:t>
            </a:r>
            <a:r>
              <a:rPr lang="ko-KR" altLang="en-US" dirty="0"/>
              <a:t> 입출력 </a:t>
            </a:r>
            <a:r>
              <a:rPr lang="en-US" altLang="ko-KR" dirty="0"/>
              <a:t>1</a:t>
            </a:r>
            <a:r>
              <a:rPr lang="ko-KR" altLang="en-US" dirty="0"/>
              <a:t>번 버스의 </a:t>
            </a:r>
            <a:r>
              <a:rPr lang="en-US" altLang="ko-KR" dirty="0"/>
              <a:t>4</a:t>
            </a:r>
            <a:r>
              <a:rPr lang="ko-KR" altLang="en-US" dirty="0"/>
              <a:t>번 장치로 연결되어 있음을 나타냄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84F631-E8DA-47B8-8983-127DDFD08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0FC90A-18C0-427D-90D0-615F183CCFAB}"/>
              </a:ext>
            </a:extLst>
          </p:cNvPr>
          <p:cNvSpPr/>
          <p:nvPr/>
        </p:nvSpPr>
        <p:spPr>
          <a:xfrm>
            <a:off x="1043608" y="1828562"/>
            <a:ext cx="7631760" cy="160043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</a:t>
            </a:r>
            <a:r>
              <a:rPr lang="en-US" altLang="ko-KR" sz="1400" b="1" dirty="0"/>
              <a:t>:~ </a:t>
            </a:r>
            <a:r>
              <a:rPr lang="en-US" altLang="ko-KR" sz="1400" b="1"/>
              <a:t>$ lsusb</a:t>
            </a:r>
            <a:endParaRPr lang="en-US" altLang="ko-KR" sz="1400" b="1" dirty="0"/>
          </a:p>
          <a:p>
            <a:pPr defTabSz="180000"/>
            <a:r>
              <a:rPr lang="en-US" altLang="ko-KR" sz="1400" dirty="0"/>
              <a:t>Bus 001 Device 004: ID 046d:0825 Logitech, Inc. Webcam C270</a:t>
            </a:r>
          </a:p>
          <a:p>
            <a:pPr defTabSz="180000"/>
            <a:r>
              <a:rPr lang="en-US" altLang="ko-KR" sz="1400" dirty="0"/>
              <a:t>Bus 001 Device 005: ID 0424:7800 Microchip Technology, Inc. (formerly SMSC)</a:t>
            </a:r>
          </a:p>
          <a:p>
            <a:pPr defTabSz="180000"/>
            <a:r>
              <a:rPr lang="en-US" altLang="ko-KR" sz="1400" dirty="0"/>
              <a:t>Bus 001 Device 003: ID 0424:2514 Microchip Technology, Inc. (formerly SMSC) USB 2.0 Hub</a:t>
            </a:r>
          </a:p>
          <a:p>
            <a:pPr defTabSz="180000"/>
            <a:r>
              <a:rPr lang="en-US" altLang="ko-KR" sz="1400" dirty="0"/>
              <a:t>Bus 001 Device 002: ID 0424:2514 Microchip Technology, Inc. (formerly SMSC) USB 2.0 Hub</a:t>
            </a:r>
          </a:p>
          <a:p>
            <a:pPr defTabSz="180000"/>
            <a:r>
              <a:rPr lang="en-US" altLang="ko-KR" sz="1400" dirty="0"/>
              <a:t>Bus 001 Device 001: ID 1d6b:0002 Linux Foundation 2.0 root hub</a:t>
            </a:r>
          </a:p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pi:~ $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223600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BE9C9F-F643-46F5-BAD3-9D275182B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fswebcam</a:t>
            </a:r>
            <a:r>
              <a:rPr lang="ko-KR" altLang="en-US" dirty="0"/>
              <a:t>으로 사진 촬영 및 사진 파일 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9DFD76-272A-484A-9C3D-7FFA152030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fswebcam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fswebcam</a:t>
            </a:r>
            <a:r>
              <a:rPr lang="ko-KR" altLang="en-US" dirty="0"/>
              <a:t>으로 사진 촬영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AB9F6-99C1-43A8-8198-C704E67A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D148BD-82CA-42B5-AD01-0FA0ECFD5471}"/>
              </a:ext>
            </a:extLst>
          </p:cNvPr>
          <p:cNvSpPr/>
          <p:nvPr/>
        </p:nvSpPr>
        <p:spPr>
          <a:xfrm>
            <a:off x="1043608" y="1916832"/>
            <a:ext cx="7299204" cy="52322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</a:t>
            </a:r>
            <a:r>
              <a:rPr lang="en-US" altLang="ko-KR" sz="1400" b="1" dirty="0"/>
              <a:t>:~ </a:t>
            </a:r>
            <a:r>
              <a:rPr lang="en-US" altLang="ko-KR" sz="1400" b="1"/>
              <a:t>$ sudo</a:t>
            </a:r>
            <a:r>
              <a:rPr lang="en-US" altLang="ko-KR" sz="1400" b="1" dirty="0"/>
              <a:t> apt-get update</a:t>
            </a:r>
          </a:p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</a:t>
            </a:r>
            <a:r>
              <a:rPr lang="en-US" altLang="ko-KR" sz="1400" b="1" dirty="0"/>
              <a:t>:~ </a:t>
            </a:r>
            <a:r>
              <a:rPr lang="en-US" altLang="ko-KR" sz="1400" b="1"/>
              <a:t>$ sudo</a:t>
            </a:r>
            <a:r>
              <a:rPr lang="en-US" altLang="ko-KR" sz="1400" b="1" dirty="0"/>
              <a:t> apt-get </a:t>
            </a:r>
            <a:r>
              <a:rPr lang="en-US" altLang="ko-KR" sz="1400" b="1"/>
              <a:t>install fswebcam</a:t>
            </a:r>
            <a:endParaRPr lang="en-US" altLang="ko-KR" sz="1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3E5FAB-F8A5-4069-A016-80EE2CD13581}"/>
              </a:ext>
            </a:extLst>
          </p:cNvPr>
          <p:cNvSpPr/>
          <p:nvPr/>
        </p:nvSpPr>
        <p:spPr>
          <a:xfrm>
            <a:off x="1048919" y="3259723"/>
            <a:ext cx="7299204" cy="30777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pt-BR" altLang="ko-KR" sz="1400" b="1" dirty="0"/>
              <a:t>pi@pi:~ $ fswebcam image</a:t>
            </a:r>
            <a:r>
              <a:rPr lang="pt-BR" altLang="ko-KR" sz="1400" b="1"/>
              <a:t>.jpg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520533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63CD0-59FF-4D29-9145-AA3E0DF11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예제 </a:t>
            </a:r>
            <a:r>
              <a:rPr lang="en-US" altLang="ko-KR" sz="2000" dirty="0"/>
              <a:t>4-1 </a:t>
            </a:r>
            <a:r>
              <a:rPr lang="en-US" altLang="ko-KR" sz="2000" dirty="0" err="1"/>
              <a:t>fswebcam</a:t>
            </a:r>
            <a:r>
              <a:rPr lang="ko-KR" altLang="en-US" sz="2000" dirty="0"/>
              <a:t>으로 사진을 촬영하고 </a:t>
            </a:r>
            <a:r>
              <a:rPr lang="en-US" altLang="ko-KR" sz="2000" dirty="0"/>
              <a:t>image.jpg </a:t>
            </a:r>
            <a:r>
              <a:rPr lang="ko-KR" altLang="en-US" sz="2000" dirty="0"/>
              <a:t>파일에 저장하기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D9553B5-22D2-43B8-AA39-D0362812A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6E18CC-0BB3-4220-9F3C-3E1302DF0290}"/>
              </a:ext>
            </a:extLst>
          </p:cNvPr>
          <p:cNvSpPr/>
          <p:nvPr/>
        </p:nvSpPr>
        <p:spPr>
          <a:xfrm>
            <a:off x="524674" y="1299140"/>
            <a:ext cx="8367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fswebcam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을 이용하여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USB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카메라로 사진을 촬영하고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image.jpg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에 저장하라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이를 위해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~/ch04/images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디렉터리를 만들고 이곳에서 </a:t>
            </a:r>
            <a:r>
              <a:rPr lang="en-US" altLang="ko-KR" sz="1600" dirty="0" err="1">
                <a:solidFill>
                  <a:schemeClr val="accent2">
                    <a:lumMod val="75000"/>
                  </a:schemeClr>
                </a:solidFill>
              </a:rPr>
              <a:t>fswebcam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을 실행시켜라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그리고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images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디렉터리에서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ls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명령으로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image.jpg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파일이 생성된 것을 확인하라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C199076-7F40-404F-95F7-B97A85EC29EB}"/>
              </a:ext>
            </a:extLst>
          </p:cNvPr>
          <p:cNvSpPr/>
          <p:nvPr/>
        </p:nvSpPr>
        <p:spPr>
          <a:xfrm>
            <a:off x="613404" y="2303522"/>
            <a:ext cx="8153400" cy="332398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</a:t>
            </a:r>
            <a:r>
              <a:rPr lang="en-US" altLang="ko-KR" sz="1400" b="1" dirty="0"/>
              <a:t>:~ </a:t>
            </a:r>
            <a:r>
              <a:rPr lang="en-US" altLang="ko-KR" sz="1400" b="1"/>
              <a:t>$ mkdir</a:t>
            </a:r>
            <a:r>
              <a:rPr lang="en-US" altLang="ko-KR" sz="1400" b="1" dirty="0"/>
              <a:t> ch04</a:t>
            </a:r>
          </a:p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</a:t>
            </a:r>
            <a:r>
              <a:rPr lang="en-US" altLang="ko-KR" sz="1400" b="1" dirty="0"/>
              <a:t>:~ $ cd ch04</a:t>
            </a:r>
          </a:p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</a:t>
            </a:r>
            <a:r>
              <a:rPr lang="en-US" altLang="ko-KR" sz="1400" b="1" dirty="0"/>
              <a:t>:~/ch04 </a:t>
            </a:r>
            <a:r>
              <a:rPr lang="en-US" altLang="ko-KR" sz="1400" b="1"/>
              <a:t>$ mkdir</a:t>
            </a:r>
            <a:r>
              <a:rPr lang="en-US" altLang="ko-KR" sz="1400" b="1" dirty="0"/>
              <a:t> images</a:t>
            </a:r>
          </a:p>
          <a:p>
            <a:pPr defTabSz="180000"/>
            <a:r>
              <a:rPr lang="fr-FR" altLang="ko-KR" sz="1400" b="1" dirty="0"/>
              <a:t>pi@pi:~/ch04 $ cd images</a:t>
            </a:r>
          </a:p>
          <a:p>
            <a:pPr defTabSz="180000"/>
            <a:r>
              <a:rPr lang="pt-BR" altLang="ko-KR" sz="1400" b="1" dirty="0"/>
              <a:t>pi@pi:~/ch04/images $ fswebcam image.jpg</a:t>
            </a:r>
          </a:p>
          <a:p>
            <a:pPr defTabSz="180000"/>
            <a:r>
              <a:rPr lang="en-US" altLang="ko-KR" sz="1400" dirty="0"/>
              <a:t>--- Opening /dev/video0...</a:t>
            </a:r>
          </a:p>
          <a:p>
            <a:pPr defTabSz="180000"/>
            <a:r>
              <a:rPr lang="en-US" altLang="ko-KR" sz="1400" dirty="0"/>
              <a:t>Trying source module v4l2...</a:t>
            </a:r>
          </a:p>
          <a:p>
            <a:pPr defTabSz="180000"/>
            <a:r>
              <a:rPr lang="en-US" altLang="ko-KR" sz="1400" dirty="0"/>
              <a:t>/dev/video0 opened.</a:t>
            </a:r>
          </a:p>
          <a:p>
            <a:pPr defTabSz="180000"/>
            <a:r>
              <a:rPr lang="en-US" altLang="ko-KR" sz="1400" dirty="0"/>
              <a:t>No input was specified, using the first.</a:t>
            </a:r>
          </a:p>
          <a:p>
            <a:pPr defTabSz="180000"/>
            <a:r>
              <a:rPr lang="en-US" altLang="ko-KR" sz="1400" dirty="0"/>
              <a:t>Adjusting resolution from 384x288 to 352x288.</a:t>
            </a:r>
          </a:p>
          <a:p>
            <a:pPr defTabSz="180000"/>
            <a:r>
              <a:rPr lang="en-US" altLang="ko-KR" sz="1400" dirty="0"/>
              <a:t>--- Capturing frame...</a:t>
            </a:r>
          </a:p>
          <a:p>
            <a:pPr defTabSz="180000"/>
            <a:r>
              <a:rPr lang="en-US" altLang="ko-KR" sz="1400" dirty="0"/>
              <a:t>Captured frame in 0.00 seconds.</a:t>
            </a:r>
          </a:p>
          <a:p>
            <a:pPr defTabSz="180000"/>
            <a:r>
              <a:rPr lang="en-US" altLang="ko-KR" sz="1400" dirty="0"/>
              <a:t>--- Processing captured image...</a:t>
            </a:r>
          </a:p>
          <a:p>
            <a:pPr defTabSz="180000"/>
            <a:r>
              <a:rPr lang="en-US" altLang="ko-KR" sz="1400" dirty="0"/>
              <a:t>Writing JPEG image to 'image.jpg'.</a:t>
            </a:r>
          </a:p>
          <a:p>
            <a:pPr defTabSz="180000"/>
            <a:r>
              <a:rPr lang="en-US" altLang="ko-KR" sz="1400" b="1" dirty="0" err="1"/>
              <a:t>pi</a:t>
            </a:r>
            <a:r>
              <a:rPr lang="en-US" altLang="ko-KR" sz="1400" b="1" err="1"/>
              <a:t>@</a:t>
            </a:r>
            <a:r>
              <a:rPr lang="en-US" altLang="ko-KR" sz="1400" b="1"/>
              <a:t>pi</a:t>
            </a:r>
            <a:r>
              <a:rPr lang="en-US" altLang="ko-KR" sz="1400" b="1" dirty="0"/>
              <a:t>:~/ch04/images $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C30723-27F4-49A4-832E-9C43062E0443}"/>
              </a:ext>
            </a:extLst>
          </p:cNvPr>
          <p:cNvSpPr/>
          <p:nvPr/>
        </p:nvSpPr>
        <p:spPr>
          <a:xfrm>
            <a:off x="609600" y="5844570"/>
            <a:ext cx="8153400" cy="73866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fr-FR" altLang="ko-KR" sz="1400" b="1" dirty="0"/>
              <a:t>pi@pi:~/ch04/images $ ls</a:t>
            </a:r>
          </a:p>
          <a:p>
            <a:pPr defTabSz="180000"/>
            <a:r>
              <a:rPr lang="en-US" altLang="ko-KR" sz="1400" dirty="0"/>
              <a:t>image.jpg</a:t>
            </a:r>
          </a:p>
          <a:p>
            <a:pPr defTabSz="180000"/>
            <a:r>
              <a:rPr lang="fr-FR" altLang="ko-KR" sz="1400" b="1" dirty="0"/>
              <a:t>pi@pi:~/ch04/images </a:t>
            </a:r>
            <a:r>
              <a:rPr lang="fr-FR" altLang="ko-KR" sz="1400" b="1"/>
              <a:t>$ 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823043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E3A52-AA6A-44C0-89C1-4CAF4104F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VNC </a:t>
            </a:r>
            <a:r>
              <a:rPr lang="ko-KR" altLang="en-US" dirty="0"/>
              <a:t>뷰어를 이용하여 사진 보기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5D3CE51-3A3F-4C36-B988-A7E1B3B7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B02D5A8-214C-C0DF-19ED-567D26CF7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65" y="1412777"/>
            <a:ext cx="6438599" cy="519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84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CA267-2BA9-425C-80FB-53DB82874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fswebcam</a:t>
            </a:r>
            <a:r>
              <a:rPr lang="ko-KR" altLang="en-US" dirty="0"/>
              <a:t>으로 사진 촬영 및 사진 파일 보기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050EDA-903B-40DF-8E4D-3DF3A5E0F9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fswebcam</a:t>
            </a:r>
            <a:r>
              <a:rPr lang="en-US" altLang="ko-KR" dirty="0"/>
              <a:t> </a:t>
            </a:r>
            <a:r>
              <a:rPr lang="ko-KR" altLang="en-US" dirty="0"/>
              <a:t>프로그램의 옵션</a:t>
            </a:r>
            <a:r>
              <a:rPr lang="en-US" altLang="ko-KR" dirty="0"/>
              <a:t>: 180</a:t>
            </a:r>
            <a:r>
              <a:rPr lang="ko-KR" altLang="en-US" dirty="0"/>
              <a:t>도 회전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F2AE0-E082-4ECA-9215-3A609A9E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E3DFD18-6999-4F71-AF7F-3D1366FE01DC}"/>
              </a:ext>
            </a:extLst>
          </p:cNvPr>
          <p:cNvSpPr/>
          <p:nvPr/>
        </p:nvSpPr>
        <p:spPr>
          <a:xfrm>
            <a:off x="810072" y="1894807"/>
            <a:ext cx="7955976" cy="30777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/>
              <a:t>pi@pi</a:t>
            </a:r>
            <a:r>
              <a:rPr lang="en-US" altLang="ko-KR" sz="1400" dirty="0"/>
              <a:t>:~/</a:t>
            </a:r>
            <a:r>
              <a:rPr lang="en-US" altLang="ko-KR" sz="1400"/>
              <a:t>ch04/images $ </a:t>
            </a:r>
            <a:r>
              <a:rPr lang="en-US" altLang="ko-KR" sz="1400" b="1"/>
              <a:t>fswebcam</a:t>
            </a:r>
            <a:r>
              <a:rPr lang="en-US" altLang="ko-KR" sz="1400" b="1" dirty="0"/>
              <a:t> -r 640x480 --rotate 180 --jpeg </a:t>
            </a:r>
            <a:r>
              <a:rPr lang="en-US" altLang="ko-KR" sz="1400" b="1"/>
              <a:t>95 option.jpg</a:t>
            </a:r>
            <a:endParaRPr lang="en-US" altLang="ko-KR" sz="1400" b="1" dirty="0"/>
          </a:p>
        </p:txBody>
      </p:sp>
      <p:pic>
        <p:nvPicPr>
          <p:cNvPr id="7" name="그림 6" descr="텍스트, 스크린샷, 소프트웨어, 웹 페이지이(가) 표시된 사진&#10;&#10;자동 생성된 설명">
            <a:extLst>
              <a:ext uri="{FF2B5EF4-FFF2-40B4-BE49-F238E27FC236}">
                <a16:creationId xmlns:a16="http://schemas.microsoft.com/office/drawing/2014/main" id="{362B7DDA-5B13-F06E-84C9-9EDE27FD8D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72" y="2318833"/>
            <a:ext cx="5490120" cy="442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014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E26DD8E-1077-4CCA-BFE8-C4AE1992C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DE76485-DFFF-4A40-AB6A-71626FB8C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4.4 </a:t>
            </a:r>
            <a:r>
              <a:rPr lang="ko-KR" altLang="en-US"/>
              <a:t>파이썬 </a:t>
            </a:r>
            <a:r>
              <a:rPr lang="ko-KR" altLang="en-US" dirty="0"/>
              <a:t>가상환경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560FE2-5CBB-4F53-A487-49015FB220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5605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A9C580-DDC6-45AE-80CD-91DFE530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파이썬</a:t>
            </a:r>
            <a:r>
              <a:rPr lang="ko-KR" altLang="en-US"/>
              <a:t> 가상환경 개념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B21DC9-CE96-4FC4-8057-86BC2ADD933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351840" cy="5040560"/>
          </a:xfrm>
        </p:spPr>
        <p:txBody>
          <a:bodyPr/>
          <a:lstStyle/>
          <a:p>
            <a:r>
              <a:rPr lang="ko-KR" altLang="en-US" dirty="0"/>
              <a:t>가상환경 개념</a:t>
            </a:r>
            <a:endParaRPr lang="en-US" altLang="ko-KR" dirty="0"/>
          </a:p>
          <a:p>
            <a:pPr lvl="1"/>
            <a:r>
              <a:rPr lang="ko-KR" altLang="en-US" dirty="0" err="1"/>
              <a:t>파이썬을</a:t>
            </a:r>
            <a:r>
              <a:rPr lang="ko-KR" altLang="en-US" dirty="0"/>
              <a:t> 실행할 수 있는 완벽히 독립된 </a:t>
            </a:r>
            <a:r>
              <a:rPr lang="ko-KR" altLang="en-US"/>
              <a:t>실행 환경</a:t>
            </a:r>
            <a:endParaRPr lang="en-US" altLang="ko-KR"/>
          </a:p>
          <a:p>
            <a:pPr lvl="1"/>
            <a:r>
              <a:rPr lang="ko-KR" altLang="en-US"/>
              <a:t>시스템에는 </a:t>
            </a:r>
            <a:r>
              <a:rPr lang="ko-KR" altLang="en-US" dirty="0"/>
              <a:t>여러 개의 </a:t>
            </a:r>
            <a:r>
              <a:rPr lang="ko-KR" altLang="en-US"/>
              <a:t>가상환경을 설치 가능</a:t>
            </a:r>
            <a:endParaRPr lang="en-US" altLang="ko-KR"/>
          </a:p>
          <a:p>
            <a:pPr lvl="1"/>
            <a:r>
              <a:rPr lang="ko-KR" altLang="en-US"/>
              <a:t>개발자는 </a:t>
            </a:r>
            <a:r>
              <a:rPr lang="ko-KR" altLang="en-US" dirty="0"/>
              <a:t>하나의 가상환경을 선택하여 프로그램을 </a:t>
            </a:r>
            <a:r>
              <a:rPr lang="ko-KR" altLang="en-US"/>
              <a:t>작성하고 실행</a:t>
            </a:r>
            <a:endParaRPr lang="en-US" altLang="ko-KR"/>
          </a:p>
          <a:p>
            <a:pPr lvl="1"/>
            <a:endParaRPr lang="en-US" altLang="ko-KR"/>
          </a:p>
          <a:p>
            <a:r>
              <a:rPr lang="ko-KR" altLang="en-US"/>
              <a:t>서로 </a:t>
            </a:r>
            <a:r>
              <a:rPr lang="ko-KR" altLang="en-US" dirty="0"/>
              <a:t>다른 </a:t>
            </a:r>
            <a:r>
              <a:rPr lang="ko-KR" altLang="en-US" dirty="0" err="1"/>
              <a:t>파이썬</a:t>
            </a:r>
            <a:r>
              <a:rPr lang="ko-KR" altLang="en-US" dirty="0"/>
              <a:t> 버전이 설치된 </a:t>
            </a:r>
            <a:r>
              <a:rPr lang="en-US" altLang="ko-KR" dirty="0"/>
              <a:t>2</a:t>
            </a:r>
            <a:r>
              <a:rPr lang="ko-KR" altLang="en-US"/>
              <a:t>개의 가상환경 사례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69A291-2F5D-43CE-86C4-B30CF2E7C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4CCC2E-B89B-40B4-8443-58664BD07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927883"/>
            <a:ext cx="6336704" cy="2730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73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D98B38-60D2-448A-B18E-5FC04948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err="1"/>
              <a:t>파이썬</a:t>
            </a:r>
            <a:r>
              <a:rPr lang="ko-KR" altLang="en-US"/>
              <a:t> 가상환경 사례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0095DE-210D-41EA-9D67-023209D59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279832" cy="5040560"/>
          </a:xfrm>
        </p:spPr>
        <p:txBody>
          <a:bodyPr/>
          <a:lstStyle/>
          <a:p>
            <a:r>
              <a:rPr lang="ko-KR" altLang="en-US" dirty="0"/>
              <a:t>동일한 </a:t>
            </a:r>
            <a:r>
              <a:rPr lang="ko-KR" altLang="en-US" dirty="0" err="1"/>
              <a:t>파이썬</a:t>
            </a:r>
            <a:r>
              <a:rPr lang="ko-KR" altLang="en-US" dirty="0"/>
              <a:t> 버전에 서로 다른 버전의 패키지가 설치된 </a:t>
            </a:r>
            <a:r>
              <a:rPr lang="en-US" altLang="ko-KR" dirty="0"/>
              <a:t>2</a:t>
            </a:r>
            <a:r>
              <a:rPr lang="ko-KR" altLang="en-US"/>
              <a:t>개의 가상환경 사례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006856-C235-44F8-93A8-E2FDD29D6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B8E537-1D1F-4C31-BF34-D63BA2C27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018" y="2420888"/>
            <a:ext cx="7281600" cy="379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57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7722A6-0F64-49EC-93DD-348CE78ED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87CD96-99FC-44FB-84EF-7BF00FCCE45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가상환경 설치</a:t>
            </a:r>
            <a:endParaRPr lang="en-US" altLang="ko-KR" dirty="0"/>
          </a:p>
          <a:p>
            <a:pPr lvl="1"/>
            <a:r>
              <a:rPr lang="ko-KR" altLang="en-US" dirty="0"/>
              <a:t>가상환경 설치에는 다양한 방법이 있음</a:t>
            </a:r>
            <a:endParaRPr lang="en-US" altLang="ko-KR" dirty="0"/>
          </a:p>
          <a:p>
            <a:pPr lvl="1"/>
            <a:r>
              <a:rPr lang="ko-KR" altLang="en-US" dirty="0"/>
              <a:t>표준방법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5011ED-B9D0-4FF9-AD06-8DFCBC0F2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85BA85-8DB0-43B8-8CB1-CAB23A9C8C8D}"/>
              </a:ext>
            </a:extLst>
          </p:cNvPr>
          <p:cNvSpPr/>
          <p:nvPr/>
        </p:nvSpPr>
        <p:spPr>
          <a:xfrm>
            <a:off x="1096366" y="2732345"/>
            <a:ext cx="3096344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/>
              <a:t>python </a:t>
            </a:r>
            <a:r>
              <a:rPr lang="en-US" altLang="ko-KR" sz="1600" b="1">
                <a:solidFill>
                  <a:srgbClr val="C00000"/>
                </a:solidFill>
              </a:rPr>
              <a:t>-m </a:t>
            </a:r>
            <a:r>
              <a:rPr lang="en-US" altLang="ko-KR" sz="1600" dirty="0" err="1"/>
              <a:t>venv</a:t>
            </a:r>
            <a:r>
              <a:rPr lang="en-US" altLang="ko-KR" sz="1600" dirty="0"/>
              <a:t> path/</a:t>
            </a:r>
            <a:r>
              <a:rPr lang="en-US" altLang="ko-KR" sz="1600" dirty="0" err="1"/>
              <a:t>myenv</a:t>
            </a:r>
            <a:endParaRPr lang="en-US" altLang="ko-KR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CF507-3214-44D5-893D-382556B4C733}"/>
              </a:ext>
            </a:extLst>
          </p:cNvPr>
          <p:cNvSpPr txBox="1"/>
          <p:nvPr/>
        </p:nvSpPr>
        <p:spPr>
          <a:xfrm>
            <a:off x="4595486" y="2261072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C00000"/>
                </a:solidFill>
              </a:rPr>
              <a:t>가상환경 이름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83B082-DD55-46E6-AD48-AAE7A0683B65}"/>
              </a:ext>
            </a:extLst>
          </p:cNvPr>
          <p:cNvSpPr/>
          <p:nvPr/>
        </p:nvSpPr>
        <p:spPr>
          <a:xfrm>
            <a:off x="1096366" y="3213080"/>
            <a:ext cx="6283946" cy="116955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pi@pi</a:t>
            </a:r>
            <a:r>
              <a:rPr lang="en-US" altLang="ko-KR" sz="1400" b="1" dirty="0"/>
              <a:t>:~ $ cd ~</a:t>
            </a:r>
          </a:p>
          <a:p>
            <a:r>
              <a:rPr lang="en-US" altLang="ko-KR" sz="1400" b="1"/>
              <a:t>pi@pi</a:t>
            </a:r>
            <a:r>
              <a:rPr lang="en-US" altLang="ko-KR" sz="1400" b="1" dirty="0"/>
              <a:t>:~ $ </a:t>
            </a:r>
            <a:r>
              <a:rPr lang="en-US" altLang="ko-KR" sz="1400" b="1"/>
              <a:t>python -m venv myenv</a:t>
            </a:r>
            <a:endParaRPr lang="en-US" altLang="ko-KR" sz="1400" b="1" dirty="0"/>
          </a:p>
          <a:p>
            <a:r>
              <a:rPr lang="en-US" altLang="ko-KR" sz="1400" b="1"/>
              <a:t>pi@pi</a:t>
            </a:r>
            <a:r>
              <a:rPr lang="en-US" altLang="ko-KR" sz="1400" b="1" dirty="0"/>
              <a:t>:~ $ ls</a:t>
            </a:r>
          </a:p>
          <a:p>
            <a:r>
              <a:rPr lang="en-US" altLang="ko-KR" sz="1400" dirty="0"/>
              <a:t>ch01 ch02 </a:t>
            </a:r>
            <a:r>
              <a:rPr lang="en-US" altLang="ko-KR" sz="1400"/>
              <a:t>ch03 ch04 myenv</a:t>
            </a:r>
            <a:endParaRPr lang="en-US" altLang="ko-KR" sz="1400" dirty="0"/>
          </a:p>
          <a:p>
            <a:r>
              <a:rPr lang="en-US" altLang="ko-KR" sz="1400" b="1"/>
              <a:t>pi@pi:~ $</a:t>
            </a:r>
            <a:endParaRPr lang="en-US" altLang="ko-KR" sz="1400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77FC20C-F7E9-40B5-8C92-CD155B67A2F7}"/>
              </a:ext>
            </a:extLst>
          </p:cNvPr>
          <p:cNvCxnSpPr/>
          <p:nvPr/>
        </p:nvCxnSpPr>
        <p:spPr>
          <a:xfrm flipH="1">
            <a:off x="3851920" y="2419178"/>
            <a:ext cx="720080" cy="393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5A8D823-792D-4322-8C06-8429FDB15216}"/>
              </a:ext>
            </a:extLst>
          </p:cNvPr>
          <p:cNvSpPr/>
          <p:nvPr/>
        </p:nvSpPr>
        <p:spPr>
          <a:xfrm>
            <a:off x="1096366" y="4528796"/>
            <a:ext cx="6283946" cy="203132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pi@pi</a:t>
            </a:r>
            <a:r>
              <a:rPr lang="en-US" altLang="ko-KR" sz="1400" b="1" dirty="0"/>
              <a:t>:~ </a:t>
            </a:r>
            <a:r>
              <a:rPr lang="en-US" altLang="ko-KR" sz="1400" b="1"/>
              <a:t>$ cd myenv</a:t>
            </a:r>
            <a:endParaRPr lang="en-US" altLang="ko-KR" sz="1400" b="1" dirty="0"/>
          </a:p>
          <a:p>
            <a:r>
              <a:rPr lang="fr-FR" altLang="ko-KR" sz="1400" b="1" dirty="0"/>
              <a:t>pi@pi:~/myenv $ ls -l</a:t>
            </a:r>
          </a:p>
          <a:p>
            <a:r>
              <a:rPr lang="en-US" altLang="ko-KR" sz="1400" dirty="0"/>
              <a:t>total 20</a:t>
            </a:r>
          </a:p>
          <a:p>
            <a:r>
              <a:rPr lang="en-US" altLang="ko-KR" sz="1400"/>
              <a:t>drwxr-xr</a:t>
            </a:r>
            <a:r>
              <a:rPr lang="en-US" altLang="ko-KR" sz="1400" dirty="0"/>
              <a:t>-x </a:t>
            </a:r>
            <a:r>
              <a:rPr lang="en-US" altLang="ko-KR" sz="1400"/>
              <a:t>2 pi pi</a:t>
            </a:r>
            <a:r>
              <a:rPr lang="en-US" altLang="ko-KR" sz="1400" dirty="0"/>
              <a:t> 4096 May 5 2023 bin</a:t>
            </a:r>
          </a:p>
          <a:p>
            <a:r>
              <a:rPr lang="en-US" altLang="ko-KR" sz="1400"/>
              <a:t>drwxr-xr</a:t>
            </a:r>
            <a:r>
              <a:rPr lang="en-US" altLang="ko-KR" sz="1400" dirty="0"/>
              <a:t>-x </a:t>
            </a:r>
            <a:r>
              <a:rPr lang="en-US" altLang="ko-KR" sz="1400"/>
              <a:t>2 pi pi</a:t>
            </a:r>
            <a:r>
              <a:rPr lang="en-US" altLang="ko-KR" sz="1400" dirty="0"/>
              <a:t> 4096 May 5 2023 include</a:t>
            </a:r>
          </a:p>
          <a:p>
            <a:r>
              <a:rPr lang="en-US" altLang="ko-KR" sz="1400"/>
              <a:t>drwxr-xr</a:t>
            </a:r>
            <a:r>
              <a:rPr lang="en-US" altLang="ko-KR" sz="1400" dirty="0"/>
              <a:t>-x </a:t>
            </a:r>
            <a:r>
              <a:rPr lang="en-US" altLang="ko-KR" sz="1400"/>
              <a:t>3 pi pi</a:t>
            </a:r>
            <a:r>
              <a:rPr lang="en-US" altLang="ko-KR" sz="1400" dirty="0"/>
              <a:t> 4096 May 5 2023 lib</a:t>
            </a:r>
          </a:p>
          <a:p>
            <a:r>
              <a:rPr lang="pt-BR" altLang="ko-KR" sz="1400" dirty="0"/>
              <a:t>-rw-r--r-- 1 pi pi 69 Mar 13 10:53 pyvenv.cfg</a:t>
            </a:r>
          </a:p>
          <a:p>
            <a:r>
              <a:rPr lang="en-US" altLang="ko-KR" sz="1400"/>
              <a:t>drwxr-xr</a:t>
            </a:r>
            <a:r>
              <a:rPr lang="en-US" altLang="ko-KR" sz="1400" dirty="0"/>
              <a:t>-x </a:t>
            </a:r>
            <a:r>
              <a:rPr lang="en-US" altLang="ko-KR" sz="1400"/>
              <a:t>3 pi pi</a:t>
            </a:r>
            <a:r>
              <a:rPr lang="en-US" altLang="ko-KR" sz="1400" dirty="0"/>
              <a:t> 4096 May 5 2023 share</a:t>
            </a:r>
          </a:p>
          <a:p>
            <a:r>
              <a:rPr lang="en-US" altLang="ko-KR" sz="1400" b="1"/>
              <a:t>pi@pi:~/myenv $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325936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CC208-030D-45DF-AB05-5788B3CF9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FF1F27-EBD2-4547-9ADB-B5E7754EF8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가상환경 활성화</a:t>
            </a:r>
            <a:endParaRPr lang="en-US" altLang="ko-KR" dirty="0"/>
          </a:p>
          <a:p>
            <a:pPr lvl="1"/>
            <a:r>
              <a:rPr lang="ko-KR" altLang="en-US"/>
              <a:t>가상환경을 활성화하여야 가상환경 사용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가상환경 비활성화</a:t>
            </a:r>
            <a:endParaRPr lang="en-US" altLang="ko-KR" dirty="0"/>
          </a:p>
          <a:p>
            <a:pPr lvl="1" fontAlgn="base"/>
            <a:r>
              <a:rPr lang="ko-KR" altLang="en-US" dirty="0"/>
              <a:t>더이상 가상환경을 사용하지 않는 경우 가상환경을 비활성화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A70442-3915-4032-AE9F-85FE51DE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A4448C-F349-44D6-B6F3-2F130DD62D4A}"/>
              </a:ext>
            </a:extLst>
          </p:cNvPr>
          <p:cNvSpPr/>
          <p:nvPr/>
        </p:nvSpPr>
        <p:spPr>
          <a:xfrm>
            <a:off x="1213822" y="2276872"/>
            <a:ext cx="6656688" cy="58477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pi@pi</a:t>
            </a:r>
            <a:r>
              <a:rPr lang="en-US" altLang="ko-KR" sz="1400" b="1" dirty="0"/>
              <a:t>:~/ch04 </a:t>
            </a:r>
            <a:r>
              <a:rPr lang="en-US" altLang="ko-KR" sz="1400" b="1"/>
              <a:t>$ source ~/myenv</a:t>
            </a:r>
            <a:r>
              <a:rPr lang="en-US" altLang="ko-KR" sz="1400" b="1" dirty="0"/>
              <a:t>/bin/activate</a:t>
            </a:r>
          </a:p>
          <a:p>
            <a:r>
              <a:rPr lang="en-US" altLang="ko-KR" sz="1400"/>
              <a:t>(myenv) </a:t>
            </a:r>
            <a:r>
              <a:rPr lang="en-US" altLang="ko-KR" sz="1400" b="1"/>
              <a:t>pi@pi:~/ch04 $</a:t>
            </a:r>
            <a:endParaRPr lang="fr-FR" altLang="ko-KR" sz="14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6F7538-A63E-47CA-B533-778C659188DC}"/>
              </a:ext>
            </a:extLst>
          </p:cNvPr>
          <p:cNvSpPr txBox="1"/>
          <p:nvPr/>
        </p:nvSpPr>
        <p:spPr>
          <a:xfrm>
            <a:off x="1213822" y="3024245"/>
            <a:ext cx="6840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600"/>
              <a:t>가상환경 활성화 </a:t>
            </a:r>
            <a:r>
              <a:rPr lang="ko-KR" altLang="en-US" sz="1600" dirty="0"/>
              <a:t>표시로 </a:t>
            </a:r>
            <a:r>
              <a:rPr lang="ko-KR" altLang="en-US" sz="1600" dirty="0" err="1"/>
              <a:t>프롬프트앞에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myenv</a:t>
            </a:r>
            <a:r>
              <a:rPr lang="en-US" altLang="ko-KR" sz="1600" dirty="0"/>
              <a:t>)</a:t>
            </a:r>
            <a:r>
              <a:rPr lang="ko-KR" altLang="en-US" sz="1600" dirty="0"/>
              <a:t>라는 </a:t>
            </a:r>
            <a:r>
              <a:rPr lang="ko-KR" altLang="en-US" sz="1600"/>
              <a:t>가상환경 이름 출력</a:t>
            </a:r>
            <a:endParaRPr lang="ko-KR" altLang="en-US" sz="16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BC6776C-C95C-410A-A074-DA95FC220689}"/>
              </a:ext>
            </a:extLst>
          </p:cNvPr>
          <p:cNvCxnSpPr>
            <a:cxnSpLocks/>
          </p:cNvCxnSpPr>
          <p:nvPr/>
        </p:nvCxnSpPr>
        <p:spPr>
          <a:xfrm flipV="1">
            <a:off x="1763688" y="2874828"/>
            <a:ext cx="1" cy="1734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7E9909-08F5-4E79-92D7-B3EC653C3FFB}"/>
              </a:ext>
            </a:extLst>
          </p:cNvPr>
          <p:cNvSpPr/>
          <p:nvPr/>
        </p:nvSpPr>
        <p:spPr>
          <a:xfrm>
            <a:off x="1243656" y="4608139"/>
            <a:ext cx="6656688" cy="58477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(myenv) pi@pi</a:t>
            </a:r>
            <a:r>
              <a:rPr lang="en-US" altLang="ko-KR" sz="1400" b="1" dirty="0"/>
              <a:t>:~/ch04 </a:t>
            </a:r>
            <a:r>
              <a:rPr lang="en-US" altLang="ko-KR" sz="1400" b="1"/>
              <a:t>$ </a:t>
            </a:r>
            <a:r>
              <a:rPr lang="en-US" altLang="ko-KR" sz="1400" b="1" dirty="0"/>
              <a:t>deactivate</a:t>
            </a:r>
          </a:p>
          <a:p>
            <a:r>
              <a:rPr lang="en-US" altLang="ko-KR" sz="1400" b="1"/>
              <a:t>pi@pi:~/ch04 $</a:t>
            </a:r>
            <a:endParaRPr lang="nb-NO" altLang="ko-KR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792F0-8AE5-4471-AC44-47776FC430B4}"/>
              </a:ext>
            </a:extLst>
          </p:cNvPr>
          <p:cNvSpPr txBox="1"/>
          <p:nvPr/>
        </p:nvSpPr>
        <p:spPr>
          <a:xfrm>
            <a:off x="1227677" y="5436513"/>
            <a:ext cx="6840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600"/>
              <a:t>가상환경 비활성화 표시로 </a:t>
            </a:r>
            <a:r>
              <a:rPr lang="ko-KR" altLang="en-US" sz="1600" dirty="0"/>
              <a:t>프롬프트 앞에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myenv</a:t>
            </a:r>
            <a:r>
              <a:rPr lang="en-US" altLang="ko-KR" sz="1600" dirty="0"/>
              <a:t>)</a:t>
            </a:r>
            <a:r>
              <a:rPr lang="ko-KR" altLang="en-US" sz="1600"/>
              <a:t>가 사라짐</a:t>
            </a:r>
            <a:endParaRPr lang="ko-KR" altLang="en-US" sz="1600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7B039C5-067E-44C8-8F9B-AB9661C206EE}"/>
              </a:ext>
            </a:extLst>
          </p:cNvPr>
          <p:cNvCxnSpPr>
            <a:cxnSpLocks/>
          </p:cNvCxnSpPr>
          <p:nvPr/>
        </p:nvCxnSpPr>
        <p:spPr>
          <a:xfrm flipV="1">
            <a:off x="1331640" y="5192914"/>
            <a:ext cx="0" cy="24359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9659367-19B2-480B-816B-B93CB5E2A044}"/>
              </a:ext>
            </a:extLst>
          </p:cNvPr>
          <p:cNvSpPr txBox="1"/>
          <p:nvPr/>
        </p:nvSpPr>
        <p:spPr>
          <a:xfrm>
            <a:off x="6777160" y="2312597"/>
            <a:ext cx="1754192" cy="476726"/>
          </a:xfrm>
          <a:prstGeom prst="wedgeRoundRectCallout">
            <a:avLst>
              <a:gd name="adj1" fmla="val -112267"/>
              <a:gd name="adj2" fmla="val -240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ko-KR" altLang="en-US" dirty="0"/>
              <a:t>현재 디렉터리 </a:t>
            </a:r>
            <a:r>
              <a:rPr lang="en-US" altLang="ko-KR" dirty="0"/>
              <a:t>~/ch04</a:t>
            </a:r>
            <a:r>
              <a:rPr lang="ko-KR" altLang="en-US" dirty="0"/>
              <a:t>는 중요하지 않다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11940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C2EBE-F90E-4F67-90AB-76D50C28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 </a:t>
            </a:r>
            <a:r>
              <a:rPr lang="ko-KR" altLang="en-US" dirty="0"/>
              <a:t>명령과 가상환경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E0E92-7D57-406C-9267-211916A8A46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/>
              <a:t>pip</a:t>
            </a:r>
          </a:p>
          <a:p>
            <a:pPr lvl="1"/>
            <a:r>
              <a:rPr lang="en-US" altLang="ko-KR" b="1"/>
              <a:t>package </a:t>
            </a:r>
            <a:r>
              <a:rPr lang="en-US" altLang="ko-KR" b="1" dirty="0"/>
              <a:t>installer for Python</a:t>
            </a:r>
          </a:p>
          <a:p>
            <a:pPr lvl="1"/>
            <a:r>
              <a:rPr lang="en-US" altLang="ko-KR"/>
              <a:t>Python</a:t>
            </a:r>
            <a:r>
              <a:rPr lang="ko-KR" altLang="en-US" dirty="0"/>
              <a:t>으로 작성된 소프트웨어 패키지를 설치하고 관리하는 데 사용되는 패키지 </a:t>
            </a:r>
            <a:r>
              <a:rPr lang="ko-KR" altLang="en-US"/>
              <a:t>관리 소프트웨어</a:t>
            </a:r>
            <a:endParaRPr lang="en-US" altLang="ko-KR"/>
          </a:p>
          <a:p>
            <a:pPr lvl="1"/>
            <a:endParaRPr lang="en-US" altLang="ko-KR" dirty="0"/>
          </a:p>
          <a:p>
            <a:r>
              <a:rPr lang="en-US" altLang="ko-KR"/>
              <a:t>pip</a:t>
            </a:r>
            <a:r>
              <a:rPr lang="ko-KR" altLang="en-US"/>
              <a:t> 옵션 사례</a:t>
            </a:r>
            <a:r>
              <a:rPr lang="en-US" altLang="ko-KR"/>
              <a:t>(numpy </a:t>
            </a:r>
            <a:r>
              <a:rPr lang="ko-KR" altLang="en-US"/>
              <a:t>패키지에 대해</a:t>
            </a:r>
            <a:r>
              <a:rPr lang="en-US" altLang="ko-KR"/>
              <a:t>)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8DFBF-D946-4E38-ABCF-867698EB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725" y="1052736"/>
            <a:ext cx="533400" cy="244476"/>
          </a:xfrm>
        </p:spPr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08531D-B311-41D7-A638-1A8BBB18F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696" y="3789040"/>
            <a:ext cx="6911680" cy="205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4243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2A886-DB4F-4C18-810E-AA7A7AEB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가상환경 삭제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3F2B55-32FE-4FDA-9174-7D1E39B7D79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가상환경이 필요 </a:t>
            </a:r>
            <a:r>
              <a:rPr lang="ko-KR" altLang="en-US" dirty="0"/>
              <a:t>없는 경우 삭제</a:t>
            </a:r>
            <a:endParaRPr lang="en-US" altLang="ko-KR" dirty="0"/>
          </a:p>
          <a:p>
            <a:pPr lvl="1"/>
            <a:r>
              <a:rPr lang="ko-KR" altLang="en-US"/>
              <a:t>가상환경 </a:t>
            </a:r>
            <a:r>
              <a:rPr lang="ko-KR" altLang="en-US" dirty="0"/>
              <a:t>디렉터리를 지우면 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67DFFD-A108-4289-86EE-F6CBEA7F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5CADB6-41A3-477E-8A93-A1670D5DD4A5}"/>
              </a:ext>
            </a:extLst>
          </p:cNvPr>
          <p:cNvSpPr/>
          <p:nvPr/>
        </p:nvSpPr>
        <p:spPr>
          <a:xfrm>
            <a:off x="1259632" y="2276872"/>
            <a:ext cx="6552728" cy="95410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pt-BR" altLang="ko-KR" sz="1400" b="1" dirty="0"/>
              <a:t>pi@pi:~/ch04 $ rm -r -f ~/myenv</a:t>
            </a:r>
          </a:p>
          <a:p>
            <a:r>
              <a:rPr lang="en-US" altLang="ko-KR" sz="1400" b="1"/>
              <a:t>pi@pi</a:t>
            </a:r>
            <a:r>
              <a:rPr lang="en-US" altLang="ko-KR" sz="1400" b="1" dirty="0"/>
              <a:t>:~/ch04 $ ls ~/</a:t>
            </a:r>
          </a:p>
          <a:p>
            <a:r>
              <a:rPr lang="pl-PL" altLang="ko-KR" sz="1400" dirty="0"/>
              <a:t>ch01 ch02 ch03 ch04</a:t>
            </a:r>
          </a:p>
          <a:p>
            <a:r>
              <a:rPr lang="en-US" altLang="ko-KR" sz="1400" b="1"/>
              <a:t>pi@pi</a:t>
            </a:r>
            <a:r>
              <a:rPr lang="en-US" altLang="ko-KR" sz="1400" b="1" dirty="0"/>
              <a:t>:~/</a:t>
            </a:r>
            <a:r>
              <a:rPr lang="en-US" altLang="ko-KR" sz="1400" b="1"/>
              <a:t>ch04 $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856313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D34DC33-286A-4DEF-A4F4-23A328E75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0DC1A71-EE4A-4AEB-B9E6-B2CFA2A7C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/>
              <a:t>4.5 OpenCV</a:t>
            </a:r>
            <a:r>
              <a:rPr lang="ko-KR" altLang="en-US" dirty="0"/>
              <a:t>로 카메라 제어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08CA47-435B-472E-B38C-C1960DB071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856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DDBAFE-BF6A-48E9-894F-A2C664B52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OpenCV </a:t>
            </a:r>
            <a:r>
              <a:rPr lang="ko-KR" altLang="en-US" dirty="0"/>
              <a:t>개요 및 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EBB1F3-5E03-41A6-9E0A-0433A8DA4A8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OpenCV</a:t>
            </a:r>
          </a:p>
          <a:p>
            <a:pPr lvl="1"/>
            <a:r>
              <a:rPr lang="en-US" altLang="ko-KR"/>
              <a:t>Open Source Computer Vision Library</a:t>
            </a:r>
          </a:p>
          <a:p>
            <a:pPr lvl="1"/>
            <a:r>
              <a:rPr lang="ko-KR" altLang="en-US"/>
              <a:t>컴퓨터 </a:t>
            </a:r>
            <a:r>
              <a:rPr lang="ko-KR" altLang="en-US" dirty="0"/>
              <a:t>비전 및 기계 학습 소프트웨어를 </a:t>
            </a:r>
            <a:r>
              <a:rPr lang="ko-KR" altLang="en-US"/>
              <a:t>위한 라이브러리</a:t>
            </a:r>
            <a:endParaRPr lang="en-US" altLang="ko-KR"/>
          </a:p>
          <a:p>
            <a:pPr lvl="1"/>
            <a:r>
              <a:rPr lang="ko-KR" altLang="en-US"/>
              <a:t>공개 </a:t>
            </a:r>
            <a:r>
              <a:rPr lang="ko-KR" altLang="en-US" dirty="0"/>
              <a:t>소프트웨어</a:t>
            </a:r>
          </a:p>
          <a:p>
            <a:pPr lvl="1"/>
            <a:r>
              <a:rPr lang="en-US" altLang="ko-KR" dirty="0"/>
              <a:t>C++, Python, Java, MATLAB </a:t>
            </a:r>
            <a:r>
              <a:rPr lang="ko-KR" altLang="en-US" dirty="0"/>
              <a:t>등 </a:t>
            </a:r>
            <a:r>
              <a:rPr lang="ko-KR" altLang="en-US"/>
              <a:t>언어별로 제공</a:t>
            </a:r>
            <a:r>
              <a:rPr lang="en-US" altLang="ko-KR"/>
              <a:t> </a:t>
            </a:r>
          </a:p>
          <a:p>
            <a:pPr lvl="1"/>
            <a:r>
              <a:rPr lang="en-US" altLang="ko-KR"/>
              <a:t>Windows</a:t>
            </a:r>
            <a:r>
              <a:rPr lang="en-US" altLang="ko-KR" dirty="0"/>
              <a:t>, Linux, Android, Mac OS </a:t>
            </a:r>
            <a:r>
              <a:rPr lang="ko-KR" altLang="en-US" dirty="0"/>
              <a:t>등 </a:t>
            </a:r>
            <a:r>
              <a:rPr lang="ko-KR" altLang="en-US"/>
              <a:t>다양한 플랫폼 </a:t>
            </a:r>
            <a:r>
              <a:rPr lang="ko-KR" altLang="en-US" dirty="0"/>
              <a:t>별로 제공</a:t>
            </a:r>
            <a:endParaRPr lang="en-US" altLang="ko-KR" dirty="0"/>
          </a:p>
          <a:p>
            <a:r>
              <a:rPr lang="en-US" altLang="ko-KR"/>
              <a:t>OpenCV </a:t>
            </a:r>
            <a:r>
              <a:rPr lang="ko-KR" altLang="en-US"/>
              <a:t>설치</a:t>
            </a:r>
            <a:endParaRPr lang="en-US" altLang="ko-KR"/>
          </a:p>
          <a:p>
            <a:pPr lvl="1"/>
            <a:r>
              <a:rPr lang="ko-KR" altLang="en-US"/>
              <a:t>다음 순서로 진행</a:t>
            </a:r>
            <a:endParaRPr lang="en-US" altLang="ko-KR"/>
          </a:p>
          <a:p>
            <a:pPr lvl="1"/>
            <a:endParaRPr lang="ko-KR" altLang="en-US" dirty="0"/>
          </a:p>
          <a:p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781F4-B1CC-49FA-90C6-CDA62BF98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B5D99BF-CCF5-4CA1-B294-366724F03F6B}"/>
              </a:ext>
            </a:extLst>
          </p:cNvPr>
          <p:cNvSpPr/>
          <p:nvPr/>
        </p:nvSpPr>
        <p:spPr>
          <a:xfrm>
            <a:off x="1043609" y="4623357"/>
            <a:ext cx="7037131" cy="73866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(myenv) pi@pi:~/ch04 $ pip install opencv-python</a:t>
            </a:r>
          </a:p>
          <a:p>
            <a:r>
              <a:rPr lang="en-US" altLang="ko-KR" sz="1400"/>
              <a:t>......(</a:t>
            </a:r>
            <a:r>
              <a:rPr lang="ko-KR" altLang="en-US" sz="1400"/>
              <a:t>생략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Successfully installed numpy-2.4.2 opencv-python-4.13.0.92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971971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649FA-0E31-4773-9EC5-35A98906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OpenCV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53046-0B8C-4BA3-B7F6-EEE8A88A2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OpenCV </a:t>
            </a:r>
            <a:r>
              <a:rPr lang="ko-KR" altLang="en-US" dirty="0"/>
              <a:t>설치 확인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3DCD7-84AC-459A-A00E-C9C0F1A0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DE3908-117B-49BB-B4F6-B538ED7C77D5}"/>
              </a:ext>
            </a:extLst>
          </p:cNvPr>
          <p:cNvSpPr/>
          <p:nvPr/>
        </p:nvSpPr>
        <p:spPr>
          <a:xfrm>
            <a:off x="899592" y="1916832"/>
            <a:ext cx="7416824" cy="203132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/>
              <a:t>(myenv) pi@pi:~/ch04 $ python</a:t>
            </a:r>
          </a:p>
          <a:p>
            <a:r>
              <a:rPr lang="de-DE" altLang="ko-KR" sz="1400"/>
              <a:t>Python 3.13.5 (main, Jun 25 2025, 18:55:22)</a:t>
            </a:r>
          </a:p>
          <a:p>
            <a:r>
              <a:rPr lang="fi-FI" altLang="ko-KR" sz="1400"/>
              <a:t>[GCC 14.2.0] on linux</a:t>
            </a:r>
          </a:p>
          <a:p>
            <a:r>
              <a:rPr lang="en-US" altLang="ko-KR" sz="1400"/>
              <a:t>Type "help", "copyright", "credits" or "license" for more information.</a:t>
            </a:r>
          </a:p>
          <a:p>
            <a:r>
              <a:rPr lang="en-US" altLang="ko-KR" sz="1400"/>
              <a:t>&gt;&gt;&gt; import cv2</a:t>
            </a:r>
          </a:p>
          <a:p>
            <a:r>
              <a:rPr lang="en-US" altLang="ko-KR" sz="1400"/>
              <a:t>&gt;&gt;&gt;</a:t>
            </a:r>
          </a:p>
          <a:p>
            <a:r>
              <a:rPr lang="en-US" altLang="ko-KR" sz="1400"/>
              <a:t>&gt;&gt;&gt; cv2.__version__</a:t>
            </a:r>
          </a:p>
          <a:p>
            <a:r>
              <a:rPr lang="en-US" altLang="ko-KR" sz="1400"/>
              <a:t>'4.13.0'</a:t>
            </a:r>
          </a:p>
          <a:p>
            <a:r>
              <a:rPr lang="en-US" altLang="ko-KR" sz="1400"/>
              <a:t>&gt;&gt;&gt;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3D1D6-CC76-47F4-BA37-C7B8E82A738C}"/>
              </a:ext>
            </a:extLst>
          </p:cNvPr>
          <p:cNvSpPr txBox="1"/>
          <p:nvPr/>
        </p:nvSpPr>
        <p:spPr>
          <a:xfrm>
            <a:off x="3707904" y="2996952"/>
            <a:ext cx="2808312" cy="476726"/>
          </a:xfrm>
          <a:prstGeom prst="wedgeRoundRectCallout">
            <a:avLst>
              <a:gd name="adj1" fmla="val -125387"/>
              <a:gd name="adj2" fmla="val -180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lang="ko-KR" altLang="en-US" dirty="0"/>
              <a:t>여기에 아무런 오류 메시지가 없으면 설치가 잘 되어 있음을 의미한다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55900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E6053-8D2E-4545-A952-F82134C6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OpenCV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3A6387-1F05-49D4-BF94-234E46D2C36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 err="1"/>
              <a:t>파이썬</a:t>
            </a:r>
            <a:r>
              <a:rPr lang="ko-KR" altLang="en-US" dirty="0"/>
              <a:t> 라이브러리 버전 확인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03DF6-5396-44D0-80EA-C46F1E977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70551D5-1E2F-46DE-9076-E2898DC84C85}"/>
              </a:ext>
            </a:extLst>
          </p:cNvPr>
          <p:cNvSpPr/>
          <p:nvPr/>
        </p:nvSpPr>
        <p:spPr>
          <a:xfrm>
            <a:off x="899592" y="1844824"/>
            <a:ext cx="4742603" cy="2308324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/>
              <a:t>(</a:t>
            </a:r>
            <a:r>
              <a:rPr lang="en-US" altLang="ko-KR" sz="1200" b="1" dirty="0" err="1"/>
              <a:t>myenv</a:t>
            </a:r>
            <a:r>
              <a:rPr lang="en-US" altLang="ko-KR" sz="1200" b="1" dirty="0"/>
              <a:t>) </a:t>
            </a:r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 pip show </a:t>
            </a:r>
            <a:r>
              <a:rPr lang="en-US" altLang="ko-KR" sz="1200" b="1" dirty="0" err="1"/>
              <a:t>opencv</a:t>
            </a:r>
            <a:r>
              <a:rPr lang="en-US" altLang="ko-KR" sz="1200" b="1" dirty="0"/>
              <a:t>-python</a:t>
            </a:r>
          </a:p>
          <a:p>
            <a:r>
              <a:rPr lang="en-US" altLang="ko-KR" sz="1200" dirty="0"/>
              <a:t>Name: </a:t>
            </a:r>
            <a:r>
              <a:rPr lang="en-US" altLang="ko-KR" sz="1200" dirty="0" err="1"/>
              <a:t>opencv</a:t>
            </a:r>
            <a:r>
              <a:rPr lang="en-US" altLang="ko-KR" sz="1200" dirty="0"/>
              <a:t>-python</a:t>
            </a:r>
          </a:p>
          <a:p>
            <a:r>
              <a:rPr lang="en-US" altLang="ko-KR" sz="1200" dirty="0"/>
              <a:t>Version: 4.13.0.92</a:t>
            </a:r>
          </a:p>
          <a:p>
            <a:r>
              <a:rPr lang="en-US" altLang="ko-KR" sz="1200" dirty="0"/>
              <a:t>Summary: Wrapper package for OpenCV python bindings.</a:t>
            </a:r>
          </a:p>
          <a:p>
            <a:r>
              <a:rPr lang="en-US" altLang="ko-KR" sz="1200" dirty="0"/>
              <a:t>Home-page: https://github.com/opencv/opencv-python</a:t>
            </a:r>
          </a:p>
          <a:p>
            <a:r>
              <a:rPr lang="en-US" altLang="ko-KR" sz="1200" dirty="0"/>
              <a:t>Author:</a:t>
            </a:r>
          </a:p>
          <a:p>
            <a:r>
              <a:rPr lang="en-US" altLang="ko-KR" sz="1200" dirty="0"/>
              <a:t>Author-email:</a:t>
            </a:r>
          </a:p>
          <a:p>
            <a:r>
              <a:rPr lang="en-US" altLang="ko-KR" sz="1200" dirty="0"/>
              <a:t>License: Apache 2.0</a:t>
            </a:r>
          </a:p>
          <a:p>
            <a:r>
              <a:rPr lang="en-US" altLang="ko-KR" sz="1200" dirty="0"/>
              <a:t>Location: /home/pi/</a:t>
            </a:r>
            <a:r>
              <a:rPr lang="en-US" altLang="ko-KR" sz="1200" dirty="0" err="1"/>
              <a:t>myenv</a:t>
            </a:r>
            <a:r>
              <a:rPr lang="en-US" altLang="ko-KR" sz="1200" dirty="0"/>
              <a:t>/lib/python3.13/site-packages</a:t>
            </a:r>
          </a:p>
          <a:p>
            <a:r>
              <a:rPr lang="en-US" altLang="ko-KR" sz="1200" dirty="0"/>
              <a:t>Requires: </a:t>
            </a:r>
            <a:r>
              <a:rPr lang="en-US" altLang="ko-KR" sz="1200" dirty="0" err="1"/>
              <a:t>numpy</a:t>
            </a:r>
            <a:endParaRPr lang="en-US" altLang="ko-KR" sz="1200" dirty="0"/>
          </a:p>
          <a:p>
            <a:r>
              <a:rPr lang="en-US" altLang="ko-KR" sz="1200" dirty="0"/>
              <a:t>Required-by:</a:t>
            </a:r>
          </a:p>
          <a:p>
            <a:r>
              <a:rPr lang="en-US" altLang="ko-KR" sz="1200" b="1" dirty="0"/>
              <a:t>(</a:t>
            </a:r>
            <a:r>
              <a:rPr lang="en-US" altLang="ko-KR" sz="1200" b="1" dirty="0" err="1"/>
              <a:t>myenv</a:t>
            </a:r>
            <a:r>
              <a:rPr lang="en-US" altLang="ko-KR" sz="1200" b="1" dirty="0"/>
              <a:t>) </a:t>
            </a:r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ABA9F9-DAF0-466E-9011-729282227C81}"/>
              </a:ext>
            </a:extLst>
          </p:cNvPr>
          <p:cNvSpPr/>
          <p:nvPr/>
        </p:nvSpPr>
        <p:spPr>
          <a:xfrm>
            <a:off x="3851920" y="3849823"/>
            <a:ext cx="4847070" cy="2531506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noAutofit/>
          </a:bodyPr>
          <a:lstStyle/>
          <a:p>
            <a:r>
              <a:rPr lang="en-US" altLang="ko-KR" sz="1200" b="1" dirty="0"/>
              <a:t>(</a:t>
            </a:r>
            <a:r>
              <a:rPr lang="en-US" altLang="ko-KR" sz="1200" b="1" dirty="0" err="1"/>
              <a:t>myenv</a:t>
            </a:r>
            <a:r>
              <a:rPr lang="en-US" altLang="ko-KR" sz="1200" b="1" dirty="0"/>
              <a:t>) </a:t>
            </a:r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 pip show </a:t>
            </a:r>
            <a:r>
              <a:rPr lang="en-US" altLang="ko-KR" sz="1200" b="1" dirty="0" err="1"/>
              <a:t>numpy</a:t>
            </a:r>
            <a:endParaRPr lang="en-US" altLang="ko-KR" sz="1200" b="1" dirty="0"/>
          </a:p>
          <a:p>
            <a:r>
              <a:rPr lang="en-US" altLang="ko-KR" sz="1200" dirty="0"/>
              <a:t>Name: </a:t>
            </a:r>
            <a:r>
              <a:rPr lang="en-US" altLang="ko-KR" sz="1200" dirty="0" err="1"/>
              <a:t>numpy</a:t>
            </a:r>
            <a:endParaRPr lang="en-US" altLang="ko-KR" sz="1200" dirty="0"/>
          </a:p>
          <a:p>
            <a:r>
              <a:rPr lang="en-US" altLang="ko-KR" sz="1200" dirty="0"/>
              <a:t>Version: 2.4.2</a:t>
            </a:r>
          </a:p>
          <a:p>
            <a:r>
              <a:rPr lang="en-US" altLang="ko-KR" sz="1200" dirty="0"/>
              <a:t>Summary: Fundamental package for array computing in Python</a:t>
            </a:r>
          </a:p>
          <a:p>
            <a:r>
              <a:rPr lang="en-US" altLang="ko-KR" sz="1200" dirty="0"/>
              <a:t>Home-page: https://numpy.org</a:t>
            </a:r>
          </a:p>
          <a:p>
            <a:r>
              <a:rPr lang="en-US" altLang="ko-KR" sz="1200" dirty="0"/>
              <a:t>Author: Travis E. Oliphant et al.</a:t>
            </a:r>
          </a:p>
          <a:p>
            <a:r>
              <a:rPr lang="en-US" altLang="ko-KR" sz="1200" dirty="0"/>
              <a:t>Author-email:</a:t>
            </a:r>
          </a:p>
          <a:p>
            <a:r>
              <a:rPr lang="en-US" altLang="ko-KR" sz="1200" dirty="0"/>
              <a:t>License-Expression: BSD-3-Clause AND 0BSD AND MIT AND Zlib AND CC0-1.0</a:t>
            </a:r>
          </a:p>
          <a:p>
            <a:r>
              <a:rPr lang="en-US" altLang="ko-KR" sz="1200" dirty="0"/>
              <a:t>Location: /home/pi/</a:t>
            </a:r>
            <a:r>
              <a:rPr lang="en-US" altLang="ko-KR" sz="1200" dirty="0" err="1"/>
              <a:t>myenv</a:t>
            </a:r>
            <a:r>
              <a:rPr lang="en-US" altLang="ko-KR" sz="1200" dirty="0"/>
              <a:t>/lib/python3.13/site-packages</a:t>
            </a:r>
          </a:p>
          <a:p>
            <a:r>
              <a:rPr lang="en-US" altLang="ko-KR" sz="1200" dirty="0"/>
              <a:t>Requires:</a:t>
            </a:r>
          </a:p>
          <a:p>
            <a:r>
              <a:rPr lang="en-US" altLang="ko-KR" sz="1200" dirty="0"/>
              <a:t>Required-by: </a:t>
            </a:r>
            <a:r>
              <a:rPr lang="en-US" altLang="ko-KR" sz="1200" dirty="0" err="1"/>
              <a:t>opencv</a:t>
            </a:r>
            <a:r>
              <a:rPr lang="en-US" altLang="ko-KR" sz="1200" dirty="0"/>
              <a:t>-python</a:t>
            </a:r>
          </a:p>
          <a:p>
            <a:r>
              <a:rPr lang="en-US" altLang="ko-KR" sz="1200" b="1" dirty="0"/>
              <a:t>(</a:t>
            </a:r>
            <a:r>
              <a:rPr lang="en-US" altLang="ko-KR" sz="1200" b="1" dirty="0" err="1"/>
              <a:t>myenv</a:t>
            </a:r>
            <a:r>
              <a:rPr lang="en-US" altLang="ko-KR" sz="1200" b="1" dirty="0"/>
              <a:t>) </a:t>
            </a:r>
            <a:r>
              <a:rPr lang="en-US" altLang="ko-KR" sz="1200" b="1" dirty="0" err="1"/>
              <a:t>pi@pi</a:t>
            </a:r>
            <a:r>
              <a:rPr lang="en-US" altLang="ko-KR" sz="1200" b="1" dirty="0"/>
              <a:t>:~/ch04 $</a:t>
            </a:r>
          </a:p>
        </p:txBody>
      </p:sp>
    </p:spTree>
    <p:extLst>
      <p:ext uri="{BB962C8B-B14F-4D97-AF65-F5344CB8AC3E}">
        <p14:creationId xmlns:p14="http://schemas.microsoft.com/office/powerpoint/2010/main" val="11139838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4A5CA-149F-4C21-A96E-7CC81AC16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OpenCV </a:t>
            </a:r>
            <a:r>
              <a:rPr lang="ko-KR" altLang="en-US" dirty="0"/>
              <a:t>활용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6DC307-A7ED-4221-9C9F-F0A59212C76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OpenCV</a:t>
            </a:r>
            <a:r>
              <a:rPr lang="ko-KR" altLang="en-US" dirty="0"/>
              <a:t>를 활용하여 </a:t>
            </a:r>
            <a:r>
              <a:rPr lang="ko-KR" altLang="en-US"/>
              <a:t>다음 기능 </a:t>
            </a:r>
            <a:r>
              <a:rPr lang="ko-KR" altLang="en-US" dirty="0"/>
              <a:t>학습</a:t>
            </a:r>
          </a:p>
          <a:p>
            <a:pPr lvl="1" fontAlgn="base"/>
            <a:r>
              <a:rPr lang="ko-KR" altLang="en-US" dirty="0"/>
              <a:t>카메라로 사진 촬영</a:t>
            </a:r>
          </a:p>
          <a:p>
            <a:pPr lvl="1" fontAlgn="base"/>
            <a:r>
              <a:rPr lang="ko-KR" altLang="en-US" dirty="0"/>
              <a:t>촬영된 사진의 화면 출력</a:t>
            </a:r>
          </a:p>
          <a:p>
            <a:pPr lvl="1" fontAlgn="base"/>
            <a:r>
              <a:rPr lang="ko-KR" altLang="en-US" dirty="0"/>
              <a:t>촬영된 사진의 이미지 파일 저장</a:t>
            </a:r>
          </a:p>
          <a:p>
            <a:pPr lvl="1" fontAlgn="base"/>
            <a:r>
              <a:rPr lang="ko-KR" altLang="en-US" dirty="0"/>
              <a:t>카메라로부터 동영상 촬영 후 저장</a:t>
            </a:r>
            <a:endParaRPr lang="en-US" altLang="ko-KR" dirty="0"/>
          </a:p>
          <a:p>
            <a:pPr lvl="1" fontAlgn="base"/>
            <a:endParaRPr lang="en-US" altLang="ko-KR" dirty="0"/>
          </a:p>
          <a:p>
            <a:pPr fontAlgn="base"/>
            <a:r>
              <a:rPr lang="en-US" altLang="ko-KR"/>
              <a:t>OpenCV</a:t>
            </a:r>
            <a:r>
              <a:rPr lang="ko-KR" altLang="en-US"/>
              <a:t>를 사용하기 위해 </a:t>
            </a:r>
            <a:r>
              <a:rPr lang="en-US" altLang="ko-KR"/>
              <a:t>import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E2195C-34F6-4B20-9656-CBA3CD33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B20CE2-8DBA-4249-B935-0786D16FC183}"/>
              </a:ext>
            </a:extLst>
          </p:cNvPr>
          <p:cNvSpPr/>
          <p:nvPr/>
        </p:nvSpPr>
        <p:spPr>
          <a:xfrm>
            <a:off x="1043608" y="4221088"/>
            <a:ext cx="6264696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600"/>
              <a:t>import cv2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7678490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8BD51-B1ED-42B2-A135-BE421B6BE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OpenCV </a:t>
            </a:r>
            <a:r>
              <a:rPr lang="ko-KR" altLang="en-US"/>
              <a:t>활용 구조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A1827D-ECBF-46FE-90F0-2B7BAE1FAD2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ko-KR" altLang="en-US" dirty="0" err="1"/>
              <a:t>파이썬</a:t>
            </a:r>
            <a:r>
              <a:rPr lang="ko-KR" altLang="en-US" dirty="0"/>
              <a:t> </a:t>
            </a:r>
            <a:r>
              <a:rPr lang="ko-KR" altLang="en-US"/>
              <a:t>응용프로그램에서 </a:t>
            </a:r>
            <a:r>
              <a:rPr lang="en-US" altLang="ko-KR"/>
              <a:t>OpenCV </a:t>
            </a:r>
            <a:r>
              <a:rPr lang="ko-KR" altLang="en-US"/>
              <a:t>활용 구조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1B255C-31C1-48D3-8A1C-F5085307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34</a:t>
            </a:fld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943C5A2-41FE-46E1-8504-B948776DF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204864"/>
            <a:ext cx="7596336" cy="358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236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C92EF8-44FD-4E51-B85D-993FA309A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OpenCV</a:t>
            </a:r>
            <a:r>
              <a:rPr lang="ko-KR" altLang="en-US"/>
              <a:t>의 객체와 함수들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0132E6-D3DC-45F8-B4E3-537C88F25A4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카메라 제어와 관련된 </a:t>
            </a:r>
            <a:r>
              <a:rPr lang="en-US" altLang="ko-KR" dirty="0"/>
              <a:t>OpenCV</a:t>
            </a:r>
            <a:r>
              <a:rPr lang="ko-KR" altLang="en-US" dirty="0"/>
              <a:t>의 객체와 함수들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639EA9-4425-4396-BCD0-E65325C2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35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1FAC12F-4051-47D4-A8A8-CE35C891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282" y="1844824"/>
            <a:ext cx="7259436" cy="2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728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0670B6-5BC2-4BC6-92DC-95E08077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 이용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CAEEF8-9537-4898-A385-82C25FB3CB8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 생성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첫 번째 파라미터 </a:t>
            </a:r>
            <a:r>
              <a:rPr lang="en-US" altLang="ko-KR" dirty="0"/>
              <a:t>0</a:t>
            </a:r>
            <a:r>
              <a:rPr lang="ko-KR" altLang="en-US" dirty="0"/>
              <a:t>은 </a:t>
            </a:r>
            <a:r>
              <a:rPr lang="en-US" altLang="ko-KR" dirty="0"/>
              <a:t>0</a:t>
            </a:r>
            <a:r>
              <a:rPr lang="ko-KR" altLang="en-US" dirty="0"/>
              <a:t>번 카메라를 의미</a:t>
            </a:r>
            <a:endParaRPr lang="en-US" altLang="ko-KR" dirty="0"/>
          </a:p>
          <a:p>
            <a:pPr lvl="2"/>
            <a:r>
              <a:rPr lang="ko-KR" altLang="en-US" dirty="0"/>
              <a:t>카메라가 여러 대의 경우</a:t>
            </a:r>
            <a:r>
              <a:rPr lang="en-US" altLang="ko-KR" dirty="0"/>
              <a:t>: 0, 1, 2, …</a:t>
            </a:r>
          </a:p>
          <a:p>
            <a:pPr lvl="3"/>
            <a:r>
              <a:rPr lang="ko-KR" altLang="en-US" dirty="0"/>
              <a:t>파이 카메라와 </a:t>
            </a:r>
            <a:r>
              <a:rPr lang="en-US" altLang="ko-KR" dirty="0"/>
              <a:t>USB </a:t>
            </a:r>
            <a:r>
              <a:rPr lang="ko-KR" altLang="en-US" dirty="0"/>
              <a:t>카메라가 있는 경우 파이 카메라가 </a:t>
            </a:r>
            <a:r>
              <a:rPr lang="en-US" altLang="ko-KR" dirty="0"/>
              <a:t>0</a:t>
            </a:r>
          </a:p>
          <a:p>
            <a:pPr lvl="2"/>
            <a:r>
              <a:rPr lang="ko-KR" altLang="en-US" dirty="0"/>
              <a:t>동영상 파일인 경우 파일 경로</a:t>
            </a:r>
          </a:p>
          <a:p>
            <a:pPr lvl="1"/>
            <a:r>
              <a:rPr lang="ko-KR" altLang="en-US" dirty="0"/>
              <a:t>두 번째 파라미터는 리눅스의 경우 </a:t>
            </a:r>
            <a:r>
              <a:rPr lang="en-US" altLang="ko-KR" dirty="0"/>
              <a:t>cv2.CAP_V4L</a:t>
            </a:r>
            <a:r>
              <a:rPr lang="ko-KR" altLang="en-US" dirty="0"/>
              <a:t>을 사용</a:t>
            </a:r>
            <a:endParaRPr lang="en-US" altLang="ko-KR" dirty="0"/>
          </a:p>
          <a:p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 해제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잘못된 사용</a:t>
            </a:r>
            <a:endParaRPr lang="en-US" altLang="ko-KR" dirty="0"/>
          </a:p>
          <a:p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27DFEB-19AA-4AAA-9EBE-50E0CCF0D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ADB49A4-D6C1-45B7-ABA2-A32FEF2282AA}"/>
              </a:ext>
            </a:extLst>
          </p:cNvPr>
          <p:cNvSpPr/>
          <p:nvPr/>
        </p:nvSpPr>
        <p:spPr>
          <a:xfrm>
            <a:off x="969357" y="1825852"/>
            <a:ext cx="748774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pt-BR" altLang="ko-KR" sz="1400" dirty="0"/>
              <a:t>camera = cv2.VideoCapture(0, cv2.CAP_V4L)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51C3374-EB31-4206-A072-C3EBF2854944}"/>
              </a:ext>
            </a:extLst>
          </p:cNvPr>
          <p:cNvSpPr/>
          <p:nvPr/>
        </p:nvSpPr>
        <p:spPr>
          <a:xfrm>
            <a:off x="969357" y="4478151"/>
            <a:ext cx="748774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 err="1"/>
              <a:t>camera.release</a:t>
            </a:r>
            <a:r>
              <a:rPr lang="en-US" altLang="ko-KR" sz="1400" dirty="0"/>
              <a:t>() # camera</a:t>
            </a:r>
            <a:r>
              <a:rPr lang="ko-KR" altLang="en-US" sz="1400" dirty="0"/>
              <a:t>는 앞서 코드에서 생성된 </a:t>
            </a:r>
            <a:r>
              <a:rPr lang="en-US" altLang="ko-KR" sz="1400" dirty="0" err="1"/>
              <a:t>VideoCapture</a:t>
            </a:r>
            <a:r>
              <a:rPr lang="en-US" altLang="ko-KR" sz="1400" dirty="0"/>
              <a:t> </a:t>
            </a:r>
            <a:r>
              <a:rPr lang="ko-KR" altLang="en-US" sz="1400" dirty="0"/>
              <a:t>객체임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244ADD-CA7E-4248-B540-D20D10ACFF5C}"/>
              </a:ext>
            </a:extLst>
          </p:cNvPr>
          <p:cNvSpPr/>
          <p:nvPr/>
        </p:nvSpPr>
        <p:spPr>
          <a:xfrm>
            <a:off x="972688" y="5445224"/>
            <a:ext cx="7487744" cy="95410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camera = cv2.VideoCapture(0, cv2.CAP_V4L)</a:t>
            </a:r>
          </a:p>
          <a:p>
            <a:pPr defTabSz="180000"/>
            <a:r>
              <a:rPr lang="en-US" altLang="ko-KR" sz="1400" dirty="0"/>
              <a:t># </a:t>
            </a:r>
            <a:r>
              <a:rPr lang="en-US" altLang="ko-KR" sz="1400" dirty="0" err="1"/>
              <a:t>camera.release</a:t>
            </a:r>
            <a:r>
              <a:rPr lang="en-US" altLang="ko-KR" sz="1400" dirty="0"/>
              <a:t>()</a:t>
            </a:r>
          </a:p>
          <a:p>
            <a:pPr defTabSz="180000"/>
            <a:r>
              <a:rPr lang="en-US" altLang="ko-KR" sz="1400" dirty="0"/>
              <a:t>...</a:t>
            </a:r>
          </a:p>
          <a:p>
            <a:pPr defTabSz="180000"/>
            <a:r>
              <a:rPr lang="en-US" altLang="ko-KR" sz="1400" dirty="0"/>
              <a:t>camera = cv2.VideoCapture(0) # </a:t>
            </a:r>
            <a:r>
              <a:rPr lang="ko-KR" altLang="en-US" sz="1400" dirty="0"/>
              <a:t>여기서 오류 발생</a:t>
            </a:r>
          </a:p>
        </p:txBody>
      </p:sp>
    </p:spTree>
    <p:extLst>
      <p:ext uri="{BB962C8B-B14F-4D97-AF65-F5344CB8AC3E}">
        <p14:creationId xmlns:p14="http://schemas.microsoft.com/office/powerpoint/2010/main" val="2936919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A71B5-CB95-40A1-880F-ED5CF15C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 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CD0589-629A-45C6-8DB5-DE20D8EAC01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객체로부터 프레임 읽기</a:t>
            </a:r>
            <a:endParaRPr lang="en-US" altLang="ko-KR" dirty="0"/>
          </a:p>
          <a:p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pPr lvl="1"/>
            <a:endParaRPr lang="ko-KR" altLang="en-US" dirty="0"/>
          </a:p>
          <a:p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2A752F-8688-4981-A81A-7328ECFA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14C797A-52F9-419E-9B63-FED919CA885E}"/>
              </a:ext>
            </a:extLst>
          </p:cNvPr>
          <p:cNvSpPr/>
          <p:nvPr/>
        </p:nvSpPr>
        <p:spPr>
          <a:xfrm>
            <a:off x="1114527" y="1916832"/>
            <a:ext cx="7416825" cy="8830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 dirty="0"/>
              <a:t>ret, </a:t>
            </a:r>
            <a:r>
              <a:rPr lang="en-US" altLang="ko-KR" sz="1400"/>
              <a:t>image = camera.read</a:t>
            </a:r>
            <a:r>
              <a:rPr lang="en-US" altLang="ko-KR" sz="1400" dirty="0"/>
              <a:t>()</a:t>
            </a:r>
          </a:p>
          <a:p>
            <a:pPr defTabSz="180000"/>
            <a:r>
              <a:rPr lang="en-US" altLang="ko-KR" sz="1400" dirty="0"/>
              <a:t>if ret == False :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# read()</a:t>
            </a:r>
            <a:r>
              <a:rPr lang="ko-KR" altLang="en-US" sz="1400" dirty="0"/>
              <a:t>가 실패하였을 때 처리할 작업</a:t>
            </a:r>
          </a:p>
        </p:txBody>
      </p:sp>
    </p:spTree>
    <p:extLst>
      <p:ext uri="{BB962C8B-B14F-4D97-AF65-F5344CB8AC3E}">
        <p14:creationId xmlns:p14="http://schemas.microsoft.com/office/powerpoint/2010/main" val="39206392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D987C-8C47-413D-8E2A-FF2BFADB6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cv2.VideoCapture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6B3E8A-9F41-4BE5-ADEA-09B02BCA37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 멤버 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C14A0E-DF79-430D-9F5D-80B6AC3BB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38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20DA50-D59B-4A0F-948B-97DF689FA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1916832"/>
            <a:ext cx="6933387" cy="273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6783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5E375D-B80C-4D45-8331-2D255D2E1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4-2 </a:t>
            </a:r>
            <a:r>
              <a:rPr lang="ko-KR" altLang="en-US" dirty="0"/>
              <a:t>카메라로부터 사진을 촬영하여 파일에 저장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0FF0EFB-2486-4DE0-91A1-1867B9F4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D1AE8FE-3C9F-443A-AD57-24A9A323A2B5}"/>
              </a:ext>
            </a:extLst>
          </p:cNvPr>
          <p:cNvSpPr/>
          <p:nvPr/>
        </p:nvSpPr>
        <p:spPr>
          <a:xfrm>
            <a:off x="524675" y="1466200"/>
            <a:ext cx="82383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OpenCV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의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cv2.VideoCapture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객체를 활용하여 사진을 촬영하여 이미지 파일로 저장하는 프로그램을 작성하라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프로그램을 실행하면 초기에 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OpenCV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를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임포트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하는데 많은 시간이 걸리니 참고하도록 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C9EEC5E-DA0B-4C4A-81B9-DB502B47C4D2}"/>
              </a:ext>
            </a:extLst>
          </p:cNvPr>
          <p:cNvSpPr/>
          <p:nvPr/>
        </p:nvSpPr>
        <p:spPr>
          <a:xfrm>
            <a:off x="609601" y="2772447"/>
            <a:ext cx="7058744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import cv2</a:t>
            </a:r>
          </a:p>
          <a:p>
            <a:pPr defTabSz="180000"/>
            <a:r>
              <a:rPr lang="en-US" altLang="ko-KR" sz="1400" dirty="0"/>
              <a:t>camera = cv2.VideoCapture(0, cv2.CAP_V4L)</a:t>
            </a:r>
          </a:p>
          <a:p>
            <a:pPr defTabSz="180000"/>
            <a:r>
              <a:rPr lang="en-US" altLang="ko-KR" sz="1400" dirty="0"/>
              <a:t>ret, image = </a:t>
            </a:r>
            <a:r>
              <a:rPr lang="en-US" altLang="ko-KR" sz="1400" dirty="0" err="1"/>
              <a:t>camera.read</a:t>
            </a:r>
            <a:r>
              <a:rPr lang="en-US" altLang="ko-KR" sz="1400" dirty="0"/>
              <a:t>( )</a:t>
            </a:r>
          </a:p>
          <a:p>
            <a:pPr defTabSz="180000"/>
            <a:r>
              <a:rPr lang="en-US" altLang="ko-KR" sz="1400" dirty="0"/>
              <a:t>if ret == True:</a:t>
            </a:r>
          </a:p>
          <a:p>
            <a:pPr defTabSz="180000"/>
            <a:r>
              <a:rPr lang="en-US" altLang="ko-KR" sz="1400" dirty="0"/>
              <a:t>	# OpenCV </a:t>
            </a:r>
            <a:r>
              <a:rPr lang="ko-KR" altLang="en-US" sz="1400" dirty="0"/>
              <a:t>함수로 이미지를 파일에 저장</a:t>
            </a:r>
            <a:endParaRPr lang="en-US" altLang="ko-KR" sz="1400" dirty="0"/>
          </a:p>
          <a:p>
            <a:pPr defTabSz="180000"/>
            <a:r>
              <a:rPr lang="en-US" altLang="ko-KR" sz="1400" dirty="0"/>
              <a:t>	cv2.imwrite('image_4_2.jpg', image)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else:</a:t>
            </a:r>
          </a:p>
          <a:p>
            <a:pPr defTabSz="180000"/>
            <a:r>
              <a:rPr lang="en-US" altLang="ko-KR" sz="1400" dirty="0"/>
              <a:t>	print('</a:t>
            </a:r>
            <a:r>
              <a:rPr lang="ko-KR" altLang="en-US" sz="1400" dirty="0"/>
              <a:t>카메라로부터 프레임의 캡처할 수 없습니다</a:t>
            </a:r>
            <a:r>
              <a:rPr lang="en-US" altLang="ko-KR" sz="1400" dirty="0"/>
              <a:t>.')</a:t>
            </a:r>
          </a:p>
          <a:p>
            <a:pPr defTabSz="180000"/>
            <a:r>
              <a:rPr lang="en-US" altLang="ko-KR" sz="1400" dirty="0" err="1"/>
              <a:t>camera.release</a:t>
            </a:r>
            <a:r>
              <a:rPr lang="en-US" altLang="ko-KR" sz="1400" dirty="0"/>
              <a:t>( )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116A8A-9ADD-483A-9910-87599F6404E1}"/>
              </a:ext>
            </a:extLst>
          </p:cNvPr>
          <p:cNvSpPr/>
          <p:nvPr/>
        </p:nvSpPr>
        <p:spPr>
          <a:xfrm>
            <a:off x="602335" y="4941168"/>
            <a:ext cx="7058744" cy="95410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i-FI" altLang="ko-KR" sz="1400" b="1" dirty="0"/>
              <a:t>(myenv) pi@pi:~/ch04 $ python 4-2.py</a:t>
            </a:r>
          </a:p>
          <a:p>
            <a:r>
              <a:rPr lang="nb-NO" altLang="ko-KR" sz="1400" b="1" dirty="0"/>
              <a:t>(myenv) pi@pi:~/ch04 $ ls</a:t>
            </a:r>
          </a:p>
          <a:p>
            <a:r>
              <a:rPr lang="en-US" altLang="ko-KR" sz="1400" dirty="0"/>
              <a:t>4-2.py image_4_2.jpg</a:t>
            </a:r>
          </a:p>
          <a:p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369355E-E69B-4124-ACAB-4987C633E161}"/>
              </a:ext>
            </a:extLst>
          </p:cNvPr>
          <p:cNvSpPr/>
          <p:nvPr/>
        </p:nvSpPr>
        <p:spPr>
          <a:xfrm>
            <a:off x="524675" y="2339956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4-2.py</a:t>
            </a:r>
          </a:p>
        </p:txBody>
      </p:sp>
    </p:spTree>
    <p:extLst>
      <p:ext uri="{BB962C8B-B14F-4D97-AF65-F5344CB8AC3E}">
        <p14:creationId xmlns:p14="http://schemas.microsoft.com/office/powerpoint/2010/main" val="129764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470F1-0A4F-4DFA-B88C-D447D835C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카메라 프리뷰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BA22A1-54A0-4BA9-A081-A2996F31B22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카메라 프리뷰 만들기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이 프로그램은 </a:t>
            </a:r>
            <a:r>
              <a:rPr lang="en-US" altLang="ko-KR" dirty="0"/>
              <a:t>'ESC'</a:t>
            </a:r>
            <a:r>
              <a:rPr lang="ko-KR" altLang="en-US" dirty="0"/>
              <a:t>가 입력될 때까지 </a:t>
            </a:r>
            <a:r>
              <a:rPr lang="en-US" altLang="ko-KR" dirty="0"/>
              <a:t>while</a:t>
            </a:r>
            <a:r>
              <a:rPr lang="ko-KR" altLang="en-US" dirty="0"/>
              <a:t>문을 반복함</a:t>
            </a:r>
            <a:endParaRPr lang="en-US" altLang="ko-KR" dirty="0"/>
          </a:p>
          <a:p>
            <a:pPr lvl="1"/>
            <a:r>
              <a:rPr lang="en-US" altLang="ko-KR" dirty="0"/>
              <a:t>cv2.imshow('preview', image)</a:t>
            </a:r>
          </a:p>
          <a:p>
            <a:pPr lvl="2"/>
            <a:r>
              <a:rPr lang="en-US" altLang="ko-KR" dirty="0"/>
              <a:t>'preview'</a:t>
            </a:r>
            <a:r>
              <a:rPr lang="ko-KR" altLang="en-US" dirty="0"/>
              <a:t>라는 이름의 윈도우에 </a:t>
            </a:r>
            <a:r>
              <a:rPr lang="en-US" altLang="ko-KR" dirty="0"/>
              <a:t>image</a:t>
            </a:r>
            <a:r>
              <a:rPr lang="ko-KR" altLang="en-US" dirty="0"/>
              <a:t>를 그림</a:t>
            </a:r>
            <a:endParaRPr lang="en-US" altLang="ko-KR" dirty="0"/>
          </a:p>
          <a:p>
            <a:pPr lvl="1"/>
            <a:r>
              <a:rPr lang="en-US" altLang="ko-KR" dirty="0"/>
              <a:t>cv2.waitKey(</a:t>
            </a:r>
            <a:r>
              <a:rPr lang="en-US" altLang="ko-KR" dirty="0" err="1"/>
              <a:t>msec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dirty="0" err="1"/>
              <a:t>msec</a:t>
            </a:r>
            <a:r>
              <a:rPr lang="en-US" altLang="ko-KR" dirty="0"/>
              <a:t> </a:t>
            </a:r>
            <a:r>
              <a:rPr lang="ko-KR" altLang="en-US" dirty="0"/>
              <a:t>동안 키 입력을 기다림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F99409-272F-474F-8422-C0EFA781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CDA150-CB6B-433E-A161-7198672963E1}"/>
              </a:ext>
            </a:extLst>
          </p:cNvPr>
          <p:cNvSpPr/>
          <p:nvPr/>
        </p:nvSpPr>
        <p:spPr>
          <a:xfrm>
            <a:off x="1043608" y="1801393"/>
            <a:ext cx="7416824" cy="18158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camera = cv2.VideoCapture(0, cv2.CAP_V4L)</a:t>
            </a:r>
          </a:p>
          <a:p>
            <a:pPr defTabSz="180000"/>
            <a:r>
              <a:rPr lang="en-US" altLang="ko-KR" sz="1400" dirty="0"/>
              <a:t>while True:</a:t>
            </a:r>
          </a:p>
          <a:p>
            <a:pPr defTabSz="180000"/>
            <a:r>
              <a:rPr lang="en-US" altLang="ko-KR" sz="1400" dirty="0"/>
              <a:t>	ret, image = </a:t>
            </a:r>
            <a:r>
              <a:rPr lang="en-US" altLang="ko-KR" sz="1400" dirty="0" err="1"/>
              <a:t>camera.read</a:t>
            </a:r>
            <a:r>
              <a:rPr lang="en-US" altLang="ko-KR" sz="1400" dirty="0"/>
              <a:t>() # </a:t>
            </a:r>
            <a:r>
              <a:rPr lang="ko-KR" altLang="en-US" sz="1400" dirty="0"/>
              <a:t>카메라에서 프레임 읽기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...</a:t>
            </a:r>
            <a:endParaRPr lang="ko-KR" altLang="en-US" sz="1400" dirty="0"/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cv2.imshow('preview', image) # </a:t>
            </a:r>
            <a:r>
              <a:rPr lang="ko-KR" altLang="en-US" sz="1400" dirty="0"/>
              <a:t>프레임을 </a:t>
            </a:r>
            <a:r>
              <a:rPr lang="en-US" altLang="ko-KR" sz="1400" dirty="0"/>
              <a:t>preview </a:t>
            </a:r>
            <a:r>
              <a:rPr lang="ko-KR" altLang="en-US" sz="1400" dirty="0"/>
              <a:t>이름의 창에 출력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# 1 </a:t>
            </a:r>
            <a:r>
              <a:rPr lang="ko-KR" altLang="en-US" sz="1400" dirty="0" err="1"/>
              <a:t>밀리초</a:t>
            </a:r>
            <a:r>
              <a:rPr lang="ko-KR" altLang="en-US" sz="1400" dirty="0"/>
              <a:t> 동안 </a:t>
            </a:r>
            <a:r>
              <a:rPr lang="en-US" altLang="ko-KR" sz="1400" dirty="0"/>
              <a:t>ESC </a:t>
            </a:r>
            <a:r>
              <a:rPr lang="ko-KR" altLang="en-US" sz="1400" dirty="0"/>
              <a:t>키 입력을 기다림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if cv2.waitKey(1) == 27:	# </a:t>
            </a:r>
            <a:r>
              <a:rPr lang="ko-KR" altLang="en-US" sz="1400" dirty="0"/>
              <a:t>입력된 키가 </a:t>
            </a:r>
            <a:r>
              <a:rPr lang="en-US" altLang="ko-KR" sz="1400" dirty="0"/>
              <a:t>ESC</a:t>
            </a:r>
            <a:r>
              <a:rPr lang="ko-KR" altLang="en-US" sz="1400" dirty="0"/>
              <a:t>이면 </a:t>
            </a:r>
            <a:r>
              <a:rPr lang="en-US" altLang="ko-KR" sz="1400" dirty="0"/>
              <a:t>while </a:t>
            </a:r>
            <a:r>
              <a:rPr lang="ko-KR" altLang="en-US" sz="1400" dirty="0"/>
              <a:t>반복문을 벗어남</a:t>
            </a:r>
          </a:p>
          <a:p>
            <a:pPr defTabSz="180000"/>
            <a:r>
              <a:rPr lang="ko-KR" altLang="en-US" sz="1400" dirty="0"/>
              <a:t>		</a:t>
            </a:r>
            <a:r>
              <a:rPr lang="en-US" altLang="ko-KR" sz="1400" dirty="0"/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2884581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69A3F-3323-4663-9CAC-F42133E4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4-3 </a:t>
            </a:r>
            <a:r>
              <a:rPr lang="ko-KR" altLang="en-US" dirty="0"/>
              <a:t>카메라 영상의 실시간 프리뷰 만들기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F8AB5D-E07F-455A-A5A9-6C2568408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660FDEA-6B8C-465A-8EB8-375BA1D9E2A0}"/>
              </a:ext>
            </a:extLst>
          </p:cNvPr>
          <p:cNvSpPr/>
          <p:nvPr/>
        </p:nvSpPr>
        <p:spPr>
          <a:xfrm>
            <a:off x="612648" y="2409850"/>
            <a:ext cx="7972362" cy="3108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import cv2</a:t>
            </a:r>
          </a:p>
          <a:p>
            <a:pPr defTabSz="180000"/>
            <a:r>
              <a:rPr lang="en-US" altLang="ko-KR" sz="1400" dirty="0"/>
              <a:t>camera = cv2.VideoCapture(0, cv2.CAP_V4L)</a:t>
            </a:r>
          </a:p>
          <a:p>
            <a:pPr defTabSz="180000"/>
            <a:r>
              <a:rPr lang="en-US" altLang="ko-KR" sz="1400" dirty="0"/>
              <a:t>while True:</a:t>
            </a:r>
          </a:p>
          <a:p>
            <a:pPr defTabSz="180000"/>
            <a:r>
              <a:rPr lang="en-US" altLang="ko-KR" sz="1400" dirty="0"/>
              <a:t>	ret, image = </a:t>
            </a:r>
            <a:r>
              <a:rPr lang="en-US" altLang="ko-KR" sz="1400" dirty="0" err="1"/>
              <a:t>camera.read</a:t>
            </a:r>
            <a:r>
              <a:rPr lang="en-US" altLang="ko-KR" sz="1400" dirty="0"/>
              <a:t>( ) # </a:t>
            </a:r>
            <a:r>
              <a:rPr lang="ko-KR" altLang="en-US" sz="1400" dirty="0"/>
              <a:t>카메라에서 프레임 읽기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if ret == True:</a:t>
            </a:r>
          </a:p>
          <a:p>
            <a:pPr defTabSz="180000"/>
            <a:r>
              <a:rPr lang="en-US" altLang="ko-KR" sz="1400" dirty="0"/>
              <a:t>		cv2.imshow('preview', image) # </a:t>
            </a:r>
            <a:r>
              <a:rPr lang="ko-KR" altLang="en-US" sz="1400" dirty="0"/>
              <a:t>프레임을 </a:t>
            </a:r>
            <a:r>
              <a:rPr lang="en-US" altLang="ko-KR" sz="1400" dirty="0"/>
              <a:t>preview </a:t>
            </a:r>
            <a:r>
              <a:rPr lang="ko-KR" altLang="en-US" sz="1400" dirty="0"/>
              <a:t>이름의 창에 출력</a:t>
            </a:r>
          </a:p>
          <a:p>
            <a:pPr defTabSz="180000"/>
            <a:r>
              <a:rPr lang="ko-KR" altLang="en-US" sz="1400" dirty="0"/>
              <a:t>	</a:t>
            </a:r>
            <a:r>
              <a:rPr lang="en-US" altLang="ko-KR" sz="1400" dirty="0"/>
              <a:t>else:</a:t>
            </a:r>
          </a:p>
          <a:p>
            <a:pPr defTabSz="180000"/>
            <a:r>
              <a:rPr lang="en-US" altLang="ko-KR" sz="1400" dirty="0"/>
              <a:t>		print('</a:t>
            </a:r>
            <a:r>
              <a:rPr lang="ko-KR" altLang="en-US" sz="1400" dirty="0"/>
              <a:t>카메라로부터 프레임의 캡처할 수 없습니다</a:t>
            </a:r>
            <a:r>
              <a:rPr lang="en-US" altLang="ko-KR" sz="1400" dirty="0"/>
              <a:t>.')</a:t>
            </a:r>
          </a:p>
          <a:p>
            <a:pPr defTabSz="180000"/>
            <a:r>
              <a:rPr lang="en-US" altLang="ko-KR" sz="1400" dirty="0"/>
              <a:t>		break</a:t>
            </a:r>
          </a:p>
          <a:p>
            <a:pPr defTabSz="180000"/>
            <a:r>
              <a:rPr lang="en-US" altLang="ko-KR" sz="1400" dirty="0"/>
              <a:t>	# 1 </a:t>
            </a:r>
            <a:r>
              <a:rPr lang="ko-KR" altLang="en-US" sz="1400" dirty="0" err="1"/>
              <a:t>밀리초</a:t>
            </a:r>
            <a:r>
              <a:rPr lang="ko-KR" altLang="en-US" sz="1400" dirty="0"/>
              <a:t> 동안 </a:t>
            </a:r>
            <a:r>
              <a:rPr lang="en-US" altLang="ko-KR" sz="1400" dirty="0"/>
              <a:t>ESC </a:t>
            </a:r>
            <a:r>
              <a:rPr lang="ko-KR" altLang="en-US" sz="1400" dirty="0"/>
              <a:t>키 입력을 기다린다</a:t>
            </a:r>
            <a:r>
              <a:rPr lang="en-US" altLang="ko-KR" sz="1400" dirty="0"/>
              <a:t>.</a:t>
            </a:r>
          </a:p>
          <a:p>
            <a:pPr defTabSz="180000"/>
            <a:r>
              <a:rPr lang="en-US" altLang="ko-KR" sz="1400" dirty="0"/>
              <a:t>	if cv2.waitKey(1) == 27: # </a:t>
            </a:r>
            <a:r>
              <a:rPr lang="ko-KR" altLang="en-US" sz="1400" dirty="0"/>
              <a:t>입력된 키가 </a:t>
            </a:r>
            <a:r>
              <a:rPr lang="en-US" altLang="ko-KR" sz="1400" dirty="0"/>
              <a:t>ESC</a:t>
            </a:r>
            <a:r>
              <a:rPr lang="ko-KR" altLang="en-US" sz="1400" dirty="0"/>
              <a:t>이면 </a:t>
            </a:r>
            <a:r>
              <a:rPr lang="en-US" altLang="ko-KR" sz="1400" dirty="0"/>
              <a:t>while </a:t>
            </a:r>
            <a:r>
              <a:rPr lang="ko-KR" altLang="en-US" sz="1400" dirty="0"/>
              <a:t>반복문을 탈출</a:t>
            </a:r>
          </a:p>
          <a:p>
            <a:pPr defTabSz="180000"/>
            <a:r>
              <a:rPr lang="ko-KR" altLang="en-US" sz="1400" dirty="0"/>
              <a:t>		</a:t>
            </a:r>
            <a:r>
              <a:rPr lang="en-US" altLang="ko-KR" sz="1400" dirty="0"/>
              <a:t>break</a:t>
            </a:r>
          </a:p>
          <a:p>
            <a:pPr defTabSz="180000"/>
            <a:r>
              <a:rPr lang="en-US" altLang="ko-KR" sz="1400" dirty="0" err="1"/>
              <a:t>camera.release</a:t>
            </a:r>
            <a:r>
              <a:rPr lang="en-US" altLang="ko-KR" sz="1400" dirty="0"/>
              <a:t>( )</a:t>
            </a:r>
          </a:p>
          <a:p>
            <a:pPr defTabSz="180000"/>
            <a:r>
              <a:rPr lang="en-US" altLang="ko-KR" sz="1400" dirty="0"/>
              <a:t>cv2.destroyAllWindows( )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D6DB0F-54E1-456F-BBF6-D52EEB2CFCAD}"/>
              </a:ext>
            </a:extLst>
          </p:cNvPr>
          <p:cNvSpPr/>
          <p:nvPr/>
        </p:nvSpPr>
        <p:spPr>
          <a:xfrm>
            <a:off x="524675" y="1376629"/>
            <a:ext cx="82413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USB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카메라 영상을 실시간으로 보여주는 프리뷰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(Preview )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창을 만드는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파이썬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프로그램을 작성하라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 ESC 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키를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입력받으면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프리뷰와 </a:t>
            </a:r>
            <a:r>
              <a:rPr lang="ko-KR" altLang="en-US" sz="1600" dirty="0" err="1">
                <a:solidFill>
                  <a:schemeClr val="accent2">
                    <a:lumMod val="75000"/>
                  </a:schemeClr>
                </a:solidFill>
              </a:rPr>
              <a:t>파이썬</a:t>
            </a:r>
            <a:r>
              <a:rPr lang="ko-KR" altLang="en-US" sz="1600" dirty="0">
                <a:solidFill>
                  <a:schemeClr val="accent2">
                    <a:lumMod val="75000"/>
                  </a:schemeClr>
                </a:solidFill>
              </a:rPr>
              <a:t> 프로그램이 종료되게 하라</a:t>
            </a:r>
            <a:r>
              <a:rPr lang="en-US" altLang="ko-KR" sz="16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901AC8-3492-4CE8-A6DF-85F3D4F989C3}"/>
              </a:ext>
            </a:extLst>
          </p:cNvPr>
          <p:cNvSpPr/>
          <p:nvPr/>
        </p:nvSpPr>
        <p:spPr>
          <a:xfrm>
            <a:off x="539552" y="1953490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4-3.py</a:t>
            </a:r>
          </a:p>
        </p:txBody>
      </p:sp>
      <p:pic>
        <p:nvPicPr>
          <p:cNvPr id="7" name="그림 6" descr="텍스트, 스크린샷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2B4223AC-6B97-FC65-AA85-83F39AE218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3789040"/>
            <a:ext cx="3775392" cy="292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347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C77C4-5797-4BD5-BCB9-D5A8E8C5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객체로 동영상 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A66196-49F9-4183-B3FA-B46EC906688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DDBFB-D446-4DEC-9261-09EB6EC35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6DE1BE-2F03-47BE-9F75-A9639539E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74" y="1988840"/>
            <a:ext cx="7439348" cy="147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719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A77F9-DBE1-4889-B776-ED8C957C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객체로 동영상 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AA8A6-5316-41E3-A4C5-79935C33E7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객체 생성</a:t>
            </a:r>
            <a:endParaRPr lang="en-US" altLang="ko-KR" dirty="0"/>
          </a:p>
          <a:p>
            <a:pPr lvl="1"/>
            <a:r>
              <a:rPr lang="ko-KR" altLang="en-US" dirty="0"/>
              <a:t>일련의 프레임들로 동영상 파일을 만들 수 있는 객체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fourcc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D81A3C-3B8C-4D23-A872-5178D8336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0BB86B-B58C-4C70-8AAF-F2F4CD4A4B75}"/>
              </a:ext>
            </a:extLst>
          </p:cNvPr>
          <p:cNvSpPr/>
          <p:nvPr/>
        </p:nvSpPr>
        <p:spPr>
          <a:xfrm>
            <a:off x="1160956" y="2260610"/>
            <a:ext cx="7056784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cv2.VideoWriter(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fileName</a:t>
            </a:r>
            <a:r>
              <a:rPr lang="en-US" altLang="ko-KR" sz="1400" dirty="0"/>
              <a:t>,	</a:t>
            </a:r>
            <a:r>
              <a:rPr lang="ko-KR" altLang="en-US" sz="1400"/>
              <a:t>	</a:t>
            </a:r>
            <a:r>
              <a:rPr lang="en-US" altLang="ko-KR" sz="1400" dirty="0"/>
              <a:t>	# </a:t>
            </a:r>
            <a:r>
              <a:rPr lang="ko-KR" altLang="en-US" sz="1400" dirty="0"/>
              <a:t>저장할 동영상 파일 이름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fourcc</a:t>
            </a:r>
            <a:r>
              <a:rPr lang="en-US" altLang="ko-KR" sz="1400" dirty="0"/>
              <a:t>,</a:t>
            </a:r>
            <a:r>
              <a:rPr lang="ko-KR" altLang="en-US" sz="1400" dirty="0"/>
              <a:t>	</a:t>
            </a:r>
            <a:r>
              <a:rPr lang="ko-KR" altLang="en-US" sz="1400"/>
              <a:t>	</a:t>
            </a:r>
            <a:r>
              <a:rPr lang="en-US" altLang="ko-KR" sz="1400" dirty="0"/>
              <a:t>		# </a:t>
            </a:r>
            <a:r>
              <a:rPr lang="ko-KR" altLang="en-US" sz="1400" dirty="0"/>
              <a:t>동영상의 </a:t>
            </a:r>
            <a:r>
              <a:rPr lang="ko-KR" altLang="en-US" sz="1400"/>
              <a:t>인코딩 코덱</a:t>
            </a:r>
            <a:r>
              <a:rPr lang="en-US" altLang="ko-KR" sz="1400" dirty="0"/>
              <a:t>(codec) </a:t>
            </a:r>
            <a:r>
              <a:rPr lang="ko-KR" altLang="en-US" sz="1400" dirty="0"/>
              <a:t>지정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fps,</a:t>
            </a:r>
            <a:r>
              <a:rPr lang="ko-KR" altLang="en-US" sz="1400" dirty="0"/>
              <a:t>	</a:t>
            </a:r>
            <a:r>
              <a:rPr lang="ko-KR" altLang="en-US" sz="1400"/>
              <a:t>	</a:t>
            </a:r>
            <a:r>
              <a:rPr lang="en-US" altLang="ko-KR" sz="1400" dirty="0"/>
              <a:t>				# </a:t>
            </a:r>
            <a:r>
              <a:rPr lang="ko-KR" altLang="en-US" sz="1400" dirty="0"/>
              <a:t>동영상 파일에 기록해두고 재생 시 초당 프레임 수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frameSize</a:t>
            </a:r>
            <a:r>
              <a:rPr lang="en-US" altLang="ko-KR" sz="1400" dirty="0"/>
              <a:t>,</a:t>
            </a:r>
            <a:r>
              <a:rPr lang="ko-KR" altLang="en-US" sz="1400"/>
              <a:t>	</a:t>
            </a:r>
            <a:r>
              <a:rPr lang="en-US" altLang="ko-KR" sz="1400" dirty="0"/>
              <a:t>	# </a:t>
            </a:r>
            <a:r>
              <a:rPr lang="ko-KR" altLang="en-US" sz="1400" dirty="0"/>
              <a:t>프레임 </a:t>
            </a:r>
            <a:r>
              <a:rPr lang="ko-KR" altLang="en-US" sz="1400"/>
              <a:t>크기로 </a:t>
            </a:r>
            <a:r>
              <a:rPr lang="en-US" altLang="ko-KR" sz="1400" dirty="0"/>
              <a:t>(width, height) </a:t>
            </a:r>
            <a:r>
              <a:rPr lang="ko-KR" altLang="en-US" sz="1400" dirty="0"/>
              <a:t>형식의 </a:t>
            </a:r>
            <a:r>
              <a:rPr lang="ko-KR" altLang="en-US" sz="1400" dirty="0" err="1"/>
              <a:t>튜플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isColor</a:t>
            </a:r>
            <a:r>
              <a:rPr lang="en-US" altLang="ko-KR" sz="1400" dirty="0"/>
              <a:t> = True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컬러 </a:t>
            </a:r>
            <a:r>
              <a:rPr lang="ko-KR" altLang="en-US" sz="1400"/>
              <a:t>영상이면 </a:t>
            </a:r>
            <a:r>
              <a:rPr lang="en-US" altLang="ko-KR" sz="1400" dirty="0"/>
              <a:t>True, </a:t>
            </a:r>
            <a:r>
              <a:rPr lang="ko-KR" altLang="en-US" sz="1400" dirty="0"/>
              <a:t>그렇지 </a:t>
            </a:r>
            <a:r>
              <a:rPr lang="ko-KR" altLang="en-US" sz="1400"/>
              <a:t>않으면 </a:t>
            </a:r>
            <a:r>
              <a:rPr lang="en-US" altLang="ko-KR" sz="1400" dirty="0"/>
              <a:t>False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6A8979-D37A-46BC-B507-A59C241BC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4529278"/>
            <a:ext cx="7227468" cy="213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0899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4C1CA3-2501-4879-AD09-327B3F826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객체로 동영상 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C62E2-C337-46CB-9583-20011A46C6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fourcc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 err="1"/>
              <a:t>VideoWriter</a:t>
            </a:r>
            <a:r>
              <a:rPr lang="en-US" altLang="ko-KR" dirty="0"/>
              <a:t> </a:t>
            </a:r>
            <a:r>
              <a:rPr lang="ko-KR" altLang="en-US" dirty="0"/>
              <a:t>생성 예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2DBFFF-FE81-40EB-9929-51C508A3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B5CDCD-E75A-4245-B37F-09B88314DBE3}"/>
              </a:ext>
            </a:extLst>
          </p:cNvPr>
          <p:cNvSpPr/>
          <p:nvPr/>
        </p:nvSpPr>
        <p:spPr>
          <a:xfrm>
            <a:off x="971600" y="1916832"/>
            <a:ext cx="755975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400" dirty="0" err="1"/>
              <a:t>fourcc</a:t>
            </a:r>
            <a:r>
              <a:rPr lang="en-US" altLang="ko-KR" sz="1400" dirty="0"/>
              <a:t> = cv2.VideoWriter_fourcc(*'DIVX')	 # </a:t>
            </a:r>
            <a:r>
              <a:rPr lang="ko-KR" altLang="en-US" sz="1400" dirty="0"/>
              <a:t>코덱 지정</a:t>
            </a:r>
          </a:p>
          <a:p>
            <a:pPr fontAlgn="base" latinLnBrk="0"/>
            <a:r>
              <a:rPr lang="en-US" altLang="ko-KR" sz="1400" dirty="0"/>
              <a:t>writer = cv2.VideoWriter("video_4_4.avi", </a:t>
            </a:r>
            <a:r>
              <a:rPr lang="en-US" altLang="ko-KR" sz="1400" dirty="0" err="1"/>
              <a:t>fourcc</a:t>
            </a:r>
            <a:r>
              <a:rPr lang="en-US" altLang="ko-KR" sz="1400" dirty="0"/>
              <a:t>, 10</a:t>
            </a:r>
            <a:r>
              <a:rPr lang="en-US" altLang="ko-KR" sz="1400"/>
              <a:t>, (640, 480)) </a:t>
            </a:r>
            <a:r>
              <a:rPr lang="en-US" altLang="ko-KR" sz="1400" dirty="0"/>
              <a:t># </a:t>
            </a:r>
            <a:r>
              <a:rPr lang="en-US" altLang="ko-KR" sz="1400" dirty="0" err="1"/>
              <a:t>VideoWriter</a:t>
            </a:r>
            <a:r>
              <a:rPr lang="en-US" altLang="ko-KR" sz="1400" dirty="0"/>
              <a:t> </a:t>
            </a:r>
            <a:r>
              <a:rPr lang="ko-KR" altLang="en-US" sz="1400" dirty="0"/>
              <a:t>객체 생성</a:t>
            </a:r>
          </a:p>
        </p:txBody>
      </p:sp>
    </p:spTree>
    <p:extLst>
      <p:ext uri="{BB962C8B-B14F-4D97-AF65-F5344CB8AC3E}">
        <p14:creationId xmlns:p14="http://schemas.microsoft.com/office/powerpoint/2010/main" val="12370962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D129F-6CD4-420A-B8A3-33ED5877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4-4 </a:t>
            </a:r>
            <a:r>
              <a:rPr lang="ko-KR" altLang="en-US" dirty="0"/>
              <a:t>카메라 영상을 실시간으로 출력하는 동시에 동영상 파일 저장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4A265D-9916-4C0F-BB56-45F38755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6FAFF6-1B00-4744-9D12-56F83E004262}"/>
              </a:ext>
            </a:extLst>
          </p:cNvPr>
          <p:cNvSpPr/>
          <p:nvPr/>
        </p:nvSpPr>
        <p:spPr>
          <a:xfrm>
            <a:off x="612647" y="2479919"/>
            <a:ext cx="8156117" cy="42934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50" dirty="0"/>
              <a:t>import cv2</a:t>
            </a:r>
          </a:p>
          <a:p>
            <a:pPr defTabSz="180000"/>
            <a:r>
              <a:rPr lang="en-US" altLang="ko-KR" sz="1050" dirty="0"/>
              <a:t>camera = cv2.VideoCapture(0, cv2.CAP_V4L)</a:t>
            </a:r>
          </a:p>
          <a:p>
            <a:pPr defTabSz="180000"/>
            <a:r>
              <a:rPr lang="en-US" altLang="ko-KR" sz="1050" dirty="0"/>
              <a:t># </a:t>
            </a:r>
            <a:r>
              <a:rPr lang="ko-KR" altLang="en-US" sz="1050" dirty="0"/>
              <a:t>프레임 </a:t>
            </a:r>
            <a:r>
              <a:rPr lang="ko-KR" altLang="en-US" sz="1050"/>
              <a:t>크기를 </a:t>
            </a:r>
            <a:r>
              <a:rPr lang="en-US" altLang="ko-KR" sz="1050"/>
              <a:t>640×480</a:t>
            </a:r>
            <a:r>
              <a:rPr lang="ko-KR" altLang="en-US" sz="1050"/>
              <a:t>으로 하고</a:t>
            </a:r>
            <a:r>
              <a:rPr lang="en-US" altLang="ko-KR" sz="1050" dirty="0"/>
              <a:t>, camera</a:t>
            </a:r>
            <a:r>
              <a:rPr lang="ko-KR" altLang="en-US" sz="1050" dirty="0"/>
              <a:t>가 카메라로부터 </a:t>
            </a:r>
            <a:r>
              <a:rPr lang="ko-KR" altLang="en-US" sz="1050"/>
              <a:t>읽어오는 주기</a:t>
            </a:r>
            <a:r>
              <a:rPr lang="en-US" altLang="ko-KR" sz="1050" dirty="0"/>
              <a:t>(FPS)</a:t>
            </a:r>
            <a:r>
              <a:rPr lang="ko-KR" altLang="en-US" sz="1050" dirty="0"/>
              <a:t>를</a:t>
            </a:r>
          </a:p>
          <a:p>
            <a:pPr defTabSz="180000"/>
            <a:r>
              <a:rPr lang="en-US" altLang="ko-KR" sz="1050" dirty="0"/>
              <a:t># 10</a:t>
            </a:r>
            <a:r>
              <a:rPr lang="ko-KR" altLang="en-US" sz="1050" dirty="0"/>
              <a:t>으로 설정</a:t>
            </a:r>
          </a:p>
          <a:p>
            <a:pPr defTabSz="180000"/>
            <a:r>
              <a:rPr lang="en-US" altLang="ko-KR" sz="1050" dirty="0" err="1"/>
              <a:t>camera</a:t>
            </a:r>
            <a:r>
              <a:rPr lang="en-US" altLang="ko-KR" sz="1050" err="1"/>
              <a:t>.</a:t>
            </a:r>
            <a:r>
              <a:rPr lang="en-US" altLang="ko-KR" sz="1050"/>
              <a:t>set</a:t>
            </a:r>
            <a:r>
              <a:rPr lang="en-US" altLang="ko-KR" sz="1050" dirty="0"/>
              <a:t>(cv2.CAP_PROP_FRAME_WIDTH</a:t>
            </a:r>
            <a:r>
              <a:rPr lang="en-US" altLang="ko-KR" sz="1050"/>
              <a:t>, 640</a:t>
            </a:r>
            <a:r>
              <a:rPr lang="en-US" altLang="ko-KR" sz="1050" dirty="0"/>
              <a:t>)</a:t>
            </a:r>
          </a:p>
          <a:p>
            <a:pPr defTabSz="180000"/>
            <a:r>
              <a:rPr lang="en-US" altLang="ko-KR" sz="1050" dirty="0" err="1"/>
              <a:t>camera</a:t>
            </a:r>
            <a:r>
              <a:rPr lang="en-US" altLang="ko-KR" sz="1050" err="1"/>
              <a:t>.</a:t>
            </a:r>
            <a:r>
              <a:rPr lang="en-US" altLang="ko-KR" sz="1050"/>
              <a:t>set</a:t>
            </a:r>
            <a:r>
              <a:rPr lang="en-US" altLang="ko-KR" sz="1050" dirty="0"/>
              <a:t>(cv2.CAP_PROP_FRAME_HEIGHT</a:t>
            </a:r>
            <a:r>
              <a:rPr lang="en-US" altLang="ko-KR" sz="1050"/>
              <a:t>, 480)</a:t>
            </a:r>
            <a:endParaRPr lang="en-US" altLang="ko-KR" sz="1050" dirty="0"/>
          </a:p>
          <a:p>
            <a:pPr defTabSz="180000"/>
            <a:r>
              <a:rPr lang="en-US" altLang="ko-KR" sz="1050" dirty="0" err="1"/>
              <a:t>camera</a:t>
            </a:r>
            <a:r>
              <a:rPr lang="en-US" altLang="ko-KR" sz="1050" err="1"/>
              <a:t>.</a:t>
            </a:r>
            <a:r>
              <a:rPr lang="en-US" altLang="ko-KR" sz="1050"/>
              <a:t>set</a:t>
            </a:r>
            <a:r>
              <a:rPr lang="en-US" altLang="ko-KR" sz="1050" dirty="0"/>
              <a:t>(cv2.CAP_PROP_FPS, 10)</a:t>
            </a:r>
          </a:p>
          <a:p>
            <a:pPr defTabSz="180000"/>
            <a:endParaRPr lang="en-US" altLang="ko-KR" sz="1050" dirty="0"/>
          </a:p>
          <a:p>
            <a:pPr defTabSz="180000"/>
            <a:r>
              <a:rPr lang="en-US" altLang="ko-KR" sz="1050"/>
              <a:t>fourcc</a:t>
            </a:r>
            <a:r>
              <a:rPr lang="en-US" altLang="ko-KR" sz="1050" dirty="0"/>
              <a:t> = cv2.VideoWriter_fourcc(*'DIVX') # </a:t>
            </a:r>
            <a:r>
              <a:rPr lang="ko-KR" altLang="en-US" sz="1050" dirty="0"/>
              <a:t>코덱 지정</a:t>
            </a:r>
          </a:p>
          <a:p>
            <a:pPr defTabSz="180000"/>
            <a:r>
              <a:rPr lang="en-US" altLang="ko-KR" sz="1050" dirty="0"/>
              <a:t>writer = cv2.VideoWriter("video_4_4.avi</a:t>
            </a:r>
            <a:r>
              <a:rPr lang="en-US" altLang="ko-KR" sz="1050"/>
              <a:t>", fourcc</a:t>
            </a:r>
            <a:r>
              <a:rPr lang="en-US" altLang="ko-KR" sz="1050" dirty="0"/>
              <a:t>, 10</a:t>
            </a:r>
            <a:r>
              <a:rPr lang="en-US" altLang="ko-KR" sz="1050"/>
              <a:t>, (640, 480)) </a:t>
            </a:r>
            <a:r>
              <a:rPr lang="en-US" altLang="ko-KR" sz="1050" dirty="0"/>
              <a:t># 10 fps </a:t>
            </a:r>
            <a:r>
              <a:rPr lang="ko-KR" altLang="en-US" sz="1050" dirty="0"/>
              <a:t>주기로 저장</a:t>
            </a:r>
          </a:p>
          <a:p>
            <a:pPr defTabSz="180000"/>
            <a:endParaRPr lang="ko-KR" altLang="en-US" sz="1050" dirty="0"/>
          </a:p>
          <a:p>
            <a:pPr defTabSz="180000"/>
            <a:r>
              <a:rPr lang="en-US" altLang="ko-KR" sz="1050" dirty="0"/>
              <a:t>while True:</a:t>
            </a:r>
          </a:p>
          <a:p>
            <a:pPr defTabSz="180000"/>
            <a:r>
              <a:rPr lang="en-US" altLang="ko-KR" sz="1050" dirty="0"/>
              <a:t>	ret, image </a:t>
            </a:r>
            <a:r>
              <a:rPr lang="en-US" altLang="ko-KR" sz="1050"/>
              <a:t>= </a:t>
            </a:r>
            <a:r>
              <a:rPr lang="en-US" altLang="ko-KR" sz="1050" dirty="0" err="1"/>
              <a:t>camera</a:t>
            </a:r>
            <a:r>
              <a:rPr lang="en-US" altLang="ko-KR" sz="1050" err="1"/>
              <a:t>.</a:t>
            </a:r>
            <a:r>
              <a:rPr lang="en-US" altLang="ko-KR" sz="1050"/>
              <a:t>read</a:t>
            </a:r>
            <a:r>
              <a:rPr lang="en-US" altLang="ko-KR" sz="1050" dirty="0"/>
              <a:t>( )</a:t>
            </a:r>
          </a:p>
          <a:p>
            <a:pPr defTabSz="180000"/>
            <a:r>
              <a:rPr lang="en-US" altLang="ko-KR" sz="1050" dirty="0"/>
              <a:t>	if ret == True:</a:t>
            </a:r>
          </a:p>
          <a:p>
            <a:pPr defTabSz="180000"/>
            <a:r>
              <a:rPr lang="en-US" altLang="ko-KR" sz="1050" dirty="0"/>
              <a:t>		cv2.imshow('preview', image)</a:t>
            </a:r>
          </a:p>
          <a:p>
            <a:pPr defTabSz="180000"/>
            <a:r>
              <a:rPr lang="en-US" altLang="ko-KR" sz="1050" dirty="0"/>
              <a:t>	</a:t>
            </a:r>
            <a:r>
              <a:rPr lang="en-US" altLang="ko-KR" sz="1050"/>
              <a:t>	</a:t>
            </a:r>
            <a:r>
              <a:rPr lang="en-US" altLang="ko-KR" sz="1050" dirty="0" err="1"/>
              <a:t>writer</a:t>
            </a:r>
            <a:r>
              <a:rPr lang="en-US" altLang="ko-KR" sz="1050" err="1"/>
              <a:t>.</a:t>
            </a:r>
            <a:r>
              <a:rPr lang="en-US" altLang="ko-KR" sz="1050"/>
              <a:t>write</a:t>
            </a:r>
            <a:r>
              <a:rPr lang="en-US" altLang="ko-KR" sz="1050" dirty="0"/>
              <a:t>(image)</a:t>
            </a:r>
          </a:p>
          <a:p>
            <a:pPr defTabSz="180000"/>
            <a:r>
              <a:rPr lang="en-US" altLang="ko-KR" sz="1050" dirty="0"/>
              <a:t>	else:</a:t>
            </a:r>
          </a:p>
          <a:p>
            <a:pPr defTabSz="180000"/>
            <a:r>
              <a:rPr lang="en-US" altLang="ko-KR" sz="1050" dirty="0"/>
              <a:t>		print('</a:t>
            </a:r>
            <a:r>
              <a:rPr lang="ko-KR" altLang="en-US" sz="1050" dirty="0"/>
              <a:t>카메라로부터 프레임의 캡처할 </a:t>
            </a:r>
            <a:r>
              <a:rPr lang="ko-KR" altLang="en-US" sz="1050"/>
              <a:t>수 없습니다</a:t>
            </a:r>
            <a:r>
              <a:rPr lang="en-US" altLang="ko-KR" sz="1050" dirty="0"/>
              <a:t>.')</a:t>
            </a:r>
          </a:p>
          <a:p>
            <a:pPr defTabSz="180000"/>
            <a:r>
              <a:rPr lang="en-US" altLang="ko-KR" sz="1050"/>
              <a:t>	</a:t>
            </a:r>
            <a:r>
              <a:rPr lang="en-US" altLang="ko-KR" sz="1050" dirty="0"/>
              <a:t>	break</a:t>
            </a:r>
          </a:p>
          <a:p>
            <a:pPr defTabSz="180000"/>
            <a:endParaRPr lang="en-US" altLang="ko-KR" sz="1050" dirty="0"/>
          </a:p>
          <a:p>
            <a:pPr defTabSz="180000"/>
            <a:r>
              <a:rPr lang="en-US" altLang="ko-KR" sz="1050" dirty="0"/>
              <a:t>	# 1 </a:t>
            </a:r>
            <a:r>
              <a:rPr lang="ko-KR" altLang="en-US" sz="1050" dirty="0" err="1"/>
              <a:t>밀리초</a:t>
            </a:r>
            <a:r>
              <a:rPr lang="ko-KR" altLang="en-US" sz="1050" dirty="0"/>
              <a:t> </a:t>
            </a:r>
            <a:r>
              <a:rPr lang="ko-KR" altLang="en-US" sz="1050"/>
              <a:t>동안 </a:t>
            </a:r>
            <a:r>
              <a:rPr lang="en-US" altLang="ko-KR" sz="1050" dirty="0"/>
              <a:t>ESC </a:t>
            </a:r>
            <a:r>
              <a:rPr lang="ko-KR" altLang="en-US" sz="1050" dirty="0"/>
              <a:t>키 </a:t>
            </a:r>
            <a:r>
              <a:rPr lang="ko-KR" altLang="en-US" sz="1050"/>
              <a:t>입력을 기다린다</a:t>
            </a:r>
            <a:r>
              <a:rPr lang="en-US" altLang="ko-KR" sz="1050" dirty="0"/>
              <a:t>.</a:t>
            </a:r>
          </a:p>
          <a:p>
            <a:pPr defTabSz="180000"/>
            <a:r>
              <a:rPr lang="en-US" altLang="ko-KR" sz="1050" dirty="0"/>
              <a:t>	if cv2.waitKey(1) == 27: # </a:t>
            </a:r>
            <a:r>
              <a:rPr lang="ko-KR" altLang="en-US" sz="1050" dirty="0"/>
              <a:t>입력된 </a:t>
            </a:r>
            <a:r>
              <a:rPr lang="ko-KR" altLang="en-US" sz="1050"/>
              <a:t>키가 </a:t>
            </a:r>
            <a:r>
              <a:rPr lang="en-US" altLang="ko-KR" sz="1050" dirty="0"/>
              <a:t>ESC</a:t>
            </a:r>
            <a:r>
              <a:rPr lang="ko-KR" altLang="en-US" sz="1050"/>
              <a:t>이면 </a:t>
            </a:r>
            <a:r>
              <a:rPr lang="en-US" altLang="ko-KR" sz="1050" dirty="0"/>
              <a:t>while </a:t>
            </a:r>
            <a:r>
              <a:rPr lang="ko-KR" altLang="en-US" sz="1050" dirty="0"/>
              <a:t>반복문을 탈출</a:t>
            </a:r>
          </a:p>
          <a:p>
            <a:pPr defTabSz="180000"/>
            <a:r>
              <a:rPr lang="ko-KR" altLang="en-US" sz="1050" dirty="0"/>
              <a:t>	</a:t>
            </a:r>
            <a:r>
              <a:rPr lang="ko-KR" altLang="en-US" sz="1050"/>
              <a:t>	</a:t>
            </a:r>
            <a:r>
              <a:rPr lang="en-US" altLang="ko-KR" sz="1050" dirty="0"/>
              <a:t>break</a:t>
            </a:r>
          </a:p>
          <a:p>
            <a:pPr defTabSz="180000"/>
            <a:r>
              <a:rPr lang="en-US" altLang="ko-KR" sz="1050" dirty="0" err="1"/>
              <a:t>writer</a:t>
            </a:r>
            <a:r>
              <a:rPr lang="en-US" altLang="ko-KR" sz="1050" err="1"/>
              <a:t>.</a:t>
            </a:r>
            <a:r>
              <a:rPr lang="en-US" altLang="ko-KR" sz="1050"/>
              <a:t>release</a:t>
            </a:r>
            <a:r>
              <a:rPr lang="en-US" altLang="ko-KR" sz="1050" dirty="0"/>
              <a:t>( )</a:t>
            </a:r>
          </a:p>
          <a:p>
            <a:pPr defTabSz="180000"/>
            <a:r>
              <a:rPr lang="en-US" altLang="ko-KR" sz="1050" dirty="0" err="1"/>
              <a:t>camera</a:t>
            </a:r>
            <a:r>
              <a:rPr lang="en-US" altLang="ko-KR" sz="1050" err="1"/>
              <a:t>.</a:t>
            </a:r>
            <a:r>
              <a:rPr lang="en-US" altLang="ko-KR" sz="1050"/>
              <a:t>release</a:t>
            </a:r>
            <a:r>
              <a:rPr lang="en-US" altLang="ko-KR" sz="1050" dirty="0"/>
              <a:t>( )</a:t>
            </a:r>
          </a:p>
          <a:p>
            <a:pPr defTabSz="180000"/>
            <a:r>
              <a:rPr lang="en-US" altLang="ko-KR" sz="1050" dirty="0"/>
              <a:t>cv2.destroyAllWindows( 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BD01B66-2C46-4DE0-A69F-03A7933EE79D}"/>
              </a:ext>
            </a:extLst>
          </p:cNvPr>
          <p:cNvSpPr/>
          <p:nvPr/>
        </p:nvSpPr>
        <p:spPr>
          <a:xfrm>
            <a:off x="524675" y="1281336"/>
            <a:ext cx="82413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OpenCV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의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cv2.VideoWriter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객체를 이용하여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카메라로부터 초당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10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프레임을 캡처하여 동영상 파일로 저장하는 프로그램을 작성하라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*‘DIVX’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코덱을 이용하여 </a:t>
            </a:r>
            <a:r>
              <a:rPr lang="en-US" altLang="ko-KR" sz="1400" dirty="0" err="1">
                <a:solidFill>
                  <a:schemeClr val="accent2">
                    <a:lumMod val="75000"/>
                  </a:schemeClr>
                </a:solidFill>
              </a:rPr>
              <a:t>avi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파일로 저장하라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ESC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키를 입력하면 카메라로부터 동영상 입력을 중단하고 파일로 저장한다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예제 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4-3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에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</a:rPr>
              <a:t>프리뷰하는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</a:rPr>
              <a:t> 프레임을 파일에 저장하면 쉽게 프로그램을 작성할 수 있다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2044ADB-39E7-4A94-9D4A-2E856AF22E67}"/>
              </a:ext>
            </a:extLst>
          </p:cNvPr>
          <p:cNvSpPr/>
          <p:nvPr/>
        </p:nvSpPr>
        <p:spPr>
          <a:xfrm>
            <a:off x="539552" y="2060405"/>
            <a:ext cx="766557" cy="4324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+mn-ea"/>
              </a:rPr>
              <a:t>4-4.py</a:t>
            </a:r>
          </a:p>
        </p:txBody>
      </p:sp>
    </p:spTree>
    <p:extLst>
      <p:ext uri="{BB962C8B-B14F-4D97-AF65-F5344CB8AC3E}">
        <p14:creationId xmlns:p14="http://schemas.microsoft.com/office/powerpoint/2010/main" val="29436565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332711-767C-4000-9271-DFC962815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4-4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922A48-7041-4719-B2D6-5EB9CDFA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221B576-16A3-4003-B2B2-2FE52C986177}"/>
              </a:ext>
            </a:extLst>
          </p:cNvPr>
          <p:cNvSpPr/>
          <p:nvPr/>
        </p:nvSpPr>
        <p:spPr>
          <a:xfrm>
            <a:off x="609599" y="1412776"/>
            <a:ext cx="7778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실행 후 디렉터리에는 다음과 같이 </a:t>
            </a:r>
            <a:r>
              <a:rPr lang="en-US" altLang="ko-KR" sz="1600" dirty="0"/>
              <a:t>video_4_4.avi </a:t>
            </a:r>
            <a:r>
              <a:rPr lang="ko-KR" altLang="en-US" sz="1600" dirty="0"/>
              <a:t>파일이 생성되어 있다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541953D-BBC4-4A3E-B5AD-A3422CDACEA6}"/>
              </a:ext>
            </a:extLst>
          </p:cNvPr>
          <p:cNvSpPr/>
          <p:nvPr/>
        </p:nvSpPr>
        <p:spPr>
          <a:xfrm>
            <a:off x="609599" y="1844824"/>
            <a:ext cx="4572000" cy="95410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i-FI" altLang="ko-KR" sz="1400" b="1" dirty="0"/>
              <a:t>(myenv) pi@pi:~/ch04 $ python 4-4.py</a:t>
            </a:r>
          </a:p>
          <a:p>
            <a:r>
              <a:rPr lang="nb-NO" altLang="ko-KR" sz="1400" b="1" dirty="0"/>
              <a:t>(myenv) pi@pi:~/ch04 $ ls</a:t>
            </a:r>
          </a:p>
          <a:p>
            <a:r>
              <a:rPr lang="en-US" altLang="ko-KR" sz="1400" dirty="0"/>
              <a:t>4-2.py 4-3.py 4-4.py image_4_2.jpg video_4_4.avi</a:t>
            </a:r>
          </a:p>
          <a:p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</a:t>
            </a:r>
          </a:p>
        </p:txBody>
      </p:sp>
      <p:pic>
        <p:nvPicPr>
          <p:cNvPr id="7" name="그림 6" descr="텍스트, 스크린샷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6FE2569E-1C31-B9EF-7763-5C17AEA645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7924" y="2715419"/>
            <a:ext cx="4975076" cy="388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59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7EB80-80F6-423D-85F6-F0C22187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VideoCapture</a:t>
            </a:r>
            <a:r>
              <a:rPr lang="ko-KR" altLang="en-US" dirty="0"/>
              <a:t>의 버퍼에 대한 이해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0D8855-5BA1-4EE8-83B9-1ABE31F36B3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/>
          </a:bodyPr>
          <a:lstStyle/>
          <a:p>
            <a:pPr lvl="0" fontAlgn="base"/>
            <a:r>
              <a:rPr lang="en-US" altLang="ko-KR" dirty="0" err="1"/>
              <a:t>VideoCapture</a:t>
            </a:r>
            <a:r>
              <a:rPr lang="en-US" altLang="ko-KR" dirty="0"/>
              <a:t> </a:t>
            </a:r>
            <a:r>
              <a:rPr lang="ko-KR" altLang="en-US" dirty="0"/>
              <a:t>객체에 버퍼를 두는 이유</a:t>
            </a:r>
          </a:p>
          <a:p>
            <a:endParaRPr lang="en-US" altLang="ko-KR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en-US" altLang="ko-KR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62D58-82E7-498C-B9CE-E3DEA1E5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47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7F197B-0A27-4090-BF1F-5CD6FC856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179174"/>
            <a:ext cx="7308304" cy="249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407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7EB80-80F6-423D-85F6-F0C221878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VideoCapture</a:t>
            </a:r>
            <a:r>
              <a:rPr lang="ko-KR" altLang="en-US" dirty="0"/>
              <a:t>의 버퍼에 대한 이해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0D8855-5BA1-4EE8-83B9-1ABE31F36B3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>
            <a:normAutofit/>
          </a:bodyPr>
          <a:lstStyle/>
          <a:p>
            <a:pPr fontAlgn="base"/>
            <a:r>
              <a:rPr lang="en-US" altLang="ko-KR" dirty="0"/>
              <a:t>read()</a:t>
            </a:r>
            <a:r>
              <a:rPr lang="ko-KR" altLang="en-US" dirty="0"/>
              <a:t>로 버퍼를 읽어가는 주기와 </a:t>
            </a:r>
            <a:r>
              <a:rPr lang="en-US" altLang="ko-KR" dirty="0" err="1"/>
              <a:t>VideoCapture</a:t>
            </a:r>
            <a:r>
              <a:rPr lang="ko-KR" altLang="en-US" dirty="0"/>
              <a:t>가 버퍼를 채우는 주기의 불일치</a:t>
            </a:r>
            <a:endParaRPr lang="en-US" altLang="ko-KR" dirty="0"/>
          </a:p>
          <a:p>
            <a:pPr marL="365760" lvl="1" indent="0" fontAlgn="base">
              <a:buNone/>
            </a:pPr>
            <a:r>
              <a:rPr lang="en-US" altLang="ko-KR" sz="1800" dirty="0"/>
              <a:t>(1</a:t>
            </a:r>
            <a:r>
              <a:rPr lang="en-US" altLang="ko-KR" sz="1800"/>
              <a:t>) read</a:t>
            </a:r>
            <a:r>
              <a:rPr lang="en-US" altLang="ko-KR" sz="1800" dirty="0"/>
              <a:t>() </a:t>
            </a:r>
            <a:r>
              <a:rPr lang="ko-KR" altLang="en-US" sz="1800" dirty="0"/>
              <a:t>함수 </a:t>
            </a:r>
            <a:r>
              <a:rPr lang="ko-KR" altLang="en-US" sz="1800"/>
              <a:t>호출 속도 </a:t>
            </a:r>
            <a:r>
              <a:rPr lang="en-US" altLang="ko-KR" sz="1800"/>
              <a:t>== </a:t>
            </a:r>
            <a:r>
              <a:rPr lang="ko-KR" altLang="en-US" sz="1800"/>
              <a:t> </a:t>
            </a:r>
            <a:r>
              <a:rPr lang="en-US" altLang="ko-KR" sz="1800" dirty="0" err="1"/>
              <a:t>VideoCapture</a:t>
            </a:r>
            <a:r>
              <a:rPr lang="en-US" altLang="ko-KR" sz="1800" dirty="0"/>
              <a:t> </a:t>
            </a:r>
            <a:r>
              <a:rPr lang="ko-KR" altLang="en-US" sz="1800" dirty="0"/>
              <a:t>객체가 프레임을 </a:t>
            </a:r>
            <a:r>
              <a:rPr lang="ko-KR" altLang="en-US" sz="1800"/>
              <a:t>채우는 속도</a:t>
            </a:r>
            <a:endParaRPr lang="en-US" altLang="ko-KR" sz="1800" dirty="0"/>
          </a:p>
          <a:p>
            <a:pPr lvl="2" fontAlgn="base"/>
            <a:r>
              <a:rPr lang="ko-KR" altLang="en-US" sz="1600"/>
              <a:t>문제 없음</a:t>
            </a:r>
            <a:endParaRPr lang="en-US" altLang="ko-KR" sz="1600"/>
          </a:p>
          <a:p>
            <a:pPr lvl="2" fontAlgn="base"/>
            <a:endParaRPr lang="en-US" altLang="ko-KR" sz="1600" dirty="0"/>
          </a:p>
          <a:p>
            <a:pPr marL="365760" lvl="1" indent="0" fontAlgn="base">
              <a:buNone/>
            </a:pPr>
            <a:r>
              <a:rPr lang="en-US" altLang="ko-KR" sz="1800" dirty="0"/>
              <a:t>(2</a:t>
            </a:r>
            <a:r>
              <a:rPr lang="en-US" altLang="ko-KR" sz="1800"/>
              <a:t>) read</a:t>
            </a:r>
            <a:r>
              <a:rPr lang="en-US" altLang="ko-KR" sz="1800" dirty="0"/>
              <a:t>() </a:t>
            </a:r>
            <a:r>
              <a:rPr lang="ko-KR" altLang="en-US" sz="1800" dirty="0"/>
              <a:t>함수 </a:t>
            </a:r>
            <a:r>
              <a:rPr lang="ko-KR" altLang="en-US" sz="1800"/>
              <a:t>호출 속도 </a:t>
            </a:r>
            <a:r>
              <a:rPr lang="en-US" altLang="ko-KR" sz="1800"/>
              <a:t>&gt;</a:t>
            </a:r>
            <a:r>
              <a:rPr lang="ko-KR" altLang="en-US" sz="1800"/>
              <a:t> </a:t>
            </a:r>
            <a:r>
              <a:rPr lang="en-US" altLang="ko-KR" sz="1800" dirty="0" err="1"/>
              <a:t>VideoCapture</a:t>
            </a:r>
            <a:r>
              <a:rPr lang="en-US" altLang="ko-KR" sz="1800" dirty="0"/>
              <a:t> </a:t>
            </a:r>
            <a:r>
              <a:rPr lang="ko-KR" altLang="en-US" sz="1800" dirty="0"/>
              <a:t>객체가 프레임을 </a:t>
            </a:r>
            <a:r>
              <a:rPr lang="ko-KR" altLang="en-US" sz="1800"/>
              <a:t>채우는 속도</a:t>
            </a:r>
            <a:endParaRPr lang="ko-KR" altLang="en-US" sz="1800" dirty="0"/>
          </a:p>
          <a:p>
            <a:pPr lvl="2" fontAlgn="base"/>
            <a:r>
              <a:rPr lang="ko-KR" altLang="en-US" sz="1600" dirty="0"/>
              <a:t>버퍼가 비어 있으나 </a:t>
            </a:r>
            <a:r>
              <a:rPr lang="en-US" altLang="ko-KR" sz="1600" dirty="0"/>
              <a:t>fps</a:t>
            </a:r>
            <a:r>
              <a:rPr lang="ko-KR" altLang="en-US" sz="1600" dirty="0"/>
              <a:t>에</a:t>
            </a:r>
            <a:r>
              <a:rPr lang="en-US" altLang="ko-KR" sz="1600" dirty="0"/>
              <a:t> </a:t>
            </a:r>
            <a:r>
              <a:rPr lang="ko-KR" altLang="en-US" sz="1600" dirty="0"/>
              <a:t>따라 프레임을 공급하므로 별다른 </a:t>
            </a:r>
            <a:r>
              <a:rPr lang="ko-KR" altLang="en-US" sz="1600"/>
              <a:t>문제가 없음</a:t>
            </a:r>
            <a:endParaRPr lang="en-US" altLang="ko-KR" sz="1600"/>
          </a:p>
          <a:p>
            <a:pPr lvl="2" fontAlgn="base"/>
            <a:endParaRPr lang="en-US" altLang="ko-KR" sz="1600" dirty="0"/>
          </a:p>
          <a:p>
            <a:pPr marL="365760" lvl="1" indent="0" fontAlgn="base">
              <a:buNone/>
            </a:pPr>
            <a:r>
              <a:rPr lang="en-US" altLang="ko-KR" sz="1800" dirty="0"/>
              <a:t>(3</a:t>
            </a:r>
            <a:r>
              <a:rPr lang="en-US" altLang="ko-KR" sz="1800"/>
              <a:t>) read</a:t>
            </a:r>
            <a:r>
              <a:rPr lang="en-US" altLang="ko-KR" sz="1800" dirty="0"/>
              <a:t>() </a:t>
            </a:r>
            <a:r>
              <a:rPr lang="ko-KR" altLang="en-US" sz="1800" dirty="0"/>
              <a:t>함수 </a:t>
            </a:r>
            <a:r>
              <a:rPr lang="ko-KR" altLang="en-US" sz="1800"/>
              <a:t>호출 속도 </a:t>
            </a:r>
            <a:r>
              <a:rPr lang="en-US" altLang="ko-KR" sz="1800"/>
              <a:t>&lt;</a:t>
            </a:r>
            <a:r>
              <a:rPr lang="ko-KR" altLang="en-US" sz="1800"/>
              <a:t> </a:t>
            </a:r>
            <a:r>
              <a:rPr lang="en-US" altLang="ko-KR" sz="1800" dirty="0" err="1"/>
              <a:t>VideoCapture</a:t>
            </a:r>
            <a:r>
              <a:rPr lang="en-US" altLang="ko-KR" sz="1800" dirty="0"/>
              <a:t> </a:t>
            </a:r>
            <a:r>
              <a:rPr lang="ko-KR" altLang="en-US" sz="1800" dirty="0"/>
              <a:t>객체가 프레임을 </a:t>
            </a:r>
            <a:r>
              <a:rPr lang="ko-KR" altLang="en-US" sz="1800"/>
              <a:t>채우는 속도</a:t>
            </a:r>
            <a:endParaRPr lang="ko-KR" altLang="en-US" sz="1800" dirty="0"/>
          </a:p>
          <a:p>
            <a:pPr lvl="2" fontAlgn="base"/>
            <a:r>
              <a:rPr lang="ko-KR" altLang="en-US" sz="1600" dirty="0"/>
              <a:t>이런</a:t>
            </a:r>
            <a:r>
              <a:rPr lang="en-US" altLang="ko-KR" sz="1600" dirty="0"/>
              <a:t> </a:t>
            </a:r>
            <a:r>
              <a:rPr lang="ko-KR" altLang="en-US" sz="1600"/>
              <a:t>경우가 지속되면</a:t>
            </a:r>
            <a:r>
              <a:rPr lang="en-US" altLang="ko-KR" sz="1600"/>
              <a:t>(</a:t>
            </a:r>
            <a:r>
              <a:rPr lang="ko-KR" altLang="en-US" sz="1600" dirty="0"/>
              <a:t>빈 버퍼가 </a:t>
            </a:r>
            <a:r>
              <a:rPr lang="ko-KR" altLang="en-US" sz="1600"/>
              <a:t>없는 경우</a:t>
            </a:r>
            <a:r>
              <a:rPr lang="en-US" altLang="ko-KR" sz="1600"/>
              <a:t>)</a:t>
            </a:r>
            <a:endParaRPr lang="en-US" altLang="ko-KR" sz="1600" dirty="0"/>
          </a:p>
          <a:p>
            <a:pPr lvl="3" fontAlgn="base"/>
            <a:r>
              <a:rPr lang="ko-KR" altLang="en-US" sz="1200" dirty="0"/>
              <a:t>버퍼가 가득차서 카메라는 </a:t>
            </a:r>
            <a:r>
              <a:rPr lang="en-US" altLang="ko-KR" sz="1200" dirty="0"/>
              <a:t>fps </a:t>
            </a:r>
            <a:r>
              <a:rPr lang="ko-KR" altLang="en-US" sz="1200" dirty="0"/>
              <a:t>속도로 프레임을 채우지 못하고 버퍼가 빌 때까지 기다려야 하므로 </a:t>
            </a:r>
            <a:r>
              <a:rPr lang="en-US" altLang="ko-KR" sz="1200" dirty="0"/>
              <a:t>fps</a:t>
            </a:r>
            <a:r>
              <a:rPr lang="ko-KR" altLang="en-US" sz="1200" dirty="0"/>
              <a:t>를 지키지 못하는 문제가 발생</a:t>
            </a:r>
            <a:endParaRPr lang="en-US" altLang="ko-KR" sz="1200" dirty="0"/>
          </a:p>
          <a:p>
            <a:pPr lvl="2" fontAlgn="base"/>
            <a:r>
              <a:rPr lang="ko-KR" altLang="en-US" sz="1600" dirty="0"/>
              <a:t>이런 </a:t>
            </a:r>
            <a:r>
              <a:rPr lang="ko-KR" altLang="en-US" sz="1600"/>
              <a:t>경우가 일시적이면</a:t>
            </a:r>
            <a:r>
              <a:rPr lang="en-US" altLang="ko-KR" sz="1600"/>
              <a:t>(</a:t>
            </a:r>
            <a:r>
              <a:rPr lang="ko-KR" altLang="en-US" sz="1600" dirty="0"/>
              <a:t>빈 버퍼가 남아 있는 경우</a:t>
            </a:r>
            <a:r>
              <a:rPr lang="en-US" altLang="ko-KR" sz="1600" dirty="0"/>
              <a:t>)</a:t>
            </a:r>
          </a:p>
          <a:p>
            <a:pPr lvl="3" fontAlgn="base"/>
            <a:r>
              <a:rPr lang="ko-KR" altLang="en-US" sz="1200" dirty="0"/>
              <a:t>빈 버퍼가 있으므로 카메라는 </a:t>
            </a:r>
            <a:r>
              <a:rPr lang="en-US" altLang="ko-KR" sz="1200" dirty="0"/>
              <a:t>fps </a:t>
            </a:r>
            <a:r>
              <a:rPr lang="ko-KR" altLang="en-US" sz="1200" dirty="0"/>
              <a:t>속도로 프레임을 채우므로 별다른 문제가 없음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62D58-82E7-498C-B9CE-E3DEA1E5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68834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1A112-F310-4FE3-B54D-71C032735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응용프로그램이 </a:t>
            </a:r>
            <a:r>
              <a:rPr lang="en-US" altLang="ko-KR"/>
              <a:t>read()</a:t>
            </a:r>
            <a:r>
              <a:rPr lang="ko-KR" altLang="en-US"/>
              <a:t>를 호출할 때 오래된 프레임을 읽게 되는 문제점과 해결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EED60F-9C75-4F65-9F70-8AABADE83E5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/>
              <a:t>응용프로그램에서 간헐적으로 </a:t>
            </a:r>
            <a:r>
              <a:rPr lang="en-US" altLang="ko-KR"/>
              <a:t>read()</a:t>
            </a:r>
            <a:r>
              <a:rPr lang="ko-KR" altLang="en-US"/>
              <a:t>하는 경우</a:t>
            </a:r>
            <a:endParaRPr lang="en-US" altLang="ko-KR"/>
          </a:p>
          <a:p>
            <a:pPr lvl="1"/>
            <a:r>
              <a:rPr lang="en-US" altLang="ko-KR"/>
              <a:t>read()</a:t>
            </a:r>
            <a:r>
              <a:rPr lang="ko-KR" altLang="en-US"/>
              <a:t>가 읽어온 프레임은 </a:t>
            </a:r>
            <a:r>
              <a:rPr lang="en-US" altLang="ko-KR"/>
              <a:t>read()</a:t>
            </a:r>
            <a:r>
              <a:rPr lang="ko-KR" altLang="en-US"/>
              <a:t>하는 순간 촬영된 프레임이 아님</a:t>
            </a:r>
            <a:endParaRPr lang="en-US" altLang="ko-KR"/>
          </a:p>
          <a:p>
            <a:pPr lvl="2"/>
            <a:r>
              <a:rPr lang="ko-KR" altLang="en-US"/>
              <a:t>카메라가 이미 오래 전에 읽어 놓았던 프레임</a:t>
            </a:r>
            <a:endParaRPr lang="en-US" altLang="ko-KR"/>
          </a:p>
          <a:p>
            <a:pPr lvl="1"/>
            <a:r>
              <a:rPr lang="ko-KR" altLang="en-US"/>
              <a:t>만일 지금 사진을 촬영하기 위해 </a:t>
            </a:r>
            <a:r>
              <a:rPr lang="en-US" altLang="ko-KR"/>
              <a:t>read()</a:t>
            </a:r>
            <a:r>
              <a:rPr lang="ko-KR" altLang="en-US"/>
              <a:t>를 지시한다면</a:t>
            </a:r>
            <a:endParaRPr lang="en-US" altLang="ko-KR"/>
          </a:p>
          <a:p>
            <a:pPr lvl="2"/>
            <a:r>
              <a:rPr lang="ko-KR" altLang="en-US"/>
              <a:t>과거의 상황이 촬영된 이미지를 얻게 됨</a:t>
            </a:r>
            <a:endParaRPr lang="en-US" altLang="ko-KR"/>
          </a:p>
          <a:p>
            <a:r>
              <a:rPr lang="ko-KR" altLang="en-US"/>
              <a:t>버퍼에 들어 있는 모든 프레임을 지우는 방법으로 해결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9763D8-ABF3-4C58-8CB0-7FEA88C8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C38580A-E9FC-43B5-AA1D-5CF8C0F31B95}"/>
              </a:ext>
            </a:extLst>
          </p:cNvPr>
          <p:cNvSpPr/>
          <p:nvPr/>
        </p:nvSpPr>
        <p:spPr>
          <a:xfrm>
            <a:off x="971600" y="3861048"/>
            <a:ext cx="7948364" cy="20313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size </a:t>
            </a:r>
            <a:r>
              <a:rPr lang="en-US" altLang="ko-KR" sz="1400"/>
              <a:t>= </a:t>
            </a:r>
            <a:r>
              <a:rPr lang="en-US" altLang="ko-KR" sz="1400" dirty="0" err="1"/>
              <a:t>camera</a:t>
            </a:r>
            <a:r>
              <a:rPr lang="en-US" altLang="ko-KR" sz="1400" err="1"/>
              <a:t>.</a:t>
            </a:r>
            <a:r>
              <a:rPr lang="en-US" altLang="ko-KR" sz="1400"/>
              <a:t>get</a:t>
            </a:r>
            <a:r>
              <a:rPr lang="en-US" altLang="ko-KR" sz="1400" dirty="0"/>
              <a:t>(cv2.CAP_PROP_BUFFERSIZE) # </a:t>
            </a:r>
            <a:r>
              <a:rPr lang="ko-KR" altLang="en-US" sz="1400" dirty="0"/>
              <a:t>설정된 버퍼 크기 알아내기</a:t>
            </a:r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# </a:t>
            </a:r>
            <a:r>
              <a:rPr lang="ko-KR" altLang="en-US" sz="1400" dirty="0"/>
              <a:t>버퍼 내에 저장된 모든 </a:t>
            </a:r>
            <a:r>
              <a:rPr lang="ko-KR" altLang="en-US" sz="1400"/>
              <a:t>프레임을 버린다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while size &gt; 0: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 err="1"/>
              <a:t>camera</a:t>
            </a:r>
            <a:r>
              <a:rPr lang="en-US" altLang="ko-KR" sz="1400" err="1"/>
              <a:t>.</a:t>
            </a:r>
            <a:r>
              <a:rPr lang="en-US" altLang="ko-KR" sz="1400"/>
              <a:t>grab</a:t>
            </a:r>
            <a:r>
              <a:rPr lang="en-US" altLang="ko-KR" sz="1400" dirty="0"/>
              <a:t>()</a:t>
            </a:r>
            <a:r>
              <a:rPr lang="ko-KR" altLang="en-US" sz="1400"/>
              <a:t>	</a:t>
            </a:r>
            <a:r>
              <a:rPr lang="en-US" altLang="ko-KR" sz="1400" dirty="0"/>
              <a:t>	</a:t>
            </a:r>
            <a:r>
              <a:rPr lang="en-US" altLang="ko-KR" sz="1400"/>
              <a:t># </a:t>
            </a:r>
            <a:r>
              <a:rPr lang="en-US" altLang="ko-KR" sz="1400" dirty="0" err="1"/>
              <a:t>camera</a:t>
            </a:r>
            <a:r>
              <a:rPr lang="en-US" altLang="ko-KR" sz="1400" err="1"/>
              <a:t>.</a:t>
            </a:r>
            <a:r>
              <a:rPr lang="en-US" altLang="ko-KR" sz="1400"/>
              <a:t>read</a:t>
            </a:r>
            <a:r>
              <a:rPr lang="en-US" altLang="ko-KR" sz="1400" dirty="0"/>
              <a:t>()</a:t>
            </a:r>
            <a:r>
              <a:rPr lang="ko-KR" altLang="en-US" sz="1400" dirty="0"/>
              <a:t>로 해도 됨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size -= 1</a:t>
            </a:r>
            <a:endParaRPr lang="ko-KR" altLang="en-US" sz="1400" dirty="0"/>
          </a:p>
          <a:p>
            <a:pPr defTabSz="180000"/>
            <a:endParaRPr lang="en-US" altLang="ko-KR" sz="1400" dirty="0"/>
          </a:p>
          <a:p>
            <a:pPr defTabSz="180000"/>
            <a:r>
              <a:rPr lang="en-US" altLang="ko-KR" sz="1400" dirty="0"/>
              <a:t># </a:t>
            </a:r>
            <a:r>
              <a:rPr lang="ko-KR" altLang="en-US" sz="1400" dirty="0"/>
              <a:t>버퍼에서 </a:t>
            </a:r>
            <a:r>
              <a:rPr lang="ko-KR" altLang="en-US" sz="1400"/>
              <a:t>프레임을 읽는다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ret, frame </a:t>
            </a:r>
            <a:r>
              <a:rPr lang="en-US" altLang="ko-KR" sz="1400"/>
              <a:t>= </a:t>
            </a:r>
            <a:r>
              <a:rPr lang="en-US" altLang="ko-KR" sz="1400" dirty="0" err="1"/>
              <a:t>camera</a:t>
            </a:r>
            <a:r>
              <a:rPr lang="en-US" altLang="ko-KR" sz="1400" err="1"/>
              <a:t>.</a:t>
            </a:r>
            <a:r>
              <a:rPr lang="en-US" altLang="ko-KR" sz="1400"/>
              <a:t>read</a:t>
            </a:r>
            <a:r>
              <a:rPr lang="en-US" altLang="ko-KR" sz="1400" dirty="0"/>
              <a:t>() # </a:t>
            </a:r>
            <a:r>
              <a:rPr lang="ko-KR" altLang="en-US" sz="1400" dirty="0"/>
              <a:t>현재 시점에서 카메라가 비추는 프레임 리턴</a:t>
            </a:r>
          </a:p>
        </p:txBody>
      </p:sp>
    </p:spTree>
    <p:extLst>
      <p:ext uri="{BB962C8B-B14F-4D97-AF65-F5344CB8AC3E}">
        <p14:creationId xmlns:p14="http://schemas.microsoft.com/office/powerpoint/2010/main" val="25950493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250297-7B21-4FB6-8DF3-0028458D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4-5 </a:t>
            </a:r>
            <a:r>
              <a:rPr lang="ko-KR" altLang="en-US" dirty="0"/>
              <a:t>현재 시점의 사진 촬영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3248CB-3A33-47F0-A61C-932808777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66D440-2A7C-4F42-8505-7B5D2921463D}"/>
              </a:ext>
            </a:extLst>
          </p:cNvPr>
          <p:cNvSpPr/>
          <p:nvPr/>
        </p:nvSpPr>
        <p:spPr>
          <a:xfrm>
            <a:off x="612648" y="2204864"/>
            <a:ext cx="8154021" cy="45550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000" dirty="0"/>
              <a:t>import cv2</a:t>
            </a:r>
          </a:p>
          <a:p>
            <a:pPr defTabSz="180000"/>
            <a:r>
              <a:rPr lang="en-US" altLang="ko-KR" sz="1000" dirty="0"/>
              <a:t>camera = cv2.VideoCapture(0, cv2.CAP_V4L) # </a:t>
            </a:r>
            <a:r>
              <a:rPr lang="ko-KR" altLang="en-US" sz="1000" dirty="0"/>
              <a:t>카메라 객체 생성</a:t>
            </a:r>
          </a:p>
          <a:p>
            <a:pPr defTabSz="180000"/>
            <a:r>
              <a:rPr lang="en-US" altLang="ko-KR" sz="1000" dirty="0" err="1"/>
              <a:t>camera</a:t>
            </a:r>
            <a:r>
              <a:rPr lang="en-US" altLang="ko-KR" sz="1000" err="1"/>
              <a:t>.</a:t>
            </a:r>
            <a:r>
              <a:rPr lang="en-US" altLang="ko-KR" sz="1000"/>
              <a:t>set</a:t>
            </a:r>
            <a:r>
              <a:rPr lang="en-US" altLang="ko-KR" sz="1000" dirty="0"/>
              <a:t>(cv2.CAP_PROP_BUFFERSIZE, 10) # </a:t>
            </a:r>
            <a:r>
              <a:rPr lang="ko-KR" altLang="en-US" sz="1000" dirty="0"/>
              <a:t>버퍼 </a:t>
            </a:r>
            <a:r>
              <a:rPr lang="ko-KR" altLang="en-US" sz="1000"/>
              <a:t>크기를 </a:t>
            </a:r>
            <a:r>
              <a:rPr lang="en-US" altLang="ko-KR" sz="1000" dirty="0"/>
              <a:t>10</a:t>
            </a:r>
            <a:r>
              <a:rPr lang="ko-KR" altLang="en-US" sz="1000" dirty="0"/>
              <a:t>으로</a:t>
            </a:r>
          </a:p>
          <a:p>
            <a:pPr defTabSz="180000"/>
            <a:r>
              <a:rPr lang="en-US" altLang="ko-KR" sz="1000"/>
              <a:t>def </a:t>
            </a:r>
            <a:r>
              <a:rPr lang="en-US" altLang="ko-KR" sz="1000" dirty="0" err="1"/>
              <a:t>take</a:t>
            </a:r>
            <a:r>
              <a:rPr lang="en-US" altLang="ko-KR" sz="1000" err="1"/>
              <a:t>_</a:t>
            </a:r>
            <a:r>
              <a:rPr lang="en-US" altLang="ko-KR" sz="1000"/>
              <a:t>picture</a:t>
            </a:r>
            <a:r>
              <a:rPr lang="en-US" altLang="ko-KR" sz="1000" dirty="0"/>
              <a:t>( ):</a:t>
            </a:r>
          </a:p>
          <a:p>
            <a:pPr defTabSz="180000"/>
            <a:r>
              <a:rPr lang="en-US" altLang="ko-KR" sz="1000" dirty="0"/>
              <a:t>	size </a:t>
            </a:r>
            <a:r>
              <a:rPr lang="en-US" altLang="ko-KR" sz="1000"/>
              <a:t>= </a:t>
            </a:r>
            <a:r>
              <a:rPr lang="en-US" altLang="ko-KR" sz="1000" dirty="0" err="1"/>
              <a:t>camera</a:t>
            </a:r>
            <a:r>
              <a:rPr lang="en-US" altLang="ko-KR" sz="1000" err="1"/>
              <a:t>.</a:t>
            </a:r>
            <a:r>
              <a:rPr lang="en-US" altLang="ko-KR" sz="1000"/>
              <a:t>get</a:t>
            </a:r>
            <a:r>
              <a:rPr lang="en-US" altLang="ko-KR" sz="1000" dirty="0"/>
              <a:t>(cv2.CAP_PROP_BUFFERSIZE) # </a:t>
            </a:r>
            <a:r>
              <a:rPr lang="ko-KR" altLang="en-US" sz="1000" dirty="0"/>
              <a:t>버퍼 크기를 읽어온다</a:t>
            </a:r>
          </a:p>
          <a:p>
            <a:pPr defTabSz="180000"/>
            <a:r>
              <a:rPr lang="ko-KR" altLang="en-US" sz="1000"/>
              <a:t>	</a:t>
            </a:r>
            <a:r>
              <a:rPr lang="en-US" altLang="ko-KR" sz="1000" dirty="0"/>
              <a:t>while size &gt; 0: # </a:t>
            </a:r>
            <a:r>
              <a:rPr lang="ko-KR" altLang="en-US" sz="1000" dirty="0"/>
              <a:t>버퍼 내에 저장된 모든 프레임을 버린다</a:t>
            </a:r>
          </a:p>
          <a:p>
            <a:pPr defTabSz="180000"/>
            <a:r>
              <a:rPr lang="ko-KR" altLang="en-US" sz="1000" dirty="0"/>
              <a:t>	</a:t>
            </a:r>
            <a:r>
              <a:rPr lang="ko-KR" altLang="en-US" sz="1000"/>
              <a:t>	</a:t>
            </a:r>
            <a:r>
              <a:rPr lang="en-US" altLang="ko-KR" sz="1000" dirty="0" err="1"/>
              <a:t>camera</a:t>
            </a:r>
            <a:r>
              <a:rPr lang="en-US" altLang="ko-KR" sz="1000" err="1"/>
              <a:t>.</a:t>
            </a:r>
            <a:r>
              <a:rPr lang="en-US" altLang="ko-KR" sz="1000"/>
              <a:t>grab</a:t>
            </a:r>
            <a:r>
              <a:rPr lang="en-US" altLang="ko-KR" sz="1000" dirty="0"/>
              <a:t>( ) </a:t>
            </a:r>
            <a:r>
              <a:rPr lang="en-US" altLang="ko-KR" sz="1000"/>
              <a:t># </a:t>
            </a:r>
            <a:r>
              <a:rPr lang="en-US" altLang="ko-KR" sz="1000" dirty="0" err="1"/>
              <a:t>camera</a:t>
            </a:r>
            <a:r>
              <a:rPr lang="en-US" altLang="ko-KR" sz="1000" err="1"/>
              <a:t>.</a:t>
            </a:r>
            <a:r>
              <a:rPr lang="en-US" altLang="ko-KR" sz="1000"/>
              <a:t>read</a:t>
            </a:r>
            <a:r>
              <a:rPr lang="en-US" altLang="ko-KR" sz="1000" dirty="0"/>
              <a:t>( )</a:t>
            </a:r>
            <a:r>
              <a:rPr lang="ko-KR" altLang="en-US" sz="1000" dirty="0"/>
              <a:t>로 해도 됨</a:t>
            </a:r>
          </a:p>
          <a:p>
            <a:pPr defTabSz="180000"/>
            <a:r>
              <a:rPr lang="ko-KR" altLang="en-US" sz="1000" dirty="0"/>
              <a:t>	</a:t>
            </a:r>
            <a:r>
              <a:rPr lang="ko-KR" altLang="en-US" sz="1000"/>
              <a:t>	</a:t>
            </a:r>
            <a:r>
              <a:rPr lang="en-US" altLang="ko-KR" sz="1000" dirty="0"/>
              <a:t>size -= 1</a:t>
            </a:r>
          </a:p>
          <a:p>
            <a:pPr defTabSz="180000"/>
            <a:r>
              <a:rPr lang="en-US" altLang="ko-KR" sz="1000" dirty="0"/>
              <a:t>	ret, frame </a:t>
            </a:r>
            <a:r>
              <a:rPr lang="en-US" altLang="ko-KR" sz="1000"/>
              <a:t>= </a:t>
            </a:r>
            <a:r>
              <a:rPr lang="en-US" altLang="ko-KR" sz="1000" dirty="0" err="1"/>
              <a:t>camera</a:t>
            </a:r>
            <a:r>
              <a:rPr lang="en-US" altLang="ko-KR" sz="1000" err="1"/>
              <a:t>.</a:t>
            </a:r>
            <a:r>
              <a:rPr lang="en-US" altLang="ko-KR" sz="1000"/>
              <a:t>read</a:t>
            </a:r>
            <a:r>
              <a:rPr lang="en-US" altLang="ko-KR" sz="1000" dirty="0"/>
              <a:t>( ) # </a:t>
            </a:r>
            <a:r>
              <a:rPr lang="ko-KR" altLang="en-US" sz="1000" dirty="0"/>
              <a:t>버퍼에 있는 현재 </a:t>
            </a:r>
            <a:r>
              <a:rPr lang="ko-KR" altLang="en-US" sz="1000"/>
              <a:t>프레임을 읽는다</a:t>
            </a:r>
            <a:r>
              <a:rPr lang="en-US" altLang="ko-KR" sz="1000" dirty="0"/>
              <a:t>.</a:t>
            </a:r>
          </a:p>
          <a:p>
            <a:pPr defTabSz="180000"/>
            <a:r>
              <a:rPr lang="en-US" altLang="ko-KR" sz="1000" dirty="0"/>
              <a:t>	return frame if ret == True else None</a:t>
            </a:r>
          </a:p>
          <a:p>
            <a:pPr defTabSz="180000"/>
            <a:r>
              <a:rPr lang="en-US" altLang="ko-KR" sz="1000" dirty="0"/>
              <a:t>count = 0</a:t>
            </a:r>
          </a:p>
          <a:p>
            <a:pPr defTabSz="180000"/>
            <a:r>
              <a:rPr lang="en-US" altLang="ko-KR" sz="1000" dirty="0"/>
              <a:t>print("OpenCV </a:t>
            </a:r>
            <a:r>
              <a:rPr lang="ko-KR" altLang="en-US" sz="1000"/>
              <a:t>로딩 완료</a:t>
            </a:r>
            <a:r>
              <a:rPr lang="en-US" altLang="ko-KR" sz="1000" dirty="0"/>
              <a:t>")</a:t>
            </a:r>
          </a:p>
          <a:p>
            <a:pPr defTabSz="180000"/>
            <a:r>
              <a:rPr lang="en-US" altLang="ko-KR" sz="1000" dirty="0"/>
              <a:t>print("</a:t>
            </a:r>
            <a:r>
              <a:rPr lang="ko-KR" altLang="en-US" sz="1000" dirty="0"/>
              <a:t>키 입력 </a:t>
            </a:r>
            <a:r>
              <a:rPr lang="ko-KR" altLang="en-US" sz="1000"/>
              <a:t>준비 완료</a:t>
            </a:r>
            <a:r>
              <a:rPr lang="en-US" altLang="ko-KR" sz="1000" dirty="0"/>
              <a:t>")</a:t>
            </a:r>
          </a:p>
          <a:p>
            <a:pPr defTabSz="180000"/>
            <a:r>
              <a:rPr lang="en-US" altLang="ko-KR" sz="1000" dirty="0"/>
              <a:t>frame </a:t>
            </a:r>
            <a:r>
              <a:rPr lang="en-US" altLang="ko-KR" sz="1000"/>
              <a:t>= </a:t>
            </a:r>
            <a:r>
              <a:rPr lang="en-US" altLang="ko-KR" sz="1000" dirty="0" err="1"/>
              <a:t>take</a:t>
            </a:r>
            <a:r>
              <a:rPr lang="en-US" altLang="ko-KR" sz="1000" err="1"/>
              <a:t>_</a:t>
            </a:r>
            <a:r>
              <a:rPr lang="en-US" altLang="ko-KR" sz="1000"/>
              <a:t>picture</a:t>
            </a:r>
            <a:r>
              <a:rPr lang="en-US" altLang="ko-KR" sz="1000" dirty="0"/>
              <a:t>( ) # </a:t>
            </a:r>
            <a:r>
              <a:rPr lang="ko-KR" altLang="en-US" sz="1000" dirty="0"/>
              <a:t>먼저 한 장의 이미지를 가져옴</a:t>
            </a:r>
          </a:p>
          <a:p>
            <a:pPr defTabSz="180000"/>
            <a:r>
              <a:rPr lang="en-US" altLang="ko-KR" sz="1000" dirty="0"/>
              <a:t>while True:</a:t>
            </a:r>
          </a:p>
          <a:p>
            <a:pPr defTabSz="180000"/>
            <a:r>
              <a:rPr lang="en-US" altLang="ko-KR" sz="1000" dirty="0"/>
              <a:t>	# </a:t>
            </a:r>
            <a:r>
              <a:rPr lang="ko-KR" altLang="en-US" sz="1000"/>
              <a:t>아래 </a:t>
            </a:r>
            <a:r>
              <a:rPr lang="en-US" altLang="ko-KR" sz="1000" dirty="0"/>
              <a:t>show</a:t>
            </a:r>
            <a:r>
              <a:rPr lang="ko-KR" altLang="en-US" sz="1000"/>
              <a:t>에서 </a:t>
            </a:r>
            <a:r>
              <a:rPr lang="en-US" altLang="ko-KR" sz="1000"/>
              <a:t>picture </a:t>
            </a:r>
            <a:r>
              <a:rPr lang="ko-KR" altLang="en-US" sz="1000"/>
              <a:t>이름의 창을 만들어야 </a:t>
            </a:r>
            <a:r>
              <a:rPr lang="en-US" altLang="ko-KR" sz="1000" dirty="0"/>
              <a:t>cv2.waitKey( )</a:t>
            </a:r>
            <a:r>
              <a:rPr lang="ko-KR" altLang="en-US" sz="1000" dirty="0"/>
              <a:t>가 작동함</a:t>
            </a:r>
          </a:p>
          <a:p>
            <a:pPr defTabSz="180000"/>
            <a:r>
              <a:rPr lang="ko-KR" altLang="en-US" sz="1000"/>
              <a:t>	</a:t>
            </a:r>
            <a:r>
              <a:rPr lang="en-US" altLang="ko-KR" sz="1000" dirty="0"/>
              <a:t>if frame is not None:</a:t>
            </a:r>
          </a:p>
          <a:p>
            <a:pPr defTabSz="180000"/>
            <a:r>
              <a:rPr lang="en-US" altLang="ko-KR" sz="1000" dirty="0"/>
              <a:t>		cv2.imshow("picture", frame)</a:t>
            </a:r>
          </a:p>
          <a:p>
            <a:pPr defTabSz="180000"/>
            <a:r>
              <a:rPr lang="en-US" altLang="ko-KR" sz="1000" dirty="0"/>
              <a:t>	# ESC </a:t>
            </a:r>
            <a:r>
              <a:rPr lang="ko-KR" altLang="en-US" sz="1000" dirty="0"/>
              <a:t>키가 </a:t>
            </a:r>
            <a:r>
              <a:rPr lang="ko-KR" altLang="en-US" sz="1000"/>
              <a:t>입력되면 종료</a:t>
            </a:r>
            <a:r>
              <a:rPr lang="en-US" altLang="ko-KR" sz="1000" dirty="0"/>
              <a:t>.</a:t>
            </a:r>
          </a:p>
          <a:p>
            <a:pPr defTabSz="180000"/>
            <a:r>
              <a:rPr lang="en-US" altLang="ko-KR" sz="1000" dirty="0"/>
              <a:t>	# </a:t>
            </a:r>
            <a:r>
              <a:rPr lang="ko-KR" altLang="en-US" sz="1000" dirty="0"/>
              <a:t>다른 키가 입력되면 카메라로부터 이미지를 캡처하여 파일로 저장</a:t>
            </a:r>
          </a:p>
          <a:p>
            <a:pPr defTabSz="180000"/>
            <a:r>
              <a:rPr lang="ko-KR" altLang="en-US" sz="1000"/>
              <a:t>	</a:t>
            </a:r>
            <a:r>
              <a:rPr lang="en-US" altLang="ko-KR" sz="1000" dirty="0"/>
              <a:t>if cv2.waitKey(0) == 27: # 0</a:t>
            </a:r>
            <a:r>
              <a:rPr lang="ko-KR" altLang="en-US" sz="1000" dirty="0"/>
              <a:t>의 의미는 시간 제약 없이 아무 키 입력 대기</a:t>
            </a:r>
          </a:p>
          <a:p>
            <a:pPr defTabSz="180000"/>
            <a:r>
              <a:rPr lang="ko-KR" altLang="en-US" sz="1000" dirty="0"/>
              <a:t>	</a:t>
            </a:r>
            <a:r>
              <a:rPr lang="ko-KR" altLang="en-US" sz="1000"/>
              <a:t>	</a:t>
            </a:r>
            <a:r>
              <a:rPr lang="en-US" altLang="ko-KR" sz="1000" dirty="0"/>
              <a:t>break</a:t>
            </a:r>
          </a:p>
          <a:p>
            <a:pPr defTabSz="180000"/>
            <a:r>
              <a:rPr lang="en-US" altLang="ko-KR" sz="1000" dirty="0"/>
              <a:t>	else:</a:t>
            </a:r>
          </a:p>
          <a:p>
            <a:pPr defTabSz="180000"/>
            <a:r>
              <a:rPr lang="en-US" altLang="ko-KR" sz="1000" dirty="0"/>
              <a:t>		frame </a:t>
            </a:r>
            <a:r>
              <a:rPr lang="en-US" altLang="ko-KR" sz="1000"/>
              <a:t>= </a:t>
            </a:r>
            <a:r>
              <a:rPr lang="en-US" altLang="ko-KR" sz="1000" dirty="0" err="1"/>
              <a:t>take</a:t>
            </a:r>
            <a:r>
              <a:rPr lang="en-US" altLang="ko-KR" sz="1000" err="1"/>
              <a:t>_</a:t>
            </a:r>
            <a:r>
              <a:rPr lang="en-US" altLang="ko-KR" sz="1000"/>
              <a:t>picture</a:t>
            </a:r>
            <a:r>
              <a:rPr lang="en-US" altLang="ko-KR" sz="1000" dirty="0"/>
              <a:t>( ) # </a:t>
            </a:r>
            <a:r>
              <a:rPr lang="ko-KR" altLang="en-US" sz="1000" dirty="0"/>
              <a:t>현재 시점에서의 프레임을 가져옴</a:t>
            </a:r>
          </a:p>
          <a:p>
            <a:pPr defTabSz="180000"/>
            <a:r>
              <a:rPr lang="ko-KR" altLang="en-US" sz="1000" dirty="0"/>
              <a:t>	</a:t>
            </a:r>
            <a:r>
              <a:rPr lang="ko-KR" altLang="en-US" sz="1000"/>
              <a:t>	</a:t>
            </a:r>
            <a:r>
              <a:rPr lang="en-US" altLang="ko-KR" sz="1000" dirty="0"/>
              <a:t>count += 1</a:t>
            </a:r>
          </a:p>
          <a:p>
            <a:pPr defTabSz="180000"/>
            <a:r>
              <a:rPr lang="en-US" altLang="ko-KR" sz="1000" dirty="0"/>
              <a:t>	</a:t>
            </a:r>
            <a:r>
              <a:rPr lang="en-US" altLang="ko-KR" sz="1000"/>
              <a:t>	</a:t>
            </a:r>
            <a:r>
              <a:rPr lang="en-US" altLang="ko-KR" sz="1000" dirty="0" err="1"/>
              <a:t>file</a:t>
            </a:r>
            <a:r>
              <a:rPr lang="en-US" altLang="ko-KR" sz="1000" err="1"/>
              <a:t>_</a:t>
            </a:r>
            <a:r>
              <a:rPr lang="en-US" altLang="ko-KR" sz="1000"/>
              <a:t>name</a:t>
            </a:r>
            <a:r>
              <a:rPr lang="en-US" altLang="ko-KR" sz="1000" dirty="0"/>
              <a:t> = "image</a:t>
            </a:r>
            <a:r>
              <a:rPr lang="en-US" altLang="ko-KR" sz="1000"/>
              <a:t>_4_5_" </a:t>
            </a:r>
            <a:r>
              <a:rPr lang="en-US" altLang="ko-KR" sz="1000" dirty="0"/>
              <a:t>+ str(count) + ".jpg"</a:t>
            </a:r>
          </a:p>
          <a:p>
            <a:pPr defTabSz="180000"/>
            <a:r>
              <a:rPr lang="en-US" altLang="ko-KR" sz="1000" dirty="0"/>
              <a:t>		cv2.</a:t>
            </a:r>
            <a:r>
              <a:rPr lang="en-US" altLang="ko-KR" sz="1000"/>
              <a:t>imwrite(</a:t>
            </a:r>
            <a:r>
              <a:rPr lang="en-US" altLang="ko-KR" sz="1000" dirty="0" err="1"/>
              <a:t>file</a:t>
            </a:r>
            <a:r>
              <a:rPr lang="en-US" altLang="ko-KR" sz="1000" err="1"/>
              <a:t>_</a:t>
            </a:r>
            <a:r>
              <a:rPr lang="en-US" altLang="ko-KR" sz="1000"/>
              <a:t>name</a:t>
            </a:r>
            <a:r>
              <a:rPr lang="en-US" altLang="ko-KR" sz="1000" dirty="0"/>
              <a:t>, frame) # </a:t>
            </a:r>
            <a:r>
              <a:rPr lang="ko-KR" altLang="en-US" sz="1000"/>
              <a:t>프레임을 </a:t>
            </a:r>
            <a:r>
              <a:rPr lang="en-US" altLang="ko-KR" sz="1000" dirty="0"/>
              <a:t>jpg </a:t>
            </a:r>
            <a:r>
              <a:rPr lang="ko-KR" altLang="en-US" sz="1000" dirty="0"/>
              <a:t>파일에 저장</a:t>
            </a:r>
          </a:p>
          <a:p>
            <a:pPr defTabSz="180000"/>
            <a:r>
              <a:rPr lang="en-US" altLang="ko-KR" sz="1000" dirty="0" err="1"/>
              <a:t>camera</a:t>
            </a:r>
            <a:r>
              <a:rPr lang="en-US" altLang="ko-KR" sz="1000" err="1"/>
              <a:t>.</a:t>
            </a:r>
            <a:r>
              <a:rPr lang="en-US" altLang="ko-KR" sz="1000"/>
              <a:t>release</a:t>
            </a:r>
            <a:r>
              <a:rPr lang="en-US" altLang="ko-KR" sz="1000" dirty="0"/>
              <a:t>( )</a:t>
            </a:r>
          </a:p>
          <a:p>
            <a:pPr defTabSz="180000"/>
            <a:r>
              <a:rPr lang="en-US" altLang="ko-KR" sz="1000" dirty="0"/>
              <a:t>cv2.destroyAllWindows( 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077F6D0-3A9B-4AE8-8958-3BE4C2DB1029}"/>
              </a:ext>
            </a:extLst>
          </p:cNvPr>
          <p:cNvSpPr/>
          <p:nvPr/>
        </p:nvSpPr>
        <p:spPr>
          <a:xfrm>
            <a:off x="524675" y="1297673"/>
            <a:ext cx="8318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사용자가 아무 키나 입력할 때마다 카메라로부터 사진을 촬영하는 프로그램을 작성하라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그리고 촬영된 사진을 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VNC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창에 출력하고 동시에 이미지 파일로 저장하라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. ESC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키가 입력되면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프로그램을 종료하라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F09231F-79BB-4A64-87EE-17468756C7E7}"/>
              </a:ext>
            </a:extLst>
          </p:cNvPr>
          <p:cNvSpPr/>
          <p:nvPr/>
        </p:nvSpPr>
        <p:spPr>
          <a:xfrm>
            <a:off x="524675" y="1820749"/>
            <a:ext cx="692818" cy="390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4-5.py</a:t>
            </a:r>
          </a:p>
        </p:txBody>
      </p:sp>
    </p:spTree>
    <p:extLst>
      <p:ext uri="{BB962C8B-B14F-4D97-AF65-F5344CB8AC3E}">
        <p14:creationId xmlns:p14="http://schemas.microsoft.com/office/powerpoint/2010/main" val="40878302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A1D7F-EEB2-405F-92D3-C763B5B30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/>
              <a:t>4-5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53A7B4B-8FF7-4F6C-801A-21F3DAE7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51</a:t>
            </a:fld>
            <a:endParaRPr lang="ko-KR" altLang="en-US"/>
          </a:p>
        </p:txBody>
      </p:sp>
      <p:pic>
        <p:nvPicPr>
          <p:cNvPr id="5" name="그림 4" descr="텍스트, 스크린샷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8CFE9C3C-0386-AC83-7505-653AFB9EDD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75" y="1484784"/>
            <a:ext cx="7772400" cy="496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7692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61FDB76-903C-4406-A475-1BC9ED974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76D6564-4BA9-479A-BB02-34DE5C2C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4.6 </a:t>
            </a:r>
            <a:r>
              <a:rPr lang="ko-KR" altLang="en-US"/>
              <a:t>카메라로 </a:t>
            </a:r>
            <a:r>
              <a:rPr lang="ko-KR" altLang="en-US" dirty="0"/>
              <a:t>얼굴 인식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AF4744-1F38-449C-8C72-DFA2DBB2B2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70596-DAFA-46D2-82A7-2B6B5F8E0EA4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5538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1B6B3-6710-4431-B3EE-C492D7E1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Haar</a:t>
            </a:r>
            <a:r>
              <a:rPr lang="en-US" altLang="ko-KR" dirty="0"/>
              <a:t> Cascades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924261-FDCC-4A12-B815-52A28ED5F4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Haar</a:t>
            </a:r>
            <a:r>
              <a:rPr lang="en-US" altLang="ko-KR" dirty="0"/>
              <a:t> Cascades</a:t>
            </a:r>
          </a:p>
          <a:p>
            <a:pPr lvl="1"/>
            <a:r>
              <a:rPr lang="en-US" altLang="ko-KR" dirty="0"/>
              <a:t>2001</a:t>
            </a:r>
            <a:r>
              <a:rPr lang="ko-KR" altLang="en-US" dirty="0"/>
              <a:t>년</a:t>
            </a:r>
            <a:r>
              <a:rPr lang="en-US" altLang="ko-KR" dirty="0"/>
              <a:t>, Paul Viola</a:t>
            </a:r>
            <a:r>
              <a:rPr lang="ko-KR" altLang="en-US" dirty="0"/>
              <a:t>와 </a:t>
            </a:r>
            <a:r>
              <a:rPr lang="en-US" altLang="ko-KR" dirty="0"/>
              <a:t>Michael Jones</a:t>
            </a:r>
            <a:r>
              <a:rPr lang="ko-KR" altLang="en-US" dirty="0"/>
              <a:t>에 의해 제안된 기계 학습 기반의 물체 인식 알고리즘</a:t>
            </a:r>
          </a:p>
          <a:p>
            <a:r>
              <a:rPr lang="en-US" altLang="ko-KR" dirty="0" err="1"/>
              <a:t>Haar</a:t>
            </a:r>
            <a:r>
              <a:rPr lang="en-US" altLang="ko-KR" dirty="0"/>
              <a:t> Cascades </a:t>
            </a:r>
            <a:r>
              <a:rPr lang="ko-KR" altLang="en-US" dirty="0"/>
              <a:t>학습 모델</a:t>
            </a:r>
          </a:p>
          <a:p>
            <a:pPr lvl="1"/>
            <a:r>
              <a:rPr lang="en-US" altLang="ko-KR" dirty="0"/>
              <a:t>https://github.com/anaustinbeing/haar-cascade-files</a:t>
            </a:r>
          </a:p>
          <a:p>
            <a:r>
              <a:rPr lang="en-US" altLang="ko-KR" dirty="0" err="1"/>
              <a:t>Haar</a:t>
            </a:r>
            <a:r>
              <a:rPr lang="en-US" altLang="ko-KR" dirty="0"/>
              <a:t> Cascades </a:t>
            </a:r>
            <a:r>
              <a:rPr lang="ko-KR" altLang="en-US" dirty="0"/>
              <a:t>학습 모델 다운로드 및 압축해제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6EDF4-404E-44C0-8AA4-E324CC87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53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E64D79-C186-4732-BC39-62427721A96C}"/>
              </a:ext>
            </a:extLst>
          </p:cNvPr>
          <p:cNvSpPr/>
          <p:nvPr/>
        </p:nvSpPr>
        <p:spPr>
          <a:xfrm>
            <a:off x="1043608" y="3861048"/>
            <a:ext cx="7487744" cy="52322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b-NO" altLang="ko-KR" sz="1400" b="1" dirty="0"/>
              <a:t>(myenv) pi@pi:~/ch04 $ wget https://github.com/anaustinbeing/haar-cascade-files/archive/</a:t>
            </a:r>
            <a:r>
              <a:rPr lang="en-US" altLang="ko-KR" sz="1400" b="1" dirty="0"/>
              <a:t>master.zip</a:t>
            </a:r>
            <a:endParaRPr lang="ko-KR" altLang="en-US" sz="14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F2F1D81-D965-4F2E-83B0-367F738D65A1}"/>
              </a:ext>
            </a:extLst>
          </p:cNvPr>
          <p:cNvSpPr/>
          <p:nvPr/>
        </p:nvSpPr>
        <p:spPr>
          <a:xfrm>
            <a:off x="1059997" y="4550640"/>
            <a:ext cx="7487744" cy="30777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b="1" dirty="0"/>
              <a:t>(</a:t>
            </a:r>
            <a:r>
              <a:rPr lang="en-US" altLang="ko-KR" sz="1400" b="1" dirty="0" err="1"/>
              <a:t>myenv</a:t>
            </a:r>
            <a:r>
              <a:rPr lang="en-US" altLang="ko-KR" sz="1400" b="1" dirty="0"/>
              <a:t>) </a:t>
            </a:r>
            <a:r>
              <a:rPr lang="en-US" altLang="ko-KR" sz="1400" b="1" dirty="0" err="1"/>
              <a:t>pi@pi</a:t>
            </a:r>
            <a:r>
              <a:rPr lang="en-US" altLang="ko-KR" sz="1400" b="1" dirty="0"/>
              <a:t>:~/ch04 $ unzip master.zip</a:t>
            </a:r>
            <a:endParaRPr lang="nl-NL" altLang="ko-KR" sz="1400" b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74B688-1155-4170-9733-E4E639DCE189}"/>
              </a:ext>
            </a:extLst>
          </p:cNvPr>
          <p:cNvSpPr/>
          <p:nvPr/>
        </p:nvSpPr>
        <p:spPr>
          <a:xfrm>
            <a:off x="1044675" y="5024789"/>
            <a:ext cx="7487744" cy="307777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l-NL" altLang="ko-KR" sz="1400" b="1" dirty="0"/>
              <a:t>(myenv) pi@pi:~/ch04 $ cd haar-*</a:t>
            </a:r>
          </a:p>
        </p:txBody>
      </p:sp>
    </p:spTree>
    <p:extLst>
      <p:ext uri="{BB962C8B-B14F-4D97-AF65-F5344CB8AC3E}">
        <p14:creationId xmlns:p14="http://schemas.microsoft.com/office/powerpoint/2010/main" val="18231992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D5818-E3FE-4364-8D87-602AC02B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Haar</a:t>
            </a:r>
            <a:r>
              <a:rPr lang="en-US" altLang="ko-KR" dirty="0"/>
              <a:t> Cascades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B8D4FF-25A2-4E3D-A731-F2AB827BD13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340768"/>
            <a:ext cx="8153400" cy="5040560"/>
          </a:xfrm>
        </p:spPr>
        <p:txBody>
          <a:bodyPr/>
          <a:lstStyle/>
          <a:p>
            <a:r>
              <a:rPr lang="en-US" altLang="ko-KR" dirty="0" err="1"/>
              <a:t>Haar</a:t>
            </a:r>
            <a:r>
              <a:rPr lang="en-US" altLang="ko-KR" dirty="0"/>
              <a:t> Cascades </a:t>
            </a:r>
            <a:r>
              <a:rPr lang="ko-KR" altLang="en-US"/>
              <a:t>학습 모델들 </a:t>
            </a:r>
            <a:r>
              <a:rPr lang="ko-KR" altLang="en-US" dirty="0"/>
              <a:t>보기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15DF9C-D49A-4685-AD1B-FD4687251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21B5819-2838-46C4-80B0-D1180745B4C7}"/>
              </a:ext>
            </a:extLst>
          </p:cNvPr>
          <p:cNvSpPr/>
          <p:nvPr/>
        </p:nvSpPr>
        <p:spPr>
          <a:xfrm>
            <a:off x="971600" y="1857013"/>
            <a:ext cx="7251577" cy="4524315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nb-NO" altLang="ko-KR" sz="1200" b="1" dirty="0"/>
              <a:t>(myenv) pi@pi:~/ch04/haar-cascade-files-master $ ls</a:t>
            </a:r>
          </a:p>
          <a:p>
            <a:r>
              <a:rPr lang="en-US" altLang="ko-KR" sz="1200" dirty="0"/>
              <a:t>_</a:t>
            </a:r>
            <a:r>
              <a:rPr lang="en-US" altLang="ko-KR" sz="1200" dirty="0" err="1"/>
              <a:t>config.yml</a:t>
            </a:r>
            <a:endParaRPr lang="en-US" altLang="ko-KR" sz="1200" dirty="0"/>
          </a:p>
          <a:p>
            <a:r>
              <a:rPr lang="en-US" altLang="ko-KR" sz="1200" dirty="0"/>
              <a:t>haarcascade_eye_tree_eyeglasses.xml</a:t>
            </a:r>
          </a:p>
          <a:p>
            <a:r>
              <a:rPr lang="en-US" altLang="ko-KR" sz="1200" dirty="0"/>
              <a:t>haarcascade_eye.xml</a:t>
            </a:r>
          </a:p>
          <a:p>
            <a:r>
              <a:rPr lang="en-US" altLang="ko-KR" sz="1200" dirty="0"/>
              <a:t>haarcascade_frontalcatface_extended.xml</a:t>
            </a:r>
          </a:p>
          <a:p>
            <a:r>
              <a:rPr lang="en-US" altLang="ko-KR" sz="1200" dirty="0"/>
              <a:t>haarcascade_frontalcatface.xml</a:t>
            </a:r>
          </a:p>
          <a:p>
            <a:r>
              <a:rPr lang="en-US" altLang="ko-KR" sz="1200" dirty="0"/>
              <a:t>haarcascade_frontalface_alt2.xml</a:t>
            </a:r>
          </a:p>
          <a:p>
            <a:r>
              <a:rPr lang="en-US" altLang="ko-KR" sz="1200" dirty="0"/>
              <a:t>haarcascade_frontalface_alt_tree.xml</a:t>
            </a:r>
          </a:p>
          <a:p>
            <a:r>
              <a:rPr lang="en-US" altLang="ko-KR" sz="1200" dirty="0"/>
              <a:t>haarcascade_frontalface_alt.xml</a:t>
            </a:r>
          </a:p>
          <a:p>
            <a:r>
              <a:rPr lang="en-US" altLang="ko-KR" sz="1200" dirty="0">
                <a:solidFill>
                  <a:srgbClr val="C00000"/>
                </a:solidFill>
              </a:rPr>
              <a:t>haarcascade_frontalface_default.xml</a:t>
            </a:r>
          </a:p>
          <a:p>
            <a:r>
              <a:rPr lang="en-US" altLang="ko-KR" sz="1200" dirty="0"/>
              <a:t>haarcascade_fullbody.xml</a:t>
            </a:r>
          </a:p>
          <a:p>
            <a:r>
              <a:rPr lang="en-US" altLang="ko-KR" sz="1200" dirty="0"/>
              <a:t>haarcascade_lefteye_2splits.xml</a:t>
            </a:r>
          </a:p>
          <a:p>
            <a:r>
              <a:rPr lang="en-US" altLang="ko-KR" sz="1200" dirty="0"/>
              <a:t>haarcascade_licence_plate_rus_16stages.xml</a:t>
            </a:r>
          </a:p>
          <a:p>
            <a:r>
              <a:rPr lang="en-US" altLang="ko-KR" sz="1200" dirty="0"/>
              <a:t>haarcascade_lowerbody.xml</a:t>
            </a:r>
          </a:p>
          <a:p>
            <a:r>
              <a:rPr lang="en-US" altLang="ko-KR" sz="1200" dirty="0"/>
              <a:t>haarcascade_mcs_mouth.xml</a:t>
            </a:r>
          </a:p>
          <a:p>
            <a:r>
              <a:rPr lang="en-US" altLang="ko-KR" sz="1200" dirty="0"/>
              <a:t>haarcascade_profileface.xml</a:t>
            </a:r>
          </a:p>
          <a:p>
            <a:r>
              <a:rPr lang="en-US" altLang="ko-KR" sz="1200" dirty="0"/>
              <a:t>haarcascade_righteye_2splits.xml</a:t>
            </a:r>
          </a:p>
          <a:p>
            <a:r>
              <a:rPr lang="en-US" altLang="ko-KR" sz="1200" dirty="0"/>
              <a:t>haarcascade_russian_plate_number.xml</a:t>
            </a:r>
          </a:p>
          <a:p>
            <a:r>
              <a:rPr lang="en-US" altLang="ko-KR" sz="1200" dirty="0"/>
              <a:t>haarcascade_smile1.xml</a:t>
            </a:r>
          </a:p>
          <a:p>
            <a:r>
              <a:rPr lang="en-US" altLang="ko-KR" sz="1200" dirty="0"/>
              <a:t>haarcascade_smile.xml</a:t>
            </a:r>
          </a:p>
          <a:p>
            <a:r>
              <a:rPr lang="en-US" altLang="ko-KR" sz="1200" dirty="0"/>
              <a:t>haarcascade_upperbody.xml</a:t>
            </a:r>
          </a:p>
          <a:p>
            <a:r>
              <a:rPr lang="en-US" altLang="ko-KR" sz="1200" dirty="0"/>
              <a:t>haarcascade_wallclock.xml</a:t>
            </a:r>
          </a:p>
          <a:p>
            <a:r>
              <a:rPr lang="en-US" altLang="ko-KR" sz="1200" dirty="0"/>
              <a:t>README.md</a:t>
            </a:r>
          </a:p>
          <a:p>
            <a:r>
              <a:rPr lang="nb-NO" altLang="ko-KR" sz="1200" b="1" dirty="0"/>
              <a:t>(myenv) pi@pi:~/ch04/haar-cascade-files-master $</a:t>
            </a:r>
            <a:endParaRPr lang="en-US" altLang="ko-KR" sz="1200" b="1" dirty="0"/>
          </a:p>
        </p:txBody>
      </p:sp>
    </p:spTree>
    <p:extLst>
      <p:ext uri="{BB962C8B-B14F-4D97-AF65-F5344CB8AC3E}">
        <p14:creationId xmlns:p14="http://schemas.microsoft.com/office/powerpoint/2010/main" val="2176964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89F97-DFE1-497F-A2A6-667072B1D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Haar</a:t>
            </a:r>
            <a:r>
              <a:rPr lang="en-US" altLang="ko-KR" dirty="0"/>
              <a:t> Cascades </a:t>
            </a:r>
            <a:r>
              <a:rPr lang="ko-KR" altLang="en-US" dirty="0"/>
              <a:t>학습 모델을 이용한 얼굴 인식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297A20-5280-448B-AFDD-E69B15638B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일반적인 물체 인식 과정</a:t>
            </a:r>
          </a:p>
          <a:p>
            <a:pPr lvl="1" fontAlgn="base"/>
            <a:r>
              <a:rPr lang="ko-KR" altLang="en-US" dirty="0"/>
              <a:t>단계</a:t>
            </a:r>
            <a:r>
              <a:rPr lang="en-US" altLang="ko-KR" dirty="0"/>
              <a:t>1: </a:t>
            </a:r>
            <a:r>
              <a:rPr lang="ko-KR" altLang="en-US" dirty="0"/>
              <a:t>검출 객체 생성</a:t>
            </a:r>
          </a:p>
          <a:p>
            <a:pPr lvl="1" fontAlgn="base"/>
            <a:r>
              <a:rPr lang="ko-KR" altLang="en-US" dirty="0"/>
              <a:t>단계</a:t>
            </a:r>
            <a:r>
              <a:rPr lang="en-US" altLang="ko-KR" dirty="0"/>
              <a:t>2: </a:t>
            </a:r>
            <a:r>
              <a:rPr lang="ko-KR" altLang="en-US" dirty="0"/>
              <a:t>이미지 준비</a:t>
            </a:r>
          </a:p>
          <a:p>
            <a:pPr lvl="1" fontAlgn="base"/>
            <a:r>
              <a:rPr lang="ko-KR" altLang="en-US" dirty="0"/>
              <a:t>단계</a:t>
            </a:r>
            <a:r>
              <a:rPr lang="en-US" altLang="ko-KR" dirty="0"/>
              <a:t>3: </a:t>
            </a:r>
            <a:r>
              <a:rPr lang="ko-KR" altLang="en-US" dirty="0"/>
              <a:t>검출 객체를 활용하여 </a:t>
            </a:r>
            <a:r>
              <a:rPr lang="ko-KR" altLang="en-US"/>
              <a:t>얼굴 인식</a:t>
            </a:r>
            <a:endParaRPr lang="en-US" altLang="ko-KR"/>
          </a:p>
          <a:p>
            <a:pPr lvl="2" fontAlgn="base"/>
            <a:r>
              <a:rPr lang="ko-KR" altLang="en-US"/>
              <a:t>인식 </a:t>
            </a:r>
            <a:r>
              <a:rPr lang="ko-KR" altLang="en-US" dirty="0"/>
              <a:t>결과는 얼굴을 담은 사각형 영역</a:t>
            </a:r>
          </a:p>
          <a:p>
            <a:pPr lvl="1" fontAlgn="base"/>
            <a:r>
              <a:rPr lang="ko-KR" altLang="en-US" dirty="0"/>
              <a:t>단계</a:t>
            </a:r>
            <a:r>
              <a:rPr lang="en-US" altLang="ko-KR" dirty="0"/>
              <a:t>4: </a:t>
            </a:r>
            <a:r>
              <a:rPr lang="ko-KR" altLang="en-US" dirty="0"/>
              <a:t>검출된 얼굴 </a:t>
            </a:r>
            <a:r>
              <a:rPr lang="ko-KR" altLang="en-US"/>
              <a:t>영역 활용</a:t>
            </a:r>
            <a:endParaRPr lang="en-US" altLang="ko-KR"/>
          </a:p>
          <a:p>
            <a:pPr lvl="2" fontAlgn="base"/>
            <a:r>
              <a:rPr lang="ko-KR" altLang="en-US"/>
              <a:t>얼굴 </a:t>
            </a:r>
            <a:r>
              <a:rPr lang="ko-KR" altLang="en-US" dirty="0"/>
              <a:t>영역에 사각형 박스 그리기 등</a:t>
            </a:r>
          </a:p>
          <a:p>
            <a:r>
              <a:rPr lang="ko-KR" altLang="en-US" dirty="0"/>
              <a:t>검출 객체 생성</a:t>
            </a:r>
            <a:endParaRPr lang="en-US" altLang="ko-KR" dirty="0"/>
          </a:p>
          <a:p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이미지 준비</a:t>
            </a:r>
          </a:p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6F76A7-EDB2-4C18-85B3-0CB24325E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55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B1D942-FAEE-4D19-AA4A-43CEFA14684C}"/>
              </a:ext>
            </a:extLst>
          </p:cNvPr>
          <p:cNvSpPr/>
          <p:nvPr/>
        </p:nvSpPr>
        <p:spPr>
          <a:xfrm>
            <a:off x="1024215" y="4509121"/>
            <a:ext cx="7200800" cy="3600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200" dirty="0"/>
              <a:t>classifier= cv2.</a:t>
            </a:r>
            <a:r>
              <a:rPr lang="en-US" altLang="ko-KR" sz="1200"/>
              <a:t>CascadeClassifier('./ haar-cascade-files-master /</a:t>
            </a:r>
            <a:r>
              <a:rPr lang="en-US" altLang="ko-KR" sz="1200" dirty="0"/>
              <a:t>haarcascade_frontalface_default.xml') </a:t>
            </a:r>
          </a:p>
          <a:p>
            <a:pPr defTabSz="180000"/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706751-7E99-46F7-ADA8-32DE77B87E88}"/>
              </a:ext>
            </a:extLst>
          </p:cNvPr>
          <p:cNvSpPr/>
          <p:nvPr/>
        </p:nvSpPr>
        <p:spPr>
          <a:xfrm>
            <a:off x="1043608" y="5805264"/>
            <a:ext cx="7200800" cy="5760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 dirty="0"/>
              <a:t>image = cv2.imread</a:t>
            </a:r>
            <a:r>
              <a:rPr lang="en-US" altLang="ko-KR" sz="1400"/>
              <a:t>('</a:t>
            </a:r>
            <a:r>
              <a:rPr lang="ko-KR" altLang="en-US" sz="1400"/>
              <a:t>이미지파일</a:t>
            </a:r>
            <a:r>
              <a:rPr lang="en-US" altLang="ko-KR" sz="1400" dirty="0"/>
              <a:t>.jpg')		# </a:t>
            </a:r>
            <a:r>
              <a:rPr lang="ko-KR" altLang="en-US" sz="1400" dirty="0"/>
              <a:t>이미지 읽기</a:t>
            </a:r>
          </a:p>
          <a:p>
            <a:pPr defTabSz="180000"/>
            <a:r>
              <a:rPr lang="en-US" altLang="ko-KR" sz="1400" dirty="0" err="1"/>
              <a:t>image</a:t>
            </a:r>
            <a:r>
              <a:rPr lang="en-US" altLang="ko-KR" sz="1400" err="1"/>
              <a:t>_</a:t>
            </a:r>
            <a:r>
              <a:rPr lang="en-US" altLang="ko-KR" sz="1400"/>
              <a:t>gray</a:t>
            </a:r>
            <a:r>
              <a:rPr lang="en-US" altLang="ko-KR" sz="1400" dirty="0"/>
              <a:t> = cv2.cvtColor(image, cv2.COLOR_BGR2GRAY)	# </a:t>
            </a:r>
            <a:r>
              <a:rPr lang="ko-KR" altLang="en-US" sz="1400"/>
              <a:t>흑백으로 변환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422486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13E08-2833-41EF-A1DC-0B6375036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Haar</a:t>
            </a:r>
            <a:r>
              <a:rPr lang="en-US" altLang="ko-KR" dirty="0"/>
              <a:t> Cascades </a:t>
            </a:r>
            <a:r>
              <a:rPr lang="ko-KR" altLang="en-US" dirty="0"/>
              <a:t>학습 모델을 이용한 얼굴 인식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F26F80-823B-4D01-AE40-7347AF76C04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얼굴 인식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1228A6-8B41-49AE-9CF7-C35CD2C01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88E29C3-75CF-4BA3-8A26-10C6B61C42DB}"/>
              </a:ext>
            </a:extLst>
          </p:cNvPr>
          <p:cNvSpPr/>
          <p:nvPr/>
        </p:nvSpPr>
        <p:spPr>
          <a:xfrm>
            <a:off x="672938" y="4466097"/>
            <a:ext cx="8307316" cy="3600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 dirty="0" err="1"/>
              <a:t>rects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classifier.detectMultiScale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image_gray</a:t>
            </a:r>
            <a:r>
              <a:rPr lang="en-US" altLang="ko-KR" sz="1400" dirty="0"/>
              <a:t>, ...) # </a:t>
            </a:r>
            <a:r>
              <a:rPr lang="ko-KR" altLang="en-US" sz="1400" dirty="0"/>
              <a:t>인식된 물체들을 포함하는 사각형 </a:t>
            </a:r>
            <a:r>
              <a:rPr lang="ko-KR" altLang="en-US" sz="1400"/>
              <a:t>배열 리턴</a:t>
            </a:r>
            <a:endParaRPr lang="ko-KR" altLang="en-US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E5C5D6-ACD0-44B1-AA8E-FD9D9F9BD7CE}"/>
              </a:ext>
            </a:extLst>
          </p:cNvPr>
          <p:cNvSpPr/>
          <p:nvPr/>
        </p:nvSpPr>
        <p:spPr>
          <a:xfrm>
            <a:off x="672938" y="2021596"/>
            <a:ext cx="8307316" cy="21924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400"/>
              <a:t>detectMultiScale</a:t>
            </a:r>
            <a:r>
              <a:rPr lang="en-US" altLang="ko-KR" sz="1400" dirty="0"/>
              <a:t>(</a:t>
            </a:r>
            <a:endParaRPr lang="ko-KR" altLang="en-US" sz="1400" dirty="0"/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/>
              <a:t>image,</a:t>
            </a:r>
            <a:r>
              <a:rPr lang="ko-KR" altLang="en-US" sz="1400" dirty="0"/>
              <a:t>	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흑백 이미지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scaleFactor</a:t>
            </a:r>
            <a:r>
              <a:rPr lang="en-US" altLang="ko-KR" sz="1400" dirty="0"/>
              <a:t>,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영상 축소 비율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minNeighbors</a:t>
            </a:r>
            <a:r>
              <a:rPr lang="en-US" altLang="ko-KR" sz="1400" dirty="0"/>
              <a:t>,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물체가 검출되는 슬라이딩 윈도우의 최소 수	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/>
              <a:t>minSize</a:t>
            </a:r>
            <a:r>
              <a:rPr lang="en-US" altLang="ko-KR" sz="1400" dirty="0"/>
              <a:t>,</a:t>
            </a:r>
            <a:r>
              <a:rPr lang="ko-KR" altLang="en-US" sz="1400" dirty="0"/>
              <a:t>	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최소 </a:t>
            </a:r>
            <a:r>
              <a:rPr lang="ko-KR" altLang="en-US" sz="1400"/>
              <a:t>객체 크기</a:t>
            </a:r>
            <a:r>
              <a:rPr lang="en-US" altLang="ko-KR" sz="1400" dirty="0"/>
              <a:t>(w, h), </a:t>
            </a:r>
            <a:r>
              <a:rPr lang="ko-KR" altLang="en-US" sz="1400" dirty="0"/>
              <a:t>이보다 작은 물체는 검출에서 제외</a:t>
            </a:r>
          </a:p>
          <a:p>
            <a:pPr defTabSz="180000"/>
            <a:r>
              <a:rPr lang="ko-KR" altLang="en-US" sz="1400"/>
              <a:t>	</a:t>
            </a:r>
            <a:r>
              <a:rPr lang="en-US" altLang="ko-KR" sz="1400" dirty="0" err="1"/>
              <a:t>maxSize</a:t>
            </a:r>
            <a:r>
              <a:rPr lang="ko-KR" altLang="en-US" sz="1400" dirty="0"/>
              <a:t>	</a:t>
            </a:r>
            <a:r>
              <a:rPr lang="ko-KR" altLang="en-US" sz="1400"/>
              <a:t>	</a:t>
            </a:r>
            <a:r>
              <a:rPr lang="en-US" altLang="ko-KR" sz="1400" dirty="0"/>
              <a:t># </a:t>
            </a:r>
            <a:r>
              <a:rPr lang="ko-KR" altLang="en-US" sz="1400" dirty="0"/>
              <a:t>최대 </a:t>
            </a:r>
            <a:r>
              <a:rPr lang="ko-KR" altLang="en-US" sz="1400"/>
              <a:t>객체 크기</a:t>
            </a:r>
            <a:r>
              <a:rPr lang="en-US" altLang="ko-KR" sz="1400" dirty="0"/>
              <a:t>(w, h), </a:t>
            </a:r>
            <a:r>
              <a:rPr lang="ko-KR" altLang="en-US" sz="1400" dirty="0"/>
              <a:t>이보다 큰 물체는 검출에서 제외</a:t>
            </a:r>
          </a:p>
          <a:p>
            <a:pPr defTabSz="180000"/>
            <a:r>
              <a:rPr lang="en-US" altLang="ko-KR" sz="1400"/>
              <a:t>}</a:t>
            </a:r>
          </a:p>
          <a:p>
            <a:pPr defTabSz="180000"/>
            <a:endParaRPr lang="ko-KR" altLang="en-US" sz="1400" dirty="0"/>
          </a:p>
          <a:p>
            <a:pPr defTabSz="180000"/>
            <a:r>
              <a:rPr lang="ko-KR" altLang="en-US" sz="1400"/>
              <a:t>리턴값</a:t>
            </a:r>
            <a:r>
              <a:rPr lang="en-US" altLang="ko-KR" sz="1400" dirty="0"/>
              <a:t>: </a:t>
            </a:r>
            <a:r>
              <a:rPr lang="ko-KR" altLang="en-US" sz="1400" dirty="0"/>
              <a:t>검출된 객체의 </a:t>
            </a:r>
            <a:r>
              <a:rPr lang="ko-KR" altLang="en-US" sz="1400"/>
              <a:t>사각형 정보</a:t>
            </a:r>
            <a:r>
              <a:rPr lang="en-US" altLang="ko-KR" sz="1400" dirty="0"/>
              <a:t>(x, y, w, h)</a:t>
            </a:r>
            <a:r>
              <a:rPr lang="ko-KR" altLang="en-US" sz="1400" dirty="0"/>
              <a:t>를 </a:t>
            </a:r>
            <a:r>
              <a:rPr lang="ko-KR" altLang="en-US" sz="1400"/>
              <a:t>담은 </a:t>
            </a:r>
            <a:r>
              <a:rPr lang="en-US" altLang="ko-KR" sz="1400" dirty="0" err="1"/>
              <a:t>numpy.ndarray</a:t>
            </a:r>
            <a:endParaRPr lang="ko-KR" altLang="en-US" sz="1400" dirty="0"/>
          </a:p>
          <a:p>
            <a:pPr defTabSz="180000"/>
            <a:r>
              <a:rPr lang="en-US" altLang="ko-KR" sz="1400" dirty="0"/>
              <a:t>image</a:t>
            </a:r>
            <a:r>
              <a:rPr lang="ko-KR" altLang="en-US" sz="1400" dirty="0"/>
              <a:t>로부터 물체를 탐지하고 탐지된 물체들의 각 사각형 영역들을 배열로 </a:t>
            </a:r>
            <a:r>
              <a:rPr lang="ko-KR" altLang="en-US" sz="1400"/>
              <a:t>만들어 리턴한다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defTabSz="180000"/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220930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E02FE-4B61-4BC8-B4F0-5A950022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/>
              <a:t>4-6 </a:t>
            </a:r>
            <a:r>
              <a:rPr lang="ko-KR" altLang="en-US"/>
              <a:t>카메라로부터 수신된 영상 출력 및 실시간 얼굴 인식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5D43D7-75E4-47EC-BADC-76A72A46F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57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809E4F9-06FD-4855-B2B6-2E294DC0E1D1}"/>
              </a:ext>
            </a:extLst>
          </p:cNvPr>
          <p:cNvSpPr/>
          <p:nvPr/>
        </p:nvSpPr>
        <p:spPr>
          <a:xfrm>
            <a:off x="617074" y="2104104"/>
            <a:ext cx="7952643" cy="465916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defTabSz="180000"/>
            <a:r>
              <a:rPr lang="en-US" altLang="ko-KR" sz="1100" dirty="0"/>
              <a:t>import cv2</a:t>
            </a:r>
          </a:p>
          <a:p>
            <a:pPr defTabSz="180000"/>
            <a:r>
              <a:rPr lang="en-US" altLang="ko-KR" sz="1100" dirty="0"/>
              <a:t># </a:t>
            </a:r>
            <a:r>
              <a:rPr lang="ko-KR" altLang="en-US" sz="1100" dirty="0"/>
              <a:t>검출 객체를 생성</a:t>
            </a:r>
          </a:p>
          <a:p>
            <a:pPr defTabSz="180000"/>
            <a:r>
              <a:rPr lang="en-US" altLang="ko-KR" sz="1100" dirty="0"/>
              <a:t>classifier = cv2.CascadeClassifier('./</a:t>
            </a:r>
            <a:r>
              <a:rPr lang="en-US" altLang="ko-KR" sz="1100" dirty="0" err="1"/>
              <a:t>haar</a:t>
            </a:r>
            <a:r>
              <a:rPr lang="en-US" altLang="ko-KR" sz="1100" dirty="0"/>
              <a:t>-cascade-files-master/haarcascade_frontalface_default.xml')</a:t>
            </a:r>
          </a:p>
          <a:p>
            <a:pPr defTabSz="180000"/>
            <a:r>
              <a:rPr lang="en-US" altLang="ko-KR" sz="1100" dirty="0"/>
              <a:t># </a:t>
            </a:r>
            <a:r>
              <a:rPr lang="ko-KR" altLang="en-US" sz="1100" dirty="0"/>
              <a:t>카메라 객체 생성</a:t>
            </a:r>
          </a:p>
          <a:p>
            <a:pPr defTabSz="180000"/>
            <a:r>
              <a:rPr lang="en-US" altLang="ko-KR" sz="1100" dirty="0"/>
              <a:t>camera = cv2.VideoCapture(0, cv2.CAP_V4L)</a:t>
            </a:r>
          </a:p>
          <a:p>
            <a:pPr defTabSz="180000"/>
            <a:r>
              <a:rPr lang="en-US" altLang="ko-KR" sz="1100" dirty="0" err="1"/>
              <a:t>camera.set</a:t>
            </a:r>
            <a:r>
              <a:rPr lang="en-US" altLang="ko-KR" sz="1100" dirty="0"/>
              <a:t>(cv2.CAP_PROP_BUFFERSIZE, 1) # </a:t>
            </a:r>
            <a:r>
              <a:rPr lang="ko-KR" altLang="en-US" sz="1100" dirty="0"/>
              <a:t>버퍼 크기를 </a:t>
            </a:r>
            <a:r>
              <a:rPr lang="en-US" altLang="ko-KR" sz="1100" dirty="0"/>
              <a:t>1</a:t>
            </a:r>
            <a:r>
              <a:rPr lang="ko-KR" altLang="en-US" sz="1100" dirty="0"/>
              <a:t>로 설정</a:t>
            </a:r>
          </a:p>
          <a:p>
            <a:pPr defTabSz="180000"/>
            <a:r>
              <a:rPr lang="en-US" altLang="ko-KR" sz="1100" dirty="0"/>
              <a:t># ESC </a:t>
            </a:r>
            <a:r>
              <a:rPr lang="ko-KR" altLang="en-US" sz="1100" dirty="0"/>
              <a:t>키가 입력될 때까지 카메라로부터 받은 영상을 실시간으로 창에 재생하고</a:t>
            </a:r>
            <a:r>
              <a:rPr lang="en-US" altLang="ko-KR" sz="1100" dirty="0"/>
              <a:t>,</a:t>
            </a:r>
          </a:p>
          <a:p>
            <a:pPr defTabSz="180000"/>
            <a:r>
              <a:rPr lang="en-US" altLang="ko-KR" sz="1100" dirty="0"/>
              <a:t># </a:t>
            </a:r>
            <a:r>
              <a:rPr lang="ko-KR" altLang="en-US" sz="1100" dirty="0"/>
              <a:t>영상 속의 얼굴 부분에 사각형을 실시간으로 그린다</a:t>
            </a:r>
            <a:r>
              <a:rPr lang="en-US" altLang="ko-KR" sz="1100" dirty="0"/>
              <a:t>.</a:t>
            </a:r>
          </a:p>
          <a:p>
            <a:pPr defTabSz="180000"/>
            <a:r>
              <a:rPr lang="en-US" altLang="ko-KR" sz="1100" dirty="0"/>
              <a:t>while True:</a:t>
            </a:r>
          </a:p>
          <a:p>
            <a:pPr defTabSz="180000"/>
            <a:r>
              <a:rPr lang="en-US" altLang="ko-KR" sz="1100" dirty="0"/>
              <a:t>	</a:t>
            </a:r>
            <a:r>
              <a:rPr lang="en-US" altLang="ko-KR" sz="1100" dirty="0" err="1"/>
              <a:t>camera.grab</a:t>
            </a:r>
            <a:r>
              <a:rPr lang="en-US" altLang="ko-KR" sz="1100" dirty="0"/>
              <a:t>( ) # </a:t>
            </a:r>
            <a:r>
              <a:rPr lang="ko-KR" altLang="en-US" sz="1100" dirty="0"/>
              <a:t>버퍼에 저장된 카메라의 이전 프레임 제거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# </a:t>
            </a:r>
            <a:r>
              <a:rPr lang="ko-KR" altLang="en-US" sz="1100" dirty="0"/>
              <a:t>버퍼에서 현재 카메라가 촬영한 프레임 읽기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ret, image = camera .read( )</a:t>
            </a:r>
          </a:p>
          <a:p>
            <a:pPr defTabSz="180000"/>
            <a:r>
              <a:rPr lang="en-US" altLang="ko-KR" sz="1100" dirty="0"/>
              <a:t>	if ret == False:</a:t>
            </a:r>
          </a:p>
          <a:p>
            <a:pPr defTabSz="180000"/>
            <a:r>
              <a:rPr lang="en-US" altLang="ko-KR" sz="1100" dirty="0"/>
              <a:t>		continue</a:t>
            </a:r>
          </a:p>
          <a:p>
            <a:pPr defTabSz="180000"/>
            <a:r>
              <a:rPr lang="en-US" altLang="ko-KR" sz="1100" dirty="0"/>
              <a:t>	# </a:t>
            </a:r>
            <a:r>
              <a:rPr lang="ko-KR" altLang="en-US" sz="1100" dirty="0"/>
              <a:t>이미지를 흑백으로 바꾸고 얼굴 탐지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 err="1"/>
              <a:t>image_gray</a:t>
            </a:r>
            <a:r>
              <a:rPr lang="en-US" altLang="ko-KR" sz="1100" dirty="0"/>
              <a:t> = cv2.cvtColor(image, cv2.COLOR_BGR2GRAY)</a:t>
            </a:r>
          </a:p>
          <a:p>
            <a:pPr defTabSz="180000"/>
            <a:r>
              <a:rPr lang="en-US" altLang="ko-KR" sz="1100" dirty="0"/>
              <a:t>	faces = </a:t>
            </a:r>
            <a:r>
              <a:rPr lang="en-US" altLang="ko-KR" sz="1100" dirty="0" err="1"/>
              <a:t>classifier.detectMultiScale</a:t>
            </a:r>
            <a:r>
              <a:rPr lang="en-US" altLang="ko-KR" sz="1100" dirty="0"/>
              <a:t>(</a:t>
            </a:r>
            <a:r>
              <a:rPr lang="en-US" altLang="ko-KR" sz="1100" dirty="0" err="1"/>
              <a:t>image_gray</a:t>
            </a:r>
            <a:r>
              <a:rPr lang="en-US" altLang="ko-KR" sz="1100" dirty="0"/>
              <a:t>)</a:t>
            </a:r>
          </a:p>
          <a:p>
            <a:pPr defTabSz="180000"/>
            <a:r>
              <a:rPr lang="en-US" altLang="ko-KR" sz="1100" dirty="0"/>
              <a:t>	# faces</a:t>
            </a:r>
            <a:r>
              <a:rPr lang="ko-KR" altLang="en-US" sz="1100" dirty="0"/>
              <a:t>는 배열로</a:t>
            </a:r>
            <a:r>
              <a:rPr lang="en-US" altLang="ko-KR" sz="1100" dirty="0"/>
              <a:t>, </a:t>
            </a:r>
            <a:r>
              <a:rPr lang="ko-KR" altLang="en-US" sz="1100" dirty="0"/>
              <a:t>배열의 각 원소는 탐지된 얼굴의 사각형 정보 </a:t>
            </a:r>
            <a:r>
              <a:rPr lang="en-US" altLang="ko-KR" sz="1100" dirty="0"/>
              <a:t>[[2, 3, 100, 150], ..., [...]]</a:t>
            </a:r>
          </a:p>
          <a:p>
            <a:pPr defTabSz="180000"/>
            <a:r>
              <a:rPr lang="en-US" altLang="ko-KR" sz="1100" dirty="0"/>
              <a:t>	# faces </a:t>
            </a:r>
            <a:r>
              <a:rPr lang="ko-KR" altLang="en-US" sz="1100" dirty="0"/>
              <a:t>배열 전체를 반복하여 이미지 위에 모든 사각형을 그린다</a:t>
            </a:r>
            <a:r>
              <a:rPr lang="en-US" altLang="ko-KR" sz="1100" dirty="0"/>
              <a:t>.</a:t>
            </a:r>
          </a:p>
          <a:p>
            <a:pPr defTabSz="180000"/>
            <a:r>
              <a:rPr lang="en-US" altLang="ko-KR" sz="1100" dirty="0"/>
              <a:t>	# </a:t>
            </a:r>
            <a:r>
              <a:rPr lang="ko-KR" altLang="en-US" sz="1100" dirty="0"/>
              <a:t>노란색</a:t>
            </a:r>
            <a:r>
              <a:rPr lang="en-US" altLang="ko-KR" sz="1100" dirty="0"/>
              <a:t>(0, 255, 255) </a:t>
            </a:r>
            <a:r>
              <a:rPr lang="ko-KR" altLang="en-US" sz="1100" dirty="0"/>
              <a:t>사각형으로 얼굴 표시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for x, y, w, h in faces:</a:t>
            </a:r>
          </a:p>
          <a:p>
            <a:pPr defTabSz="180000"/>
            <a:r>
              <a:rPr lang="en-US" altLang="ko-KR" sz="1100" dirty="0"/>
              <a:t>		cv2.rectangle(image, (x, y), (x + w, y + h), (0, 255, 255), 4)</a:t>
            </a:r>
          </a:p>
          <a:p>
            <a:pPr defTabSz="180000"/>
            <a:r>
              <a:rPr lang="en-US" altLang="ko-KR" sz="1100" dirty="0"/>
              <a:t>	cv2.imshow('preview', image) # </a:t>
            </a:r>
            <a:r>
              <a:rPr lang="ko-KR" altLang="en-US" sz="1100" dirty="0"/>
              <a:t>이미지를 </a:t>
            </a:r>
            <a:r>
              <a:rPr lang="en-US" altLang="ko-KR" sz="1100" dirty="0"/>
              <a:t>preview </a:t>
            </a:r>
            <a:r>
              <a:rPr lang="ko-KR" altLang="en-US" sz="1100" dirty="0"/>
              <a:t>이름의 창에 출력</a:t>
            </a:r>
          </a:p>
          <a:p>
            <a:pPr defTabSz="180000"/>
            <a:r>
              <a:rPr lang="ko-KR" altLang="en-US" sz="1100" dirty="0"/>
              <a:t>	</a:t>
            </a:r>
            <a:r>
              <a:rPr lang="en-US" altLang="ko-KR" sz="1100" dirty="0"/>
              <a:t>if cv2.waitKey(1) == 27: # ESC </a:t>
            </a:r>
            <a:r>
              <a:rPr lang="ko-KR" altLang="en-US" sz="1100" dirty="0"/>
              <a:t>키</a:t>
            </a:r>
            <a:r>
              <a:rPr lang="en-US" altLang="ko-KR" sz="1100" dirty="0"/>
              <a:t>(</a:t>
            </a:r>
            <a:r>
              <a:rPr lang="ko-KR" altLang="en-US" sz="1100" dirty="0"/>
              <a:t>키 값</a:t>
            </a:r>
            <a:r>
              <a:rPr lang="en-US" altLang="ko-KR" sz="1100" dirty="0"/>
              <a:t>27)</a:t>
            </a:r>
            <a:r>
              <a:rPr lang="ko-KR" altLang="en-US" sz="1100" dirty="0"/>
              <a:t>이면 프로그램 종료</a:t>
            </a:r>
          </a:p>
          <a:p>
            <a:pPr defTabSz="180000"/>
            <a:r>
              <a:rPr lang="ko-KR" altLang="en-US" sz="1100" dirty="0"/>
              <a:t>		</a:t>
            </a:r>
            <a:r>
              <a:rPr lang="en-US" altLang="ko-KR" sz="1100" dirty="0"/>
              <a:t>break</a:t>
            </a:r>
          </a:p>
          <a:p>
            <a:pPr defTabSz="180000"/>
            <a:r>
              <a:rPr lang="en-US" altLang="ko-KR" sz="1100" dirty="0" err="1"/>
              <a:t>camera.release</a:t>
            </a:r>
            <a:r>
              <a:rPr lang="en-US" altLang="ko-KR" sz="1100" dirty="0"/>
              <a:t>( )</a:t>
            </a:r>
          </a:p>
          <a:p>
            <a:pPr defTabSz="180000"/>
            <a:r>
              <a:rPr lang="en-US" altLang="ko-KR" sz="1100" dirty="0"/>
              <a:t>cv2.destroyAllWindows( )</a:t>
            </a:r>
            <a:endParaRPr lang="ko-KR" altLang="en-US" sz="11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2083DD-E001-4DA2-B1D1-50624A36C82D}"/>
              </a:ext>
            </a:extLst>
          </p:cNvPr>
          <p:cNvSpPr/>
          <p:nvPr/>
        </p:nvSpPr>
        <p:spPr>
          <a:xfrm>
            <a:off x="524675" y="1317284"/>
            <a:ext cx="8395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카메라로부터 실시간으로 영상을 출력하는 프로그램을 작성하라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그리고 영상 속에서 얼굴을 실시간으로 탐지하여 영상 출력 창에 얼굴 부분을 사각형으로 표시하라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예제 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4-5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</a:rPr>
              <a:t>에 기본으로 얼굴을 인식하는 기능을 실행하여 수정하면 된다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</a:rPr>
              <a:t>.</a:t>
            </a:r>
            <a:endParaRPr lang="ko-KR" alt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DD4CA3-1936-40EB-84EF-132EB40CE55D}"/>
              </a:ext>
            </a:extLst>
          </p:cNvPr>
          <p:cNvSpPr/>
          <p:nvPr/>
        </p:nvSpPr>
        <p:spPr>
          <a:xfrm>
            <a:off x="559742" y="1743780"/>
            <a:ext cx="692818" cy="390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+mn-ea"/>
              </a:rPr>
              <a:t>4-6.py</a:t>
            </a:r>
          </a:p>
        </p:txBody>
      </p:sp>
    </p:spTree>
    <p:extLst>
      <p:ext uri="{BB962C8B-B14F-4D97-AF65-F5344CB8AC3E}">
        <p14:creationId xmlns:p14="http://schemas.microsoft.com/office/powerpoint/2010/main" val="17328091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394A8-34CB-4631-91CA-C7B306AA2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/>
              <a:t>4-6 (</a:t>
            </a:r>
            <a:r>
              <a:rPr lang="ko-KR" altLang="en-US"/>
              <a:t>계속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50D974-A914-41CC-9D81-37D38A70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01870596-DAFA-46D2-82A7-2B6B5F8E0EA4}" type="slidenum">
              <a:rPr lang="ko-KR" altLang="en-US" smtClean="0"/>
              <a:t>58</a:t>
            </a:fld>
            <a:endParaRPr lang="ko-KR" altLang="en-US"/>
          </a:p>
        </p:txBody>
      </p:sp>
      <p:pic>
        <p:nvPicPr>
          <p:cNvPr id="6" name="그림 5" descr="텍스트, 스크린샷, 소프트웨어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6A37F92-2EAD-240F-3A74-7B8601E17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75" y="1486907"/>
            <a:ext cx="7772400" cy="5142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2917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38485</TotalTime>
  <Words>4282</Words>
  <Application>Microsoft Office PowerPoint</Application>
  <PresentationFormat>화면 슬라이드 쇼(4:3)</PresentationFormat>
  <Paragraphs>643</Paragraphs>
  <Slides>58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58</vt:i4>
      </vt:variant>
    </vt:vector>
  </HeadingPairs>
  <TitlesOfParts>
    <vt:vector size="64" baseType="lpstr">
      <vt:lpstr>HY나무L</vt:lpstr>
      <vt:lpstr>맑은 고딕</vt:lpstr>
      <vt:lpstr>휴먼편지체</vt:lpstr>
      <vt:lpstr>Wingdings</vt:lpstr>
      <vt:lpstr>Wingdings 2</vt:lpstr>
      <vt:lpstr>가을</vt:lpstr>
      <vt:lpstr>4장 라즈베리파이 카메라 활용</vt:lpstr>
      <vt:lpstr>강의 목표</vt:lpstr>
      <vt:lpstr>들어가기 전에</vt:lpstr>
      <vt:lpstr>4.1 카메라 소개</vt:lpstr>
      <vt:lpstr>파이 카메라</vt:lpstr>
      <vt:lpstr>USB 카메라</vt:lpstr>
      <vt:lpstr>4.2 VNC를 활용한 라즈베리파이에 원격 접속</vt:lpstr>
      <vt:lpstr>VNC 개요</vt:lpstr>
      <vt:lpstr>VNC 구조 및 동작</vt:lpstr>
      <vt:lpstr>라즈베리파이에서 VNC 서버 활성화</vt:lpstr>
      <vt:lpstr>VNC 서버 활성화 후 실행 확인</vt:lpstr>
      <vt:lpstr>PC에 VNC 뷰어 설치하기</vt:lpstr>
      <vt:lpstr>VNC 뷰어로 라즈베리파이에 원격 연결</vt:lpstr>
      <vt:lpstr>VNC 뷰어로 라즈베리파이에 원격 연결</vt:lpstr>
      <vt:lpstr>라즈베리파이의 데스크톱 GUI 활용</vt:lpstr>
      <vt:lpstr>4.3 USB 카메라 제어</vt:lpstr>
      <vt:lpstr>USB 카메라 설치 확인</vt:lpstr>
      <vt:lpstr>fswebcam으로 사진 촬영 및 사진 파일 보기</vt:lpstr>
      <vt:lpstr>예제 4-1 fswebcam으로 사진을 촬영하고 image.jpg 파일에 저장하기</vt:lpstr>
      <vt:lpstr>VNC 뷰어를 이용하여 사진 보기</vt:lpstr>
      <vt:lpstr>fswebcam으로 사진 촬영 및 사진 파일 보기</vt:lpstr>
      <vt:lpstr>4.4 파이썬 가상환경</vt:lpstr>
      <vt:lpstr>파이썬 가상환경 개념</vt:lpstr>
      <vt:lpstr>파이썬 가상환경 사례</vt:lpstr>
      <vt:lpstr>가상환경 설치</vt:lpstr>
      <vt:lpstr>가상환경 사용</vt:lpstr>
      <vt:lpstr>pip 명령과 가상환경</vt:lpstr>
      <vt:lpstr>가상환경 삭제</vt:lpstr>
      <vt:lpstr>4.5 OpenCV로 카메라 제어</vt:lpstr>
      <vt:lpstr>OpenCV 개요 및 설치</vt:lpstr>
      <vt:lpstr>OpenCV 설치</vt:lpstr>
      <vt:lpstr>OpenCV 설치</vt:lpstr>
      <vt:lpstr>OpenCV 활용</vt:lpstr>
      <vt:lpstr>OpenCV 활용 구조</vt:lpstr>
      <vt:lpstr>OpenCV의 객체와 함수들</vt:lpstr>
      <vt:lpstr>VideoCapture 객체 이용</vt:lpstr>
      <vt:lpstr>VideoCapture 객체 이용</vt:lpstr>
      <vt:lpstr>cv2.VideoCapture </vt:lpstr>
      <vt:lpstr>예제 4-2 카메라로부터 사진을 촬영하여 파일에 저장</vt:lpstr>
      <vt:lpstr>카메라 프리뷰 만들기</vt:lpstr>
      <vt:lpstr>예제 4-3 카메라 영상의 실시간 프리뷰 만들기</vt:lpstr>
      <vt:lpstr>VideoWriter 객체로 동영상 저장</vt:lpstr>
      <vt:lpstr>VideoWriter 객체로 동영상 저장</vt:lpstr>
      <vt:lpstr>VideoWriter 객체로 동영상 저장</vt:lpstr>
      <vt:lpstr>예제 4-4 카메라 영상을 실시간으로 출력하는 동시에 동영상 파일 저장</vt:lpstr>
      <vt:lpstr>예제 4-4 (계속)</vt:lpstr>
      <vt:lpstr>VideoCapture의 버퍼에 대한 이해</vt:lpstr>
      <vt:lpstr>VideoCapture의 버퍼에 대한 이해</vt:lpstr>
      <vt:lpstr>응용프로그램이 read()를 호출할 때 오래된 프레임을 읽게 되는 문제점과 해결</vt:lpstr>
      <vt:lpstr>예제 4-5 현재 시점의 사진 촬영</vt:lpstr>
      <vt:lpstr>예제 4-5 (계속)</vt:lpstr>
      <vt:lpstr>4.6 카메라로 얼굴 인식</vt:lpstr>
      <vt:lpstr>Haar Cascades</vt:lpstr>
      <vt:lpstr>Haar Cascades</vt:lpstr>
      <vt:lpstr>Haar Cascades 학습 모델을 이용한 얼굴 인식</vt:lpstr>
      <vt:lpstr>Haar Cascades 학습 모델을 이용한 얼굴 인식</vt:lpstr>
      <vt:lpstr>예제 4-6 카메라로부터 수신된 영상 출력 및 실시간 얼굴 인식</vt:lpstr>
      <vt:lpstr>예제 4-6 (계속)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Kitae</dc:creator>
  <cp:lastModifiedBy>황기태</cp:lastModifiedBy>
  <cp:revision>976</cp:revision>
  <cp:lastPrinted>2016-11-15T04:04:12Z</cp:lastPrinted>
  <dcterms:created xsi:type="dcterms:W3CDTF">2011-08-27T14:53:28Z</dcterms:created>
  <dcterms:modified xsi:type="dcterms:W3CDTF">2026-07-23T03:11:10Z</dcterms:modified>
</cp:coreProperties>
</file>