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88"/>
  </p:notesMasterIdLst>
  <p:sldIdLst>
    <p:sldId id="256" r:id="rId2"/>
    <p:sldId id="441" r:id="rId3"/>
    <p:sldId id="565" r:id="rId4"/>
    <p:sldId id="527" r:id="rId5"/>
    <p:sldId id="364" r:id="rId6"/>
    <p:sldId id="477" r:id="rId7"/>
    <p:sldId id="472" r:id="rId8"/>
    <p:sldId id="478" r:id="rId9"/>
    <p:sldId id="528" r:id="rId10"/>
    <p:sldId id="479" r:id="rId11"/>
    <p:sldId id="480" r:id="rId12"/>
    <p:sldId id="481" r:id="rId13"/>
    <p:sldId id="482" r:id="rId14"/>
    <p:sldId id="483" r:id="rId15"/>
    <p:sldId id="484" r:id="rId16"/>
    <p:sldId id="485" r:id="rId17"/>
    <p:sldId id="537" r:id="rId18"/>
    <p:sldId id="488" r:id="rId19"/>
    <p:sldId id="489" r:id="rId20"/>
    <p:sldId id="490" r:id="rId21"/>
    <p:sldId id="529" r:id="rId22"/>
    <p:sldId id="538" r:id="rId23"/>
    <p:sldId id="491" r:id="rId24"/>
    <p:sldId id="492" r:id="rId25"/>
    <p:sldId id="530" r:id="rId26"/>
    <p:sldId id="539" r:id="rId27"/>
    <p:sldId id="531" r:id="rId28"/>
    <p:sldId id="540" r:id="rId29"/>
    <p:sldId id="493" r:id="rId30"/>
    <p:sldId id="541" r:id="rId31"/>
    <p:sldId id="494" r:id="rId32"/>
    <p:sldId id="542" r:id="rId33"/>
    <p:sldId id="495" r:id="rId34"/>
    <p:sldId id="543" r:id="rId35"/>
    <p:sldId id="496" r:id="rId36"/>
    <p:sldId id="544" r:id="rId37"/>
    <p:sldId id="497" r:id="rId38"/>
    <p:sldId id="545" r:id="rId39"/>
    <p:sldId id="546" r:id="rId40"/>
    <p:sldId id="532" r:id="rId41"/>
    <p:sldId id="499" r:id="rId42"/>
    <p:sldId id="501" r:id="rId43"/>
    <p:sldId id="502" r:id="rId44"/>
    <p:sldId id="547" r:id="rId45"/>
    <p:sldId id="533" r:id="rId46"/>
    <p:sldId id="503" r:id="rId47"/>
    <p:sldId id="504" r:id="rId48"/>
    <p:sldId id="548" r:id="rId49"/>
    <p:sldId id="549" r:id="rId50"/>
    <p:sldId id="506" r:id="rId51"/>
    <p:sldId id="550" r:id="rId52"/>
    <p:sldId id="507" r:id="rId53"/>
    <p:sldId id="551" r:id="rId54"/>
    <p:sldId id="552" r:id="rId55"/>
    <p:sldId id="534" r:id="rId56"/>
    <p:sldId id="508" r:id="rId57"/>
    <p:sldId id="509" r:id="rId58"/>
    <p:sldId id="510" r:id="rId59"/>
    <p:sldId id="553" r:id="rId60"/>
    <p:sldId id="511" r:id="rId61"/>
    <p:sldId id="512" r:id="rId62"/>
    <p:sldId id="563" r:id="rId63"/>
    <p:sldId id="554" r:id="rId64"/>
    <p:sldId id="513" r:id="rId65"/>
    <p:sldId id="555" r:id="rId66"/>
    <p:sldId id="535" r:id="rId67"/>
    <p:sldId id="514" r:id="rId68"/>
    <p:sldId id="515" r:id="rId69"/>
    <p:sldId id="516" r:id="rId70"/>
    <p:sldId id="558" r:id="rId71"/>
    <p:sldId id="556" r:id="rId72"/>
    <p:sldId id="518" r:id="rId73"/>
    <p:sldId id="520" r:id="rId74"/>
    <p:sldId id="564" r:id="rId75"/>
    <p:sldId id="536" r:id="rId76"/>
    <p:sldId id="519" r:id="rId77"/>
    <p:sldId id="521" r:id="rId78"/>
    <p:sldId id="522" r:id="rId79"/>
    <p:sldId id="523" r:id="rId80"/>
    <p:sldId id="524" r:id="rId81"/>
    <p:sldId id="525" r:id="rId82"/>
    <p:sldId id="526" r:id="rId83"/>
    <p:sldId id="557" r:id="rId84"/>
    <p:sldId id="560" r:id="rId85"/>
    <p:sldId id="561" r:id="rId86"/>
    <p:sldId id="562" r:id="rId87"/>
  </p:sldIdLst>
  <p:sldSz cx="9144000" cy="6858000" type="screen4x3"/>
  <p:notesSz cx="9874250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256"/>
            <p14:sldId id="441"/>
            <p14:sldId id="565"/>
            <p14:sldId id="527"/>
            <p14:sldId id="364"/>
            <p14:sldId id="477"/>
            <p14:sldId id="472"/>
            <p14:sldId id="478"/>
            <p14:sldId id="528"/>
            <p14:sldId id="479"/>
            <p14:sldId id="480"/>
            <p14:sldId id="481"/>
            <p14:sldId id="482"/>
            <p14:sldId id="483"/>
            <p14:sldId id="484"/>
            <p14:sldId id="485"/>
            <p14:sldId id="537"/>
            <p14:sldId id="488"/>
            <p14:sldId id="489"/>
            <p14:sldId id="490"/>
            <p14:sldId id="529"/>
            <p14:sldId id="538"/>
            <p14:sldId id="491"/>
            <p14:sldId id="492"/>
            <p14:sldId id="530"/>
            <p14:sldId id="539"/>
            <p14:sldId id="531"/>
            <p14:sldId id="540"/>
            <p14:sldId id="493"/>
            <p14:sldId id="541"/>
            <p14:sldId id="494"/>
            <p14:sldId id="542"/>
            <p14:sldId id="495"/>
            <p14:sldId id="543"/>
            <p14:sldId id="496"/>
            <p14:sldId id="544"/>
            <p14:sldId id="497"/>
            <p14:sldId id="545"/>
            <p14:sldId id="546"/>
            <p14:sldId id="532"/>
            <p14:sldId id="499"/>
            <p14:sldId id="501"/>
            <p14:sldId id="502"/>
            <p14:sldId id="547"/>
            <p14:sldId id="533"/>
            <p14:sldId id="503"/>
            <p14:sldId id="504"/>
            <p14:sldId id="548"/>
            <p14:sldId id="549"/>
            <p14:sldId id="506"/>
            <p14:sldId id="550"/>
            <p14:sldId id="507"/>
            <p14:sldId id="551"/>
            <p14:sldId id="552"/>
            <p14:sldId id="534"/>
            <p14:sldId id="508"/>
            <p14:sldId id="509"/>
            <p14:sldId id="510"/>
            <p14:sldId id="553"/>
            <p14:sldId id="511"/>
            <p14:sldId id="512"/>
            <p14:sldId id="563"/>
            <p14:sldId id="554"/>
            <p14:sldId id="513"/>
            <p14:sldId id="555"/>
            <p14:sldId id="535"/>
            <p14:sldId id="514"/>
            <p14:sldId id="515"/>
            <p14:sldId id="516"/>
            <p14:sldId id="558"/>
            <p14:sldId id="556"/>
            <p14:sldId id="518"/>
            <p14:sldId id="520"/>
            <p14:sldId id="564"/>
            <p14:sldId id="536"/>
            <p14:sldId id="519"/>
            <p14:sldId id="521"/>
            <p14:sldId id="522"/>
            <p14:sldId id="523"/>
            <p14:sldId id="524"/>
            <p14:sldId id="525"/>
            <p14:sldId id="526"/>
            <p14:sldId id="557"/>
            <p14:sldId id="560"/>
            <p14:sldId id="561"/>
            <p14:sldId id="562"/>
          </p14:sldIdLst>
        </p14:section>
        <p14:section name="제목 없는 구역" id="{50618249-BD4B-4608-80C6-F69DDB80E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1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문" initials="이" lastIdx="1" clrIdx="0">
    <p:extLst>
      <p:ext uri="{19B8F6BF-5375-455C-9EA6-DF929625EA0E}">
        <p15:presenceInfo xmlns:p15="http://schemas.microsoft.com/office/powerpoint/2012/main" userId="S::jmlee@hansung.edu::60dd5729-9113-4c1b-96fb-fbf1f72f30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B5B"/>
    <a:srgbClr val="FFFF66"/>
    <a:srgbClr val="C9E7A7"/>
    <a:srgbClr val="669900"/>
    <a:srgbClr val="8BB0CF"/>
    <a:srgbClr val="7AA5C8"/>
    <a:srgbClr val="42739C"/>
    <a:srgbClr val="FF3300"/>
    <a:srgbClr val="8FFE00"/>
    <a:srgbClr val="4FB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68" autoAdjust="0"/>
    <p:restoredTop sz="96833" autoAdjust="0"/>
  </p:normalViewPr>
  <p:slideViewPr>
    <p:cSldViewPr>
      <p:cViewPr varScale="1">
        <p:scale>
          <a:sx n="127" d="100"/>
          <a:sy n="127" d="100"/>
        </p:scale>
        <p:origin x="17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141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2024. 9. 22.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8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장</a:t>
            </a:r>
            <a:r>
              <a:rPr lang="en-US" altLang="ko-KR" dirty="0"/>
              <a:t> </a:t>
            </a:r>
            <a:r>
              <a:rPr lang="ko-KR" altLang="en-US" dirty="0" err="1"/>
              <a:t>파이썬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197968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언어의 요소와 구조를 이해한다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다루는 데이터 타입과 변수에 대해 이해한다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연산자</a:t>
            </a:r>
            <a:r>
              <a:rPr lang="en-US" altLang="ko-KR" dirty="0"/>
              <a:t>, </a:t>
            </a:r>
            <a:r>
              <a:rPr lang="ko-KR" altLang="en-US" dirty="0" err="1"/>
              <a:t>조건문</a:t>
            </a:r>
            <a:r>
              <a:rPr lang="en-US" altLang="ko-KR" dirty="0"/>
              <a:t>, </a:t>
            </a:r>
            <a:r>
              <a:rPr lang="ko-KR" altLang="en-US" dirty="0"/>
              <a:t>반복문의 종류를 알고 사용할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컨테이너 객체를 이해하고 활용할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함수의 구조를 이해하고 활용할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모듈을 이해하고 활용할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파일 입출력을 이해하고 활용할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언어 학습</a:t>
            </a:r>
            <a:endParaRPr lang="en-US" altLang="ko-KR" dirty="0"/>
          </a:p>
          <a:p>
            <a:pPr lvl="1"/>
            <a:r>
              <a:rPr lang="ko-KR" altLang="en-US" dirty="0"/>
              <a:t>어렵지 않은 수준의 </a:t>
            </a:r>
            <a:r>
              <a:rPr lang="ko-KR" altLang="en-US" dirty="0" err="1"/>
              <a:t>파이썬을</a:t>
            </a:r>
            <a:r>
              <a:rPr lang="ko-KR" altLang="en-US" dirty="0"/>
              <a:t> 간단히 </a:t>
            </a:r>
            <a:r>
              <a:rPr lang="ko-KR" altLang="en-US"/>
              <a:t>정리하는 수준</a:t>
            </a:r>
            <a:endParaRPr lang="en-US" altLang="ko-KR" dirty="0"/>
          </a:p>
          <a:p>
            <a:pPr lvl="1"/>
            <a:r>
              <a:rPr lang="ko-KR" altLang="en-US" err="1"/>
              <a:t>파이썬</a:t>
            </a:r>
            <a:r>
              <a:rPr lang="ko-KR" altLang="en-US"/>
              <a:t> 프로그램을 </a:t>
            </a:r>
            <a:r>
              <a:rPr lang="ko-KR" altLang="en-US" dirty="0"/>
              <a:t>리눅스 </a:t>
            </a:r>
            <a:r>
              <a:rPr lang="ko-KR" altLang="en-US"/>
              <a:t>환경에서 작성하고 실습</a:t>
            </a:r>
            <a:endParaRPr lang="en-US" altLang="ko-KR" dirty="0"/>
          </a:p>
          <a:p>
            <a:pPr lvl="2"/>
            <a:r>
              <a:rPr lang="ko-KR" altLang="en-US"/>
              <a:t>앞으로 다룰 모든 학습은</a:t>
            </a:r>
            <a:r>
              <a:rPr lang="en-US" altLang="ko-KR"/>
              <a:t>, </a:t>
            </a:r>
            <a:r>
              <a:rPr lang="ko-KR" altLang="en-US"/>
              <a:t>리눅스에서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/>
              <a:t>프로그램을 하므로 </a:t>
            </a:r>
            <a:r>
              <a:rPr lang="ko-KR" altLang="en-US" dirty="0"/>
              <a:t>이 </a:t>
            </a:r>
            <a:r>
              <a:rPr lang="ko-KR" altLang="en-US"/>
              <a:t>환경에 익숙해져함</a:t>
            </a:r>
            <a:endParaRPr lang="en-US" altLang="ko-KR" dirty="0"/>
          </a:p>
          <a:p>
            <a:r>
              <a:rPr lang="ko-KR" altLang="en-US"/>
              <a:t>예제 </a:t>
            </a:r>
            <a:r>
              <a:rPr lang="ko-KR" altLang="en-US" dirty="0" err="1"/>
              <a:t>파이썬</a:t>
            </a:r>
            <a:r>
              <a:rPr lang="ko-KR" altLang="en-US" dirty="0"/>
              <a:t> 코드는 </a:t>
            </a:r>
            <a:r>
              <a:rPr lang="en-US" altLang="ko-KR" dirty="0"/>
              <a:t>ch04 </a:t>
            </a:r>
            <a:r>
              <a:rPr lang="ko-KR" altLang="en-US" dirty="0"/>
              <a:t>디렉터리에 저장하고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115616" y="3828188"/>
            <a:ext cx="4572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600" b="1" dirty="0">
                <a:latin typeface="+mn-ea"/>
              </a:rPr>
              <a:t>pi@pi:~ $ mkdir ch0</a:t>
            </a:r>
            <a:r>
              <a:rPr lang="en-US" altLang="ko-KR" sz="1600" b="1" dirty="0">
                <a:latin typeface="+mn-ea"/>
              </a:rPr>
              <a:t>4</a:t>
            </a:r>
            <a:endParaRPr lang="pt-BR" altLang="ko-KR" sz="1600" b="1" dirty="0">
              <a:latin typeface="+mn-ea"/>
            </a:endParaRPr>
          </a:p>
          <a:p>
            <a:r>
              <a:rPr lang="nb-NO" altLang="ko-KR" sz="1600" b="1" dirty="0">
                <a:latin typeface="+mn-ea"/>
              </a:rPr>
              <a:t>pi@pi:~ $ cd ch0</a:t>
            </a:r>
            <a:r>
              <a:rPr lang="en-US" altLang="ko-KR" sz="1600" b="1" dirty="0">
                <a:latin typeface="+mn-ea"/>
              </a:rPr>
              <a:t>4</a:t>
            </a:r>
            <a:endParaRPr lang="nb-NO" altLang="ko-KR" sz="1600" b="1" dirty="0">
              <a:latin typeface="+mn-ea"/>
            </a:endParaRPr>
          </a:p>
          <a:p>
            <a:r>
              <a:rPr lang="en-US" altLang="ko-KR" sz="1600" b="1" dirty="0" err="1">
                <a:latin typeface="+mn-ea"/>
              </a:rPr>
              <a:t>pi@pi</a:t>
            </a:r>
            <a:r>
              <a:rPr lang="en-US" altLang="ko-KR" sz="1600" b="1" dirty="0">
                <a:latin typeface="+mn-ea"/>
              </a:rPr>
              <a:t>:~/ch04 $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50384BF-A886-46E2-A20B-CA3B854D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</a:t>
            </a:r>
            <a:r>
              <a:rPr lang="ko-KR" altLang="en-US"/>
              <a:t>파이썬 </a:t>
            </a:r>
            <a:r>
              <a:rPr lang="ko-KR" altLang="en-US" dirty="0"/>
              <a:t>언어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1AAD9-66E1-4C13-8830-5F0E04B06A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0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언어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파이썬</a:t>
            </a:r>
            <a:r>
              <a:rPr lang="en-US" altLang="ko-KR" dirty="0"/>
              <a:t>(Python) </a:t>
            </a:r>
          </a:p>
          <a:p>
            <a:pPr lvl="1"/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en-US" altLang="ko-KR" dirty="0"/>
              <a:t>1991</a:t>
            </a:r>
            <a:r>
              <a:rPr lang="ko-KR" altLang="en-US" dirty="0"/>
              <a:t>년</a:t>
            </a:r>
            <a:r>
              <a:rPr lang="en-US" altLang="ko-KR" dirty="0"/>
              <a:t> </a:t>
            </a:r>
            <a:r>
              <a:rPr lang="ko-KR" altLang="en-US" dirty="0"/>
              <a:t>귀도 반 </a:t>
            </a:r>
            <a:r>
              <a:rPr lang="ko-KR" altLang="en-US" dirty="0" err="1"/>
              <a:t>로섬</a:t>
            </a:r>
            <a:r>
              <a:rPr lang="en-US" altLang="ko-KR" dirty="0"/>
              <a:t>(Guido van Rossum) </a:t>
            </a:r>
            <a:r>
              <a:rPr lang="ko-KR" altLang="en-US" dirty="0"/>
              <a:t>개발자의 의해 개발</a:t>
            </a:r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플랫폼 독립적 언어</a:t>
            </a:r>
            <a:endParaRPr lang="en-US" altLang="ko-KR" dirty="0"/>
          </a:p>
          <a:p>
            <a:pPr lvl="1"/>
            <a:r>
              <a:rPr lang="ko-KR" altLang="en-US" dirty="0"/>
              <a:t>인터프리터 방식으로 실행되는 언어</a:t>
            </a:r>
            <a:endParaRPr lang="en-US" altLang="ko-KR" dirty="0"/>
          </a:p>
          <a:p>
            <a:pPr lvl="2"/>
            <a:r>
              <a:rPr lang="ko-KR" altLang="en-US" dirty="0"/>
              <a:t>인터프리터에 의해 바로 해석되어 실행</a:t>
            </a:r>
            <a:r>
              <a:rPr lang="en-US" altLang="ko-KR" dirty="0"/>
              <a:t>, </a:t>
            </a:r>
            <a:r>
              <a:rPr lang="ko-KR" altLang="en-US" dirty="0"/>
              <a:t>컴파일하여 실행 파일 만들지 않음</a:t>
            </a:r>
            <a:endParaRPr lang="en-US" altLang="ko-KR" dirty="0"/>
          </a:p>
          <a:p>
            <a:pPr lvl="1"/>
            <a:r>
              <a:rPr lang="ko-KR" altLang="en-US" dirty="0"/>
              <a:t>객체지향 언어</a:t>
            </a:r>
            <a:endParaRPr lang="en-US" altLang="ko-KR" dirty="0"/>
          </a:p>
          <a:p>
            <a:pPr lvl="1"/>
            <a:r>
              <a:rPr lang="ko-KR" altLang="en-US" dirty="0"/>
              <a:t>동적 타입</a:t>
            </a:r>
            <a:r>
              <a:rPr lang="en-US" altLang="ko-KR" dirty="0"/>
              <a:t>(dynamically typed)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대화형 언어</a:t>
            </a:r>
            <a:endParaRPr lang="en-US" altLang="ko-KR" dirty="0"/>
          </a:p>
          <a:p>
            <a:pPr lvl="1"/>
            <a:r>
              <a:rPr lang="ko-KR" altLang="en-US" dirty="0"/>
              <a:t>스크립트 언어</a:t>
            </a:r>
            <a:endParaRPr lang="en-US" altLang="ko-KR" dirty="0"/>
          </a:p>
          <a:p>
            <a:r>
              <a:rPr lang="ko-KR" altLang="en-US" dirty="0"/>
              <a:t>스크립트 언어의 특징</a:t>
            </a:r>
            <a:endParaRPr lang="en-US" altLang="ko-KR" dirty="0"/>
          </a:p>
          <a:p>
            <a:pPr lvl="1"/>
            <a:r>
              <a:rPr lang="ko-KR" altLang="en-US" dirty="0"/>
              <a:t>인터프리터에 의해 실행</a:t>
            </a:r>
            <a:endParaRPr lang="en-US" altLang="ko-KR" dirty="0"/>
          </a:p>
          <a:p>
            <a:pPr lvl="1"/>
            <a:r>
              <a:rPr lang="ko-KR" altLang="en-US" dirty="0"/>
              <a:t>단순하여 배우기 쉬움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812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설치 및 확인</a:t>
            </a:r>
            <a:endParaRPr lang="en-US" altLang="ko-KR" dirty="0"/>
          </a:p>
        </p:txBody>
      </p:sp>
      <p:sp>
        <p:nvSpPr>
          <p:cNvPr id="10" name="내용 개체 틀 9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</a:t>
            </a:r>
            <a:r>
              <a:rPr lang="ko-KR" altLang="en-US" dirty="0"/>
              <a:t>프로그램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/>
              <a:t>python </a:t>
            </a:r>
            <a:r>
              <a:rPr lang="ko-KR" altLang="en-US"/>
              <a:t>프로그램이 실행되면 설치된 것임</a:t>
            </a:r>
            <a:endParaRPr lang="en-US" altLang="ko-KR"/>
          </a:p>
          <a:p>
            <a:pPr lvl="1"/>
            <a:r>
              <a:rPr lang="ko-KR" altLang="en-US"/>
              <a:t>현재 파이썬 </a:t>
            </a:r>
            <a:r>
              <a:rPr lang="en-US" altLang="ko-KR" dirty="0"/>
              <a:t>3.9.2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설치되어 있음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Ctrl+D</a:t>
            </a:r>
            <a:r>
              <a:rPr lang="en-US" altLang="ko-KR" dirty="0"/>
              <a:t>]</a:t>
            </a:r>
            <a:r>
              <a:rPr lang="ko-KR" altLang="en-US" dirty="0"/>
              <a:t>를 입력하면 종료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8B3CBD-C4E3-4065-A569-42F4C0D479A2}"/>
              </a:ext>
            </a:extLst>
          </p:cNvPr>
          <p:cNvSpPr/>
          <p:nvPr/>
        </p:nvSpPr>
        <p:spPr>
          <a:xfrm>
            <a:off x="1043608" y="1840175"/>
            <a:ext cx="6102424" cy="16004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400" b="1" dirty="0" err="1"/>
              <a:t>pi@pi</a:t>
            </a:r>
            <a:r>
              <a:rPr lang="en-US" altLang="ko-KR" sz="1400" b="1" dirty="0"/>
              <a:t>:~ $ </a:t>
            </a:r>
            <a:r>
              <a:rPr lang="en-US" altLang="ko-KR" sz="1400" b="1" dirty="0" err="1"/>
              <a:t>mkdir</a:t>
            </a:r>
            <a:r>
              <a:rPr lang="en-US" altLang="ko-KR" sz="1400" b="1" dirty="0"/>
              <a:t> ch04</a:t>
            </a:r>
          </a:p>
          <a:p>
            <a:pPr fontAlgn="base" latinLnBrk="0"/>
            <a:r>
              <a:rPr lang="en-US" altLang="ko-KR" sz="1400" b="1" dirty="0" err="1"/>
              <a:t>pi@pi</a:t>
            </a:r>
            <a:r>
              <a:rPr lang="en-US" altLang="ko-KR" sz="1400" b="1" dirty="0"/>
              <a:t>:~ $ cd ch04</a:t>
            </a:r>
          </a:p>
          <a:p>
            <a:pPr fontAlgn="base" latinLnBrk="0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</a:t>
            </a:r>
          </a:p>
          <a:p>
            <a:pPr fontAlgn="base" latinLnBrk="0"/>
            <a:r>
              <a:rPr lang="en-US" altLang="ko-KR" sz="1400" dirty="0"/>
              <a:t>Python 3.9.2 (default, Mar 12 2021, 04:06:34) </a:t>
            </a:r>
          </a:p>
          <a:p>
            <a:pPr fontAlgn="base" latinLnBrk="0"/>
            <a:r>
              <a:rPr lang="en-US" altLang="ko-KR" sz="1400" dirty="0"/>
              <a:t>[GCC 10.2.1 20210110] on </a:t>
            </a:r>
            <a:r>
              <a:rPr lang="en-US" altLang="ko-KR" sz="1400" dirty="0" err="1"/>
              <a:t>linux</a:t>
            </a:r>
            <a:endParaRPr lang="en-US" altLang="ko-KR" sz="1400" dirty="0"/>
          </a:p>
          <a:p>
            <a:pPr fontAlgn="base" latinLnBrk="0"/>
            <a:r>
              <a:rPr lang="en-US" altLang="ko-KR" sz="1400" dirty="0"/>
              <a:t>Type "help", "copyright", "credits" or "license" for more information.</a:t>
            </a:r>
          </a:p>
          <a:p>
            <a:pPr fontAlgn="base" latinLnBrk="0"/>
            <a:r>
              <a:rPr lang="en-US" altLang="ko-KR" sz="1400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73033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실행 방식 </a:t>
            </a:r>
            <a:r>
              <a:rPr lang="en-US" altLang="ko-KR" dirty="0"/>
              <a:t>2</a:t>
            </a:r>
            <a:r>
              <a:rPr lang="ko-KR" altLang="en-US" dirty="0"/>
              <a:t>가지</a:t>
            </a: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가지 방식</a:t>
            </a:r>
            <a:endParaRPr lang="en-US" altLang="ko-KR" dirty="0"/>
          </a:p>
          <a:p>
            <a:pPr lvl="1"/>
            <a:r>
              <a:rPr lang="ko-KR" altLang="en-US" dirty="0"/>
              <a:t>대화식 </a:t>
            </a:r>
            <a:r>
              <a:rPr lang="ko-KR" altLang="en-US"/>
              <a:t>실행 방식</a:t>
            </a:r>
            <a:endParaRPr lang="en-US" altLang="ko-KR"/>
          </a:p>
          <a:p>
            <a:pPr lvl="2"/>
            <a:r>
              <a:rPr lang="ko-KR" altLang="en-US"/>
              <a:t>파이썬 </a:t>
            </a:r>
            <a:r>
              <a:rPr lang="ko-KR" altLang="en-US" dirty="0"/>
              <a:t>코드를 한 개씩 실행시키는 방법</a:t>
            </a:r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파일 단위로 </a:t>
            </a:r>
            <a:r>
              <a:rPr lang="ko-KR" altLang="en-US"/>
              <a:t>실행하는 방식</a:t>
            </a:r>
            <a:endParaRPr lang="en-US" altLang="ko-KR"/>
          </a:p>
          <a:p>
            <a:pPr lvl="2"/>
            <a:r>
              <a:rPr lang="ko-KR" altLang="en-US"/>
              <a:t>파이썬 </a:t>
            </a:r>
            <a:r>
              <a:rPr lang="ko-KR" altLang="en-US" dirty="0"/>
              <a:t>프로그램이 담긴 파일을 실행시키는 방법</a:t>
            </a:r>
            <a:endParaRPr lang="en-US" altLang="ko-KR" dirty="0"/>
          </a:p>
          <a:p>
            <a:r>
              <a:rPr lang="ko-KR" altLang="en-US" dirty="0"/>
              <a:t>대화식 실행 방식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4D9A5E-E6A8-48DA-B0A4-8E2373F6CC13}"/>
              </a:ext>
            </a:extLst>
          </p:cNvPr>
          <p:cNvSpPr/>
          <p:nvPr/>
        </p:nvSpPr>
        <p:spPr>
          <a:xfrm>
            <a:off x="1115616" y="3717032"/>
            <a:ext cx="7487744" cy="224676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</a:t>
            </a:r>
          </a:p>
          <a:p>
            <a:pPr defTabSz="180000"/>
            <a:r>
              <a:rPr lang="en-US" altLang="ko-KR" sz="1400" dirty="0"/>
              <a:t>Python 3.9.2 (default, Mar 12 2021, 04:06:34) </a:t>
            </a:r>
          </a:p>
          <a:p>
            <a:pPr defTabSz="180000"/>
            <a:r>
              <a:rPr lang="en-US" altLang="ko-KR" sz="1400" dirty="0"/>
              <a:t>[GCC 10.2.1 20210110] on </a:t>
            </a:r>
            <a:r>
              <a:rPr lang="en-US" altLang="ko-KR" sz="1400" dirty="0" err="1"/>
              <a:t>linux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Type "help", "copyright", "credits" or "license" for more information.</a:t>
            </a:r>
          </a:p>
          <a:p>
            <a:pPr defTabSz="180000"/>
            <a:r>
              <a:rPr lang="en-US" altLang="ko-KR" sz="1400" dirty="0"/>
              <a:t>&gt;&gt;&gt; width = 10</a:t>
            </a:r>
          </a:p>
          <a:p>
            <a:pPr defTabSz="180000"/>
            <a:r>
              <a:rPr lang="en-US" altLang="ko-KR" sz="1400" dirty="0"/>
              <a:t>&gt;&gt;&gt; height = 20</a:t>
            </a:r>
          </a:p>
          <a:p>
            <a:pPr defTabSz="180000"/>
            <a:r>
              <a:rPr lang="en-US" altLang="ko-KR" sz="1400" dirty="0"/>
              <a:t>&gt;&gt;&gt; area = width * height</a:t>
            </a:r>
          </a:p>
          <a:p>
            <a:pPr defTabSz="180000"/>
            <a:r>
              <a:rPr lang="en-US" altLang="ko-KR" sz="1400" dirty="0"/>
              <a:t>&gt;&gt;&gt; print("</a:t>
            </a:r>
            <a:r>
              <a:rPr lang="ko-KR" altLang="en-US" sz="1400" dirty="0"/>
              <a:t>면적은 </a:t>
            </a:r>
            <a:r>
              <a:rPr lang="en-US" altLang="ko-KR" sz="1400" dirty="0"/>
              <a:t>", area)</a:t>
            </a:r>
          </a:p>
          <a:p>
            <a:pPr defTabSz="180000"/>
            <a:r>
              <a:rPr lang="ko-KR" altLang="en-US" sz="1400" dirty="0"/>
              <a:t>면적은 </a:t>
            </a:r>
            <a:r>
              <a:rPr lang="en-US" altLang="ko-KR" sz="1400" dirty="0"/>
              <a:t>200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&gt;&gt;&gt;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6115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/>
          <a:p>
            <a:r>
              <a:rPr lang="ko-KR" altLang="en-US"/>
              <a:t>파이썬 파일 단위로 실행하는 방식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파일 단위로 실행하는 방식</a:t>
            </a:r>
            <a:endParaRPr lang="en-US" altLang="ko-KR" dirty="0"/>
          </a:p>
          <a:p>
            <a:pPr lvl="1"/>
            <a:r>
              <a:rPr lang="en-US" altLang="ko-KR" dirty="0"/>
              <a:t>vi</a:t>
            </a:r>
            <a:r>
              <a:rPr lang="ko-KR" altLang="en-US" dirty="0"/>
              <a:t>로 </a:t>
            </a:r>
            <a:r>
              <a:rPr lang="en-US" altLang="ko-KR" dirty="0"/>
              <a:t>area.py </a:t>
            </a:r>
            <a:r>
              <a:rPr lang="ko-KR" altLang="en-US" dirty="0"/>
              <a:t>작성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/>
              <a:t>실행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4D9A5E-E6A8-48DA-B0A4-8E2373F6CC13}"/>
              </a:ext>
            </a:extLst>
          </p:cNvPr>
          <p:cNvSpPr/>
          <p:nvPr/>
        </p:nvSpPr>
        <p:spPr>
          <a:xfrm>
            <a:off x="1259632" y="2189182"/>
            <a:ext cx="626469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width = 10</a:t>
            </a:r>
          </a:p>
          <a:p>
            <a:pPr fontAlgn="base"/>
            <a:r>
              <a:rPr lang="en-US" altLang="ko-KR" sz="1400" dirty="0"/>
              <a:t>height = 20</a:t>
            </a:r>
          </a:p>
          <a:p>
            <a:pPr fontAlgn="base"/>
            <a:r>
              <a:rPr lang="en-US" altLang="ko-KR" sz="1400" dirty="0"/>
              <a:t>area = width * height</a:t>
            </a:r>
          </a:p>
          <a:p>
            <a:pPr fontAlgn="base"/>
            <a:r>
              <a:rPr lang="en-US" altLang="ko-KR" sz="1400" dirty="0"/>
              <a:t>print("</a:t>
            </a:r>
            <a:r>
              <a:rPr lang="ko-KR" altLang="en-US" sz="1400" dirty="0"/>
              <a:t>면적은 </a:t>
            </a:r>
            <a:r>
              <a:rPr lang="en-US" altLang="ko-KR" sz="1400" dirty="0"/>
              <a:t>", area)</a:t>
            </a:r>
          </a:p>
          <a:p>
            <a:pPr fontAlgn="base"/>
            <a:r>
              <a:rPr lang="en-US" altLang="ko-KR" sz="1400" dirty="0"/>
              <a:t>~</a:t>
            </a:r>
          </a:p>
          <a:p>
            <a:pPr fontAlgn="base"/>
            <a:r>
              <a:rPr lang="en-US" altLang="ko-KR" sz="1400" dirty="0"/>
              <a:t>~</a:t>
            </a:r>
          </a:p>
          <a:p>
            <a:pPr fontAlgn="base"/>
            <a:r>
              <a:rPr lang="en-US" altLang="ko-KR" sz="1400" dirty="0"/>
              <a:t>~</a:t>
            </a:r>
          </a:p>
          <a:p>
            <a:pPr fontAlgn="base"/>
            <a:r>
              <a:rPr lang="en-US" altLang="ko-KR" sz="1400" dirty="0"/>
              <a:t>:</a:t>
            </a:r>
            <a:r>
              <a:rPr lang="en-US" altLang="ko-KR" sz="1400" dirty="0" err="1"/>
              <a:t>wq</a:t>
            </a:r>
            <a:r>
              <a:rPr lang="en-US" altLang="ko-KR" sz="1400" dirty="0"/>
              <a:t>!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8FDD24-913F-48CF-84F8-39936ADF4399}"/>
              </a:ext>
            </a:extLst>
          </p:cNvPr>
          <p:cNvSpPr/>
          <p:nvPr/>
        </p:nvSpPr>
        <p:spPr>
          <a:xfrm>
            <a:off x="1259632" y="4581128"/>
            <a:ext cx="6264696" cy="7386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</a:t>
            </a:r>
            <a:r>
              <a:rPr lang="en-US" altLang="ko-KR" sz="1400" dirty="0"/>
              <a:t>python area.py</a:t>
            </a:r>
          </a:p>
          <a:p>
            <a:pPr defTabSz="180000"/>
            <a:r>
              <a:rPr lang="ko-KR" altLang="en-US" sz="1400" dirty="0"/>
              <a:t>면적은 </a:t>
            </a:r>
            <a:r>
              <a:rPr lang="en-US" altLang="ko-KR" sz="1400" dirty="0"/>
              <a:t>200</a:t>
            </a:r>
            <a:endParaRPr lang="ko-KR" altLang="en-US" sz="1400" dirty="0"/>
          </a:p>
          <a:p>
            <a:pPr defTabSz="180000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</a:t>
            </a:r>
          </a:p>
        </p:txBody>
      </p:sp>
    </p:spTree>
    <p:extLst>
      <p:ext uri="{BB962C8B-B14F-4D97-AF65-F5344CB8AC3E}">
        <p14:creationId xmlns:p14="http://schemas.microsoft.com/office/powerpoint/2010/main" val="362278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41F677A-0134-46C2-85E3-B749DE2C3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411DCE-AC6B-47A3-80EF-B91BC074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데이터 </a:t>
            </a:r>
            <a:r>
              <a:rPr lang="ko-KR" altLang="en-US" dirty="0"/>
              <a:t>타입과 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45CF8-F787-4B68-9C52-304C6B61D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63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  <a:endParaRPr lang="en-US" altLang="ko-KR" dirty="0"/>
          </a:p>
          <a:p>
            <a:pPr lvl="1"/>
            <a:r>
              <a:rPr lang="ko-KR" altLang="en-US" dirty="0"/>
              <a:t>식별자</a:t>
            </a:r>
            <a:r>
              <a:rPr lang="en-US" altLang="ko-KR" dirty="0"/>
              <a:t>(identifier)</a:t>
            </a:r>
            <a:r>
              <a:rPr lang="ko-KR" altLang="en-US" dirty="0"/>
              <a:t>란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프로그램의 변수</a:t>
            </a:r>
            <a:r>
              <a:rPr lang="en-US" altLang="ko-KR" dirty="0"/>
              <a:t>, </a:t>
            </a:r>
            <a:r>
              <a:rPr lang="ko-KR" altLang="en-US" dirty="0"/>
              <a:t>상수</a:t>
            </a:r>
            <a:r>
              <a:rPr lang="en-US" altLang="ko-KR" dirty="0"/>
              <a:t>(</a:t>
            </a:r>
            <a:r>
              <a:rPr lang="ko-KR" altLang="en-US" dirty="0" err="1"/>
              <a:t>리터럴</a:t>
            </a:r>
            <a:r>
              <a:rPr lang="en-US" altLang="ko-KR" dirty="0"/>
              <a:t>), </a:t>
            </a:r>
            <a:r>
              <a:rPr lang="ko-KR" altLang="en-US" dirty="0"/>
              <a:t>함수에 붙이는 이름</a:t>
            </a:r>
          </a:p>
          <a:p>
            <a:r>
              <a:rPr lang="ko-KR" altLang="en-US" dirty="0"/>
              <a:t>식별자의 규칙</a:t>
            </a:r>
            <a:endParaRPr lang="en-US" altLang="ko-KR" dirty="0"/>
          </a:p>
          <a:p>
            <a:pPr lvl="1"/>
            <a:r>
              <a:rPr lang="ko-KR" altLang="en-US" dirty="0"/>
              <a:t>첫 </a:t>
            </a:r>
            <a:r>
              <a:rPr lang="ko-KR" altLang="en-US"/>
              <a:t>번째 문자</a:t>
            </a:r>
            <a:endParaRPr lang="en-US" altLang="ko-KR"/>
          </a:p>
          <a:p>
            <a:pPr lvl="2"/>
            <a:r>
              <a:rPr lang="ko-KR" altLang="en-US"/>
              <a:t>알파벳</a:t>
            </a:r>
            <a:r>
              <a:rPr lang="en-US" altLang="ko-KR" dirty="0"/>
              <a:t>(A-Z, a-z), </a:t>
            </a:r>
            <a:r>
              <a:rPr lang="ko-KR" altLang="en-US" dirty="0" err="1"/>
              <a:t>언더스코어</a:t>
            </a:r>
            <a:r>
              <a:rPr lang="en-US" altLang="ko-KR" dirty="0"/>
              <a:t>(_), $ </a:t>
            </a:r>
            <a:r>
              <a:rPr lang="ko-KR" altLang="en-US" dirty="0"/>
              <a:t>문자만 사용 가능</a:t>
            </a:r>
          </a:p>
          <a:p>
            <a:pPr lvl="1"/>
            <a:r>
              <a:rPr lang="ko-KR" altLang="en-US" dirty="0"/>
              <a:t>두 번째 </a:t>
            </a:r>
            <a:r>
              <a:rPr lang="ko-KR" altLang="en-US"/>
              <a:t>이상 문자</a:t>
            </a:r>
            <a:endParaRPr lang="en-US" altLang="ko-KR"/>
          </a:p>
          <a:p>
            <a:pPr lvl="2"/>
            <a:r>
              <a:rPr lang="ko-KR" altLang="en-US"/>
              <a:t>알파벳</a:t>
            </a:r>
            <a:r>
              <a:rPr lang="en-US" altLang="ko-KR" dirty="0"/>
              <a:t>, </a:t>
            </a:r>
            <a:r>
              <a:rPr lang="ko-KR" altLang="en-US" dirty="0" err="1"/>
              <a:t>언더스코어</a:t>
            </a:r>
            <a:r>
              <a:rPr lang="en-US" altLang="ko-KR" dirty="0"/>
              <a:t>(_), 0-9, $ </a:t>
            </a:r>
            <a:r>
              <a:rPr lang="ko-KR" altLang="en-US" dirty="0"/>
              <a:t>문자 사용 가능</a:t>
            </a:r>
          </a:p>
          <a:p>
            <a:pPr lvl="1"/>
            <a:r>
              <a:rPr lang="ko-KR" altLang="en-US" dirty="0"/>
              <a:t>대소문자 구분 </a:t>
            </a:r>
            <a:r>
              <a:rPr lang="en-US" altLang="ko-KR" dirty="0"/>
              <a:t>– </a:t>
            </a:r>
            <a:r>
              <a:rPr lang="en-US" altLang="ko-KR" dirty="0" err="1"/>
              <a:t>myHome</a:t>
            </a:r>
            <a:r>
              <a:rPr lang="ko-KR" altLang="en-US" dirty="0"/>
              <a:t>과 </a:t>
            </a:r>
            <a:r>
              <a:rPr lang="en-US" altLang="ko-KR" dirty="0" err="1"/>
              <a:t>myhome</a:t>
            </a:r>
            <a:r>
              <a:rPr lang="ko-KR" altLang="en-US" dirty="0"/>
              <a:t>은 다른 변수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D60A74-888E-4876-B1B7-56F163E3D06C}"/>
              </a:ext>
            </a:extLst>
          </p:cNvPr>
          <p:cNvSpPr/>
          <p:nvPr/>
        </p:nvSpPr>
        <p:spPr>
          <a:xfrm>
            <a:off x="1348679" y="4869160"/>
            <a:ext cx="7182673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400" dirty="0"/>
              <a:t>6variable 		# (Ⅹ) </a:t>
            </a:r>
            <a:r>
              <a:rPr lang="ko-KR" altLang="en-US" sz="1400" dirty="0"/>
              <a:t>숫자로 시작할 수 없음</a:t>
            </a:r>
          </a:p>
          <a:p>
            <a:pPr fontAlgn="base" latinLnBrk="0"/>
            <a:r>
              <a:rPr lang="en-US" altLang="ko-KR" sz="1400" dirty="0" err="1"/>
              <a:t>student_ID</a:t>
            </a:r>
            <a:r>
              <a:rPr lang="en-US" altLang="ko-KR" sz="1400" dirty="0"/>
              <a:t> 	# (○)</a:t>
            </a:r>
          </a:p>
          <a:p>
            <a:pPr fontAlgn="base" latinLnBrk="0"/>
            <a:r>
              <a:rPr lang="en-US" altLang="ko-KR" sz="1400" dirty="0"/>
              <a:t>_code		# (○) </a:t>
            </a:r>
            <a:r>
              <a:rPr lang="ko-KR" altLang="en-US" sz="1400" dirty="0"/>
              <a:t>맞지만 권하지 않음</a:t>
            </a:r>
          </a:p>
          <a:p>
            <a:pPr fontAlgn="base" latinLnBrk="0"/>
            <a:r>
              <a:rPr lang="en-US" altLang="ko-KR" sz="1400" dirty="0"/>
              <a:t>if 		# (Ⅹ) </a:t>
            </a:r>
            <a:r>
              <a:rPr lang="ko-KR" altLang="en-US" sz="1400" dirty="0" err="1"/>
              <a:t>예약어</a:t>
            </a:r>
            <a:r>
              <a:rPr lang="ko-KR" altLang="en-US" sz="1400" dirty="0"/>
              <a:t> </a:t>
            </a:r>
            <a:r>
              <a:rPr lang="en-US" altLang="ko-KR" sz="1400" dirty="0"/>
              <a:t>if </a:t>
            </a:r>
            <a:r>
              <a:rPr lang="ko-KR" altLang="en-US" sz="1400" dirty="0"/>
              <a:t>사용 불가</a:t>
            </a:r>
          </a:p>
          <a:p>
            <a:pPr fontAlgn="base" latinLnBrk="0"/>
            <a:r>
              <a:rPr lang="en-US" altLang="ko-KR" sz="1400" dirty="0"/>
              <a:t>%calc 		# (Ⅹ) % </a:t>
            </a:r>
            <a:r>
              <a:rPr lang="ko-KR" altLang="en-US" sz="1400" dirty="0"/>
              <a:t>사용 불가</a:t>
            </a:r>
          </a:p>
          <a:p>
            <a:pPr fontAlgn="base" latinLnBrk="0"/>
            <a:r>
              <a:rPr lang="en-US" altLang="ko-KR" sz="1400" dirty="0"/>
              <a:t>bar, Bar; 		# (○) bar</a:t>
            </a:r>
            <a:r>
              <a:rPr lang="ko-KR" altLang="en-US" sz="1400" dirty="0"/>
              <a:t>와 </a:t>
            </a:r>
            <a:r>
              <a:rPr lang="en-US" altLang="ko-KR" sz="1400" dirty="0"/>
              <a:t>Bar</a:t>
            </a:r>
            <a:r>
              <a:rPr lang="ko-KR" altLang="en-US" sz="1400" dirty="0"/>
              <a:t>는 서로 다른 식별자임에 주의</a:t>
            </a:r>
          </a:p>
        </p:txBody>
      </p:sp>
    </p:spTree>
    <p:extLst>
      <p:ext uri="{BB962C8B-B14F-4D97-AF65-F5344CB8AC3E}">
        <p14:creationId xmlns:p14="http://schemas.microsoft.com/office/powerpoint/2010/main" val="277113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3BC85-02AE-421B-A50C-344E86609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주석문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54F12-21C3-46BB-8346-2DA28E88E0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주석문</a:t>
            </a:r>
            <a:r>
              <a:rPr lang="en-US" altLang="ko-KR" dirty="0"/>
              <a:t>(</a:t>
            </a:r>
            <a:r>
              <a:rPr lang="en-US" altLang="ko-KR"/>
              <a:t>comment)</a:t>
            </a:r>
          </a:p>
          <a:p>
            <a:pPr lvl="1"/>
            <a:r>
              <a:rPr lang="ko-KR" altLang="en-US"/>
              <a:t>파이썬 </a:t>
            </a:r>
            <a:r>
              <a:rPr lang="ko-KR" altLang="en-US" dirty="0"/>
              <a:t>프로그램 내에 설명이나 메모 목적으로 </a:t>
            </a:r>
            <a:r>
              <a:rPr lang="ko-KR" altLang="en-US"/>
              <a:t>삽입한 텍스트</a:t>
            </a:r>
            <a:endParaRPr lang="en-US" altLang="ko-KR"/>
          </a:p>
          <a:p>
            <a:pPr lvl="1"/>
            <a:r>
              <a:rPr lang="ko-KR" altLang="en-US"/>
              <a:t>프로그램 </a:t>
            </a:r>
            <a:r>
              <a:rPr lang="ko-KR" altLang="en-US" dirty="0"/>
              <a:t>코드로 처리되지 않음</a:t>
            </a:r>
            <a:endParaRPr lang="en-US" altLang="ko-KR" dirty="0"/>
          </a:p>
          <a:p>
            <a:r>
              <a:rPr lang="ko-KR" altLang="en-US" dirty="0"/>
              <a:t>주석문의 </a:t>
            </a:r>
            <a:r>
              <a:rPr lang="en-US" altLang="ko-KR" dirty="0"/>
              <a:t>2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ko-KR" altLang="en-US" dirty="0"/>
              <a:t>한 </a:t>
            </a:r>
            <a:r>
              <a:rPr lang="ko-KR" altLang="en-US"/>
              <a:t>라인 주석문</a:t>
            </a:r>
            <a:endParaRPr lang="en-US" altLang="ko-KR"/>
          </a:p>
          <a:p>
            <a:pPr lvl="2"/>
            <a:r>
              <a:rPr lang="en-US" altLang="ko-KR"/>
              <a:t># </a:t>
            </a:r>
            <a:r>
              <a:rPr lang="ko-KR" altLang="en-US" dirty="0"/>
              <a:t>으로 시작하여 그 줄 끝까지 주석 처리</a:t>
            </a:r>
          </a:p>
          <a:p>
            <a:pPr lvl="1"/>
            <a:r>
              <a:rPr lang="ko-KR" altLang="en-US" dirty="0"/>
              <a:t>여러 </a:t>
            </a:r>
            <a:r>
              <a:rPr lang="ko-KR" altLang="en-US"/>
              <a:t>라인 주석문</a:t>
            </a:r>
            <a:endParaRPr lang="en-US" altLang="ko-KR"/>
          </a:p>
          <a:p>
            <a:pPr lvl="2"/>
            <a:r>
              <a:rPr lang="en-US" altLang="ko-KR"/>
              <a:t>"""</a:t>
            </a:r>
            <a:r>
              <a:rPr lang="ko-KR" altLang="en-US" dirty="0"/>
              <a:t>와 </a:t>
            </a:r>
            <a:r>
              <a:rPr lang="en-US" altLang="ko-KR" dirty="0"/>
              <a:t>"""</a:t>
            </a:r>
            <a:r>
              <a:rPr lang="ko-KR" altLang="en-US" dirty="0"/>
              <a:t> 사이에 여러 라인을 주석 처리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34D2B-8EAA-4E60-BAEB-4ECC113E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75D8C6-D7C8-4D98-936C-149D24438993}"/>
              </a:ext>
            </a:extLst>
          </p:cNvPr>
          <p:cNvSpPr/>
          <p:nvPr/>
        </p:nvSpPr>
        <p:spPr>
          <a:xfrm>
            <a:off x="1403648" y="4505052"/>
            <a:ext cx="4374904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"""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이것은 처음 작성한 </a:t>
            </a:r>
            <a:r>
              <a:rPr lang="ko-KR" altLang="en-US" sz="1400" dirty="0" err="1"/>
              <a:t>파이썬</a:t>
            </a:r>
            <a:r>
              <a:rPr lang="ko-KR" altLang="en-US" sz="1400" dirty="0"/>
              <a:t> 프로그램입니다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작성자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황기태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이재문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작성일 </a:t>
            </a:r>
            <a:r>
              <a:rPr lang="en-US" altLang="ko-KR" sz="1400" dirty="0"/>
              <a:t>: 4</a:t>
            </a:r>
            <a:r>
              <a:rPr lang="ko-KR" altLang="en-US" sz="1400" dirty="0"/>
              <a:t>월 </a:t>
            </a:r>
            <a:r>
              <a:rPr lang="en-US" altLang="ko-KR" sz="1400" dirty="0"/>
              <a:t>14</a:t>
            </a:r>
            <a:r>
              <a:rPr lang="ko-KR" altLang="en-US" sz="1400" dirty="0"/>
              <a:t>일</a:t>
            </a:r>
          </a:p>
          <a:p>
            <a:pPr defTabSz="180000"/>
            <a:r>
              <a:rPr lang="en-US" altLang="ko-KR" sz="1400" dirty="0"/>
              <a:t>"""</a:t>
            </a:r>
          </a:p>
          <a:p>
            <a:pPr defTabSz="180000"/>
            <a:r>
              <a:rPr lang="en-US" altLang="ko-KR" sz="1400" dirty="0"/>
              <a:t>width = 10</a:t>
            </a:r>
            <a:r>
              <a:rPr lang="ko-KR" altLang="en-US" sz="1400" dirty="0"/>
              <a:t>			</a:t>
            </a:r>
            <a:r>
              <a:rPr lang="en-US" altLang="ko-KR" sz="1400" dirty="0"/>
              <a:t>				# </a:t>
            </a:r>
            <a:r>
              <a:rPr lang="ko-KR" altLang="en-US" sz="1400" dirty="0"/>
              <a:t>너비 </a:t>
            </a:r>
            <a:r>
              <a:rPr lang="en-US" altLang="ko-KR" sz="1400" dirty="0"/>
              <a:t>10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height = 20</a:t>
            </a:r>
            <a:r>
              <a:rPr lang="ko-KR" altLang="en-US" sz="1400" dirty="0"/>
              <a:t>			</a:t>
            </a:r>
            <a:r>
              <a:rPr lang="en-US" altLang="ko-KR" sz="1400" dirty="0"/>
              <a:t>			# </a:t>
            </a:r>
            <a:r>
              <a:rPr lang="ko-KR" altLang="en-US" sz="1400" dirty="0"/>
              <a:t>폭 </a:t>
            </a:r>
            <a:r>
              <a:rPr lang="en-US" altLang="ko-KR" sz="1400" dirty="0"/>
              <a:t>20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area = width * height </a:t>
            </a:r>
            <a:r>
              <a:rPr lang="ko-KR" altLang="en-US" sz="1400" dirty="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면적 계산</a:t>
            </a:r>
          </a:p>
          <a:p>
            <a:pPr defTabSz="180000"/>
            <a:r>
              <a:rPr lang="en-US" altLang="ko-KR" sz="1400" dirty="0"/>
              <a:t>print("</a:t>
            </a:r>
            <a:r>
              <a:rPr lang="ko-KR" altLang="en-US" sz="1400" dirty="0"/>
              <a:t>면적은 </a:t>
            </a:r>
            <a:r>
              <a:rPr lang="en-US" altLang="ko-KR" sz="1400" dirty="0"/>
              <a:t>", area)</a:t>
            </a:r>
            <a:r>
              <a:rPr lang="ko-KR" altLang="en-US" sz="1400" dirty="0"/>
              <a:t>		</a:t>
            </a:r>
            <a:r>
              <a:rPr lang="en-US" altLang="ko-KR" sz="1400" dirty="0"/>
              <a:t># </a:t>
            </a:r>
            <a:r>
              <a:rPr lang="ko-KR" altLang="en-US" sz="1400" dirty="0"/>
              <a:t>면적 출력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11791E-E26D-4086-BD9F-BD86AF696DBF}"/>
              </a:ext>
            </a:extLst>
          </p:cNvPr>
          <p:cNvSpPr/>
          <p:nvPr/>
        </p:nvSpPr>
        <p:spPr>
          <a:xfrm>
            <a:off x="5866459" y="4505052"/>
            <a:ext cx="2233933" cy="3641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ko-KR" altLang="en-US" sz="1400"/>
              <a:t>면적은 </a:t>
            </a:r>
            <a:r>
              <a:rPr lang="en-US" altLang="ko-KR" sz="1400" dirty="0"/>
              <a:t>200</a:t>
            </a:r>
            <a:endParaRPr lang="ko-KR" altLang="en-US" sz="1400" dirty="0"/>
          </a:p>
          <a:p>
            <a:pPr fontAlgn="base"/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6297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D06B7-09E7-490B-AB62-5951E96E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문장 구분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63761-44F3-43C6-8E27-7DEBDF8482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프로그램의 기본 단위는 문장</a:t>
            </a:r>
            <a:r>
              <a:rPr lang="en-US" altLang="ko-KR" dirty="0"/>
              <a:t>(</a:t>
            </a:r>
            <a:r>
              <a:rPr lang="en-US" altLang="ko-KR"/>
              <a:t>statement)</a:t>
            </a:r>
          </a:p>
          <a:p>
            <a:r>
              <a:rPr lang="ko-KR" altLang="en-US"/>
              <a:t>세미콜론</a:t>
            </a:r>
            <a:r>
              <a:rPr lang="en-US" altLang="ko-KR" dirty="0"/>
              <a:t>(;)</a:t>
            </a:r>
            <a:r>
              <a:rPr lang="ko-KR" altLang="en-US" dirty="0"/>
              <a:t>으로 문장과 </a:t>
            </a:r>
            <a:r>
              <a:rPr lang="ko-KR" altLang="en-US"/>
              <a:t>문장을 구분</a:t>
            </a:r>
            <a:endParaRPr lang="en-US" altLang="ko-KR" dirty="0"/>
          </a:p>
          <a:p>
            <a:pPr lvl="1"/>
            <a:r>
              <a:rPr lang="ko-KR" altLang="en-US" dirty="0"/>
              <a:t>한 줄에 한 문장만 있는 </a:t>
            </a:r>
            <a:r>
              <a:rPr lang="ko-KR" altLang="en-US"/>
              <a:t>경우 세미콜론 생략 가능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42DCE8-4977-490E-810F-560C6CEF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B48BB0-CA3C-4484-A024-4891D60370F8}"/>
              </a:ext>
            </a:extLst>
          </p:cNvPr>
          <p:cNvSpPr/>
          <p:nvPr/>
        </p:nvSpPr>
        <p:spPr>
          <a:xfrm>
            <a:off x="1115616" y="2852936"/>
            <a:ext cx="712879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+ 1 			# (○) </a:t>
            </a:r>
            <a:r>
              <a:rPr lang="ko-KR" altLang="en-US" sz="1400" dirty="0"/>
              <a:t>한 줄에 한 문장이므로 세미콜론 생략</a:t>
            </a:r>
          </a:p>
          <a:p>
            <a:r>
              <a:rPr lang="en-US" altLang="ko-KR" sz="1400" dirty="0"/>
              <a:t>j = j + 1; 			# (○)</a:t>
            </a:r>
          </a:p>
          <a:p>
            <a:r>
              <a:rPr lang="en-US" altLang="ko-KR" sz="1400" dirty="0"/>
              <a:t>k = k + 1; m = m + 1;</a:t>
            </a:r>
            <a:r>
              <a:rPr lang="en-US" altLang="ko-KR" sz="1400"/>
              <a:t>		# </a:t>
            </a:r>
            <a:r>
              <a:rPr lang="en-US" altLang="ko-KR" sz="1400" dirty="0"/>
              <a:t>(○) </a:t>
            </a:r>
            <a:r>
              <a:rPr lang="ko-KR" altLang="en-US" sz="1400" dirty="0"/>
              <a:t>한 줄에 여러 문장</a:t>
            </a:r>
          </a:p>
          <a:p>
            <a:r>
              <a:rPr lang="en-US" altLang="ko-KR" sz="1400" dirty="0"/>
              <a:t>n = n + 1 p = p + 1; </a:t>
            </a:r>
            <a:r>
              <a:rPr lang="en-US" altLang="ko-KR" sz="1400"/>
              <a:t>		# </a:t>
            </a:r>
            <a:r>
              <a:rPr lang="en-US" altLang="ko-KR" sz="1400" dirty="0"/>
              <a:t>(Ⅹ) </a:t>
            </a:r>
            <a:r>
              <a:rPr lang="ko-KR" altLang="en-US" sz="1400" dirty="0"/>
              <a:t>첫 번째 문장</a:t>
            </a:r>
            <a:r>
              <a:rPr lang="en-US" altLang="ko-KR" sz="1400" dirty="0"/>
              <a:t>(n = n + 1) </a:t>
            </a:r>
            <a:r>
              <a:rPr lang="ko-KR" altLang="en-US" sz="1400" dirty="0"/>
              <a:t>끝에 세미콜론</a:t>
            </a:r>
            <a:r>
              <a:rPr lang="en-US" altLang="ko-KR" sz="1400" dirty="0"/>
              <a:t>(;) </a:t>
            </a:r>
            <a:r>
              <a:rPr lang="ko-KR" altLang="en-US" sz="1400" dirty="0"/>
              <a:t>필요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36563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9B489-A881-47D2-9CB1-F3C1DB23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출력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4CA1A9-2E2E-43D5-B781-BAF1B6A6FF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print()</a:t>
            </a:r>
            <a:r>
              <a:rPr lang="ko-KR" altLang="en-US" dirty="0"/>
              <a:t>를 이용한 화면 출력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개의 정보를 출력하는 사례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/>
              <a:t>2</a:t>
            </a:r>
            <a:r>
              <a:rPr lang="ko-KR" altLang="en-US" dirty="0"/>
              <a:t>개 이상의 정보를 출력하려면 다음과 같이 콤마</a:t>
            </a:r>
            <a:r>
              <a:rPr lang="en-US" altLang="ko-KR" dirty="0"/>
              <a:t>(',')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print()</a:t>
            </a:r>
            <a:r>
              <a:rPr lang="ko-KR" altLang="en-US" dirty="0"/>
              <a:t>를 이용한 화면 출력</a:t>
            </a:r>
            <a:endParaRPr lang="en-US" altLang="ko-KR" dirty="0"/>
          </a:p>
          <a:p>
            <a:pPr lvl="1"/>
            <a:r>
              <a:rPr lang="ko-KR" altLang="en-US" dirty="0"/>
              <a:t>변수에 저장된 값을 출력하는 사례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346D9-1D18-4CF9-A74D-A4CEDB5C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8A5A9A-3538-4613-A5CA-2A7D88B0D90D}"/>
              </a:ext>
            </a:extLst>
          </p:cNvPr>
          <p:cNvSpPr/>
          <p:nvPr/>
        </p:nvSpPr>
        <p:spPr>
          <a:xfrm>
            <a:off x="1107301" y="2248338"/>
            <a:ext cx="4472811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print(3)</a:t>
            </a:r>
          </a:p>
          <a:p>
            <a:r>
              <a:rPr lang="en-US" altLang="ko-KR" sz="1400" dirty="0"/>
              <a:t>print(2.5)</a:t>
            </a:r>
          </a:p>
          <a:p>
            <a:r>
              <a:rPr lang="en-US" altLang="ko-KR" sz="1400" dirty="0"/>
              <a:t>print(2+3)</a:t>
            </a:r>
          </a:p>
          <a:p>
            <a:r>
              <a:rPr lang="en-US" altLang="ko-KR" sz="1400" dirty="0"/>
              <a:t>print("hello")</a:t>
            </a:r>
            <a:endParaRPr lang="ko-KR" altLang="en-US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81F8BC-47CF-4EBA-9C57-945F05F6A8D3}"/>
              </a:ext>
            </a:extLst>
          </p:cNvPr>
          <p:cNvSpPr/>
          <p:nvPr/>
        </p:nvSpPr>
        <p:spPr>
          <a:xfrm>
            <a:off x="1107301" y="3717033"/>
            <a:ext cx="447281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print(3, 2.5) # 32.5 </a:t>
            </a:r>
            <a:r>
              <a:rPr lang="ko-KR" altLang="en-US" sz="1400" dirty="0"/>
              <a:t>출력</a:t>
            </a:r>
          </a:p>
          <a:p>
            <a:r>
              <a:rPr lang="en-US" altLang="ko-KR" sz="1400" dirty="0"/>
              <a:t>print("</a:t>
            </a:r>
            <a:r>
              <a:rPr lang="ko-KR" altLang="en-US" sz="1400" dirty="0" err="1"/>
              <a:t>파이썬</a:t>
            </a:r>
            <a:r>
              <a:rPr lang="ko-KR" altLang="en-US" sz="1400" dirty="0"/>
              <a:t> 성적은 </a:t>
            </a:r>
            <a:r>
              <a:rPr lang="en-US" altLang="ko-KR" sz="1400" dirty="0"/>
              <a:t>", 90, "</a:t>
            </a:r>
            <a:r>
              <a:rPr lang="ko-KR" altLang="en-US" sz="1400" dirty="0"/>
              <a:t>점입니다</a:t>
            </a:r>
            <a:r>
              <a:rPr lang="en-US" altLang="ko-KR" sz="1400" dirty="0"/>
              <a:t>")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94927B-4617-42C8-A8B2-91A81EEF371E}"/>
              </a:ext>
            </a:extLst>
          </p:cNvPr>
          <p:cNvSpPr/>
          <p:nvPr/>
        </p:nvSpPr>
        <p:spPr>
          <a:xfrm>
            <a:off x="1107301" y="5373216"/>
            <a:ext cx="4472811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score = 90</a:t>
            </a:r>
          </a:p>
          <a:p>
            <a:r>
              <a:rPr lang="en-US" altLang="ko-KR" sz="1400" dirty="0"/>
              <a:t>text = "</a:t>
            </a:r>
            <a:r>
              <a:rPr lang="ko-KR" altLang="en-US" sz="1400" dirty="0" err="1"/>
              <a:t>파이썬</a:t>
            </a:r>
            <a:r>
              <a:rPr lang="ko-KR" altLang="en-US" sz="1400" dirty="0"/>
              <a:t> 성적은 </a:t>
            </a:r>
            <a:r>
              <a:rPr lang="en-US" altLang="ko-KR" sz="1400" dirty="0"/>
              <a:t>"</a:t>
            </a:r>
            <a:endParaRPr lang="ko-KR" altLang="en-US" sz="1400" dirty="0"/>
          </a:p>
          <a:p>
            <a:r>
              <a:rPr lang="en-US" altLang="ko-KR" sz="1400" dirty="0"/>
              <a:t>print(text, score, "</a:t>
            </a:r>
            <a:r>
              <a:rPr lang="ko-KR" altLang="en-US" sz="1400" dirty="0"/>
              <a:t>점입니다</a:t>
            </a:r>
            <a:r>
              <a:rPr lang="en-US" altLang="ko-KR" sz="1400" dirty="0"/>
              <a:t>")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C03E42-48DE-403A-B10C-8D718F67FC12}"/>
              </a:ext>
            </a:extLst>
          </p:cNvPr>
          <p:cNvSpPr/>
          <p:nvPr/>
        </p:nvSpPr>
        <p:spPr>
          <a:xfrm>
            <a:off x="5724129" y="2248338"/>
            <a:ext cx="2664295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3</a:t>
            </a:r>
          </a:p>
          <a:p>
            <a:pPr fontAlgn="base"/>
            <a:r>
              <a:rPr lang="en-US" altLang="ko-KR" sz="1400" dirty="0"/>
              <a:t>2.5</a:t>
            </a:r>
          </a:p>
          <a:p>
            <a:pPr fontAlgn="base"/>
            <a:r>
              <a:rPr lang="en-US" altLang="ko-KR" sz="1400" dirty="0"/>
              <a:t>5</a:t>
            </a:r>
          </a:p>
          <a:p>
            <a:pPr fontAlgn="base"/>
            <a:r>
              <a:rPr lang="en-US" altLang="ko-KR" sz="1400" dirty="0"/>
              <a:t>hello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D0BFAC-FC71-4728-B531-E4D0C7FF63EE}"/>
              </a:ext>
            </a:extLst>
          </p:cNvPr>
          <p:cNvSpPr/>
          <p:nvPr/>
        </p:nvSpPr>
        <p:spPr>
          <a:xfrm>
            <a:off x="5698946" y="3717032"/>
            <a:ext cx="2664295" cy="5232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32.5</a:t>
            </a:r>
            <a:endParaRPr lang="ko-KR" altLang="en-US" sz="1400" dirty="0"/>
          </a:p>
          <a:p>
            <a:pPr fontAlgn="base"/>
            <a:r>
              <a:rPr lang="ko-KR" altLang="en-US" sz="1400" dirty="0" err="1"/>
              <a:t>파이썬</a:t>
            </a:r>
            <a:r>
              <a:rPr lang="ko-KR" altLang="en-US" sz="1400" dirty="0"/>
              <a:t> 성적은 </a:t>
            </a:r>
            <a:r>
              <a:rPr lang="en-US" altLang="ko-KR" sz="1400" dirty="0"/>
              <a:t>90</a:t>
            </a:r>
            <a:r>
              <a:rPr lang="ko-KR" altLang="en-US" sz="1400" dirty="0"/>
              <a:t>점입니다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981DF5-1831-4059-8A94-4D61032CD134}"/>
              </a:ext>
            </a:extLst>
          </p:cNvPr>
          <p:cNvSpPr/>
          <p:nvPr/>
        </p:nvSpPr>
        <p:spPr>
          <a:xfrm>
            <a:off x="5724129" y="5373216"/>
            <a:ext cx="2664295" cy="3844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ko-KR" altLang="en-US" sz="1400" dirty="0" err="1"/>
              <a:t>파이썬</a:t>
            </a:r>
            <a:r>
              <a:rPr lang="ko-KR" altLang="en-US" sz="1400" dirty="0"/>
              <a:t> 성적은 </a:t>
            </a:r>
            <a:r>
              <a:rPr lang="en-US" altLang="ko-KR" sz="1400" dirty="0"/>
              <a:t>90</a:t>
            </a:r>
            <a:r>
              <a:rPr lang="ko-KR" altLang="en-US" sz="1400" dirty="0"/>
              <a:t>점입니다</a:t>
            </a:r>
          </a:p>
        </p:txBody>
      </p:sp>
    </p:spTree>
    <p:extLst>
      <p:ext uri="{BB962C8B-B14F-4D97-AF65-F5344CB8AC3E}">
        <p14:creationId xmlns:p14="http://schemas.microsoft.com/office/powerpoint/2010/main" val="237059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E07D1-1AF9-47DB-9210-FCF65B68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출력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273586-E8A3-4420-9812-1919474760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print() </a:t>
            </a:r>
            <a:r>
              <a:rPr lang="ko-KR" altLang="en-US" dirty="0"/>
              <a:t>함수의 </a:t>
            </a:r>
            <a:r>
              <a:rPr lang="en-US" altLang="ko-KR" dirty="0"/>
              <a:t>end=" " </a:t>
            </a:r>
            <a:r>
              <a:rPr lang="ko-KR" altLang="en-US" dirty="0"/>
              <a:t>옵션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3FDB4A-D391-4E5F-BE44-39A36F02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582672-5A65-4DAF-8CE0-D1F6E7625098}"/>
              </a:ext>
            </a:extLst>
          </p:cNvPr>
          <p:cNvSpPr/>
          <p:nvPr/>
        </p:nvSpPr>
        <p:spPr>
          <a:xfrm>
            <a:off x="971600" y="1916832"/>
            <a:ext cx="34563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print("2 + 3</a:t>
            </a:r>
            <a:r>
              <a:rPr lang="ko-KR" altLang="en-US" sz="1400" dirty="0"/>
              <a:t>은</a:t>
            </a:r>
            <a:r>
              <a:rPr lang="en-US" altLang="ko-KR" sz="1400" dirty="0"/>
              <a:t>")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print(2+3, "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EA468D-D327-4059-ABA2-1D5CB45C9D09}"/>
              </a:ext>
            </a:extLst>
          </p:cNvPr>
          <p:cNvSpPr/>
          <p:nvPr/>
        </p:nvSpPr>
        <p:spPr>
          <a:xfrm>
            <a:off x="4660445" y="1920873"/>
            <a:ext cx="2935891" cy="51917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2 + 3</a:t>
            </a:r>
            <a:r>
              <a:rPr lang="ko-KR" altLang="en-US" sz="1400" dirty="0"/>
              <a:t>은</a:t>
            </a:r>
          </a:p>
          <a:p>
            <a:r>
              <a:rPr lang="en-US" altLang="ko-KR" sz="1400"/>
              <a:t>5</a:t>
            </a:r>
            <a:r>
              <a:rPr lang="ko-KR" altLang="en-US" sz="1400"/>
              <a:t>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035564-AF8B-4B9D-9FC3-B9FFA3065687}"/>
              </a:ext>
            </a:extLst>
          </p:cNvPr>
          <p:cNvSpPr/>
          <p:nvPr/>
        </p:nvSpPr>
        <p:spPr>
          <a:xfrm>
            <a:off x="971600" y="2784645"/>
            <a:ext cx="34563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print("2 + 3</a:t>
            </a:r>
            <a:r>
              <a:rPr lang="ko-KR" altLang="en-US" sz="1400" dirty="0"/>
              <a:t>은</a:t>
            </a:r>
            <a:r>
              <a:rPr lang="en-US" altLang="ko-KR" sz="1400" dirty="0"/>
              <a:t>", end=" ")</a:t>
            </a:r>
          </a:p>
          <a:p>
            <a:pPr defTabSz="180000"/>
            <a:r>
              <a:rPr lang="en-US" altLang="ko-KR" sz="1400" dirty="0"/>
              <a:t>print(2+3, "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5D82F5-D7DF-44F1-9441-57AFDCC85A97}"/>
              </a:ext>
            </a:extLst>
          </p:cNvPr>
          <p:cNvSpPr/>
          <p:nvPr/>
        </p:nvSpPr>
        <p:spPr>
          <a:xfrm>
            <a:off x="4660445" y="2788686"/>
            <a:ext cx="2935891" cy="3988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2 +3</a:t>
            </a:r>
            <a:r>
              <a:rPr lang="ko-KR" altLang="en-US" sz="1400" dirty="0"/>
              <a:t>은 </a:t>
            </a:r>
            <a:r>
              <a:rPr lang="en-US" altLang="ko-KR" sz="1400" dirty="0"/>
              <a:t>5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72FF9E-95DF-47B8-8613-FA18DCEF0422}"/>
              </a:ext>
            </a:extLst>
          </p:cNvPr>
          <p:cNvSpPr/>
          <p:nvPr/>
        </p:nvSpPr>
        <p:spPr>
          <a:xfrm>
            <a:off x="971600" y="3615577"/>
            <a:ext cx="345638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print("C++", end="; ")</a:t>
            </a:r>
          </a:p>
          <a:p>
            <a:pPr defTabSz="180000"/>
            <a:r>
              <a:rPr lang="en-US" altLang="ko-KR" sz="1400" dirty="0"/>
              <a:t>print("Java", end="; ")</a:t>
            </a:r>
          </a:p>
          <a:p>
            <a:pPr defTabSz="180000"/>
            <a:r>
              <a:rPr lang="en-US" altLang="ko-KR" sz="1400" dirty="0"/>
              <a:t>print("Python", "; ")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D6B33-5755-423A-ABF1-CFCFF2E3393F}"/>
              </a:ext>
            </a:extLst>
          </p:cNvPr>
          <p:cNvSpPr/>
          <p:nvPr/>
        </p:nvSpPr>
        <p:spPr>
          <a:xfrm>
            <a:off x="4644008" y="3619618"/>
            <a:ext cx="2935891" cy="39888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C++; Java; Python;</a:t>
            </a:r>
          </a:p>
        </p:txBody>
      </p:sp>
    </p:spTree>
    <p:extLst>
      <p:ext uri="{BB962C8B-B14F-4D97-AF65-F5344CB8AC3E}">
        <p14:creationId xmlns:p14="http://schemas.microsoft.com/office/powerpoint/2010/main" val="419492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D3891-0097-478C-B8E9-53997F06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51B2-CA1D-4A96-906A-7224B5A4083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포맷 출력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3D9CD5-CE09-453B-930E-E73FBE85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731F7-AF84-44DC-B567-EF80ECB3CFC0}"/>
              </a:ext>
            </a:extLst>
          </p:cNvPr>
          <p:cNvSpPr/>
          <p:nvPr/>
        </p:nvSpPr>
        <p:spPr>
          <a:xfrm>
            <a:off x="971600" y="1844824"/>
            <a:ext cx="70567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ko-KR" altLang="en-US" sz="1400" dirty="0"/>
              <a:t>포맷 </a:t>
            </a:r>
            <a:r>
              <a:rPr lang="ko-KR" altLang="en-US" sz="1400"/>
              <a:t>문자 </a:t>
            </a:r>
            <a:r>
              <a:rPr lang="en-US" altLang="ko-KR" sz="1400" dirty="0"/>
              <a:t>%s, %d, %f </a:t>
            </a:r>
            <a:r>
              <a:rPr lang="ko-KR" altLang="en-US" sz="1400" dirty="0"/>
              <a:t>활용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C569D6-95B5-42EA-A093-3F2C2474CB8D}"/>
              </a:ext>
            </a:extLst>
          </p:cNvPr>
          <p:cNvSpPr/>
          <p:nvPr/>
        </p:nvSpPr>
        <p:spPr>
          <a:xfrm>
            <a:off x="971600" y="2420888"/>
            <a:ext cx="462609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msg = "</a:t>
            </a:r>
            <a:r>
              <a:rPr lang="ko-KR" altLang="en-US" sz="1400" dirty="0"/>
              <a:t>점수 합은</a:t>
            </a:r>
            <a:r>
              <a:rPr lang="en-US" altLang="ko-KR" sz="1400" dirty="0"/>
              <a:t>"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sum = 98.7</a:t>
            </a:r>
          </a:p>
          <a:p>
            <a:pPr defTabSz="180000"/>
            <a:r>
              <a:rPr lang="en-US" altLang="ko-KR" sz="1400" dirty="0"/>
              <a:t>print("%d</a:t>
            </a:r>
            <a:r>
              <a:rPr lang="ko-KR" altLang="en-US" sz="1400" dirty="0"/>
              <a:t>개의 </a:t>
            </a:r>
            <a:r>
              <a:rPr lang="en-US" altLang="ko-KR" sz="1400" dirty="0"/>
              <a:t>%s %4.2f" % (3, msg, sum))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369EE5-C418-4F67-8D1F-5E2FE7A7ECA2}"/>
              </a:ext>
            </a:extLst>
          </p:cNvPr>
          <p:cNvSpPr/>
          <p:nvPr/>
        </p:nvSpPr>
        <p:spPr>
          <a:xfrm>
            <a:off x="5724129" y="2424929"/>
            <a:ext cx="2304255" cy="3571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dirty="0"/>
              <a:t>3</a:t>
            </a:r>
            <a:r>
              <a:rPr lang="ko-KR" altLang="en-US" sz="1400" dirty="0"/>
              <a:t>개의 점수 합은 </a:t>
            </a:r>
            <a:r>
              <a:rPr lang="en-US" altLang="ko-KR" sz="1400" dirty="0"/>
              <a:t>98.70</a:t>
            </a:r>
            <a:endParaRPr lang="ko-KR" altLang="en-US" sz="14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30A74787-9C7A-4475-BEC0-D37527F5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3" y="3698449"/>
            <a:ext cx="5472608" cy="222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08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B9DE2-98DD-4702-8D90-DCE04BE4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 입력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F7F86-AA48-49B3-A2A8-435CAFF5CD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input() </a:t>
            </a:r>
            <a:r>
              <a:rPr lang="ko-KR" altLang="en-US"/>
              <a:t>함수</a:t>
            </a:r>
            <a:endParaRPr lang="en-US" altLang="ko-KR"/>
          </a:p>
          <a:p>
            <a:pPr lvl="1"/>
            <a:r>
              <a:rPr lang="ko-KR" altLang="en-US"/>
              <a:t>사용자로부터 키 입력</a:t>
            </a:r>
            <a:endParaRPr lang="en-US" altLang="ko-KR" dirty="0"/>
          </a:p>
          <a:p>
            <a:r>
              <a:rPr lang="en-US" altLang="ko-KR"/>
              <a:t>input() </a:t>
            </a:r>
            <a:r>
              <a:rPr lang="ko-KR" altLang="en-US"/>
              <a:t>사례</a:t>
            </a:r>
            <a:endParaRPr lang="en-US" altLang="ko-KR"/>
          </a:p>
          <a:p>
            <a:pPr lvl="1"/>
            <a:r>
              <a:rPr lang="ko-KR" altLang="en-US"/>
              <a:t>이름</a:t>
            </a:r>
            <a:r>
              <a:rPr lang="en-US" altLang="ko-KR"/>
              <a:t>(</a:t>
            </a:r>
            <a:r>
              <a:rPr lang="ko-KR" altLang="en-US"/>
              <a:t>문자열</a:t>
            </a:r>
            <a:r>
              <a:rPr lang="en-US" altLang="ko-KR"/>
              <a:t>)</a:t>
            </a:r>
            <a:r>
              <a:rPr lang="ko-KR" altLang="en-US"/>
              <a:t> 입력 사례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/>
              <a:t>정수 입력 사례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/>
              <a:t>실수 입력 </a:t>
            </a:r>
            <a:r>
              <a:rPr lang="ko-KR" altLang="en-US" dirty="0"/>
              <a:t>사례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445D45-1893-4B9F-97CE-89A59FC4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F119AD-1980-4273-BD96-40CA256AA39D}"/>
              </a:ext>
            </a:extLst>
          </p:cNvPr>
          <p:cNvSpPr/>
          <p:nvPr/>
        </p:nvSpPr>
        <p:spPr>
          <a:xfrm>
            <a:off x="1403648" y="3088101"/>
            <a:ext cx="691276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name = input("</a:t>
            </a:r>
            <a:r>
              <a:rPr lang="ko-KR" altLang="en-US" sz="1400" dirty="0"/>
              <a:t>이름을 입력하세요</a:t>
            </a:r>
            <a:r>
              <a:rPr lang="en-US" altLang="ko-KR" sz="1400" dirty="0"/>
              <a:t>&gt;&gt;") # </a:t>
            </a:r>
            <a:r>
              <a:rPr lang="ko-KR" altLang="en-US" sz="1400" dirty="0"/>
              <a:t>입력한 문자열이 </a:t>
            </a:r>
            <a:r>
              <a:rPr lang="en-US" altLang="ko-KR" sz="1400" dirty="0"/>
              <a:t>name </a:t>
            </a:r>
            <a:r>
              <a:rPr lang="ko-KR" altLang="en-US" sz="1400" dirty="0"/>
              <a:t>변수에 저장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DC6657-8E26-4142-8675-E03DCC1C0333}"/>
              </a:ext>
            </a:extLst>
          </p:cNvPr>
          <p:cNvSpPr/>
          <p:nvPr/>
        </p:nvSpPr>
        <p:spPr>
          <a:xfrm>
            <a:off x="1403648" y="3908816"/>
            <a:ext cx="691276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age = int(input("</a:t>
            </a:r>
            <a:r>
              <a:rPr lang="ko-KR" altLang="en-US" sz="1400" dirty="0"/>
              <a:t>나이를 입력하세요</a:t>
            </a:r>
            <a:r>
              <a:rPr lang="en-US" altLang="ko-KR" sz="1400" dirty="0"/>
              <a:t>")) # </a:t>
            </a:r>
            <a:r>
              <a:rPr lang="ko-KR" altLang="en-US" sz="1400" dirty="0"/>
              <a:t>입력을 정수로 바꾸어 </a:t>
            </a:r>
            <a:r>
              <a:rPr lang="en-US" altLang="ko-KR" sz="1400" dirty="0"/>
              <a:t>age</a:t>
            </a:r>
            <a:r>
              <a:rPr lang="ko-KR" altLang="en-US" sz="1400" dirty="0"/>
              <a:t>에 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2E523B-5BA5-445E-8411-0737231A4D79}"/>
              </a:ext>
            </a:extLst>
          </p:cNvPr>
          <p:cNvSpPr/>
          <p:nvPr/>
        </p:nvSpPr>
        <p:spPr>
          <a:xfrm>
            <a:off x="1403648" y="4804657"/>
            <a:ext cx="691276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weight= float(input("</a:t>
            </a:r>
            <a:r>
              <a:rPr lang="ko-KR" altLang="en-US" sz="1400" dirty="0"/>
              <a:t>몸무게를 입력하세요</a:t>
            </a:r>
            <a:r>
              <a:rPr lang="en-US" altLang="ko-KR" sz="1400" dirty="0"/>
              <a:t>")) # </a:t>
            </a:r>
            <a:r>
              <a:rPr lang="ko-KR" altLang="en-US" sz="1400" dirty="0"/>
              <a:t>입력을 실수로 바꾸어 </a:t>
            </a:r>
            <a:r>
              <a:rPr lang="en-US" altLang="ko-KR" sz="1400" dirty="0"/>
              <a:t>weight</a:t>
            </a:r>
            <a:r>
              <a:rPr lang="ko-KR" altLang="en-US" sz="1400" dirty="0"/>
              <a:t>에 저장</a:t>
            </a:r>
          </a:p>
        </p:txBody>
      </p:sp>
    </p:spTree>
    <p:extLst>
      <p:ext uri="{BB962C8B-B14F-4D97-AF65-F5344CB8AC3E}">
        <p14:creationId xmlns:p14="http://schemas.microsoft.com/office/powerpoint/2010/main" val="2798033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39496-272B-4EF8-9028-4D436A42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4–1 </a:t>
            </a:r>
            <a:r>
              <a:rPr lang="ko-KR" altLang="en-US" dirty="0"/>
              <a:t>이름과 점수를 입력 받아 평균을 출력하는 사례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9F2FEC-9A8C-4A3B-AC4F-148D3FDD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C3AC27-3311-43BC-83DF-DB0941A3B4C1}"/>
              </a:ext>
            </a:extLst>
          </p:cNvPr>
          <p:cNvSpPr/>
          <p:nvPr/>
        </p:nvSpPr>
        <p:spPr>
          <a:xfrm>
            <a:off x="609600" y="1415342"/>
            <a:ext cx="5844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이름과 과목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개의 점수를 입력 받아 이름과 평균을 출력하라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F391A6-4440-4C12-B83B-8302DC9F6210}"/>
              </a:ext>
            </a:extLst>
          </p:cNvPr>
          <p:cNvSpPr/>
          <p:nvPr/>
        </p:nvSpPr>
        <p:spPr>
          <a:xfrm>
            <a:off x="642765" y="2161675"/>
            <a:ext cx="677071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name = input("</a:t>
            </a:r>
            <a:r>
              <a:rPr lang="ko-KR" altLang="en-US" sz="1400" dirty="0"/>
              <a:t>이름을 입력하세요</a:t>
            </a:r>
            <a:r>
              <a:rPr lang="en-US" altLang="ko-KR" sz="1400" dirty="0"/>
              <a:t>&gt;&gt; ")</a:t>
            </a:r>
          </a:p>
          <a:p>
            <a:r>
              <a:rPr lang="en-US" altLang="ko-KR" sz="1400" dirty="0" err="1"/>
              <a:t>eng</a:t>
            </a:r>
            <a:r>
              <a:rPr lang="en-US" altLang="ko-KR" sz="1400" dirty="0"/>
              <a:t> = int(input("</a:t>
            </a:r>
            <a:r>
              <a:rPr lang="ko-KR" altLang="en-US" sz="1400" dirty="0"/>
              <a:t>영어 성적을 입력하세요</a:t>
            </a:r>
            <a:r>
              <a:rPr lang="en-US" altLang="ko-KR" sz="1400" dirty="0"/>
              <a:t>&gt;&gt; "))</a:t>
            </a:r>
          </a:p>
          <a:p>
            <a:r>
              <a:rPr lang="en-US" altLang="ko-KR" sz="1400" dirty="0"/>
              <a:t>history = int(input("</a:t>
            </a:r>
            <a:r>
              <a:rPr lang="ko-KR" altLang="en-US" sz="1400" dirty="0"/>
              <a:t>역사 성적을 입력하세요</a:t>
            </a:r>
            <a:r>
              <a:rPr lang="en-US" altLang="ko-KR" sz="1400" dirty="0"/>
              <a:t>&gt;&gt; "))</a:t>
            </a:r>
          </a:p>
          <a:p>
            <a:r>
              <a:rPr lang="en-US" altLang="ko-KR" sz="1400" dirty="0"/>
              <a:t>print(name, "</a:t>
            </a:r>
            <a:r>
              <a:rPr lang="ko-KR" altLang="en-US" sz="1400" dirty="0"/>
              <a:t>님은 성적 평균은 </a:t>
            </a:r>
            <a:r>
              <a:rPr lang="en-US" altLang="ko-KR" sz="1400" dirty="0"/>
              <a:t>", (</a:t>
            </a:r>
            <a:r>
              <a:rPr lang="en-US" altLang="ko-KR" sz="1400" dirty="0" err="1"/>
              <a:t>eng+history</a:t>
            </a:r>
            <a:r>
              <a:rPr lang="en-US" altLang="ko-KR" sz="1400" dirty="0"/>
              <a:t>)/2, "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CB371F-DB65-478F-974A-049CA948F978}"/>
              </a:ext>
            </a:extLst>
          </p:cNvPr>
          <p:cNvSpPr/>
          <p:nvPr/>
        </p:nvSpPr>
        <p:spPr>
          <a:xfrm>
            <a:off x="642765" y="3295092"/>
            <a:ext cx="6770712" cy="14260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4-1.py</a:t>
            </a:r>
          </a:p>
          <a:p>
            <a:pPr fontAlgn="base"/>
            <a:r>
              <a:rPr lang="ko-KR" altLang="en-US" sz="1400" dirty="0"/>
              <a:t>이름을 입력하세요</a:t>
            </a:r>
            <a:r>
              <a:rPr lang="en-US" altLang="ko-KR" sz="1400" dirty="0"/>
              <a:t>&gt;&gt; </a:t>
            </a:r>
            <a:r>
              <a:rPr lang="ko-KR" altLang="en-US" sz="1400" dirty="0" err="1">
                <a:solidFill>
                  <a:srgbClr val="00B050"/>
                </a:solidFill>
              </a:rPr>
              <a:t>이재문</a:t>
            </a:r>
            <a:endParaRPr lang="ko-KR" altLang="en-US" sz="1400" dirty="0">
              <a:solidFill>
                <a:srgbClr val="00B050"/>
              </a:solidFill>
            </a:endParaRPr>
          </a:p>
          <a:p>
            <a:pPr fontAlgn="base"/>
            <a:r>
              <a:rPr lang="ko-KR" altLang="en-US" sz="1400" dirty="0"/>
              <a:t>영어 성적을 입력하세요</a:t>
            </a:r>
            <a:r>
              <a:rPr lang="en-US" altLang="ko-KR" sz="1400" dirty="0"/>
              <a:t>&gt;&gt; </a:t>
            </a:r>
            <a:r>
              <a:rPr lang="en-US" altLang="ko-KR" sz="1400" dirty="0">
                <a:solidFill>
                  <a:srgbClr val="00B050"/>
                </a:solidFill>
              </a:rPr>
              <a:t>80</a:t>
            </a:r>
          </a:p>
          <a:p>
            <a:pPr fontAlgn="base"/>
            <a:r>
              <a:rPr lang="ko-KR" altLang="en-US" sz="1400" dirty="0"/>
              <a:t>역사 성적을 입력하세요</a:t>
            </a:r>
            <a:r>
              <a:rPr lang="en-US" altLang="ko-KR" sz="1400" dirty="0"/>
              <a:t>&gt;&gt; </a:t>
            </a:r>
            <a:r>
              <a:rPr lang="en-US" altLang="ko-KR" sz="1400" dirty="0">
                <a:solidFill>
                  <a:srgbClr val="00B050"/>
                </a:solidFill>
              </a:rPr>
              <a:t>90</a:t>
            </a:r>
          </a:p>
          <a:p>
            <a:pPr fontAlgn="base"/>
            <a:r>
              <a:rPr lang="ko-KR" altLang="en-US" sz="1400" dirty="0" err="1"/>
              <a:t>이재문</a:t>
            </a:r>
            <a:r>
              <a:rPr lang="ko-KR" altLang="en-US" sz="1400" dirty="0"/>
              <a:t> 님은 성적 평균은 </a:t>
            </a:r>
            <a:r>
              <a:rPr lang="en-US" altLang="ko-KR" sz="1400" dirty="0"/>
              <a:t>85.0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EE88B2-4C86-4E1A-B247-318853815208}"/>
              </a:ext>
            </a:extLst>
          </p:cNvPr>
          <p:cNvSpPr/>
          <p:nvPr/>
        </p:nvSpPr>
        <p:spPr>
          <a:xfrm>
            <a:off x="610439" y="1696423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4-1.py</a:t>
            </a:r>
          </a:p>
        </p:txBody>
      </p:sp>
    </p:spTree>
    <p:extLst>
      <p:ext uri="{BB962C8B-B14F-4D97-AF65-F5344CB8AC3E}">
        <p14:creationId xmlns:p14="http://schemas.microsoft.com/office/powerpoint/2010/main" val="2890160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585F8-9682-410F-91DF-0E30FA79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96D76-ED22-46D9-B419-999B132852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데이터 타입</a:t>
            </a:r>
            <a:r>
              <a:rPr lang="en-US" altLang="ko-KR" dirty="0"/>
              <a:t>(data type)</a:t>
            </a:r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언어로 다룰 수 있는 데이터의 형태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데이터 타입의 종류</a:t>
            </a:r>
            <a:endParaRPr lang="en-US" altLang="ko-KR" dirty="0"/>
          </a:p>
          <a:p>
            <a:pPr lvl="1" fontAlgn="base"/>
            <a:r>
              <a:rPr lang="ko-KR" altLang="en-US" dirty="0"/>
              <a:t>숫자 타입 </a:t>
            </a:r>
            <a:r>
              <a:rPr lang="en-US" altLang="ko-KR" dirty="0"/>
              <a:t>: 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42, 3.14)</a:t>
            </a:r>
            <a:endParaRPr lang="ko-KR" altLang="en-US" dirty="0"/>
          </a:p>
          <a:p>
            <a:pPr lvl="1" fontAlgn="base"/>
            <a:r>
              <a:rPr lang="ko-KR" altLang="en-US" dirty="0"/>
              <a:t>논리 타입 </a:t>
            </a:r>
            <a:r>
              <a:rPr lang="en-US" altLang="ko-KR" dirty="0"/>
              <a:t>: </a:t>
            </a:r>
            <a:r>
              <a:rPr lang="ko-KR" altLang="en-US" dirty="0"/>
              <a:t>참과 거짓을 표현하는 타입으로</a:t>
            </a:r>
            <a:r>
              <a:rPr lang="en-US" altLang="ko-KR" dirty="0"/>
              <a:t>, True, False (true, false</a:t>
            </a:r>
            <a:r>
              <a:rPr lang="ko-KR" altLang="en-US" dirty="0"/>
              <a:t>는 아니므로 주의할 것</a:t>
            </a:r>
            <a:r>
              <a:rPr lang="en-US" altLang="ko-KR" dirty="0"/>
              <a:t>)</a:t>
            </a:r>
            <a:endParaRPr lang="ko-KR" altLang="en-US" dirty="0"/>
          </a:p>
          <a:p>
            <a:pPr lvl="1" fontAlgn="base"/>
            <a:r>
              <a:rPr lang="ko-KR" altLang="en-US" dirty="0"/>
              <a:t>문자열 타입 </a:t>
            </a:r>
            <a:r>
              <a:rPr lang="en-US" altLang="ko-KR" dirty="0"/>
              <a:t>: '</a:t>
            </a:r>
            <a:r>
              <a:rPr lang="ko-KR" altLang="en-US" dirty="0"/>
              <a:t>좋은 세상</a:t>
            </a:r>
            <a:r>
              <a:rPr lang="en-US" altLang="ko-KR" dirty="0"/>
              <a:t>', "a", "365", "2+4"</a:t>
            </a:r>
            <a:endParaRPr lang="ko-KR" altLang="en-US" dirty="0"/>
          </a:p>
          <a:p>
            <a:pPr lvl="1" fontAlgn="base"/>
            <a:r>
              <a:rPr lang="ko-KR" altLang="en-US" dirty="0"/>
              <a:t>객체 레퍼런스 타입 </a:t>
            </a:r>
            <a:r>
              <a:rPr lang="en-US" altLang="ko-KR" dirty="0"/>
              <a:t>: </a:t>
            </a:r>
            <a:r>
              <a:rPr lang="ko-KR" altLang="en-US" dirty="0"/>
              <a:t>객체를 가리킴</a:t>
            </a:r>
            <a:r>
              <a:rPr lang="en-US" altLang="ko-KR" dirty="0"/>
              <a:t>. C </a:t>
            </a:r>
            <a:r>
              <a:rPr lang="ko-KR" altLang="en-US" dirty="0"/>
              <a:t>언어의 포인터와 유사</a:t>
            </a:r>
          </a:p>
          <a:p>
            <a:pPr lvl="1" fontAlgn="base"/>
            <a:r>
              <a:rPr lang="en-US" altLang="ko-KR" dirty="0"/>
              <a:t>None : </a:t>
            </a:r>
            <a:r>
              <a:rPr lang="ko-KR" altLang="en-US" dirty="0"/>
              <a:t>값이 없음을 표시하는 특수 키워드</a:t>
            </a:r>
            <a:r>
              <a:rPr lang="en-US" altLang="ko-KR" dirty="0"/>
              <a:t>, </a:t>
            </a:r>
            <a:r>
              <a:rPr lang="ko-KR" altLang="en-US" dirty="0"/>
              <a:t>다른 언어의 </a:t>
            </a:r>
            <a:r>
              <a:rPr lang="en-US" altLang="ko-KR" dirty="0"/>
              <a:t>NULL, null</a:t>
            </a:r>
            <a:r>
              <a:rPr lang="ko-KR" altLang="en-US" dirty="0"/>
              <a:t>과 유사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AE5E3-FD6A-4A4D-B8EF-A45B15AE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188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0325B-ABAD-489E-92A8-1EB99274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타입 및 변수 선언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ABDDB7-1DD6-44F0-AE3E-450055B481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변수는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프로그램이 실행 중에 데이터를 저장하는 공간이며 반드시 이름을 가짐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변수</a:t>
            </a:r>
            <a:r>
              <a:rPr lang="en-US" altLang="ko-KR" dirty="0"/>
              <a:t>='</a:t>
            </a:r>
            <a:r>
              <a:rPr lang="ko-KR" altLang="en-US" dirty="0"/>
              <a:t>값</a:t>
            </a:r>
            <a:r>
              <a:rPr lang="en-US" altLang="ko-KR" dirty="0"/>
              <a:t>'</a:t>
            </a:r>
            <a:r>
              <a:rPr lang="ko-KR" altLang="en-US" dirty="0"/>
              <a:t>의 방식으로 매우 간단히 변수를 선언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변수 사용</a:t>
            </a:r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77DA3-335E-43D6-97FB-73794948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61FCED-C405-4E8C-9319-4109E811539D}"/>
              </a:ext>
            </a:extLst>
          </p:cNvPr>
          <p:cNvSpPr/>
          <p:nvPr/>
        </p:nvSpPr>
        <p:spPr>
          <a:xfrm>
            <a:off x="971600" y="3214717"/>
            <a:ext cx="70567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age = 21 </a:t>
            </a:r>
            <a:r>
              <a:rPr lang="ko-KR" altLang="en-US" sz="1400" dirty="0"/>
              <a:t>		</a:t>
            </a:r>
            <a:r>
              <a:rPr lang="en-US" altLang="ko-KR" sz="1400" dirty="0"/>
              <a:t># </a:t>
            </a:r>
            <a:r>
              <a:rPr lang="ko-KR" altLang="en-US" sz="1400" dirty="0"/>
              <a:t>변수 </a:t>
            </a:r>
            <a:r>
              <a:rPr lang="en-US" altLang="ko-KR" sz="1400" dirty="0"/>
              <a:t>age</a:t>
            </a:r>
            <a:r>
              <a:rPr lang="ko-KR" altLang="en-US" sz="1400" dirty="0"/>
              <a:t>를 선언하고 </a:t>
            </a:r>
            <a:r>
              <a:rPr lang="en-US" altLang="ko-KR" sz="1400" dirty="0"/>
              <a:t>21</a:t>
            </a:r>
            <a:r>
              <a:rPr lang="ko-KR" altLang="en-US" sz="1400" dirty="0"/>
              <a:t>로 초기화</a:t>
            </a:r>
          </a:p>
          <a:p>
            <a:pPr defTabSz="180000"/>
            <a:r>
              <a:rPr lang="en-US" altLang="ko-KR" sz="1400" dirty="0"/>
              <a:t>score = 10</a:t>
            </a:r>
            <a:r>
              <a:rPr lang="ko-KR" altLang="en-US" sz="1400" dirty="0"/>
              <a:t>		</a:t>
            </a:r>
            <a:r>
              <a:rPr lang="en-US" altLang="ko-KR" sz="1400" dirty="0"/>
              <a:t># </a:t>
            </a:r>
            <a:r>
              <a:rPr lang="ko-KR" altLang="en-US" sz="1400" dirty="0"/>
              <a:t>정상적인 변수 선언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3BA237-759E-4962-8CAC-8F147B81D602}"/>
              </a:ext>
            </a:extLst>
          </p:cNvPr>
          <p:cNvSpPr/>
          <p:nvPr/>
        </p:nvSpPr>
        <p:spPr>
          <a:xfrm>
            <a:off x="971600" y="4509120"/>
            <a:ext cx="7056784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age = age + 1</a:t>
            </a:r>
          </a:p>
          <a:p>
            <a:pPr defTabSz="180000"/>
            <a:r>
              <a:rPr lang="en-US" altLang="ko-KR" sz="1400" dirty="0"/>
              <a:t>score = 90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score = 66.8 </a:t>
            </a:r>
            <a:r>
              <a:rPr lang="ko-KR" altLang="en-US" sz="1400" dirty="0"/>
              <a:t>		</a:t>
            </a:r>
            <a:r>
              <a:rPr lang="en-US" altLang="ko-KR" sz="1400" dirty="0"/>
              <a:t># </a:t>
            </a:r>
            <a:r>
              <a:rPr lang="ko-KR" altLang="en-US" sz="1400" dirty="0"/>
              <a:t>실수도 저장 가능</a:t>
            </a:r>
          </a:p>
          <a:p>
            <a:pPr defTabSz="180000"/>
            <a:r>
              <a:rPr lang="en-US" altLang="ko-KR" sz="1400" dirty="0"/>
              <a:t>score = "high"</a:t>
            </a:r>
            <a:r>
              <a:rPr lang="ko-KR" altLang="en-US" sz="1400" dirty="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문자열로 저장 가능</a:t>
            </a:r>
          </a:p>
        </p:txBody>
      </p:sp>
    </p:spTree>
    <p:extLst>
      <p:ext uri="{BB962C8B-B14F-4D97-AF65-F5344CB8AC3E}">
        <p14:creationId xmlns:p14="http://schemas.microsoft.com/office/powerpoint/2010/main" val="175825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E3BB4-CDF9-47D9-9835-C6923C70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리터럴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BE701-A7F0-475E-B375-E3EB47526D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변수가 데이터 저장 공간의 이름이라면</a:t>
            </a:r>
            <a:r>
              <a:rPr lang="en-US" altLang="ko-KR" dirty="0"/>
              <a:t>, </a:t>
            </a:r>
            <a:r>
              <a:rPr lang="ko-KR" altLang="en-US" dirty="0" err="1"/>
              <a:t>리터럴</a:t>
            </a:r>
            <a:r>
              <a:rPr lang="en-US" altLang="ko-KR" dirty="0"/>
              <a:t>(literal)</a:t>
            </a:r>
            <a:r>
              <a:rPr lang="ko-KR" altLang="en-US" dirty="0"/>
              <a:t>은 데이터 값 그 자체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문자열 </a:t>
            </a:r>
            <a:r>
              <a:rPr lang="ko-KR" altLang="en-US" dirty="0" err="1"/>
              <a:t>리터럴</a:t>
            </a:r>
            <a:endParaRPr lang="en-US" altLang="ko-KR" dirty="0"/>
          </a:p>
          <a:p>
            <a:pPr lvl="1"/>
            <a:r>
              <a:rPr lang="ko-KR" altLang="en-US" dirty="0"/>
              <a:t>단일 인용부호 사용</a:t>
            </a:r>
            <a:r>
              <a:rPr lang="en-US" altLang="ko-KR" dirty="0"/>
              <a:t>: '</a:t>
            </a:r>
            <a:r>
              <a:rPr lang="ko-KR" altLang="en-US" dirty="0" err="1"/>
              <a:t>황기태</a:t>
            </a:r>
            <a:r>
              <a:rPr lang="ko-KR" altLang="en-US" dirty="0"/>
              <a:t>＇</a:t>
            </a:r>
            <a:endParaRPr lang="en-US" altLang="ko-KR" dirty="0"/>
          </a:p>
          <a:p>
            <a:pPr lvl="1"/>
            <a:r>
              <a:rPr lang="ko-KR" altLang="en-US" dirty="0"/>
              <a:t>이중 인용부호 사용</a:t>
            </a:r>
            <a:r>
              <a:rPr lang="en-US" altLang="ko-KR" dirty="0"/>
              <a:t>: "</a:t>
            </a:r>
            <a:r>
              <a:rPr lang="ko-KR" altLang="en-US" dirty="0" err="1"/>
              <a:t>이재문</a:t>
            </a:r>
            <a:r>
              <a:rPr lang="ko-KR" altLang="en-US" dirty="0"/>
              <a:t>＂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5B604-E547-40C2-A3A6-7FC51B9F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897E89-3F06-4E97-B47D-1387A5E64FA9}"/>
              </a:ext>
            </a:extLst>
          </p:cNvPr>
          <p:cNvSpPr/>
          <p:nvPr/>
        </p:nvSpPr>
        <p:spPr>
          <a:xfrm>
            <a:off x="1043608" y="2234481"/>
            <a:ext cx="70567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x = 10 			# x</a:t>
            </a:r>
            <a:r>
              <a:rPr lang="ko-KR" altLang="en-US" sz="1400" dirty="0"/>
              <a:t>는 변수</a:t>
            </a:r>
            <a:r>
              <a:rPr lang="en-US" altLang="ko-KR" sz="1400" dirty="0"/>
              <a:t>, 10</a:t>
            </a:r>
            <a:r>
              <a:rPr lang="ko-KR" altLang="en-US" sz="1400" dirty="0"/>
              <a:t>은 </a:t>
            </a:r>
            <a:r>
              <a:rPr lang="ko-KR" altLang="en-US" sz="1400" dirty="0" err="1"/>
              <a:t>리터럴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9EE331-C514-4B6C-A507-BED3ADF171A8}"/>
              </a:ext>
            </a:extLst>
          </p:cNvPr>
          <p:cNvSpPr/>
          <p:nvPr/>
        </p:nvSpPr>
        <p:spPr>
          <a:xfrm>
            <a:off x="1043608" y="4437112"/>
            <a:ext cx="70567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print("</a:t>
            </a:r>
            <a:r>
              <a:rPr lang="ko-KR" altLang="en-US" sz="1400" dirty="0"/>
              <a:t>그녀는 </a:t>
            </a:r>
            <a:r>
              <a:rPr lang="en-US" altLang="ko-KR" sz="1400" dirty="0"/>
              <a:t>\"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\"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.")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 dirty="0"/>
              <a:t>그녀는 </a:t>
            </a:r>
            <a:r>
              <a:rPr lang="en-US" altLang="ko-KR" sz="1400" dirty="0"/>
              <a:t>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.')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3887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ECC67-11B7-49A2-B42D-A161D3A2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리터럴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FDD3C-9B8B-4832-8BF8-B64EC47CD8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리터럴의</a:t>
            </a:r>
            <a:r>
              <a:rPr lang="ko-KR" altLang="en-US" dirty="0"/>
              <a:t> 종류와 예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E5D9A-56F0-4CD4-BC54-42316D37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AD337C-018A-412C-B0E2-C1F62CDB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96" y="1988840"/>
            <a:ext cx="7581456" cy="348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28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B8A3D-8888-492F-BC09-00745547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4-2 </a:t>
            </a:r>
            <a:r>
              <a:rPr lang="ko-KR" altLang="en-US" dirty="0" err="1"/>
              <a:t>리터럴</a:t>
            </a:r>
            <a:r>
              <a:rPr lang="ko-KR" altLang="en-US" dirty="0"/>
              <a:t> 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D5C97A-6E92-49C5-846A-E10D7638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98BE08-A4F7-4AF4-964C-EBC1BE1D99D9}"/>
              </a:ext>
            </a:extLst>
          </p:cNvPr>
          <p:cNvSpPr/>
          <p:nvPr/>
        </p:nvSpPr>
        <p:spPr>
          <a:xfrm>
            <a:off x="539552" y="1340768"/>
            <a:ext cx="359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파이썬의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다양한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리터럴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사용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CA0772-77E0-49DC-8AD0-03321F0EC50E}"/>
              </a:ext>
            </a:extLst>
          </p:cNvPr>
          <p:cNvSpPr/>
          <p:nvPr/>
        </p:nvSpPr>
        <p:spPr>
          <a:xfrm>
            <a:off x="536205" y="2137684"/>
            <a:ext cx="7488832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oct = 0o15 # 0o15</a:t>
            </a:r>
            <a:r>
              <a:rPr lang="ko-KR" altLang="en-US" sz="1400" dirty="0"/>
              <a:t>는 </a:t>
            </a:r>
            <a:r>
              <a:rPr lang="en-US" altLang="ko-KR" sz="1400" dirty="0"/>
              <a:t>8</a:t>
            </a:r>
            <a:r>
              <a:rPr lang="ko-KR" altLang="en-US" sz="1400" dirty="0"/>
              <a:t>진수 </a:t>
            </a:r>
            <a:r>
              <a:rPr lang="en-US" altLang="ko-KR" sz="1400" dirty="0"/>
              <a:t>15 -&gt; 10</a:t>
            </a:r>
            <a:r>
              <a:rPr lang="ko-KR" altLang="en-US" sz="1400" dirty="0"/>
              <a:t>진수로 </a:t>
            </a:r>
            <a:r>
              <a:rPr lang="en-US" altLang="ko-KR" sz="1400" dirty="0"/>
              <a:t>13</a:t>
            </a:r>
          </a:p>
          <a:p>
            <a:r>
              <a:rPr lang="en-US" altLang="ko-KR" sz="1400" dirty="0"/>
              <a:t>hex = 0x15 # 0x14</a:t>
            </a:r>
            <a:r>
              <a:rPr lang="ko-KR" altLang="en-US" sz="1400" dirty="0"/>
              <a:t>는 </a:t>
            </a:r>
            <a:r>
              <a:rPr lang="en-US" altLang="ko-KR" sz="1400" dirty="0"/>
              <a:t>16</a:t>
            </a:r>
            <a:r>
              <a:rPr lang="ko-KR" altLang="en-US" sz="1400" dirty="0"/>
              <a:t>진수 </a:t>
            </a:r>
            <a:r>
              <a:rPr lang="en-US" altLang="ko-KR" sz="1400" dirty="0"/>
              <a:t>15 -&gt; 10</a:t>
            </a:r>
            <a:r>
              <a:rPr lang="ko-KR" altLang="en-US" sz="1400" dirty="0"/>
              <a:t>진수로 </a:t>
            </a:r>
            <a:r>
              <a:rPr lang="en-US" altLang="ko-KR" sz="1400" dirty="0"/>
              <a:t>21</a:t>
            </a:r>
          </a:p>
          <a:p>
            <a:r>
              <a:rPr lang="en-US" altLang="ko-KR" sz="1400" dirty="0"/>
              <a:t>condition = True # </a:t>
            </a:r>
            <a:r>
              <a:rPr lang="ko-KR" altLang="en-US" sz="1400" dirty="0"/>
              <a:t>소문자 </a:t>
            </a:r>
            <a:r>
              <a:rPr lang="en-US" altLang="ko-KR" sz="1400" dirty="0"/>
              <a:t>true</a:t>
            </a:r>
            <a:r>
              <a:rPr lang="ko-KR" altLang="en-US" sz="1400" dirty="0"/>
              <a:t>로 하면 안 됨</a:t>
            </a:r>
          </a:p>
          <a:p>
            <a:r>
              <a:rPr lang="en-US" altLang="ko-KR" sz="1400" dirty="0"/>
              <a:t>print("8</a:t>
            </a:r>
            <a:r>
              <a:rPr lang="ko-KR" altLang="en-US" sz="1400" dirty="0"/>
              <a:t>진수 </a:t>
            </a:r>
            <a:r>
              <a:rPr lang="en-US" altLang="ko-KR" sz="1400" dirty="0"/>
              <a:t>0o15</a:t>
            </a:r>
            <a:r>
              <a:rPr lang="ko-KR" altLang="en-US" sz="1400" dirty="0"/>
              <a:t>는 십진수로 </a:t>
            </a:r>
            <a:r>
              <a:rPr lang="en-US" altLang="ko-KR" sz="1400" dirty="0"/>
              <a:t>%d" % oct)</a:t>
            </a:r>
          </a:p>
          <a:p>
            <a:r>
              <a:rPr lang="en-US" altLang="ko-KR" sz="1400" dirty="0"/>
              <a:t>print("16</a:t>
            </a:r>
            <a:r>
              <a:rPr lang="ko-KR" altLang="en-US" sz="1400" dirty="0"/>
              <a:t>진수 </a:t>
            </a:r>
            <a:r>
              <a:rPr lang="en-US" altLang="ko-KR" sz="1400" dirty="0"/>
              <a:t>0x15</a:t>
            </a:r>
            <a:r>
              <a:rPr lang="ko-KR" altLang="en-US" sz="1400" dirty="0"/>
              <a:t>는 십진수로 </a:t>
            </a:r>
            <a:r>
              <a:rPr lang="en-US" altLang="ko-KR" sz="1400" dirty="0"/>
              <a:t>%d" % hex)</a:t>
            </a:r>
          </a:p>
          <a:p>
            <a:r>
              <a:rPr lang="en-US" altLang="ko-KR" sz="1400" dirty="0"/>
              <a:t>print("condition</a:t>
            </a:r>
            <a:r>
              <a:rPr lang="ko-KR" altLang="en-US" sz="1400" dirty="0"/>
              <a:t>은 </a:t>
            </a:r>
            <a:r>
              <a:rPr lang="en-US" altLang="ko-KR" sz="1400" dirty="0"/>
              <a:t>"</a:t>
            </a:r>
            <a:r>
              <a:rPr lang="ko-KR" altLang="en-US" sz="1400" dirty="0"/>
              <a:t> </a:t>
            </a:r>
            <a:r>
              <a:rPr lang="en-US" altLang="ko-KR" sz="1400" dirty="0"/>
              <a:t>+ str(condition))</a:t>
            </a:r>
          </a:p>
          <a:p>
            <a:r>
              <a:rPr lang="en-US" altLang="ko-KR" sz="1400" dirty="0"/>
              <a:t>print('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: </a:t>
            </a:r>
            <a:r>
              <a:rPr lang="ko-KR" altLang="en-US" sz="1400" dirty="0"/>
              <a:t>단일인용부호로도 표현</a:t>
            </a:r>
            <a:r>
              <a:rPr lang="en-US" altLang="ko-KR" sz="1400" dirty="0"/>
              <a:t>')</a:t>
            </a:r>
          </a:p>
          <a:p>
            <a:r>
              <a:rPr lang="en-US" altLang="ko-KR" sz="1400" dirty="0"/>
              <a:t>print("</a:t>
            </a:r>
            <a:r>
              <a:rPr lang="ko-KR" altLang="en-US" sz="1400" dirty="0"/>
              <a:t>그녀는 </a:t>
            </a:r>
            <a:r>
              <a:rPr lang="en-US" altLang="ko-KR" sz="1400" dirty="0"/>
              <a:t>\"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\"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.")</a:t>
            </a:r>
          </a:p>
          <a:p>
            <a:r>
              <a:rPr lang="en-US" altLang="ko-KR" sz="1400" dirty="0"/>
              <a:t>print('</a:t>
            </a:r>
            <a:r>
              <a:rPr lang="ko-KR" altLang="en-US" sz="1400" dirty="0"/>
              <a:t>그녀는 </a:t>
            </a:r>
            <a:r>
              <a:rPr lang="en-US" altLang="ko-KR" sz="1400" dirty="0"/>
              <a:t>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.')</a:t>
            </a:r>
            <a:endParaRPr lang="ko-KR" altLang="en-US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48CA53-E79E-478B-86EF-10EB1394BB8A}"/>
              </a:ext>
            </a:extLst>
          </p:cNvPr>
          <p:cNvSpPr/>
          <p:nvPr/>
        </p:nvSpPr>
        <p:spPr>
          <a:xfrm>
            <a:off x="536205" y="4293096"/>
            <a:ext cx="7488832" cy="18722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4-2.py</a:t>
            </a:r>
          </a:p>
          <a:p>
            <a:pPr fontAlgn="base"/>
            <a:r>
              <a:rPr lang="en-US" altLang="ko-KR" sz="1400" dirty="0"/>
              <a:t>8</a:t>
            </a:r>
            <a:r>
              <a:rPr lang="ko-KR" altLang="en-US" sz="1400" dirty="0"/>
              <a:t>진수 </a:t>
            </a:r>
            <a:r>
              <a:rPr lang="en-US" altLang="ko-KR" sz="1400" dirty="0"/>
              <a:t>0o15</a:t>
            </a:r>
            <a:r>
              <a:rPr lang="ko-KR" altLang="en-US" sz="1400" dirty="0"/>
              <a:t>는 십진수로 </a:t>
            </a:r>
            <a:r>
              <a:rPr lang="en-US" altLang="ko-KR" sz="1400" dirty="0"/>
              <a:t>13</a:t>
            </a:r>
          </a:p>
          <a:p>
            <a:pPr fontAlgn="base"/>
            <a:r>
              <a:rPr lang="en-US" altLang="ko-KR" sz="1400" dirty="0"/>
              <a:t>16</a:t>
            </a:r>
            <a:r>
              <a:rPr lang="ko-KR" altLang="en-US" sz="1400" dirty="0"/>
              <a:t>진수 </a:t>
            </a:r>
            <a:r>
              <a:rPr lang="en-US" altLang="ko-KR" sz="1400" dirty="0"/>
              <a:t>0x15</a:t>
            </a:r>
            <a:r>
              <a:rPr lang="ko-KR" altLang="en-US" sz="1400" dirty="0"/>
              <a:t>는 십진수로 </a:t>
            </a:r>
            <a:r>
              <a:rPr lang="en-US" altLang="ko-KR" sz="1400" dirty="0"/>
              <a:t>21</a:t>
            </a:r>
          </a:p>
          <a:p>
            <a:pPr fontAlgn="base"/>
            <a:r>
              <a:rPr lang="en-US" altLang="ko-KR" sz="1400" dirty="0"/>
              <a:t>condition</a:t>
            </a:r>
            <a:r>
              <a:rPr lang="ko-KR" altLang="en-US" sz="1400" dirty="0"/>
              <a:t>은 </a:t>
            </a:r>
            <a:r>
              <a:rPr lang="en-US" altLang="ko-KR" sz="1400" dirty="0"/>
              <a:t>True</a:t>
            </a:r>
          </a:p>
          <a:p>
            <a:pPr fontAlgn="base"/>
            <a:r>
              <a:rPr lang="ko-KR" altLang="en-US" sz="1400" dirty="0"/>
              <a:t>문자열 </a:t>
            </a:r>
            <a:r>
              <a:rPr lang="en-US" altLang="ko-KR" sz="1400" dirty="0"/>
              <a:t>: </a:t>
            </a:r>
            <a:r>
              <a:rPr lang="ko-KR" altLang="en-US" sz="1400" dirty="0"/>
              <a:t>단일인용부호로도 표현</a:t>
            </a:r>
          </a:p>
          <a:p>
            <a:pPr fontAlgn="base"/>
            <a:r>
              <a:rPr lang="ko-KR" altLang="en-US" sz="1400" dirty="0"/>
              <a:t>그녀는 </a:t>
            </a:r>
            <a:r>
              <a:rPr lang="en-US" altLang="ko-KR" sz="1400" dirty="0"/>
              <a:t>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ko-KR" altLang="en-US" sz="1400" dirty="0"/>
              <a:t>그녀는 </a:t>
            </a:r>
            <a:r>
              <a:rPr lang="en-US" altLang="ko-KR" sz="1400" dirty="0"/>
              <a:t>"</a:t>
            </a:r>
            <a:r>
              <a:rPr lang="ko-KR" altLang="en-US" sz="1400" dirty="0"/>
              <a:t>누구세요</a:t>
            </a:r>
            <a:r>
              <a:rPr lang="en-US" altLang="ko-KR" sz="1400" dirty="0"/>
              <a:t>"</a:t>
            </a:r>
            <a:r>
              <a:rPr lang="ko-KR" altLang="en-US" sz="1400" dirty="0"/>
              <a:t>라고 했습니다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2A26E-F92B-40A6-AE79-AECBD7B37851}"/>
              </a:ext>
            </a:extLst>
          </p:cNvPr>
          <p:cNvSpPr/>
          <p:nvPr/>
        </p:nvSpPr>
        <p:spPr>
          <a:xfrm>
            <a:off x="568163" y="1700808"/>
            <a:ext cx="835485" cy="4750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4-2.py</a:t>
            </a:r>
          </a:p>
        </p:txBody>
      </p:sp>
    </p:spTree>
    <p:extLst>
      <p:ext uri="{BB962C8B-B14F-4D97-AF65-F5344CB8AC3E}">
        <p14:creationId xmlns:p14="http://schemas.microsoft.com/office/powerpoint/2010/main" val="1303282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1964-59BA-499E-8DDE-BC5F3F1F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FF2D4-EE49-4C31-B2F6-FB23B6F9D2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상수</a:t>
            </a:r>
            <a:endParaRPr lang="en-US" altLang="ko-KR"/>
          </a:p>
          <a:p>
            <a:pPr lvl="1"/>
            <a:r>
              <a:rPr lang="ko-KR" altLang="en-US"/>
              <a:t>프로그램 </a:t>
            </a:r>
            <a:r>
              <a:rPr lang="ko-KR" altLang="en-US" dirty="0"/>
              <a:t>실행 동안 고정된 값을 </a:t>
            </a:r>
            <a:r>
              <a:rPr lang="ko-KR" altLang="en-US"/>
              <a:t>가지는 이름</a:t>
            </a:r>
            <a:endParaRPr lang="ko-KR" altLang="en-US" dirty="0"/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상수를 </a:t>
            </a:r>
            <a:r>
              <a:rPr lang="ko-KR" altLang="en-US"/>
              <a:t>지원하지 않음</a:t>
            </a:r>
            <a:endParaRPr lang="en-US" altLang="ko-KR"/>
          </a:p>
          <a:p>
            <a:pPr lvl="1"/>
            <a:r>
              <a:rPr lang="ko-KR" altLang="en-US"/>
              <a:t>개발자 </a:t>
            </a:r>
            <a:r>
              <a:rPr lang="ko-KR" altLang="en-US" dirty="0"/>
              <a:t>스스로 변수에 </a:t>
            </a:r>
            <a:r>
              <a:rPr lang="ko-KR" altLang="en-US" dirty="0" err="1"/>
              <a:t>초깃값을</a:t>
            </a:r>
            <a:r>
              <a:rPr lang="ko-KR" altLang="en-US" dirty="0"/>
              <a:t> 저장한 이후 값을 바꾸지 않는 </a:t>
            </a:r>
            <a:r>
              <a:rPr lang="ko-KR" altLang="en-US"/>
              <a:t>방식으로 활용</a:t>
            </a:r>
            <a:endParaRPr lang="en-US" altLang="ko-KR"/>
          </a:p>
          <a:p>
            <a:pPr lvl="1"/>
            <a:r>
              <a:rPr lang="ko-KR" altLang="en-US"/>
              <a:t>일반적으로 대문자로만 상수명을 지음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2E925-C9F5-43A7-8DC3-22807FBE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3139A5-FE4F-45A5-8D76-79237D1DF697}"/>
              </a:ext>
            </a:extLst>
          </p:cNvPr>
          <p:cNvSpPr/>
          <p:nvPr/>
        </p:nvSpPr>
        <p:spPr>
          <a:xfrm>
            <a:off x="1331640" y="3789040"/>
            <a:ext cx="6624736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PI = 3.14</a:t>
            </a:r>
          </a:p>
          <a:p>
            <a:pPr defTabSz="180000"/>
            <a:r>
              <a:rPr lang="en-US" altLang="ko-KR" sz="1400" dirty="0"/>
              <a:t>GRAVITY = 9.8</a:t>
            </a:r>
          </a:p>
          <a:p>
            <a:pPr defTabSz="180000"/>
            <a:r>
              <a:rPr lang="en-US" altLang="ko-KR" sz="1400" dirty="0"/>
              <a:t>UNIT = 1000</a:t>
            </a:r>
          </a:p>
          <a:p>
            <a:pPr defTabSz="180000"/>
            <a:r>
              <a:rPr lang="en-US" altLang="ko-KR" sz="1400" dirty="0"/>
              <a:t>area = PI*3*3 # </a:t>
            </a:r>
            <a:r>
              <a:rPr lang="ko-KR" altLang="en-US" sz="1400" dirty="0"/>
              <a:t>반지름이 </a:t>
            </a:r>
            <a:r>
              <a:rPr lang="en-US" altLang="ko-KR" sz="1400" dirty="0"/>
              <a:t>3</a:t>
            </a:r>
            <a:r>
              <a:rPr lang="ko-KR" altLang="en-US" sz="1400" dirty="0"/>
              <a:t>인 원의 면적</a:t>
            </a:r>
          </a:p>
        </p:txBody>
      </p:sp>
    </p:spTree>
    <p:extLst>
      <p:ext uri="{BB962C8B-B14F-4D97-AF65-F5344CB8AC3E}">
        <p14:creationId xmlns:p14="http://schemas.microsoft.com/office/powerpoint/2010/main" val="1290036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0A40E-4198-420A-A82F-E001681C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74CF3-3FDA-4C26-9CE8-AEBFC47781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하나의 데이터 형의 데이터를 다른 데이터 형의 데이터로 변환</a:t>
            </a:r>
            <a:endParaRPr lang="en-US" altLang="ko-KR" dirty="0"/>
          </a:p>
          <a:p>
            <a:pPr lvl="1"/>
            <a:r>
              <a:rPr lang="ko-KR" altLang="en-US" dirty="0"/>
              <a:t>문자열 </a:t>
            </a:r>
            <a:r>
              <a:rPr lang="en-US" altLang="ko-KR" dirty="0"/>
              <a:t>"10"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정수 </a:t>
            </a:r>
            <a:r>
              <a:rPr lang="en-US" altLang="ko-KR" dirty="0">
                <a:sym typeface="Wingdings" panose="05000000000000000000" pitchFamily="2" charset="2"/>
              </a:rPr>
              <a:t>10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A4B31-831D-4AAA-B69F-2CDC99EF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347CA8-B8F6-4FF4-916F-731BA90C4484}"/>
              </a:ext>
            </a:extLst>
          </p:cNvPr>
          <p:cNvSpPr/>
          <p:nvPr/>
        </p:nvSpPr>
        <p:spPr>
          <a:xfrm>
            <a:off x="1163594" y="2690336"/>
            <a:ext cx="727280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total = int("10") + 20 #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"10"</a:t>
            </a:r>
            <a:r>
              <a:rPr lang="ko-KR" altLang="en-US" sz="1400" dirty="0"/>
              <a:t>을 </a:t>
            </a:r>
            <a:r>
              <a:rPr lang="en-US" altLang="ko-KR" sz="1400" dirty="0"/>
              <a:t>10</a:t>
            </a:r>
            <a:r>
              <a:rPr lang="ko-KR" altLang="en-US" sz="1400" dirty="0"/>
              <a:t>으로 변환하고 </a:t>
            </a:r>
            <a:r>
              <a:rPr lang="en-US" altLang="ko-KR" sz="1400" dirty="0"/>
              <a:t>20</a:t>
            </a:r>
            <a:r>
              <a:rPr lang="ko-KR" altLang="en-US" sz="1400" dirty="0"/>
              <a:t>을 더해 </a:t>
            </a:r>
            <a:r>
              <a:rPr lang="en-US" altLang="ko-KR" sz="1400" dirty="0"/>
              <a:t>30</a:t>
            </a:r>
            <a:r>
              <a:rPr lang="ko-KR" altLang="en-US" sz="1400" dirty="0"/>
              <a:t>을 </a:t>
            </a:r>
            <a:r>
              <a:rPr lang="en-US" altLang="ko-KR" sz="1400" dirty="0"/>
              <a:t>total</a:t>
            </a:r>
            <a:r>
              <a:rPr lang="ko-KR" altLang="en-US" sz="1400" dirty="0"/>
              <a:t>에 저장</a:t>
            </a:r>
          </a:p>
          <a:p>
            <a:r>
              <a:rPr lang="en-US" altLang="ko-KR" sz="1400" dirty="0"/>
              <a:t>msg = "</a:t>
            </a:r>
            <a:r>
              <a:rPr lang="ko-KR" altLang="en-US" sz="1400" dirty="0"/>
              <a:t>가격은 </a:t>
            </a:r>
            <a:r>
              <a:rPr lang="en-US" altLang="ko-KR" sz="1400" dirty="0"/>
              <a:t>"</a:t>
            </a:r>
            <a:r>
              <a:rPr lang="ko-KR" altLang="en-US" sz="1400" dirty="0"/>
              <a:t> </a:t>
            </a:r>
            <a:r>
              <a:rPr lang="en-US" altLang="ko-KR" sz="1400" dirty="0"/>
              <a:t>+ str(total) # total</a:t>
            </a:r>
            <a:r>
              <a:rPr lang="ko-KR" altLang="en-US" sz="1400" dirty="0"/>
              <a:t>에 저장된 </a:t>
            </a:r>
            <a:r>
              <a:rPr lang="en-US" altLang="ko-KR" sz="1400" dirty="0"/>
              <a:t>30</a:t>
            </a:r>
            <a:r>
              <a:rPr lang="ko-KR" altLang="en-US" sz="1400" dirty="0"/>
              <a:t>을 </a:t>
            </a:r>
            <a:r>
              <a:rPr lang="en-US" altLang="ko-KR" sz="1400" dirty="0"/>
              <a:t>"30"</a:t>
            </a:r>
            <a:r>
              <a:rPr lang="ko-KR" altLang="en-US" sz="1400" dirty="0"/>
              <a:t>으로 변환하여</a:t>
            </a:r>
            <a:r>
              <a:rPr lang="en-US" altLang="ko-KR" sz="1400" dirty="0"/>
              <a:t>, msg </a:t>
            </a:r>
            <a:r>
              <a:rPr lang="ko-KR" altLang="en-US" sz="1400" dirty="0"/>
              <a:t>변수에 </a:t>
            </a:r>
            <a:r>
              <a:rPr lang="en-US" altLang="ko-KR" sz="1400" dirty="0"/>
              <a:t>"</a:t>
            </a:r>
            <a:r>
              <a:rPr lang="ko-KR" altLang="en-US" sz="1400" dirty="0"/>
              <a:t>가격은 </a:t>
            </a:r>
            <a:r>
              <a:rPr lang="en-US" altLang="ko-KR" sz="1400" dirty="0"/>
              <a:t>30"</a:t>
            </a:r>
            <a:r>
              <a:rPr lang="ko-KR" altLang="en-US" sz="1400" dirty="0"/>
              <a:t>이 저장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44E284-FCC6-4E57-B093-AAE8F31B291E}"/>
              </a:ext>
            </a:extLst>
          </p:cNvPr>
          <p:cNvSpPr/>
          <p:nvPr/>
        </p:nvSpPr>
        <p:spPr>
          <a:xfrm>
            <a:off x="1163594" y="3815927"/>
            <a:ext cx="727280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m = int("10.5") #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"10.5"</a:t>
            </a:r>
            <a:r>
              <a:rPr lang="ko-KR" altLang="en-US" sz="1400" dirty="0"/>
              <a:t>를 정수로 바꿀 수 없어 </a:t>
            </a:r>
            <a:r>
              <a:rPr lang="ko-KR" altLang="en-US" sz="1400" dirty="0">
                <a:solidFill>
                  <a:srgbClr val="FF0000"/>
                </a:solidFill>
              </a:rPr>
              <a:t>오류</a:t>
            </a:r>
            <a:r>
              <a:rPr lang="ko-KR" altLang="en-US" sz="1400" dirty="0"/>
              <a:t> 발생</a:t>
            </a:r>
          </a:p>
          <a:p>
            <a:r>
              <a:rPr lang="en-US" altLang="ko-KR" sz="1400" dirty="0"/>
              <a:t>n = int(10.5) # </a:t>
            </a:r>
            <a:r>
              <a:rPr lang="ko-KR" altLang="en-US" sz="1400" dirty="0"/>
              <a:t>실수 </a:t>
            </a:r>
            <a:r>
              <a:rPr lang="en-US" altLang="ko-KR" sz="1400" dirty="0"/>
              <a:t>10.5</a:t>
            </a:r>
            <a:r>
              <a:rPr lang="ko-KR" altLang="en-US" sz="1400" dirty="0"/>
              <a:t>를 </a:t>
            </a:r>
            <a:r>
              <a:rPr lang="en-US" altLang="ko-KR" sz="1400" dirty="0"/>
              <a:t>10</a:t>
            </a:r>
            <a:r>
              <a:rPr lang="ko-KR" altLang="en-US" sz="1400" dirty="0"/>
              <a:t>으로 바꿀 수 있어 오류 아님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E1F6A-3732-45F3-BA4B-01189299BC90}"/>
              </a:ext>
            </a:extLst>
          </p:cNvPr>
          <p:cNvSpPr txBox="1"/>
          <p:nvPr/>
        </p:nvSpPr>
        <p:spPr>
          <a:xfrm>
            <a:off x="524675" y="3541803"/>
            <a:ext cx="533400" cy="289441"/>
          </a:xfrm>
          <a:prstGeom prst="wedgeRoundRectCallout">
            <a:avLst>
              <a:gd name="adj1" fmla="val 75446"/>
              <a:gd name="adj2" fmla="val 1063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ko-KR" altLang="en-US" dirty="0"/>
              <a:t>오류</a:t>
            </a:r>
          </a:p>
        </p:txBody>
      </p:sp>
    </p:spTree>
    <p:extLst>
      <p:ext uri="{BB962C8B-B14F-4D97-AF65-F5344CB8AC3E}">
        <p14:creationId xmlns:p14="http://schemas.microsoft.com/office/powerpoint/2010/main" val="3678249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18C90-2334-4498-A7ED-BF85D7E3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913DF-7F9A-4304-B614-9D81FCEE28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데이터 형 변환 함수들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C31BD-B89E-4DCF-8B8A-0798B2E6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3AA866-30D0-4DD9-8529-725ACA33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916832"/>
            <a:ext cx="7812360" cy="22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33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3048C-2776-44CF-8E50-186CC373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4-3 </a:t>
            </a:r>
            <a:r>
              <a:rPr lang="ko-KR" altLang="en-US" dirty="0"/>
              <a:t>형 변환 함수 활용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AEBD01-DCEC-4ADD-BEAE-B8664824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5D71E8-FA5D-430D-A66C-91BADDCCE7B1}"/>
              </a:ext>
            </a:extLst>
          </p:cNvPr>
          <p:cNvSpPr/>
          <p:nvPr/>
        </p:nvSpPr>
        <p:spPr>
          <a:xfrm>
            <a:off x="503031" y="1450858"/>
            <a:ext cx="5453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파이썬의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다양한 형 변환 함수를 사용하는 방법을 보인다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D23AFF-ABD0-4625-B46B-1D53D122A29B}"/>
              </a:ext>
            </a:extLst>
          </p:cNvPr>
          <p:cNvSpPr/>
          <p:nvPr/>
        </p:nvSpPr>
        <p:spPr>
          <a:xfrm>
            <a:off x="609601" y="2197893"/>
            <a:ext cx="7490792" cy="246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ten = int("10") 		# ten = 10</a:t>
            </a:r>
            <a:r>
              <a:rPr lang="ko-KR" altLang="en-US" sz="1400" dirty="0"/>
              <a:t>과 같은 결과</a:t>
            </a:r>
          </a:p>
          <a:p>
            <a:r>
              <a:rPr lang="en-US" altLang="ko-KR" sz="1400" dirty="0"/>
              <a:t>twenty = int(20.5) 		# twenty = 20</a:t>
            </a:r>
            <a:r>
              <a:rPr lang="ko-KR" altLang="en-US" sz="1400" dirty="0"/>
              <a:t>과 같은 결과</a:t>
            </a:r>
          </a:p>
          <a:p>
            <a:r>
              <a:rPr lang="en-US" altLang="ko-KR" sz="1400" dirty="0"/>
              <a:t>text1 = str(30) 		# text1 = "30"</a:t>
            </a:r>
            <a:r>
              <a:rPr lang="ko-KR" altLang="en-US" sz="1400" dirty="0"/>
              <a:t>과 같은 결과</a:t>
            </a:r>
          </a:p>
          <a:p>
            <a:r>
              <a:rPr lang="en-US" altLang="ko-KR" sz="1400" dirty="0"/>
              <a:t>text2 = str(40.5) 		# text2 = "40.5"</a:t>
            </a:r>
          </a:p>
          <a:p>
            <a:r>
              <a:rPr lang="en-US" altLang="ko-KR" sz="1400" dirty="0"/>
              <a:t>a = </a:t>
            </a:r>
            <a:r>
              <a:rPr lang="en-US" altLang="ko-KR" sz="1400" dirty="0" err="1"/>
              <a:t>chr</a:t>
            </a:r>
            <a:r>
              <a:rPr lang="en-US" altLang="ko-KR" sz="1400" dirty="0"/>
              <a:t>(65) 		# a = "A"</a:t>
            </a:r>
            <a:r>
              <a:rPr lang="ko-KR" altLang="en-US" sz="1400" dirty="0"/>
              <a:t>와 같은 결과</a:t>
            </a:r>
            <a:r>
              <a:rPr lang="en-US" altLang="ko-KR" sz="1400" dirty="0"/>
              <a:t>. 65</a:t>
            </a:r>
            <a:r>
              <a:rPr lang="ko-KR" altLang="en-US" sz="1400" dirty="0"/>
              <a:t>는 문자 </a:t>
            </a:r>
            <a:r>
              <a:rPr lang="en-US" altLang="ko-KR" sz="1400" dirty="0"/>
              <a:t>A</a:t>
            </a:r>
            <a:r>
              <a:rPr lang="ko-KR" altLang="en-US" sz="1400" dirty="0"/>
              <a:t>에 대한 </a:t>
            </a:r>
            <a:r>
              <a:rPr lang="en-US" altLang="ko-KR" sz="1400" dirty="0"/>
              <a:t>ASCII </a:t>
            </a:r>
            <a:r>
              <a:rPr lang="ko-KR" altLang="en-US" sz="1400" dirty="0"/>
              <a:t>코드</a:t>
            </a:r>
          </a:p>
          <a:p>
            <a:r>
              <a:rPr lang="en-US" altLang="ko-KR" sz="1400" dirty="0"/>
              <a:t>b = </a:t>
            </a:r>
            <a:r>
              <a:rPr lang="en-US" altLang="ko-KR" sz="1400" dirty="0" err="1"/>
              <a:t>ord</a:t>
            </a:r>
            <a:r>
              <a:rPr lang="en-US" altLang="ko-KR" sz="1400" dirty="0"/>
              <a:t>("A") 		# b = 65</a:t>
            </a:r>
            <a:r>
              <a:rPr lang="ko-KR" altLang="en-US" sz="1400" dirty="0"/>
              <a:t>와 같은 결과</a:t>
            </a:r>
            <a:r>
              <a:rPr lang="en-US" altLang="ko-KR" sz="1400" dirty="0"/>
              <a:t>. </a:t>
            </a:r>
            <a:r>
              <a:rPr lang="ko-KR" altLang="en-US" sz="1400" dirty="0"/>
              <a:t>문자 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en-US" altLang="ko-KR" sz="1400" dirty="0"/>
              <a:t>ASCII </a:t>
            </a:r>
            <a:r>
              <a:rPr lang="ko-KR" altLang="en-US" sz="1400" dirty="0"/>
              <a:t>코드는 </a:t>
            </a:r>
            <a:r>
              <a:rPr lang="en-US" altLang="ko-KR" sz="1400" dirty="0"/>
              <a:t>65</a:t>
            </a:r>
          </a:p>
          <a:p>
            <a:r>
              <a:rPr lang="en-US" altLang="ko-KR" sz="1400" dirty="0"/>
              <a:t>c = bool(0) 		# c = False</a:t>
            </a:r>
            <a:r>
              <a:rPr lang="ko-KR" altLang="en-US" sz="1400" dirty="0"/>
              <a:t>와 같은 결과</a:t>
            </a:r>
          </a:p>
          <a:p>
            <a:r>
              <a:rPr lang="en-US" altLang="ko-KR" sz="1400" dirty="0"/>
              <a:t>d = bool("True") 		# d = True</a:t>
            </a:r>
            <a:r>
              <a:rPr lang="ko-KR" altLang="en-US" sz="1400" dirty="0"/>
              <a:t>와 같은 결과</a:t>
            </a:r>
          </a:p>
          <a:p>
            <a:r>
              <a:rPr lang="en-US" altLang="ko-KR" sz="1400" dirty="0"/>
              <a:t>print("ten=%d, twenty=%d" % (ten, twenty))</a:t>
            </a:r>
          </a:p>
          <a:p>
            <a:r>
              <a:rPr lang="en-US" altLang="ko-KR" sz="1400" dirty="0"/>
              <a:t>print("text1=%s, text2=%s" % (text1, text2))</a:t>
            </a:r>
          </a:p>
          <a:p>
            <a:r>
              <a:rPr lang="en-US" altLang="ko-KR" sz="1400" dirty="0"/>
              <a:t>print("a=%s, b=%d, c=%d, d=%d" % (a, b, c, d))</a:t>
            </a:r>
            <a:endParaRPr lang="en-US" altLang="ko-KR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1E78E9-2833-4652-9FE3-363C911DE9DE}"/>
              </a:ext>
            </a:extLst>
          </p:cNvPr>
          <p:cNvSpPr/>
          <p:nvPr/>
        </p:nvSpPr>
        <p:spPr>
          <a:xfrm>
            <a:off x="609601" y="4941169"/>
            <a:ext cx="7490792" cy="122413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4-3.py</a:t>
            </a:r>
          </a:p>
          <a:p>
            <a:pPr fontAlgn="base"/>
            <a:r>
              <a:rPr lang="en-US" altLang="ko-KR" sz="1400" dirty="0"/>
              <a:t>ten=10, twenty=20</a:t>
            </a:r>
          </a:p>
          <a:p>
            <a:pPr fontAlgn="base"/>
            <a:r>
              <a:rPr lang="en-US" altLang="ko-KR" sz="1400" dirty="0"/>
              <a:t>text1=30, text2=40.5</a:t>
            </a:r>
          </a:p>
          <a:p>
            <a:pPr fontAlgn="base"/>
            <a:r>
              <a:rPr lang="pt-BR" altLang="ko-KR" sz="1400" dirty="0"/>
              <a:t>a=A, b=65, c=0, d=1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D03A70-5D4A-48B2-88D6-6D18781E7600}"/>
              </a:ext>
            </a:extLst>
          </p:cNvPr>
          <p:cNvSpPr/>
          <p:nvPr/>
        </p:nvSpPr>
        <p:spPr>
          <a:xfrm>
            <a:off x="506163" y="1772816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4-3.py</a:t>
            </a:r>
          </a:p>
        </p:txBody>
      </p:sp>
    </p:spTree>
    <p:extLst>
      <p:ext uri="{BB962C8B-B14F-4D97-AF65-F5344CB8AC3E}">
        <p14:creationId xmlns:p14="http://schemas.microsoft.com/office/powerpoint/2010/main" val="2783092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1050A0-D0DD-417D-B05F-AB4B3FC37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8F973F0-B4F7-487A-A77B-07AD7511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</a:t>
            </a:r>
            <a:r>
              <a:rPr lang="ko-KR" altLang="en-US"/>
              <a:t>연산자와 </a:t>
            </a:r>
            <a:r>
              <a:rPr lang="ko-KR" altLang="en-US" dirty="0"/>
              <a:t>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640C7D-8C83-443E-BD33-D0013E407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71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501D0-94CC-4AB2-A974-E5D37F96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연산자와 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A28BF-646A-4F5B-A64A-382723C478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연산과 연산자 종류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FA697-FDEB-47B6-ACDE-72E16088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1C019D-0F2A-4C4F-A5E7-2C4992E7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44824"/>
            <a:ext cx="7681555" cy="132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11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82433-FF0A-4A74-B0D9-DBCE9E19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10978-E7F6-4A45-9437-E2E0203B0C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연산 </a:t>
            </a:r>
            <a:endParaRPr lang="en-US" altLang="ko-KR" dirty="0"/>
          </a:p>
          <a:p>
            <a:pPr lvl="1"/>
            <a:r>
              <a:rPr lang="ko-KR" altLang="en-US" dirty="0"/>
              <a:t>산술</a:t>
            </a:r>
            <a:r>
              <a:rPr lang="en-US" altLang="ko-KR" dirty="0"/>
              <a:t>, </a:t>
            </a:r>
            <a:r>
              <a:rPr lang="ko-KR" altLang="en-US" dirty="0"/>
              <a:t>대입</a:t>
            </a:r>
            <a:r>
              <a:rPr lang="en-US" altLang="ko-KR" dirty="0"/>
              <a:t>, </a:t>
            </a:r>
            <a:r>
              <a:rPr lang="ko-KR" altLang="en-US" dirty="0"/>
              <a:t>비교</a:t>
            </a:r>
            <a:r>
              <a:rPr lang="en-US" altLang="ko-KR" dirty="0"/>
              <a:t>, </a:t>
            </a:r>
            <a:r>
              <a:rPr lang="ko-KR" altLang="en-US" dirty="0"/>
              <a:t>논리</a:t>
            </a:r>
            <a:r>
              <a:rPr lang="en-US" altLang="ko-KR" dirty="0"/>
              <a:t>, </a:t>
            </a:r>
            <a:r>
              <a:rPr lang="ko-KR" altLang="en-US" dirty="0"/>
              <a:t>조건 </a:t>
            </a:r>
            <a:r>
              <a:rPr lang="ko-KR" altLang="en-US"/>
              <a:t>연산 등</a:t>
            </a:r>
            <a:endParaRPr lang="en-US" altLang="ko-KR" dirty="0"/>
          </a:p>
          <a:p>
            <a:r>
              <a:rPr lang="ko-KR" altLang="en-US" dirty="0"/>
              <a:t>산술 연산</a:t>
            </a:r>
            <a:endParaRPr lang="en-US" altLang="ko-KR" dirty="0"/>
          </a:p>
          <a:p>
            <a:pPr lvl="1"/>
            <a:r>
              <a:rPr lang="ko-KR" altLang="en-US" dirty="0"/>
              <a:t>더하기</a:t>
            </a:r>
            <a:r>
              <a:rPr lang="en-US" altLang="ko-KR" dirty="0"/>
              <a:t>(+), </a:t>
            </a:r>
            <a:r>
              <a:rPr lang="ko-KR" altLang="en-US" dirty="0"/>
              <a:t>빼기</a:t>
            </a:r>
            <a:r>
              <a:rPr lang="en-US" altLang="ko-KR" dirty="0"/>
              <a:t>(-), </a:t>
            </a:r>
            <a:r>
              <a:rPr lang="ko-KR" altLang="en-US" dirty="0"/>
              <a:t>곱하기</a:t>
            </a:r>
            <a:r>
              <a:rPr lang="en-US" altLang="ko-KR" dirty="0"/>
              <a:t>(*), </a:t>
            </a:r>
            <a:r>
              <a:rPr lang="ko-KR" altLang="en-US" dirty="0"/>
              <a:t>실수 나누기</a:t>
            </a:r>
            <a:r>
              <a:rPr lang="en-US" altLang="ko-KR" dirty="0"/>
              <a:t>(/), </a:t>
            </a:r>
            <a:r>
              <a:rPr lang="ko-KR" altLang="en-US" dirty="0"/>
              <a:t>정수 나누기</a:t>
            </a:r>
            <a:r>
              <a:rPr lang="en-US" altLang="ko-KR" dirty="0"/>
              <a:t>(//), </a:t>
            </a:r>
            <a:r>
              <a:rPr lang="ko-KR" altLang="en-US" dirty="0"/>
              <a:t>나머지</a:t>
            </a:r>
            <a:r>
              <a:rPr lang="en-US" altLang="ko-KR" dirty="0"/>
              <a:t>(%)</a:t>
            </a:r>
            <a:r>
              <a:rPr lang="ko-KR" altLang="en-US" dirty="0"/>
              <a:t>의 </a:t>
            </a:r>
            <a:r>
              <a:rPr lang="en-US" altLang="ko-KR"/>
              <a:t>6</a:t>
            </a:r>
            <a:r>
              <a:rPr lang="ko-KR" altLang="en-US"/>
              <a:t>가지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86F6E-E04C-45B3-AB96-4F516F90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3AAB6D-32B7-435E-B392-970846EB5268}"/>
              </a:ext>
            </a:extLst>
          </p:cNvPr>
          <p:cNvSpPr/>
          <p:nvPr/>
        </p:nvSpPr>
        <p:spPr>
          <a:xfrm>
            <a:off x="1331640" y="3405065"/>
            <a:ext cx="66247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x = 32;</a:t>
            </a:r>
          </a:p>
          <a:p>
            <a:pPr defTabSz="180000"/>
            <a:r>
              <a:rPr lang="en-US" altLang="ko-KR" sz="1400" dirty="0"/>
              <a:t>total = 100 + x*2/4 –3;	// total</a:t>
            </a:r>
            <a:r>
              <a:rPr lang="ko-KR" altLang="en-US" sz="1400" dirty="0"/>
              <a:t>은 </a:t>
            </a:r>
            <a:r>
              <a:rPr lang="en-US" altLang="ko-KR" sz="1400" dirty="0"/>
              <a:t>113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F4CD16-E942-4C1E-A5C9-6161152E5BE3}"/>
              </a:ext>
            </a:extLst>
          </p:cNvPr>
          <p:cNvSpPr/>
          <p:nvPr/>
        </p:nvSpPr>
        <p:spPr>
          <a:xfrm>
            <a:off x="1331640" y="4234898"/>
            <a:ext cx="66247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x = 11/4;		# x</a:t>
            </a:r>
            <a:r>
              <a:rPr lang="ko-KR" altLang="en-US" sz="1400" dirty="0"/>
              <a:t>는 </a:t>
            </a:r>
            <a:r>
              <a:rPr lang="en-US" altLang="ko-KR" sz="1400" dirty="0"/>
              <a:t>3.75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y = 11//4;		# y</a:t>
            </a:r>
            <a:r>
              <a:rPr lang="ko-KR" altLang="en-US" sz="1400" dirty="0"/>
              <a:t>는 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77C0B8-347D-479E-8981-1F4E0F9CFC38}"/>
              </a:ext>
            </a:extLst>
          </p:cNvPr>
          <p:cNvSpPr/>
          <p:nvPr/>
        </p:nvSpPr>
        <p:spPr>
          <a:xfrm>
            <a:off x="1331640" y="5064731"/>
            <a:ext cx="66247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x = 11%4;		# x</a:t>
            </a:r>
            <a:r>
              <a:rPr lang="ko-KR" altLang="en-US" sz="1400" dirty="0"/>
              <a:t>는 </a:t>
            </a:r>
            <a:r>
              <a:rPr lang="en-US" altLang="ko-KR" sz="1400" dirty="0"/>
              <a:t>3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y = 11%4.5		# y</a:t>
            </a:r>
            <a:r>
              <a:rPr lang="ko-KR" altLang="en-US" sz="1400" dirty="0"/>
              <a:t>는 </a:t>
            </a:r>
            <a:r>
              <a:rPr lang="en-US" altLang="ko-KR" sz="1400" dirty="0"/>
              <a:t>2.0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2742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9DC61-E0C7-48C1-ABBE-54497CAE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4-4 </a:t>
            </a:r>
            <a:r>
              <a:rPr lang="ko-KR" altLang="en-US" dirty="0"/>
              <a:t>산술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01DDDD-DFF2-47F5-BDD9-F8B220D9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AF3A9A-483F-40C9-A6FD-916BD9AC61F3}"/>
              </a:ext>
            </a:extLst>
          </p:cNvPr>
          <p:cNvSpPr/>
          <p:nvPr/>
        </p:nvSpPr>
        <p:spPr>
          <a:xfrm>
            <a:off x="524675" y="1405158"/>
            <a:ext cx="2207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다양한 산술 연산 예이다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799C08-6D38-433B-9A62-4311B170CC6C}"/>
              </a:ext>
            </a:extLst>
          </p:cNvPr>
          <p:cNvSpPr/>
          <p:nvPr/>
        </p:nvSpPr>
        <p:spPr>
          <a:xfrm>
            <a:off x="609600" y="2207619"/>
            <a:ext cx="7418784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x=32</a:t>
            </a:r>
          </a:p>
          <a:p>
            <a:r>
              <a:rPr lang="en-US" altLang="ko-KR" sz="1400" dirty="0"/>
              <a:t>total = 100 + x*2/4 - 3 	# total</a:t>
            </a:r>
            <a:r>
              <a:rPr lang="ko-KR" altLang="en-US" sz="1400" dirty="0"/>
              <a:t>은 </a:t>
            </a:r>
            <a:r>
              <a:rPr lang="en-US" altLang="ko-KR" sz="1400" dirty="0"/>
              <a:t>113</a:t>
            </a:r>
          </a:p>
          <a:p>
            <a:r>
              <a:rPr lang="en-US" altLang="ko-KR" sz="1400" dirty="0"/>
              <a:t>div = x / 10 		# div</a:t>
            </a:r>
            <a:r>
              <a:rPr lang="ko-KR" altLang="en-US" sz="1400" dirty="0"/>
              <a:t>는 </a:t>
            </a:r>
            <a:r>
              <a:rPr lang="en-US" altLang="ko-KR" sz="1400" dirty="0"/>
              <a:t>3.2</a:t>
            </a:r>
          </a:p>
          <a:p>
            <a:r>
              <a:rPr lang="en-US" altLang="ko-KR" sz="1400" dirty="0" err="1"/>
              <a:t>divint</a:t>
            </a:r>
            <a:r>
              <a:rPr lang="en-US" altLang="ko-KR" sz="1400" dirty="0"/>
              <a:t> = x // 10 		# </a:t>
            </a:r>
            <a:r>
              <a:rPr lang="en-US" altLang="ko-KR" sz="1400" dirty="0" err="1"/>
              <a:t>divint</a:t>
            </a:r>
            <a:r>
              <a:rPr lang="en-US" altLang="ko-KR" sz="1400" dirty="0"/>
              <a:t> = 3</a:t>
            </a:r>
          </a:p>
          <a:p>
            <a:r>
              <a:rPr lang="en-US" altLang="ko-KR" sz="1400" dirty="0"/>
              <a:t>mod = x % 2 		# x</a:t>
            </a:r>
            <a:r>
              <a:rPr lang="ko-KR" altLang="en-US" sz="1400" dirty="0"/>
              <a:t>를 </a:t>
            </a:r>
            <a:r>
              <a:rPr lang="en-US" altLang="ko-KR" sz="1400" dirty="0"/>
              <a:t>2</a:t>
            </a:r>
            <a:r>
              <a:rPr lang="ko-KR" altLang="en-US" sz="1400" dirty="0"/>
              <a:t>로 나눈 나머지</a:t>
            </a:r>
            <a:r>
              <a:rPr lang="en-US" altLang="ko-KR" sz="1400" dirty="0"/>
              <a:t>, 0</a:t>
            </a:r>
          </a:p>
          <a:p>
            <a:r>
              <a:rPr lang="en-US" altLang="ko-KR" sz="1400" dirty="0"/>
              <a:t>print("x = %d" % x)</a:t>
            </a:r>
          </a:p>
          <a:p>
            <a:r>
              <a:rPr lang="en-US" altLang="ko-KR" sz="1400" dirty="0"/>
              <a:t>print("total = %d" % total)</a:t>
            </a:r>
          </a:p>
          <a:p>
            <a:r>
              <a:rPr lang="en-US" altLang="ko-KR" sz="1400" dirty="0"/>
              <a:t>print("div = %f" % div)</a:t>
            </a:r>
          </a:p>
          <a:p>
            <a:r>
              <a:rPr lang="en-US" altLang="ko-KR" sz="1400" dirty="0"/>
              <a:t>print("</a:t>
            </a:r>
            <a:r>
              <a:rPr lang="en-US" altLang="ko-KR" sz="1400" dirty="0" err="1"/>
              <a:t>divint</a:t>
            </a:r>
            <a:r>
              <a:rPr lang="en-US" altLang="ko-KR" sz="1400" dirty="0"/>
              <a:t> = %d" % </a:t>
            </a:r>
            <a:r>
              <a:rPr lang="en-US" altLang="ko-KR" sz="1400" dirty="0" err="1"/>
              <a:t>divint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print("mod = %d" % mod)</a:t>
            </a:r>
            <a:endParaRPr lang="en-US" altLang="ko-KR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5FB723-1E70-4AAD-84C8-B296AC79C330}"/>
              </a:ext>
            </a:extLst>
          </p:cNvPr>
          <p:cNvSpPr/>
          <p:nvPr/>
        </p:nvSpPr>
        <p:spPr>
          <a:xfrm>
            <a:off x="609600" y="4673528"/>
            <a:ext cx="7418784" cy="16357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4-4.py</a:t>
            </a:r>
          </a:p>
          <a:p>
            <a:pPr fontAlgn="base"/>
            <a:r>
              <a:rPr lang="en-US" altLang="ko-KR" sz="1400" dirty="0"/>
              <a:t>x = 32</a:t>
            </a:r>
          </a:p>
          <a:p>
            <a:pPr fontAlgn="base"/>
            <a:r>
              <a:rPr lang="en-US" altLang="ko-KR" sz="1400" dirty="0"/>
              <a:t>total = 113</a:t>
            </a:r>
          </a:p>
          <a:p>
            <a:pPr fontAlgn="base"/>
            <a:r>
              <a:rPr lang="en-US" altLang="ko-KR" sz="1400" dirty="0"/>
              <a:t>div = 3.200000</a:t>
            </a:r>
          </a:p>
          <a:p>
            <a:pPr fontAlgn="base"/>
            <a:r>
              <a:rPr lang="en-US" altLang="ko-KR" sz="1400" dirty="0" err="1"/>
              <a:t>divint</a:t>
            </a:r>
            <a:r>
              <a:rPr lang="en-US" altLang="ko-KR" sz="1400" dirty="0"/>
              <a:t> = 3</a:t>
            </a:r>
          </a:p>
          <a:p>
            <a:pPr fontAlgn="base"/>
            <a:r>
              <a:rPr lang="en-US" altLang="ko-KR" sz="1400" dirty="0"/>
              <a:t>mod = 0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BF0CE2-54C8-4269-B268-E0D5A4FC422C}"/>
              </a:ext>
            </a:extLst>
          </p:cNvPr>
          <p:cNvSpPr/>
          <p:nvPr/>
        </p:nvSpPr>
        <p:spPr>
          <a:xfrm>
            <a:off x="559139" y="1731967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4-4.py</a:t>
            </a:r>
          </a:p>
        </p:txBody>
      </p:sp>
    </p:spTree>
    <p:extLst>
      <p:ext uri="{BB962C8B-B14F-4D97-AF65-F5344CB8AC3E}">
        <p14:creationId xmlns:p14="http://schemas.microsoft.com/office/powerpoint/2010/main" val="3496720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72876-F701-4DE4-8084-E61018CA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대입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8E1EA-6FC1-48A4-B81A-600B87E4E9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74327" y="1412776"/>
            <a:ext cx="8153400" cy="5040560"/>
          </a:xfrm>
        </p:spPr>
        <p:txBody>
          <a:bodyPr/>
          <a:lstStyle/>
          <a:p>
            <a:r>
              <a:rPr lang="ko-KR" altLang="en-US" dirty="0"/>
              <a:t>오른쪽 식의 결과를 왼쪽에 있는 변수에 대입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7927D5-11BE-42F5-A1DB-DA932B05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01FE76-C8ED-462F-AE8F-CE63B78D5D64}"/>
              </a:ext>
            </a:extLst>
          </p:cNvPr>
          <p:cNvSpPr/>
          <p:nvPr/>
        </p:nvSpPr>
        <p:spPr>
          <a:xfrm>
            <a:off x="750201" y="4706560"/>
            <a:ext cx="7566215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a = 1, b = 3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a = b</a:t>
            </a:r>
            <a:r>
              <a:rPr lang="ko-KR" altLang="en-US" sz="1400" dirty="0"/>
              <a:t>		</a:t>
            </a:r>
            <a:r>
              <a:rPr lang="en-US" altLang="ko-KR" sz="1400" dirty="0"/>
              <a:t># a</a:t>
            </a:r>
            <a:r>
              <a:rPr lang="ko-KR" altLang="en-US" sz="1400" dirty="0"/>
              <a:t>에 </a:t>
            </a:r>
            <a:r>
              <a:rPr lang="en-US" altLang="ko-KR" sz="1400" dirty="0"/>
              <a:t>b</a:t>
            </a:r>
            <a:r>
              <a:rPr lang="ko-KR" altLang="en-US" sz="1400" dirty="0"/>
              <a:t>의 값을 대입하여 </a:t>
            </a:r>
            <a:r>
              <a:rPr lang="en-US" altLang="ko-KR" sz="1400" dirty="0"/>
              <a:t>a = 3, b = 3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a += b		# a = a + b </a:t>
            </a:r>
            <a:r>
              <a:rPr lang="ko-KR" altLang="en-US" sz="1400" dirty="0"/>
              <a:t>의 연산이 이루어져</a:t>
            </a:r>
            <a:r>
              <a:rPr lang="en-US" altLang="ko-KR" sz="1400" dirty="0"/>
              <a:t>, a = 6, b = 3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F571EA-0869-4F04-B1A3-8F2A38AEF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88840"/>
            <a:ext cx="7585473" cy="223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63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B8998-F37D-456B-8AE5-8FE3D6FB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4-5 </a:t>
            </a:r>
            <a:r>
              <a:rPr lang="ko-KR" altLang="en-US" dirty="0"/>
              <a:t>대입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E8ADE4-BEB4-462C-8E58-85583CEE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FA4F62-45C5-4E20-9E5B-1406D8D4B418}"/>
              </a:ext>
            </a:extLst>
          </p:cNvPr>
          <p:cNvSpPr/>
          <p:nvPr/>
        </p:nvSpPr>
        <p:spPr>
          <a:xfrm>
            <a:off x="467544" y="1366672"/>
            <a:ext cx="2497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다양한 대입 연산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17691-66EF-4BFB-9A8B-B89992D0E761}"/>
              </a:ext>
            </a:extLst>
          </p:cNvPr>
          <p:cNvSpPr/>
          <p:nvPr/>
        </p:nvSpPr>
        <p:spPr>
          <a:xfrm>
            <a:off x="532830" y="2213737"/>
            <a:ext cx="5826194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pl-PL" altLang="ko-KR" sz="1400" dirty="0"/>
              <a:t>x=3; y=3; z=3</a:t>
            </a:r>
          </a:p>
          <a:p>
            <a:r>
              <a:rPr lang="es-ES" altLang="ko-KR" sz="1400" dirty="0"/>
              <a:t>print("x= %d y= %d z=%d" % (x, y, z))</a:t>
            </a:r>
          </a:p>
          <a:p>
            <a:r>
              <a:rPr lang="en-US" altLang="ko-KR" sz="1400" dirty="0"/>
              <a:t>x += 3 # x=x+3 -&gt; x=6</a:t>
            </a:r>
          </a:p>
          <a:p>
            <a:r>
              <a:rPr lang="es-ES" altLang="ko-KR" sz="1400" dirty="0"/>
              <a:t>y *= 3 # y=y*3 -&gt; y=9</a:t>
            </a:r>
          </a:p>
          <a:p>
            <a:r>
              <a:rPr lang="pl-PL" altLang="ko-KR" sz="1400" dirty="0"/>
              <a:t>z %= 2 # z=z%2 -&gt; z=1</a:t>
            </a:r>
          </a:p>
          <a:p>
            <a:r>
              <a:rPr lang="en-US" altLang="ko-KR" sz="1400" dirty="0"/>
              <a:t>print("x += 3;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x= %d" % x)</a:t>
            </a:r>
          </a:p>
          <a:p>
            <a:r>
              <a:rPr lang="en-US" altLang="ko-KR" sz="1400" dirty="0"/>
              <a:t>print("y *= 3;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y= %d" % y)</a:t>
            </a:r>
          </a:p>
          <a:p>
            <a:r>
              <a:rPr lang="en-US" altLang="ko-KR" sz="1400" dirty="0"/>
              <a:t>print("z %%= 2;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z= %d" % z)</a:t>
            </a:r>
            <a:endParaRPr lang="en-US" altLang="ko-KR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59CC8-4095-4DAB-BF4A-9D884B02AD8B}"/>
              </a:ext>
            </a:extLst>
          </p:cNvPr>
          <p:cNvSpPr/>
          <p:nvPr/>
        </p:nvSpPr>
        <p:spPr>
          <a:xfrm>
            <a:off x="547203" y="4333782"/>
            <a:ext cx="5811821" cy="139947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4-5.py</a:t>
            </a:r>
          </a:p>
          <a:p>
            <a:pPr fontAlgn="base"/>
            <a:r>
              <a:rPr lang="pl-PL" altLang="ko-KR" sz="1400" dirty="0"/>
              <a:t>x= 3 y= 3 z=3</a:t>
            </a:r>
          </a:p>
          <a:p>
            <a:pPr fontAlgn="base"/>
            <a:r>
              <a:rPr lang="en-US" altLang="ko-KR" sz="1400" dirty="0"/>
              <a:t>x += 3;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x= 6</a:t>
            </a:r>
          </a:p>
          <a:p>
            <a:pPr fontAlgn="base"/>
            <a:r>
              <a:rPr lang="en-US" altLang="ko-KR" sz="1400" dirty="0"/>
              <a:t>y *= 3;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y= 9</a:t>
            </a:r>
          </a:p>
          <a:p>
            <a:pPr fontAlgn="base"/>
            <a:r>
              <a:rPr lang="en-US" altLang="ko-KR" sz="1400" dirty="0"/>
              <a:t>z %= 2; </a:t>
            </a:r>
            <a:r>
              <a:rPr lang="ko-KR" altLang="en-US" sz="1400" dirty="0"/>
              <a:t>실행 후</a:t>
            </a:r>
            <a:r>
              <a:rPr lang="en-US" altLang="ko-KR" sz="1400" dirty="0"/>
              <a:t>, z= 1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FBECE1-156C-4B44-9C33-CB226616F63F}"/>
              </a:ext>
            </a:extLst>
          </p:cNvPr>
          <p:cNvSpPr/>
          <p:nvPr/>
        </p:nvSpPr>
        <p:spPr>
          <a:xfrm>
            <a:off x="467544" y="1772373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4-5.py</a:t>
            </a:r>
          </a:p>
        </p:txBody>
      </p:sp>
    </p:spTree>
    <p:extLst>
      <p:ext uri="{BB962C8B-B14F-4D97-AF65-F5344CB8AC3E}">
        <p14:creationId xmlns:p14="http://schemas.microsoft.com/office/powerpoint/2010/main" val="3941264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D3B56-749C-4B32-8A12-F0000F57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비교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8EF4B-2CA4-4218-9DEA-CD307D852D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&gt;, &gt;=, &lt;, &lt;=, ==, != 6</a:t>
            </a:r>
            <a:r>
              <a:rPr lang="ko-KR" altLang="en-US" dirty="0"/>
              <a:t>가지 종류가 있으며 연산의 결과는 </a:t>
            </a:r>
            <a:r>
              <a:rPr lang="en-US" altLang="ko-KR" dirty="0"/>
              <a:t>True/False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955CF-BF44-47DE-8268-CF8F9629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B4648A-8932-4020-8659-76DF2A131CEB}"/>
              </a:ext>
            </a:extLst>
          </p:cNvPr>
          <p:cNvSpPr/>
          <p:nvPr/>
        </p:nvSpPr>
        <p:spPr>
          <a:xfrm>
            <a:off x="612648" y="3872176"/>
            <a:ext cx="7542637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age = 25</a:t>
            </a:r>
          </a:p>
          <a:p>
            <a:pPr defTabSz="180000"/>
            <a:r>
              <a:rPr lang="en-US" altLang="ko-KR" sz="1400" dirty="0"/>
              <a:t>result = (age &gt; 20)		# age</a:t>
            </a:r>
            <a:r>
              <a:rPr lang="ko-KR" altLang="en-US" sz="1400" dirty="0"/>
              <a:t>가 </a:t>
            </a:r>
            <a:r>
              <a:rPr lang="en-US" altLang="ko-KR" sz="1400" dirty="0"/>
              <a:t>20</a:t>
            </a:r>
            <a:r>
              <a:rPr lang="ko-KR" altLang="en-US" sz="1400" dirty="0"/>
              <a:t>보다 크므로 </a:t>
            </a:r>
            <a:r>
              <a:rPr lang="en-US" altLang="ko-KR" sz="1400" dirty="0"/>
              <a:t>result</a:t>
            </a:r>
            <a:r>
              <a:rPr lang="ko-KR" altLang="en-US" sz="1400" dirty="0"/>
              <a:t>는 </a:t>
            </a:r>
            <a:r>
              <a:rPr lang="en-US" altLang="ko-KR" sz="1400" dirty="0"/>
              <a:t>True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4096FA-CBB9-4DFB-855D-972C8EEA60AA}"/>
              </a:ext>
            </a:extLst>
          </p:cNvPr>
          <p:cNvSpPr/>
          <p:nvPr/>
        </p:nvSpPr>
        <p:spPr>
          <a:xfrm>
            <a:off x="612648" y="4727181"/>
            <a:ext cx="7542637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name = "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"</a:t>
            </a:r>
          </a:p>
          <a:p>
            <a:pPr defTabSz="180000"/>
            <a:r>
              <a:rPr lang="en-US" altLang="ko-KR" sz="1400" dirty="0"/>
              <a:t>res = (name == "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") # == </a:t>
            </a:r>
            <a:r>
              <a:rPr lang="ko-KR" altLang="en-US" sz="1400" dirty="0"/>
              <a:t>연산의 결과는 </a:t>
            </a:r>
            <a:r>
              <a:rPr lang="en-US" altLang="ko-KR" sz="1400" dirty="0"/>
              <a:t>True, res = True</a:t>
            </a:r>
          </a:p>
          <a:p>
            <a:pPr defTabSz="180000"/>
            <a:r>
              <a:rPr lang="en-US" altLang="ko-KR" sz="1400" dirty="0"/>
              <a:t>res = (name &gt; "park") #name</a:t>
            </a:r>
            <a:r>
              <a:rPr lang="ko-KR" altLang="en-US" sz="1400" dirty="0"/>
              <a:t>이 </a:t>
            </a:r>
            <a:r>
              <a:rPr lang="en-US" altLang="ko-KR" sz="1400" dirty="0"/>
              <a:t>"park"</a:t>
            </a:r>
            <a:r>
              <a:rPr lang="ko-KR" altLang="en-US" sz="1400" dirty="0"/>
              <a:t>보다 사전순으로 앞에 나오므로 </a:t>
            </a:r>
            <a:r>
              <a:rPr lang="en-US" altLang="ko-KR" sz="1400" dirty="0"/>
              <a:t>res = False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7375B7-366A-473F-A3CE-D1C0C6E1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30" y="2290680"/>
            <a:ext cx="7380365" cy="124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12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F06B0-454A-472E-9983-4A3E61D9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4-6 </a:t>
            </a:r>
            <a:r>
              <a:rPr lang="ko-KR" altLang="en-US" dirty="0"/>
              <a:t>비교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304014-08B8-4A3E-8298-E234D797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06154A-173C-4E58-9514-A5C653F074E4}"/>
              </a:ext>
            </a:extLst>
          </p:cNvPr>
          <p:cNvSpPr/>
          <p:nvPr/>
        </p:nvSpPr>
        <p:spPr>
          <a:xfrm>
            <a:off x="505670" y="1394532"/>
            <a:ext cx="2207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다양한 비교 연산 예이다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77AD1E-A631-4CAB-BC81-4EB2AE77109A}"/>
              </a:ext>
            </a:extLst>
          </p:cNvPr>
          <p:cNvSpPr/>
          <p:nvPr/>
        </p:nvSpPr>
        <p:spPr>
          <a:xfrm>
            <a:off x="494936" y="2116113"/>
            <a:ext cx="6309312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x=13; y=7</a:t>
            </a:r>
          </a:p>
          <a:p>
            <a:r>
              <a:rPr lang="es-ES" altLang="ko-KR" sz="1400" dirty="0"/>
              <a:t>print("x = %d, y = %d" % (x, y))</a:t>
            </a:r>
          </a:p>
          <a:p>
            <a:r>
              <a:rPr lang="es-ES" altLang="ko-KR" sz="1400" dirty="0"/>
              <a:t>print("x == y : " + str(x == y))</a:t>
            </a:r>
          </a:p>
          <a:p>
            <a:r>
              <a:rPr lang="es-ES" altLang="ko-KR" sz="1400" dirty="0"/>
              <a:t>print("x != y : " + str(x != y))</a:t>
            </a:r>
          </a:p>
          <a:p>
            <a:r>
              <a:rPr lang="es-ES" altLang="ko-KR" sz="1400" dirty="0"/>
              <a:t>print("x &gt;= y : " + str(x &gt;= y))</a:t>
            </a:r>
          </a:p>
          <a:p>
            <a:r>
              <a:rPr lang="es-ES" altLang="ko-KR" sz="1400" dirty="0"/>
              <a:t>print("x &gt; y : " + str(x &gt; y))</a:t>
            </a:r>
          </a:p>
          <a:p>
            <a:r>
              <a:rPr lang="es-ES" altLang="ko-KR" sz="1400" dirty="0"/>
              <a:t>print("x &lt;= y : " + str(x &lt;= y))</a:t>
            </a:r>
          </a:p>
          <a:p>
            <a:r>
              <a:rPr lang="es-ES" altLang="ko-KR" sz="1400" dirty="0"/>
              <a:t>print("x &lt; y : " + str(x &lt; y))</a:t>
            </a:r>
            <a:endParaRPr lang="en-US" altLang="ko-KR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6869FA-73F5-4F26-9263-448A87FF06D0}"/>
              </a:ext>
            </a:extLst>
          </p:cNvPr>
          <p:cNvSpPr/>
          <p:nvPr/>
        </p:nvSpPr>
        <p:spPr>
          <a:xfrm>
            <a:off x="490619" y="4077072"/>
            <a:ext cx="6314450" cy="20882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4-6.py</a:t>
            </a:r>
          </a:p>
          <a:p>
            <a:pPr fontAlgn="base"/>
            <a:r>
              <a:rPr lang="en-US" altLang="ko-KR" sz="1400" dirty="0"/>
              <a:t>x = 13, y = 7</a:t>
            </a:r>
          </a:p>
          <a:p>
            <a:pPr fontAlgn="base"/>
            <a:r>
              <a:rPr lang="en-US" altLang="ko-KR" sz="1400" dirty="0"/>
              <a:t>x == y : False</a:t>
            </a:r>
          </a:p>
          <a:p>
            <a:pPr fontAlgn="base"/>
            <a:r>
              <a:rPr lang="en-US" altLang="ko-KR" sz="1400" dirty="0"/>
              <a:t>x != y : True</a:t>
            </a:r>
          </a:p>
          <a:p>
            <a:pPr fontAlgn="base"/>
            <a:r>
              <a:rPr lang="en-US" altLang="ko-KR" sz="1400" dirty="0"/>
              <a:t>x &gt;= y : True</a:t>
            </a:r>
          </a:p>
          <a:p>
            <a:pPr fontAlgn="base"/>
            <a:r>
              <a:rPr lang="en-US" altLang="ko-KR" sz="1400" dirty="0"/>
              <a:t>x &gt; y : True</a:t>
            </a:r>
          </a:p>
          <a:p>
            <a:pPr fontAlgn="base"/>
            <a:r>
              <a:rPr lang="en-US" altLang="ko-KR" sz="1400" dirty="0"/>
              <a:t>x &lt;= y : False</a:t>
            </a:r>
          </a:p>
          <a:p>
            <a:pPr fontAlgn="base"/>
            <a:r>
              <a:rPr lang="en-US" altLang="ko-KR" sz="1400" dirty="0"/>
              <a:t>x &lt; y : False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2DB1A5-8EED-4775-A855-70D6A63CA0BB}"/>
              </a:ext>
            </a:extLst>
          </p:cNvPr>
          <p:cNvSpPr/>
          <p:nvPr/>
        </p:nvSpPr>
        <p:spPr>
          <a:xfrm>
            <a:off x="447191" y="1660643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4-6.py</a:t>
            </a:r>
          </a:p>
        </p:txBody>
      </p:sp>
    </p:spTree>
    <p:extLst>
      <p:ext uri="{BB962C8B-B14F-4D97-AF65-F5344CB8AC3E}">
        <p14:creationId xmlns:p14="http://schemas.microsoft.com/office/powerpoint/2010/main" val="2543948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80DF3-5D35-40B2-8FE6-0CFC5D75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논리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6519D-7C7C-42E9-A53F-627DA27923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and, or, not 3</a:t>
            </a:r>
            <a:r>
              <a:rPr lang="ko-KR" altLang="en-US" dirty="0"/>
              <a:t> 가지 종류가 있으며 연산의 결과는 </a:t>
            </a:r>
            <a:r>
              <a:rPr lang="en-US" altLang="ko-KR" dirty="0"/>
              <a:t>True/False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CD0E7-6BD5-44AA-8124-516C9CE2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5C4457-4BB2-4D00-9335-BDC030F4B4BA}"/>
              </a:ext>
            </a:extLst>
          </p:cNvPr>
          <p:cNvSpPr/>
          <p:nvPr/>
        </p:nvSpPr>
        <p:spPr>
          <a:xfrm>
            <a:off x="971600" y="3861048"/>
            <a:ext cx="7559752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score = 90</a:t>
            </a:r>
          </a:p>
          <a:p>
            <a:pPr defTabSz="180000"/>
            <a:r>
              <a:rPr lang="en-US" altLang="ko-KR" sz="1400" dirty="0"/>
              <a:t>age = 20</a:t>
            </a:r>
          </a:p>
          <a:p>
            <a:pPr defTabSz="180000"/>
            <a:r>
              <a:rPr lang="en-US" altLang="ko-KR" sz="1400" dirty="0"/>
              <a:t>res = ((score &gt; 80) and (age &lt; 25)); 	# res</a:t>
            </a:r>
            <a:r>
              <a:rPr lang="ko-KR" altLang="en-US" sz="1400" dirty="0"/>
              <a:t>에 </a:t>
            </a:r>
            <a:r>
              <a:rPr lang="en-US" altLang="ko-KR" sz="1400" dirty="0"/>
              <a:t>True</a:t>
            </a:r>
            <a:r>
              <a:rPr lang="ko-KR" altLang="en-US" sz="1400" dirty="0"/>
              <a:t>가 대입된다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F93967-4F52-4384-852A-6BD5E7106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50067"/>
            <a:ext cx="7669432" cy="13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92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68584-F965-46B8-BBCE-11A5A44E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4-7 </a:t>
            </a:r>
            <a:r>
              <a:rPr lang="ko-KR" altLang="en-US" dirty="0"/>
              <a:t>논리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05F585-6204-4573-8910-27A1C865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416ED-E9A0-4596-AB51-639CC036E921}"/>
              </a:ext>
            </a:extLst>
          </p:cNvPr>
          <p:cNvSpPr/>
          <p:nvPr/>
        </p:nvSpPr>
        <p:spPr>
          <a:xfrm>
            <a:off x="473955" y="1273836"/>
            <a:ext cx="270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논리 연산의 다양한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816548-2EEB-4747-8540-9FE86CF94C2A}"/>
              </a:ext>
            </a:extLst>
          </p:cNvPr>
          <p:cNvSpPr/>
          <p:nvPr/>
        </p:nvSpPr>
        <p:spPr>
          <a:xfrm>
            <a:off x="609600" y="2022203"/>
            <a:ext cx="590661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x=True; y=False</a:t>
            </a:r>
          </a:p>
          <a:p>
            <a:r>
              <a:rPr lang="en-US" altLang="ko-KR" sz="1400" dirty="0"/>
              <a:t>print("x = %s, y = %s" % (str(x), str(y)));</a:t>
            </a:r>
          </a:p>
          <a:p>
            <a:r>
              <a:rPr lang="en-US" altLang="ko-KR" sz="1400" dirty="0"/>
              <a:t>print("x and y : "+ str(x and y));</a:t>
            </a:r>
          </a:p>
          <a:p>
            <a:r>
              <a:rPr lang="en-US" altLang="ko-KR" sz="1400" dirty="0"/>
              <a:t>print("x or y : "+ str(x or y));</a:t>
            </a:r>
          </a:p>
          <a:p>
            <a:r>
              <a:rPr lang="en-US" altLang="ko-KR" sz="1400" dirty="0"/>
              <a:t>print("not x : " + str(not x));</a:t>
            </a:r>
          </a:p>
          <a:p>
            <a:r>
              <a:rPr lang="en-US" altLang="ko-KR" sz="1400" dirty="0"/>
              <a:t>print("");</a:t>
            </a:r>
          </a:p>
          <a:p>
            <a:r>
              <a:rPr lang="en-US" altLang="ko-KR" sz="1400" dirty="0"/>
              <a:t>print("(3&gt;2) and (3&lt;4) : " + str((3&gt;2)and(3&lt;4)));</a:t>
            </a:r>
          </a:p>
          <a:p>
            <a:r>
              <a:rPr lang="en-US" altLang="ko-KR" sz="1400" dirty="0"/>
              <a:t>print("(3==-2) or (-1&lt;0) : " + str((3==2)or(-1&lt;0)))</a:t>
            </a:r>
            <a:endParaRPr lang="en-US" altLang="ko-KR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1B6B9B-9D2D-433E-BC3B-D2EA0D59E50E}"/>
              </a:ext>
            </a:extLst>
          </p:cNvPr>
          <p:cNvSpPr/>
          <p:nvPr/>
        </p:nvSpPr>
        <p:spPr>
          <a:xfrm>
            <a:off x="609600" y="4077072"/>
            <a:ext cx="5906616" cy="20882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4-7.py</a:t>
            </a:r>
          </a:p>
          <a:p>
            <a:pPr fontAlgn="base"/>
            <a:r>
              <a:rPr lang="en-US" altLang="ko-KR" sz="1400" dirty="0"/>
              <a:t>x = True, y = False</a:t>
            </a:r>
          </a:p>
          <a:p>
            <a:pPr fontAlgn="base"/>
            <a:r>
              <a:rPr lang="en-US" altLang="ko-KR" sz="1400" dirty="0"/>
              <a:t>x and y : False</a:t>
            </a:r>
          </a:p>
          <a:p>
            <a:pPr fontAlgn="base"/>
            <a:r>
              <a:rPr lang="en-US" altLang="ko-KR" sz="1400" dirty="0"/>
              <a:t>x or y : True</a:t>
            </a:r>
          </a:p>
          <a:p>
            <a:pPr fontAlgn="base"/>
            <a:r>
              <a:rPr lang="en-US" altLang="ko-KR" sz="1400" dirty="0"/>
              <a:t>not x : False</a:t>
            </a:r>
          </a:p>
          <a:p>
            <a:pPr fontAlgn="base"/>
            <a:endParaRPr lang="en-US" altLang="ko-KR" sz="1400" dirty="0"/>
          </a:p>
          <a:p>
            <a:pPr fontAlgn="base"/>
            <a:r>
              <a:rPr lang="en-US" altLang="ko-KR" sz="1400" dirty="0"/>
              <a:t>(3&gt;2) and (3&lt;4) : True</a:t>
            </a:r>
          </a:p>
          <a:p>
            <a:pPr fontAlgn="base"/>
            <a:r>
              <a:rPr lang="en-US" altLang="ko-KR" sz="1400" dirty="0"/>
              <a:t>(3==-2) or (-1&lt;0) : True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4FFF64-A322-4735-9D6D-C951A64CD204}"/>
              </a:ext>
            </a:extLst>
          </p:cNvPr>
          <p:cNvSpPr/>
          <p:nvPr/>
        </p:nvSpPr>
        <p:spPr>
          <a:xfrm>
            <a:off x="499135" y="1542815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4-7.py</a:t>
            </a:r>
          </a:p>
        </p:txBody>
      </p:sp>
    </p:spTree>
    <p:extLst>
      <p:ext uri="{BB962C8B-B14F-4D97-AF65-F5344CB8AC3E}">
        <p14:creationId xmlns:p14="http://schemas.microsoft.com/office/powerpoint/2010/main" val="3573944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03374-7468-4E21-987B-99D631BB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조건 연산 및 문자열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FE7399-DA6D-4291-8FEB-BBE2D05ED8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조건 연산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문자열 연산</a:t>
            </a:r>
            <a:endParaRPr lang="en-US" altLang="ko-KR" dirty="0"/>
          </a:p>
          <a:p>
            <a:pPr lvl="1"/>
            <a:r>
              <a:rPr lang="en-US" altLang="ko-KR" dirty="0"/>
              <a:t>+ </a:t>
            </a:r>
            <a:r>
              <a:rPr lang="ko-KR" altLang="en-US" dirty="0"/>
              <a:t>연산자가 있으며</a:t>
            </a:r>
            <a:r>
              <a:rPr lang="en-US" altLang="ko-KR" dirty="0"/>
              <a:t>, </a:t>
            </a:r>
            <a:r>
              <a:rPr lang="ko-KR" altLang="en-US" dirty="0"/>
              <a:t>두 문자열을 연결하여 하나로 </a:t>
            </a:r>
            <a:r>
              <a:rPr lang="ko-KR" altLang="en-US" dirty="0" err="1"/>
              <a:t>만듬</a:t>
            </a:r>
            <a:endParaRPr lang="ko-KR" altLang="en-US" dirty="0"/>
          </a:p>
          <a:p>
            <a:pPr lvl="1"/>
            <a:endParaRPr lang="en-US" altLang="ko-KR" dirty="0"/>
          </a:p>
          <a:p>
            <a:pPr marL="685800" lvl="2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781C66-848F-4995-940D-8907AE9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997F38-DFAB-4121-9456-0302AEED8D5D}"/>
              </a:ext>
            </a:extLst>
          </p:cNvPr>
          <p:cNvSpPr/>
          <p:nvPr/>
        </p:nvSpPr>
        <p:spPr>
          <a:xfrm>
            <a:off x="878988" y="2359767"/>
            <a:ext cx="730360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x=5; y=3</a:t>
            </a:r>
          </a:p>
          <a:p>
            <a:pPr defTabSz="180000"/>
            <a:r>
              <a:rPr lang="en-US" altLang="ko-KR" sz="1400" dirty="0"/>
              <a:t>big = x if (x &gt; y ) else y # ( x &gt; y )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이므로 </a:t>
            </a:r>
            <a:r>
              <a:rPr lang="en-US" altLang="ko-KR" sz="1400" dirty="0"/>
              <a:t>x </a:t>
            </a:r>
            <a:r>
              <a:rPr lang="ko-KR" altLang="en-US" sz="1400" dirty="0"/>
              <a:t>값 </a:t>
            </a:r>
            <a:r>
              <a:rPr lang="en-US" altLang="ko-KR" sz="1400" dirty="0"/>
              <a:t>5</a:t>
            </a:r>
            <a:r>
              <a:rPr lang="ko-KR" altLang="en-US" sz="1400" dirty="0"/>
              <a:t>가 </a:t>
            </a:r>
            <a:r>
              <a:rPr lang="en-US" altLang="ko-KR" sz="1400" dirty="0"/>
              <a:t>big</a:t>
            </a:r>
            <a:r>
              <a:rPr lang="ko-KR" altLang="en-US" sz="1400" dirty="0"/>
              <a:t>에 대입된다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FB2EDD-DBC9-4F5A-B4A5-51156B5EF33C}"/>
              </a:ext>
            </a:extLst>
          </p:cNvPr>
          <p:cNvSpPr/>
          <p:nvPr/>
        </p:nvSpPr>
        <p:spPr>
          <a:xfrm>
            <a:off x="920196" y="4348696"/>
            <a:ext cx="7303608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+ "de" </a:t>
            </a:r>
            <a:r>
              <a:rPr lang="ko-KR" altLang="en-US" sz="1400" dirty="0"/>
              <a:t>		</a:t>
            </a:r>
            <a:r>
              <a:rPr lang="en-US" altLang="ko-KR" sz="1400" dirty="0"/>
              <a:t># "</a:t>
            </a:r>
            <a:r>
              <a:rPr lang="en-US" altLang="ko-KR" sz="1400" dirty="0" err="1"/>
              <a:t>abcde</a:t>
            </a:r>
            <a:r>
              <a:rPr lang="en-US" altLang="ko-KR" sz="1400" dirty="0"/>
              <a:t>"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+ str(23)</a:t>
            </a:r>
            <a:r>
              <a:rPr lang="ko-KR" altLang="en-US" sz="1400" dirty="0"/>
              <a:t>	</a:t>
            </a:r>
            <a:r>
              <a:rPr lang="en-US" altLang="ko-KR" sz="1400" dirty="0"/>
              <a:t># "abc23"". 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+ 23</a:t>
            </a:r>
            <a:r>
              <a:rPr lang="ko-KR" altLang="en-US" sz="1400" dirty="0"/>
              <a:t>의 연산은 </a:t>
            </a:r>
            <a:r>
              <a:rPr lang="ko-KR" altLang="en-US" sz="1400" dirty="0">
                <a:solidFill>
                  <a:srgbClr val="C00000"/>
                </a:solidFill>
              </a:rPr>
              <a:t>오류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str(23) + 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</a:t>
            </a:r>
            <a:r>
              <a:rPr lang="ko-KR" altLang="en-US" sz="1400" dirty="0"/>
              <a:t>	</a:t>
            </a:r>
            <a:r>
              <a:rPr lang="en-US" altLang="ko-KR" sz="1400" dirty="0"/>
              <a:t># "23abc"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str(23) + "35" </a:t>
            </a:r>
            <a:r>
              <a:rPr lang="ko-KR" altLang="en-US" sz="1400" dirty="0"/>
              <a:t>	</a:t>
            </a:r>
            <a:r>
              <a:rPr lang="en-US" altLang="ko-KR" sz="1400" dirty="0"/>
              <a:t># "2335"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23 + 35 </a:t>
            </a:r>
            <a:r>
              <a:rPr lang="ko-KR" altLang="en-US" sz="1400" dirty="0"/>
              <a:t>		</a:t>
            </a:r>
            <a:r>
              <a:rPr lang="en-US" altLang="ko-KR" sz="1400" dirty="0"/>
              <a:t># 58, </a:t>
            </a:r>
            <a:r>
              <a:rPr lang="ko-KR" altLang="en-US" sz="1400" dirty="0"/>
              <a:t>정수 더하기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025157-E37C-40EA-8F6E-865833D11F4B}"/>
              </a:ext>
            </a:extLst>
          </p:cNvPr>
          <p:cNvSpPr/>
          <p:nvPr/>
        </p:nvSpPr>
        <p:spPr>
          <a:xfrm>
            <a:off x="878988" y="1879830"/>
            <a:ext cx="730360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res = </a:t>
            </a:r>
            <a:r>
              <a:rPr lang="en-US" altLang="ko-KR" sz="1400" dirty="0" err="1"/>
              <a:t>expT</a:t>
            </a:r>
            <a:r>
              <a:rPr lang="en-US" altLang="ko-KR" sz="1400" dirty="0"/>
              <a:t> if( condition ) else </a:t>
            </a:r>
            <a:r>
              <a:rPr lang="en-US" altLang="ko-KR" sz="1400" dirty="0" err="1"/>
              <a:t>expF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5FF7F-AE82-477C-A2F2-F4A2D74A7594}"/>
              </a:ext>
            </a:extLst>
          </p:cNvPr>
          <p:cNvSpPr txBox="1"/>
          <p:nvPr/>
        </p:nvSpPr>
        <p:spPr>
          <a:xfrm>
            <a:off x="309379" y="4303983"/>
            <a:ext cx="491832" cy="289441"/>
          </a:xfrm>
          <a:prstGeom prst="wedgeRoundRectCallout">
            <a:avLst>
              <a:gd name="adj1" fmla="val 75446"/>
              <a:gd name="adj2" fmla="val 1063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ko-KR" altLang="en-US" dirty="0"/>
              <a:t>오류</a:t>
            </a:r>
          </a:p>
        </p:txBody>
      </p:sp>
    </p:spTree>
    <p:extLst>
      <p:ext uri="{BB962C8B-B14F-4D97-AF65-F5344CB8AC3E}">
        <p14:creationId xmlns:p14="http://schemas.microsoft.com/office/powerpoint/2010/main" val="3819974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72DED-F8B4-4303-8840-2EEA37CA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4-8 </a:t>
            </a:r>
            <a:r>
              <a:rPr lang="ko-KR" altLang="en-US" dirty="0"/>
              <a:t>조건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89A9E7-5529-492D-A2B3-5190C937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AFF870-3478-4124-8C22-376E645C95C7}"/>
              </a:ext>
            </a:extLst>
          </p:cNvPr>
          <p:cNvSpPr/>
          <p:nvPr/>
        </p:nvSpPr>
        <p:spPr>
          <a:xfrm>
            <a:off x="524675" y="1306269"/>
            <a:ext cx="1810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조건 연산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8F3028-23E8-486A-A681-8347589C5142}"/>
              </a:ext>
            </a:extLst>
          </p:cNvPr>
          <p:cNvSpPr/>
          <p:nvPr/>
        </p:nvSpPr>
        <p:spPr>
          <a:xfrm>
            <a:off x="567138" y="2074783"/>
            <a:ext cx="702919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a=3; b=5</a:t>
            </a:r>
          </a:p>
          <a:p>
            <a:r>
              <a:rPr lang="en-US" altLang="ko-KR" sz="1400" dirty="0"/>
              <a:t>print("a = %d, b = %d" % (a, b))</a:t>
            </a:r>
          </a:p>
          <a:p>
            <a:r>
              <a:rPr lang="en-US" altLang="ko-KR" sz="1400" dirty="0"/>
              <a:t>print("</a:t>
            </a:r>
            <a:r>
              <a:rPr lang="ko-KR" altLang="en-US" sz="1400" dirty="0"/>
              <a:t>두수의 차이 </a:t>
            </a:r>
            <a:r>
              <a:rPr lang="en-US" altLang="ko-KR" sz="1400" dirty="0"/>
              <a:t>: %d" % (a-b if a&gt;b else b-a))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10CC69-D01F-492E-8E2F-C5333F76D9BE}"/>
              </a:ext>
            </a:extLst>
          </p:cNvPr>
          <p:cNvSpPr/>
          <p:nvPr/>
        </p:nvSpPr>
        <p:spPr>
          <a:xfrm>
            <a:off x="567137" y="2967336"/>
            <a:ext cx="7029199" cy="9657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4-8.py</a:t>
            </a:r>
          </a:p>
          <a:p>
            <a:pPr fontAlgn="base"/>
            <a:r>
              <a:rPr lang="en-US" altLang="ko-KR" sz="1400" dirty="0"/>
              <a:t>a = 3, b = 5</a:t>
            </a:r>
          </a:p>
          <a:p>
            <a:pPr fontAlgn="base"/>
            <a:r>
              <a:rPr lang="ko-KR" altLang="en-US" sz="1400" dirty="0"/>
              <a:t>두수의 차이 </a:t>
            </a:r>
            <a:r>
              <a:rPr lang="en-US" altLang="ko-KR" sz="1400" dirty="0"/>
              <a:t>: 2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3269E8-5B8D-4E66-AD14-03DD1A6A860B}"/>
              </a:ext>
            </a:extLst>
          </p:cNvPr>
          <p:cNvSpPr/>
          <p:nvPr/>
        </p:nvSpPr>
        <p:spPr>
          <a:xfrm>
            <a:off x="564601" y="1620994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4-8.py</a:t>
            </a:r>
          </a:p>
        </p:txBody>
      </p:sp>
    </p:spTree>
    <p:extLst>
      <p:ext uri="{BB962C8B-B14F-4D97-AF65-F5344CB8AC3E}">
        <p14:creationId xmlns:p14="http://schemas.microsoft.com/office/powerpoint/2010/main" val="2877215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AE0A1-1723-4F22-97AA-9F6ECE06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4-9 </a:t>
            </a:r>
            <a:r>
              <a:rPr lang="ko-KR" altLang="en-US" dirty="0"/>
              <a:t>문자열 연산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E457E0-C644-4401-A2F3-0C7188A0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99E4F6-8A13-4618-BCE3-975CB8A2374B}"/>
              </a:ext>
            </a:extLst>
          </p:cNvPr>
          <p:cNvSpPr/>
          <p:nvPr/>
        </p:nvSpPr>
        <p:spPr>
          <a:xfrm>
            <a:off x="571114" y="2348880"/>
            <a:ext cx="4106416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print("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+ str(23))</a:t>
            </a:r>
          </a:p>
          <a:p>
            <a:r>
              <a:rPr lang="en-US" altLang="ko-KR" sz="1400" dirty="0"/>
              <a:t>print(str(23) + 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")</a:t>
            </a:r>
          </a:p>
          <a:p>
            <a:r>
              <a:rPr lang="en-US" altLang="ko-KR" sz="1400" dirty="0"/>
              <a:t>print(str(23) + "35")</a:t>
            </a:r>
          </a:p>
          <a:p>
            <a:r>
              <a:rPr lang="en-US" altLang="ko-KR" sz="1400" dirty="0"/>
              <a:t>print(str(23 + 35))</a:t>
            </a:r>
          </a:p>
          <a:p>
            <a:r>
              <a:rPr lang="en-US" altLang="ko-KR" sz="1400" dirty="0"/>
              <a:t>print(str(23 + 35) + 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")</a:t>
            </a:r>
          </a:p>
          <a:p>
            <a:r>
              <a:rPr lang="en-US" altLang="ko-KR" sz="1400" dirty="0"/>
              <a:t>print("</a:t>
            </a:r>
            <a:r>
              <a:rPr lang="en-US" altLang="ko-KR" sz="1400" dirty="0" err="1"/>
              <a:t>abc</a:t>
            </a:r>
            <a:r>
              <a:rPr lang="en-US" altLang="ko-KR" sz="1400" dirty="0"/>
              <a:t>" + str(23 + 35))</a:t>
            </a:r>
          </a:p>
          <a:p>
            <a:r>
              <a:rPr lang="en-US" altLang="ko-KR" sz="1400" dirty="0"/>
              <a:t>name = "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"</a:t>
            </a:r>
          </a:p>
          <a:p>
            <a:r>
              <a:rPr lang="en-US" altLang="ko-KR" sz="1400" dirty="0"/>
              <a:t>print(name == "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")</a:t>
            </a:r>
          </a:p>
          <a:p>
            <a:r>
              <a:rPr lang="en-US" altLang="ko-KR" sz="1400" dirty="0"/>
              <a:t>print(name &gt; "park")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8FF012-86FE-4557-A571-69B7459AF7A6}"/>
              </a:ext>
            </a:extLst>
          </p:cNvPr>
          <p:cNvSpPr/>
          <p:nvPr/>
        </p:nvSpPr>
        <p:spPr>
          <a:xfrm>
            <a:off x="443869" y="1339559"/>
            <a:ext cx="270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문자열의 비교 연산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96672D-194D-48A5-85C9-1C64F3D0DE13}"/>
              </a:ext>
            </a:extLst>
          </p:cNvPr>
          <p:cNvSpPr/>
          <p:nvPr/>
        </p:nvSpPr>
        <p:spPr>
          <a:xfrm>
            <a:off x="4844834" y="2348881"/>
            <a:ext cx="3183550" cy="223224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4-9.py</a:t>
            </a:r>
          </a:p>
          <a:p>
            <a:pPr fontAlgn="base"/>
            <a:r>
              <a:rPr lang="en-US" altLang="ko-KR" sz="1400" dirty="0"/>
              <a:t>abc23</a:t>
            </a:r>
          </a:p>
          <a:p>
            <a:pPr fontAlgn="base"/>
            <a:r>
              <a:rPr lang="en-US" altLang="ko-KR" sz="1400" dirty="0"/>
              <a:t>23abc</a:t>
            </a:r>
          </a:p>
          <a:p>
            <a:pPr fontAlgn="base"/>
            <a:r>
              <a:rPr lang="en-US" altLang="ko-KR" sz="1400" dirty="0"/>
              <a:t>2335</a:t>
            </a:r>
          </a:p>
          <a:p>
            <a:pPr fontAlgn="base"/>
            <a:r>
              <a:rPr lang="en-US" altLang="ko-KR" sz="1400" dirty="0"/>
              <a:t>58</a:t>
            </a:r>
          </a:p>
          <a:p>
            <a:pPr fontAlgn="base"/>
            <a:r>
              <a:rPr lang="en-US" altLang="ko-KR" sz="1400" dirty="0"/>
              <a:t>58abc</a:t>
            </a:r>
          </a:p>
          <a:p>
            <a:pPr fontAlgn="base"/>
            <a:r>
              <a:rPr lang="en-US" altLang="ko-KR" sz="1400" dirty="0"/>
              <a:t>abc58</a:t>
            </a:r>
          </a:p>
          <a:p>
            <a:pPr fontAlgn="base"/>
            <a:r>
              <a:rPr lang="en-US" altLang="ko-KR" sz="1400" dirty="0"/>
              <a:t>True</a:t>
            </a:r>
          </a:p>
          <a:p>
            <a:pPr fontAlgn="base"/>
            <a:r>
              <a:rPr lang="en-US" altLang="ko-KR" sz="1400" dirty="0"/>
              <a:t>False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064C7A-6A4B-4C3A-93C5-52C450B446B6}"/>
              </a:ext>
            </a:extLst>
          </p:cNvPr>
          <p:cNvSpPr/>
          <p:nvPr/>
        </p:nvSpPr>
        <p:spPr>
          <a:xfrm>
            <a:off x="524675" y="1920781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4-9.py</a:t>
            </a:r>
          </a:p>
        </p:txBody>
      </p:sp>
    </p:spTree>
    <p:extLst>
      <p:ext uri="{BB962C8B-B14F-4D97-AF65-F5344CB8AC3E}">
        <p14:creationId xmlns:p14="http://schemas.microsoft.com/office/powerpoint/2010/main" val="1686840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8ABF9B-ED04-42B1-9D2F-194C721E3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CC8EB1A-172B-480C-9D67-B98FAF0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4.4 </a:t>
            </a:r>
            <a:r>
              <a:rPr lang="ko-KR" altLang="en-US"/>
              <a:t>조건문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4731D8-77BC-4979-8D03-4E47D51D3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1454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B37B8-42EF-425F-8113-A19AA7CA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가지 종류의 </a:t>
            </a:r>
            <a:r>
              <a:rPr lang="ko-KR" altLang="en-US" dirty="0" err="1"/>
              <a:t>조건문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2D1CA-4B95-40E8-B500-85E2550D01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가지 종류의 </a:t>
            </a:r>
            <a:r>
              <a:rPr lang="ko-KR" altLang="en-US" dirty="0" err="1"/>
              <a:t>조건문</a:t>
            </a:r>
            <a:endParaRPr lang="en-US" altLang="ko-KR" dirty="0"/>
          </a:p>
          <a:p>
            <a:pPr lvl="1"/>
            <a:r>
              <a:rPr lang="en-US" altLang="ko-KR" dirty="0"/>
              <a:t>if, if-else,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종류가 있음</a:t>
            </a:r>
            <a:endParaRPr lang="en-US" altLang="ko-KR" dirty="0"/>
          </a:p>
          <a:p>
            <a:r>
              <a:rPr lang="en-US" altLang="ko-KR" dirty="0"/>
              <a:t>if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if-else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A59F6-9BC0-4704-8715-455DF012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24EAAB-7854-4279-BC6C-0335DC442B34}"/>
              </a:ext>
            </a:extLst>
          </p:cNvPr>
          <p:cNvSpPr/>
          <p:nvPr/>
        </p:nvSpPr>
        <p:spPr>
          <a:xfrm>
            <a:off x="1043608" y="2636912"/>
            <a:ext cx="6840677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</a:t>
            </a:r>
            <a:r>
              <a:rPr lang="ko-KR" altLang="en-US" sz="1400" dirty="0"/>
              <a:t>조건식</a:t>
            </a:r>
            <a:r>
              <a:rPr lang="en-US" altLang="ko-KR" sz="1400" dirty="0"/>
              <a:t>):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ko-KR" altLang="en-US" sz="1400" dirty="0"/>
              <a:t> </a:t>
            </a:r>
            <a:r>
              <a:rPr lang="en-US" altLang="ko-KR" sz="1400" dirty="0"/>
              <a:t>... # </a:t>
            </a: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이면 실행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533256-0DB5-4F19-9BDD-DB838FFE9710}"/>
              </a:ext>
            </a:extLst>
          </p:cNvPr>
          <p:cNvSpPr/>
          <p:nvPr/>
        </p:nvSpPr>
        <p:spPr>
          <a:xfrm>
            <a:off x="1043608" y="3272169"/>
            <a:ext cx="6840677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if(a &gt; b):</a:t>
            </a:r>
          </a:p>
          <a:p>
            <a:pPr defTabSz="180000"/>
            <a:r>
              <a:rPr lang="en-US" altLang="ko-KR" sz="1400" dirty="0"/>
              <a:t>	print("a</a:t>
            </a:r>
            <a:r>
              <a:rPr lang="ko-KR" altLang="en-US" sz="1400" dirty="0"/>
              <a:t>가 </a:t>
            </a:r>
            <a:r>
              <a:rPr lang="en-US" altLang="ko-KR" sz="1400" dirty="0"/>
              <a:t>b</a:t>
            </a:r>
            <a:r>
              <a:rPr lang="ko-KR" altLang="en-US" sz="1400" dirty="0"/>
              <a:t>보다 큽니다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3D60FE-2DEC-4CCC-8F60-1771276447F4}"/>
              </a:ext>
            </a:extLst>
          </p:cNvPr>
          <p:cNvSpPr/>
          <p:nvPr/>
        </p:nvSpPr>
        <p:spPr>
          <a:xfrm>
            <a:off x="1043608" y="4607915"/>
            <a:ext cx="6840677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</a:t>
            </a:r>
            <a:r>
              <a:rPr lang="ko-KR" altLang="en-US" sz="1400" dirty="0"/>
              <a:t>조건식</a:t>
            </a:r>
            <a:r>
              <a:rPr lang="en-US" altLang="ko-KR" sz="1400" dirty="0"/>
              <a:t>):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1 ... # </a:t>
            </a: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인 경우 실행</a:t>
            </a:r>
            <a:br>
              <a:rPr lang="ko-KR" altLang="en-US" sz="1400" dirty="0"/>
            </a:br>
            <a:r>
              <a:rPr lang="en-US" altLang="ko-KR" sz="1400" dirty="0"/>
              <a:t>else: 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2 ... # </a:t>
            </a: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인 경우 실행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166232-3830-4D3E-B629-B8B01BA59291}"/>
              </a:ext>
            </a:extLst>
          </p:cNvPr>
          <p:cNvSpPr/>
          <p:nvPr/>
        </p:nvSpPr>
        <p:spPr>
          <a:xfrm>
            <a:off x="1043608" y="5674059"/>
            <a:ext cx="6840677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if(a &gt; 10):</a:t>
            </a:r>
          </a:p>
          <a:p>
            <a:pPr defTabSz="180000"/>
            <a:r>
              <a:rPr lang="en-US" altLang="ko-KR" sz="1400" dirty="0"/>
              <a:t>	print("%d</a:t>
            </a:r>
            <a:r>
              <a:rPr lang="ko-KR" altLang="en-US" sz="1400" dirty="0"/>
              <a:t>가 </a:t>
            </a:r>
            <a:r>
              <a:rPr lang="en-US" altLang="ko-KR" sz="1400" dirty="0"/>
              <a:t>10</a:t>
            </a:r>
            <a:r>
              <a:rPr lang="ko-KR" altLang="en-US" sz="1400" dirty="0"/>
              <a:t>보다 큽니다</a:t>
            </a:r>
            <a:r>
              <a:rPr lang="en-US" altLang="ko-KR" sz="1400" dirty="0"/>
              <a:t>." % a)</a:t>
            </a:r>
          </a:p>
          <a:p>
            <a:pPr defTabSz="180000"/>
            <a:r>
              <a:rPr lang="en-US" altLang="ko-KR" sz="1400" dirty="0"/>
              <a:t>else:</a:t>
            </a:r>
          </a:p>
          <a:p>
            <a:pPr defTabSz="180000"/>
            <a:r>
              <a:rPr lang="en-US" altLang="ko-KR" sz="1400" dirty="0"/>
              <a:t>	print("%d</a:t>
            </a:r>
            <a:r>
              <a:rPr lang="ko-KR" altLang="en-US" sz="1400" dirty="0"/>
              <a:t>가 </a:t>
            </a:r>
            <a:r>
              <a:rPr lang="en-US" altLang="ko-KR" sz="1400" dirty="0"/>
              <a:t>10</a:t>
            </a:r>
            <a:r>
              <a:rPr lang="ko-KR" altLang="en-US" sz="1400" dirty="0"/>
              <a:t>보다 작지 않습니다</a:t>
            </a:r>
            <a:r>
              <a:rPr lang="en-US" altLang="ko-KR" sz="1400" dirty="0"/>
              <a:t>." % a)</a:t>
            </a:r>
          </a:p>
        </p:txBody>
      </p:sp>
    </p:spTree>
    <p:extLst>
      <p:ext uri="{BB962C8B-B14F-4D97-AF65-F5344CB8AC3E}">
        <p14:creationId xmlns:p14="http://schemas.microsoft.com/office/powerpoint/2010/main" val="68799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7AA54-3031-4344-8035-5AA317BA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가지 종류의 </a:t>
            </a:r>
            <a:r>
              <a:rPr lang="ko-KR" altLang="en-US" dirty="0" err="1"/>
              <a:t>조건문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D4D07D-4E8F-4A54-A348-55B361F69A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if-</a:t>
            </a:r>
            <a:r>
              <a:rPr lang="en-US" altLang="ko-KR" dirty="0" err="1"/>
              <a:t>elif</a:t>
            </a:r>
            <a:r>
              <a:rPr lang="en-US" altLang="ko-KR" dirty="0"/>
              <a:t>-else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F7903-46A0-4827-B578-F65879A9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E0EC49-5759-41C9-86FA-B95CB193B345}"/>
              </a:ext>
            </a:extLst>
          </p:cNvPr>
          <p:cNvSpPr/>
          <p:nvPr/>
        </p:nvSpPr>
        <p:spPr>
          <a:xfrm>
            <a:off x="899592" y="1844824"/>
            <a:ext cx="6912768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</a:t>
            </a:r>
            <a:r>
              <a:rPr lang="ko-KR" altLang="en-US" sz="1400" dirty="0"/>
              <a:t>조건식</a:t>
            </a:r>
            <a:r>
              <a:rPr lang="en-US" altLang="ko-KR" sz="1400" dirty="0"/>
              <a:t>1): 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1 ... # </a:t>
            </a:r>
            <a:r>
              <a:rPr lang="ko-KR" altLang="en-US" sz="1400" dirty="0"/>
              <a:t>조건식</a:t>
            </a:r>
            <a:r>
              <a:rPr lang="en-US" altLang="ko-KR" sz="1400" dirty="0"/>
              <a:t>1</a:t>
            </a:r>
            <a:r>
              <a:rPr lang="ko-KR" altLang="en-US" sz="1400" dirty="0"/>
              <a:t>이 </a:t>
            </a:r>
            <a:r>
              <a:rPr lang="en-US" altLang="ko-KR" sz="1400" dirty="0"/>
              <a:t>True</a:t>
            </a:r>
            <a:r>
              <a:rPr lang="ko-KR" altLang="en-US" sz="1400" dirty="0"/>
              <a:t>인 경우 </a:t>
            </a:r>
          </a:p>
          <a:p>
            <a:pPr defTabSz="180000"/>
            <a:r>
              <a:rPr lang="en-US" altLang="ko-KR" sz="1400" dirty="0" err="1"/>
              <a:t>elif</a:t>
            </a:r>
            <a:r>
              <a:rPr lang="en-US" altLang="ko-KR" sz="1400" dirty="0"/>
              <a:t>(</a:t>
            </a:r>
            <a:r>
              <a:rPr lang="ko-KR" altLang="en-US" sz="1400" dirty="0"/>
              <a:t>조건식</a:t>
            </a:r>
            <a:r>
              <a:rPr lang="en-US" altLang="ko-KR" sz="1400" dirty="0"/>
              <a:t>2):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2 ... # </a:t>
            </a:r>
            <a:r>
              <a:rPr lang="ko-KR" altLang="en-US" sz="1400" dirty="0"/>
              <a:t>조건식 </a:t>
            </a:r>
            <a:r>
              <a:rPr lang="en-US" altLang="ko-KR" sz="1400" dirty="0"/>
              <a:t>1</a:t>
            </a:r>
            <a:r>
              <a:rPr lang="ko-KR" altLang="en-US" sz="1400" dirty="0"/>
              <a:t>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이고</a:t>
            </a:r>
            <a:r>
              <a:rPr lang="en-US" altLang="ko-KR" sz="1400" dirty="0"/>
              <a:t>, </a:t>
            </a:r>
            <a:r>
              <a:rPr lang="ko-KR" altLang="en-US" sz="1400" dirty="0"/>
              <a:t>조건식</a:t>
            </a:r>
            <a:r>
              <a:rPr lang="en-US" altLang="ko-KR" sz="1400" dirty="0"/>
              <a:t>2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인 경우 실행</a:t>
            </a:r>
          </a:p>
          <a:p>
            <a:pPr defTabSz="180000"/>
            <a:r>
              <a:rPr lang="en-US" altLang="ko-KR" sz="1400" dirty="0"/>
              <a:t>………… 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else: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n ... # </a:t>
            </a:r>
            <a:r>
              <a:rPr lang="ko-KR" altLang="en-US" sz="1400" dirty="0"/>
              <a:t>앞의 모든 조건이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인 경우 실행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4922CB-ACAC-4951-86E3-7F614979AAB7}"/>
              </a:ext>
            </a:extLst>
          </p:cNvPr>
          <p:cNvSpPr/>
          <p:nvPr/>
        </p:nvSpPr>
        <p:spPr>
          <a:xfrm>
            <a:off x="899592" y="3717032"/>
            <a:ext cx="6912768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if(a &gt; b):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큰 수는 </a:t>
            </a:r>
            <a:r>
              <a:rPr lang="en-US" altLang="ko-KR" sz="1400" dirty="0"/>
              <a:t>%d" % a);</a:t>
            </a:r>
          </a:p>
          <a:p>
            <a:pPr defTabSz="180000"/>
            <a:r>
              <a:rPr lang="en-US" altLang="ko-KR" sz="1400" dirty="0" err="1"/>
              <a:t>elif</a:t>
            </a:r>
            <a:r>
              <a:rPr lang="en-US" altLang="ko-KR" sz="1400" dirty="0"/>
              <a:t>(a &lt; b):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큰 수는 </a:t>
            </a:r>
            <a:r>
              <a:rPr lang="en-US" altLang="ko-KR" sz="1400" dirty="0"/>
              <a:t>%d" % b);</a:t>
            </a:r>
          </a:p>
          <a:p>
            <a:pPr defTabSz="180000"/>
            <a:r>
              <a:rPr lang="en-US" altLang="ko-KR" sz="1400" dirty="0"/>
              <a:t>else:</a:t>
            </a:r>
          </a:p>
          <a:p>
            <a:pPr defTabSz="180000"/>
            <a:r>
              <a:rPr lang="en-US" altLang="ko-KR" sz="1400" dirty="0"/>
              <a:t>	print("%d</a:t>
            </a:r>
            <a:r>
              <a:rPr lang="ko-KR" altLang="en-US" sz="1400" dirty="0"/>
              <a:t>와 </a:t>
            </a:r>
            <a:r>
              <a:rPr lang="en-US" altLang="ko-KR" sz="1400" dirty="0"/>
              <a:t>%d</a:t>
            </a:r>
            <a:r>
              <a:rPr lang="ko-KR" altLang="en-US" sz="1400" dirty="0"/>
              <a:t>는 같다</a:t>
            </a:r>
            <a:r>
              <a:rPr lang="en-US" altLang="ko-KR" sz="1400" dirty="0"/>
              <a:t>."</a:t>
            </a:r>
            <a:r>
              <a:rPr lang="ko-KR" altLang="en-US" sz="1400" dirty="0"/>
              <a:t> </a:t>
            </a:r>
            <a:r>
              <a:rPr lang="en-US" altLang="ko-KR" sz="1400" dirty="0"/>
              <a:t>% (a, b));</a:t>
            </a:r>
          </a:p>
        </p:txBody>
      </p:sp>
    </p:spTree>
    <p:extLst>
      <p:ext uri="{BB962C8B-B14F-4D97-AF65-F5344CB8AC3E}">
        <p14:creationId xmlns:p14="http://schemas.microsoft.com/office/powerpoint/2010/main" val="53440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D03B6-A35D-4FAB-B971-EE8113E30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블록과</a:t>
            </a:r>
            <a:r>
              <a:rPr lang="en-US" altLang="ko-KR" dirty="0"/>
              <a:t> </a:t>
            </a:r>
            <a:r>
              <a:rPr lang="ko-KR" altLang="en-US" dirty="0"/>
              <a:t>들여쓰기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5545D7-86FE-46FE-962B-CED4546D13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r>
              <a:rPr lang="ko-KR" altLang="en-US" sz="2000"/>
              <a:t>블록</a:t>
            </a:r>
            <a:endParaRPr lang="en-US" altLang="ko-KR" sz="2000"/>
          </a:p>
          <a:p>
            <a:pPr lvl="1"/>
            <a:r>
              <a:rPr lang="ko-KR" altLang="en-US" sz="1800"/>
              <a:t>함수나</a:t>
            </a:r>
            <a:r>
              <a:rPr lang="en-US" altLang="ko-KR" sz="1800" dirty="0"/>
              <a:t>, if, for, while </a:t>
            </a:r>
            <a:r>
              <a:rPr lang="ko-KR" altLang="en-US" sz="1800" dirty="0"/>
              <a:t>등에서 조건을 만족할 때 실행할 </a:t>
            </a:r>
            <a:r>
              <a:rPr lang="en-US" altLang="ko-KR" sz="1800" dirty="0"/>
              <a:t>1</a:t>
            </a:r>
            <a:r>
              <a:rPr lang="ko-KR" altLang="en-US" sz="1800" dirty="0"/>
              <a:t>개 이상의 문장들을 </a:t>
            </a:r>
            <a:r>
              <a:rPr lang="ko-KR" altLang="en-US" sz="1800"/>
              <a:t>묶어 블록화</a:t>
            </a:r>
            <a:endParaRPr lang="ko-KR" altLang="en-US" sz="1800" dirty="0"/>
          </a:p>
          <a:p>
            <a:pPr lvl="1"/>
            <a:r>
              <a:rPr lang="ko-KR" altLang="en-US" sz="1800"/>
              <a:t>대부분의 언어에서는 </a:t>
            </a:r>
            <a:r>
              <a:rPr lang="ko-KR" altLang="en-US" sz="1800" dirty="0"/>
              <a:t>블록의 시작과 종료 기호를 별도로 사용</a:t>
            </a:r>
            <a:endParaRPr lang="en-US" altLang="ko-KR" sz="1800" dirty="0"/>
          </a:p>
          <a:p>
            <a:r>
              <a:rPr lang="ko-KR" altLang="en-US" sz="2000"/>
              <a:t>파이썬의 블록 시작</a:t>
            </a:r>
            <a:endParaRPr lang="en-US" altLang="ko-KR" sz="2000"/>
          </a:p>
          <a:p>
            <a:pPr lvl="1"/>
            <a:r>
              <a:rPr lang="ko-KR" altLang="en-US" sz="1800"/>
              <a:t> </a:t>
            </a:r>
            <a:r>
              <a:rPr lang="en-US" altLang="ko-KR" sz="1800" dirty="0"/>
              <a:t>':' </a:t>
            </a:r>
            <a:r>
              <a:rPr lang="ko-KR" altLang="en-US" sz="1800"/>
              <a:t>기호 사용</a:t>
            </a:r>
            <a:endParaRPr lang="en-US" altLang="ko-KR" sz="1800"/>
          </a:p>
          <a:p>
            <a:pPr lvl="1"/>
            <a:r>
              <a:rPr lang="ko-KR" altLang="en-US" sz="1800"/>
              <a:t>블록 내 문장들은 동일한 크기의 들여쓰기</a:t>
            </a:r>
            <a:endParaRPr lang="en-US" altLang="ko-KR" sz="1800" dirty="0"/>
          </a:p>
          <a:p>
            <a:r>
              <a:rPr lang="ko-KR" altLang="en-US" sz="2000" err="1"/>
              <a:t>파이썬의</a:t>
            </a:r>
            <a:r>
              <a:rPr lang="ko-KR" altLang="en-US" sz="2000"/>
              <a:t> 블록 종료</a:t>
            </a:r>
            <a:endParaRPr lang="en-US" altLang="ko-KR" sz="2000"/>
          </a:p>
          <a:p>
            <a:pPr lvl="1"/>
            <a:r>
              <a:rPr lang="ko-KR" altLang="en-US" sz="1800"/>
              <a:t> 들여쓰기의 종료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93F913-5E11-4F86-A229-862EAEF5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58DFB5-FFF3-4210-B64E-445BA82B8A64}"/>
              </a:ext>
            </a:extLst>
          </p:cNvPr>
          <p:cNvSpPr/>
          <p:nvPr/>
        </p:nvSpPr>
        <p:spPr>
          <a:xfrm>
            <a:off x="1095397" y="4697610"/>
            <a:ext cx="741628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if(temperature &gt; 30) 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		print("</a:t>
            </a:r>
            <a:r>
              <a:rPr lang="ko-KR" altLang="en-US" sz="1400" dirty="0"/>
              <a:t>온도가 </a:t>
            </a:r>
            <a:r>
              <a:rPr lang="en-US" altLang="ko-KR" sz="1400" dirty="0"/>
              <a:t>30</a:t>
            </a:r>
            <a:r>
              <a:rPr lang="ko-KR" altLang="en-US" sz="1400" dirty="0"/>
              <a:t>이상</a:t>
            </a:r>
            <a:r>
              <a:rPr lang="en-US" altLang="ko-KR" sz="1400" dirty="0"/>
              <a:t>.")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		print("</a:t>
            </a:r>
            <a:r>
              <a:rPr lang="ko-KR" altLang="en-US" sz="1400" dirty="0"/>
              <a:t>경보 발송</a:t>
            </a:r>
            <a:r>
              <a:rPr lang="en-US" altLang="ko-KR" sz="1400" dirty="0"/>
              <a:t>!")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		print("</a:t>
            </a:r>
            <a:r>
              <a:rPr lang="ko-KR" altLang="en-US" sz="1400" dirty="0"/>
              <a:t>온도는 낮추도록 에어컨을 작동시켜라</a:t>
            </a:r>
            <a:r>
              <a:rPr lang="en-US" altLang="ko-KR" sz="1400" dirty="0"/>
              <a:t>.")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else: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		print("</a:t>
            </a:r>
            <a:r>
              <a:rPr lang="ko-KR" altLang="en-US" sz="1400" dirty="0"/>
              <a:t>온도가 </a:t>
            </a:r>
            <a:r>
              <a:rPr lang="en-US" altLang="ko-KR" sz="1400" dirty="0"/>
              <a:t>30</a:t>
            </a:r>
            <a:r>
              <a:rPr lang="ko-KR" altLang="en-US" sz="1400" dirty="0"/>
              <a:t>도 이하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A603D-D6BA-4468-82C3-7030B8FD2A0C}"/>
              </a:ext>
            </a:extLst>
          </p:cNvPr>
          <p:cNvSpPr txBox="1"/>
          <p:nvPr/>
        </p:nvSpPr>
        <p:spPr>
          <a:xfrm>
            <a:off x="3563888" y="4625602"/>
            <a:ext cx="1103264" cy="289441"/>
          </a:xfrm>
          <a:prstGeom prst="wedgeRoundRectCallout">
            <a:avLst>
              <a:gd name="adj1" fmla="val -99361"/>
              <a:gd name="adj2" fmla="val 3692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 dirty="0"/>
              <a:t>블록의 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78684-9CE5-477D-8D85-AD6582B7651E}"/>
              </a:ext>
            </a:extLst>
          </p:cNvPr>
          <p:cNvSpPr txBox="1"/>
          <p:nvPr/>
        </p:nvSpPr>
        <p:spPr>
          <a:xfrm>
            <a:off x="1238869" y="4985642"/>
            <a:ext cx="432048" cy="175865"/>
          </a:xfrm>
          <a:prstGeom prst="wedgeRoundRectCallout">
            <a:avLst>
              <a:gd name="adj1" fmla="val -50125"/>
              <a:gd name="adj2" fmla="val 2754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tIns="18000" rIns="90000" bIns="18000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900"/>
              <a:t>tab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3754C-50D4-4843-81F8-2D14E1A08659}"/>
              </a:ext>
            </a:extLst>
          </p:cNvPr>
          <p:cNvSpPr txBox="1"/>
          <p:nvPr/>
        </p:nvSpPr>
        <p:spPr>
          <a:xfrm>
            <a:off x="1238869" y="5201666"/>
            <a:ext cx="432048" cy="175865"/>
          </a:xfrm>
          <a:prstGeom prst="wedgeRoundRectCallout">
            <a:avLst>
              <a:gd name="adj1" fmla="val -50125"/>
              <a:gd name="adj2" fmla="val 2754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tIns="18000" rIns="90000" bIns="18000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900"/>
              <a:t>tab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6DAD7-B953-4216-8CA1-4F929B455224}"/>
              </a:ext>
            </a:extLst>
          </p:cNvPr>
          <p:cNvSpPr txBox="1"/>
          <p:nvPr/>
        </p:nvSpPr>
        <p:spPr>
          <a:xfrm>
            <a:off x="1238869" y="5417690"/>
            <a:ext cx="432048" cy="175865"/>
          </a:xfrm>
          <a:prstGeom prst="wedgeRoundRectCallout">
            <a:avLst>
              <a:gd name="adj1" fmla="val -50125"/>
              <a:gd name="adj2" fmla="val 2754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tIns="18000" rIns="90000" bIns="18000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900"/>
              <a:t>tab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3BFC6-2503-485A-BB24-972561B1E7B2}"/>
              </a:ext>
            </a:extLst>
          </p:cNvPr>
          <p:cNvSpPr txBox="1"/>
          <p:nvPr/>
        </p:nvSpPr>
        <p:spPr>
          <a:xfrm>
            <a:off x="1238869" y="5832239"/>
            <a:ext cx="432048" cy="175865"/>
          </a:xfrm>
          <a:prstGeom prst="wedgeRoundRectCallout">
            <a:avLst>
              <a:gd name="adj1" fmla="val -50125"/>
              <a:gd name="adj2" fmla="val 2754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tIns="18000" rIns="90000" bIns="18000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sz="900"/>
              <a:t>tab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D5696-A3EA-413E-B70C-4D897F443AC8}"/>
              </a:ext>
            </a:extLst>
          </p:cNvPr>
          <p:cNvSpPr txBox="1"/>
          <p:nvPr/>
        </p:nvSpPr>
        <p:spPr>
          <a:xfrm>
            <a:off x="971600" y="6379919"/>
            <a:ext cx="1224136" cy="289441"/>
          </a:xfrm>
          <a:prstGeom prst="wedgeRoundRectCallout">
            <a:avLst>
              <a:gd name="adj1" fmla="val -17460"/>
              <a:gd name="adj2" fmla="val -16452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/>
              <a:t>들여 쓰기 일치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56446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EB8C6-F423-4336-8964-B5B4652E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4-10 if-</a:t>
            </a:r>
            <a:r>
              <a:rPr lang="en-US" altLang="ko-KR" dirty="0" err="1"/>
              <a:t>elif</a:t>
            </a:r>
            <a:r>
              <a:rPr lang="en-US" altLang="ko-KR" dirty="0"/>
              <a:t>-else</a:t>
            </a:r>
            <a:r>
              <a:rPr lang="ko-KR" altLang="en-US" dirty="0"/>
              <a:t>와 들여쓰기 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B05298-E04A-4DB3-B5E1-E497406D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D6F216-9840-4CC1-AC7E-7ECA5F0603BA}"/>
              </a:ext>
            </a:extLst>
          </p:cNvPr>
          <p:cNvSpPr/>
          <p:nvPr/>
        </p:nvSpPr>
        <p:spPr>
          <a:xfrm>
            <a:off x="539552" y="1339855"/>
            <a:ext cx="663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if-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-else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문을 활용하여 점수를 입력 받아 학점의 계산하여 출력하라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7CD59B-848D-4A8B-B821-57C0FF30E5F2}"/>
              </a:ext>
            </a:extLst>
          </p:cNvPr>
          <p:cNvSpPr/>
          <p:nvPr/>
        </p:nvSpPr>
        <p:spPr>
          <a:xfrm>
            <a:off x="609600" y="2175527"/>
            <a:ext cx="6266656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grade = 0</a:t>
            </a:r>
          </a:p>
          <a:p>
            <a:pPr defTabSz="180000"/>
            <a:r>
              <a:rPr lang="en-US" altLang="ko-KR" sz="1400" dirty="0"/>
              <a:t>score = input("</a:t>
            </a:r>
            <a:r>
              <a:rPr lang="ko-KR" altLang="en-US" sz="1400" dirty="0"/>
              <a:t>점수를 입력하세요</a:t>
            </a:r>
            <a:r>
              <a:rPr lang="en-US" altLang="ko-KR" sz="1400" dirty="0"/>
              <a:t>&gt;&gt;")</a:t>
            </a:r>
          </a:p>
          <a:p>
            <a:pPr defTabSz="180000"/>
            <a:r>
              <a:rPr lang="en-US" altLang="ko-KR" sz="1400" dirty="0"/>
              <a:t>score = int(score) # </a:t>
            </a:r>
            <a:r>
              <a:rPr lang="ko-KR" altLang="en-US" sz="1400" dirty="0"/>
              <a:t>문자열을 숫자로 바꿈</a:t>
            </a:r>
          </a:p>
          <a:p>
            <a:pPr defTabSz="180000"/>
            <a:r>
              <a:rPr lang="en-US" altLang="ko-KR" sz="1400" dirty="0"/>
              <a:t>if score &gt;= 90 : 		#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90 </a:t>
            </a:r>
            <a:r>
              <a:rPr lang="ko-KR" altLang="en-US" sz="1400" dirty="0"/>
              <a:t>이상</a:t>
            </a:r>
          </a:p>
          <a:p>
            <a:pPr defTabSz="180000"/>
            <a:r>
              <a:rPr lang="en-US" altLang="ko-KR" sz="1400" dirty="0"/>
              <a:t>	grade = "A"</a:t>
            </a:r>
          </a:p>
          <a:p>
            <a:pPr defTabSz="180000"/>
            <a:r>
              <a:rPr lang="en-US" altLang="ko-KR" sz="1400" dirty="0" err="1"/>
              <a:t>elif</a:t>
            </a:r>
            <a:r>
              <a:rPr lang="en-US" altLang="ko-KR" sz="1400" dirty="0"/>
              <a:t> score &gt;= 80 : 		# 80 </a:t>
            </a:r>
            <a:r>
              <a:rPr lang="ko-KR" altLang="en-US" sz="1400" dirty="0"/>
              <a:t>이상 </a:t>
            </a:r>
            <a:r>
              <a:rPr lang="en-US" altLang="ko-KR" sz="1400" dirty="0"/>
              <a:t>90 </a:t>
            </a:r>
            <a:r>
              <a:rPr lang="ko-KR" altLang="en-US" sz="1400" dirty="0"/>
              <a:t>미만</a:t>
            </a:r>
          </a:p>
          <a:p>
            <a:pPr defTabSz="180000"/>
            <a:r>
              <a:rPr lang="en-US" altLang="ko-KR" sz="1400" dirty="0"/>
              <a:t>	grade = "B"</a:t>
            </a:r>
          </a:p>
          <a:p>
            <a:pPr defTabSz="180000"/>
            <a:r>
              <a:rPr lang="en-US" altLang="ko-KR" sz="1400" dirty="0" err="1"/>
              <a:t>elif</a:t>
            </a:r>
            <a:r>
              <a:rPr lang="en-US" altLang="ko-KR" sz="1400" dirty="0"/>
              <a:t> score &gt;= 70 : 		# 70 </a:t>
            </a:r>
            <a:r>
              <a:rPr lang="ko-KR" altLang="en-US" sz="1400" dirty="0"/>
              <a:t>이상 </a:t>
            </a:r>
            <a:r>
              <a:rPr lang="en-US" altLang="ko-KR" sz="1400" dirty="0"/>
              <a:t>80 </a:t>
            </a:r>
            <a:r>
              <a:rPr lang="ko-KR" altLang="en-US" sz="1400" dirty="0"/>
              <a:t>미만</a:t>
            </a:r>
          </a:p>
          <a:p>
            <a:pPr defTabSz="180000"/>
            <a:r>
              <a:rPr lang="en-US" altLang="ko-KR" sz="1400" dirty="0"/>
              <a:t>	grade = "C"</a:t>
            </a:r>
          </a:p>
          <a:p>
            <a:pPr defTabSz="180000"/>
            <a:r>
              <a:rPr lang="en-US" altLang="ko-KR" sz="1400" dirty="0" err="1"/>
              <a:t>elif</a:t>
            </a:r>
            <a:r>
              <a:rPr lang="en-US" altLang="ko-KR" sz="1400" dirty="0"/>
              <a:t> score &gt;= 60 : 		# 60 </a:t>
            </a:r>
            <a:r>
              <a:rPr lang="ko-KR" altLang="en-US" sz="1400" dirty="0"/>
              <a:t>이상 </a:t>
            </a:r>
            <a:r>
              <a:rPr lang="en-US" altLang="ko-KR" sz="1400" dirty="0"/>
              <a:t>70 </a:t>
            </a:r>
            <a:r>
              <a:rPr lang="ko-KR" altLang="en-US" sz="1400" dirty="0"/>
              <a:t>미만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grade = "D"</a:t>
            </a:r>
          </a:p>
          <a:p>
            <a:pPr defTabSz="180000"/>
            <a:r>
              <a:rPr lang="en-US" altLang="ko-KR" sz="1400" dirty="0"/>
              <a:t>else: 			# 60 </a:t>
            </a:r>
            <a:r>
              <a:rPr lang="ko-KR" altLang="en-US" sz="1400" dirty="0"/>
              <a:t>미만</a:t>
            </a:r>
          </a:p>
          <a:p>
            <a:pPr defTabSz="180000"/>
            <a:r>
              <a:rPr lang="en-US" altLang="ko-KR" sz="1400" dirty="0"/>
              <a:t>	grade = "F"</a:t>
            </a:r>
          </a:p>
          <a:p>
            <a:pPr defTabSz="180000"/>
            <a:r>
              <a:rPr lang="en-US" altLang="ko-KR" sz="1400" dirty="0"/>
              <a:t>print(str(score) + "</a:t>
            </a:r>
            <a:r>
              <a:rPr lang="ko-KR" altLang="en-US" sz="1400" dirty="0"/>
              <a:t>는 </a:t>
            </a:r>
            <a:r>
              <a:rPr lang="en-US" altLang="ko-KR" sz="1400" dirty="0"/>
              <a:t>"</a:t>
            </a:r>
            <a:r>
              <a:rPr lang="ko-KR" altLang="en-US" sz="1400" dirty="0"/>
              <a:t> </a:t>
            </a:r>
            <a:r>
              <a:rPr lang="en-US" altLang="ko-KR" sz="1400" dirty="0"/>
              <a:t>+ grade + "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96953D-F853-4AF7-8B6E-8F41DA988215}"/>
              </a:ext>
            </a:extLst>
          </p:cNvPr>
          <p:cNvSpPr/>
          <p:nvPr/>
        </p:nvSpPr>
        <p:spPr>
          <a:xfrm>
            <a:off x="609600" y="5448126"/>
            <a:ext cx="6266656" cy="10052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4-10.py</a:t>
            </a:r>
          </a:p>
          <a:p>
            <a:pPr fontAlgn="base"/>
            <a:r>
              <a:rPr lang="ko-KR" altLang="en-US" sz="1400" dirty="0"/>
              <a:t>점수를 입력하세요</a:t>
            </a:r>
            <a:r>
              <a:rPr lang="en-US" altLang="ko-KR" sz="1400" dirty="0"/>
              <a:t>&gt;&gt;89</a:t>
            </a:r>
          </a:p>
          <a:p>
            <a:pPr fontAlgn="base"/>
            <a:r>
              <a:rPr lang="en-US" altLang="ko-KR" sz="1400" dirty="0"/>
              <a:t>89</a:t>
            </a:r>
            <a:r>
              <a:rPr lang="ko-KR" altLang="en-US" sz="1400" dirty="0"/>
              <a:t>는 </a:t>
            </a:r>
            <a:r>
              <a:rPr lang="en-US" altLang="ko-KR" sz="1400" dirty="0"/>
              <a:t>B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823C81-0AF3-4178-9F75-90253C642E2E}"/>
              </a:ext>
            </a:extLst>
          </p:cNvPr>
          <p:cNvSpPr/>
          <p:nvPr/>
        </p:nvSpPr>
        <p:spPr>
          <a:xfrm>
            <a:off x="515742" y="1719078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4-10.py</a:t>
            </a:r>
          </a:p>
        </p:txBody>
      </p:sp>
    </p:spTree>
    <p:extLst>
      <p:ext uri="{BB962C8B-B14F-4D97-AF65-F5344CB8AC3E}">
        <p14:creationId xmlns:p14="http://schemas.microsoft.com/office/powerpoint/2010/main" val="950563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2FB67A-C83B-4817-B955-738997568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1500A-78CC-4E8A-9C3B-941F970A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4.5 </a:t>
            </a:r>
            <a:r>
              <a:rPr lang="ko-KR" altLang="en-US"/>
              <a:t>반복문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D4134-202E-4980-9BE3-D8905896B2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68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0AD49-EEE2-4776-A9DB-29B44C4E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4941E0-A468-4A9D-950D-B8C47A9631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endParaRPr lang="en-US" altLang="ko-KR" dirty="0"/>
          </a:p>
          <a:p>
            <a:pPr lvl="1"/>
            <a:r>
              <a:rPr lang="en-US" altLang="ko-KR" dirty="0"/>
              <a:t>for, while</a:t>
            </a:r>
            <a:r>
              <a:rPr lang="ko-KR" altLang="en-US" dirty="0"/>
              <a:t>이 있음</a:t>
            </a:r>
            <a:r>
              <a:rPr lang="en-US" altLang="ko-KR" dirty="0"/>
              <a:t>, do-while</a:t>
            </a:r>
            <a:r>
              <a:rPr lang="ko-KR" altLang="en-US" dirty="0"/>
              <a:t>은 없음</a:t>
            </a:r>
            <a:endParaRPr lang="en-US" altLang="ko-KR" dirty="0"/>
          </a:p>
          <a:p>
            <a:r>
              <a:rPr lang="en-US" altLang="ko-KR" dirty="0"/>
              <a:t>for</a:t>
            </a:r>
          </a:p>
          <a:p>
            <a:pPr lvl="1"/>
            <a:r>
              <a:rPr lang="ko-KR" altLang="en-US" dirty="0"/>
              <a:t>반복 회수를 아는 경우에 주로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 fontAlgn="base"/>
            <a:r>
              <a:rPr lang="en-US" altLang="ko-KR"/>
              <a:t>start</a:t>
            </a:r>
          </a:p>
          <a:p>
            <a:pPr lvl="2" fontAlgn="base"/>
            <a:r>
              <a:rPr lang="ko-KR" altLang="en-US"/>
              <a:t>시작 </a:t>
            </a:r>
            <a:r>
              <a:rPr lang="ko-KR" altLang="en-US" dirty="0"/>
              <a:t>값</a:t>
            </a:r>
            <a:r>
              <a:rPr lang="en-US" altLang="ko-KR" dirty="0"/>
              <a:t>. </a:t>
            </a:r>
            <a:r>
              <a:rPr lang="ko-KR" altLang="en-US" dirty="0"/>
              <a:t>생략하면 </a:t>
            </a:r>
            <a:r>
              <a:rPr lang="en-US" altLang="ko-KR" dirty="0"/>
              <a:t>0</a:t>
            </a:r>
            <a:endParaRPr lang="ko-KR" altLang="en-US" dirty="0"/>
          </a:p>
          <a:p>
            <a:pPr lvl="1" fontAlgn="base"/>
            <a:r>
              <a:rPr lang="en-US" altLang="ko-KR"/>
              <a:t>stop</a:t>
            </a:r>
          </a:p>
          <a:p>
            <a:pPr lvl="2" fontAlgn="base"/>
            <a:r>
              <a:rPr lang="ko-KR" altLang="en-US"/>
              <a:t>반복 </a:t>
            </a:r>
            <a:r>
              <a:rPr lang="ko-KR" altLang="en-US" dirty="0"/>
              <a:t>중지 조건 값</a:t>
            </a:r>
            <a:r>
              <a:rPr lang="en-US" altLang="ko-KR" dirty="0"/>
              <a:t>. </a:t>
            </a:r>
            <a:r>
              <a:rPr lang="ko-KR" altLang="en-US" dirty="0"/>
              <a:t>생략될 수 없음</a:t>
            </a:r>
          </a:p>
          <a:p>
            <a:pPr lvl="1" fontAlgn="base"/>
            <a:r>
              <a:rPr lang="en-US" altLang="ko-KR"/>
              <a:t>step</a:t>
            </a:r>
          </a:p>
          <a:p>
            <a:pPr lvl="2" fontAlgn="base"/>
            <a:r>
              <a:rPr lang="ko-KR" altLang="en-US"/>
              <a:t>반복 </a:t>
            </a:r>
            <a:r>
              <a:rPr lang="ko-KR" altLang="en-US" dirty="0"/>
              <a:t>시마다 증감 시키는 값</a:t>
            </a:r>
            <a:r>
              <a:rPr lang="en-US" altLang="ko-KR" dirty="0"/>
              <a:t>. </a:t>
            </a:r>
            <a:r>
              <a:rPr lang="ko-KR" altLang="en-US" dirty="0"/>
              <a:t>생략하면 </a:t>
            </a:r>
            <a:r>
              <a:rPr lang="en-US" altLang="ko-KR" dirty="0"/>
              <a:t>1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5752F-D51D-44ED-BE89-7F22CD0C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206C62-BCDE-4309-8B2F-EEAD9EC8182B}"/>
              </a:ext>
            </a:extLst>
          </p:cNvPr>
          <p:cNvSpPr/>
          <p:nvPr/>
        </p:nvSpPr>
        <p:spPr>
          <a:xfrm>
            <a:off x="1115616" y="3068960"/>
            <a:ext cx="7311605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for </a:t>
            </a:r>
            <a:r>
              <a:rPr lang="ko-KR" altLang="en-US" sz="1400"/>
              <a:t>변수 </a:t>
            </a:r>
            <a:r>
              <a:rPr lang="en-US" altLang="ko-KR" sz="1400" dirty="0"/>
              <a:t>in range(start, stop, step):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1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18871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E510C-CFDE-4F9E-A6B9-4E0AC17F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E59E4-88AA-4501-8AD1-8F6329D4148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range() </a:t>
            </a:r>
            <a:r>
              <a:rPr lang="ko-KR" altLang="en-US" dirty="0"/>
              <a:t>함수의 사용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문자열과 </a:t>
            </a:r>
            <a:r>
              <a:rPr lang="en-US" altLang="ko-KR" dirty="0"/>
              <a:t>for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67779-AFD3-4810-BE81-C37006AC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79CF8B-F56F-4D7C-8FFB-199B1C8A5714}"/>
              </a:ext>
            </a:extLst>
          </p:cNvPr>
          <p:cNvSpPr/>
          <p:nvPr/>
        </p:nvSpPr>
        <p:spPr>
          <a:xfrm>
            <a:off x="899592" y="1838146"/>
            <a:ext cx="648072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range(5)</a:t>
            </a:r>
            <a:r>
              <a:rPr lang="ko-KR" altLang="en-US" sz="1400" dirty="0"/>
              <a:t>		</a:t>
            </a:r>
            <a:r>
              <a:rPr lang="en-US" altLang="ko-KR" sz="1400" dirty="0"/>
              <a:t>		# range(0,5,1)</a:t>
            </a:r>
            <a:r>
              <a:rPr lang="ko-KR" altLang="en-US" sz="1400" dirty="0"/>
              <a:t>과 동일</a:t>
            </a:r>
            <a:r>
              <a:rPr lang="en-US" altLang="ko-KR" sz="1400" dirty="0"/>
              <a:t>. 0, 1, 2, 3, 4</a:t>
            </a:r>
            <a:r>
              <a:rPr lang="ko-KR" altLang="en-US" sz="1400" dirty="0"/>
              <a:t>를 순서대로 리턴 </a:t>
            </a:r>
          </a:p>
          <a:p>
            <a:pPr defTabSz="180000"/>
            <a:r>
              <a:rPr lang="en-US" altLang="ko-KR" sz="1400" dirty="0"/>
              <a:t>range(2, 5)</a:t>
            </a:r>
            <a:r>
              <a:rPr lang="ko-KR" altLang="en-US" sz="1400" dirty="0"/>
              <a:t>	</a:t>
            </a:r>
            <a:r>
              <a:rPr lang="en-US" altLang="ko-KR" sz="1400" dirty="0"/>
              <a:t>		# range(2,5,1)</a:t>
            </a:r>
            <a:r>
              <a:rPr lang="ko-KR" altLang="en-US" sz="1400" dirty="0"/>
              <a:t>과 동일</a:t>
            </a:r>
            <a:r>
              <a:rPr lang="en-US" altLang="ko-KR" sz="1400" dirty="0"/>
              <a:t>. 2, 3, 4</a:t>
            </a:r>
            <a:r>
              <a:rPr lang="ko-KR" altLang="en-US" sz="1400" dirty="0"/>
              <a:t>를 순서대로 리턴 </a:t>
            </a:r>
          </a:p>
          <a:p>
            <a:pPr defTabSz="180000"/>
            <a:r>
              <a:rPr lang="en-US" altLang="ko-KR" sz="1400" dirty="0"/>
              <a:t>range(2, 5, 2)</a:t>
            </a:r>
            <a:r>
              <a:rPr lang="ko-KR" altLang="en-US" sz="1400" dirty="0"/>
              <a:t>	</a:t>
            </a:r>
            <a:r>
              <a:rPr lang="en-US" altLang="ko-KR" sz="1400" dirty="0"/>
              <a:t>	# 2, 4</a:t>
            </a:r>
            <a:r>
              <a:rPr lang="ko-KR" altLang="en-US" sz="1400" dirty="0"/>
              <a:t>를 순서대로 리턴 </a:t>
            </a:r>
          </a:p>
          <a:p>
            <a:pPr defTabSz="180000"/>
            <a:r>
              <a:rPr lang="en-US" altLang="ko-KR" sz="1400" dirty="0"/>
              <a:t>range(5, 0, -1)</a:t>
            </a:r>
            <a:r>
              <a:rPr lang="ko-KR" altLang="en-US" sz="1400" dirty="0"/>
              <a:t>	</a:t>
            </a:r>
            <a:r>
              <a:rPr lang="en-US" altLang="ko-KR" sz="1400" dirty="0"/>
              <a:t># 5, 4, 3, 2, 1</a:t>
            </a:r>
            <a:r>
              <a:rPr lang="ko-KR" altLang="en-US" sz="1400" dirty="0"/>
              <a:t>을 순서대로 리턴 </a:t>
            </a:r>
            <a:endParaRPr lang="en-US" altLang="ko-KR" sz="1400" dirty="0"/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range(5, 2)</a:t>
            </a:r>
            <a:r>
              <a:rPr lang="ko-KR" altLang="en-US" sz="1400" dirty="0"/>
              <a:t>	</a:t>
            </a:r>
            <a:r>
              <a:rPr lang="en-US" altLang="ko-KR" sz="1400" dirty="0"/>
              <a:t>		# range(5,2,1)</a:t>
            </a:r>
            <a:r>
              <a:rPr lang="ko-KR" altLang="en-US" sz="1400" dirty="0"/>
              <a:t>과 동일</a:t>
            </a:r>
            <a:r>
              <a:rPr lang="en-US" altLang="ko-KR" sz="1400" dirty="0"/>
              <a:t>. </a:t>
            </a:r>
            <a:r>
              <a:rPr lang="ko-KR" altLang="en-US" sz="1400" dirty="0"/>
              <a:t>아무 값도 </a:t>
            </a:r>
            <a:r>
              <a:rPr lang="ko-KR" altLang="en-US" sz="1400" dirty="0" err="1"/>
              <a:t>리턴하지</a:t>
            </a:r>
            <a:r>
              <a:rPr lang="ko-KR" altLang="en-US" sz="1400" dirty="0"/>
              <a:t> 않고 반복 종료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C8032C-D5A0-4F62-93FA-416133364E5F}"/>
              </a:ext>
            </a:extLst>
          </p:cNvPr>
          <p:cNvSpPr/>
          <p:nvPr/>
        </p:nvSpPr>
        <p:spPr>
          <a:xfrm>
            <a:off x="872897" y="4114868"/>
            <a:ext cx="6480720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for </a:t>
            </a:r>
            <a:r>
              <a:rPr lang="ko-KR" altLang="en-US" sz="1400"/>
              <a:t>변수 </a:t>
            </a:r>
            <a:r>
              <a:rPr lang="en-US" altLang="ko-KR" sz="1400"/>
              <a:t>in </a:t>
            </a:r>
            <a:r>
              <a:rPr lang="ko-KR" altLang="en-US" sz="1400"/>
              <a:t>문자열</a:t>
            </a:r>
            <a:r>
              <a:rPr lang="en-US" altLang="ko-KR" sz="1400" dirty="0"/>
              <a:t>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1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n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9EFCBB-BD65-4690-9399-1923CCE0364C}"/>
              </a:ext>
            </a:extLst>
          </p:cNvPr>
          <p:cNvSpPr/>
          <p:nvPr/>
        </p:nvSpPr>
        <p:spPr>
          <a:xfrm>
            <a:off x="872897" y="5337868"/>
            <a:ext cx="648072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for c in 'Falling in love with you':</a:t>
            </a:r>
          </a:p>
          <a:p>
            <a:pPr defTabSz="180000"/>
            <a:r>
              <a:rPr lang="en-US" altLang="ko-KR" sz="1400" dirty="0"/>
              <a:t>	print(c, end=',')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38D56A-80FC-4E5F-BC2D-6340918C9810}"/>
              </a:ext>
            </a:extLst>
          </p:cNvPr>
          <p:cNvSpPr/>
          <p:nvPr/>
        </p:nvSpPr>
        <p:spPr>
          <a:xfrm>
            <a:off x="872897" y="6025154"/>
            <a:ext cx="6480720" cy="3385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dirty="0" err="1"/>
              <a:t>F,a,l,l,i</a:t>
            </a:r>
            <a:r>
              <a:rPr lang="en-US" altLang="ko-KR" sz="1400" err="1"/>
              <a:t>,</a:t>
            </a:r>
            <a:r>
              <a:rPr lang="en-US" altLang="ko-KR" sz="1400"/>
              <a:t>n,g, ,i,n, ,</a:t>
            </a:r>
            <a:r>
              <a:rPr lang="en-US" altLang="ko-KR" sz="1400" dirty="0" err="1"/>
              <a:t>l,o</a:t>
            </a:r>
            <a:r>
              <a:rPr lang="en-US" altLang="ko-KR" sz="1400" err="1"/>
              <a:t>,</a:t>
            </a:r>
            <a:r>
              <a:rPr lang="en-US" altLang="ko-KR" sz="1400"/>
              <a:t>v,e, ,</a:t>
            </a:r>
            <a:r>
              <a:rPr lang="en-US" altLang="ko-KR" sz="1400" dirty="0" err="1"/>
              <a:t>w,i</a:t>
            </a:r>
            <a:r>
              <a:rPr lang="en-US" altLang="ko-KR" sz="1400" err="1"/>
              <a:t>,</a:t>
            </a:r>
            <a:r>
              <a:rPr lang="en-US" altLang="ko-KR" sz="1400"/>
              <a:t>t,h, ,</a:t>
            </a:r>
            <a:r>
              <a:rPr lang="en-US" altLang="ko-KR" sz="1400" dirty="0" err="1"/>
              <a:t>y</a:t>
            </a:r>
            <a:r>
              <a:rPr lang="en-US" altLang="ko-KR" sz="1400" err="1"/>
              <a:t>,</a:t>
            </a:r>
            <a:r>
              <a:rPr lang="en-US" altLang="ko-KR" sz="1400"/>
              <a:t>o,u</a:t>
            </a:r>
            <a:r>
              <a:rPr lang="en-US" altLang="ko-KR" sz="1400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619571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0A6C2-0558-4F65-B6B4-FBAF2899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4-11 range() </a:t>
            </a:r>
            <a:r>
              <a:rPr lang="ko-KR" altLang="en-US" dirty="0"/>
              <a:t>함수와 </a:t>
            </a:r>
            <a:r>
              <a:rPr lang="en-US" altLang="ko-KR" dirty="0"/>
              <a:t>for </a:t>
            </a:r>
            <a:r>
              <a:rPr lang="ko-KR" altLang="en-US" dirty="0" err="1"/>
              <a:t>반목문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03E7A4B-E776-4883-9266-0A526187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E3A3D5-3F66-45B4-8381-8E7BBAB77A75}"/>
              </a:ext>
            </a:extLst>
          </p:cNvPr>
          <p:cNvSpPr/>
          <p:nvPr/>
        </p:nvSpPr>
        <p:spPr>
          <a:xfrm>
            <a:off x="539552" y="1306269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다양한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range ( )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함수를 활용한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문의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5BECA7-5B60-4893-ABC4-743F3A0CD1F6}"/>
              </a:ext>
            </a:extLst>
          </p:cNvPr>
          <p:cNvSpPr/>
          <p:nvPr/>
        </p:nvSpPr>
        <p:spPr>
          <a:xfrm>
            <a:off x="609600" y="2122978"/>
            <a:ext cx="4034408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# 10</a:t>
            </a:r>
            <a:r>
              <a:rPr lang="ko-KR" altLang="en-US" sz="1400" dirty="0"/>
              <a:t>에서 </a:t>
            </a:r>
            <a:r>
              <a:rPr lang="en-US" altLang="ko-KR" sz="1400" dirty="0"/>
              <a:t>35</a:t>
            </a:r>
            <a:r>
              <a:rPr lang="ko-KR" altLang="en-US" sz="1400" dirty="0"/>
              <a:t>까지 </a:t>
            </a:r>
            <a:r>
              <a:rPr lang="en-US" altLang="ko-KR" sz="1400" dirty="0"/>
              <a:t>5</a:t>
            </a:r>
            <a:r>
              <a:rPr lang="ko-KR" altLang="en-US" sz="1400" dirty="0"/>
              <a:t>씩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증가</a:t>
            </a:r>
          </a:p>
          <a:p>
            <a:pPr defTabSz="180000"/>
            <a:r>
              <a:rPr lang="en-US" altLang="ko-KR" sz="1400" dirty="0"/>
              <a:t>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range(10, 36, 5):</a:t>
            </a:r>
          </a:p>
          <a:p>
            <a:pPr defTabSz="180000"/>
            <a:r>
              <a:rPr lang="en-US" altLang="ko-KR" sz="1400" dirty="0"/>
              <a:t>	print(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, end=",")</a:t>
            </a:r>
          </a:p>
          <a:p>
            <a:pPr defTabSz="180000"/>
            <a:r>
              <a:rPr lang="en-US" altLang="ko-KR" sz="1400" dirty="0"/>
              <a:t>print("")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#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를 </a:t>
            </a:r>
            <a:r>
              <a:rPr lang="en-US" altLang="ko-KR" sz="1400" dirty="0"/>
              <a:t>0</a:t>
            </a:r>
            <a:r>
              <a:rPr lang="ko-KR" altLang="en-US" sz="1400" dirty="0"/>
              <a:t>에서 </a:t>
            </a:r>
            <a:r>
              <a:rPr lang="en-US" altLang="ko-KR" sz="1400" dirty="0"/>
              <a:t>5</a:t>
            </a:r>
            <a:r>
              <a:rPr lang="ko-KR" altLang="en-US" sz="1400" dirty="0"/>
              <a:t>까지 </a:t>
            </a:r>
            <a:r>
              <a:rPr lang="en-US" altLang="ko-KR" sz="1400" dirty="0"/>
              <a:t>1</a:t>
            </a:r>
            <a:r>
              <a:rPr lang="ko-KR" altLang="en-US" sz="1400" dirty="0"/>
              <a:t>씩 증가</a:t>
            </a:r>
          </a:p>
          <a:p>
            <a:pPr defTabSz="180000"/>
            <a:r>
              <a:rPr lang="en-US" altLang="ko-KR" sz="1400" dirty="0"/>
              <a:t>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range(6):</a:t>
            </a:r>
          </a:p>
          <a:p>
            <a:pPr defTabSz="180000"/>
            <a:r>
              <a:rPr lang="da-DK" altLang="ko-KR" sz="1400" dirty="0"/>
              <a:t>	print(10+i*5, end=",")</a:t>
            </a:r>
          </a:p>
          <a:p>
            <a:pPr defTabSz="180000"/>
            <a:r>
              <a:rPr lang="en-US" altLang="ko-KR" sz="1400" dirty="0"/>
              <a:t>print("")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#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를 </a:t>
            </a:r>
            <a:r>
              <a:rPr lang="en-US" altLang="ko-KR" sz="1400" dirty="0"/>
              <a:t>0</a:t>
            </a:r>
            <a:r>
              <a:rPr lang="ko-KR" altLang="en-US" sz="1400" dirty="0"/>
              <a:t>에서 </a:t>
            </a:r>
            <a:r>
              <a:rPr lang="en-US" altLang="ko-KR" sz="1400" dirty="0"/>
              <a:t>5</a:t>
            </a:r>
            <a:r>
              <a:rPr lang="ko-KR" altLang="en-US" sz="1400" dirty="0"/>
              <a:t>까지 </a:t>
            </a:r>
            <a:r>
              <a:rPr lang="en-US" altLang="ko-KR" sz="1400" dirty="0"/>
              <a:t>1</a:t>
            </a:r>
            <a:r>
              <a:rPr lang="ko-KR" altLang="en-US" sz="1400" dirty="0"/>
              <a:t>씩 증가</a:t>
            </a:r>
          </a:p>
          <a:p>
            <a:pPr defTabSz="180000"/>
            <a:r>
              <a:rPr lang="en-US" altLang="ko-KR" sz="1400" dirty="0"/>
              <a:t>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range(0, 6):</a:t>
            </a:r>
          </a:p>
          <a:p>
            <a:pPr defTabSz="180000"/>
            <a:r>
              <a:rPr lang="da-DK" altLang="ko-KR" sz="1400" dirty="0"/>
              <a:t>	print(10+i*5, end=",")</a:t>
            </a:r>
          </a:p>
          <a:p>
            <a:pPr defTabSz="180000"/>
            <a:r>
              <a:rPr lang="en-US" altLang="ko-KR" sz="1400" dirty="0"/>
              <a:t>print("")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range(35, 9, -5):</a:t>
            </a:r>
          </a:p>
          <a:p>
            <a:pPr defTabSz="180000"/>
            <a:r>
              <a:rPr lang="en-US" altLang="ko-KR" sz="1400" dirty="0"/>
              <a:t>	print(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, end=",")</a:t>
            </a:r>
          </a:p>
          <a:p>
            <a:pPr defTabSz="180000"/>
            <a:r>
              <a:rPr lang="en-US" altLang="ko-KR" sz="1400" dirty="0"/>
              <a:t>print("")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88255E-7852-4B71-9C53-321285268F69}"/>
              </a:ext>
            </a:extLst>
          </p:cNvPr>
          <p:cNvSpPr/>
          <p:nvPr/>
        </p:nvSpPr>
        <p:spPr>
          <a:xfrm>
            <a:off x="4802560" y="2129759"/>
            <a:ext cx="3153816" cy="13712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4-11.py</a:t>
            </a:r>
          </a:p>
          <a:p>
            <a:pPr fontAlgn="base"/>
            <a:r>
              <a:rPr lang="en-US" altLang="ko-KR" sz="1400" dirty="0"/>
              <a:t>10,15,20,25,30,35,</a:t>
            </a:r>
          </a:p>
          <a:p>
            <a:pPr fontAlgn="base"/>
            <a:r>
              <a:rPr lang="en-US" altLang="ko-KR" sz="1400" dirty="0"/>
              <a:t>10,15,20,25,30,35,</a:t>
            </a:r>
          </a:p>
          <a:p>
            <a:pPr fontAlgn="base"/>
            <a:r>
              <a:rPr lang="en-US" altLang="ko-KR" sz="1400" dirty="0"/>
              <a:t>10,15,20,25,30,35,</a:t>
            </a:r>
          </a:p>
          <a:p>
            <a:pPr fontAlgn="base"/>
            <a:r>
              <a:rPr lang="en-US" altLang="ko-KR" sz="1400" dirty="0"/>
              <a:t>35,30,25,20,15,10,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E13E98-64BB-4B19-8C75-F19CC3AFB6F8}"/>
              </a:ext>
            </a:extLst>
          </p:cNvPr>
          <p:cNvSpPr/>
          <p:nvPr/>
        </p:nvSpPr>
        <p:spPr>
          <a:xfrm>
            <a:off x="539552" y="1700365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4-11.py</a:t>
            </a:r>
          </a:p>
        </p:txBody>
      </p:sp>
    </p:spTree>
    <p:extLst>
      <p:ext uri="{BB962C8B-B14F-4D97-AF65-F5344CB8AC3E}">
        <p14:creationId xmlns:p14="http://schemas.microsoft.com/office/powerpoint/2010/main" val="24375170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CBE5E-DCF8-48F1-B77B-5C4833F5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4–12 </a:t>
            </a:r>
            <a:r>
              <a:rPr lang="ko-KR" altLang="en-US" dirty="0"/>
              <a:t>문자열과 </a:t>
            </a:r>
            <a:r>
              <a:rPr lang="en-US" altLang="ko-KR" dirty="0"/>
              <a:t>for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347539A-87CC-45EA-9961-4076EC36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3EC041-00A0-4F5F-BC1E-8BA6A8532DC9}"/>
              </a:ext>
            </a:extLst>
          </p:cNvPr>
          <p:cNvSpPr/>
          <p:nvPr/>
        </p:nvSpPr>
        <p:spPr>
          <a:xfrm>
            <a:off x="501500" y="1406082"/>
            <a:ext cx="6805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“Falling in love with you”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문자 “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”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개수를 세는 코드를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1D42D7-35DA-4390-B354-B506F45BF693}"/>
              </a:ext>
            </a:extLst>
          </p:cNvPr>
          <p:cNvSpPr/>
          <p:nvPr/>
        </p:nvSpPr>
        <p:spPr>
          <a:xfrm>
            <a:off x="609600" y="2321794"/>
            <a:ext cx="6482680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count = 0</a:t>
            </a:r>
          </a:p>
          <a:p>
            <a:pPr defTabSz="180000"/>
            <a:r>
              <a:rPr lang="en-US" altLang="ko-KR" sz="1400" dirty="0"/>
              <a:t>for c in "Falling in love with you" :</a:t>
            </a:r>
          </a:p>
          <a:p>
            <a:pPr defTabSz="180000"/>
            <a:r>
              <a:rPr lang="en-US" altLang="ko-KR" sz="1400" dirty="0"/>
              <a:t>	if c </a:t>
            </a:r>
            <a:r>
              <a:rPr lang="en-US" altLang="ko-KR" sz="1400"/>
              <a:t>== "i</a:t>
            </a:r>
            <a:r>
              <a:rPr lang="en-US" altLang="ko-KR" sz="1400" dirty="0"/>
              <a:t>" :</a:t>
            </a:r>
          </a:p>
          <a:p>
            <a:pPr defTabSz="180000"/>
            <a:r>
              <a:rPr lang="en-US" altLang="ko-KR" sz="1400" dirty="0"/>
              <a:t>		count += 1</a:t>
            </a:r>
          </a:p>
          <a:p>
            <a:pPr defTabSz="180000"/>
            <a:r>
              <a:rPr lang="en-US" altLang="ko-KR" sz="1400"/>
              <a:t>print("</a:t>
            </a:r>
            <a:r>
              <a:rPr lang="en-US" altLang="ko-KR" sz="1400" dirty="0" err="1"/>
              <a:t>i</a:t>
            </a:r>
            <a:r>
              <a:rPr lang="ko-KR" altLang="en-US" sz="1400" dirty="0"/>
              <a:t>의 </a:t>
            </a:r>
            <a:r>
              <a:rPr lang="ko-KR" altLang="en-US" sz="1400"/>
              <a:t>개수는 </a:t>
            </a:r>
            <a:r>
              <a:rPr lang="en-US" altLang="ko-KR" sz="1400" dirty="0"/>
              <a:t>", </a:t>
            </a:r>
            <a:r>
              <a:rPr lang="en-US" altLang="ko-KR" sz="1400"/>
              <a:t>count)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7D59FB-604B-4C3D-82E3-672D6BB68665}"/>
              </a:ext>
            </a:extLst>
          </p:cNvPr>
          <p:cNvSpPr/>
          <p:nvPr/>
        </p:nvSpPr>
        <p:spPr>
          <a:xfrm>
            <a:off x="624914" y="3645024"/>
            <a:ext cx="6482680" cy="72008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4-12.py</a:t>
            </a:r>
          </a:p>
          <a:p>
            <a:pPr fontAlgn="base"/>
            <a:r>
              <a:rPr lang="en-US" altLang="ko-KR" sz="1400" dirty="0" err="1"/>
              <a:t>i</a:t>
            </a:r>
            <a:r>
              <a:rPr lang="ko-KR" altLang="en-US" sz="1400" dirty="0"/>
              <a:t>의 개수는 </a:t>
            </a:r>
            <a:r>
              <a:rPr lang="en-US" altLang="ko-KR" sz="1400" dirty="0"/>
              <a:t>3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88A642-EFC0-4D7E-A5A4-6A3CC5A2B4AA}"/>
              </a:ext>
            </a:extLst>
          </p:cNvPr>
          <p:cNvSpPr/>
          <p:nvPr/>
        </p:nvSpPr>
        <p:spPr>
          <a:xfrm>
            <a:off x="544822" y="1844381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4-12.py</a:t>
            </a:r>
          </a:p>
        </p:txBody>
      </p:sp>
    </p:spTree>
    <p:extLst>
      <p:ext uri="{BB962C8B-B14F-4D97-AF65-F5344CB8AC3E}">
        <p14:creationId xmlns:p14="http://schemas.microsoft.com/office/powerpoint/2010/main" val="15815234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5E63A-644A-4C47-979A-749FAB82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9A5DF6-DD50-4CA1-9280-56B6160DE67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조건식이 </a:t>
            </a:r>
            <a:r>
              <a:rPr lang="en-US" altLang="ko-KR" dirty="0"/>
              <a:t>True</a:t>
            </a:r>
            <a:r>
              <a:rPr lang="ko-KR" altLang="en-US" dirty="0"/>
              <a:t>인 동안 블록</a:t>
            </a:r>
            <a:r>
              <a:rPr lang="en-US" altLang="ko-KR" dirty="0"/>
              <a:t>(</a:t>
            </a:r>
            <a:r>
              <a:rPr lang="ko-KR" altLang="en-US" dirty="0"/>
              <a:t>문장</a:t>
            </a:r>
            <a:r>
              <a:rPr lang="en-US" altLang="ko-KR" dirty="0"/>
              <a:t>1~</a:t>
            </a:r>
            <a:r>
              <a:rPr lang="ko-KR" altLang="en-US" dirty="0"/>
              <a:t>문장</a:t>
            </a:r>
            <a:r>
              <a:rPr lang="en-US" altLang="ko-KR" dirty="0"/>
              <a:t>N)</a:t>
            </a:r>
            <a:r>
              <a:rPr lang="ko-KR" altLang="en-US" dirty="0"/>
              <a:t>을 반복 실행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0159D9-90E1-47C1-8EA3-29DDBEB6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A0F153-71FC-4407-8D6D-98B0C236E088}"/>
              </a:ext>
            </a:extLst>
          </p:cNvPr>
          <p:cNvSpPr/>
          <p:nvPr/>
        </p:nvSpPr>
        <p:spPr>
          <a:xfrm>
            <a:off x="1043608" y="1916832"/>
            <a:ext cx="6840760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while</a:t>
            </a:r>
            <a:r>
              <a:rPr lang="en-US" altLang="ko-KR" sz="1400"/>
              <a:t>(</a:t>
            </a:r>
            <a:r>
              <a:rPr lang="ko-KR" altLang="en-US" sz="1400"/>
              <a:t>조건식</a:t>
            </a:r>
            <a:r>
              <a:rPr lang="en-US" altLang="ko-KR" sz="1400" dirty="0"/>
              <a:t>):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1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697304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AD240-F549-4F8B-AE2A-FB1A783D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4-13 while </a:t>
            </a:r>
            <a:r>
              <a:rPr lang="ko-KR" altLang="en-US" dirty="0"/>
              <a:t>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221F53-2B61-44EA-A768-EDB5475B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8AC4F0-165F-4E2A-B14B-7A66837DCC9F}"/>
              </a:ext>
            </a:extLst>
          </p:cNvPr>
          <p:cNvSpPr/>
          <p:nvPr/>
        </p:nvSpPr>
        <p:spPr>
          <a:xfrm>
            <a:off x="539552" y="1377787"/>
            <a:ext cx="8153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while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문을 활용하여 정수를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입력받아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0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입력받은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정수까지의 합을 구하여 출력하는 프로그램을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5CBEA6-F62C-4E25-B703-E94CA99174B1}"/>
              </a:ext>
            </a:extLst>
          </p:cNvPr>
          <p:cNvSpPr/>
          <p:nvPr/>
        </p:nvSpPr>
        <p:spPr>
          <a:xfrm>
            <a:off x="609598" y="2367171"/>
            <a:ext cx="6410674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n = input("</a:t>
            </a:r>
            <a:r>
              <a:rPr lang="ko-KR" altLang="en-US" sz="1400"/>
              <a:t>정수 입력</a:t>
            </a:r>
            <a:r>
              <a:rPr lang="en-US" altLang="ko-KR" sz="1400" dirty="0"/>
              <a:t>&gt;&gt; ")</a:t>
            </a:r>
          </a:p>
          <a:p>
            <a:pPr defTabSz="180000"/>
            <a:r>
              <a:rPr lang="en-US" altLang="ko-KR" sz="1400" dirty="0"/>
              <a:t>n = int(n) # </a:t>
            </a:r>
            <a:r>
              <a:rPr lang="ko-KR" altLang="en-US" sz="1400" dirty="0" err="1"/>
              <a:t>입력받은</a:t>
            </a:r>
            <a:r>
              <a:rPr lang="ko-KR" altLang="en-US" sz="1400" dirty="0"/>
              <a:t> 문자열을 정수로 변환</a:t>
            </a:r>
          </a:p>
          <a:p>
            <a:pPr defTabSz="180000"/>
            <a:r>
              <a:rPr lang="en-US" altLang="ko-KR" sz="1400"/>
              <a:t>i</a:t>
            </a:r>
            <a:r>
              <a:rPr lang="en-US" altLang="ko-KR" sz="1400" dirty="0"/>
              <a:t> = 1</a:t>
            </a:r>
          </a:p>
          <a:p>
            <a:pPr defTabSz="180000"/>
            <a:r>
              <a:rPr lang="en-US" altLang="ko-KR" sz="1400" dirty="0"/>
              <a:t>sum = 0</a:t>
            </a:r>
          </a:p>
          <a:p>
            <a:pPr defTabSz="180000"/>
            <a:r>
              <a:rPr lang="en-US" altLang="ko-KR" sz="1400"/>
              <a:t>while i</a:t>
            </a:r>
            <a:r>
              <a:rPr lang="en-US" altLang="ko-KR" sz="1400" dirty="0"/>
              <a:t> &lt;= n :</a:t>
            </a:r>
          </a:p>
          <a:p>
            <a:pPr defTabSz="180000"/>
            <a:r>
              <a:rPr lang="en-US" altLang="ko-KR" sz="1400" dirty="0"/>
              <a:t>	sum </a:t>
            </a:r>
            <a:r>
              <a:rPr lang="en-US" altLang="ko-KR" sz="1400"/>
              <a:t>+= i</a:t>
            </a:r>
            <a:endParaRPr lang="en-US" altLang="ko-KR" sz="1400" dirty="0"/>
          </a:p>
          <a:p>
            <a:pPr defTabSz="180000"/>
            <a:r>
              <a:rPr lang="en-US" altLang="ko-KR" sz="1400"/>
              <a:t>	i</a:t>
            </a:r>
            <a:r>
              <a:rPr lang="en-US" altLang="ko-KR" sz="1400" dirty="0"/>
              <a:t> += 1</a:t>
            </a:r>
          </a:p>
          <a:p>
            <a:pPr defTabSz="180000"/>
            <a:r>
              <a:rPr lang="en-US" altLang="ko-KR" sz="1400" dirty="0"/>
              <a:t>print("1~%d</a:t>
            </a:r>
            <a:r>
              <a:rPr lang="ko-KR" altLang="en-US" sz="1400" dirty="0"/>
              <a:t>까지의 </a:t>
            </a:r>
            <a:r>
              <a:rPr lang="ko-KR" altLang="en-US" sz="1400"/>
              <a:t>합은 </a:t>
            </a:r>
            <a:r>
              <a:rPr lang="en-US" altLang="ko-KR" sz="1400" dirty="0"/>
              <a:t>%d" % (n, </a:t>
            </a:r>
            <a:r>
              <a:rPr lang="en-US" altLang="ko-KR" sz="1400"/>
              <a:t>sum))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5C3CDF-3429-4F9B-8BC0-62C29A5C3989}"/>
              </a:ext>
            </a:extLst>
          </p:cNvPr>
          <p:cNvSpPr/>
          <p:nvPr/>
        </p:nvSpPr>
        <p:spPr>
          <a:xfrm>
            <a:off x="613959" y="4365104"/>
            <a:ext cx="6410674" cy="10081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4-13.py</a:t>
            </a:r>
          </a:p>
          <a:p>
            <a:pPr fontAlgn="base"/>
            <a:r>
              <a:rPr lang="ko-KR" altLang="en-US" sz="1400" dirty="0"/>
              <a:t>정수를 입력하세요</a:t>
            </a:r>
            <a:r>
              <a:rPr lang="en-US" altLang="ko-KR" sz="1400" dirty="0"/>
              <a:t>: 10</a:t>
            </a:r>
          </a:p>
          <a:p>
            <a:pPr fontAlgn="base"/>
            <a:r>
              <a:rPr lang="en-US" altLang="ko-KR" sz="1400" dirty="0"/>
              <a:t>1~10</a:t>
            </a:r>
            <a:r>
              <a:rPr lang="ko-KR" altLang="en-US" sz="1400" dirty="0"/>
              <a:t>까지의 합은 </a:t>
            </a:r>
            <a:r>
              <a:rPr lang="en-US" altLang="ko-KR" sz="1400" dirty="0"/>
              <a:t>55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94172D-F013-49BE-B537-94F53E8B9A79}"/>
              </a:ext>
            </a:extLst>
          </p:cNvPr>
          <p:cNvSpPr/>
          <p:nvPr/>
        </p:nvSpPr>
        <p:spPr>
          <a:xfrm>
            <a:off x="509563" y="1963373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4-13.py</a:t>
            </a:r>
          </a:p>
        </p:txBody>
      </p:sp>
    </p:spTree>
    <p:extLst>
      <p:ext uri="{BB962C8B-B14F-4D97-AF65-F5344CB8AC3E}">
        <p14:creationId xmlns:p14="http://schemas.microsoft.com/office/powerpoint/2010/main" val="27403786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4EED3-EC20-474B-839C-C8D1A5AB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반복문</a:t>
            </a:r>
            <a:r>
              <a:rPr lang="ko-KR" altLang="en-US" dirty="0"/>
              <a:t> 내의 </a:t>
            </a:r>
            <a:r>
              <a:rPr lang="en-US" altLang="ko-KR" dirty="0"/>
              <a:t>break</a:t>
            </a:r>
            <a:r>
              <a:rPr lang="ko-KR" altLang="en-US" dirty="0"/>
              <a:t>문 </a:t>
            </a:r>
            <a:r>
              <a:rPr lang="en-US" altLang="ko-KR" dirty="0"/>
              <a:t>&amp; continue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24A7C-99AF-4FA0-870B-244707508F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r>
              <a:rPr lang="ko-KR" altLang="en-US" dirty="0"/>
              <a:t> 내의 </a:t>
            </a:r>
            <a:r>
              <a:rPr lang="en-US" altLang="ko-KR" dirty="0"/>
              <a:t>break</a:t>
            </a:r>
            <a:r>
              <a:rPr lang="ko-KR" altLang="en-US" dirty="0"/>
              <a:t>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반복문</a:t>
            </a:r>
            <a:r>
              <a:rPr lang="ko-KR" altLang="en-US" dirty="0"/>
              <a:t> 내의 </a:t>
            </a:r>
            <a:r>
              <a:rPr lang="en-US" altLang="ko-KR" dirty="0"/>
              <a:t>continue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9B8785-8858-486C-9C96-59F3D3F7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4F032-73FE-4734-A450-9AB732188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72816"/>
            <a:ext cx="4981590" cy="20162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9E9556-0504-46C2-A522-4966F6111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68" y="4509120"/>
            <a:ext cx="4886406" cy="20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1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711D0-3479-4933-BBFC-238BE4F3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4-14 break </a:t>
            </a:r>
            <a:r>
              <a:rPr lang="ko-KR" altLang="en-US" dirty="0"/>
              <a:t>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FD2792-7E82-4B8D-B7C6-9E5FFEB8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17F75E-C8D2-4A5D-BEEC-928313A5BFC2}"/>
              </a:ext>
            </a:extLst>
          </p:cNvPr>
          <p:cNvSpPr/>
          <p:nvPr/>
        </p:nvSpPr>
        <p:spPr>
          <a:xfrm>
            <a:off x="609600" y="1382802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break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문을 활용하여 반복문을 벗어나는 사례를 보인다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얼마까지 더하면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3000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보다 크면서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3000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 가장 가까운 합을 얻을 수 있는지 프로그램을 작성하여 찾아라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5C6053-46C5-46BE-B08A-8CCF6BD5F5F8}"/>
              </a:ext>
            </a:extLst>
          </p:cNvPr>
          <p:cNvSpPr/>
          <p:nvPr/>
        </p:nvSpPr>
        <p:spPr>
          <a:xfrm>
            <a:off x="620689" y="2439515"/>
            <a:ext cx="6543599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i</a:t>
            </a:r>
            <a:r>
              <a:rPr lang="en-US" altLang="ko-KR" sz="1400" dirty="0"/>
              <a:t> = 1</a:t>
            </a:r>
          </a:p>
          <a:p>
            <a:pPr defTabSz="180000"/>
            <a:r>
              <a:rPr lang="en-US" altLang="ko-KR" sz="1400" dirty="0"/>
              <a:t>sum = 0</a:t>
            </a:r>
          </a:p>
          <a:p>
            <a:pPr defTabSz="180000"/>
            <a:r>
              <a:rPr lang="en-US" altLang="ko-KR" sz="1400" dirty="0"/>
              <a:t>while True :</a:t>
            </a:r>
          </a:p>
          <a:p>
            <a:pPr defTabSz="180000"/>
            <a:r>
              <a:rPr lang="en-US" altLang="ko-KR" sz="1400" dirty="0"/>
              <a:t>	sum </a:t>
            </a:r>
            <a:r>
              <a:rPr lang="en-US" altLang="ko-KR" sz="1400"/>
              <a:t>+= i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if sum &gt; 3000:</a:t>
            </a:r>
          </a:p>
          <a:p>
            <a:pPr defTabSz="180000"/>
            <a:r>
              <a:rPr lang="en-US" altLang="ko-KR" sz="1400" dirty="0"/>
              <a:t>		break # </a:t>
            </a:r>
            <a:r>
              <a:rPr lang="ko-KR" altLang="en-US" sz="1400"/>
              <a:t>합이 </a:t>
            </a:r>
            <a:r>
              <a:rPr lang="en-US" altLang="ko-KR" sz="1400" dirty="0"/>
              <a:t>3000</a:t>
            </a:r>
            <a:r>
              <a:rPr lang="ko-KR" altLang="en-US" sz="1400" dirty="0"/>
              <a:t>을 넘어섰기 때문에 반복 종료</a:t>
            </a:r>
          </a:p>
          <a:p>
            <a:pPr defTabSz="180000"/>
            <a:r>
              <a:rPr lang="en-US" altLang="ko-KR" sz="1400"/>
              <a:t>	i</a:t>
            </a:r>
            <a:r>
              <a:rPr lang="en-US" altLang="ko-KR" sz="1400" dirty="0"/>
              <a:t> += 1</a:t>
            </a:r>
          </a:p>
          <a:p>
            <a:pPr defTabSz="180000"/>
            <a:r>
              <a:rPr lang="en-US" altLang="ko-KR" sz="1400" dirty="0"/>
              <a:t>print("1~%d</a:t>
            </a:r>
            <a:r>
              <a:rPr lang="ko-KR" altLang="en-US" sz="1400" dirty="0"/>
              <a:t>까지 </a:t>
            </a:r>
            <a:r>
              <a:rPr lang="ko-KR" altLang="en-US" sz="1400"/>
              <a:t>합하면 </a:t>
            </a:r>
            <a:r>
              <a:rPr lang="en-US" altLang="ko-KR" sz="1400" dirty="0"/>
              <a:t>%</a:t>
            </a:r>
            <a:r>
              <a:rPr lang="en-US" altLang="ko-KR" sz="1400"/>
              <a:t>d</a:t>
            </a:r>
            <a:r>
              <a:rPr lang="ko-KR" altLang="en-US" sz="1400"/>
              <a:t>입니다</a:t>
            </a:r>
            <a:r>
              <a:rPr lang="en-US" altLang="ko-KR" sz="1400" dirty="0"/>
              <a:t>." </a:t>
            </a:r>
            <a:r>
              <a:rPr lang="en-US" altLang="ko-KR" sz="1400"/>
              <a:t>% (i</a:t>
            </a:r>
            <a:r>
              <a:rPr lang="en-US" altLang="ko-KR" sz="1400" dirty="0"/>
              <a:t>, </a:t>
            </a:r>
            <a:r>
              <a:rPr lang="en-US" altLang="ko-KR" sz="1400"/>
              <a:t>sum))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EA277-7588-415F-9416-07B63BD7684E}"/>
              </a:ext>
            </a:extLst>
          </p:cNvPr>
          <p:cNvSpPr/>
          <p:nvPr/>
        </p:nvSpPr>
        <p:spPr>
          <a:xfrm>
            <a:off x="609600" y="4437112"/>
            <a:ext cx="6543599" cy="7920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4-14.py</a:t>
            </a:r>
          </a:p>
          <a:p>
            <a:pPr fontAlgn="base"/>
            <a:r>
              <a:rPr lang="en-US" altLang="ko-KR" sz="1400" dirty="0"/>
              <a:t>1~77</a:t>
            </a:r>
            <a:r>
              <a:rPr lang="ko-KR" altLang="en-US" sz="1400" dirty="0"/>
              <a:t>까지 합하면 </a:t>
            </a:r>
            <a:r>
              <a:rPr lang="en-US" altLang="ko-KR" sz="1400" dirty="0"/>
              <a:t>3003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0A0A67-6326-4FBA-BB31-6D3F79781F2E}"/>
              </a:ext>
            </a:extLst>
          </p:cNvPr>
          <p:cNvSpPr/>
          <p:nvPr/>
        </p:nvSpPr>
        <p:spPr>
          <a:xfrm>
            <a:off x="585319" y="2007024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4-14.py</a:t>
            </a:r>
          </a:p>
        </p:txBody>
      </p:sp>
    </p:spTree>
    <p:extLst>
      <p:ext uri="{BB962C8B-B14F-4D97-AF65-F5344CB8AC3E}">
        <p14:creationId xmlns:p14="http://schemas.microsoft.com/office/powerpoint/2010/main" val="1865980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7ABF6-4F02-4613-93A8-94BD4588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4-15 continue </a:t>
            </a:r>
            <a:r>
              <a:rPr lang="ko-KR" altLang="en-US" dirty="0"/>
              <a:t>문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6B58D4-B117-4A9F-BA54-7E8676CF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AD4EFE-64D5-4679-98E1-DFBFFBF197ED}"/>
              </a:ext>
            </a:extLst>
          </p:cNvPr>
          <p:cNvSpPr/>
          <p:nvPr/>
        </p:nvSpPr>
        <p:spPr>
          <a:xfrm>
            <a:off x="609600" y="1384226"/>
            <a:ext cx="828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10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사이의 정수 중에서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으로 나눈 나머지가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인 정수들만 더한 합 구하라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CC1E6B-110B-46CC-B45D-15DDD9D82548}"/>
              </a:ext>
            </a:extLst>
          </p:cNvPr>
          <p:cNvSpPr/>
          <p:nvPr/>
        </p:nvSpPr>
        <p:spPr>
          <a:xfrm>
            <a:off x="609600" y="2266644"/>
            <a:ext cx="6050631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print("1~10</a:t>
            </a:r>
            <a:r>
              <a:rPr lang="ko-KR" altLang="en-US" sz="1400"/>
              <a:t>사이 </a:t>
            </a:r>
            <a:r>
              <a:rPr lang="en-US" altLang="ko-KR" sz="1400" dirty="0"/>
              <a:t>3</a:t>
            </a:r>
            <a:r>
              <a:rPr lang="ko-KR" altLang="en-US" sz="1400" dirty="0"/>
              <a:t>으로 나눈 </a:t>
            </a:r>
            <a:r>
              <a:rPr lang="ko-KR" altLang="en-US" sz="1400"/>
              <a:t>나머지가 </a:t>
            </a:r>
            <a:r>
              <a:rPr lang="en-US" altLang="ko-KR" sz="1400" dirty="0"/>
              <a:t>1</a:t>
            </a:r>
            <a:r>
              <a:rPr lang="ko-KR" altLang="en-US" sz="1400" dirty="0"/>
              <a:t>인 </a:t>
            </a:r>
            <a:r>
              <a:rPr lang="ko-KR" altLang="en-US" sz="1400"/>
              <a:t>수만 더하기</a:t>
            </a:r>
            <a:r>
              <a:rPr lang="en-US" altLang="ko-KR" sz="1400" dirty="0"/>
              <a:t>")</a:t>
            </a:r>
          </a:p>
          <a:p>
            <a:pPr defTabSz="180000"/>
            <a:r>
              <a:rPr lang="en-US" altLang="ko-KR" sz="1400" dirty="0"/>
              <a:t>print("-----------------------------------")</a:t>
            </a:r>
          </a:p>
          <a:p>
            <a:pPr defTabSz="180000"/>
            <a:r>
              <a:rPr lang="en-US" altLang="ko-KR" sz="1400" dirty="0"/>
              <a:t>sum = 0</a:t>
            </a:r>
          </a:p>
          <a:p>
            <a:pPr defTabSz="180000"/>
            <a:r>
              <a:rPr lang="en-US" altLang="ko-KR" sz="1400"/>
              <a:t>for i</a:t>
            </a:r>
            <a:r>
              <a:rPr lang="en-US" altLang="ko-KR" sz="1400" dirty="0"/>
              <a:t> in range(1, 11): </a:t>
            </a:r>
            <a:r>
              <a:rPr lang="en-US" altLang="ko-KR" sz="1400"/>
              <a:t># </a:t>
            </a:r>
            <a:r>
              <a:rPr lang="en-US" altLang="ko-KR" sz="1400" dirty="0" err="1"/>
              <a:t>i</a:t>
            </a:r>
            <a:r>
              <a:rPr lang="ko-KR" altLang="en-US" sz="1400"/>
              <a:t>가 </a:t>
            </a:r>
            <a:r>
              <a:rPr lang="en-US" altLang="ko-KR" sz="1400" dirty="0"/>
              <a:t>1</a:t>
            </a:r>
            <a:r>
              <a:rPr lang="ko-KR" altLang="en-US" sz="1400"/>
              <a:t>에서 </a:t>
            </a:r>
            <a:r>
              <a:rPr lang="en-US" altLang="ko-KR" sz="1400" dirty="0"/>
              <a:t>10</a:t>
            </a:r>
            <a:r>
              <a:rPr lang="ko-KR" altLang="en-US" sz="1400" dirty="0"/>
              <a:t>까지 반복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/>
              <a:t>if (i</a:t>
            </a:r>
            <a:r>
              <a:rPr lang="en-US" altLang="ko-KR" sz="1400" dirty="0"/>
              <a:t> % 3) != 1:</a:t>
            </a:r>
          </a:p>
          <a:p>
            <a:pPr defTabSz="180000"/>
            <a:r>
              <a:rPr lang="en-US" altLang="ko-KR" sz="1400" dirty="0"/>
              <a:t>		continue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/>
              <a:t>print(i</a:t>
            </a:r>
            <a:r>
              <a:rPr lang="en-US" altLang="ko-KR" sz="1400" dirty="0"/>
              <a:t>, end = " ")</a:t>
            </a:r>
          </a:p>
          <a:p>
            <a:pPr defTabSz="180000"/>
            <a:r>
              <a:rPr lang="en-US" altLang="ko-KR" sz="1400" dirty="0"/>
              <a:t>	sum </a:t>
            </a:r>
            <a:r>
              <a:rPr lang="en-US" altLang="ko-KR" sz="1400"/>
              <a:t>+= i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print("</a:t>
            </a:r>
            <a:r>
              <a:rPr lang="ko-KR" altLang="en-US" sz="1400" dirty="0"/>
              <a:t>의 </a:t>
            </a:r>
            <a:r>
              <a:rPr lang="ko-KR" altLang="en-US" sz="1400"/>
              <a:t>합은 </a:t>
            </a:r>
            <a:r>
              <a:rPr lang="en-US" altLang="ko-KR" sz="1400" dirty="0"/>
              <a:t>%d" % </a:t>
            </a:r>
            <a:r>
              <a:rPr lang="en-US" altLang="ko-KR" sz="1400"/>
              <a:t>sum)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556A52-82AA-41F0-B5F9-B19F6C968DCB}"/>
              </a:ext>
            </a:extLst>
          </p:cNvPr>
          <p:cNvSpPr/>
          <p:nvPr/>
        </p:nvSpPr>
        <p:spPr>
          <a:xfrm>
            <a:off x="609599" y="4509121"/>
            <a:ext cx="6050631" cy="122413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4-15.py</a:t>
            </a:r>
          </a:p>
          <a:p>
            <a:pPr fontAlgn="base"/>
            <a:r>
              <a:rPr lang="en-US" altLang="ko-KR" sz="1400" dirty="0"/>
              <a:t>1~10</a:t>
            </a:r>
            <a:r>
              <a:rPr lang="ko-KR" altLang="en-US" sz="1400" dirty="0"/>
              <a:t>사이 </a:t>
            </a:r>
            <a:r>
              <a:rPr lang="en-US" altLang="ko-KR" sz="1400" dirty="0"/>
              <a:t>3</a:t>
            </a:r>
            <a:r>
              <a:rPr lang="ko-KR" altLang="en-US" sz="1400" dirty="0"/>
              <a:t>으로 나눈 나머지가 </a:t>
            </a:r>
            <a:r>
              <a:rPr lang="en-US" altLang="ko-KR" sz="1400" dirty="0"/>
              <a:t>1</a:t>
            </a:r>
            <a:r>
              <a:rPr lang="ko-KR" altLang="en-US" sz="1400" dirty="0"/>
              <a:t>인 수만 더하기</a:t>
            </a:r>
          </a:p>
          <a:p>
            <a:pPr fontAlgn="base"/>
            <a:r>
              <a:rPr lang="en-US" altLang="ko-KR" sz="1400" dirty="0"/>
              <a:t>-----------------------------------</a:t>
            </a:r>
          </a:p>
          <a:p>
            <a:pPr fontAlgn="base"/>
            <a:r>
              <a:rPr lang="en-US" altLang="ko-KR" sz="1400" dirty="0"/>
              <a:t>1 4 7 10 </a:t>
            </a:r>
            <a:r>
              <a:rPr lang="ko-KR" altLang="en-US" sz="1400" dirty="0"/>
              <a:t>의 합은 </a:t>
            </a:r>
            <a:r>
              <a:rPr lang="en-US" altLang="ko-KR" sz="1400" dirty="0"/>
              <a:t>22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190A4E-F8B3-4745-AB7C-24A7730B6A06}"/>
              </a:ext>
            </a:extLst>
          </p:cNvPr>
          <p:cNvSpPr/>
          <p:nvPr/>
        </p:nvSpPr>
        <p:spPr>
          <a:xfrm>
            <a:off x="609600" y="1756018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4-15.py</a:t>
            </a:r>
          </a:p>
        </p:txBody>
      </p:sp>
    </p:spTree>
    <p:extLst>
      <p:ext uri="{BB962C8B-B14F-4D97-AF65-F5344CB8AC3E}">
        <p14:creationId xmlns:p14="http://schemas.microsoft.com/office/powerpoint/2010/main" val="39727580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ED6601C-C737-4F56-92AC-B04E90FDE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4ADE09-1CA8-4548-9D4B-69825277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4.6 </a:t>
            </a:r>
            <a:r>
              <a:rPr lang="ko-KR" altLang="en-US"/>
              <a:t>컨테이너 </a:t>
            </a:r>
            <a:r>
              <a:rPr lang="ko-KR" altLang="en-US" dirty="0"/>
              <a:t>객체 다루기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15D79-A76A-4093-ADBE-F007D5371D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8129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CC2BB-FA26-4859-9A93-E1484B3B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36395C-486F-46EE-8541-15ED7FD89A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  <a:r>
              <a:rPr lang="en-US" altLang="ko-KR"/>
              <a:t>(list)</a:t>
            </a:r>
          </a:p>
          <a:p>
            <a:pPr lvl="1"/>
            <a:r>
              <a:rPr lang="ko-KR" altLang="en-US"/>
              <a:t>여러 </a:t>
            </a:r>
            <a:r>
              <a:rPr lang="ko-KR" altLang="en-US" dirty="0"/>
              <a:t>개의 원소들을 연속적으로 저장하고 전체를 하나의 단위로 다루는 데이터 구조</a:t>
            </a:r>
            <a:endParaRPr lang="en-US" altLang="ko-KR" dirty="0"/>
          </a:p>
          <a:p>
            <a:pPr lvl="1"/>
            <a:r>
              <a:rPr lang="ko-KR" altLang="en-US" dirty="0" err="1"/>
              <a:t>배열이라고도</a:t>
            </a:r>
            <a:r>
              <a:rPr lang="ko-KR" altLang="en-US" dirty="0"/>
              <a:t> 함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BEBF0-C7D6-4B17-B9A7-ECC1BE65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3A6B27-15EF-443E-9318-0AE40FAC4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996952"/>
            <a:ext cx="3600400" cy="164415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AE03A32-7FAD-4663-8D52-C484306C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11" y="5119023"/>
            <a:ext cx="3600400" cy="115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525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C732E-504E-4A99-B634-7ABB909D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5953E-D005-4E79-971C-1542096E06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[] </a:t>
            </a:r>
            <a:r>
              <a:rPr lang="ko-KR" altLang="en-US" dirty="0"/>
              <a:t>연산자를 사용하여 리스트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리스트의 각 원소 접근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리스트의 원소 </a:t>
            </a:r>
            <a:r>
              <a:rPr lang="ko-KR" altLang="en-US" dirty="0" err="1"/>
              <a:t>갯수</a:t>
            </a:r>
            <a:endParaRPr lang="ko-KR" altLang="en-US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1914CB-F43B-4724-8961-4047D073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CBDBB2-894A-46CA-8A76-F80A5900038D}"/>
              </a:ext>
            </a:extLst>
          </p:cNvPr>
          <p:cNvSpPr/>
          <p:nvPr/>
        </p:nvSpPr>
        <p:spPr>
          <a:xfrm>
            <a:off x="1043608" y="1844824"/>
            <a:ext cx="6624736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members = [] # </a:t>
            </a:r>
            <a:r>
              <a:rPr lang="ko-KR" altLang="en-US" sz="1400" dirty="0"/>
              <a:t>빈 리스트 생성</a:t>
            </a:r>
          </a:p>
          <a:p>
            <a:pPr defTabSz="180000"/>
            <a:r>
              <a:rPr lang="en-US" altLang="ko-KR" sz="1400" dirty="0"/>
              <a:t>cities = ["Seoul", "New York"", "</a:t>
            </a:r>
            <a:r>
              <a:rPr lang="en-US" altLang="ko-KR" sz="1400" dirty="0" err="1"/>
              <a:t>Syndey</a:t>
            </a:r>
            <a:r>
              <a:rPr lang="en-US" altLang="ko-KR" sz="1400" dirty="0"/>
              <a:t>"]</a:t>
            </a:r>
          </a:p>
          <a:p>
            <a:pPr defTabSz="180000"/>
            <a:r>
              <a:rPr lang="en-US" altLang="ko-KR" sz="1400" dirty="0"/>
              <a:t>week = ["</a:t>
            </a:r>
            <a:r>
              <a:rPr lang="ko-KR" altLang="en-US" sz="1400" dirty="0"/>
              <a:t>월</a:t>
            </a:r>
            <a:r>
              <a:rPr lang="en-US" altLang="ko-KR" sz="1400" dirty="0"/>
              <a:t>", "</a:t>
            </a:r>
            <a:r>
              <a:rPr lang="ko-KR" altLang="en-US" sz="1400" dirty="0"/>
              <a:t>화</a:t>
            </a:r>
            <a:r>
              <a:rPr lang="en-US" altLang="ko-KR" sz="1400" dirty="0"/>
              <a:t>", "</a:t>
            </a:r>
            <a:r>
              <a:rPr lang="ko-KR" altLang="en-US" sz="1400" dirty="0"/>
              <a:t>수</a:t>
            </a:r>
            <a:r>
              <a:rPr lang="en-US" altLang="ko-KR" sz="1400" dirty="0"/>
              <a:t>", "</a:t>
            </a:r>
            <a:r>
              <a:rPr lang="ko-KR" altLang="en-US" sz="1400" dirty="0"/>
              <a:t>목</a:t>
            </a:r>
            <a:r>
              <a:rPr lang="en-US" altLang="ko-KR" sz="1400" dirty="0"/>
              <a:t>", "</a:t>
            </a:r>
            <a:r>
              <a:rPr lang="ko-KR" altLang="en-US" sz="1400" dirty="0"/>
              <a:t>금</a:t>
            </a:r>
            <a:r>
              <a:rPr lang="en-US" altLang="ko-KR" sz="1400" dirty="0"/>
              <a:t>", "</a:t>
            </a:r>
            <a:r>
              <a:rPr lang="ko-KR" altLang="en-US" sz="1400" dirty="0"/>
              <a:t>토</a:t>
            </a:r>
            <a:r>
              <a:rPr lang="en-US" altLang="ko-KR" sz="1400" dirty="0"/>
              <a:t>", "</a:t>
            </a:r>
            <a:r>
              <a:rPr lang="ko-KR" altLang="en-US" sz="1400" dirty="0"/>
              <a:t>일</a:t>
            </a:r>
            <a:r>
              <a:rPr lang="en-US" altLang="ko-KR" sz="1400" dirty="0"/>
              <a:t>"]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plots = [-10, -20, 5, 10, 30]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CE55B4-7F1A-47E3-AF55-D898955D2FDF}"/>
              </a:ext>
            </a:extLst>
          </p:cNvPr>
          <p:cNvSpPr/>
          <p:nvPr/>
        </p:nvSpPr>
        <p:spPr>
          <a:xfrm>
            <a:off x="1043608" y="3033532"/>
            <a:ext cx="66247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yoyo = [1, "</a:t>
            </a:r>
            <a:r>
              <a:rPr lang="ko-KR" altLang="en-US" sz="1400" dirty="0" err="1"/>
              <a:t>황기태</a:t>
            </a:r>
            <a:r>
              <a:rPr lang="en-US" altLang="ko-KR" sz="1400" dirty="0"/>
              <a:t>", 2, "</a:t>
            </a:r>
            <a:r>
              <a:rPr lang="ko-KR" altLang="en-US" sz="1400" dirty="0" err="1"/>
              <a:t>이재문</a:t>
            </a:r>
            <a:r>
              <a:rPr lang="en-US" altLang="ko-KR" sz="1400" dirty="0"/>
              <a:t>", 3, 4, 5] # </a:t>
            </a:r>
            <a:r>
              <a:rPr lang="ko-KR" altLang="en-US" sz="1400" dirty="0"/>
              <a:t>서로 다른 타입의 데이터 저장 가능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FEAE86-E905-4532-B28A-4F7925D3BB92}"/>
              </a:ext>
            </a:extLst>
          </p:cNvPr>
          <p:cNvSpPr/>
          <p:nvPr/>
        </p:nvSpPr>
        <p:spPr>
          <a:xfrm>
            <a:off x="1043608" y="4093046"/>
            <a:ext cx="66247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name = cities[0]		# name</a:t>
            </a:r>
            <a:r>
              <a:rPr lang="ko-KR" altLang="en-US" sz="1400" dirty="0"/>
              <a:t>은 </a:t>
            </a:r>
            <a:r>
              <a:rPr lang="en-US" altLang="ko-KR" sz="1400" dirty="0"/>
              <a:t>"Seoul"</a:t>
            </a:r>
          </a:p>
          <a:p>
            <a:pPr defTabSz="180000"/>
            <a:r>
              <a:rPr lang="en-US" altLang="ko-KR" sz="1400" dirty="0"/>
              <a:t>cities[1] = "</a:t>
            </a:r>
            <a:r>
              <a:rPr lang="en-US" altLang="ko-KR" sz="1400" dirty="0" err="1"/>
              <a:t>Gaineville</a:t>
            </a:r>
            <a:r>
              <a:rPr lang="en-US" altLang="ko-KR" sz="1400" dirty="0"/>
              <a:t>"	# "New York" </a:t>
            </a:r>
            <a:r>
              <a:rPr lang="ko-KR" altLang="en-US" sz="1400" dirty="0"/>
              <a:t>자리에 </a:t>
            </a:r>
            <a:r>
              <a:rPr lang="en-US" altLang="ko-KR" sz="1400" dirty="0"/>
              <a:t>"</a:t>
            </a:r>
            <a:r>
              <a:rPr lang="en-US" altLang="ko-KR" sz="1400" dirty="0" err="1"/>
              <a:t>Gaineville</a:t>
            </a:r>
            <a:r>
              <a:rPr lang="en-US" altLang="ko-KR" sz="1400" dirty="0"/>
              <a:t>"</a:t>
            </a:r>
            <a:r>
              <a:rPr lang="ko-KR" altLang="en-US" sz="1400" dirty="0"/>
              <a:t>이 저장됨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DC745D-564B-4242-B147-998846B9CF7B}"/>
              </a:ext>
            </a:extLst>
          </p:cNvPr>
          <p:cNvSpPr/>
          <p:nvPr/>
        </p:nvSpPr>
        <p:spPr>
          <a:xfrm>
            <a:off x="1043608" y="5508918"/>
            <a:ext cx="662473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print(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 members ) )		# 0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/>
              <a:t>print(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 week ) )				# 7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/>
              <a:t>print(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 plots ) )				# 5 </a:t>
            </a:r>
            <a:r>
              <a:rPr lang="ko-KR" altLang="en-US" sz="1400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9484195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67C2B-35DE-4419-90CA-DC35323E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A99B82-FFDA-4AC5-9DE5-39F6289ECA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리스트를 다루는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205F1-8B76-4859-8139-4EC4AE7F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A5C57A-A825-4389-AF40-254160D9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44824"/>
            <a:ext cx="709611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70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6BE5A-5F5F-49E2-8F87-C7ACA246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4-16 </a:t>
            </a:r>
            <a:r>
              <a:rPr lang="ko-KR" altLang="en-US" dirty="0"/>
              <a:t>리스트 다루기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8B6090-D858-4110-94E8-B9F5B845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23AC16-C126-448C-A3B9-CDF88BEB6B6E}"/>
              </a:ext>
            </a:extLst>
          </p:cNvPr>
          <p:cNvSpPr/>
          <p:nvPr/>
        </p:nvSpPr>
        <p:spPr>
          <a:xfrm>
            <a:off x="609600" y="1412776"/>
            <a:ext cx="6914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리스트를 다루는 다양한 예이다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A28A6C-2221-492A-9BED-4685D7B11497}"/>
              </a:ext>
            </a:extLst>
          </p:cNvPr>
          <p:cNvSpPr/>
          <p:nvPr/>
        </p:nvSpPr>
        <p:spPr>
          <a:xfrm>
            <a:off x="611560" y="2230552"/>
            <a:ext cx="6768752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list = [1, 2, "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", 3] 	# </a:t>
            </a:r>
            <a:r>
              <a:rPr lang="ko-KR" altLang="en-US" sz="1400" dirty="0"/>
              <a:t>리스트 만들기</a:t>
            </a:r>
          </a:p>
          <a:p>
            <a:r>
              <a:rPr lang="en-US" altLang="ko-KR" sz="1400" dirty="0"/>
              <a:t>print(list)</a:t>
            </a:r>
          </a:p>
          <a:p>
            <a:r>
              <a:rPr lang="en-US" altLang="ko-KR" sz="1400" dirty="0" err="1"/>
              <a:t>list.append</a:t>
            </a:r>
            <a:r>
              <a:rPr lang="en-US" altLang="ko-KR" sz="1400" dirty="0"/>
              <a:t>(4) 		# </a:t>
            </a:r>
            <a:r>
              <a:rPr lang="ko-KR" altLang="en-US" sz="1400" dirty="0"/>
              <a:t>마지막 원소로 </a:t>
            </a:r>
            <a:r>
              <a:rPr lang="en-US" altLang="ko-KR" sz="1400" dirty="0"/>
              <a:t>4 </a:t>
            </a:r>
            <a:r>
              <a:rPr lang="ko-KR" altLang="en-US" sz="1400" dirty="0"/>
              <a:t>추가</a:t>
            </a:r>
          </a:p>
          <a:p>
            <a:r>
              <a:rPr lang="en-US" altLang="ko-KR" sz="1400" dirty="0"/>
              <a:t>print(list)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list.insert</a:t>
            </a:r>
            <a:r>
              <a:rPr lang="en-US" altLang="ko-KR" sz="1400" dirty="0"/>
              <a:t>(3, "d") 		# </a:t>
            </a:r>
            <a:r>
              <a:rPr lang="ko-KR" altLang="en-US" sz="1400" dirty="0"/>
              <a:t>인덱스 </a:t>
            </a:r>
            <a:r>
              <a:rPr lang="en-US" altLang="ko-KR" sz="1400" dirty="0"/>
              <a:t>3</a:t>
            </a:r>
            <a:r>
              <a:rPr lang="ko-KR" altLang="en-US" sz="1400" dirty="0"/>
              <a:t>위치에 </a:t>
            </a:r>
            <a:r>
              <a:rPr lang="en-US" altLang="ko-KR" sz="1400" dirty="0"/>
              <a:t>"d" </a:t>
            </a:r>
            <a:r>
              <a:rPr lang="ko-KR" altLang="en-US" sz="1400" dirty="0"/>
              <a:t>추가</a:t>
            </a:r>
          </a:p>
          <a:p>
            <a:r>
              <a:rPr lang="en-US" altLang="ko-KR" sz="1400" dirty="0"/>
              <a:t>print(list)</a:t>
            </a:r>
          </a:p>
          <a:p>
            <a:endParaRPr lang="en-US" altLang="ko-KR" sz="1400" dirty="0"/>
          </a:p>
          <a:p>
            <a:r>
              <a:rPr lang="en-US" altLang="ko-KR" sz="1400" dirty="0"/>
              <a:t>list[</a:t>
            </a:r>
            <a:r>
              <a:rPr lang="en-US" altLang="ko-KR" sz="1400" dirty="0" err="1"/>
              <a:t>list.index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")] = 10 	# "</a:t>
            </a:r>
            <a:r>
              <a:rPr lang="en-US" altLang="ko-KR" sz="1400" dirty="0" err="1"/>
              <a:t>jmee</a:t>
            </a:r>
            <a:r>
              <a:rPr lang="en-US" altLang="ko-KR" sz="1400" dirty="0"/>
              <a:t>"</a:t>
            </a:r>
            <a:r>
              <a:rPr lang="ko-KR" altLang="en-US" sz="1400" dirty="0"/>
              <a:t>를 </a:t>
            </a:r>
            <a:r>
              <a:rPr lang="en-US" altLang="ko-KR" sz="1400" dirty="0"/>
              <a:t>10</a:t>
            </a:r>
            <a:r>
              <a:rPr lang="ko-KR" altLang="en-US" sz="1400" dirty="0"/>
              <a:t>으로 수정</a:t>
            </a:r>
          </a:p>
          <a:p>
            <a:r>
              <a:rPr lang="en-US" altLang="ko-KR" sz="1400" dirty="0" err="1"/>
              <a:t>list.remove</a:t>
            </a:r>
            <a:r>
              <a:rPr lang="en-US" altLang="ko-KR" sz="1400" dirty="0"/>
              <a:t>("d") 		# "d" </a:t>
            </a:r>
            <a:r>
              <a:rPr lang="ko-KR" altLang="en-US" sz="1400" dirty="0"/>
              <a:t>원소 삭제</a:t>
            </a:r>
          </a:p>
          <a:p>
            <a:r>
              <a:rPr lang="en-US" altLang="ko-KR" sz="1400" dirty="0"/>
              <a:t>print(list)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list.sort</a:t>
            </a:r>
            <a:r>
              <a:rPr lang="en-US" altLang="ko-KR" sz="1400" dirty="0"/>
              <a:t>(reverse = True) 	# </a:t>
            </a:r>
            <a:r>
              <a:rPr lang="ko-KR" altLang="en-US" sz="1400" dirty="0"/>
              <a:t>내림차순으로 정렬</a:t>
            </a:r>
          </a:p>
          <a:p>
            <a:r>
              <a:rPr lang="en-US" altLang="ko-KR" sz="1400" dirty="0"/>
              <a:t>print(list)</a:t>
            </a:r>
          </a:p>
          <a:p>
            <a:endParaRPr lang="en-US" altLang="ko-KR" sz="1400" dirty="0"/>
          </a:p>
          <a:p>
            <a:r>
              <a:rPr lang="en-US" altLang="ko-KR" sz="1400" dirty="0"/>
              <a:t>print("</a:t>
            </a:r>
            <a:r>
              <a:rPr lang="ko-KR" altLang="en-US" sz="1400" dirty="0"/>
              <a:t>원소의 개수 </a:t>
            </a:r>
            <a:r>
              <a:rPr lang="en-US" altLang="ko-KR" sz="1400" dirty="0"/>
              <a:t>= %d" %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(list)) # </a:t>
            </a:r>
            <a:r>
              <a:rPr lang="ko-KR" altLang="en-US" sz="1400" dirty="0"/>
              <a:t>원소 개수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60AAED-E97F-4B38-8B13-2DE3AD1338D4}"/>
              </a:ext>
            </a:extLst>
          </p:cNvPr>
          <p:cNvSpPr/>
          <p:nvPr/>
        </p:nvSpPr>
        <p:spPr>
          <a:xfrm>
            <a:off x="5364088" y="4293097"/>
            <a:ext cx="3312368" cy="187220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4-16.py</a:t>
            </a:r>
          </a:p>
          <a:p>
            <a:pPr fontAlgn="base"/>
            <a:r>
              <a:rPr lang="en-US" altLang="ko-KR" sz="1400" dirty="0"/>
              <a:t>[1, 2, '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', 3]</a:t>
            </a:r>
          </a:p>
          <a:p>
            <a:pPr fontAlgn="base"/>
            <a:r>
              <a:rPr lang="pl-PL" altLang="ko-KR" sz="1400" dirty="0"/>
              <a:t>[1, 2, 'jmlee', 3, 4]</a:t>
            </a:r>
          </a:p>
          <a:p>
            <a:pPr fontAlgn="base"/>
            <a:r>
              <a:rPr lang="en-US" altLang="ko-KR" sz="1400" dirty="0"/>
              <a:t>[1, 2, '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', 'd', 3, 4]</a:t>
            </a:r>
          </a:p>
          <a:p>
            <a:pPr fontAlgn="base"/>
            <a:r>
              <a:rPr lang="en-US" altLang="ko-KR" sz="1400" dirty="0"/>
              <a:t>[1, 2, 10, 3, 4]</a:t>
            </a:r>
          </a:p>
          <a:p>
            <a:pPr fontAlgn="base"/>
            <a:r>
              <a:rPr lang="en-US" altLang="ko-KR" sz="1400" dirty="0"/>
              <a:t>[10, 4, 3, 2, 1]</a:t>
            </a:r>
          </a:p>
          <a:p>
            <a:pPr fontAlgn="base"/>
            <a:r>
              <a:rPr lang="ko-KR" altLang="en-US" sz="1400" dirty="0"/>
              <a:t>원소의 개수 </a:t>
            </a:r>
            <a:r>
              <a:rPr lang="en-US" altLang="ko-KR" sz="1400" dirty="0"/>
              <a:t>= 5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DFD2BD-509F-4AF2-B759-492EE56AAB9D}"/>
              </a:ext>
            </a:extLst>
          </p:cNvPr>
          <p:cNvSpPr/>
          <p:nvPr/>
        </p:nvSpPr>
        <p:spPr>
          <a:xfrm>
            <a:off x="665565" y="1798061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4-16.py</a:t>
            </a:r>
          </a:p>
        </p:txBody>
      </p:sp>
    </p:spTree>
    <p:extLst>
      <p:ext uri="{BB962C8B-B14F-4D97-AF65-F5344CB8AC3E}">
        <p14:creationId xmlns:p14="http://schemas.microsoft.com/office/powerpoint/2010/main" val="25743852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A806D-43B5-4909-A4AE-CDD5B0D6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0FCF8-172F-45FE-B406-8789853F78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리스트와 유사하지만 다음 </a:t>
            </a:r>
            <a:r>
              <a:rPr lang="en-US" altLang="ko-KR" dirty="0"/>
              <a:t>2</a:t>
            </a:r>
            <a:r>
              <a:rPr lang="ko-KR" altLang="en-US" dirty="0"/>
              <a:t>가지가 다름</a:t>
            </a:r>
            <a:endParaRPr lang="en-US" altLang="ko-KR" dirty="0"/>
          </a:p>
          <a:p>
            <a:pPr lvl="1" fontAlgn="base"/>
            <a:r>
              <a:rPr lang="ko-KR" altLang="en-US" dirty="0" err="1"/>
              <a:t>튜플은</a:t>
            </a:r>
            <a:r>
              <a:rPr lang="ko-KR" altLang="en-US" dirty="0"/>
              <a:t> </a:t>
            </a:r>
            <a:r>
              <a:rPr lang="en-US" altLang="ko-KR" dirty="0"/>
              <a:t>() </a:t>
            </a:r>
            <a:r>
              <a:rPr lang="ko-KR" altLang="en-US" dirty="0"/>
              <a:t>기호를 사용</a:t>
            </a:r>
          </a:p>
          <a:p>
            <a:pPr lvl="1" fontAlgn="base"/>
            <a:r>
              <a:rPr lang="ko-KR" altLang="en-US" dirty="0" err="1"/>
              <a:t>튜플은</a:t>
            </a:r>
            <a:r>
              <a:rPr lang="ko-KR" altLang="en-US" dirty="0"/>
              <a:t> 원소의 값을 수정할 수 없음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FB5F79-9A38-4854-82FE-45CCA9DC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A71EEA-7AE6-4DFD-8591-39800CB7E8B6}"/>
              </a:ext>
            </a:extLst>
          </p:cNvPr>
          <p:cNvSpPr/>
          <p:nvPr/>
        </p:nvSpPr>
        <p:spPr>
          <a:xfrm>
            <a:off x="1043608" y="2708920"/>
            <a:ext cx="684945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cities = ("</a:t>
            </a:r>
            <a:r>
              <a:rPr lang="en-US" altLang="ko-KR" sz="1400" dirty="0" err="1"/>
              <a:t>Seou</a:t>
            </a:r>
            <a:r>
              <a:rPr lang="en-US" altLang="ko-KR" sz="1400" dirty="0"/>
              <a:t>", "New York", "</a:t>
            </a:r>
            <a:r>
              <a:rPr lang="en-US" altLang="ko-KR" sz="1400" dirty="0" err="1"/>
              <a:t>Syndey</a:t>
            </a:r>
            <a:r>
              <a:rPr lang="en-US" altLang="ko-KR" sz="1400" dirty="0"/>
              <a:t>") # 3</a:t>
            </a:r>
            <a:r>
              <a:rPr lang="ko-KR" altLang="en-US" sz="1400" dirty="0"/>
              <a:t>개의 원소로 구성되는 </a:t>
            </a:r>
            <a:r>
              <a:rPr lang="ko-KR" altLang="en-US" sz="1400" dirty="0" err="1"/>
              <a:t>튜플</a:t>
            </a:r>
            <a:endParaRPr lang="ko-KR" altLang="en-US" sz="1400" dirty="0"/>
          </a:p>
          <a:p>
            <a:pPr defTabSz="180000"/>
            <a:r>
              <a:rPr lang="en-US" altLang="ko-KR" sz="1400" dirty="0" err="1"/>
              <a:t>my_home_town</a:t>
            </a:r>
            <a:r>
              <a:rPr lang="en-US" altLang="ko-KR" sz="1400" dirty="0"/>
              <a:t> = cities[0] # </a:t>
            </a:r>
            <a:r>
              <a:rPr lang="en-US" altLang="ko-KR" sz="1400" dirty="0" err="1"/>
              <a:t>my_home_town</a:t>
            </a:r>
            <a:r>
              <a:rPr lang="en-US" altLang="ko-KR" sz="1400" dirty="0"/>
              <a:t> = "Seoul"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B7AE2B-68E3-48C8-919C-E6D1F9AF51BB}"/>
              </a:ext>
            </a:extLst>
          </p:cNvPr>
          <p:cNvSpPr/>
          <p:nvPr/>
        </p:nvSpPr>
        <p:spPr>
          <a:xfrm>
            <a:off x="1034918" y="3464133"/>
            <a:ext cx="684945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cities = ("Seoul", "New York", "</a:t>
            </a:r>
            <a:r>
              <a:rPr lang="en-US" altLang="ko-KR" sz="1400" dirty="0" err="1"/>
              <a:t>Syndey</a:t>
            </a:r>
            <a:r>
              <a:rPr lang="en-US" altLang="ko-KR" sz="1400" dirty="0"/>
              <a:t>")</a:t>
            </a:r>
          </a:p>
          <a:p>
            <a:pPr defTabSz="180000"/>
            <a:r>
              <a:rPr lang="en-US" altLang="ko-KR" sz="1400" dirty="0"/>
              <a:t>del cities[0] 		</a:t>
            </a:r>
            <a:r>
              <a:rPr lang="en-US" altLang="ko-KR" sz="1400" dirty="0">
                <a:solidFill>
                  <a:srgbClr val="C00000"/>
                </a:solidFill>
              </a:rPr>
              <a:t># </a:t>
            </a:r>
            <a:r>
              <a:rPr lang="ko-KR" altLang="en-US" sz="1400" dirty="0">
                <a:solidFill>
                  <a:srgbClr val="C00000"/>
                </a:solidFill>
              </a:rPr>
              <a:t>오류</a:t>
            </a:r>
            <a:r>
              <a:rPr lang="en-US" altLang="ko-KR" sz="1400" dirty="0">
                <a:solidFill>
                  <a:srgbClr val="C00000"/>
                </a:solidFill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</a:rPr>
              <a:t>삭제 불가</a:t>
            </a:r>
          </a:p>
          <a:p>
            <a:pPr defTabSz="180000"/>
            <a:r>
              <a:rPr lang="en-US" altLang="ko-KR" sz="1400" dirty="0"/>
              <a:t>cities[1] = "</a:t>
            </a:r>
            <a:r>
              <a:rPr lang="en-US" altLang="ko-KR" sz="1400" dirty="0" err="1"/>
              <a:t>Gaineville</a:t>
            </a:r>
            <a:r>
              <a:rPr lang="en-US" altLang="ko-KR" sz="1400" dirty="0"/>
              <a:t>"	</a:t>
            </a:r>
            <a:r>
              <a:rPr lang="en-US" altLang="ko-KR" sz="1400" dirty="0">
                <a:solidFill>
                  <a:srgbClr val="C00000"/>
                </a:solidFill>
              </a:rPr>
              <a:t># </a:t>
            </a:r>
            <a:r>
              <a:rPr lang="ko-KR" altLang="en-US" sz="1400" dirty="0">
                <a:solidFill>
                  <a:srgbClr val="C00000"/>
                </a:solidFill>
              </a:rPr>
              <a:t>오류</a:t>
            </a:r>
            <a:r>
              <a:rPr lang="en-US" altLang="ko-KR" sz="1400" dirty="0">
                <a:solidFill>
                  <a:srgbClr val="C00000"/>
                </a:solidFill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</a:rPr>
              <a:t>원소 값 수정 불가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B54ACA-42A0-48AB-8039-1D2AE5EC836D}"/>
              </a:ext>
            </a:extLst>
          </p:cNvPr>
          <p:cNvSpPr/>
          <p:nvPr/>
        </p:nvSpPr>
        <p:spPr>
          <a:xfrm>
            <a:off x="1034918" y="4496345"/>
            <a:ext cx="684945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cities = ("Seoul", "New York", "</a:t>
            </a:r>
            <a:r>
              <a:rPr lang="en-US" altLang="ko-KR" sz="1400" dirty="0" err="1"/>
              <a:t>Syndey</a:t>
            </a:r>
            <a:r>
              <a:rPr lang="en-US" altLang="ko-KR" sz="1400" dirty="0"/>
              <a:t>")</a:t>
            </a:r>
          </a:p>
          <a:p>
            <a:pPr defTabSz="180000"/>
            <a:r>
              <a:rPr lang="en-US" altLang="ko-KR" sz="1400" dirty="0"/>
              <a:t>others = ("Busan", "Paris")</a:t>
            </a:r>
          </a:p>
          <a:p>
            <a:pPr defTabSz="180000"/>
            <a:r>
              <a:rPr lang="en-US" altLang="ko-KR" sz="1400" dirty="0"/>
              <a:t>total = cities + others # total = ("Seoul", "New York", "</a:t>
            </a:r>
            <a:r>
              <a:rPr lang="en-US" altLang="ko-KR" sz="1400" dirty="0" err="1"/>
              <a:t>Syndey</a:t>
            </a:r>
            <a:r>
              <a:rPr lang="en-US" altLang="ko-KR" sz="1400" dirty="0"/>
              <a:t>", "Busan", "Paris")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4415E-1E04-4969-85D5-14FB27B5EE76}"/>
              </a:ext>
            </a:extLst>
          </p:cNvPr>
          <p:cNvSpPr txBox="1"/>
          <p:nvPr/>
        </p:nvSpPr>
        <p:spPr>
          <a:xfrm>
            <a:off x="392823" y="3397806"/>
            <a:ext cx="533400" cy="289441"/>
          </a:xfrm>
          <a:prstGeom prst="wedgeRoundRectCallout">
            <a:avLst>
              <a:gd name="adj1" fmla="val 75446"/>
              <a:gd name="adj2" fmla="val 1063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ko-KR" altLang="en-US" dirty="0"/>
              <a:t>오류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3CFB4-8CA6-40A1-9B30-149E018E0329}"/>
              </a:ext>
            </a:extLst>
          </p:cNvPr>
          <p:cNvSpPr txBox="1"/>
          <p:nvPr/>
        </p:nvSpPr>
        <p:spPr>
          <a:xfrm>
            <a:off x="392823" y="3913356"/>
            <a:ext cx="533400" cy="289441"/>
          </a:xfrm>
          <a:prstGeom prst="wedgeRoundRectCallout">
            <a:avLst>
              <a:gd name="adj1" fmla="val 82235"/>
              <a:gd name="adj2" fmla="val 93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ko-KR" altLang="en-US" dirty="0"/>
              <a:t>오류</a:t>
            </a:r>
          </a:p>
        </p:txBody>
      </p:sp>
    </p:spTree>
    <p:extLst>
      <p:ext uri="{BB962C8B-B14F-4D97-AF65-F5344CB8AC3E}">
        <p14:creationId xmlns:p14="http://schemas.microsoft.com/office/powerpoint/2010/main" val="40544878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F64DD-D76D-4D61-A1BD-438FBF9B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98B51-88EE-4F06-9CFF-0595E1472EB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&lt;key, value&gt;</a:t>
            </a:r>
            <a:r>
              <a:rPr lang="ko-KR" altLang="en-US" dirty="0"/>
              <a:t>의 쌍을 하나의 원소로 저장하는 컨테이너</a:t>
            </a:r>
          </a:p>
          <a:p>
            <a:r>
              <a:rPr lang="ko-KR" altLang="en-US" dirty="0" err="1"/>
              <a:t>딕셔너리</a:t>
            </a:r>
            <a:r>
              <a:rPr lang="ko-KR" altLang="en-US" dirty="0"/>
              <a:t> 생성</a:t>
            </a:r>
            <a:r>
              <a:rPr lang="en-US" altLang="ko-KR" dirty="0"/>
              <a:t>: {}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/>
              <a:t>딕셔너리 </a:t>
            </a:r>
            <a:r>
              <a:rPr lang="ko-KR" altLang="en-US" dirty="0"/>
              <a:t>원소 접근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2E97C-AA19-4583-AFEB-236DBCA3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840066-88A8-4F96-999F-D6FA09AB5E70}"/>
              </a:ext>
            </a:extLst>
          </p:cNvPr>
          <p:cNvSpPr/>
          <p:nvPr/>
        </p:nvSpPr>
        <p:spPr>
          <a:xfrm>
            <a:off x="1033945" y="2283650"/>
            <a:ext cx="6688253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members = {} 	# </a:t>
            </a:r>
            <a:r>
              <a:rPr lang="ko-KR" altLang="en-US" sz="1400" dirty="0"/>
              <a:t>빈 </a:t>
            </a:r>
            <a:r>
              <a:rPr lang="ko-KR" altLang="en-US" sz="1400" dirty="0" err="1"/>
              <a:t>딕셔너리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week = {"</a:t>
            </a:r>
            <a:r>
              <a:rPr lang="ko-KR" altLang="en-US" sz="1400" dirty="0"/>
              <a:t>월</a:t>
            </a:r>
            <a:r>
              <a:rPr lang="en-US" altLang="ko-KR" sz="1400" dirty="0"/>
              <a:t>":1, "</a:t>
            </a:r>
            <a:r>
              <a:rPr lang="ko-KR" altLang="en-US" sz="1400" dirty="0"/>
              <a:t>화</a:t>
            </a:r>
            <a:r>
              <a:rPr lang="en-US" altLang="ko-KR" sz="1400" dirty="0"/>
              <a:t>":2, "</a:t>
            </a:r>
            <a:r>
              <a:rPr lang="ko-KR" altLang="en-US" sz="1400" dirty="0"/>
              <a:t>수</a:t>
            </a:r>
            <a:r>
              <a:rPr lang="en-US" altLang="ko-KR" sz="1400" dirty="0"/>
              <a:t>":3, "</a:t>
            </a:r>
            <a:r>
              <a:rPr lang="ko-KR" altLang="en-US" sz="1400" dirty="0"/>
              <a:t>목</a:t>
            </a:r>
            <a:r>
              <a:rPr lang="en-US" altLang="ko-KR" sz="1400" dirty="0"/>
              <a:t>":4, "</a:t>
            </a:r>
            <a:r>
              <a:rPr lang="ko-KR" altLang="en-US" sz="1400" dirty="0"/>
              <a:t>금</a:t>
            </a:r>
            <a:r>
              <a:rPr lang="en-US" altLang="ko-KR" sz="1400" dirty="0"/>
              <a:t>":5, "</a:t>
            </a:r>
            <a:r>
              <a:rPr lang="ko-KR" altLang="en-US" sz="1400" dirty="0"/>
              <a:t>토</a:t>
            </a:r>
            <a:r>
              <a:rPr lang="en-US" altLang="ko-KR" sz="1400" dirty="0"/>
              <a:t>":6, "</a:t>
            </a:r>
            <a:r>
              <a:rPr lang="ko-KR" altLang="en-US" sz="1400" dirty="0"/>
              <a:t>일</a:t>
            </a:r>
            <a:r>
              <a:rPr lang="en-US" altLang="ko-KR" sz="1400" dirty="0"/>
              <a:t>":0}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nation = {"</a:t>
            </a:r>
            <a:r>
              <a:rPr lang="en-US" altLang="ko-KR" sz="1400" dirty="0" err="1"/>
              <a:t>Korea":"Seoul</a:t>
            </a:r>
            <a:r>
              <a:rPr lang="en-US" altLang="ko-KR" sz="1400" dirty="0"/>
              <a:t>", "</a:t>
            </a:r>
            <a:r>
              <a:rPr lang="en-US" altLang="ko-KR" sz="1400" dirty="0" err="1"/>
              <a:t>Japan":"Tokyo</a:t>
            </a:r>
            <a:r>
              <a:rPr lang="en-US" altLang="ko-KR" sz="1400" dirty="0"/>
              <a:t>", "</a:t>
            </a:r>
            <a:r>
              <a:rPr lang="en-US" altLang="ko-KR" sz="1400" dirty="0" err="1"/>
              <a:t>France":"Paris</a:t>
            </a:r>
            <a:r>
              <a:rPr lang="en-US" altLang="ko-KR" sz="1400" dirty="0"/>
              <a:t>"}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6DD8C9-90CA-40B3-BE80-C21206B2671B}"/>
              </a:ext>
            </a:extLst>
          </p:cNvPr>
          <p:cNvSpPr/>
          <p:nvPr/>
        </p:nvSpPr>
        <p:spPr>
          <a:xfrm>
            <a:off x="1052099" y="3717032"/>
            <a:ext cx="6688253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dict</a:t>
            </a:r>
            <a:r>
              <a:rPr lang="en-US" altLang="ko-KR" sz="1400" dirty="0"/>
              <a:t> = {} 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빈 </a:t>
            </a:r>
            <a:r>
              <a:rPr lang="ko-KR" altLang="en-US" sz="1400" err="1"/>
              <a:t>딕셔너리</a:t>
            </a:r>
            <a:r>
              <a:rPr lang="ko-KR" altLang="en-US" sz="1400"/>
              <a:t> </a:t>
            </a:r>
            <a:r>
              <a:rPr lang="en-US" altLang="ko-KR" sz="1400"/>
              <a:t>dict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</a:p>
          <a:p>
            <a:pPr defTabSz="180000"/>
            <a:r>
              <a:rPr lang="en-US" altLang="ko-KR" sz="1400"/>
              <a:t>dict</a:t>
            </a:r>
            <a:r>
              <a:rPr lang="en-US" altLang="ko-KR" sz="1400" dirty="0"/>
              <a:t>[key] = value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한 쌍의 </a:t>
            </a:r>
            <a:r>
              <a:rPr lang="ko-KR" altLang="en-US" sz="1400"/>
              <a:t>새로운 </a:t>
            </a:r>
            <a:r>
              <a:rPr lang="en-US" altLang="ko-KR" sz="1400" dirty="0"/>
              <a:t>&lt;key, value&gt; </a:t>
            </a:r>
            <a:r>
              <a:rPr lang="ko-KR" altLang="en-US" sz="1400" dirty="0"/>
              <a:t>원소를 </a:t>
            </a:r>
            <a:r>
              <a:rPr lang="ko-KR" altLang="en-US" sz="1400" dirty="0" err="1"/>
              <a:t>딕셔너리에</a:t>
            </a:r>
            <a:r>
              <a:rPr lang="ko-KR" altLang="en-US" sz="1400" dirty="0"/>
              <a:t> 저장</a:t>
            </a:r>
          </a:p>
          <a:p>
            <a:pPr defTabSz="180000"/>
            <a:r>
              <a:rPr lang="en-US" altLang="ko-KR" sz="1400"/>
              <a:t>val</a:t>
            </a:r>
            <a:r>
              <a:rPr lang="en-US" altLang="ko-KR" sz="1400" dirty="0"/>
              <a:t> </a:t>
            </a:r>
            <a:r>
              <a:rPr lang="en-US" altLang="ko-KR" sz="1400"/>
              <a:t>= dict</a:t>
            </a:r>
            <a:r>
              <a:rPr lang="en-US" altLang="ko-KR" sz="1400" dirty="0"/>
              <a:t>[key]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저장되어 </a:t>
            </a:r>
            <a:r>
              <a:rPr lang="ko-KR" altLang="en-US" sz="1400"/>
              <a:t>있는 </a:t>
            </a:r>
            <a:r>
              <a:rPr lang="en-US" altLang="ko-KR" sz="1400" dirty="0"/>
              <a:t>&lt;key, value&gt;</a:t>
            </a:r>
            <a:r>
              <a:rPr lang="ko-KR" altLang="en-US" sz="1400"/>
              <a:t>에서 </a:t>
            </a:r>
            <a:r>
              <a:rPr lang="en-US" altLang="ko-KR" sz="1400" dirty="0"/>
              <a:t>value</a:t>
            </a:r>
            <a:r>
              <a:rPr lang="ko-KR" altLang="en-US" sz="1400" dirty="0"/>
              <a:t>를 </a:t>
            </a:r>
            <a:r>
              <a:rPr lang="ko-KR" altLang="en-US" sz="1400"/>
              <a:t>읽어 </a:t>
            </a:r>
            <a:r>
              <a:rPr lang="en-US" altLang="ko-KR" sz="1400" dirty="0" err="1"/>
              <a:t>val</a:t>
            </a:r>
            <a:r>
              <a:rPr lang="ko-KR" altLang="en-US" sz="1400" dirty="0"/>
              <a:t>에 저장</a:t>
            </a:r>
          </a:p>
        </p:txBody>
      </p:sp>
    </p:spTree>
    <p:extLst>
      <p:ext uri="{BB962C8B-B14F-4D97-AF65-F5344CB8AC3E}">
        <p14:creationId xmlns:p14="http://schemas.microsoft.com/office/powerpoint/2010/main" val="10791019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921C4-4176-4D28-8923-A1AE3120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1D220-AF41-45E5-82DD-04152ECEB0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딕셔너리를</a:t>
            </a:r>
            <a:r>
              <a:rPr lang="ko-KR" altLang="en-US" dirty="0"/>
              <a:t> 다루는 함수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DA263-F646-4A1A-9009-1EAE2EF7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8F0E1A-F4F6-45FC-9E46-33AFAF075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45" y="1916832"/>
            <a:ext cx="705271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71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54792-7481-4404-A6E9-BD026FBE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4-17 </a:t>
            </a:r>
            <a:r>
              <a:rPr lang="ko-KR" altLang="en-US" dirty="0" err="1"/>
              <a:t>딕셔너리</a:t>
            </a:r>
            <a:r>
              <a:rPr lang="ko-KR" altLang="en-US" dirty="0"/>
              <a:t> 다루기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30AD79-0A25-4B3B-B6E3-D857881E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394117-4AC6-446D-A4ED-6C7D1BBCCAB3}"/>
              </a:ext>
            </a:extLst>
          </p:cNvPr>
          <p:cNvSpPr/>
          <p:nvPr/>
        </p:nvSpPr>
        <p:spPr>
          <a:xfrm>
            <a:off x="497875" y="1342283"/>
            <a:ext cx="5908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딕셔너리에서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최고 점수 또는 최저 점수를 찾는 프로그램이다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A583E3-1F04-4B73-A60B-EF4746D08828}"/>
              </a:ext>
            </a:extLst>
          </p:cNvPr>
          <p:cNvSpPr/>
          <p:nvPr/>
        </p:nvSpPr>
        <p:spPr>
          <a:xfrm>
            <a:off x="609600" y="2177905"/>
            <a:ext cx="4394448" cy="42034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 err="1"/>
              <a:t>dict</a:t>
            </a:r>
            <a:r>
              <a:rPr lang="en-US" altLang="ko-KR" sz="1400" dirty="0"/>
              <a:t> = {"</a:t>
            </a:r>
            <a:r>
              <a:rPr lang="en-US" altLang="ko-KR" sz="1400" dirty="0" err="1"/>
              <a:t>jmlee</a:t>
            </a:r>
            <a:r>
              <a:rPr lang="en-US" altLang="ko-KR" sz="1400" dirty="0"/>
              <a:t>": 88, "</a:t>
            </a:r>
            <a:r>
              <a:rPr lang="en-US" altLang="ko-KR" sz="1400" dirty="0" err="1"/>
              <a:t>kitae</a:t>
            </a:r>
            <a:r>
              <a:rPr lang="en-US" altLang="ko-KR" sz="1400" dirty="0"/>
              <a:t>": 98, "ihjung":99}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 err="1"/>
              <a:t>cmd</a:t>
            </a:r>
            <a:r>
              <a:rPr lang="en-US" altLang="ko-KR" sz="1400" dirty="0"/>
              <a:t> = input("high </a:t>
            </a:r>
            <a:r>
              <a:rPr lang="ko-KR" altLang="en-US" sz="1400" dirty="0"/>
              <a:t>또는 </a:t>
            </a:r>
            <a:r>
              <a:rPr lang="en-US" altLang="ko-KR" sz="1400" dirty="0"/>
              <a:t>low</a:t>
            </a:r>
            <a:r>
              <a:rPr lang="ko-KR" altLang="en-US" sz="1400" dirty="0"/>
              <a:t>를 입력하세요</a:t>
            </a:r>
            <a:r>
              <a:rPr lang="en-US" altLang="ko-KR" sz="1400" dirty="0"/>
              <a:t>&gt;&gt; ")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names = list(</a:t>
            </a:r>
            <a:r>
              <a:rPr lang="en-US" altLang="ko-KR" sz="1400" dirty="0" err="1"/>
              <a:t>dict.keys</a:t>
            </a:r>
            <a:r>
              <a:rPr lang="en-US" altLang="ko-KR" sz="1400" dirty="0"/>
              <a:t>( ))</a:t>
            </a:r>
          </a:p>
          <a:p>
            <a:pPr defTabSz="180000"/>
            <a:r>
              <a:rPr lang="en-US" altLang="ko-KR" sz="1400" dirty="0"/>
              <a:t>scores = list(</a:t>
            </a:r>
            <a:r>
              <a:rPr lang="en-US" altLang="ko-KR" sz="1400" dirty="0" err="1"/>
              <a:t>dict.values</a:t>
            </a:r>
            <a:r>
              <a:rPr lang="en-US" altLang="ko-KR" sz="1400" dirty="0"/>
              <a:t>( ))</a:t>
            </a:r>
          </a:p>
          <a:p>
            <a:pPr defTabSz="180000"/>
            <a:r>
              <a:rPr lang="en-US" altLang="ko-KR" sz="1400" dirty="0"/>
              <a:t>if </a:t>
            </a:r>
            <a:r>
              <a:rPr lang="en-US" altLang="ko-KR" sz="1400" dirty="0" err="1"/>
              <a:t>cmd</a:t>
            </a:r>
            <a:r>
              <a:rPr lang="en-US" altLang="ko-KR" sz="1400" dirty="0"/>
              <a:t> == "high":</a:t>
            </a:r>
          </a:p>
          <a:p>
            <a:pPr defTabSz="180000"/>
            <a:r>
              <a:rPr lang="en-US" altLang="ko-KR" sz="1400" dirty="0"/>
              <a:t>	high = 0</a:t>
            </a:r>
          </a:p>
          <a:p>
            <a:pPr defTabSz="180000"/>
            <a:r>
              <a:rPr lang="en-US" altLang="ko-KR" sz="1400" dirty="0"/>
              <a:t>	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(names)):</a:t>
            </a:r>
          </a:p>
          <a:p>
            <a:pPr defTabSz="180000"/>
            <a:r>
              <a:rPr lang="en-US" altLang="ko-KR" sz="1400" dirty="0"/>
              <a:t>		high 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if high &lt;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else high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최고 점수는 </a:t>
            </a:r>
            <a:r>
              <a:rPr lang="en-US" altLang="ko-KR" sz="1400" dirty="0"/>
              <a:t>%d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 % high)</a:t>
            </a:r>
          </a:p>
          <a:p>
            <a:pPr defTabSz="180000"/>
            <a:r>
              <a:rPr lang="en-US" altLang="ko-KR" sz="1400" dirty="0"/>
              <a:t>if </a:t>
            </a:r>
            <a:r>
              <a:rPr lang="en-US" altLang="ko-KR" sz="1400" dirty="0" err="1"/>
              <a:t>cmd</a:t>
            </a:r>
            <a:r>
              <a:rPr lang="en-US" altLang="ko-KR" sz="1400" dirty="0"/>
              <a:t> == "low":</a:t>
            </a:r>
          </a:p>
          <a:p>
            <a:pPr defTabSz="180000"/>
            <a:r>
              <a:rPr lang="en-US" altLang="ko-KR" sz="1400" dirty="0"/>
              <a:t>	low = 100</a:t>
            </a:r>
          </a:p>
          <a:p>
            <a:pPr defTabSz="180000"/>
            <a:r>
              <a:rPr lang="en-US" altLang="ko-KR" sz="1400" dirty="0"/>
              <a:t>	for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in range(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(names)):</a:t>
            </a:r>
          </a:p>
          <a:p>
            <a:pPr defTabSz="180000"/>
            <a:r>
              <a:rPr lang="en-US" altLang="ko-KR" sz="1400" dirty="0"/>
              <a:t>		low =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if low &gt; scores[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else low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최저 점수는 </a:t>
            </a:r>
            <a:r>
              <a:rPr lang="en-US" altLang="ko-KR" sz="1400" dirty="0"/>
              <a:t>%d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 % low)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value = </a:t>
            </a:r>
            <a:r>
              <a:rPr lang="en-US" altLang="ko-KR" sz="1400" dirty="0" err="1"/>
              <a:t>dict.get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gdhong</a:t>
            </a:r>
            <a:r>
              <a:rPr lang="en-US" altLang="ko-KR" sz="1400" dirty="0"/>
              <a:t>")</a:t>
            </a:r>
          </a:p>
          <a:p>
            <a:pPr defTabSz="180000"/>
            <a:r>
              <a:rPr lang="en-US" altLang="ko-KR" sz="1400" dirty="0"/>
              <a:t>print(value)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47E89B-180B-4ED9-82D1-767D50689CC7}"/>
              </a:ext>
            </a:extLst>
          </p:cNvPr>
          <p:cNvSpPr/>
          <p:nvPr/>
        </p:nvSpPr>
        <p:spPr>
          <a:xfrm>
            <a:off x="5222031" y="2177905"/>
            <a:ext cx="3312368" cy="122413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4-17.py</a:t>
            </a:r>
          </a:p>
          <a:p>
            <a:pPr fontAlgn="base"/>
            <a:r>
              <a:rPr lang="en-US" altLang="ko-KR" sz="1400" dirty="0"/>
              <a:t>high </a:t>
            </a:r>
            <a:r>
              <a:rPr lang="ko-KR" altLang="en-US" sz="1400" dirty="0"/>
              <a:t>또는 </a:t>
            </a:r>
            <a:r>
              <a:rPr lang="en-US" altLang="ko-KR" sz="1400" dirty="0"/>
              <a:t>low</a:t>
            </a:r>
            <a:r>
              <a:rPr lang="ko-KR" altLang="en-US" sz="1400" dirty="0"/>
              <a:t>를 입력하세요</a:t>
            </a:r>
            <a:r>
              <a:rPr lang="en-US" altLang="ko-KR" sz="1400" dirty="0"/>
              <a:t>&gt;&gt; </a:t>
            </a:r>
            <a:r>
              <a:rPr lang="en-US" altLang="ko-KR" sz="1400" dirty="0">
                <a:solidFill>
                  <a:srgbClr val="00B050"/>
                </a:solidFill>
              </a:rPr>
              <a:t>low</a:t>
            </a:r>
          </a:p>
          <a:p>
            <a:pPr fontAlgn="base"/>
            <a:r>
              <a:rPr lang="ko-KR" altLang="en-US" sz="1400" dirty="0"/>
              <a:t>최저 점수는 </a:t>
            </a:r>
            <a:r>
              <a:rPr lang="en-US" altLang="ko-KR" sz="1400" dirty="0"/>
              <a:t>88</a:t>
            </a:r>
            <a:r>
              <a:rPr lang="ko-KR" altLang="en-US" sz="1400" dirty="0"/>
              <a:t>입니다</a:t>
            </a:r>
          </a:p>
          <a:p>
            <a:pPr fontAlgn="base"/>
            <a:r>
              <a:rPr lang="en-US" altLang="ko-KR" sz="1400" dirty="0"/>
              <a:t>None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01CECE-3913-4C18-B451-E07945198249}"/>
              </a:ext>
            </a:extLst>
          </p:cNvPr>
          <p:cNvSpPr/>
          <p:nvPr/>
        </p:nvSpPr>
        <p:spPr>
          <a:xfrm>
            <a:off x="537859" y="1712689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4-17.py</a:t>
            </a:r>
          </a:p>
        </p:txBody>
      </p:sp>
    </p:spTree>
    <p:extLst>
      <p:ext uri="{BB962C8B-B14F-4D97-AF65-F5344CB8AC3E}">
        <p14:creationId xmlns:p14="http://schemas.microsoft.com/office/powerpoint/2010/main" val="39696948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FD651-53CA-4928-95CC-D7F3720D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컨테이너와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B92819-2CF9-4274-BEA9-E73B1F75A32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컨테이너의 각 원소에 대하여 </a:t>
            </a:r>
            <a:r>
              <a:rPr lang="en-US" altLang="ko-KR" dirty="0"/>
              <a:t>for </a:t>
            </a:r>
            <a:r>
              <a:rPr lang="ko-KR" altLang="en-US" dirty="0"/>
              <a:t>문을 적용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364FC-EC44-4F27-B7D6-FE64B745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B8E1EE-7832-4BE0-AF1F-05ED75DE4B7E}"/>
              </a:ext>
            </a:extLst>
          </p:cNvPr>
          <p:cNvSpPr/>
          <p:nvPr/>
        </p:nvSpPr>
        <p:spPr>
          <a:xfrm>
            <a:off x="1043608" y="1844824"/>
            <a:ext cx="6840760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for </a:t>
            </a:r>
            <a:r>
              <a:rPr lang="ko-KR" altLang="en-US" sz="1400"/>
              <a:t>변수 </a:t>
            </a:r>
            <a:r>
              <a:rPr lang="en-US" altLang="ko-KR" sz="1400"/>
              <a:t>in </a:t>
            </a:r>
            <a:r>
              <a:rPr lang="ko-KR" altLang="en-US" sz="1400"/>
              <a:t>컨테이너</a:t>
            </a:r>
            <a:r>
              <a:rPr lang="en-US" altLang="ko-KR" sz="1400" dirty="0"/>
              <a:t>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1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ko-KR" altLang="en-US" sz="1400"/>
              <a:t>반복될 문장</a:t>
            </a:r>
            <a:r>
              <a:rPr lang="en-US" altLang="ko-KR" sz="1400" dirty="0"/>
              <a:t>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479487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C4EF3-E2A9-4D55-8C24-49435884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4-18 </a:t>
            </a:r>
            <a:r>
              <a:rPr lang="ko-KR" altLang="en-US" dirty="0"/>
              <a:t>컨테이너와 </a:t>
            </a:r>
            <a:r>
              <a:rPr lang="en-US" altLang="ko-KR" dirty="0"/>
              <a:t>for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79A124-CCEE-471E-BD6C-F2AD8479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78C28E-2B8C-4D28-A3B5-D3A3484E270B}"/>
              </a:ext>
            </a:extLst>
          </p:cNvPr>
          <p:cNvSpPr/>
          <p:nvPr/>
        </p:nvSpPr>
        <p:spPr>
          <a:xfrm>
            <a:off x="524675" y="1381227"/>
            <a:ext cx="7778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딕셔너리와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배열에서 최고 점수 또는 최저 점수를 찾는 프로그램이다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1BFA61-A625-41DE-8421-CB6B6963C405}"/>
              </a:ext>
            </a:extLst>
          </p:cNvPr>
          <p:cNvSpPr/>
          <p:nvPr/>
        </p:nvSpPr>
        <p:spPr>
          <a:xfrm>
            <a:off x="609599" y="2151452"/>
            <a:ext cx="6122641" cy="4002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/>
              <a:t>students </a:t>
            </a:r>
            <a:r>
              <a:rPr lang="en-US" altLang="ko-KR" sz="1400"/>
              <a:t>= {"jmlee</a:t>
            </a:r>
            <a:r>
              <a:rPr lang="en-US" altLang="ko-KR" sz="1400" dirty="0"/>
              <a:t>": [88, 97, 50</a:t>
            </a:r>
            <a:r>
              <a:rPr lang="en-US" altLang="ko-KR" sz="1400"/>
              <a:t>], "kitae</a:t>
            </a:r>
            <a:r>
              <a:rPr lang="en-US" altLang="ko-KR" sz="1400" dirty="0"/>
              <a:t>": [90, 80</a:t>
            </a:r>
            <a:r>
              <a:rPr lang="en-US" altLang="ko-KR" sz="1400"/>
              <a:t>], "ihjung</a:t>
            </a:r>
            <a:r>
              <a:rPr lang="en-US" altLang="ko-KR" sz="1400" dirty="0"/>
              <a:t>": [99, 70, 60]}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/>
              <a:t>cmd</a:t>
            </a:r>
            <a:r>
              <a:rPr lang="en-US" altLang="ko-KR" sz="1400" dirty="0"/>
              <a:t> = input("high </a:t>
            </a:r>
            <a:r>
              <a:rPr lang="ko-KR" altLang="en-US" sz="1400"/>
              <a:t>또는 </a:t>
            </a:r>
            <a:r>
              <a:rPr lang="en-US" altLang="ko-KR" sz="1400" dirty="0"/>
              <a:t>low</a:t>
            </a:r>
            <a:r>
              <a:rPr lang="ko-KR" altLang="en-US" sz="1400"/>
              <a:t>를 입력하세요</a:t>
            </a:r>
            <a:r>
              <a:rPr lang="en-US" altLang="ko-KR" sz="1400" dirty="0"/>
              <a:t>&gt;&gt; ")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/>
              <a:t>if cmd</a:t>
            </a:r>
            <a:r>
              <a:rPr lang="en-US" altLang="ko-KR" sz="1400" dirty="0"/>
              <a:t> == "high":</a:t>
            </a:r>
          </a:p>
          <a:p>
            <a:pPr defTabSz="180000"/>
            <a:r>
              <a:rPr lang="en-US" altLang="ko-KR" sz="1400" dirty="0"/>
              <a:t>	high = 0</a:t>
            </a:r>
          </a:p>
          <a:p>
            <a:pPr defTabSz="180000"/>
            <a:r>
              <a:rPr lang="en-US" altLang="ko-KR" sz="1400" dirty="0"/>
              <a:t>	for name </a:t>
            </a:r>
            <a:r>
              <a:rPr lang="en-US" altLang="ko-KR" sz="1400"/>
              <a:t>in </a:t>
            </a:r>
            <a:r>
              <a:rPr lang="en-US" altLang="ko-KR" sz="1400" dirty="0" err="1"/>
              <a:t>students</a:t>
            </a:r>
            <a:r>
              <a:rPr lang="en-US" altLang="ko-KR" sz="1400" err="1"/>
              <a:t>.</a:t>
            </a:r>
            <a:r>
              <a:rPr lang="en-US" altLang="ko-KR" sz="1400"/>
              <a:t>keys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en-US" altLang="ko-KR" sz="1400" dirty="0"/>
              <a:t>		scores = students[name]</a:t>
            </a:r>
          </a:p>
          <a:p>
            <a:pPr defTabSz="180000"/>
            <a:r>
              <a:rPr lang="en-US" altLang="ko-KR" sz="1400" dirty="0"/>
              <a:t>		for score in scores:</a:t>
            </a:r>
          </a:p>
          <a:p>
            <a:pPr defTabSz="180000"/>
            <a:r>
              <a:rPr lang="en-US" altLang="ko-KR" sz="1400" dirty="0"/>
              <a:t>			high = score if high &lt; score else high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최고 </a:t>
            </a:r>
            <a:r>
              <a:rPr lang="ko-KR" altLang="en-US" sz="1400"/>
              <a:t>점수는 </a:t>
            </a:r>
            <a:r>
              <a:rPr lang="en-US" altLang="ko-KR" sz="1400" dirty="0"/>
              <a:t>%</a:t>
            </a:r>
            <a:r>
              <a:rPr lang="en-US" altLang="ko-KR" sz="1400"/>
              <a:t>d</a:t>
            </a:r>
            <a:r>
              <a:rPr lang="ko-KR" altLang="en-US" sz="1400"/>
              <a:t>입니다</a:t>
            </a:r>
            <a:r>
              <a:rPr lang="en-US" altLang="ko-KR" sz="1400" dirty="0"/>
              <a:t>." % high)</a:t>
            </a:r>
          </a:p>
          <a:p>
            <a:pPr defTabSz="180000"/>
            <a:r>
              <a:rPr lang="en-US" altLang="ko-KR" sz="1400" dirty="0"/>
              <a:t>else:</a:t>
            </a:r>
          </a:p>
          <a:p>
            <a:pPr defTabSz="180000"/>
            <a:r>
              <a:rPr lang="en-US" altLang="ko-KR" sz="1400" dirty="0"/>
              <a:t>	low = 100</a:t>
            </a:r>
          </a:p>
          <a:p>
            <a:pPr defTabSz="180000"/>
            <a:r>
              <a:rPr lang="en-US" altLang="ko-KR" sz="1400" dirty="0"/>
              <a:t>	for name </a:t>
            </a:r>
            <a:r>
              <a:rPr lang="en-US" altLang="ko-KR" sz="1400"/>
              <a:t>in </a:t>
            </a:r>
            <a:r>
              <a:rPr lang="en-US" altLang="ko-KR" sz="1400" dirty="0" err="1"/>
              <a:t>students</a:t>
            </a:r>
            <a:r>
              <a:rPr lang="en-US" altLang="ko-KR" sz="1400" err="1"/>
              <a:t>.</a:t>
            </a:r>
            <a:r>
              <a:rPr lang="en-US" altLang="ko-KR" sz="1400"/>
              <a:t>keys</a:t>
            </a:r>
            <a:r>
              <a:rPr lang="en-US" altLang="ko-KR" sz="1400" dirty="0"/>
              <a:t>( ):</a:t>
            </a:r>
          </a:p>
          <a:p>
            <a:pPr defTabSz="180000"/>
            <a:r>
              <a:rPr lang="en-US" altLang="ko-KR" sz="1400" dirty="0"/>
              <a:t>		scores = students[name]</a:t>
            </a:r>
          </a:p>
          <a:p>
            <a:pPr defTabSz="180000"/>
            <a:r>
              <a:rPr lang="en-US" altLang="ko-KR" sz="1400" dirty="0"/>
              <a:t>		for score in scores:</a:t>
            </a:r>
          </a:p>
          <a:p>
            <a:pPr defTabSz="180000"/>
            <a:r>
              <a:rPr lang="en-US" altLang="ko-KR" sz="1400" dirty="0"/>
              <a:t>			low = score if low &gt; score else low</a:t>
            </a:r>
          </a:p>
          <a:p>
            <a:pPr defTabSz="180000"/>
            <a:r>
              <a:rPr lang="en-US" altLang="ko-KR" sz="1400" dirty="0"/>
              <a:t>	print("</a:t>
            </a:r>
            <a:r>
              <a:rPr lang="ko-KR" altLang="en-US" sz="1400" dirty="0"/>
              <a:t>최저 </a:t>
            </a:r>
            <a:r>
              <a:rPr lang="ko-KR" altLang="en-US" sz="1400"/>
              <a:t>점수는 </a:t>
            </a:r>
            <a:r>
              <a:rPr lang="en-US" altLang="ko-KR" sz="1400" dirty="0"/>
              <a:t>%</a:t>
            </a:r>
            <a:r>
              <a:rPr lang="en-US" altLang="ko-KR" sz="1400"/>
              <a:t>d</a:t>
            </a:r>
            <a:r>
              <a:rPr lang="ko-KR" altLang="en-US" sz="1400"/>
              <a:t>입니다</a:t>
            </a:r>
            <a:r>
              <a:rPr lang="en-US" altLang="ko-KR" sz="1400" dirty="0"/>
              <a:t>." % </a:t>
            </a:r>
            <a:r>
              <a:rPr lang="en-US" altLang="ko-KR" sz="1400"/>
              <a:t>low)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7333E2-4566-42B2-AC63-643281BC3482}"/>
              </a:ext>
            </a:extLst>
          </p:cNvPr>
          <p:cNvSpPr/>
          <p:nvPr/>
        </p:nvSpPr>
        <p:spPr>
          <a:xfrm>
            <a:off x="4721392" y="5013176"/>
            <a:ext cx="3739040" cy="100811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4-18.py</a:t>
            </a:r>
          </a:p>
          <a:p>
            <a:pPr fontAlgn="base"/>
            <a:r>
              <a:rPr lang="en-US" altLang="ko-KR" sz="1400" dirty="0"/>
              <a:t>high </a:t>
            </a:r>
            <a:r>
              <a:rPr lang="ko-KR" altLang="en-US" sz="1400" dirty="0"/>
              <a:t>또는 </a:t>
            </a:r>
            <a:r>
              <a:rPr lang="en-US" altLang="ko-KR" sz="1400" dirty="0"/>
              <a:t>low</a:t>
            </a:r>
            <a:r>
              <a:rPr lang="ko-KR" altLang="en-US" sz="1400" dirty="0"/>
              <a:t>를 입력하세요</a:t>
            </a:r>
            <a:r>
              <a:rPr lang="en-US" altLang="ko-KR" sz="1400" dirty="0"/>
              <a:t>&gt;&gt; </a:t>
            </a:r>
            <a:r>
              <a:rPr lang="en-US" altLang="ko-KR" sz="1400" dirty="0">
                <a:solidFill>
                  <a:srgbClr val="00B050"/>
                </a:solidFill>
              </a:rPr>
              <a:t>high</a:t>
            </a:r>
          </a:p>
          <a:p>
            <a:pPr fontAlgn="base"/>
            <a:r>
              <a:rPr lang="ko-KR" altLang="en-US" sz="1400" dirty="0"/>
              <a:t>최고 점수는 </a:t>
            </a:r>
            <a:r>
              <a:rPr lang="en-US" altLang="ko-KR" sz="1400" dirty="0"/>
              <a:t>99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D712D2-53B0-4F35-A8B7-F79E8709C26F}"/>
              </a:ext>
            </a:extLst>
          </p:cNvPr>
          <p:cNvSpPr/>
          <p:nvPr/>
        </p:nvSpPr>
        <p:spPr>
          <a:xfrm>
            <a:off x="533670" y="1713116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4-18.py</a:t>
            </a:r>
          </a:p>
        </p:txBody>
      </p:sp>
    </p:spTree>
    <p:extLst>
      <p:ext uri="{BB962C8B-B14F-4D97-AF65-F5344CB8AC3E}">
        <p14:creationId xmlns:p14="http://schemas.microsoft.com/office/powerpoint/2010/main" val="1246397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CFA214-9150-43F2-A63F-C56863FA4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3A6B76-25C5-4F47-B463-257D8D08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4.7 </a:t>
            </a:r>
            <a:r>
              <a:rPr lang="ko-KR" altLang="en-US"/>
              <a:t>함수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0E8474-9A4B-4656-AF3D-39CDC766A0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1711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7699B2D-4EED-4CFA-8DC1-27ED9F90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48" y="1628800"/>
            <a:ext cx="7308304" cy="22214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4667B8-0BAD-4779-8BCF-82DFB11A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2AA02-8C84-4DB8-B3AA-633C5738E3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400600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r>
              <a:rPr lang="ko-KR" altLang="en-US" dirty="0"/>
              <a:t>는 데이터를 전달받아 처리한 후 결과를 돌려주는 코드 블록</a:t>
            </a:r>
            <a:endParaRPr lang="en-US" altLang="ko-KR" dirty="0"/>
          </a:p>
          <a:p>
            <a:r>
              <a:rPr lang="ko-KR" altLang="en-US"/>
              <a:t>함수의 </a:t>
            </a:r>
            <a:r>
              <a:rPr lang="ko-KR" altLang="en-US" dirty="0"/>
              <a:t>구성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/>
              <a:t>def</a:t>
            </a:r>
          </a:p>
          <a:p>
            <a:pPr lvl="2"/>
            <a:r>
              <a:rPr lang="ko-KR" altLang="en-US"/>
              <a:t>함수의 </a:t>
            </a:r>
            <a:r>
              <a:rPr lang="ko-KR" altLang="en-US" dirty="0"/>
              <a:t>선언을 </a:t>
            </a:r>
            <a:r>
              <a:rPr lang="ko-KR" altLang="en-US"/>
              <a:t>표시하는 키워드</a:t>
            </a:r>
            <a:r>
              <a:rPr lang="en-US" altLang="ko-KR"/>
              <a:t> </a:t>
            </a:r>
          </a:p>
          <a:p>
            <a:pPr lvl="2"/>
            <a:r>
              <a:rPr lang="en-US" altLang="ko-KR"/>
              <a:t>def </a:t>
            </a:r>
            <a:r>
              <a:rPr lang="ko-KR" altLang="en-US" dirty="0"/>
              <a:t>문의 마지막에 콜론</a:t>
            </a:r>
            <a:r>
              <a:rPr lang="en-US" altLang="ko-KR" dirty="0"/>
              <a:t>(':')</a:t>
            </a:r>
            <a:r>
              <a:rPr lang="ko-KR" altLang="en-US" dirty="0"/>
              <a:t>을 사용하여 함수의 시작임을 알려야 함</a:t>
            </a:r>
          </a:p>
          <a:p>
            <a:pPr lvl="1"/>
            <a:r>
              <a:rPr lang="ko-KR" altLang="en-US"/>
              <a:t>함수이름</a:t>
            </a:r>
            <a:endParaRPr lang="en-US" altLang="ko-KR"/>
          </a:p>
          <a:p>
            <a:pPr lvl="2"/>
            <a:r>
              <a:rPr lang="ko-KR" altLang="en-US"/>
              <a:t>개발자가 </a:t>
            </a:r>
            <a:r>
              <a:rPr lang="ko-KR" altLang="en-US" dirty="0"/>
              <a:t>정하는 것으로 함수의 목적에 맞게 이름을 정함 </a:t>
            </a:r>
          </a:p>
          <a:p>
            <a:pPr lvl="1"/>
            <a:r>
              <a:rPr lang="en-US" altLang="ko-KR" dirty="0"/>
              <a:t>arg1, agr2, ..., </a:t>
            </a:r>
            <a:r>
              <a:rPr lang="en-US" altLang="ko-KR" err="1"/>
              <a:t>argn</a:t>
            </a:r>
            <a:r>
              <a:rPr lang="en-US" altLang="ko-KR"/>
              <a:t> </a:t>
            </a:r>
          </a:p>
          <a:p>
            <a:pPr lvl="2"/>
            <a:r>
              <a:rPr lang="ko-KR" altLang="en-US"/>
              <a:t>함수를 </a:t>
            </a:r>
            <a:r>
              <a:rPr lang="ko-KR" altLang="en-US" dirty="0"/>
              <a:t>호출하는 곳으로부터 값을 </a:t>
            </a:r>
            <a:r>
              <a:rPr lang="ko-KR" altLang="en-US"/>
              <a:t>전달받는 매개변수</a:t>
            </a:r>
            <a:endParaRPr lang="en-US" altLang="ko-KR"/>
          </a:p>
          <a:p>
            <a:pPr lvl="2"/>
            <a:r>
              <a:rPr lang="ko-KR" altLang="en-US"/>
              <a:t>여러 </a:t>
            </a:r>
            <a:r>
              <a:rPr lang="ko-KR" altLang="en-US" dirty="0"/>
              <a:t>개가 있을 경우 콤마</a:t>
            </a:r>
            <a:r>
              <a:rPr lang="en-US" altLang="ko-KR" dirty="0"/>
              <a:t>(,)</a:t>
            </a:r>
            <a:r>
              <a:rPr lang="ko-KR" altLang="en-US" dirty="0"/>
              <a:t>로 분리</a:t>
            </a:r>
            <a:r>
              <a:rPr lang="en-US" altLang="ko-KR" dirty="0"/>
              <a:t>. </a:t>
            </a:r>
            <a:r>
              <a:rPr lang="ko-KR" altLang="en-US" dirty="0"/>
              <a:t>값을 받지 않는 경우 매개변수 필요 없음</a:t>
            </a:r>
          </a:p>
          <a:p>
            <a:pPr lvl="1"/>
            <a:r>
              <a:rPr lang="ko-KR" altLang="en-US"/>
              <a:t>프로그램 코드</a:t>
            </a:r>
            <a:endParaRPr lang="en-US" altLang="ko-KR"/>
          </a:p>
          <a:p>
            <a:pPr lvl="2"/>
            <a:r>
              <a:rPr lang="ko-KR" altLang="en-US"/>
              <a:t>함수의 </a:t>
            </a:r>
            <a:r>
              <a:rPr lang="ko-KR" altLang="en-US" dirty="0"/>
              <a:t>작업을 실행하는 </a:t>
            </a:r>
            <a:r>
              <a:rPr lang="ko-KR" altLang="en-US" dirty="0" err="1"/>
              <a:t>파이썬</a:t>
            </a:r>
            <a:r>
              <a:rPr lang="ko-KR" altLang="en-US" dirty="0"/>
              <a:t> 코드</a:t>
            </a:r>
            <a:r>
              <a:rPr lang="en-US" altLang="ko-KR" dirty="0"/>
              <a:t>. </a:t>
            </a:r>
            <a:r>
              <a:rPr lang="ko-KR" altLang="en-US" dirty="0"/>
              <a:t>프로그램 코드는 들여쓰기를 해야 함</a:t>
            </a:r>
          </a:p>
          <a:p>
            <a:pPr lvl="1"/>
            <a:r>
              <a:rPr lang="en-US" altLang="ko-KR" dirty="0"/>
              <a:t>return </a:t>
            </a:r>
            <a:r>
              <a:rPr lang="ko-KR" altLang="en-US"/>
              <a:t>문 </a:t>
            </a:r>
            <a:endParaRPr lang="en-US" altLang="ko-KR"/>
          </a:p>
          <a:p>
            <a:pPr lvl="2"/>
            <a:r>
              <a:rPr lang="ko-KR" altLang="en-US"/>
              <a:t>함수의 </a:t>
            </a:r>
            <a:r>
              <a:rPr lang="ko-KR" altLang="en-US" dirty="0"/>
              <a:t>실행을 종료하고 호출한 곳으로 되돌아가면서 함수의 실행 결과를 </a:t>
            </a:r>
            <a:r>
              <a:rPr lang="ko-KR" altLang="en-US"/>
              <a:t>반환하는 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53A7D-9F31-4304-B104-6EAC7D83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7097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8014A87-01E3-465F-A00B-7C42AE2A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16" y="4423179"/>
            <a:ext cx="6772367" cy="21881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1BE89AA-BDE1-4844-8E98-4183638A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CFEFA-D383-43B6-9DC5-6A9DE6378E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000"/>
              <a:t>함수 호출</a:t>
            </a:r>
            <a:r>
              <a:rPr lang="en-US" altLang="ko-KR" sz="2000"/>
              <a:t>(function call) </a:t>
            </a:r>
          </a:p>
          <a:p>
            <a:pPr lvl="1"/>
            <a:r>
              <a:rPr lang="ko-KR" altLang="en-US" sz="1800"/>
              <a:t>함수에게 </a:t>
            </a:r>
            <a:r>
              <a:rPr lang="ko-KR" altLang="en-US" sz="1800" dirty="0"/>
              <a:t>일을 지시하고 </a:t>
            </a:r>
            <a:r>
              <a:rPr lang="ko-KR" altLang="en-US" sz="1800"/>
              <a:t>결과를 받는 것</a:t>
            </a:r>
            <a:endParaRPr lang="en-US" altLang="ko-KR" sz="1800" dirty="0"/>
          </a:p>
          <a:p>
            <a:pPr fontAlgn="base"/>
            <a:r>
              <a:rPr lang="ko-KR" altLang="en-US" sz="2000"/>
              <a:t>방식</a:t>
            </a:r>
            <a:endParaRPr lang="en-US" altLang="ko-KR" sz="2000"/>
          </a:p>
          <a:p>
            <a:pPr marL="365760" lvl="1" indent="0" fontAlgn="base">
              <a:buNone/>
            </a:pPr>
            <a:r>
              <a:rPr lang="en-US" altLang="ko-KR" sz="1800"/>
              <a:t>1) </a:t>
            </a:r>
            <a:r>
              <a:rPr lang="ko-KR" altLang="en-US" sz="1800"/>
              <a:t>변수이름 </a:t>
            </a:r>
            <a:r>
              <a:rPr lang="en-US" altLang="ko-KR" sz="1800" dirty="0"/>
              <a:t>= </a:t>
            </a:r>
            <a:r>
              <a:rPr lang="ko-KR" altLang="en-US" sz="1800" dirty="0"/>
              <a:t>함수이름</a:t>
            </a:r>
            <a:r>
              <a:rPr lang="en-US" altLang="ko-KR" sz="1800" dirty="0"/>
              <a:t>(arg1, arg2, ..., </a:t>
            </a:r>
            <a:r>
              <a:rPr lang="en-US" altLang="ko-KR" sz="1800" err="1"/>
              <a:t>argn</a:t>
            </a:r>
            <a:r>
              <a:rPr lang="en-US" altLang="ko-KR" sz="1800"/>
              <a:t>) </a:t>
            </a:r>
          </a:p>
          <a:p>
            <a:pPr lvl="2" fontAlgn="base"/>
            <a:r>
              <a:rPr lang="ko-KR" altLang="en-US" sz="1600"/>
              <a:t>함수 리턴 값 변수에 저장</a:t>
            </a:r>
            <a:endParaRPr lang="ko-KR" altLang="en-US" sz="1600" dirty="0"/>
          </a:p>
          <a:p>
            <a:pPr marL="365760" lvl="1" indent="0" fontAlgn="base">
              <a:buNone/>
            </a:pPr>
            <a:r>
              <a:rPr lang="en-US" altLang="ko-KR" sz="1800"/>
              <a:t>2)  </a:t>
            </a:r>
            <a:r>
              <a:rPr lang="ko-KR" altLang="en-US" sz="1800"/>
              <a:t>함수이름</a:t>
            </a:r>
            <a:r>
              <a:rPr lang="en-US" altLang="ko-KR" sz="1800" dirty="0"/>
              <a:t>(arg1, arg2, ..., </a:t>
            </a:r>
            <a:r>
              <a:rPr lang="en-US" altLang="ko-KR" sz="1800" err="1"/>
              <a:t>argn</a:t>
            </a:r>
            <a:r>
              <a:rPr lang="en-US" altLang="ko-KR" sz="1800"/>
              <a:t>)</a:t>
            </a:r>
          </a:p>
          <a:p>
            <a:pPr lvl="2" fontAlgn="base"/>
            <a:r>
              <a:rPr lang="ko-KR" altLang="en-US" sz="1600"/>
              <a:t>함수로부터 </a:t>
            </a:r>
            <a:r>
              <a:rPr lang="ko-KR" altLang="en-US" sz="1600" dirty="0"/>
              <a:t>리턴 값을 받지 않음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E5B218-5916-4CCD-B256-F56BC88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6E6C15-6F7D-4B2B-BB15-6FA9E179843D}"/>
              </a:ext>
            </a:extLst>
          </p:cNvPr>
          <p:cNvSpPr/>
          <p:nvPr/>
        </p:nvSpPr>
        <p:spPr>
          <a:xfrm>
            <a:off x="1137744" y="4077198"/>
            <a:ext cx="6820439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/>
              <a:t>n = adder(10, 20) # adder() </a:t>
            </a:r>
            <a:r>
              <a:rPr lang="ko-KR" altLang="en-US" sz="1600" dirty="0"/>
              <a:t>함수 호출</a:t>
            </a:r>
          </a:p>
        </p:txBody>
      </p:sp>
    </p:spTree>
    <p:extLst>
      <p:ext uri="{BB962C8B-B14F-4D97-AF65-F5344CB8AC3E}">
        <p14:creationId xmlns:p14="http://schemas.microsoft.com/office/powerpoint/2010/main" val="30116286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8855E79-CF10-46A2-A36F-A2860C86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매개 변수의 디폴트 값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9DE7B2-1CDD-40CA-A992-3A83BA329D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매개변수에 디폴트 값이란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함수를 </a:t>
            </a:r>
            <a:r>
              <a:rPr lang="ko-KR" altLang="en-US" dirty="0"/>
              <a:t>호출할 때 매개 변수에 값을 넘기는 것을 생략하면</a:t>
            </a:r>
            <a:r>
              <a:rPr lang="en-US" altLang="ko-KR" dirty="0"/>
              <a:t>, </a:t>
            </a:r>
            <a:r>
              <a:rPr lang="ko-KR" altLang="en-US" dirty="0"/>
              <a:t>미리 정해진 </a:t>
            </a:r>
            <a:r>
              <a:rPr lang="ko-KR" altLang="en-US"/>
              <a:t>값이 전달되는 방식</a:t>
            </a:r>
            <a:endParaRPr lang="en-US" altLang="ko-KR"/>
          </a:p>
          <a:p>
            <a:pPr lvl="1"/>
            <a:r>
              <a:rPr lang="ko-KR" altLang="en-US"/>
              <a:t>함수를 </a:t>
            </a:r>
            <a:r>
              <a:rPr lang="ko-KR" altLang="en-US" dirty="0"/>
              <a:t>선언할 </a:t>
            </a:r>
            <a:r>
              <a:rPr lang="ko-KR" altLang="en-US"/>
              <a:t>때 디폴트 값 지정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DD8E6B-19A0-4439-814E-BB3AC981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385133-9AEA-463F-9DD4-0F6AD34CD633}"/>
              </a:ext>
            </a:extLst>
          </p:cNvPr>
          <p:cNvSpPr/>
          <p:nvPr/>
        </p:nvSpPr>
        <p:spPr>
          <a:xfrm>
            <a:off x="1259632" y="3140968"/>
            <a:ext cx="712824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def adder(a, </a:t>
            </a:r>
            <a:r>
              <a:rPr lang="en-US" altLang="ko-KR" sz="1400" b="1" dirty="0"/>
              <a:t>b=20</a:t>
            </a:r>
            <a:r>
              <a:rPr lang="en-US" altLang="ko-KR" sz="1400" dirty="0"/>
              <a:t>):</a:t>
            </a:r>
          </a:p>
          <a:p>
            <a:pPr defTabSz="180000"/>
            <a:r>
              <a:rPr lang="en-US" altLang="ko-KR" sz="1400" dirty="0"/>
              <a:t>	sum = a + b</a:t>
            </a:r>
          </a:p>
          <a:p>
            <a:pPr defTabSz="180000"/>
            <a:r>
              <a:rPr lang="en-US" altLang="ko-KR" sz="1400" dirty="0"/>
              <a:t>	return sum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F076B4-FDE9-4ECD-B468-56DCF256D924}"/>
              </a:ext>
            </a:extLst>
          </p:cNvPr>
          <p:cNvSpPr/>
          <p:nvPr/>
        </p:nvSpPr>
        <p:spPr>
          <a:xfrm>
            <a:off x="1259632" y="4293096"/>
            <a:ext cx="712824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sum = adder(10)</a:t>
            </a:r>
            <a:r>
              <a:rPr lang="ko-KR" altLang="en-US" sz="1400"/>
              <a:t>	</a:t>
            </a:r>
            <a:r>
              <a:rPr lang="en-US" altLang="ko-KR" sz="1400"/>
              <a:t>		# </a:t>
            </a:r>
            <a:r>
              <a:rPr lang="en-US" altLang="ko-KR" sz="1400" dirty="0"/>
              <a:t>adder(10, 20)</a:t>
            </a:r>
            <a:r>
              <a:rPr lang="ko-KR" altLang="en-US" sz="1400"/>
              <a:t>과 동일</a:t>
            </a:r>
            <a:r>
              <a:rPr lang="en-US" altLang="ko-KR" sz="1400" dirty="0"/>
              <a:t>, </a:t>
            </a:r>
            <a:r>
              <a:rPr lang="ko-KR" altLang="en-US" sz="1400"/>
              <a:t>매개변수 </a:t>
            </a:r>
            <a:r>
              <a:rPr lang="en-US" altLang="ko-KR" sz="1400" dirty="0"/>
              <a:t>b</a:t>
            </a:r>
            <a:r>
              <a:rPr lang="ko-KR" altLang="en-US" sz="1400" dirty="0"/>
              <a:t>에 디폴트 </a:t>
            </a:r>
            <a:r>
              <a:rPr lang="ko-KR" altLang="en-US" sz="1400"/>
              <a:t>값 </a:t>
            </a:r>
            <a:r>
              <a:rPr lang="en-US" altLang="ko-KR" sz="1400" dirty="0"/>
              <a:t>20 </a:t>
            </a:r>
            <a:r>
              <a:rPr lang="ko-KR" altLang="en-US" sz="1400" dirty="0"/>
              <a:t>전달</a:t>
            </a:r>
          </a:p>
          <a:p>
            <a:pPr defTabSz="180000"/>
            <a:r>
              <a:rPr lang="en-US" altLang="ko-KR" sz="1400" dirty="0"/>
              <a:t>sum = adder(10, 30)</a:t>
            </a:r>
            <a:r>
              <a:rPr lang="ko-KR" altLang="en-US" sz="1400"/>
              <a:t>	</a:t>
            </a:r>
            <a:r>
              <a:rPr lang="en-US" altLang="ko-KR" sz="1400" dirty="0"/>
              <a:t># adder(10, 30)</a:t>
            </a:r>
            <a:r>
              <a:rPr lang="ko-KR" altLang="en-US" sz="1400" dirty="0"/>
              <a:t>과 동일</a:t>
            </a:r>
          </a:p>
        </p:txBody>
      </p:sp>
    </p:spTree>
    <p:extLst>
      <p:ext uri="{BB962C8B-B14F-4D97-AF65-F5344CB8AC3E}">
        <p14:creationId xmlns:p14="http://schemas.microsoft.com/office/powerpoint/2010/main" val="718604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984C4-FF2E-465C-A95B-22571889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명명된 매개변수</a:t>
            </a:r>
            <a:r>
              <a:rPr lang="en-US" altLang="ko-KR" dirty="0"/>
              <a:t>(named parameter)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07F3B-CE18-4030-A831-8C83C2C815E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명명된 매개변수</a:t>
            </a:r>
            <a:endParaRPr lang="en-US" altLang="ko-KR" dirty="0"/>
          </a:p>
          <a:p>
            <a:pPr lvl="1" fontAlgn="base"/>
            <a:r>
              <a:rPr lang="ko-KR" altLang="en-US" dirty="0"/>
              <a:t>함수 호출 문에 </a:t>
            </a:r>
            <a:r>
              <a:rPr lang="en-US" altLang="ko-KR" dirty="0"/>
              <a:t>'</a:t>
            </a:r>
            <a:r>
              <a:rPr lang="ko-KR" altLang="en-US" dirty="0"/>
              <a:t>매개변수이름</a:t>
            </a:r>
            <a:r>
              <a:rPr lang="en-US" altLang="ko-KR" dirty="0"/>
              <a:t>=</a:t>
            </a:r>
            <a:r>
              <a:rPr lang="ko-KR" altLang="en-US" dirty="0"/>
              <a:t>값</a:t>
            </a:r>
            <a:r>
              <a:rPr lang="en-US" altLang="ko-KR" dirty="0"/>
              <a:t>'</a:t>
            </a:r>
            <a:r>
              <a:rPr lang="ko-KR" altLang="en-US" dirty="0"/>
              <a:t>을 이용하여 </a:t>
            </a:r>
            <a:r>
              <a:rPr lang="ko-KR" altLang="en-US"/>
              <a:t>매개변수에 값 전달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1186D8-4D90-4977-816E-99BF3DD9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70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CB6F5B-312A-4C55-B9E2-87633D45B093}"/>
              </a:ext>
            </a:extLst>
          </p:cNvPr>
          <p:cNvSpPr/>
          <p:nvPr/>
        </p:nvSpPr>
        <p:spPr>
          <a:xfrm>
            <a:off x="1331640" y="2740296"/>
            <a:ext cx="5774806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pt-BR" altLang="ko-KR" sz="1600" dirty="0"/>
              <a:t>n = adder(a=20, b=30)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6E21E5-7E92-44E5-982E-B13FFBCC5C14}"/>
              </a:ext>
            </a:extLst>
          </p:cNvPr>
          <p:cNvSpPr/>
          <p:nvPr/>
        </p:nvSpPr>
        <p:spPr>
          <a:xfrm>
            <a:off x="1331640" y="3338381"/>
            <a:ext cx="5774806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pt-BR" altLang="ko-KR" sz="1600" dirty="0"/>
              <a:t>n = adder(b=30, a=20)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31E107-2316-4B17-8839-C31D5962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90" y="3760186"/>
            <a:ext cx="5774807" cy="188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687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790A6-1812-4CEC-BA12-17B02D47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4-19 </a:t>
            </a:r>
            <a:r>
              <a:rPr lang="ko-KR" altLang="en-US" dirty="0"/>
              <a:t>함수 만들기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0E16B94-8E06-4DD0-81D8-5692F370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71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BA92C3-BF87-4F81-997E-166ED9C76E47}"/>
              </a:ext>
            </a:extLst>
          </p:cNvPr>
          <p:cNvSpPr/>
          <p:nvPr/>
        </p:nvSpPr>
        <p:spPr>
          <a:xfrm>
            <a:off x="524675" y="1329052"/>
            <a:ext cx="8367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구구단을 출력하는 함수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gugudan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 ( )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작성하고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사용자로부터 정수를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입력받아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이 함수를 호출하여 구구단을 출력하는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56478C-2D9D-43FF-8EA9-072984708291}"/>
              </a:ext>
            </a:extLst>
          </p:cNvPr>
          <p:cNvSpPr/>
          <p:nvPr/>
        </p:nvSpPr>
        <p:spPr>
          <a:xfrm>
            <a:off x="609600" y="2549222"/>
            <a:ext cx="4106416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def gugudan</a:t>
            </a:r>
            <a:r>
              <a:rPr lang="en-US" altLang="ko-KR" sz="1400" dirty="0"/>
              <a:t>(n):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/>
              <a:t>for i</a:t>
            </a:r>
            <a:r>
              <a:rPr lang="en-US" altLang="ko-KR" sz="1400" dirty="0"/>
              <a:t> in range(1,10):</a:t>
            </a:r>
          </a:p>
          <a:p>
            <a:pPr defTabSz="180000"/>
            <a:r>
              <a:rPr lang="pt-BR" altLang="ko-KR" sz="1400" dirty="0"/>
              <a:t>		print("%d x %d = %d" % (n, i, n*i))</a:t>
            </a:r>
          </a:p>
          <a:p>
            <a:pPr defTabSz="180000"/>
            <a:endParaRPr lang="pt-BR" altLang="ko-KR" sz="1400" dirty="0"/>
          </a:p>
          <a:p>
            <a:pPr defTabSz="180000"/>
            <a:r>
              <a:rPr lang="en-US" altLang="ko-KR" sz="1400" dirty="0"/>
              <a:t>a = input("</a:t>
            </a:r>
            <a:r>
              <a:rPr lang="ko-KR" altLang="en-US" sz="1400" dirty="0"/>
              <a:t>구구단 </a:t>
            </a:r>
            <a:r>
              <a:rPr lang="ko-KR" altLang="en-US" sz="1400" err="1"/>
              <a:t>몇단을</a:t>
            </a:r>
            <a:r>
              <a:rPr lang="ko-KR" altLang="en-US" sz="1400"/>
              <a:t> 원하세요</a:t>
            </a:r>
            <a:r>
              <a:rPr lang="en-US" altLang="ko-KR" sz="1400" dirty="0"/>
              <a:t>&gt;&gt; ")</a:t>
            </a:r>
          </a:p>
          <a:p>
            <a:pPr defTabSz="180000"/>
            <a:r>
              <a:rPr lang="en-US" altLang="ko-KR" sz="1400" dirty="0"/>
              <a:t>n = int(a)</a:t>
            </a:r>
          </a:p>
          <a:p>
            <a:pPr defTabSz="180000"/>
            <a:r>
              <a:rPr lang="en-US" altLang="ko-KR" sz="1400"/>
              <a:t>gugudan</a:t>
            </a:r>
            <a:r>
              <a:rPr lang="en-US" altLang="ko-KR" sz="1400" dirty="0"/>
              <a:t>(</a:t>
            </a:r>
            <a:r>
              <a:rPr lang="en-US" altLang="ko-KR" sz="1400"/>
              <a:t>n)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24455A-8F3D-4F70-8238-B84507B273F8}"/>
              </a:ext>
            </a:extLst>
          </p:cNvPr>
          <p:cNvSpPr/>
          <p:nvPr/>
        </p:nvSpPr>
        <p:spPr>
          <a:xfrm>
            <a:off x="4932040" y="2549222"/>
            <a:ext cx="3528392" cy="267997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400" b="1" dirty="0"/>
              <a:t>pi@pi:~/ch04 $ python 4-19.py</a:t>
            </a:r>
          </a:p>
          <a:p>
            <a:pPr fontAlgn="base"/>
            <a:r>
              <a:rPr lang="ko-KR" altLang="en-US" sz="1400" dirty="0"/>
              <a:t>구구단 </a:t>
            </a:r>
            <a:r>
              <a:rPr lang="ko-KR" altLang="en-US" sz="1400" dirty="0" err="1"/>
              <a:t>몇단을</a:t>
            </a:r>
            <a:r>
              <a:rPr lang="ko-KR" altLang="en-US" sz="1400" dirty="0"/>
              <a:t> 원하세요</a:t>
            </a:r>
            <a:r>
              <a:rPr lang="en-US" altLang="ko-KR" sz="1400" dirty="0"/>
              <a:t>&gt;&gt; </a:t>
            </a:r>
            <a:r>
              <a:rPr lang="en-US" altLang="ko-KR" sz="1400" dirty="0">
                <a:solidFill>
                  <a:srgbClr val="00B050"/>
                </a:solidFill>
              </a:rPr>
              <a:t>6</a:t>
            </a:r>
          </a:p>
          <a:p>
            <a:pPr fontAlgn="base"/>
            <a:r>
              <a:rPr lang="en-US" altLang="ko-KR" sz="1400" dirty="0"/>
              <a:t>6 x 1 = 6</a:t>
            </a:r>
          </a:p>
          <a:p>
            <a:pPr fontAlgn="base"/>
            <a:r>
              <a:rPr lang="en-US" altLang="ko-KR" sz="1400" dirty="0"/>
              <a:t>6 x 2 = 12</a:t>
            </a:r>
          </a:p>
          <a:p>
            <a:pPr fontAlgn="base"/>
            <a:r>
              <a:rPr lang="en-US" altLang="ko-KR" sz="1400" dirty="0"/>
              <a:t>6 x 3 = 18</a:t>
            </a:r>
          </a:p>
          <a:p>
            <a:pPr fontAlgn="base"/>
            <a:r>
              <a:rPr lang="en-US" altLang="ko-KR" sz="1400" dirty="0"/>
              <a:t>6 x 4 = 24</a:t>
            </a:r>
          </a:p>
          <a:p>
            <a:pPr fontAlgn="base"/>
            <a:r>
              <a:rPr lang="en-US" altLang="ko-KR" sz="1400" dirty="0"/>
              <a:t>6 x 5 = 30</a:t>
            </a:r>
          </a:p>
          <a:p>
            <a:pPr fontAlgn="base"/>
            <a:r>
              <a:rPr lang="en-US" altLang="ko-KR" sz="1400" dirty="0"/>
              <a:t>6 x 6 = 36</a:t>
            </a:r>
          </a:p>
          <a:p>
            <a:pPr fontAlgn="base"/>
            <a:r>
              <a:rPr lang="en-US" altLang="ko-KR" sz="1400" dirty="0"/>
              <a:t>6 x 7 = 42</a:t>
            </a:r>
          </a:p>
          <a:p>
            <a:pPr fontAlgn="base"/>
            <a:r>
              <a:rPr lang="en-US" altLang="ko-KR" sz="1400" dirty="0"/>
              <a:t>6 x 8 = 48</a:t>
            </a:r>
          </a:p>
          <a:p>
            <a:pPr fontAlgn="base"/>
            <a:r>
              <a:rPr lang="en-US" altLang="ko-KR" sz="1400" dirty="0"/>
              <a:t>6 x 9 = 54</a:t>
            </a:r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25CAD8-7981-4A61-A8FA-40CB3A19C83E}"/>
              </a:ext>
            </a:extLst>
          </p:cNvPr>
          <p:cNvSpPr/>
          <p:nvPr/>
        </p:nvSpPr>
        <p:spPr>
          <a:xfrm>
            <a:off x="527007" y="2098608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4-19.py</a:t>
            </a:r>
          </a:p>
        </p:txBody>
      </p:sp>
    </p:spTree>
    <p:extLst>
      <p:ext uri="{BB962C8B-B14F-4D97-AF65-F5344CB8AC3E}">
        <p14:creationId xmlns:p14="http://schemas.microsoft.com/office/powerpoint/2010/main" val="430652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AF115-B858-4551-9E25-5F3773BA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전역변수와 지역변수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B7DD5-9033-4B32-9C16-6EBEB8CAFF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 sz="2000" dirty="0"/>
              <a:t>전역 변수 </a:t>
            </a:r>
            <a:endParaRPr lang="en-US" altLang="ko-KR" sz="2000" dirty="0"/>
          </a:p>
          <a:p>
            <a:pPr lvl="1" fontAlgn="base"/>
            <a:r>
              <a:rPr lang="ko-KR" altLang="en-US" sz="1800" dirty="0"/>
              <a:t>함수 밖에 </a:t>
            </a:r>
            <a:r>
              <a:rPr lang="ko-KR" altLang="en-US" sz="1800"/>
              <a:t>선언되는 변수</a:t>
            </a:r>
            <a:endParaRPr lang="en-US" altLang="ko-KR" sz="1800"/>
          </a:p>
          <a:p>
            <a:pPr lvl="1" fontAlgn="base"/>
            <a:r>
              <a:rPr lang="ko-KR" altLang="en-US" sz="1800"/>
              <a:t>프로그램이 </a:t>
            </a:r>
            <a:r>
              <a:rPr lang="ko-KR" altLang="en-US" sz="1800" dirty="0"/>
              <a:t>실행을 시작할 때 생겨나서 프로그램 </a:t>
            </a:r>
            <a:r>
              <a:rPr lang="ko-KR" altLang="en-US" sz="1800"/>
              <a:t>종료까지 생존</a:t>
            </a:r>
            <a:endParaRPr lang="en-US" altLang="ko-KR" sz="1800"/>
          </a:p>
          <a:p>
            <a:pPr lvl="1" fontAlgn="base"/>
            <a:r>
              <a:rPr lang="ko-KR" altLang="en-US" sz="1800"/>
              <a:t>모든 </a:t>
            </a:r>
            <a:r>
              <a:rPr lang="ko-KR" altLang="en-US" sz="1800" dirty="0"/>
              <a:t>함수에서 사용 가능</a:t>
            </a:r>
          </a:p>
          <a:p>
            <a:pPr fontAlgn="base"/>
            <a:r>
              <a:rPr lang="ko-KR" altLang="en-US" sz="2000" dirty="0"/>
              <a:t>지역 변수</a:t>
            </a:r>
            <a:endParaRPr lang="en-US" altLang="ko-KR" sz="2000" dirty="0"/>
          </a:p>
          <a:p>
            <a:pPr lvl="1" fontAlgn="base"/>
            <a:r>
              <a:rPr lang="ko-KR" altLang="en-US" sz="1800"/>
              <a:t>함수 </a:t>
            </a:r>
            <a:r>
              <a:rPr lang="ko-KR" altLang="en-US" sz="1800" dirty="0"/>
              <a:t>내에서 </a:t>
            </a:r>
            <a:r>
              <a:rPr lang="ko-KR" altLang="en-US" sz="1800"/>
              <a:t>선언되는 변수</a:t>
            </a:r>
            <a:endParaRPr lang="en-US" altLang="ko-KR" sz="1800"/>
          </a:p>
          <a:p>
            <a:pPr lvl="1" fontAlgn="base"/>
            <a:r>
              <a:rPr lang="ko-KR" altLang="en-US" sz="1800"/>
              <a:t>함수가 </a:t>
            </a:r>
            <a:r>
              <a:rPr lang="ko-KR" altLang="en-US" sz="1800" dirty="0"/>
              <a:t>시작되면 생겨나서 함수가 </a:t>
            </a:r>
            <a:r>
              <a:rPr lang="ko-KR" altLang="en-US" sz="1800"/>
              <a:t>종료되면 사라짐</a:t>
            </a:r>
            <a:endParaRPr lang="en-US" altLang="ko-KR" sz="1800"/>
          </a:p>
          <a:p>
            <a:pPr lvl="1" fontAlgn="base"/>
            <a:r>
              <a:rPr lang="ko-KR" altLang="en-US" sz="1800"/>
              <a:t>선언된 </a:t>
            </a:r>
            <a:r>
              <a:rPr lang="ko-KR" altLang="en-US" sz="1800" dirty="0"/>
              <a:t>함수 내에서만 사용 가능</a:t>
            </a:r>
          </a:p>
          <a:p>
            <a:r>
              <a:rPr lang="ko-KR" altLang="en-US" sz="2000" dirty="0"/>
              <a:t>전역변수와 지역변수 선언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0992D-E034-4CF5-9DB0-FD465231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427B42-371A-4036-888A-FB15FFF27722}"/>
              </a:ext>
            </a:extLst>
          </p:cNvPr>
          <p:cNvSpPr/>
          <p:nvPr/>
        </p:nvSpPr>
        <p:spPr>
          <a:xfrm>
            <a:off x="1043608" y="4725144"/>
            <a:ext cx="6984776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/>
              <a:t>x = 10 	</a:t>
            </a:r>
            <a:r>
              <a:rPr lang="en-US" altLang="ko-KR" sz="1400" dirty="0"/>
              <a:t>				# </a:t>
            </a:r>
            <a:r>
              <a:rPr lang="ko-KR" altLang="en-US" sz="1400" dirty="0"/>
              <a:t>전역 변수</a:t>
            </a:r>
          </a:p>
          <a:p>
            <a:pPr defTabSz="180000"/>
            <a:r>
              <a:rPr lang="en-US" altLang="ko-KR" sz="1400" dirty="0"/>
              <a:t>def f():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b="1" dirty="0"/>
              <a:t>y = 50 </a:t>
            </a:r>
            <a:r>
              <a:rPr lang="en-US" altLang="ko-KR" sz="1400" dirty="0"/>
              <a:t>				# </a:t>
            </a:r>
            <a:r>
              <a:rPr lang="ko-KR" altLang="en-US" sz="1400" dirty="0"/>
              <a:t>지역 변수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return x + y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t = f() 													# </a:t>
            </a:r>
            <a:r>
              <a:rPr lang="ko-KR" altLang="en-US" sz="1400"/>
              <a:t>함수 </a:t>
            </a:r>
            <a:r>
              <a:rPr lang="en-US" altLang="ko-KR" sz="1400" dirty="0"/>
              <a:t>f() </a:t>
            </a:r>
            <a:r>
              <a:rPr lang="ko-KR" altLang="en-US" sz="1400" dirty="0"/>
              <a:t>호출</a:t>
            </a:r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 dirty="0"/>
              <a:t>전역 </a:t>
            </a:r>
            <a:r>
              <a:rPr lang="ko-KR" altLang="en-US" sz="1400"/>
              <a:t>변수 </a:t>
            </a:r>
            <a:r>
              <a:rPr lang="en-US" altLang="ko-KR" sz="1400" dirty="0"/>
              <a:t>x = ', x) 				# 10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/>
              <a:t>함수 </a:t>
            </a:r>
            <a:r>
              <a:rPr lang="en-US" altLang="ko-KR" sz="1400" dirty="0"/>
              <a:t>f()</a:t>
            </a:r>
            <a:r>
              <a:rPr lang="ko-KR" altLang="en-US" sz="1400" dirty="0"/>
              <a:t>의 </a:t>
            </a:r>
            <a:r>
              <a:rPr lang="ko-KR" altLang="en-US" sz="1400" err="1"/>
              <a:t>리턴값은</a:t>
            </a:r>
            <a:r>
              <a:rPr lang="ko-KR" altLang="en-US" sz="1400"/>
              <a:t> </a:t>
            </a:r>
            <a:r>
              <a:rPr lang="en-US" altLang="ko-KR" sz="1400" dirty="0"/>
              <a:t>', t) </a:t>
            </a:r>
            <a:r>
              <a:rPr lang="en-US" altLang="ko-KR" sz="1400"/>
              <a:t>		# </a:t>
            </a:r>
            <a:r>
              <a:rPr lang="en-US" altLang="ko-KR" sz="1400" dirty="0"/>
              <a:t>60 </a:t>
            </a:r>
            <a:r>
              <a:rPr lang="ko-KR" altLang="en-US" sz="1400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1306443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FF16F-C0F8-4C7A-BE8C-EF31E149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내에서 전역 변수에 쓰기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0295C-DE49-41B4-8C1E-7A8E528F5B5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함수 내에서 전역 변수에 쓰기</a:t>
            </a:r>
          </a:p>
          <a:p>
            <a:pPr lvl="1"/>
            <a:r>
              <a:rPr lang="ko-KR" altLang="en-US" dirty="0"/>
              <a:t>전역 변수에 값을 쓰는 경우</a:t>
            </a:r>
            <a:r>
              <a:rPr lang="en-US" altLang="ko-KR"/>
              <a:t>, </a:t>
            </a:r>
          </a:p>
          <a:p>
            <a:pPr lvl="1"/>
            <a:r>
              <a:rPr lang="ko-KR" altLang="en-US"/>
              <a:t>반드시 </a:t>
            </a:r>
            <a:r>
              <a:rPr lang="en-US" altLang="ko-KR" dirty="0"/>
              <a:t>global </a:t>
            </a:r>
            <a:r>
              <a:rPr lang="ko-KR" altLang="en-US" dirty="0"/>
              <a:t>키워드를 사용하여 전역 변수임을 명확히 하여야 함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8B1CB-7D51-4C43-B2FF-06FDC7BA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F38612-AAD0-4294-96A8-C64FC3128CDF}"/>
              </a:ext>
            </a:extLst>
          </p:cNvPr>
          <p:cNvSpPr/>
          <p:nvPr/>
        </p:nvSpPr>
        <p:spPr>
          <a:xfrm>
            <a:off x="1330552" y="3068960"/>
            <a:ext cx="7200800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/>
              <a:t>x = 10 </a:t>
            </a:r>
            <a:r>
              <a:rPr lang="en-US" altLang="ko-KR" sz="1400" dirty="0"/>
              <a:t>		</a:t>
            </a:r>
            <a:r>
              <a:rPr lang="en-US" altLang="ko-KR" sz="1400"/>
              <a:t>	# </a:t>
            </a:r>
            <a:r>
              <a:rPr lang="ko-KR" altLang="en-US" sz="1400" dirty="0"/>
              <a:t>전역 변수</a:t>
            </a:r>
          </a:p>
          <a:p>
            <a:pPr defTabSz="180000"/>
            <a:r>
              <a:rPr lang="en-US" altLang="ko-KR" sz="1400" dirty="0"/>
              <a:t>def f():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b="1" dirty="0"/>
              <a:t>global x 	</a:t>
            </a:r>
            <a:r>
              <a:rPr lang="en-US" altLang="ko-KR" sz="1400" dirty="0"/>
              <a:t>						# </a:t>
            </a:r>
            <a:r>
              <a:rPr lang="ko-KR" altLang="en-US" sz="1400" dirty="0"/>
              <a:t>함수 내에서 </a:t>
            </a:r>
            <a:r>
              <a:rPr lang="ko-KR" altLang="en-US" sz="1400"/>
              <a:t>등장하는 </a:t>
            </a:r>
            <a:r>
              <a:rPr lang="en-US" altLang="ko-KR" sz="1400" dirty="0"/>
              <a:t>x</a:t>
            </a:r>
            <a:r>
              <a:rPr lang="ko-KR" altLang="en-US" sz="1400" dirty="0"/>
              <a:t>는 전역 변수임을 선언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b="1" dirty="0"/>
              <a:t>x = x + 10 </a:t>
            </a:r>
            <a:r>
              <a:rPr lang="en-US" altLang="ko-KR" sz="1400" dirty="0"/>
              <a:t>						# </a:t>
            </a:r>
            <a:r>
              <a:rPr lang="ko-KR" altLang="en-US" sz="1400" dirty="0"/>
              <a:t>전역 </a:t>
            </a:r>
            <a:r>
              <a:rPr lang="ko-KR" altLang="en-US" sz="1400"/>
              <a:t>변수 </a:t>
            </a:r>
            <a:r>
              <a:rPr lang="en-US" altLang="ko-KR" sz="1400" dirty="0"/>
              <a:t>x</a:t>
            </a:r>
            <a:r>
              <a:rPr lang="ko-KR" altLang="en-US" sz="1400" dirty="0"/>
              <a:t>에 </a:t>
            </a:r>
            <a:r>
              <a:rPr lang="ko-KR" altLang="en-US" sz="1400"/>
              <a:t>대한 계산</a:t>
            </a:r>
            <a:r>
              <a:rPr lang="en-US" altLang="ko-KR" sz="1400" dirty="0"/>
              <a:t>. x</a:t>
            </a:r>
            <a:r>
              <a:rPr lang="ko-KR" altLang="en-US" sz="1400"/>
              <a:t>는 </a:t>
            </a:r>
            <a:r>
              <a:rPr lang="en-US" altLang="ko-KR" sz="1400" dirty="0"/>
              <a:t>20</a:t>
            </a:r>
            <a:r>
              <a:rPr lang="ko-KR" altLang="en-US" sz="1400" dirty="0"/>
              <a:t>이 됨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y = 50 								# </a:t>
            </a:r>
            <a:r>
              <a:rPr lang="ko-KR" altLang="en-US" sz="1400" dirty="0"/>
              <a:t>지역 변수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return x + y + 10	</a:t>
            </a:r>
            <a:r>
              <a:rPr lang="en-US" altLang="ko-KR" sz="1400"/>
              <a:t>			# 80 </a:t>
            </a:r>
            <a:r>
              <a:rPr lang="ko-KR" altLang="en-US" sz="1400"/>
              <a:t>리턴</a:t>
            </a:r>
            <a:endParaRPr lang="en-US" altLang="ko-KR" sz="1400"/>
          </a:p>
          <a:p>
            <a:pPr defTabSz="180000"/>
            <a:endParaRPr lang="ko-KR" altLang="en-US" sz="1400" dirty="0"/>
          </a:p>
          <a:p>
            <a:pPr defTabSz="180000"/>
            <a:r>
              <a:rPr lang="en-US" altLang="ko-KR" sz="1400" dirty="0"/>
              <a:t>t = f() # </a:t>
            </a:r>
            <a:r>
              <a:rPr lang="ko-KR" altLang="en-US" sz="1400"/>
              <a:t>함수 </a:t>
            </a:r>
            <a:r>
              <a:rPr lang="en-US" altLang="ko-KR" sz="1400" dirty="0"/>
              <a:t>f() </a:t>
            </a:r>
            <a:r>
              <a:rPr lang="ko-KR" altLang="en-US" sz="1400" dirty="0"/>
              <a:t>호출</a:t>
            </a:r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 dirty="0"/>
              <a:t>전역 </a:t>
            </a:r>
            <a:r>
              <a:rPr lang="ko-KR" altLang="en-US" sz="1400"/>
              <a:t>변수 </a:t>
            </a:r>
            <a:r>
              <a:rPr lang="en-US" altLang="ko-KR" sz="1400" dirty="0"/>
              <a:t>x = ', x) 				# 20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/>
              <a:t>함수 </a:t>
            </a:r>
            <a:r>
              <a:rPr lang="en-US" altLang="ko-KR" sz="1400" dirty="0"/>
              <a:t>f()</a:t>
            </a:r>
            <a:r>
              <a:rPr lang="ko-KR" altLang="en-US" sz="1400" dirty="0"/>
              <a:t>의 </a:t>
            </a:r>
            <a:r>
              <a:rPr lang="ko-KR" altLang="en-US" sz="1400" err="1"/>
              <a:t>리턴값은</a:t>
            </a:r>
            <a:r>
              <a:rPr lang="ko-KR" altLang="en-US" sz="1400"/>
              <a:t> </a:t>
            </a:r>
            <a:r>
              <a:rPr lang="en-US" altLang="ko-KR" sz="1400" dirty="0"/>
              <a:t>', t) </a:t>
            </a:r>
            <a:r>
              <a:rPr lang="en-US" altLang="ko-KR" sz="1400"/>
              <a:t>		# </a:t>
            </a:r>
            <a:r>
              <a:rPr lang="en-US" altLang="ko-KR" sz="1400" dirty="0"/>
              <a:t>80 </a:t>
            </a:r>
            <a:r>
              <a:rPr lang="ko-KR" altLang="en-US" sz="1400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42203081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9BC6B-73AD-43A8-8E95-B876504A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전역 변수 사용시 주의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D0C883-0B42-4E96-BEE8-C828764EB2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ko-KR"/>
              <a:t>global </a:t>
            </a:r>
            <a:r>
              <a:rPr lang="ko-KR" altLang="en-US" dirty="0"/>
              <a:t>키워드를 사용하지 않은 </a:t>
            </a:r>
            <a:r>
              <a:rPr lang="ko-KR" altLang="en-US"/>
              <a:t>경우 아래와 </a:t>
            </a:r>
            <a:r>
              <a:rPr lang="ko-KR" altLang="en-US" dirty="0"/>
              <a:t>같은 오류 발생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EE7AD4-3131-469B-BB84-399E1843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8D7673-EFB8-4C57-8912-6D79980A1799}"/>
              </a:ext>
            </a:extLst>
          </p:cNvPr>
          <p:cNvSpPr/>
          <p:nvPr/>
        </p:nvSpPr>
        <p:spPr>
          <a:xfrm>
            <a:off x="1379043" y="1988840"/>
            <a:ext cx="6624192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/>
              <a:t>x = </a:t>
            </a:r>
            <a:r>
              <a:rPr lang="en-US" altLang="ko-KR" sz="1400" b="1"/>
              <a:t>10 				</a:t>
            </a:r>
            <a:r>
              <a:rPr lang="en-US" altLang="ko-KR" sz="1400"/>
              <a:t># </a:t>
            </a:r>
            <a:r>
              <a:rPr lang="ko-KR" altLang="en-US" sz="1400"/>
              <a:t>전역 변수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def f( ):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b="1" dirty="0"/>
              <a:t># global </a:t>
            </a:r>
            <a:r>
              <a:rPr lang="en-US" altLang="ko-KR" sz="1400" b="1"/>
              <a:t>x 	</a:t>
            </a:r>
            <a:r>
              <a:rPr lang="en-US" altLang="ko-KR" sz="1400"/>
              <a:t># </a:t>
            </a:r>
            <a:r>
              <a:rPr lang="ko-KR" altLang="en-US" sz="1400" dirty="0"/>
              <a:t>주석 처리함</a:t>
            </a:r>
            <a:r>
              <a:rPr lang="en-US" altLang="ko-KR" sz="1400" dirty="0"/>
              <a:t>, x</a:t>
            </a:r>
            <a:r>
              <a:rPr lang="ko-KR" altLang="en-US" sz="1400" dirty="0"/>
              <a:t>가 전역 변수임을 알리지 않음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x = x + </a:t>
            </a:r>
            <a:r>
              <a:rPr lang="en-US" altLang="ko-KR" sz="1400"/>
              <a:t>10 	# </a:t>
            </a:r>
            <a:r>
              <a:rPr lang="en-US" altLang="ko-KR" sz="1400" dirty="0"/>
              <a:t>x</a:t>
            </a:r>
            <a:r>
              <a:rPr lang="ko-KR" altLang="en-US" sz="1400" dirty="0"/>
              <a:t>는 지역 변수인데 미 초기화로 </a:t>
            </a:r>
            <a:r>
              <a:rPr lang="ko-KR" altLang="en-US" sz="1400" dirty="0">
                <a:solidFill>
                  <a:srgbClr val="C00000"/>
                </a:solidFill>
              </a:rPr>
              <a:t>오류</a:t>
            </a:r>
            <a:r>
              <a:rPr lang="ko-KR" altLang="en-US" sz="1400" dirty="0"/>
              <a:t>가 발생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y = </a:t>
            </a:r>
            <a:r>
              <a:rPr lang="en-US" altLang="ko-KR" sz="1400"/>
              <a:t>50 			# </a:t>
            </a:r>
            <a:r>
              <a:rPr lang="ko-KR" altLang="en-US" sz="1400" dirty="0"/>
              <a:t>지역 변수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return x + </a:t>
            </a:r>
            <a:r>
              <a:rPr lang="en-US" altLang="ko-KR" sz="1400"/>
              <a:t>y 	# </a:t>
            </a:r>
            <a:r>
              <a:rPr lang="en-US" altLang="ko-KR" sz="1400" dirty="0"/>
              <a:t>80 </a:t>
            </a:r>
            <a:r>
              <a:rPr lang="ko-KR" altLang="en-US" sz="1400" dirty="0"/>
              <a:t>리턴</a:t>
            </a:r>
          </a:p>
          <a:p>
            <a:pPr defTabSz="180000"/>
            <a:r>
              <a:rPr lang="en-US" altLang="ko-KR" sz="1400" dirty="0"/>
              <a:t>t = f( ) # </a:t>
            </a:r>
            <a:r>
              <a:rPr lang="ko-KR" altLang="en-US" sz="1400" dirty="0"/>
              <a:t>함수 </a:t>
            </a:r>
            <a:r>
              <a:rPr lang="en-US" altLang="ko-KR" sz="1400" dirty="0"/>
              <a:t>f( ) </a:t>
            </a:r>
            <a:r>
              <a:rPr lang="ko-KR" altLang="en-US" sz="1400" dirty="0"/>
              <a:t>호출</a:t>
            </a:r>
          </a:p>
          <a:p>
            <a:pPr defTabSz="180000"/>
            <a:r>
              <a:rPr lang="en-US" altLang="ko-KR" sz="1400" dirty="0"/>
              <a:t>print(“</a:t>
            </a:r>
            <a:r>
              <a:rPr lang="ko-KR" altLang="en-US" sz="1400" dirty="0"/>
              <a:t>전역 변수 </a:t>
            </a:r>
            <a:r>
              <a:rPr lang="en-US" altLang="ko-KR" sz="1400" dirty="0"/>
              <a:t>x = “, </a:t>
            </a:r>
            <a:r>
              <a:rPr lang="en-US" altLang="ko-KR" sz="1400"/>
              <a:t>x)						# </a:t>
            </a:r>
            <a:r>
              <a:rPr lang="en-US" altLang="ko-KR" sz="1400" dirty="0"/>
              <a:t>10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/>
              <a:t>print(“</a:t>
            </a:r>
            <a:r>
              <a:rPr lang="ko-KR" altLang="en-US" sz="1400" dirty="0"/>
              <a:t>함수 </a:t>
            </a:r>
            <a:r>
              <a:rPr lang="en-US" altLang="ko-KR" sz="1400" dirty="0"/>
              <a:t>f( )</a:t>
            </a:r>
            <a:r>
              <a:rPr lang="ko-KR" altLang="en-US" sz="1400" dirty="0"/>
              <a:t>의 리턴 값은 “</a:t>
            </a:r>
            <a:r>
              <a:rPr lang="en-US" altLang="ko-KR" sz="1400" dirty="0"/>
              <a:t>, t</a:t>
            </a:r>
            <a:r>
              <a:rPr lang="en-US" altLang="ko-KR" sz="1400"/>
              <a:t>) 		# </a:t>
            </a:r>
            <a:r>
              <a:rPr lang="en-US" altLang="ko-KR" sz="1400" dirty="0"/>
              <a:t>80 </a:t>
            </a:r>
            <a:r>
              <a:rPr lang="ko-KR" altLang="en-US" sz="1400" dirty="0"/>
              <a:t>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8066D-8AC1-4DC3-9FDD-3974328B69CD}"/>
              </a:ext>
            </a:extLst>
          </p:cNvPr>
          <p:cNvSpPr txBox="1"/>
          <p:nvPr/>
        </p:nvSpPr>
        <p:spPr>
          <a:xfrm>
            <a:off x="827584" y="2348880"/>
            <a:ext cx="533400" cy="289441"/>
          </a:xfrm>
          <a:prstGeom prst="wedgeRoundRectCallout">
            <a:avLst>
              <a:gd name="adj1" fmla="val 90353"/>
              <a:gd name="adj2" fmla="val 10807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algn="ctr"/>
            <a:r>
              <a:rPr lang="ko-KR" altLang="en-US" dirty="0"/>
              <a:t>오류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E8F203-B62A-457C-9949-8725EE4647B2}"/>
              </a:ext>
            </a:extLst>
          </p:cNvPr>
          <p:cNvSpPr/>
          <p:nvPr/>
        </p:nvSpPr>
        <p:spPr>
          <a:xfrm>
            <a:off x="1379043" y="4293096"/>
            <a:ext cx="6624192" cy="138499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Traceback (most recent call last):</a:t>
            </a:r>
          </a:p>
          <a:p>
            <a:r>
              <a:rPr lang="en-US" altLang="ko-KR" sz="1400" dirty="0"/>
              <a:t>File “/home/pi/ch04/a.py”, line 8, in &lt;module&gt;</a:t>
            </a:r>
          </a:p>
          <a:p>
            <a:r>
              <a:rPr lang="en-US" altLang="ko-KR" sz="1400" dirty="0"/>
              <a:t>t = f( ) # </a:t>
            </a:r>
            <a:r>
              <a:rPr lang="ko-KR" altLang="en-US" sz="1400" dirty="0"/>
              <a:t>함수 </a:t>
            </a:r>
            <a:r>
              <a:rPr lang="en-US" altLang="ko-KR" sz="1400" dirty="0"/>
              <a:t>f( ) </a:t>
            </a:r>
            <a:r>
              <a:rPr lang="ko-KR" altLang="en-US" sz="1400" dirty="0"/>
              <a:t>호출</a:t>
            </a:r>
          </a:p>
          <a:p>
            <a:r>
              <a:rPr lang="en-US" altLang="ko-KR" sz="1400" dirty="0"/>
              <a:t>File “/home/pi/ch04/a.py”, line 4, in f</a:t>
            </a:r>
          </a:p>
          <a:p>
            <a:r>
              <a:rPr lang="en-US" altLang="ko-KR" sz="1400" dirty="0"/>
              <a:t>x = x + 10 # x</a:t>
            </a:r>
            <a:r>
              <a:rPr lang="ko-KR" altLang="en-US" sz="1400" dirty="0"/>
              <a:t>는 지역 변수인데 미 초기화로 </a:t>
            </a:r>
            <a:r>
              <a:rPr lang="ko-KR" altLang="en-US" sz="1400" dirty="0">
                <a:solidFill>
                  <a:srgbClr val="C00000"/>
                </a:solidFill>
              </a:rPr>
              <a:t>오류</a:t>
            </a:r>
            <a:r>
              <a:rPr lang="ko-KR" altLang="en-US" sz="1400" dirty="0"/>
              <a:t>가 발생</a:t>
            </a:r>
          </a:p>
          <a:p>
            <a:r>
              <a:rPr lang="en-US" altLang="ko-KR" sz="1400" dirty="0" err="1"/>
              <a:t>UnboundLocalError</a:t>
            </a:r>
            <a:r>
              <a:rPr lang="en-US" altLang="ko-KR" sz="1400" dirty="0"/>
              <a:t>: local variable ‘x’ referenced before assignment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854974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12BD8F-9B07-4C28-8C0B-6BC1CA802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587ADF-3AE8-4C60-B0D6-AB6F9538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4.8 </a:t>
            </a:r>
            <a:r>
              <a:rPr lang="ko-KR" altLang="en-US"/>
              <a:t>모듈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D1400-5842-4083-8F58-5A80B0FF0E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9807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A6C6F-2675-4A46-A364-3D57B6EC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import </a:t>
            </a:r>
            <a:r>
              <a:rPr lang="ko-KR" altLang="en-US" dirty="0"/>
              <a:t>키워드로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7E372-7118-43F0-ABC1-E7B6805450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모듈</a:t>
            </a:r>
            <a:endParaRPr lang="en-US" altLang="ko-KR" dirty="0"/>
          </a:p>
          <a:p>
            <a:pPr lvl="1"/>
            <a:r>
              <a:rPr lang="ko-KR" altLang="en-US" dirty="0"/>
              <a:t>모듈</a:t>
            </a:r>
            <a:r>
              <a:rPr lang="en-US" altLang="ko-KR" dirty="0"/>
              <a:t>(module)</a:t>
            </a:r>
            <a:r>
              <a:rPr lang="ko-KR" altLang="en-US" dirty="0"/>
              <a:t>이란 하나의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 파일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</a:p>
          <a:p>
            <a:pPr lvl="1"/>
            <a:endParaRPr lang="ko-KR" altLang="en-US" dirty="0"/>
          </a:p>
          <a:p>
            <a:pPr lvl="0" fontAlgn="base"/>
            <a:r>
              <a:rPr lang="ko-KR" altLang="en-US" dirty="0"/>
              <a:t>모듈이 </a:t>
            </a:r>
            <a:r>
              <a:rPr lang="ko-KR" altLang="en-US" dirty="0" err="1"/>
              <a:t>임포트</a:t>
            </a:r>
            <a:r>
              <a:rPr lang="ko-KR" altLang="en-US" dirty="0"/>
              <a:t> 되는 과정</a:t>
            </a:r>
          </a:p>
          <a:p>
            <a:pPr lvl="1"/>
            <a:r>
              <a:rPr lang="ko-KR" altLang="en-US" dirty="0"/>
              <a:t>하나의 모듈에서 다른 모듈을 사용하기 위함</a:t>
            </a:r>
          </a:p>
          <a:p>
            <a:pPr marL="365760" lvl="1" indent="0">
              <a:buNone/>
            </a:pP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A341CD-7B92-411A-B526-9C24A9E1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EC1855-36E0-4EA7-8A17-1AFF030D82C7}"/>
              </a:ext>
            </a:extLst>
          </p:cNvPr>
          <p:cNvSpPr/>
          <p:nvPr/>
        </p:nvSpPr>
        <p:spPr>
          <a:xfrm>
            <a:off x="1331640" y="3433158"/>
            <a:ext cx="6633287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# </a:t>
            </a:r>
            <a:r>
              <a:rPr lang="ko-KR" altLang="en-US" sz="1400"/>
              <a:t>모듈 </a:t>
            </a:r>
            <a:r>
              <a:rPr lang="en-US" altLang="ko-KR" sz="1400" dirty="0"/>
              <a:t>a, a.py </a:t>
            </a:r>
            <a:r>
              <a:rPr lang="ko-KR" altLang="en-US" sz="1400" dirty="0"/>
              <a:t>파일에 저장</a:t>
            </a:r>
          </a:p>
          <a:p>
            <a:pPr defTabSz="180000"/>
            <a:r>
              <a:rPr lang="en-US" altLang="ko-KR" sz="1400" dirty="0"/>
              <a:t>name = </a:t>
            </a:r>
            <a:r>
              <a:rPr lang="en-US" altLang="ko-KR" sz="1400"/>
              <a:t>'</a:t>
            </a:r>
            <a:r>
              <a:rPr lang="ko-KR" altLang="en-US" sz="1400"/>
              <a:t>황기태</a:t>
            </a:r>
            <a:r>
              <a:rPr lang="en-US" altLang="ko-KR" sz="1400" dirty="0"/>
              <a:t>' # </a:t>
            </a:r>
            <a:r>
              <a:rPr lang="ko-KR" altLang="en-US" sz="140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전역변수</a:t>
            </a:r>
          </a:p>
          <a:p>
            <a:pPr defTabSz="180000"/>
            <a:r>
              <a:rPr lang="en-US" altLang="ko-KR" sz="1400"/>
              <a:t>def printName</a:t>
            </a:r>
            <a:r>
              <a:rPr lang="en-US" altLang="ko-KR" sz="1400" dirty="0"/>
              <a:t>():</a:t>
            </a:r>
          </a:p>
          <a:p>
            <a:pPr defTabSz="180000"/>
            <a:r>
              <a:rPr lang="en-US" altLang="ko-KR" sz="1400" dirty="0"/>
              <a:t>	print('</a:t>
            </a:r>
            <a:r>
              <a:rPr lang="ko-KR" altLang="en-US" sz="1400"/>
              <a:t>이름 </a:t>
            </a:r>
            <a:r>
              <a:rPr lang="en-US" altLang="ko-KR" sz="1400" dirty="0"/>
              <a:t>= %s' % name)</a:t>
            </a:r>
          </a:p>
          <a:p>
            <a:pPr defTabSz="180000"/>
            <a:r>
              <a:rPr lang="en-US" altLang="ko-KR" sz="1400"/>
              <a:t>printName</a:t>
            </a:r>
            <a:r>
              <a:rPr lang="en-US" altLang="ko-KR" sz="1400" dirty="0"/>
              <a:t>()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5CF867-671E-4B23-BAC6-5B2E501A374A}"/>
              </a:ext>
            </a:extLst>
          </p:cNvPr>
          <p:cNvSpPr/>
          <p:nvPr/>
        </p:nvSpPr>
        <p:spPr>
          <a:xfrm>
            <a:off x="1340191" y="4801310"/>
            <a:ext cx="6633287" cy="79208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 a.py</a:t>
            </a:r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</p:spTree>
    <p:extLst>
      <p:ext uri="{BB962C8B-B14F-4D97-AF65-F5344CB8AC3E}">
        <p14:creationId xmlns:p14="http://schemas.microsoft.com/office/powerpoint/2010/main" val="18345041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9E5EB-228A-4E40-B448-A2CB5F0A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ko-KR" altLang="en-US" dirty="0"/>
              <a:t>키워드로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DA407-84F9-4888-8CAC-E2434F3703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fontAlgn="base"/>
            <a:r>
              <a:rPr lang="ko-KR" altLang="en-US" dirty="0"/>
              <a:t>모듈이 </a:t>
            </a:r>
            <a:r>
              <a:rPr lang="ko-KR" altLang="en-US" dirty="0" err="1"/>
              <a:t>임포트되는</a:t>
            </a:r>
            <a:r>
              <a:rPr lang="ko-KR" altLang="en-US" dirty="0"/>
              <a:t> 과정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2B3CC-E1E9-4C02-A55E-D6686469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18CD2-58D8-4FE7-842C-A8EB78D92493}"/>
              </a:ext>
            </a:extLst>
          </p:cNvPr>
          <p:cNvSpPr/>
          <p:nvPr/>
        </p:nvSpPr>
        <p:spPr>
          <a:xfrm>
            <a:off x="1043608" y="1916832"/>
            <a:ext cx="6336704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# </a:t>
            </a:r>
            <a:r>
              <a:rPr lang="ko-KR" altLang="en-US" sz="1400" dirty="0"/>
              <a:t>모듈 </a:t>
            </a:r>
            <a:r>
              <a:rPr lang="en-US" altLang="ko-KR" sz="1400" dirty="0"/>
              <a:t>b. b.py </a:t>
            </a:r>
            <a:r>
              <a:rPr lang="ko-KR" altLang="en-US" sz="1400" dirty="0"/>
              <a:t>파일에 저장</a:t>
            </a:r>
          </a:p>
          <a:p>
            <a:pPr defTabSz="180000"/>
            <a:r>
              <a:rPr lang="en-US" altLang="ko-KR" sz="1400" dirty="0"/>
              <a:t>import a # </a:t>
            </a:r>
            <a:r>
              <a:rPr lang="ko-KR" altLang="en-US" sz="1400" dirty="0" err="1"/>
              <a:t>임포트할</a:t>
            </a:r>
            <a:r>
              <a:rPr lang="ko-KR" altLang="en-US" sz="1400" dirty="0"/>
              <a:t> 때 모듈 이름만 사용</a:t>
            </a:r>
          </a:p>
          <a:p>
            <a:pPr defTabSz="180000"/>
            <a:r>
              <a:rPr lang="en-US" altLang="ko-KR" sz="1400" dirty="0"/>
              <a:t>name = '</a:t>
            </a:r>
            <a:r>
              <a:rPr lang="ko-KR" altLang="en-US" sz="1400" dirty="0" err="1"/>
              <a:t>이재문</a:t>
            </a:r>
            <a:r>
              <a:rPr lang="en-US" altLang="ko-KR" sz="1400" dirty="0"/>
              <a:t>' # </a:t>
            </a:r>
            <a:r>
              <a:rPr lang="ko-KR" altLang="en-US" sz="1400" dirty="0"/>
              <a:t>모듈 </a:t>
            </a:r>
            <a:r>
              <a:rPr lang="en-US" altLang="ko-KR" sz="1400" dirty="0"/>
              <a:t>b</a:t>
            </a:r>
            <a:r>
              <a:rPr lang="ko-KR" altLang="en-US" sz="1400" dirty="0"/>
              <a:t>의 전역변수</a:t>
            </a:r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printName</a:t>
            </a:r>
            <a:r>
              <a:rPr lang="en-US" altLang="ko-KR" sz="1400" dirty="0"/>
              <a:t>():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print('</a:t>
            </a:r>
            <a:r>
              <a:rPr lang="ko-KR" altLang="en-US" sz="1400" dirty="0"/>
              <a:t>이름 </a:t>
            </a:r>
            <a:r>
              <a:rPr lang="en-US" altLang="ko-KR" sz="1400" dirty="0"/>
              <a:t>= %s' % name)</a:t>
            </a:r>
            <a:endParaRPr lang="ko-KR" altLang="en-US" sz="1400" dirty="0"/>
          </a:p>
          <a:p>
            <a:pPr defTabSz="180000"/>
            <a:r>
              <a:rPr lang="en-US" altLang="ko-KR" sz="1400" dirty="0" err="1"/>
              <a:t>printName</a:t>
            </a:r>
            <a:r>
              <a:rPr lang="en-US" altLang="ko-KR" sz="1400" dirty="0"/>
              <a:t>()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2465EF-100D-429C-B494-851494BAB16A}"/>
              </a:ext>
            </a:extLst>
          </p:cNvPr>
          <p:cNvSpPr/>
          <p:nvPr/>
        </p:nvSpPr>
        <p:spPr>
          <a:xfrm>
            <a:off x="1043608" y="3630508"/>
            <a:ext cx="6336704" cy="99118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 b.py</a:t>
            </a:r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이재문</a:t>
            </a:r>
            <a:endParaRPr lang="ko-KR" altLang="en-US" sz="1400" dirty="0"/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560228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38FFA-0E61-4A71-8C84-184AC233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ko-KR" altLang="en-US" dirty="0"/>
              <a:t>키워드로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5D548-EA4D-4A41-BC84-D55C6EB4CA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임포트된</a:t>
            </a:r>
            <a:r>
              <a:rPr lang="ko-KR" altLang="en-US" dirty="0"/>
              <a:t> 모듈 활용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F9904D-69A3-4945-8A90-FF6CA060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78</a:t>
            </a:fld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28C6CFA-A885-41B3-8DEE-10C2B2CD8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44824"/>
            <a:ext cx="7422079" cy="46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72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1BE69-02AC-4E12-884A-F525C0C3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ko-KR" altLang="en-US" dirty="0"/>
              <a:t>키워드로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0A773-5EF4-4CFE-A544-6BBCB75D3D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임포트된</a:t>
            </a:r>
            <a:r>
              <a:rPr lang="ko-KR" altLang="en-US" dirty="0"/>
              <a:t> 모듈 활용</a:t>
            </a:r>
            <a:endParaRPr lang="en-US" altLang="ko-KR" dirty="0"/>
          </a:p>
          <a:p>
            <a:pPr lvl="1"/>
            <a:r>
              <a:rPr lang="ko-KR" altLang="en-US" dirty="0"/>
              <a:t>접근방법</a:t>
            </a:r>
            <a:endParaRPr lang="en-US" altLang="ko-KR" dirty="0"/>
          </a:p>
          <a:p>
            <a:pPr lvl="2" fontAlgn="base" latinLnBrk="0"/>
            <a:r>
              <a:rPr lang="ko-KR" altLang="en-US" dirty="0"/>
              <a:t>모듈이름</a:t>
            </a:r>
            <a:r>
              <a:rPr lang="en-US" altLang="ko-KR" dirty="0"/>
              <a:t>.</a:t>
            </a:r>
            <a:r>
              <a:rPr lang="ko-KR" altLang="en-US" dirty="0"/>
              <a:t>전역변수</a:t>
            </a:r>
          </a:p>
          <a:p>
            <a:pPr lvl="2" fontAlgn="base" latinLnBrk="0"/>
            <a:r>
              <a:rPr lang="ko-KR" altLang="en-US" dirty="0"/>
              <a:t>모듈이름</a:t>
            </a:r>
            <a:r>
              <a:rPr lang="en-US" altLang="ko-KR" dirty="0"/>
              <a:t>.</a:t>
            </a:r>
            <a:r>
              <a:rPr lang="ko-KR" altLang="en-US" dirty="0"/>
              <a:t>함수 </a:t>
            </a:r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F722A5-71AD-4254-B8B2-468C1D9A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79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460F6-A332-4ADB-BAEE-DA6CA76EF929}"/>
              </a:ext>
            </a:extLst>
          </p:cNvPr>
          <p:cNvSpPr/>
          <p:nvPr/>
        </p:nvSpPr>
        <p:spPr>
          <a:xfrm>
            <a:off x="1403648" y="2924944"/>
            <a:ext cx="6984776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# </a:t>
            </a:r>
            <a:r>
              <a:rPr lang="ko-KR" altLang="en-US" sz="1400" dirty="0"/>
              <a:t>모듈 </a:t>
            </a:r>
            <a:r>
              <a:rPr lang="en-US" altLang="ko-KR" sz="1400" dirty="0"/>
              <a:t>c. c.py</a:t>
            </a:r>
            <a:r>
              <a:rPr lang="ko-KR" altLang="en-US" sz="1400" dirty="0"/>
              <a:t>에 저장</a:t>
            </a:r>
          </a:p>
          <a:p>
            <a:pPr defTabSz="180000"/>
            <a:r>
              <a:rPr lang="en-US" altLang="ko-KR" sz="1400" dirty="0"/>
              <a:t>import a </a:t>
            </a:r>
          </a:p>
          <a:p>
            <a:pPr defTabSz="180000"/>
            <a:r>
              <a:rPr lang="en-US" altLang="ko-KR" sz="1400" dirty="0"/>
              <a:t>name = '</a:t>
            </a:r>
            <a:r>
              <a:rPr lang="ko-KR" altLang="en-US" sz="1400" dirty="0" err="1"/>
              <a:t>이재문</a:t>
            </a:r>
            <a:r>
              <a:rPr lang="en-US" altLang="ko-KR" sz="1400" dirty="0"/>
              <a:t>'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printName</a:t>
            </a:r>
            <a:r>
              <a:rPr lang="en-US" altLang="ko-KR" sz="1400" dirty="0"/>
              <a:t>():</a:t>
            </a:r>
          </a:p>
          <a:p>
            <a:pPr defTabSz="180000"/>
            <a:r>
              <a:rPr lang="en-US" altLang="ko-KR" sz="1400" dirty="0"/>
              <a:t>	print('</a:t>
            </a:r>
            <a:r>
              <a:rPr lang="ko-KR" altLang="en-US" sz="1400" dirty="0"/>
              <a:t>모듈 </a:t>
            </a:r>
            <a:r>
              <a:rPr lang="en-US" altLang="ko-KR" sz="1400" dirty="0"/>
              <a:t>c</a:t>
            </a:r>
            <a:r>
              <a:rPr lang="ko-KR" altLang="en-US" sz="1400" dirty="0"/>
              <a:t>의 이름 </a:t>
            </a:r>
            <a:r>
              <a:rPr lang="en-US" altLang="ko-KR" sz="1400" dirty="0"/>
              <a:t>= %s' % name) # </a:t>
            </a:r>
            <a:r>
              <a:rPr lang="ko-KR" altLang="en-US" sz="1400" dirty="0"/>
              <a:t>모듈 </a:t>
            </a:r>
            <a:r>
              <a:rPr lang="en-US" altLang="ko-KR" sz="1400" dirty="0"/>
              <a:t>c</a:t>
            </a:r>
            <a:r>
              <a:rPr lang="ko-KR" altLang="en-US" sz="1400" dirty="0"/>
              <a:t>의 </a:t>
            </a:r>
            <a:r>
              <a:rPr lang="en-US" altLang="ko-KR" sz="1400" dirty="0"/>
              <a:t>name, '</a:t>
            </a:r>
            <a:r>
              <a:rPr lang="ko-KR" altLang="en-US" sz="1400" dirty="0" err="1"/>
              <a:t>이재문</a:t>
            </a:r>
            <a:r>
              <a:rPr lang="en-US" altLang="ko-KR" sz="1400" dirty="0"/>
              <a:t>’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defTabSz="180000"/>
            <a:endParaRPr lang="ko-KR" altLang="en-US" sz="1400" dirty="0"/>
          </a:p>
          <a:p>
            <a:pPr defTabSz="180000"/>
            <a:r>
              <a:rPr lang="en-US" altLang="ko-KR" sz="1400" dirty="0" err="1"/>
              <a:t>printName</a:t>
            </a:r>
            <a:r>
              <a:rPr lang="en-US" altLang="ko-KR" sz="1400" dirty="0"/>
              <a:t>() # </a:t>
            </a:r>
            <a:r>
              <a:rPr lang="ko-KR" altLang="en-US" sz="1400" dirty="0"/>
              <a:t>모듈 </a:t>
            </a:r>
            <a:r>
              <a:rPr lang="en-US" altLang="ko-KR" sz="1400" dirty="0"/>
              <a:t>c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printName</a:t>
            </a:r>
            <a:r>
              <a:rPr lang="en-US" altLang="ko-KR" sz="1400" dirty="0"/>
              <a:t>() </a:t>
            </a:r>
            <a:r>
              <a:rPr lang="ko-KR" altLang="en-US" sz="1400" dirty="0"/>
              <a:t>함수 실행</a:t>
            </a:r>
          </a:p>
          <a:p>
            <a:pPr defTabSz="180000"/>
            <a:r>
              <a:rPr lang="en-US" altLang="ko-KR" sz="1400" dirty="0"/>
              <a:t>print('</a:t>
            </a:r>
            <a:r>
              <a:rPr lang="ko-KR" altLang="en-US" sz="1400" dirty="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이름 </a:t>
            </a:r>
            <a:r>
              <a:rPr lang="en-US" altLang="ko-KR" sz="1400" dirty="0"/>
              <a:t>= %s' % a.name) # </a:t>
            </a:r>
            <a:r>
              <a:rPr lang="ko-KR" altLang="en-US" sz="1400" dirty="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en-US" altLang="ko-KR" sz="1400" dirty="0"/>
              <a:t>name, '</a:t>
            </a:r>
            <a:r>
              <a:rPr lang="ko-KR" altLang="en-US" sz="1400" dirty="0" err="1"/>
              <a:t>황기태</a:t>
            </a:r>
            <a:r>
              <a:rPr lang="en-US" altLang="ko-KR" sz="1400" dirty="0"/>
              <a:t>' </a:t>
            </a:r>
            <a:r>
              <a:rPr lang="ko-KR" altLang="en-US" sz="1400" dirty="0"/>
              <a:t>출력</a:t>
            </a:r>
          </a:p>
          <a:p>
            <a:pPr defTabSz="180000"/>
            <a:r>
              <a:rPr lang="en-US" altLang="ko-KR" sz="1400" dirty="0" err="1"/>
              <a:t>a.printName</a:t>
            </a:r>
            <a:r>
              <a:rPr lang="en-US" altLang="ko-KR" sz="1400" dirty="0"/>
              <a:t>() # </a:t>
            </a:r>
            <a:r>
              <a:rPr lang="ko-KR" altLang="en-US" sz="1400" dirty="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printName</a:t>
            </a:r>
            <a:r>
              <a:rPr lang="en-US" altLang="ko-KR" sz="1400" dirty="0"/>
              <a:t>() </a:t>
            </a:r>
            <a:r>
              <a:rPr lang="ko-KR" altLang="en-US" sz="1400" dirty="0"/>
              <a:t>함수 실행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5A2CA-8ED2-4B2C-9C31-29021352B134}"/>
              </a:ext>
            </a:extLst>
          </p:cNvPr>
          <p:cNvSpPr/>
          <p:nvPr/>
        </p:nvSpPr>
        <p:spPr>
          <a:xfrm>
            <a:off x="1403648" y="5127626"/>
            <a:ext cx="6984776" cy="141282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 c.py</a:t>
            </a:r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모듈 </a:t>
            </a:r>
            <a:r>
              <a:rPr lang="en-US" altLang="ko-KR" sz="1400" dirty="0"/>
              <a:t>c</a:t>
            </a:r>
            <a:r>
              <a:rPr lang="ko-KR" altLang="en-US" sz="1400" dirty="0"/>
              <a:t>의 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이재문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902332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4C941-9E87-4FF9-AC7D-6D9C19C8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ko-KR" altLang="en-US" dirty="0"/>
              <a:t>키워드로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C2C8C-0886-4DC2-AD19-DB29BEC8D9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fontAlgn="base"/>
            <a:r>
              <a:rPr lang="ko-KR" altLang="en-US" dirty="0"/>
              <a:t>모듈이 </a:t>
            </a:r>
            <a:r>
              <a:rPr lang="ko-KR" altLang="en-US" dirty="0" err="1"/>
              <a:t>임포트되는</a:t>
            </a:r>
            <a:r>
              <a:rPr lang="ko-KR" altLang="en-US" dirty="0"/>
              <a:t> 과정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03EBD-F646-4057-8BD6-06DAC7A9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80</a:t>
            </a:fld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D8B8490-81CA-450E-8138-AA924AEF6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26541"/>
            <a:ext cx="4586205" cy="48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130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F64A0-C12C-4C37-B650-CD90B594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'from </a:t>
            </a:r>
            <a:r>
              <a:rPr lang="ko-KR" altLang="en-US" dirty="0"/>
              <a:t>모듈이름 </a:t>
            </a:r>
            <a:r>
              <a:rPr lang="en-US" altLang="ko-KR" dirty="0"/>
              <a:t>import *'</a:t>
            </a:r>
            <a:r>
              <a:rPr lang="ko-KR" altLang="en-US" dirty="0"/>
              <a:t>등으로 모듈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3DBC6-185D-469C-AB96-759DA2280D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/>
              <a:t>제약사항</a:t>
            </a:r>
            <a:r>
              <a:rPr lang="en-US" altLang="ko-KR"/>
              <a:t>1</a:t>
            </a:r>
          </a:p>
          <a:p>
            <a:pPr lvl="1" fontAlgn="base"/>
            <a:r>
              <a:rPr lang="ko-KR" altLang="en-US"/>
              <a:t>임포트 </a:t>
            </a:r>
            <a:r>
              <a:rPr lang="ko-KR" altLang="en-US" dirty="0"/>
              <a:t>될 모듈</a:t>
            </a:r>
            <a:r>
              <a:rPr lang="en-US" altLang="ko-KR" dirty="0"/>
              <a:t>(</a:t>
            </a:r>
            <a:r>
              <a:rPr lang="en-US" altLang="ko-KR"/>
              <a:t>a)</a:t>
            </a:r>
            <a:r>
              <a:rPr lang="ko-KR" altLang="en-US" dirty="0"/>
              <a:t>과</a:t>
            </a:r>
            <a:r>
              <a:rPr lang="ko-KR" altLang="en-US"/>
              <a:t> </a:t>
            </a:r>
            <a:r>
              <a:rPr lang="ko-KR" altLang="en-US" dirty="0" err="1"/>
              <a:t>임포트하는</a:t>
            </a:r>
            <a:r>
              <a:rPr lang="ko-KR" altLang="en-US" dirty="0"/>
              <a:t> 모듈</a:t>
            </a:r>
            <a:r>
              <a:rPr lang="en-US" altLang="ko-KR" dirty="0"/>
              <a:t>(b </a:t>
            </a:r>
            <a:r>
              <a:rPr lang="ko-KR" altLang="en-US" dirty="0"/>
              <a:t>또는 </a:t>
            </a:r>
            <a:r>
              <a:rPr lang="en-US" altLang="ko-KR" dirty="0"/>
              <a:t>c)</a:t>
            </a:r>
            <a:r>
              <a:rPr lang="ko-KR" altLang="en-US" dirty="0"/>
              <a:t>에서 동일한 식별자</a:t>
            </a:r>
            <a:r>
              <a:rPr lang="en-US" altLang="ko-KR" dirty="0"/>
              <a:t>(</a:t>
            </a:r>
            <a:r>
              <a:rPr lang="ko-KR" altLang="en-US" dirty="0"/>
              <a:t>전역변수 이름</a:t>
            </a:r>
            <a:r>
              <a:rPr lang="en-US" altLang="ko-KR" dirty="0"/>
              <a:t>, </a:t>
            </a:r>
            <a:r>
              <a:rPr lang="ko-KR" altLang="en-US" dirty="0"/>
              <a:t>함수이름</a:t>
            </a:r>
            <a:r>
              <a:rPr lang="en-US" altLang="ko-KR" dirty="0"/>
              <a:t>)</a:t>
            </a:r>
            <a:r>
              <a:rPr lang="ko-KR" altLang="en-US" dirty="0"/>
              <a:t>가 있는 경우 </a:t>
            </a:r>
            <a:r>
              <a:rPr lang="ko-KR" altLang="en-US" dirty="0" err="1"/>
              <a:t>임포트될</a:t>
            </a:r>
            <a:r>
              <a:rPr lang="ko-KR" altLang="en-US" dirty="0"/>
              <a:t> 모듈의 식별자는 무시됨</a:t>
            </a:r>
          </a:p>
          <a:p>
            <a:pPr fontAlgn="base"/>
            <a:r>
              <a:rPr lang="ko-KR" altLang="en-US"/>
              <a:t>제약사항</a:t>
            </a:r>
            <a:r>
              <a:rPr lang="en-US" altLang="ko-KR"/>
              <a:t>2</a:t>
            </a:r>
          </a:p>
          <a:p>
            <a:pPr lvl="1" fontAlgn="base"/>
            <a:r>
              <a:rPr lang="en-US" altLang="ko-KR"/>
              <a:t>'from </a:t>
            </a:r>
            <a:r>
              <a:rPr lang="ko-KR" altLang="en-US" dirty="0"/>
              <a:t>모듈이름 </a:t>
            </a:r>
            <a:r>
              <a:rPr lang="en-US" altLang="ko-KR" dirty="0"/>
              <a:t>import *'</a:t>
            </a:r>
            <a:r>
              <a:rPr lang="ko-KR" altLang="en-US" dirty="0"/>
              <a:t>인 경우 </a:t>
            </a:r>
            <a:r>
              <a:rPr lang="ko-KR" altLang="en-US" dirty="0" err="1"/>
              <a:t>임포트될</a:t>
            </a:r>
            <a:r>
              <a:rPr lang="ko-KR" altLang="en-US" dirty="0"/>
              <a:t> 모듈에서 </a:t>
            </a:r>
            <a:r>
              <a:rPr lang="en-US" altLang="ko-KR" dirty="0"/>
              <a:t>_</a:t>
            </a:r>
            <a:r>
              <a:rPr lang="ko-KR" altLang="en-US" dirty="0"/>
              <a:t>로 시작하는 식별자는 </a:t>
            </a:r>
            <a:r>
              <a:rPr lang="ko-KR" altLang="en-US" dirty="0" err="1"/>
              <a:t>임포트하는</a:t>
            </a:r>
            <a:r>
              <a:rPr lang="ko-KR" altLang="en-US" dirty="0"/>
              <a:t> 모듈에서 액세스할 수 없음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94C926-A008-476D-A481-7A0179EE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7A7584-32C0-4FB7-8353-43202AD79BBF}"/>
              </a:ext>
            </a:extLst>
          </p:cNvPr>
          <p:cNvSpPr/>
          <p:nvPr/>
        </p:nvSpPr>
        <p:spPr>
          <a:xfrm>
            <a:off x="1331640" y="4005064"/>
            <a:ext cx="6840760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# </a:t>
            </a:r>
            <a:r>
              <a:rPr lang="ko-KR" altLang="en-US" sz="1400"/>
              <a:t>모듈 </a:t>
            </a:r>
            <a:r>
              <a:rPr lang="en-US" altLang="ko-KR" sz="1400" dirty="0"/>
              <a:t>d. d.py </a:t>
            </a:r>
            <a:r>
              <a:rPr lang="ko-KR" altLang="en-US" sz="1400" dirty="0"/>
              <a:t>파일에 저장</a:t>
            </a:r>
          </a:p>
          <a:p>
            <a:pPr defTabSz="180000"/>
            <a:r>
              <a:rPr lang="en-US" altLang="ko-KR" sz="1400" dirty="0"/>
              <a:t>from a import name</a:t>
            </a:r>
            <a:r>
              <a:rPr lang="en-US" altLang="ko-KR" sz="1400"/>
              <a:t>, printName</a:t>
            </a:r>
            <a:endParaRPr lang="en-US" altLang="ko-KR" sz="1400" dirty="0"/>
          </a:p>
          <a:p>
            <a:pPr defTabSz="180000"/>
            <a:r>
              <a:rPr lang="en-US" altLang="ko-KR" sz="1400"/>
              <a:t>def printName</a:t>
            </a:r>
            <a:r>
              <a:rPr lang="en-US" altLang="ko-KR" sz="1400" dirty="0"/>
              <a:t>():</a:t>
            </a:r>
          </a:p>
          <a:p>
            <a:pPr defTabSz="180000"/>
            <a:r>
              <a:rPr lang="en-US" altLang="ko-KR" sz="1400" dirty="0"/>
              <a:t>	print('</a:t>
            </a:r>
            <a:r>
              <a:rPr lang="ko-KR" altLang="en-US" sz="1400"/>
              <a:t>성함 </a:t>
            </a:r>
            <a:r>
              <a:rPr lang="en-US" altLang="ko-KR" sz="1400" dirty="0"/>
              <a:t>= %s' % name) # name</a:t>
            </a:r>
            <a:r>
              <a:rPr lang="ko-KR" altLang="en-US" sz="1400"/>
              <a:t>은 </a:t>
            </a:r>
            <a:r>
              <a:rPr lang="en-US" altLang="ko-KR" sz="1400" dirty="0"/>
              <a:t>a</a:t>
            </a:r>
            <a:r>
              <a:rPr lang="ko-KR" altLang="en-US" sz="1400"/>
              <a:t>모듈의 </a:t>
            </a:r>
            <a:r>
              <a:rPr lang="en-US" altLang="ko-KR" sz="1400" dirty="0"/>
              <a:t>name</a:t>
            </a:r>
            <a:r>
              <a:rPr lang="ko-KR" altLang="en-US" sz="1400" dirty="0"/>
              <a:t>임</a:t>
            </a:r>
          </a:p>
          <a:p>
            <a:pPr defTabSz="180000"/>
            <a:r>
              <a:rPr lang="en-US" altLang="ko-KR" sz="1400"/>
              <a:t>printName</a:t>
            </a:r>
            <a:r>
              <a:rPr lang="en-US" altLang="ko-KR" sz="1400" dirty="0"/>
              <a:t>()	</a:t>
            </a:r>
            <a:r>
              <a:rPr lang="en-US" altLang="ko-KR" sz="1400"/>
              <a:t># printName</a:t>
            </a:r>
            <a:r>
              <a:rPr lang="en-US" altLang="ko-KR" sz="1400" dirty="0"/>
              <a:t>()</a:t>
            </a:r>
            <a:r>
              <a:rPr lang="ko-KR" altLang="en-US" sz="1400" dirty="0"/>
              <a:t>함수는 이 </a:t>
            </a:r>
            <a:r>
              <a:rPr lang="ko-KR" altLang="en-US" sz="1400"/>
              <a:t>모듈의 </a:t>
            </a:r>
            <a:r>
              <a:rPr lang="en-US" altLang="ko-KR" sz="1400"/>
              <a:t>printName</a:t>
            </a:r>
            <a:r>
              <a:rPr lang="en-US" altLang="ko-KR" sz="1400" dirty="0"/>
              <a:t>()</a:t>
            </a:r>
            <a:r>
              <a:rPr lang="ko-KR" altLang="en-US" sz="1400" dirty="0"/>
              <a:t>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200610-C98B-4A97-91C5-DF135A09B7E3}"/>
              </a:ext>
            </a:extLst>
          </p:cNvPr>
          <p:cNvSpPr/>
          <p:nvPr/>
        </p:nvSpPr>
        <p:spPr>
          <a:xfrm>
            <a:off x="1331640" y="5303044"/>
            <a:ext cx="6840760" cy="100627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de-DE" altLang="ko-KR" sz="1400" b="1" dirty="0"/>
              <a:t>pi@pi:~/ch04 $ python d.py</a:t>
            </a:r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ko-KR" altLang="en-US" sz="1400" dirty="0"/>
              <a:t>성함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649978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964F0-414A-4945-810A-0A3F9065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__name__ </a:t>
            </a:r>
            <a:r>
              <a:rPr lang="ko-KR" altLang="en-US" dirty="0"/>
              <a:t>전역변수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73640-6AD4-47BA-BE71-6EF3FDD978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altLang="ko-KR" sz="2000"/>
              <a:t>__name__ </a:t>
            </a:r>
            <a:r>
              <a:rPr lang="ko-KR" altLang="en-US" sz="2000"/>
              <a:t>변수의 특징</a:t>
            </a:r>
            <a:endParaRPr lang="en-US" altLang="ko-KR" sz="2000"/>
          </a:p>
          <a:p>
            <a:pPr lvl="1" fontAlgn="base"/>
            <a:r>
              <a:rPr lang="ko-KR" altLang="en-US" sz="1800"/>
              <a:t>전역 변수임</a:t>
            </a:r>
            <a:endParaRPr lang="en-US" altLang="ko-KR" sz="1800"/>
          </a:p>
          <a:p>
            <a:pPr lvl="1" fontAlgn="base"/>
            <a:r>
              <a:rPr lang="ko-KR" altLang="en-US" sz="1800"/>
              <a:t>모듈이 </a:t>
            </a:r>
            <a:r>
              <a:rPr lang="ko-KR" altLang="en-US" sz="1800" dirty="0"/>
              <a:t>단독으로 실행될 때</a:t>
            </a:r>
            <a:r>
              <a:rPr lang="en-US" altLang="ko-KR" sz="1800" dirty="0"/>
              <a:t>, __name</a:t>
            </a:r>
            <a:r>
              <a:rPr lang="en-US" altLang="ko-KR" sz="1800"/>
              <a:t>__ </a:t>
            </a:r>
            <a:r>
              <a:rPr lang="ko-KR" altLang="en-US" sz="1800"/>
              <a:t>변수에 </a:t>
            </a:r>
            <a:r>
              <a:rPr lang="en-US" altLang="ko-KR" sz="1800" dirty="0"/>
              <a:t>'__main__'</a:t>
            </a:r>
            <a:r>
              <a:rPr lang="ko-KR" altLang="en-US" sz="1800" dirty="0"/>
              <a:t>문자열 저장</a:t>
            </a:r>
          </a:p>
          <a:p>
            <a:pPr lvl="1" fontAlgn="base"/>
            <a:r>
              <a:rPr lang="ko-KR" altLang="en-US" sz="1800" dirty="0"/>
              <a:t>모듈이 </a:t>
            </a:r>
            <a:r>
              <a:rPr lang="ko-KR" altLang="en-US" sz="1800" dirty="0" err="1"/>
              <a:t>임포트되어</a:t>
            </a:r>
            <a:r>
              <a:rPr lang="ko-KR" altLang="en-US" sz="1800" dirty="0"/>
              <a:t> 실행될 때</a:t>
            </a:r>
            <a:r>
              <a:rPr lang="en-US" altLang="ko-KR" sz="1800" dirty="0"/>
              <a:t>, __name</a:t>
            </a:r>
            <a:r>
              <a:rPr lang="en-US" altLang="ko-KR" sz="1800"/>
              <a:t>__ </a:t>
            </a:r>
            <a:r>
              <a:rPr lang="ko-KR" altLang="en-US" sz="1800"/>
              <a:t>변수에 </a:t>
            </a:r>
            <a:r>
              <a:rPr lang="en-US" altLang="ko-KR" sz="1800" dirty="0"/>
              <a:t>'</a:t>
            </a:r>
            <a:r>
              <a:rPr lang="ko-KR" altLang="en-US" sz="1800"/>
              <a:t>모듈이름</a:t>
            </a:r>
            <a:r>
              <a:rPr lang="en-US" altLang="ko-KR" sz="1800"/>
              <a:t>'</a:t>
            </a:r>
            <a:r>
              <a:rPr lang="ko-KR" altLang="en-US" sz="1800"/>
              <a:t> </a:t>
            </a:r>
            <a:r>
              <a:rPr lang="ko-KR" altLang="en-US" sz="1800" dirty="0"/>
              <a:t>문자열 저장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1D274D-DC15-423A-A063-AB6D1627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939029-CE47-4232-BD6D-8C68524A5D10}"/>
              </a:ext>
            </a:extLst>
          </p:cNvPr>
          <p:cNvSpPr/>
          <p:nvPr/>
        </p:nvSpPr>
        <p:spPr>
          <a:xfrm>
            <a:off x="1270039" y="2996952"/>
            <a:ext cx="6830353" cy="1440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/>
              <a:t># </a:t>
            </a:r>
            <a:r>
              <a:rPr lang="ko-KR" altLang="en-US" sz="1400"/>
              <a:t>모듈 </a:t>
            </a:r>
            <a:r>
              <a:rPr lang="en-US" altLang="ko-KR" sz="1400" dirty="0"/>
              <a:t>a. a.py </a:t>
            </a:r>
            <a:r>
              <a:rPr lang="ko-KR" altLang="en-US" sz="1400" dirty="0"/>
              <a:t>파일에 저장</a:t>
            </a:r>
          </a:p>
          <a:p>
            <a:pPr defTabSz="180000"/>
            <a:r>
              <a:rPr lang="en-US" altLang="ko-KR" sz="1400" dirty="0"/>
              <a:t>name = </a:t>
            </a:r>
            <a:r>
              <a:rPr lang="en-US" altLang="ko-KR" sz="1400"/>
              <a:t>'</a:t>
            </a:r>
            <a:r>
              <a:rPr lang="ko-KR" altLang="en-US" sz="1400"/>
              <a:t>황기태</a:t>
            </a:r>
            <a:r>
              <a:rPr lang="en-US" altLang="ko-KR" sz="1400" dirty="0"/>
              <a:t>' # </a:t>
            </a:r>
            <a:r>
              <a:rPr lang="ko-KR" altLang="en-US" sz="140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의 전역변수</a:t>
            </a:r>
          </a:p>
          <a:p>
            <a:pPr defTabSz="180000"/>
            <a:r>
              <a:rPr lang="en-US" altLang="ko-KR" sz="1400"/>
              <a:t>def printName</a:t>
            </a:r>
            <a:r>
              <a:rPr lang="en-US" altLang="ko-KR" sz="1400" dirty="0"/>
              <a:t>():</a:t>
            </a:r>
          </a:p>
          <a:p>
            <a:pPr defTabSz="180000"/>
            <a:r>
              <a:rPr lang="en-US" altLang="ko-KR" sz="1400" dirty="0"/>
              <a:t>	print('</a:t>
            </a:r>
            <a:r>
              <a:rPr lang="ko-KR" altLang="en-US" sz="1400"/>
              <a:t>이름 </a:t>
            </a:r>
            <a:r>
              <a:rPr lang="en-US" altLang="ko-KR" sz="1400" dirty="0"/>
              <a:t>= %s' % name)</a:t>
            </a:r>
          </a:p>
          <a:p>
            <a:pPr defTabSz="180000"/>
            <a:r>
              <a:rPr lang="en-US" altLang="ko-KR" sz="1400" dirty="0"/>
              <a:t>if __name__ == '__main__': # </a:t>
            </a:r>
            <a:r>
              <a:rPr lang="ko-KR" altLang="en-US" sz="1400"/>
              <a:t>모듈 </a:t>
            </a:r>
            <a:r>
              <a:rPr lang="en-US" altLang="ko-KR" sz="1400" dirty="0"/>
              <a:t>a</a:t>
            </a:r>
            <a:r>
              <a:rPr lang="ko-KR" altLang="en-US" sz="1400" dirty="0"/>
              <a:t>가 단독으로 실행될 때 이 </a:t>
            </a:r>
            <a:r>
              <a:rPr lang="ko-KR" altLang="en-US" sz="1400"/>
              <a:t>조건문은 </a:t>
            </a:r>
            <a:r>
              <a:rPr lang="en-US" altLang="ko-KR" sz="1400" dirty="0"/>
              <a:t>True</a:t>
            </a:r>
          </a:p>
          <a:p>
            <a:pPr defTabSz="180000"/>
            <a:r>
              <a:rPr lang="en-US" altLang="ko-KR" sz="1400"/>
              <a:t>	printName</a:t>
            </a:r>
            <a:r>
              <a:rPr lang="en-US" altLang="ko-KR" sz="1400" dirty="0"/>
              <a:t>()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4937B0-799A-44EC-9F91-1271E1D3A822}"/>
              </a:ext>
            </a:extLst>
          </p:cNvPr>
          <p:cNvSpPr/>
          <p:nvPr/>
        </p:nvSpPr>
        <p:spPr>
          <a:xfrm>
            <a:off x="1270039" y="4653136"/>
            <a:ext cx="6830353" cy="79208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python a.py</a:t>
            </a:r>
          </a:p>
          <a:p>
            <a:pPr fontAlgn="base"/>
            <a:r>
              <a:rPr lang="ko-KR" altLang="en-US" sz="1400" dirty="0"/>
              <a:t>이름 </a:t>
            </a:r>
            <a:r>
              <a:rPr lang="en-US" altLang="ko-KR" sz="1400" dirty="0"/>
              <a:t>= </a:t>
            </a:r>
            <a:r>
              <a:rPr lang="ko-KR" altLang="en-US" sz="1400" dirty="0" err="1"/>
              <a:t>황기태</a:t>
            </a:r>
            <a:endParaRPr lang="ko-KR" altLang="en-US" sz="1400" dirty="0"/>
          </a:p>
          <a:p>
            <a:pPr fontAlgn="base"/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</p:spTree>
    <p:extLst>
      <p:ext uri="{BB962C8B-B14F-4D97-AF65-F5344CB8AC3E}">
        <p14:creationId xmlns:p14="http://schemas.microsoft.com/office/powerpoint/2010/main" val="29344811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A5E40-024A-4939-B5A7-777496FB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4-20 </a:t>
            </a:r>
            <a:r>
              <a:rPr lang="ko-KR" altLang="en-US" dirty="0" err="1"/>
              <a:t>임포트</a:t>
            </a:r>
            <a:r>
              <a:rPr lang="ko-KR" altLang="en-US" dirty="0"/>
              <a:t> 사례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E8051E-A14F-4971-B4C8-002D1185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D1574E-0C50-4CEF-99DB-67A64261FA54}"/>
              </a:ext>
            </a:extLst>
          </p:cNvPr>
          <p:cNvSpPr/>
          <p:nvPr/>
        </p:nvSpPr>
        <p:spPr>
          <a:xfrm>
            <a:off x="524675" y="1362296"/>
            <a:ext cx="8238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다음과 같이 작성된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mymodule.py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실행하였을 때 예상되는 출력과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mymodule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을 임포트한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4-20.py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를 실행할 때 예상되는 출력은 각각 무엇인가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07562-59B0-44FE-A954-A320B6450768}"/>
              </a:ext>
            </a:extLst>
          </p:cNvPr>
          <p:cNvSpPr/>
          <p:nvPr/>
        </p:nvSpPr>
        <p:spPr>
          <a:xfrm>
            <a:off x="621868" y="2410486"/>
            <a:ext cx="4595161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delta = 10 # </a:t>
            </a:r>
            <a:r>
              <a:rPr lang="ko-KR" altLang="en-US" sz="1200" dirty="0"/>
              <a:t>전역변수</a:t>
            </a:r>
            <a:r>
              <a:rPr lang="en-US" altLang="ko-KR" sz="1200" dirty="0"/>
              <a:t>. </a:t>
            </a:r>
            <a:r>
              <a:rPr lang="ko-KR" altLang="en-US" sz="1200" dirty="0"/>
              <a:t>모듈의 프로퍼티</a:t>
            </a:r>
          </a:p>
          <a:p>
            <a:pPr defTabSz="180000"/>
            <a:endParaRPr lang="ko-KR" altLang="en-US" sz="1200" dirty="0"/>
          </a:p>
          <a:p>
            <a:pPr defTabSz="180000"/>
            <a:r>
              <a:rPr lang="en-US" altLang="ko-KR" sz="1200" dirty="0"/>
              <a:t>def plus(value):</a:t>
            </a:r>
          </a:p>
          <a:p>
            <a:pPr defTabSz="180000"/>
            <a:r>
              <a:rPr lang="en-US" altLang="ko-KR" sz="1200" dirty="0"/>
              <a:t>	global delta # </a:t>
            </a:r>
            <a:r>
              <a:rPr lang="ko-KR" altLang="en-US" sz="1200" dirty="0"/>
              <a:t>전역변수 </a:t>
            </a:r>
            <a:r>
              <a:rPr lang="en-US" altLang="ko-KR" sz="1200" dirty="0"/>
              <a:t>delta</a:t>
            </a:r>
          </a:p>
          <a:p>
            <a:pPr defTabSz="180000"/>
            <a:r>
              <a:rPr lang="en-US" altLang="ko-KR" sz="1200" dirty="0"/>
              <a:t>	delta += value</a:t>
            </a:r>
          </a:p>
          <a:p>
            <a:pPr defTabSz="180000"/>
            <a:r>
              <a:rPr lang="en-US" altLang="ko-KR" sz="1200" dirty="0"/>
              <a:t>	return delta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if __name__ == '__main__' :</a:t>
            </a:r>
          </a:p>
          <a:p>
            <a:pPr defTabSz="180000"/>
            <a:r>
              <a:rPr lang="en-US" altLang="ko-KR" sz="1200" dirty="0"/>
              <a:t>	print("</a:t>
            </a:r>
            <a:r>
              <a:rPr lang="en-US" altLang="ko-KR" sz="1200" dirty="0" err="1"/>
              <a:t>mymodule</a:t>
            </a:r>
            <a:r>
              <a:rPr lang="en-US" altLang="ko-KR" sz="1200" dirty="0"/>
              <a:t> </a:t>
            </a:r>
            <a:r>
              <a:rPr lang="ko-KR" altLang="en-US" sz="1200" dirty="0"/>
              <a:t>테스트 </a:t>
            </a:r>
            <a:r>
              <a:rPr lang="en-US" altLang="ko-KR" sz="1200" dirty="0"/>
              <a:t>%d" % plus(100))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if __name__ == '</a:t>
            </a:r>
            <a:r>
              <a:rPr lang="en-US" altLang="ko-KR" sz="1200" dirty="0" err="1"/>
              <a:t>mymodule</a:t>
            </a:r>
            <a:r>
              <a:rPr lang="en-US" altLang="ko-KR" sz="1200" dirty="0"/>
              <a:t>' :</a:t>
            </a:r>
          </a:p>
          <a:p>
            <a:pPr defTabSz="180000"/>
            <a:r>
              <a:rPr lang="en-US" altLang="ko-KR" sz="1200" dirty="0"/>
              <a:t>	print("</a:t>
            </a:r>
            <a:r>
              <a:rPr lang="en-US" altLang="ko-KR" sz="1200" dirty="0" err="1"/>
              <a:t>mymodule</a:t>
            </a:r>
            <a:r>
              <a:rPr lang="en-US" altLang="ko-KR" sz="1200" dirty="0"/>
              <a:t> imported...\n delta is initialized to 10\n")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588E7D-CE05-4E88-869C-BF5D1B90237B}"/>
              </a:ext>
            </a:extLst>
          </p:cNvPr>
          <p:cNvSpPr/>
          <p:nvPr/>
        </p:nvSpPr>
        <p:spPr>
          <a:xfrm>
            <a:off x="5459257" y="2425445"/>
            <a:ext cx="290566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200" dirty="0"/>
              <a:t>import </a:t>
            </a:r>
            <a:r>
              <a:rPr lang="en-US" altLang="ko-KR" sz="1200" dirty="0" err="1"/>
              <a:t>mymodule</a:t>
            </a:r>
            <a:endParaRPr lang="en-US" altLang="ko-KR" sz="1200" dirty="0"/>
          </a:p>
          <a:p>
            <a:pPr fontAlgn="base" latinLnBrk="0"/>
            <a:endParaRPr lang="en-US" altLang="ko-KR" sz="1200" dirty="0"/>
          </a:p>
          <a:p>
            <a:pPr fontAlgn="base" latinLnBrk="0"/>
            <a:r>
              <a:rPr lang="en-US" altLang="ko-KR" sz="1200" dirty="0"/>
              <a:t>ret = </a:t>
            </a:r>
            <a:r>
              <a:rPr lang="en-US" altLang="ko-KR" sz="1200" dirty="0" err="1"/>
              <a:t>mymodule.plus</a:t>
            </a:r>
            <a:r>
              <a:rPr lang="en-US" altLang="ko-KR" sz="1200" dirty="0"/>
              <a:t>(10)</a:t>
            </a:r>
          </a:p>
          <a:p>
            <a:pPr fontAlgn="base" latinLnBrk="0"/>
            <a:r>
              <a:rPr lang="en-US" altLang="ko-KR" sz="1200" dirty="0"/>
              <a:t>print(ret)</a:t>
            </a:r>
          </a:p>
          <a:p>
            <a:pPr fontAlgn="base" latinLnBrk="0"/>
            <a:endParaRPr lang="en-US" altLang="ko-KR" sz="1200" dirty="0"/>
          </a:p>
          <a:p>
            <a:pPr fontAlgn="base" latinLnBrk="0"/>
            <a:r>
              <a:rPr lang="en-US" altLang="ko-KR" sz="1200" dirty="0"/>
              <a:t>ret = </a:t>
            </a:r>
            <a:r>
              <a:rPr lang="en-US" altLang="ko-KR" sz="1200" dirty="0" err="1"/>
              <a:t>mymodule.plus</a:t>
            </a:r>
            <a:r>
              <a:rPr lang="en-US" altLang="ko-KR" sz="1200" dirty="0"/>
              <a:t>(10)</a:t>
            </a:r>
          </a:p>
          <a:p>
            <a:pPr fontAlgn="base" latinLnBrk="0"/>
            <a:r>
              <a:rPr lang="en-US" altLang="ko-KR" sz="1200" dirty="0"/>
              <a:t>print(ret)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CB2C0C-9966-429E-887C-CBAD6EDA6A13}"/>
              </a:ext>
            </a:extLst>
          </p:cNvPr>
          <p:cNvSpPr/>
          <p:nvPr/>
        </p:nvSpPr>
        <p:spPr>
          <a:xfrm>
            <a:off x="624911" y="4869160"/>
            <a:ext cx="4595161" cy="72008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 python mymodule.py</a:t>
            </a:r>
          </a:p>
          <a:p>
            <a:pPr fontAlgn="base"/>
            <a:r>
              <a:rPr lang="en-US" altLang="ko-KR" sz="1200" dirty="0" err="1"/>
              <a:t>mymodule</a:t>
            </a:r>
            <a:r>
              <a:rPr lang="en-US" altLang="ko-KR" sz="1200" dirty="0"/>
              <a:t> </a:t>
            </a:r>
            <a:r>
              <a:rPr lang="ko-KR" altLang="en-US" sz="1200" dirty="0"/>
              <a:t>테스트 </a:t>
            </a:r>
            <a:r>
              <a:rPr lang="en-US" altLang="ko-KR" sz="1200" dirty="0"/>
              <a:t>110</a:t>
            </a:r>
          </a:p>
          <a:p>
            <a:pPr fontAlgn="base"/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05B9D0-DB2E-4788-9293-C8B3A7755C13}"/>
              </a:ext>
            </a:extLst>
          </p:cNvPr>
          <p:cNvSpPr/>
          <p:nvPr/>
        </p:nvSpPr>
        <p:spPr>
          <a:xfrm>
            <a:off x="5457143" y="3933980"/>
            <a:ext cx="2931281" cy="16552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200" b="1" dirty="0"/>
              <a:t>pi@pi:~/ch04 $ python 4-20.py</a:t>
            </a:r>
          </a:p>
          <a:p>
            <a:pPr fontAlgn="base"/>
            <a:r>
              <a:rPr lang="en-US" altLang="ko-KR" sz="1200" dirty="0" err="1"/>
              <a:t>mymodule</a:t>
            </a:r>
            <a:r>
              <a:rPr lang="en-US" altLang="ko-KR" sz="1200" dirty="0"/>
              <a:t> imported...</a:t>
            </a:r>
          </a:p>
          <a:p>
            <a:pPr fontAlgn="base"/>
            <a:r>
              <a:rPr lang="en-US" altLang="ko-KR" sz="1200" dirty="0"/>
              <a:t>delta is initialized to 10</a:t>
            </a:r>
          </a:p>
          <a:p>
            <a:pPr fontAlgn="base"/>
            <a:r>
              <a:rPr lang="en-US" altLang="ko-KR" sz="1200" dirty="0"/>
              <a:t>20</a:t>
            </a:r>
          </a:p>
          <a:p>
            <a:pPr fontAlgn="base"/>
            <a:r>
              <a:rPr lang="en-US" altLang="ko-KR" sz="1200" dirty="0"/>
              <a:t>30</a:t>
            </a:r>
          </a:p>
          <a:p>
            <a:pPr fontAlgn="base"/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7EDA52-AD82-4A58-87C9-7B7342A67A95}"/>
              </a:ext>
            </a:extLst>
          </p:cNvPr>
          <p:cNvSpPr/>
          <p:nvPr/>
        </p:nvSpPr>
        <p:spPr>
          <a:xfrm>
            <a:off x="566081" y="1988396"/>
            <a:ext cx="1444626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mymodule.py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0A6038-6481-470B-920D-EF20A515AD60}"/>
              </a:ext>
            </a:extLst>
          </p:cNvPr>
          <p:cNvSpPr/>
          <p:nvPr/>
        </p:nvSpPr>
        <p:spPr>
          <a:xfrm>
            <a:off x="5457143" y="2001517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4-20.py</a:t>
            </a:r>
          </a:p>
        </p:txBody>
      </p:sp>
    </p:spTree>
    <p:extLst>
      <p:ext uri="{BB962C8B-B14F-4D97-AF65-F5344CB8AC3E}">
        <p14:creationId xmlns:p14="http://schemas.microsoft.com/office/powerpoint/2010/main" val="28355827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DA865-E5EA-414C-AFD0-F87498A7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3F152-2F38-4A7A-B31B-FF299EE6D8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파일에 데이터를 </a:t>
            </a:r>
            <a:r>
              <a:rPr lang="ko-KR" altLang="en-US"/>
              <a:t>쓰거나 읽기</a:t>
            </a:r>
            <a:endParaRPr lang="en-US" altLang="ko-KR" dirty="0"/>
          </a:p>
          <a:p>
            <a:r>
              <a:rPr lang="ko-KR" altLang="en-US"/>
              <a:t>파일에 저장된 데이터 종류</a:t>
            </a:r>
            <a:endParaRPr lang="en-US" altLang="ko-KR" dirty="0"/>
          </a:p>
          <a:p>
            <a:pPr lvl="1"/>
            <a:r>
              <a:rPr lang="ko-KR" altLang="en-US" dirty="0"/>
              <a:t>바이너리 데이터</a:t>
            </a:r>
            <a:endParaRPr lang="en-US" altLang="ko-KR" dirty="0"/>
          </a:p>
          <a:p>
            <a:pPr lvl="1"/>
            <a:r>
              <a:rPr lang="ko-KR" altLang="en-US" dirty="0"/>
              <a:t>텍스트 </a:t>
            </a:r>
            <a:r>
              <a:rPr lang="ko-KR" altLang="en-US"/>
              <a:t>데이터 </a:t>
            </a:r>
            <a:endParaRPr lang="en-US" altLang="ko-KR"/>
          </a:p>
          <a:p>
            <a:pPr lvl="2"/>
            <a:r>
              <a:rPr lang="ko-KR" altLang="en-US"/>
              <a:t>이 책에서는 텍스트 데이터가 저장된 파일만 </a:t>
            </a:r>
            <a:r>
              <a:rPr lang="ko-KR" altLang="en-US" dirty="0"/>
              <a:t>다룸</a:t>
            </a:r>
            <a:endParaRPr lang="en-US" altLang="ko-KR" dirty="0"/>
          </a:p>
          <a:p>
            <a:r>
              <a:rPr lang="ko-KR" altLang="en-US"/>
              <a:t>파일 처리 관련 </a:t>
            </a:r>
            <a:r>
              <a:rPr lang="ko-KR" altLang="en-US" dirty="0"/>
              <a:t>주요 내장함수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A298F-0125-490F-8E93-F0E9A876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5F5E64-780E-421A-A66C-4F89723A1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3861048"/>
            <a:ext cx="7157805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25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1832-351C-4AEC-A15A-7356BF7D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open </a:t>
            </a:r>
            <a:r>
              <a:rPr lang="ko-KR" altLang="en-US"/>
              <a:t>함수 매개변수 </a:t>
            </a:r>
            <a:r>
              <a:rPr lang="en-US" altLang="ko-KR"/>
              <a:t>mode</a:t>
            </a:r>
            <a:r>
              <a:rPr lang="ko-KR" altLang="en-US"/>
              <a:t>의 값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EF682-FCFC-40A1-84A6-009EB0F9E2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/>
              <a:t>open </a:t>
            </a:r>
            <a:r>
              <a:rPr lang="ko-KR" altLang="en-US" sz="2000"/>
              <a:t>함수</a:t>
            </a:r>
            <a:endParaRPr lang="en-US" altLang="ko-KR" sz="2000"/>
          </a:p>
          <a:p>
            <a:pPr lvl="1"/>
            <a:r>
              <a:rPr lang="en-US" altLang="ko-KR" sz="1800"/>
              <a:t>open</a:t>
            </a:r>
            <a:r>
              <a:rPr lang="ko-KR" altLang="en-US" sz="1800"/>
              <a:t>은 파일을 읽고 쓰기 전에 해야하는 첫 과정</a:t>
            </a:r>
            <a:endParaRPr lang="en-US" altLang="ko-KR" sz="1800"/>
          </a:p>
          <a:p>
            <a:pPr lvl="1"/>
            <a:r>
              <a:rPr lang="en-US" altLang="ko-KR" sz="1800"/>
              <a:t>open </a:t>
            </a:r>
            <a:r>
              <a:rPr lang="ko-KR" altLang="en-US" sz="1800"/>
              <a:t>과정에서 파일이 존재하는지</a:t>
            </a:r>
            <a:r>
              <a:rPr lang="en-US" altLang="ko-KR" sz="1800"/>
              <a:t>, </a:t>
            </a:r>
            <a:r>
              <a:rPr lang="ko-KR" altLang="en-US" sz="1800"/>
              <a:t>파일이 접근 허가가 있는지</a:t>
            </a:r>
            <a:r>
              <a:rPr lang="en-US" altLang="ko-KR" sz="1800"/>
              <a:t>, </a:t>
            </a:r>
            <a:r>
              <a:rPr lang="ko-KR" altLang="en-US" sz="1800"/>
              <a:t>디스크의 저장 공간은 충분한지 검사됨</a:t>
            </a:r>
            <a:endParaRPr lang="en-US" altLang="ko-KR" sz="1800"/>
          </a:p>
          <a:p>
            <a:pPr lvl="2"/>
            <a:r>
              <a:rPr lang="ko-KR" altLang="en-US" sz="1600"/>
              <a:t>이 검사가 실패하면 </a:t>
            </a:r>
            <a:r>
              <a:rPr lang="en-US" altLang="ko-KR" sz="1600"/>
              <a:t>open</a:t>
            </a:r>
            <a:r>
              <a:rPr lang="ko-KR" altLang="en-US" sz="1600"/>
              <a:t>이 실패하고 파일을 읽거나 쓰는 과정 중단</a:t>
            </a:r>
            <a:endParaRPr lang="en-US" altLang="ko-KR" sz="1600"/>
          </a:p>
          <a:p>
            <a:r>
              <a:rPr lang="en-US" altLang="ko-KR" sz="2000"/>
              <a:t>open </a:t>
            </a:r>
            <a:r>
              <a:rPr lang="ko-KR" altLang="en-US" sz="2000"/>
              <a:t>함수 매개변수 </a:t>
            </a:r>
            <a:r>
              <a:rPr lang="en-US" altLang="ko-KR" sz="2000"/>
              <a:t>mode</a:t>
            </a:r>
            <a:r>
              <a:rPr lang="ko-KR" altLang="en-US" sz="2000"/>
              <a:t>의 값</a:t>
            </a:r>
            <a:endParaRPr lang="en-US" altLang="ko-KR" sz="2000"/>
          </a:p>
          <a:p>
            <a:pPr lvl="1"/>
            <a:r>
              <a:rPr lang="ko-KR" altLang="en-US" sz="1600"/>
              <a:t>파일을 읽을 것인지</a:t>
            </a:r>
            <a:r>
              <a:rPr lang="en-US" altLang="ko-KR" sz="1600"/>
              <a:t>, </a:t>
            </a:r>
            <a:r>
              <a:rPr lang="ko-KR" altLang="en-US" sz="1600"/>
              <a:t>생성할 것인지</a:t>
            </a:r>
            <a:r>
              <a:rPr lang="en-US" altLang="ko-KR" sz="1600"/>
              <a:t>, </a:t>
            </a:r>
            <a:r>
              <a:rPr lang="ko-KR" altLang="en-US" sz="1600"/>
              <a:t>바이너리 데이터를 다룰 지 등을 지시</a:t>
            </a:r>
            <a:endParaRPr lang="en-US" altLang="ko-KR" sz="160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26354-D1F7-4A41-A6AC-AD4223D5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B003D5-DC4E-49E3-ABD4-709C9253C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82" y="3933056"/>
            <a:ext cx="7397532" cy="259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609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65F4D-6F75-4027-AA63-AF151DF3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4-21 </a:t>
            </a:r>
            <a:r>
              <a:rPr lang="ko-KR" altLang="en-US" dirty="0"/>
              <a:t>파일 쓰고 읽기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9829B-A6EC-41D6-991A-82850CDC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86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2FA238-6089-4CC4-9714-1EE4033C0378}"/>
              </a:ext>
            </a:extLst>
          </p:cNvPr>
          <p:cNvSpPr/>
          <p:nvPr/>
        </p:nvSpPr>
        <p:spPr>
          <a:xfrm>
            <a:off x="612648" y="2624713"/>
            <a:ext cx="7055696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names = ["</a:t>
            </a:r>
            <a:r>
              <a:rPr lang="ko-KR" altLang="en-US" sz="1200" dirty="0"/>
              <a:t>손흥민</a:t>
            </a:r>
            <a:r>
              <a:rPr lang="en-US" altLang="ko-KR" sz="1200" dirty="0"/>
              <a:t>", "</a:t>
            </a:r>
            <a:r>
              <a:rPr lang="ko-KR" altLang="en-US" sz="1200" dirty="0" err="1"/>
              <a:t>황희찬</a:t>
            </a:r>
            <a:r>
              <a:rPr lang="en-US" altLang="ko-KR" sz="1200" dirty="0"/>
              <a:t>", "</a:t>
            </a:r>
            <a:r>
              <a:rPr lang="ko-KR" altLang="en-US" sz="1200" dirty="0" err="1"/>
              <a:t>박항서</a:t>
            </a:r>
            <a:r>
              <a:rPr lang="en-US" altLang="ko-KR" sz="1200" dirty="0"/>
              <a:t>", "</a:t>
            </a:r>
            <a:r>
              <a:rPr lang="ko-KR" altLang="en-US" sz="1200" dirty="0"/>
              <a:t>유상철</a:t>
            </a:r>
            <a:r>
              <a:rPr lang="en-US" altLang="ko-KR" sz="1200" dirty="0"/>
              <a:t>", "</a:t>
            </a:r>
            <a:r>
              <a:rPr lang="ko-KR" altLang="en-US" sz="1200" dirty="0"/>
              <a:t>김남일</a:t>
            </a:r>
            <a:r>
              <a:rPr lang="en-US" altLang="ko-KR" sz="1200" dirty="0"/>
              <a:t>"]</a:t>
            </a:r>
          </a:p>
          <a:p>
            <a:pPr defTabSz="180000"/>
            <a:r>
              <a:rPr lang="en-US" altLang="ko-KR" sz="1200" dirty="0"/>
              <a:t>file = open("myfile.txt", "w") # </a:t>
            </a:r>
            <a:r>
              <a:rPr lang="ko-KR" altLang="en-US" sz="1200" dirty="0"/>
              <a:t>쓰기 모드로 </a:t>
            </a:r>
            <a:r>
              <a:rPr lang="en-US" altLang="ko-KR" sz="1200" dirty="0"/>
              <a:t>myfile.txt </a:t>
            </a:r>
            <a:r>
              <a:rPr lang="ko-KR" altLang="en-US" sz="1200" dirty="0"/>
              <a:t>파일 열기</a:t>
            </a:r>
            <a:r>
              <a:rPr lang="en-US" altLang="ko-KR" sz="1200" dirty="0"/>
              <a:t>. myfile.txt</a:t>
            </a:r>
            <a:r>
              <a:rPr lang="ko-KR" altLang="en-US" sz="1200" dirty="0"/>
              <a:t>가 없으면 생성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for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range(0, </a:t>
            </a:r>
            <a:r>
              <a:rPr lang="en-US" altLang="ko-KR" sz="1200" dirty="0" err="1"/>
              <a:t>len</a:t>
            </a:r>
            <a:r>
              <a:rPr lang="en-US" altLang="ko-KR" sz="1200" dirty="0"/>
              <a:t>(names)): # </a:t>
            </a:r>
            <a:r>
              <a:rPr lang="en-US" altLang="ko-KR" sz="1200" dirty="0" err="1"/>
              <a:t>len</a:t>
            </a:r>
            <a:r>
              <a:rPr lang="en-US" altLang="ko-KR" sz="1200" dirty="0"/>
              <a:t>(names)</a:t>
            </a:r>
            <a:r>
              <a:rPr lang="ko-KR" altLang="en-US" sz="1200" dirty="0"/>
              <a:t>가 </a:t>
            </a:r>
            <a:r>
              <a:rPr lang="en-US" altLang="ko-KR" sz="1200" dirty="0"/>
              <a:t>5</a:t>
            </a:r>
            <a:r>
              <a:rPr lang="ko-KR" altLang="en-US" sz="1200" dirty="0"/>
              <a:t>이므로 </a:t>
            </a:r>
            <a:r>
              <a:rPr lang="en-US" altLang="ko-KR" sz="1200" dirty="0"/>
              <a:t>5</a:t>
            </a:r>
            <a:r>
              <a:rPr lang="ko-KR" altLang="en-US" sz="1200" dirty="0"/>
              <a:t>번 반복</a:t>
            </a:r>
          </a:p>
          <a:p>
            <a:pPr defTabSz="180000"/>
            <a:r>
              <a:rPr lang="en-US" altLang="ko-KR" sz="1200" dirty="0"/>
              <a:t>	line = "%d</a:t>
            </a:r>
            <a:r>
              <a:rPr lang="ko-KR" altLang="en-US" sz="1200" dirty="0"/>
              <a:t>번째 이름 </a:t>
            </a:r>
            <a:r>
              <a:rPr lang="en-US" altLang="ko-KR" sz="1200" dirty="0"/>
              <a:t>%s\n" % (</a:t>
            </a:r>
            <a:r>
              <a:rPr lang="en-US" altLang="ko-KR" sz="1200" dirty="0" err="1"/>
              <a:t>i</a:t>
            </a:r>
            <a:r>
              <a:rPr lang="en-US" altLang="ko-KR" sz="1200" dirty="0"/>
              <a:t>, names[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file.write</a:t>
            </a:r>
            <a:r>
              <a:rPr lang="en-US" altLang="ko-KR" sz="1200" dirty="0"/>
              <a:t>(line) # </a:t>
            </a:r>
            <a:r>
              <a:rPr lang="ko-KR" altLang="en-US" sz="1200" dirty="0"/>
              <a:t>파일 쓰기</a:t>
            </a:r>
          </a:p>
          <a:p>
            <a:pPr defTabSz="180000"/>
            <a:r>
              <a:rPr lang="en-US" altLang="ko-KR" sz="1200" dirty="0" err="1"/>
              <a:t>file.close</a:t>
            </a:r>
            <a:r>
              <a:rPr lang="en-US" altLang="ko-KR" sz="1200" dirty="0"/>
              <a:t>( ) # </a:t>
            </a:r>
            <a:r>
              <a:rPr lang="ko-KR" altLang="en-US" sz="1200" dirty="0"/>
              <a:t>파일 닫기</a:t>
            </a:r>
            <a:r>
              <a:rPr lang="en-US" altLang="ko-KR" sz="1200" dirty="0"/>
              <a:t>. </a:t>
            </a:r>
            <a:r>
              <a:rPr lang="ko-KR" altLang="en-US" sz="1200" dirty="0"/>
              <a:t>다시 열기 전에는 쓸 수 없음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# </a:t>
            </a:r>
            <a:r>
              <a:rPr lang="ko-KR" altLang="en-US" sz="1200" dirty="0"/>
              <a:t>파일 열기</a:t>
            </a:r>
          </a:p>
          <a:p>
            <a:pPr defTabSz="180000"/>
            <a:r>
              <a:rPr lang="en-US" altLang="ko-KR" sz="1200" dirty="0"/>
              <a:t>file = open("myfile.txt", "r") # </a:t>
            </a:r>
            <a:r>
              <a:rPr lang="ko-KR" altLang="en-US" sz="1200" dirty="0"/>
              <a:t>읽기 모드로 </a:t>
            </a:r>
            <a:r>
              <a:rPr lang="en-US" altLang="ko-KR" sz="1200" dirty="0"/>
              <a:t>myfile.txt </a:t>
            </a:r>
            <a:r>
              <a:rPr lang="ko-KR" altLang="en-US" sz="1200" dirty="0"/>
              <a:t>파일 열기</a:t>
            </a:r>
            <a:r>
              <a:rPr lang="en-US" altLang="ko-KR" sz="1200" dirty="0"/>
              <a:t>. myfile.txt </a:t>
            </a:r>
            <a:r>
              <a:rPr lang="ko-KR" altLang="en-US" sz="1200" dirty="0"/>
              <a:t>파일이 없으면 예외 발생</a:t>
            </a:r>
          </a:p>
          <a:p>
            <a:pPr defTabSz="180000"/>
            <a:r>
              <a:rPr lang="en-US" altLang="ko-KR" sz="1200" dirty="0"/>
              <a:t>for line in </a:t>
            </a:r>
            <a:r>
              <a:rPr lang="en-US" altLang="ko-KR" sz="1200" dirty="0" err="1"/>
              <a:t>file.readlines</a:t>
            </a:r>
            <a:r>
              <a:rPr lang="en-US" altLang="ko-KR" sz="1200" dirty="0"/>
              <a:t>( ): # </a:t>
            </a:r>
            <a:r>
              <a:rPr lang="ko-KR" altLang="en-US" sz="1200" dirty="0"/>
              <a:t>파일에서 각 라인을 반복하여 </a:t>
            </a:r>
            <a:r>
              <a:rPr lang="en-US" altLang="ko-KR" sz="1200" dirty="0"/>
              <a:t>line </a:t>
            </a:r>
            <a:r>
              <a:rPr lang="ko-KR" altLang="en-US" sz="1200" dirty="0"/>
              <a:t>변수에 읽음</a:t>
            </a:r>
          </a:p>
          <a:p>
            <a:pPr defTabSz="180000"/>
            <a:r>
              <a:rPr lang="en-US" altLang="ko-KR" sz="1200" dirty="0"/>
              <a:t>	print(line, end="") # </a:t>
            </a:r>
            <a:r>
              <a:rPr lang="ko-KR" altLang="en-US" sz="1200" dirty="0"/>
              <a:t>읽은 라인을 화면에 출력</a:t>
            </a:r>
            <a:endParaRPr lang="en-US" altLang="ko-KR" sz="1200" dirty="0"/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 err="1"/>
              <a:t>file.close</a:t>
            </a:r>
            <a:r>
              <a:rPr lang="en-US" altLang="ko-KR" sz="1200" dirty="0"/>
              <a:t>( ) # </a:t>
            </a:r>
            <a:r>
              <a:rPr lang="ko-KR" altLang="en-US" sz="1200" dirty="0"/>
              <a:t>파일 닫기</a:t>
            </a:r>
            <a:r>
              <a:rPr lang="en-US" altLang="ko-KR" sz="1200" dirty="0"/>
              <a:t>. </a:t>
            </a:r>
            <a:r>
              <a:rPr lang="ko-KR" altLang="en-US" sz="1200" dirty="0"/>
              <a:t>다시 열기 전에는 읽을 수 없음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1B8219-5F6A-4984-B8B8-D60B0100C292}"/>
              </a:ext>
            </a:extLst>
          </p:cNvPr>
          <p:cNvSpPr/>
          <p:nvPr/>
        </p:nvSpPr>
        <p:spPr>
          <a:xfrm>
            <a:off x="551125" y="2132413"/>
            <a:ext cx="880369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4-21.py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1F421E-C1E6-421F-86CB-387BA1A98EFB}"/>
              </a:ext>
            </a:extLst>
          </p:cNvPr>
          <p:cNvSpPr/>
          <p:nvPr/>
        </p:nvSpPr>
        <p:spPr>
          <a:xfrm>
            <a:off x="5544339" y="4869160"/>
            <a:ext cx="2952328" cy="139054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pPr fontAlgn="base"/>
            <a:r>
              <a:rPr lang="fi-FI" altLang="ko-KR" sz="1200" b="1" dirty="0"/>
              <a:t>pi@pi:~/ch04 $ python 4-21.py</a:t>
            </a:r>
          </a:p>
          <a:p>
            <a:pPr fontAlgn="base"/>
            <a:r>
              <a:rPr lang="en-US" altLang="ko-KR" sz="1200" dirty="0"/>
              <a:t>0</a:t>
            </a:r>
            <a:r>
              <a:rPr lang="ko-KR" altLang="en-US" sz="1200" dirty="0"/>
              <a:t>번째 이름 손흥민</a:t>
            </a:r>
          </a:p>
          <a:p>
            <a:pPr fontAlgn="base"/>
            <a:r>
              <a:rPr lang="en-US" altLang="ko-KR" sz="1200" dirty="0"/>
              <a:t>1</a:t>
            </a:r>
            <a:r>
              <a:rPr lang="ko-KR" altLang="en-US" sz="1200" dirty="0"/>
              <a:t>번째 이름 </a:t>
            </a:r>
            <a:r>
              <a:rPr lang="ko-KR" altLang="en-US" sz="1200" dirty="0" err="1"/>
              <a:t>황희찬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2</a:t>
            </a:r>
            <a:r>
              <a:rPr lang="ko-KR" altLang="en-US" sz="1200" dirty="0"/>
              <a:t>번째 이름 </a:t>
            </a:r>
            <a:r>
              <a:rPr lang="ko-KR" altLang="en-US" sz="1200" dirty="0" err="1"/>
              <a:t>박항서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3</a:t>
            </a:r>
            <a:r>
              <a:rPr lang="ko-KR" altLang="en-US" sz="1200" dirty="0"/>
              <a:t>번째 이름 유상철</a:t>
            </a:r>
          </a:p>
          <a:p>
            <a:pPr fontAlgn="base"/>
            <a:r>
              <a:rPr lang="en-US" altLang="ko-KR" sz="1200" dirty="0"/>
              <a:t>4</a:t>
            </a:r>
            <a:r>
              <a:rPr lang="ko-KR" altLang="en-US" sz="1200" dirty="0"/>
              <a:t>번째 이름 김남일</a:t>
            </a:r>
          </a:p>
          <a:p>
            <a:pPr fontAlgn="base"/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</a:t>
            </a:r>
            <a:endParaRPr lang="ko-KR" altLang="en-US" sz="12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680315-4B45-44C1-A8D1-00C22E1A420B}"/>
              </a:ext>
            </a:extLst>
          </p:cNvPr>
          <p:cNvSpPr/>
          <p:nvPr/>
        </p:nvSpPr>
        <p:spPr>
          <a:xfrm>
            <a:off x="524675" y="1408239"/>
            <a:ext cx="81664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myfile.txt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파일을 새로 생성하고 여러 줄의 문자열을 저장하라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그리고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myfile.txt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파일을 다시 읽어 출력하는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그리고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cat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명령으로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myfile.txt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파일을 화면에 출력하여 제대로 저장되었는지 확인하라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833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34258</TotalTime>
  <Words>7881</Words>
  <Application>Microsoft Macintosh PowerPoint</Application>
  <PresentationFormat>On-screen Show (4:3)</PresentationFormat>
  <Paragraphs>1167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2" baseType="lpstr">
      <vt:lpstr>HY나무L</vt:lpstr>
      <vt:lpstr>맑은 고딕</vt:lpstr>
      <vt:lpstr>휴먼편지체</vt:lpstr>
      <vt:lpstr>Wingdings</vt:lpstr>
      <vt:lpstr>Wingdings 2</vt:lpstr>
      <vt:lpstr>가을</vt:lpstr>
      <vt:lpstr>4장 파이썬</vt:lpstr>
      <vt:lpstr>강의 목표</vt:lpstr>
      <vt:lpstr>들어가기 전에</vt:lpstr>
      <vt:lpstr>4.1 파이썬 언어</vt:lpstr>
      <vt:lpstr>파이썬 언어</vt:lpstr>
      <vt:lpstr>파이썬 설치 및 확인</vt:lpstr>
      <vt:lpstr>파이썬 실행 방식 2가지</vt:lpstr>
      <vt:lpstr>파이썬 파일 단위로 실행하는 방식</vt:lpstr>
      <vt:lpstr>4.2 데이터 타입과 변수</vt:lpstr>
      <vt:lpstr>식별자</vt:lpstr>
      <vt:lpstr>주석문</vt:lpstr>
      <vt:lpstr>문장 구분</vt:lpstr>
      <vt:lpstr>화면 출력</vt:lpstr>
      <vt:lpstr>화면 출력</vt:lpstr>
      <vt:lpstr>화면 출력</vt:lpstr>
      <vt:lpstr>키 입력</vt:lpstr>
      <vt:lpstr>예제 4–1 이름과 점수를 입력 받아 평균을 출력하는 사례</vt:lpstr>
      <vt:lpstr>데이터 타입</vt:lpstr>
      <vt:lpstr>데이터 타입 및 변수 선언</vt:lpstr>
      <vt:lpstr>리터럴</vt:lpstr>
      <vt:lpstr>리터럴</vt:lpstr>
      <vt:lpstr>예제 4-2 리터럴 보기</vt:lpstr>
      <vt:lpstr>상수</vt:lpstr>
      <vt:lpstr>데이터 형 변환</vt:lpstr>
      <vt:lpstr>데이터 형 변환</vt:lpstr>
      <vt:lpstr>예제 4-3 형 변환 함수 활용</vt:lpstr>
      <vt:lpstr>4.3 연산자와 식</vt:lpstr>
      <vt:lpstr>연산자와 식</vt:lpstr>
      <vt:lpstr>산술연산</vt:lpstr>
      <vt:lpstr>예제 4-4 산술 연산</vt:lpstr>
      <vt:lpstr>대입 연산</vt:lpstr>
      <vt:lpstr>예제 4-5 대입 연산</vt:lpstr>
      <vt:lpstr>비교 연산</vt:lpstr>
      <vt:lpstr>예제 4-6 비교 연산</vt:lpstr>
      <vt:lpstr>논리 연산</vt:lpstr>
      <vt:lpstr>예제 4-7 논리 연산</vt:lpstr>
      <vt:lpstr>조건 연산 및 문자열 연산</vt:lpstr>
      <vt:lpstr>예제 4-8 조건 연산</vt:lpstr>
      <vt:lpstr>예제 4-9 문자열 연산</vt:lpstr>
      <vt:lpstr>4.4 조건문</vt:lpstr>
      <vt:lpstr>3가지 종류의 조건문</vt:lpstr>
      <vt:lpstr>3가지 종류의 조건문</vt:lpstr>
      <vt:lpstr>블록과 들여쓰기</vt:lpstr>
      <vt:lpstr>예제 4-10 if-elif-else와 들여쓰기 연습</vt:lpstr>
      <vt:lpstr>4.5 반복문</vt:lpstr>
      <vt:lpstr>for</vt:lpstr>
      <vt:lpstr>for</vt:lpstr>
      <vt:lpstr>예제 4-11 range() 함수와 for 반목문</vt:lpstr>
      <vt:lpstr>예제 4–12 문자열과 for 반복문</vt:lpstr>
      <vt:lpstr>while</vt:lpstr>
      <vt:lpstr>예제 4-13 while 문</vt:lpstr>
      <vt:lpstr>반복문 내의 break문 &amp; continue문</vt:lpstr>
      <vt:lpstr>예제 4-14 break 문</vt:lpstr>
      <vt:lpstr>예제 4-15 continue 문 </vt:lpstr>
      <vt:lpstr>4.6 컨테이너 객체 다루기</vt:lpstr>
      <vt:lpstr>리스트</vt:lpstr>
      <vt:lpstr>리스트 </vt:lpstr>
      <vt:lpstr>리스트</vt:lpstr>
      <vt:lpstr>예제 4-16 리스트 다루기</vt:lpstr>
      <vt:lpstr>튜플</vt:lpstr>
      <vt:lpstr>딕셔너리</vt:lpstr>
      <vt:lpstr>딕셔너리</vt:lpstr>
      <vt:lpstr>예제 4-17 딕셔너리 다루기</vt:lpstr>
      <vt:lpstr>컨테이너와 for 문</vt:lpstr>
      <vt:lpstr>예제 4-18 컨테이너와 for 반복문</vt:lpstr>
      <vt:lpstr>4.7 함수</vt:lpstr>
      <vt:lpstr>함수의 구성</vt:lpstr>
      <vt:lpstr>함수 호출</vt:lpstr>
      <vt:lpstr>매개 변수의 디폴트 값</vt:lpstr>
      <vt:lpstr>명명된 매개변수(named parameter)</vt:lpstr>
      <vt:lpstr>예제 4-19 함수 만들기</vt:lpstr>
      <vt:lpstr>전역변수와 지역변수</vt:lpstr>
      <vt:lpstr>함수 내에서 전역 변수에 쓰기</vt:lpstr>
      <vt:lpstr>전역 변수 사용시 주의</vt:lpstr>
      <vt:lpstr>4.8 모듈</vt:lpstr>
      <vt:lpstr>import 키워드로 모듈 임포트</vt:lpstr>
      <vt:lpstr>import 키워드로 모듈 임포트</vt:lpstr>
      <vt:lpstr>import 키워드로 모듈 임포트</vt:lpstr>
      <vt:lpstr>import 키워드로 모듈 임포트</vt:lpstr>
      <vt:lpstr>import 키워드로 모듈 임포트</vt:lpstr>
      <vt:lpstr>'from 모듈이름 import *'등으로 모듈 임포트</vt:lpstr>
      <vt:lpstr>__name__ 전역변수 활용</vt:lpstr>
      <vt:lpstr>예제 4-20 임포트 사례</vt:lpstr>
      <vt:lpstr>파일처리</vt:lpstr>
      <vt:lpstr>open 함수 매개변수 mode의 값</vt:lpstr>
      <vt:lpstr>예제 4-21 파일 쓰고 읽기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필준 박</cp:lastModifiedBy>
  <cp:revision>950</cp:revision>
  <cp:lastPrinted>2022-09-12T05:49:59Z</cp:lastPrinted>
  <dcterms:created xsi:type="dcterms:W3CDTF">2011-08-27T14:53:28Z</dcterms:created>
  <dcterms:modified xsi:type="dcterms:W3CDTF">2024-09-22T04:07:01Z</dcterms:modified>
</cp:coreProperties>
</file>