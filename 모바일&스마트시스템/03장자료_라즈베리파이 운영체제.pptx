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86"/>
  </p:notesMasterIdLst>
  <p:sldIdLst>
    <p:sldId id="256" r:id="rId2"/>
    <p:sldId id="506" r:id="rId3"/>
    <p:sldId id="551" r:id="rId4"/>
    <p:sldId id="420" r:id="rId5"/>
    <p:sldId id="375" r:id="rId6"/>
    <p:sldId id="416" r:id="rId7"/>
    <p:sldId id="418" r:id="rId8"/>
    <p:sldId id="455" r:id="rId9"/>
    <p:sldId id="456" r:id="rId10"/>
    <p:sldId id="576" r:id="rId11"/>
    <p:sldId id="473" r:id="rId12"/>
    <p:sldId id="458" r:id="rId13"/>
    <p:sldId id="474" r:id="rId14"/>
    <p:sldId id="475" r:id="rId15"/>
    <p:sldId id="459" r:id="rId16"/>
    <p:sldId id="460" r:id="rId17"/>
    <p:sldId id="478" r:id="rId18"/>
    <p:sldId id="479" r:id="rId19"/>
    <p:sldId id="481" r:id="rId20"/>
    <p:sldId id="480" r:id="rId21"/>
    <p:sldId id="482" r:id="rId22"/>
    <p:sldId id="483" r:id="rId23"/>
    <p:sldId id="484" r:id="rId24"/>
    <p:sldId id="507" r:id="rId25"/>
    <p:sldId id="486" r:id="rId26"/>
    <p:sldId id="559" r:id="rId27"/>
    <p:sldId id="560" r:id="rId28"/>
    <p:sldId id="561" r:id="rId29"/>
    <p:sldId id="563" r:id="rId30"/>
    <p:sldId id="562" r:id="rId31"/>
    <p:sldId id="565" r:id="rId32"/>
    <p:sldId id="570" r:id="rId33"/>
    <p:sldId id="571" r:id="rId34"/>
    <p:sldId id="569" r:id="rId35"/>
    <p:sldId id="564" r:id="rId36"/>
    <p:sldId id="488" r:id="rId37"/>
    <p:sldId id="485" r:id="rId38"/>
    <p:sldId id="490" r:id="rId39"/>
    <p:sldId id="491" r:id="rId40"/>
    <p:sldId id="494" r:id="rId41"/>
    <p:sldId id="508" r:id="rId42"/>
    <p:sldId id="572" r:id="rId43"/>
    <p:sldId id="492" r:id="rId44"/>
    <p:sldId id="495" r:id="rId45"/>
    <p:sldId id="496" r:id="rId46"/>
    <p:sldId id="497" r:id="rId47"/>
    <p:sldId id="498" r:id="rId48"/>
    <p:sldId id="500" r:id="rId49"/>
    <p:sldId id="466" r:id="rId50"/>
    <p:sldId id="577" r:id="rId51"/>
    <p:sldId id="467" r:id="rId52"/>
    <p:sldId id="468" r:id="rId53"/>
    <p:sldId id="501" r:id="rId54"/>
    <p:sldId id="502" r:id="rId55"/>
    <p:sldId id="503" r:id="rId56"/>
    <p:sldId id="504" r:id="rId57"/>
    <p:sldId id="505" r:id="rId58"/>
    <p:sldId id="558" r:id="rId59"/>
    <p:sldId id="457" r:id="rId60"/>
    <p:sldId id="471" r:id="rId61"/>
    <p:sldId id="509" r:id="rId62"/>
    <p:sldId id="472" r:id="rId63"/>
    <p:sldId id="510" r:id="rId64"/>
    <p:sldId id="574" r:id="rId65"/>
    <p:sldId id="511" r:id="rId66"/>
    <p:sldId id="512" r:id="rId67"/>
    <p:sldId id="513" r:id="rId68"/>
    <p:sldId id="476" r:id="rId69"/>
    <p:sldId id="515" r:id="rId70"/>
    <p:sldId id="519" r:id="rId71"/>
    <p:sldId id="528" r:id="rId72"/>
    <p:sldId id="521" r:id="rId73"/>
    <p:sldId id="522" r:id="rId74"/>
    <p:sldId id="529" r:id="rId75"/>
    <p:sldId id="575" r:id="rId76"/>
    <p:sldId id="530" r:id="rId77"/>
    <p:sldId id="531" r:id="rId78"/>
    <p:sldId id="532" r:id="rId79"/>
    <p:sldId id="533" r:id="rId80"/>
    <p:sldId id="537" r:id="rId81"/>
    <p:sldId id="538" r:id="rId82"/>
    <p:sldId id="539" r:id="rId83"/>
    <p:sldId id="567" r:id="rId84"/>
    <p:sldId id="541" r:id="rId85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15" autoAdjust="0"/>
    <p:restoredTop sz="96496" autoAdjust="0"/>
  </p:normalViewPr>
  <p:slideViewPr>
    <p:cSldViewPr>
      <p:cViewPr varScale="1">
        <p:scale>
          <a:sx n="95" d="100"/>
          <a:sy n="95" d="100"/>
        </p:scale>
        <p:origin x="22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040" y="-7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9897E-559B-4802-87FD-BDDBC21CBABC}" type="datetimeFigureOut">
              <a:rPr lang="ko-KR" altLang="en-US" smtClean="0"/>
              <a:t>2024-08-21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AADCE-4523-43FE-B0A8-90B87F2F6B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algn="r">
              <a:defRPr cap="all" baseline="0"/>
            </a:lvl1pPr>
          </a:lstStyle>
          <a:p>
            <a:endParaRPr kumimoji="0" lang="en-US" dirty="0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endParaRPr kumimoji="0" lang="en-US" dirty="0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lnSpc>
                <a:spcPct val="100000"/>
              </a:lnSpc>
              <a:defRPr sz="2000"/>
            </a:lvl2pPr>
            <a:lvl3pPr>
              <a:defRPr sz="1800">
                <a:latin typeface="HY나무L" pitchFamily="18" charset="-127"/>
                <a:ea typeface="HY나무L" pitchFamily="18" charset="-127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ft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장</a:t>
            </a:r>
            <a:r>
              <a:rPr lang="en-US" altLang="ko-KR" dirty="0"/>
              <a:t>. </a:t>
            </a:r>
            <a:r>
              <a:rPr lang="ko-KR" altLang="en-US" dirty="0" err="1"/>
              <a:t>라즈베리파이</a:t>
            </a:r>
            <a:r>
              <a:rPr lang="ko-KR" altLang="en-US" dirty="0"/>
              <a:t> 운영체제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69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"/>
    </mc:Choice>
    <mc:Fallback xmlns="">
      <p:transition spd="slow" advTm="1029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7A8616D-0D73-466C-9D23-E83A5C129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리눅스 운영체제의 특징을 이해한다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리눅스에서 사용자 관리를 이해한다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리눅스 파일 시스템의 구조를 이해하고 관련 명령을 활용할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파일 속성을 이해하고 수정할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5. </a:t>
            </a:r>
            <a:r>
              <a:rPr lang="ko-KR" altLang="en-US" dirty="0"/>
              <a:t>리눅스에서 프로세스를 이해하고 관련 명령을 활용할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6. </a:t>
            </a:r>
            <a:r>
              <a:rPr lang="ko-KR" altLang="en-US" dirty="0"/>
              <a:t>리눅스에서 많이 사용하는 명령을 활용할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3554A5C-22E4-42C3-9C86-454E09E0C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목표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57FB67-C70D-4F73-A420-C8D129D008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892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5E8A677-21D6-43AF-99AC-30CFE20C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들어가기 전에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B1BA24-DCC1-447A-8839-9A507DD01FB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리눅스 명령 사용 숙지</a:t>
            </a:r>
            <a:endParaRPr lang="en-US" altLang="ko-KR" dirty="0"/>
          </a:p>
          <a:p>
            <a:pPr lvl="1"/>
            <a:r>
              <a:rPr lang="ko-KR" altLang="en-US"/>
              <a:t>리눅스에서 많이 사용되는 명령 이해가 목적</a:t>
            </a:r>
            <a:endParaRPr lang="en-US" altLang="ko-KR" dirty="0"/>
          </a:p>
          <a:p>
            <a:pPr lvl="2"/>
            <a:r>
              <a:rPr lang="ko-KR" altLang="en-US"/>
              <a:t>이 책에서 사용되는 리눅스 명령 위주로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vi </a:t>
            </a:r>
            <a:r>
              <a:rPr lang="ko-KR" altLang="en-US" dirty="0"/>
              <a:t>편집기 사용 숙지</a:t>
            </a:r>
            <a:endParaRPr lang="en-US" altLang="ko-KR" dirty="0"/>
          </a:p>
          <a:p>
            <a:pPr lvl="1"/>
            <a:r>
              <a:rPr lang="ko-KR" altLang="en-US"/>
              <a:t>이</a:t>
            </a:r>
            <a:r>
              <a:rPr lang="en-US" altLang="ko-KR"/>
              <a:t> </a:t>
            </a:r>
            <a:r>
              <a:rPr lang="ko-KR" altLang="en-US"/>
              <a:t>책에서 파이썬 프로그램 편집 시 </a:t>
            </a:r>
            <a:r>
              <a:rPr lang="en-US" altLang="ko-KR"/>
              <a:t>vi </a:t>
            </a:r>
            <a:r>
              <a:rPr lang="ko-KR" altLang="en-US"/>
              <a:t>사용</a:t>
            </a:r>
            <a:endParaRPr lang="en-US" altLang="ko-KR"/>
          </a:p>
          <a:p>
            <a:pPr lvl="2"/>
            <a:r>
              <a:rPr lang="en-US" altLang="ko-KR"/>
              <a:t>nano</a:t>
            </a:r>
            <a:r>
              <a:rPr lang="ko-KR" altLang="en-US"/>
              <a:t>를 사용해도 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/>
              <a:t>예제 파이썬 코드는 </a:t>
            </a:r>
            <a:r>
              <a:rPr lang="en-US" altLang="ko-KR" dirty="0"/>
              <a:t>ch03 </a:t>
            </a:r>
            <a:r>
              <a:rPr lang="ko-KR" altLang="en-US" dirty="0"/>
              <a:t>디렉터리에 저장하고 실행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7134A7-1647-4558-B85E-D57EF885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D54256-F654-4A32-A5D1-0BB5771D1345}"/>
              </a:ext>
            </a:extLst>
          </p:cNvPr>
          <p:cNvSpPr/>
          <p:nvPr/>
        </p:nvSpPr>
        <p:spPr>
          <a:xfrm>
            <a:off x="1115616" y="5013176"/>
            <a:ext cx="4572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r>
              <a:rPr lang="pt-BR" altLang="ko-KR" sz="1600" b="1" dirty="0">
                <a:latin typeface="+mn-ea"/>
              </a:rPr>
              <a:t>pi@pi:~ $ mkdir ch0</a:t>
            </a:r>
            <a:r>
              <a:rPr lang="en-US" altLang="ko-KR" sz="1600" b="1" dirty="0">
                <a:latin typeface="+mn-ea"/>
              </a:rPr>
              <a:t>3</a:t>
            </a:r>
            <a:endParaRPr lang="pt-BR" altLang="ko-KR" sz="1600" b="1" dirty="0">
              <a:latin typeface="+mn-ea"/>
            </a:endParaRPr>
          </a:p>
          <a:p>
            <a:r>
              <a:rPr lang="nb-NO" altLang="ko-KR" sz="1600" b="1" dirty="0">
                <a:latin typeface="+mn-ea"/>
              </a:rPr>
              <a:t>pi@pi:~ $ cd ch0</a:t>
            </a:r>
            <a:r>
              <a:rPr lang="en-US" altLang="ko-KR" sz="1600" b="1" dirty="0">
                <a:latin typeface="+mn-ea"/>
              </a:rPr>
              <a:t>3</a:t>
            </a:r>
            <a:endParaRPr lang="nb-NO" altLang="ko-KR" sz="1600" b="1" dirty="0">
              <a:latin typeface="+mn-ea"/>
            </a:endParaRPr>
          </a:p>
          <a:p>
            <a:r>
              <a:rPr lang="en-US" altLang="ko-KR" sz="1600" b="1" dirty="0" err="1">
                <a:latin typeface="+mn-ea"/>
              </a:rPr>
              <a:t>pi@pi</a:t>
            </a:r>
            <a:r>
              <a:rPr lang="en-US" altLang="ko-KR" sz="1600" b="1" dirty="0">
                <a:latin typeface="+mn-ea"/>
              </a:rPr>
              <a:t>:~/ch03 $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608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3.1 </a:t>
            </a:r>
            <a:r>
              <a:rPr lang="ko-KR" altLang="en-US"/>
              <a:t>라즈베리파이 </a:t>
            </a:r>
            <a:r>
              <a:rPr lang="ko-KR" altLang="en-US" dirty="0"/>
              <a:t>운영체제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663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리눅스 탄생</a:t>
            </a:r>
            <a:endParaRPr lang="en-US" altLang="ko-KR" dirty="0"/>
          </a:p>
          <a:p>
            <a:pPr lvl="1"/>
            <a:r>
              <a:rPr lang="ko-KR" altLang="en-US" dirty="0" err="1"/>
              <a:t>리누스</a:t>
            </a:r>
            <a:r>
              <a:rPr lang="ko-KR" altLang="en-US" dirty="0"/>
              <a:t> </a:t>
            </a:r>
            <a:r>
              <a:rPr lang="ko-KR" altLang="en-US" dirty="0" err="1"/>
              <a:t>토발즈</a:t>
            </a:r>
            <a:r>
              <a:rPr lang="en-US" altLang="ko-KR" dirty="0"/>
              <a:t>(Linus Torvalds)</a:t>
            </a:r>
            <a:r>
              <a:rPr lang="ko-KR" altLang="en-US" dirty="0"/>
              <a:t>에 의해 개발</a:t>
            </a:r>
            <a:endParaRPr lang="en-US" altLang="ko-KR" dirty="0"/>
          </a:p>
          <a:p>
            <a:pPr lvl="2"/>
            <a:r>
              <a:rPr lang="ko-KR" altLang="en-US" dirty="0"/>
              <a:t>헬싱키대학교의 대학원생</a:t>
            </a:r>
            <a:endParaRPr lang="en-US" altLang="ko-KR" dirty="0"/>
          </a:p>
          <a:p>
            <a:pPr lvl="2"/>
            <a:r>
              <a:rPr lang="ko-KR" altLang="en-US" dirty="0"/>
              <a:t>유닉스 운영체제를</a:t>
            </a:r>
            <a:r>
              <a:rPr lang="en-US" altLang="ko-KR" dirty="0"/>
              <a:t> </a:t>
            </a:r>
            <a:r>
              <a:rPr lang="ko-KR" altLang="en-US" dirty="0"/>
              <a:t>모델로 하여 개발</a:t>
            </a:r>
            <a:endParaRPr lang="en-US" altLang="ko-KR" dirty="0"/>
          </a:p>
          <a:p>
            <a:pPr lvl="2"/>
            <a:r>
              <a:rPr lang="en-US" altLang="ko-KR" dirty="0"/>
              <a:t>1991</a:t>
            </a:r>
            <a:r>
              <a:rPr lang="ko-KR" altLang="en-US" dirty="0"/>
              <a:t>년 </a:t>
            </a:r>
            <a:r>
              <a:rPr lang="en-US" altLang="ko-KR" dirty="0"/>
              <a:t>9</a:t>
            </a:r>
            <a:r>
              <a:rPr lang="ko-KR" altLang="en-US" dirty="0"/>
              <a:t>월 </a:t>
            </a:r>
            <a:r>
              <a:rPr lang="en-US" altLang="ko-KR" dirty="0"/>
              <a:t>17</a:t>
            </a:r>
            <a:r>
              <a:rPr lang="ko-KR" altLang="en-US" dirty="0"/>
              <a:t>일</a:t>
            </a:r>
            <a:r>
              <a:rPr lang="en-US" altLang="ko-KR" dirty="0"/>
              <a:t>, </a:t>
            </a:r>
            <a:r>
              <a:rPr lang="ko-KR" altLang="en-US" b="1" dirty="0"/>
              <a:t>리눅스 커널</a:t>
            </a:r>
            <a:r>
              <a:rPr lang="en-US" altLang="ko-KR" b="1" dirty="0"/>
              <a:t>(Linux Kernel)</a:t>
            </a:r>
            <a:r>
              <a:rPr lang="ko-KR" altLang="en-US" b="1" dirty="0"/>
              <a:t> </a:t>
            </a:r>
            <a:r>
              <a:rPr lang="ko-KR" altLang="en-US" dirty="0"/>
              <a:t>공개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1026" name="Picture 2" descr="https://image.zdnet.co.kr/2016/08/23/sini_GgIz4ZxsLiIKXJU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356992"/>
            <a:ext cx="5238750" cy="316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466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운영체제 구성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운영체제</a:t>
            </a:r>
            <a:endParaRPr lang="en-US" altLang="ko-KR"/>
          </a:p>
          <a:p>
            <a:pPr lvl="1" fontAlgn="base" latinLnBrk="0"/>
            <a:r>
              <a:rPr lang="ko-KR" altLang="en-US"/>
              <a:t>사용자와 컴퓨터 하드웨어 사이에서 중계 역할을 하면서</a:t>
            </a:r>
            <a:r>
              <a:rPr lang="en-US" altLang="ko-KR"/>
              <a:t>, </a:t>
            </a:r>
            <a:r>
              <a:rPr lang="ko-KR" altLang="en-US"/>
              <a:t>프로그램의 실행을 관리하고 제어하는 시스템 소프트웨어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1B6EB8-EFBC-4DFD-8F2F-8361D3639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520" y="6145007"/>
            <a:ext cx="5612331" cy="668369"/>
          </a:xfrm>
          <a:prstGeom prst="rect">
            <a:avLst/>
          </a:prstGeom>
        </p:spPr>
      </p:pic>
      <p:sp>
        <p:nvSpPr>
          <p:cNvPr id="6" name="모서리가 둥근 직사각형 6">
            <a:extLst>
              <a:ext uri="{FF2B5EF4-FFF2-40B4-BE49-F238E27FC236}">
                <a16:creationId xmlns:a16="http://schemas.microsoft.com/office/drawing/2014/main" id="{4FCD04F4-E213-498E-88EC-8168465ED03E}"/>
              </a:ext>
            </a:extLst>
          </p:cNvPr>
          <p:cNvSpPr/>
          <p:nvPr/>
        </p:nvSpPr>
        <p:spPr>
          <a:xfrm>
            <a:off x="2775268" y="3861048"/>
            <a:ext cx="3601759" cy="1866378"/>
          </a:xfrm>
          <a:prstGeom prst="roundRect">
            <a:avLst>
              <a:gd name="adj" fmla="val 367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en-US" altLang="ko-KR" sz="1600">
              <a:solidFill>
                <a:schemeClr val="tx1"/>
              </a:solidFill>
            </a:endParaRPr>
          </a:p>
          <a:p>
            <a:pPr algn="ctr"/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7" name="모서리가 둥근 직사각형 7">
            <a:extLst>
              <a:ext uri="{FF2B5EF4-FFF2-40B4-BE49-F238E27FC236}">
                <a16:creationId xmlns:a16="http://schemas.microsoft.com/office/drawing/2014/main" id="{662238CC-33DC-47DF-9E80-CC3D00B860FA}"/>
              </a:ext>
            </a:extLst>
          </p:cNvPr>
          <p:cNvSpPr/>
          <p:nvPr/>
        </p:nvSpPr>
        <p:spPr>
          <a:xfrm>
            <a:off x="1789354" y="6006343"/>
            <a:ext cx="5976664" cy="7534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chemeClr val="tx1"/>
              </a:solidFill>
            </a:endParaRPr>
          </a:p>
        </p:txBody>
      </p:sp>
      <p:sp>
        <p:nvSpPr>
          <p:cNvPr id="9" name="위쪽 화살표 10">
            <a:extLst>
              <a:ext uri="{FF2B5EF4-FFF2-40B4-BE49-F238E27FC236}">
                <a16:creationId xmlns:a16="http://schemas.microsoft.com/office/drawing/2014/main" id="{23B0B22A-74B7-42BD-B81F-9765FC8D6FF7}"/>
              </a:ext>
            </a:extLst>
          </p:cNvPr>
          <p:cNvSpPr/>
          <p:nvPr/>
        </p:nvSpPr>
        <p:spPr>
          <a:xfrm>
            <a:off x="4748939" y="5691487"/>
            <a:ext cx="280641" cy="323971"/>
          </a:xfrm>
          <a:prstGeom prst="up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아래쪽 화살표 12">
            <a:extLst>
              <a:ext uri="{FF2B5EF4-FFF2-40B4-BE49-F238E27FC236}">
                <a16:creationId xmlns:a16="http://schemas.microsoft.com/office/drawing/2014/main" id="{77E5C4E5-31D4-4985-B201-DB61CE81F6E0}"/>
              </a:ext>
            </a:extLst>
          </p:cNvPr>
          <p:cNvSpPr/>
          <p:nvPr/>
        </p:nvSpPr>
        <p:spPr>
          <a:xfrm>
            <a:off x="4034210" y="5719189"/>
            <a:ext cx="262610" cy="296270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3">
            <a:extLst>
              <a:ext uri="{FF2B5EF4-FFF2-40B4-BE49-F238E27FC236}">
                <a16:creationId xmlns:a16="http://schemas.microsoft.com/office/drawing/2014/main" id="{ECF15872-4629-4382-86A4-8CEC4616D6C0}"/>
              </a:ext>
            </a:extLst>
          </p:cNvPr>
          <p:cNvSpPr/>
          <p:nvPr/>
        </p:nvSpPr>
        <p:spPr>
          <a:xfrm>
            <a:off x="2950481" y="5092079"/>
            <a:ext cx="737191" cy="4607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키보드 </a:t>
            </a:r>
            <a:endParaRPr lang="en-US" altLang="ko-KR" sz="1000">
              <a:solidFill>
                <a:schemeClr val="tx1"/>
              </a:solidFill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</a:rPr>
              <a:t>드라이버</a:t>
            </a:r>
          </a:p>
        </p:txBody>
      </p:sp>
      <p:sp>
        <p:nvSpPr>
          <p:cNvPr id="12" name="모서리가 둥근 직사각형 14">
            <a:extLst>
              <a:ext uri="{FF2B5EF4-FFF2-40B4-BE49-F238E27FC236}">
                <a16:creationId xmlns:a16="http://schemas.microsoft.com/office/drawing/2014/main" id="{5427AD2F-C1F5-4579-9189-5A778262D4B4}"/>
              </a:ext>
            </a:extLst>
          </p:cNvPr>
          <p:cNvSpPr/>
          <p:nvPr/>
        </p:nvSpPr>
        <p:spPr>
          <a:xfrm>
            <a:off x="3840595" y="5092079"/>
            <a:ext cx="737191" cy="4607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마우스 </a:t>
            </a:r>
            <a:endParaRPr lang="en-US" altLang="ko-KR" sz="1000">
              <a:solidFill>
                <a:schemeClr val="tx1"/>
              </a:solidFill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</a:rPr>
              <a:t>드라이버</a:t>
            </a:r>
          </a:p>
        </p:txBody>
      </p:sp>
      <p:sp>
        <p:nvSpPr>
          <p:cNvPr id="13" name="모서리가 둥근 직사각형 15">
            <a:extLst>
              <a:ext uri="{FF2B5EF4-FFF2-40B4-BE49-F238E27FC236}">
                <a16:creationId xmlns:a16="http://schemas.microsoft.com/office/drawing/2014/main" id="{FF70FE22-64F8-44FE-8E0B-A71FC115372B}"/>
              </a:ext>
            </a:extLst>
          </p:cNvPr>
          <p:cNvSpPr/>
          <p:nvPr/>
        </p:nvSpPr>
        <p:spPr>
          <a:xfrm>
            <a:off x="4658733" y="5092079"/>
            <a:ext cx="737191" cy="4607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디스크 </a:t>
            </a:r>
            <a:endParaRPr lang="en-US" altLang="ko-KR" sz="1000">
              <a:solidFill>
                <a:schemeClr val="tx1"/>
              </a:solidFill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</a:rPr>
              <a:t>드라이버</a:t>
            </a:r>
          </a:p>
        </p:txBody>
      </p:sp>
      <p:sp>
        <p:nvSpPr>
          <p:cNvPr id="14" name="모서리가 둥근 직사각형 16">
            <a:extLst>
              <a:ext uri="{FF2B5EF4-FFF2-40B4-BE49-F238E27FC236}">
                <a16:creationId xmlns:a16="http://schemas.microsoft.com/office/drawing/2014/main" id="{7F8565FA-1876-4740-948C-C8125CFFFE0C}"/>
              </a:ext>
            </a:extLst>
          </p:cNvPr>
          <p:cNvSpPr/>
          <p:nvPr/>
        </p:nvSpPr>
        <p:spPr>
          <a:xfrm>
            <a:off x="5548847" y="5081446"/>
            <a:ext cx="737191" cy="4607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프린터 </a:t>
            </a:r>
            <a:endParaRPr lang="en-US" altLang="ko-KR" sz="1000">
              <a:solidFill>
                <a:schemeClr val="tx1"/>
              </a:solidFill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</a:rPr>
              <a:t>드라이버</a:t>
            </a:r>
          </a:p>
        </p:txBody>
      </p:sp>
      <p:sp>
        <p:nvSpPr>
          <p:cNvPr id="15" name="모서리가 둥근 직사각형 18">
            <a:extLst>
              <a:ext uri="{FF2B5EF4-FFF2-40B4-BE49-F238E27FC236}">
                <a16:creationId xmlns:a16="http://schemas.microsoft.com/office/drawing/2014/main" id="{43ACF296-FFA0-44DD-9651-AE57BF917DEB}"/>
              </a:ext>
            </a:extLst>
          </p:cNvPr>
          <p:cNvSpPr/>
          <p:nvPr/>
        </p:nvSpPr>
        <p:spPr>
          <a:xfrm>
            <a:off x="2910007" y="3952920"/>
            <a:ext cx="3335557" cy="100049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txBody>
          <a:bodyPr wrap="square" anchor="ctr">
            <a:noAutofit/>
          </a:bodyPr>
          <a:lstStyle/>
          <a:p>
            <a:pPr algn="ctr"/>
            <a:endParaRPr lang="en-US" altLang="ko-KR" sz="1600"/>
          </a:p>
          <a:p>
            <a:pPr algn="ctr"/>
            <a:endParaRPr lang="en-US" altLang="ko-KR" sz="1600"/>
          </a:p>
          <a:p>
            <a:pPr algn="ctr"/>
            <a:endParaRPr lang="en-US" altLang="ko-KR" sz="1600"/>
          </a:p>
          <a:p>
            <a:pPr algn="ctr"/>
            <a:r>
              <a:rPr lang="ko-KR" altLang="en-US" sz="1600"/>
              <a:t>커널</a:t>
            </a:r>
            <a:r>
              <a:rPr lang="en-US" altLang="ko-KR" sz="1600"/>
              <a:t>(kernel)</a:t>
            </a:r>
          </a:p>
        </p:txBody>
      </p:sp>
      <p:sp>
        <p:nvSpPr>
          <p:cNvPr id="16" name="아래쪽 화살표 21">
            <a:extLst>
              <a:ext uri="{FF2B5EF4-FFF2-40B4-BE49-F238E27FC236}">
                <a16:creationId xmlns:a16="http://schemas.microsoft.com/office/drawing/2014/main" id="{BBE7D121-2017-4EC1-B385-B742F96B7BAD}"/>
              </a:ext>
            </a:extLst>
          </p:cNvPr>
          <p:cNvSpPr/>
          <p:nvPr/>
        </p:nvSpPr>
        <p:spPr>
          <a:xfrm>
            <a:off x="3536492" y="3287769"/>
            <a:ext cx="244306" cy="698928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27">
            <a:extLst>
              <a:ext uri="{FF2B5EF4-FFF2-40B4-BE49-F238E27FC236}">
                <a16:creationId xmlns:a16="http://schemas.microsoft.com/office/drawing/2014/main" id="{95F548F6-0C91-4AD6-8613-225B09FB2624}"/>
              </a:ext>
            </a:extLst>
          </p:cNvPr>
          <p:cNvSpPr/>
          <p:nvPr/>
        </p:nvSpPr>
        <p:spPr>
          <a:xfrm>
            <a:off x="2912550" y="3053352"/>
            <a:ext cx="1492190" cy="51966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쉘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FAF2DD7-E371-4088-82A9-261F7F28B205}"/>
              </a:ext>
            </a:extLst>
          </p:cNvPr>
          <p:cNvSpPr/>
          <p:nvPr/>
        </p:nvSpPr>
        <p:spPr>
          <a:xfrm>
            <a:off x="3635977" y="4124659"/>
            <a:ext cx="398233" cy="360040"/>
          </a:xfrm>
          <a:prstGeom prst="ellipse">
            <a:avLst/>
          </a:prstGeom>
          <a:solidFill>
            <a:srgbClr val="00B0F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AD5E570-9699-4A9C-960E-681B3CA1C814}"/>
              </a:ext>
            </a:extLst>
          </p:cNvPr>
          <p:cNvSpPr/>
          <p:nvPr/>
        </p:nvSpPr>
        <p:spPr>
          <a:xfrm>
            <a:off x="5449468" y="4076413"/>
            <a:ext cx="398233" cy="360040"/>
          </a:xfrm>
          <a:prstGeom prst="ellipse">
            <a:avLst/>
          </a:prstGeom>
          <a:solidFill>
            <a:srgbClr val="00B0F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DDF6A03-5061-40E6-923B-66486A2429B3}"/>
              </a:ext>
            </a:extLst>
          </p:cNvPr>
          <p:cNvSpPr/>
          <p:nvPr/>
        </p:nvSpPr>
        <p:spPr>
          <a:xfrm>
            <a:off x="4735107" y="4095624"/>
            <a:ext cx="398233" cy="360040"/>
          </a:xfrm>
          <a:prstGeom prst="ellipse">
            <a:avLst/>
          </a:prstGeom>
          <a:solidFill>
            <a:srgbClr val="00B0F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4DEB7F5-3376-4518-BCD0-B760ADD7A600}"/>
              </a:ext>
            </a:extLst>
          </p:cNvPr>
          <p:cNvSpPr/>
          <p:nvPr/>
        </p:nvSpPr>
        <p:spPr>
          <a:xfrm>
            <a:off x="4239223" y="4161609"/>
            <a:ext cx="398233" cy="360040"/>
          </a:xfrm>
          <a:prstGeom prst="ellipse">
            <a:avLst/>
          </a:prstGeom>
          <a:solidFill>
            <a:srgbClr val="00B0F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03DBB59-7B4B-4E35-9CEF-5BBABC1CCC51}"/>
              </a:ext>
            </a:extLst>
          </p:cNvPr>
          <p:cNvSpPr/>
          <p:nvPr/>
        </p:nvSpPr>
        <p:spPr>
          <a:xfrm>
            <a:off x="3038628" y="4095624"/>
            <a:ext cx="398233" cy="360040"/>
          </a:xfrm>
          <a:prstGeom prst="ellipse">
            <a:avLst/>
          </a:prstGeom>
          <a:solidFill>
            <a:srgbClr val="92D05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2AD88DC-3424-42F9-8580-E56DBD88AA45}"/>
              </a:ext>
            </a:extLst>
          </p:cNvPr>
          <p:cNvSpPr/>
          <p:nvPr/>
        </p:nvSpPr>
        <p:spPr>
          <a:xfrm>
            <a:off x="5096808" y="4360621"/>
            <a:ext cx="398233" cy="360040"/>
          </a:xfrm>
          <a:prstGeom prst="ellipse">
            <a:avLst/>
          </a:prstGeom>
          <a:solidFill>
            <a:srgbClr val="92D05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9B6857E-B381-4DFF-9EE3-EE18B2CACEE7}"/>
              </a:ext>
            </a:extLst>
          </p:cNvPr>
          <p:cNvSpPr/>
          <p:nvPr/>
        </p:nvSpPr>
        <p:spPr>
          <a:xfrm>
            <a:off x="3304463" y="4429803"/>
            <a:ext cx="398233" cy="360040"/>
          </a:xfrm>
          <a:prstGeom prst="ellipse">
            <a:avLst/>
          </a:prstGeom>
          <a:solidFill>
            <a:srgbClr val="92D05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7108C85-062D-4EB0-BBCF-7408715DCADF}"/>
              </a:ext>
            </a:extLst>
          </p:cNvPr>
          <p:cNvSpPr/>
          <p:nvPr/>
        </p:nvSpPr>
        <p:spPr>
          <a:xfrm>
            <a:off x="5694157" y="4422337"/>
            <a:ext cx="398233" cy="360040"/>
          </a:xfrm>
          <a:prstGeom prst="ellipse">
            <a:avLst/>
          </a:prstGeom>
          <a:solidFill>
            <a:srgbClr val="92D05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0AABE97-FF0A-424C-8BA8-A8A17D519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676" y="2446502"/>
            <a:ext cx="504836" cy="38932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D3A0B69-6665-42BE-825D-48509ADBB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889" y="2481233"/>
            <a:ext cx="394318" cy="41224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1FFC9B7-1464-4D87-9CA9-A72B6835F1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649" y="2455872"/>
            <a:ext cx="434416" cy="43088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46C0854-B2DC-44A5-8DD5-B35386DDBC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9045" y="2503410"/>
            <a:ext cx="496279" cy="414992"/>
          </a:xfrm>
          <a:prstGeom prst="rect">
            <a:avLst/>
          </a:prstGeom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55F32A9-3181-4B7A-8383-6B67D93097A1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3294094" y="2835824"/>
            <a:ext cx="142767" cy="214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DBFA435-2B66-4149-9047-D222AA570E54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3847303" y="2893474"/>
            <a:ext cx="316745" cy="166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A3C5A96-BB5E-4612-827B-395791107698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5133340" y="2886755"/>
            <a:ext cx="70517" cy="163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C732D15-5BC8-49CA-9653-9BE156D479BC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5897185" y="2918402"/>
            <a:ext cx="70517" cy="141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아래쪽 화살표 21">
            <a:extLst>
              <a:ext uri="{FF2B5EF4-FFF2-40B4-BE49-F238E27FC236}">
                <a16:creationId xmlns:a16="http://schemas.microsoft.com/office/drawing/2014/main" id="{1046D260-E90B-411B-A891-893E2850A28E}"/>
              </a:ext>
            </a:extLst>
          </p:cNvPr>
          <p:cNvSpPr/>
          <p:nvPr/>
        </p:nvSpPr>
        <p:spPr>
          <a:xfrm>
            <a:off x="5372888" y="3263647"/>
            <a:ext cx="244306" cy="698928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F850190-F341-4CA3-89B0-6A6321CDA074}"/>
              </a:ext>
            </a:extLst>
          </p:cNvPr>
          <p:cNvSpPr/>
          <p:nvPr/>
        </p:nvSpPr>
        <p:spPr>
          <a:xfrm>
            <a:off x="899592" y="6170327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/>
              <a:t>컴퓨터 </a:t>
            </a:r>
            <a:endParaRPr lang="en-US" altLang="ko-KR" sz="1200"/>
          </a:p>
          <a:p>
            <a:pPr algn="ctr"/>
            <a:r>
              <a:rPr lang="ko-KR" altLang="en-US" sz="1200"/>
              <a:t>하드웨어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31B01ED-6C8D-4EDE-84D8-0E182256CBC1}"/>
              </a:ext>
            </a:extLst>
          </p:cNvPr>
          <p:cNvSpPr/>
          <p:nvPr/>
        </p:nvSpPr>
        <p:spPr>
          <a:xfrm>
            <a:off x="1622392" y="4508191"/>
            <a:ext cx="8002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/>
              <a:t>리눅스 </a:t>
            </a:r>
            <a:endParaRPr lang="en-US" altLang="ko-KR" sz="1200"/>
          </a:p>
          <a:p>
            <a:pPr algn="ctr"/>
            <a:r>
              <a:rPr lang="ko-KR" altLang="en-US" sz="1200"/>
              <a:t>운영체제</a:t>
            </a:r>
          </a:p>
        </p:txBody>
      </p:sp>
      <p:sp>
        <p:nvSpPr>
          <p:cNvPr id="8" name="모서리가 둥근 직사각형 8">
            <a:extLst>
              <a:ext uri="{FF2B5EF4-FFF2-40B4-BE49-F238E27FC236}">
                <a16:creationId xmlns:a16="http://schemas.microsoft.com/office/drawing/2014/main" id="{AB0E8A79-66BC-46BB-AC22-6F4CE0E14D48}"/>
              </a:ext>
            </a:extLst>
          </p:cNvPr>
          <p:cNvSpPr/>
          <p:nvPr/>
        </p:nvSpPr>
        <p:spPr>
          <a:xfrm>
            <a:off x="4583554" y="3053302"/>
            <a:ext cx="1751713" cy="55790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응용프로그램들</a:t>
            </a:r>
          </a:p>
        </p:txBody>
      </p:sp>
    </p:spTree>
    <p:extLst>
      <p:ext uri="{BB962C8B-B14F-4D97-AF65-F5344CB8AC3E}">
        <p14:creationId xmlns:p14="http://schemas.microsoft.com/office/powerpoint/2010/main" val="586297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 운영체제의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리눅스는 공개 소프트웨어</a:t>
            </a:r>
            <a:endParaRPr lang="en-US" altLang="ko-KR" dirty="0"/>
          </a:p>
          <a:p>
            <a:pPr lvl="1"/>
            <a:r>
              <a:rPr lang="ko-KR" altLang="en-US" dirty="0"/>
              <a:t>누구나 수정</a:t>
            </a:r>
            <a:r>
              <a:rPr lang="en-US" altLang="ko-KR" dirty="0"/>
              <a:t>, </a:t>
            </a:r>
            <a:r>
              <a:rPr lang="ko-KR" altLang="en-US" dirty="0"/>
              <a:t>개발</a:t>
            </a:r>
            <a:r>
              <a:rPr lang="en-US" altLang="ko-KR" dirty="0"/>
              <a:t>, </a:t>
            </a:r>
            <a:r>
              <a:rPr lang="ko-KR" altLang="en-US" dirty="0"/>
              <a:t>배포 가능</a:t>
            </a:r>
            <a:endParaRPr lang="en-US" altLang="ko-KR" dirty="0"/>
          </a:p>
          <a:p>
            <a:r>
              <a:rPr lang="ko-KR" altLang="en-US" dirty="0"/>
              <a:t>유닉스 운영체제와 호환</a:t>
            </a:r>
            <a:endParaRPr lang="en-US" altLang="ko-KR" dirty="0"/>
          </a:p>
          <a:p>
            <a:pPr lvl="1"/>
            <a:r>
              <a:rPr lang="ko-KR" altLang="en-US"/>
              <a:t>유닉스와 동일한 </a:t>
            </a:r>
            <a:r>
              <a:rPr lang="en-US" altLang="ko-KR"/>
              <a:t>API</a:t>
            </a:r>
            <a:r>
              <a:rPr lang="ko-KR" altLang="en-US"/>
              <a:t>와</a:t>
            </a:r>
            <a:r>
              <a:rPr lang="en-US" altLang="ko-KR"/>
              <a:t> </a:t>
            </a:r>
            <a:r>
              <a:rPr lang="ko-KR" altLang="en-US"/>
              <a:t>명령 </a:t>
            </a:r>
            <a:r>
              <a:rPr lang="ko-KR" altLang="en-US" dirty="0"/>
              <a:t>사용</a:t>
            </a:r>
            <a:endParaRPr lang="en-US" altLang="ko-KR" dirty="0"/>
          </a:p>
          <a:p>
            <a:r>
              <a:rPr lang="ko-KR" altLang="en-US" dirty="0"/>
              <a:t>높은 </a:t>
            </a:r>
            <a:r>
              <a:rPr lang="ko-KR" altLang="en-US" dirty="0" err="1"/>
              <a:t>이식성</a:t>
            </a:r>
            <a:endParaRPr lang="en-US" altLang="ko-KR" dirty="0"/>
          </a:p>
          <a:p>
            <a:pPr lvl="1"/>
            <a:r>
              <a:rPr lang="ko-KR" altLang="en-US" dirty="0"/>
              <a:t>리눅스 커널 및 응용 프로그램은 다양한 종류의 </a:t>
            </a:r>
            <a:r>
              <a:rPr lang="en-US" altLang="ko-KR" dirty="0"/>
              <a:t>CPU</a:t>
            </a:r>
            <a:r>
              <a:rPr lang="ko-KR" altLang="en-US" dirty="0"/>
              <a:t>를 가진 하드웨어 플랫폼에 쉽게 설치 가능</a:t>
            </a:r>
            <a:endParaRPr lang="en-US" altLang="ko-KR" dirty="0"/>
          </a:p>
          <a:p>
            <a:r>
              <a:rPr lang="ko-KR" altLang="en-US" dirty="0"/>
              <a:t>다중사용자</a:t>
            </a:r>
            <a:r>
              <a:rPr lang="en-US" altLang="ko-KR" dirty="0"/>
              <a:t>/</a:t>
            </a:r>
            <a:r>
              <a:rPr lang="ko-KR" altLang="en-US" dirty="0"/>
              <a:t>다중프로세스</a:t>
            </a:r>
            <a:r>
              <a:rPr lang="en-US" altLang="ko-KR" dirty="0"/>
              <a:t>/</a:t>
            </a:r>
            <a:r>
              <a:rPr lang="ko-KR" altLang="en-US" dirty="0" err="1"/>
              <a:t>멀티스레드</a:t>
            </a:r>
            <a:r>
              <a:rPr lang="ko-KR" altLang="en-US" dirty="0"/>
              <a:t> 지원</a:t>
            </a:r>
            <a:endParaRPr lang="en-US" altLang="ko-KR" dirty="0"/>
          </a:p>
          <a:p>
            <a:pPr lvl="1"/>
            <a:r>
              <a:rPr lang="ko-KR" altLang="en-US" dirty="0"/>
              <a:t>여러 사용자가 동시에 사용하는 다중 사용자 운영체제</a:t>
            </a:r>
          </a:p>
          <a:p>
            <a:pPr lvl="1"/>
            <a:r>
              <a:rPr lang="ko-KR" altLang="en-US" dirty="0"/>
              <a:t>동시에 여러 응용프로그램</a:t>
            </a:r>
            <a:r>
              <a:rPr lang="en-US" altLang="ko-KR" dirty="0"/>
              <a:t>(</a:t>
            </a:r>
            <a:r>
              <a:rPr lang="ko-KR" altLang="en-US" dirty="0"/>
              <a:t>태스크 혹은 프로세스</a:t>
            </a:r>
            <a:r>
              <a:rPr lang="en-US" altLang="ko-KR" dirty="0"/>
              <a:t>)</a:t>
            </a:r>
            <a:r>
              <a:rPr lang="ko-KR" altLang="en-US" dirty="0"/>
              <a:t>이 동시에 실행</a:t>
            </a:r>
            <a:endParaRPr lang="en-US" altLang="ko-KR" dirty="0"/>
          </a:p>
          <a:p>
            <a:r>
              <a:rPr lang="ko-KR" altLang="en-US" dirty="0"/>
              <a:t>다양한 </a:t>
            </a:r>
            <a:r>
              <a:rPr lang="ko-KR" altLang="en-US" dirty="0" err="1"/>
              <a:t>배포판</a:t>
            </a:r>
            <a:endParaRPr lang="en-US" altLang="ko-KR" dirty="0"/>
          </a:p>
          <a:p>
            <a:r>
              <a:rPr lang="ko-KR" altLang="en-US"/>
              <a:t>쉘</a:t>
            </a:r>
            <a:endParaRPr lang="en-US" altLang="ko-KR"/>
          </a:p>
          <a:p>
            <a:pPr lvl="1"/>
            <a:r>
              <a:rPr lang="ko-KR" altLang="en-US"/>
              <a:t>사용자로부터 명령을 입력받아 실행해주는 프로그램 제공</a:t>
            </a:r>
            <a:endParaRPr lang="en-US" altLang="ko-KR"/>
          </a:p>
          <a:p>
            <a:pPr lvl="2"/>
            <a:r>
              <a:rPr lang="en-US" altLang="ko-KR"/>
              <a:t>csh, tcsh, ksh, bash </a:t>
            </a:r>
            <a:r>
              <a:rPr lang="ko-KR" altLang="en-US"/>
              <a:t>등</a:t>
            </a:r>
            <a:endParaRPr lang="en-US" altLang="ko-KR"/>
          </a:p>
          <a:p>
            <a:pPr lvl="2"/>
            <a:r>
              <a:rPr lang="ko-KR" altLang="en-US"/>
              <a:t>라즈베리파이에서는 </a:t>
            </a:r>
            <a:r>
              <a:rPr lang="en-US" altLang="ko-KR"/>
              <a:t>bash </a:t>
            </a:r>
            <a:r>
              <a:rPr lang="ko-KR" altLang="en-US"/>
              <a:t>사용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150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544BC-7EC7-4DB5-8D31-1007B1966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로그인 과정과 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FD5EC-26DC-4C06-8293-6C37D9610A9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로그인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A17AD3-CB5C-4DCE-B171-298A72A7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BCCD3E2-0128-4202-9C84-EC24B7E0D01B}"/>
              </a:ext>
            </a:extLst>
          </p:cNvPr>
          <p:cNvSpPr/>
          <p:nvPr/>
        </p:nvSpPr>
        <p:spPr>
          <a:xfrm>
            <a:off x="2925529" y="2278858"/>
            <a:ext cx="4306637" cy="237626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61E0D7-460F-42A0-87EC-9536BFD60226}"/>
              </a:ext>
            </a:extLst>
          </p:cNvPr>
          <p:cNvSpPr txBox="1"/>
          <p:nvPr/>
        </p:nvSpPr>
        <p:spPr>
          <a:xfrm>
            <a:off x="3475120" y="1930648"/>
            <a:ext cx="3573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라즈베리파이</a:t>
            </a:r>
            <a:r>
              <a:rPr lang="en-US" altLang="ko-KR" sz="1400" b="1"/>
              <a:t>(</a:t>
            </a:r>
            <a:r>
              <a:rPr lang="ko-KR" altLang="en-US" sz="1400" b="1"/>
              <a:t>리눅스 컴퓨터</a:t>
            </a:r>
            <a:r>
              <a:rPr lang="en-US" altLang="ko-KR" sz="1400" b="1"/>
              <a:t>, </a:t>
            </a:r>
            <a:r>
              <a:rPr lang="ko-KR" altLang="en-US" sz="1400" b="1"/>
              <a:t>다중 사용자</a:t>
            </a:r>
            <a:r>
              <a:rPr lang="en-US" altLang="ko-KR" sz="1400" b="1"/>
              <a:t>)</a:t>
            </a:r>
            <a:endParaRPr lang="ko-KR" altLang="en-US" sz="1400" b="1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CAAC7523-93A7-4213-A20A-DFA841FCFDFC}"/>
              </a:ext>
            </a:extLst>
          </p:cNvPr>
          <p:cNvSpPr/>
          <p:nvPr/>
        </p:nvSpPr>
        <p:spPr>
          <a:xfrm>
            <a:off x="3141554" y="2422874"/>
            <a:ext cx="1152128" cy="86409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로그인</a:t>
            </a:r>
            <a:endParaRPr lang="en-US" altLang="ko-KR" sz="1200">
              <a:solidFill>
                <a:schemeClr val="tx1"/>
              </a:solidFill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</a:rPr>
              <a:t>프로세스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D9967A5B-C75E-47C3-9E32-6DBBF7360CD8}"/>
              </a:ext>
            </a:extLst>
          </p:cNvPr>
          <p:cNvSpPr/>
          <p:nvPr/>
        </p:nvSpPr>
        <p:spPr>
          <a:xfrm>
            <a:off x="3319096" y="3863034"/>
            <a:ext cx="545721" cy="552182"/>
          </a:xfrm>
          <a:prstGeom prst="ellipse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C00000"/>
                </a:solidFill>
              </a:rPr>
              <a:t>쉘</a:t>
            </a:r>
            <a:endParaRPr lang="en-US" altLang="ko-KR" sz="1200">
              <a:solidFill>
                <a:srgbClr val="C00000"/>
              </a:solidFill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29D61C91-B574-44B0-83FD-D4D9ADC7960B}"/>
              </a:ext>
            </a:extLst>
          </p:cNvPr>
          <p:cNvSpPr/>
          <p:nvPr/>
        </p:nvSpPr>
        <p:spPr>
          <a:xfrm>
            <a:off x="4437613" y="3849354"/>
            <a:ext cx="545721" cy="552182"/>
          </a:xfrm>
          <a:prstGeom prst="ellipse">
            <a:avLst/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C00000"/>
                </a:solidFill>
              </a:rPr>
              <a:t>쉘</a:t>
            </a:r>
            <a:endParaRPr lang="en-US" altLang="ko-KR" sz="1200">
              <a:solidFill>
                <a:srgbClr val="C00000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EF07A7E0-F615-429F-B42D-247BF35A1CAC}"/>
              </a:ext>
            </a:extLst>
          </p:cNvPr>
          <p:cNvSpPr/>
          <p:nvPr/>
        </p:nvSpPr>
        <p:spPr>
          <a:xfrm>
            <a:off x="6144244" y="3840773"/>
            <a:ext cx="545721" cy="552182"/>
          </a:xfrm>
          <a:prstGeom prst="ellipse">
            <a:avLst/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C00000"/>
                </a:solidFill>
              </a:rPr>
              <a:t>쉘</a:t>
            </a:r>
            <a:endParaRPr lang="en-US" altLang="ko-KR" sz="1200">
              <a:solidFill>
                <a:srgbClr val="C00000"/>
              </a:solidFill>
            </a:endParaRP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6A05159C-3081-486E-B85D-E9C892B98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904" y="5221257"/>
            <a:ext cx="1224136" cy="1010539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6E6EB5C6-525B-4CA4-9A90-BEB94903E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563" y="5198996"/>
            <a:ext cx="1497048" cy="1010539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BA2AA02B-45D6-43B1-AEC0-4BB3D5B7E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307" y="5149142"/>
            <a:ext cx="1637474" cy="1010539"/>
          </a:xfrm>
          <a:prstGeom prst="rect">
            <a:avLst/>
          </a:prstGeom>
        </p:spPr>
      </p:pic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CFD2DF90-F3FB-4217-8C0E-77A677680986}"/>
              </a:ext>
            </a:extLst>
          </p:cNvPr>
          <p:cNvCxnSpPr>
            <a:cxnSpLocks/>
            <a:stCxn id="68" idx="0"/>
            <a:endCxn id="65" idx="4"/>
          </p:cNvCxnSpPr>
          <p:nvPr/>
        </p:nvCxnSpPr>
        <p:spPr>
          <a:xfrm flipV="1">
            <a:off x="4579087" y="4401536"/>
            <a:ext cx="131387" cy="797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32C45EF-B2D5-45F9-B90A-33E88919F943}"/>
              </a:ext>
            </a:extLst>
          </p:cNvPr>
          <p:cNvSpPr txBox="1"/>
          <p:nvPr/>
        </p:nvSpPr>
        <p:spPr>
          <a:xfrm>
            <a:off x="4178035" y="487512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명령</a:t>
            </a: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47C85ABC-C68E-471C-89E4-49CA322BC72F}"/>
              </a:ext>
            </a:extLst>
          </p:cNvPr>
          <p:cNvCxnSpPr>
            <a:cxnSpLocks/>
            <a:endCxn id="65" idx="5"/>
          </p:cNvCxnSpPr>
          <p:nvPr/>
        </p:nvCxnSpPr>
        <p:spPr>
          <a:xfrm flipH="1" flipV="1">
            <a:off x="4903415" y="4320671"/>
            <a:ext cx="272861" cy="91051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E02CAB0-68EF-44BA-9426-87A380B91AB8}"/>
              </a:ext>
            </a:extLst>
          </p:cNvPr>
          <p:cNvSpPr txBox="1"/>
          <p:nvPr/>
        </p:nvSpPr>
        <p:spPr>
          <a:xfrm>
            <a:off x="4661342" y="476952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실행</a:t>
            </a:r>
            <a:endParaRPr lang="en-US" altLang="ko-KR" sz="1200"/>
          </a:p>
          <a:p>
            <a:r>
              <a:rPr lang="ko-KR" altLang="en-US" sz="1200"/>
              <a:t>결과</a:t>
            </a: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5C84ACA3-98A4-4D3D-A14B-AA4654B70D29}"/>
              </a:ext>
            </a:extLst>
          </p:cNvPr>
          <p:cNvCxnSpPr>
            <a:cxnSpLocks/>
            <a:endCxn id="66" idx="4"/>
          </p:cNvCxnSpPr>
          <p:nvPr/>
        </p:nvCxnSpPr>
        <p:spPr>
          <a:xfrm flipH="1" flipV="1">
            <a:off x="6417105" y="4392955"/>
            <a:ext cx="505837" cy="81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3D6249D-FE56-48B1-8E0D-BB9C3ADD9F87}"/>
              </a:ext>
            </a:extLst>
          </p:cNvPr>
          <p:cNvSpPr txBox="1"/>
          <p:nvPr/>
        </p:nvSpPr>
        <p:spPr>
          <a:xfrm>
            <a:off x="6363824" y="473129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명령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7C36325-03C0-4E4F-9AAD-568B165CB1FA}"/>
              </a:ext>
            </a:extLst>
          </p:cNvPr>
          <p:cNvCxnSpPr>
            <a:cxnSpLocks/>
            <a:endCxn id="66" idx="5"/>
          </p:cNvCxnSpPr>
          <p:nvPr/>
        </p:nvCxnSpPr>
        <p:spPr>
          <a:xfrm flipH="1" flipV="1">
            <a:off x="6610046" y="4312090"/>
            <a:ext cx="848969" cy="968843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6B72E1B-9DA2-453C-8CE6-C5E9298579B6}"/>
              </a:ext>
            </a:extLst>
          </p:cNvPr>
          <p:cNvSpPr txBox="1"/>
          <p:nvPr/>
        </p:nvSpPr>
        <p:spPr>
          <a:xfrm>
            <a:off x="7111362" y="4647866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실행</a:t>
            </a:r>
            <a:endParaRPr lang="en-US" altLang="ko-KR" sz="1200"/>
          </a:p>
          <a:p>
            <a:r>
              <a:rPr lang="ko-KR" altLang="en-US" sz="1200"/>
              <a:t>결과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D5F4497-52D5-4581-8BBD-3763E4021C73}"/>
              </a:ext>
            </a:extLst>
          </p:cNvPr>
          <p:cNvSpPr txBox="1"/>
          <p:nvPr/>
        </p:nvSpPr>
        <p:spPr>
          <a:xfrm>
            <a:off x="6870986" y="6209535"/>
            <a:ext cx="801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사용자 </a:t>
            </a:r>
            <a:r>
              <a:rPr lang="en-US" altLang="ko-KR" sz="1200"/>
              <a:t>A</a:t>
            </a:r>
            <a:endParaRPr lang="ko-KR" altLang="en-US" sz="12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87FC7ED-0042-4215-9991-9D1DDCE9DE6F}"/>
              </a:ext>
            </a:extLst>
          </p:cNvPr>
          <p:cNvSpPr txBox="1"/>
          <p:nvPr/>
        </p:nvSpPr>
        <p:spPr>
          <a:xfrm>
            <a:off x="4349807" y="6218116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사용자 </a:t>
            </a:r>
            <a:r>
              <a:rPr lang="en-US" altLang="ko-KR" sz="1200"/>
              <a:t>B</a:t>
            </a:r>
            <a:endParaRPr lang="ko-KR" altLang="en-US" sz="12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6B96AFB-2C85-4727-B6AF-BE1F17A7A5A9}"/>
              </a:ext>
            </a:extLst>
          </p:cNvPr>
          <p:cNvSpPr txBox="1"/>
          <p:nvPr/>
        </p:nvSpPr>
        <p:spPr>
          <a:xfrm>
            <a:off x="1636060" y="6248345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사용자 </a:t>
            </a:r>
            <a:r>
              <a:rPr lang="en-US" altLang="ko-KR" sz="1200"/>
              <a:t>C</a:t>
            </a:r>
            <a:endParaRPr lang="ko-KR" altLang="en-US" sz="1200"/>
          </a:p>
        </p:txBody>
      </p:sp>
      <p:cxnSp>
        <p:nvCxnSpPr>
          <p:cNvPr id="81" name="연결선: 구부러짐 80">
            <a:extLst>
              <a:ext uri="{FF2B5EF4-FFF2-40B4-BE49-F238E27FC236}">
                <a16:creationId xmlns:a16="http://schemas.microsoft.com/office/drawing/2014/main" id="{72F39599-40CE-4E33-B5C0-8B1A2E3BB037}"/>
              </a:ext>
            </a:extLst>
          </p:cNvPr>
          <p:cNvCxnSpPr>
            <a:cxnSpLocks/>
            <a:endCxn id="63" idx="2"/>
          </p:cNvCxnSpPr>
          <p:nvPr/>
        </p:nvCxnSpPr>
        <p:spPr>
          <a:xfrm rot="5400000" flipH="1" flipV="1">
            <a:off x="1168894" y="3330534"/>
            <a:ext cx="2448272" cy="1497048"/>
          </a:xfrm>
          <a:prstGeom prst="curved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40C49EE2-C923-4A48-9112-76FFC52B4D4C}"/>
              </a:ext>
            </a:extLst>
          </p:cNvPr>
          <p:cNvSpPr txBox="1"/>
          <p:nvPr/>
        </p:nvSpPr>
        <p:spPr>
          <a:xfrm>
            <a:off x="1341354" y="323615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로그인</a:t>
            </a:r>
            <a:endParaRPr lang="en-US" altLang="ko-KR" sz="1200"/>
          </a:p>
          <a:p>
            <a:pPr algn="ctr"/>
            <a:r>
              <a:rPr lang="ko-KR" altLang="en-US" sz="1200"/>
              <a:t>프롬프트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7808549-AEE9-4CEF-95FF-8EF1A8B99BF6}"/>
              </a:ext>
            </a:extLst>
          </p:cNvPr>
          <p:cNvSpPr txBox="1"/>
          <p:nvPr/>
        </p:nvSpPr>
        <p:spPr>
          <a:xfrm>
            <a:off x="2200891" y="4089838"/>
            <a:ext cx="89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로그인 </a:t>
            </a:r>
            <a:r>
              <a:rPr lang="en-US" altLang="ko-KR" sz="1200"/>
              <a:t>ID</a:t>
            </a:r>
            <a:r>
              <a:rPr lang="ko-KR" altLang="en-US" sz="1200"/>
              <a:t>와 암호</a:t>
            </a:r>
            <a:endParaRPr lang="en-US" altLang="ko-KR" sz="1200"/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5E007AFB-DD22-4BC3-A994-CD94EBF11656}"/>
              </a:ext>
            </a:extLst>
          </p:cNvPr>
          <p:cNvCxnSpPr>
            <a:cxnSpLocks/>
            <a:endCxn id="65" idx="3"/>
          </p:cNvCxnSpPr>
          <p:nvPr/>
        </p:nvCxnSpPr>
        <p:spPr>
          <a:xfrm flipV="1">
            <a:off x="4146994" y="4320671"/>
            <a:ext cx="370538" cy="91051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EABBADC7-A2B6-46FD-A27F-32471BF3CBBF}"/>
              </a:ext>
            </a:extLst>
          </p:cNvPr>
          <p:cNvSpPr txBox="1"/>
          <p:nvPr/>
        </p:nvSpPr>
        <p:spPr>
          <a:xfrm>
            <a:off x="2379516" y="485252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쉘 프롬프트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B9FCCCA-BD94-4113-93FF-255AB5E234A9}"/>
              </a:ext>
            </a:extLst>
          </p:cNvPr>
          <p:cNvSpPr txBox="1"/>
          <p:nvPr/>
        </p:nvSpPr>
        <p:spPr>
          <a:xfrm>
            <a:off x="3419166" y="4694471"/>
            <a:ext cx="875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쉘</a:t>
            </a:r>
            <a:endParaRPr lang="en-US" altLang="ko-KR" sz="1200"/>
          </a:p>
          <a:p>
            <a:pPr algn="ctr"/>
            <a:r>
              <a:rPr lang="ko-KR" altLang="en-US" sz="1200"/>
              <a:t>프롬프트</a:t>
            </a: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61658BEF-8E29-4660-908E-9FFEC38CC526}"/>
              </a:ext>
            </a:extLst>
          </p:cNvPr>
          <p:cNvCxnSpPr>
            <a:cxnSpLocks/>
            <a:stCxn id="63" idx="4"/>
            <a:endCxn id="64" idx="0"/>
          </p:cNvCxnSpPr>
          <p:nvPr/>
        </p:nvCxnSpPr>
        <p:spPr>
          <a:xfrm flipH="1">
            <a:off x="3591957" y="3286970"/>
            <a:ext cx="125661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CCCA6E91-D2B1-43A8-B209-5C906A344896}"/>
              </a:ext>
            </a:extLst>
          </p:cNvPr>
          <p:cNvCxnSpPr>
            <a:cxnSpLocks/>
            <a:stCxn id="63" idx="5"/>
            <a:endCxn id="65" idx="0"/>
          </p:cNvCxnSpPr>
          <p:nvPr/>
        </p:nvCxnSpPr>
        <p:spPr>
          <a:xfrm>
            <a:off x="4124957" y="3160426"/>
            <a:ext cx="585517" cy="688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7B6BA199-9987-4778-A497-F34745C06B03}"/>
              </a:ext>
            </a:extLst>
          </p:cNvPr>
          <p:cNvCxnSpPr>
            <a:cxnSpLocks/>
            <a:stCxn id="63" idx="6"/>
            <a:endCxn id="66" idx="0"/>
          </p:cNvCxnSpPr>
          <p:nvPr/>
        </p:nvCxnSpPr>
        <p:spPr>
          <a:xfrm>
            <a:off x="4293682" y="2854922"/>
            <a:ext cx="2123423" cy="985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B30257A3-8EAF-47BA-9159-04A40E78F64C}"/>
              </a:ext>
            </a:extLst>
          </p:cNvPr>
          <p:cNvSpPr txBox="1"/>
          <p:nvPr/>
        </p:nvSpPr>
        <p:spPr>
          <a:xfrm>
            <a:off x="5690087" y="4709751"/>
            <a:ext cx="813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쉘</a:t>
            </a:r>
            <a:endParaRPr lang="en-US" altLang="ko-KR" sz="1200"/>
          </a:p>
          <a:p>
            <a:pPr algn="ctr"/>
            <a:r>
              <a:rPr lang="ko-KR" altLang="en-US" sz="1200"/>
              <a:t>프롬프트</a:t>
            </a: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507F6F33-6D17-4F55-ABB2-1BEC5B52E5F0}"/>
              </a:ext>
            </a:extLst>
          </p:cNvPr>
          <p:cNvCxnSpPr>
            <a:cxnSpLocks/>
            <a:endCxn id="66" idx="3"/>
          </p:cNvCxnSpPr>
          <p:nvPr/>
        </p:nvCxnSpPr>
        <p:spPr>
          <a:xfrm flipH="1" flipV="1">
            <a:off x="6224163" y="4312090"/>
            <a:ext cx="208341" cy="968843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F8D5DCE-5AF6-4ACA-A8FB-45CE70DBE1FD}"/>
              </a:ext>
            </a:extLst>
          </p:cNvPr>
          <p:cNvSpPr txBox="1"/>
          <p:nvPr/>
        </p:nvSpPr>
        <p:spPr>
          <a:xfrm>
            <a:off x="1683121" y="546330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터미널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604D1CF-4D02-40CE-A1EA-83E941F82EFC}"/>
              </a:ext>
            </a:extLst>
          </p:cNvPr>
          <p:cNvSpPr txBox="1"/>
          <p:nvPr/>
        </p:nvSpPr>
        <p:spPr>
          <a:xfrm>
            <a:off x="4249241" y="544806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터미널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358253B-055B-43C9-86FE-18F4B571EE51}"/>
              </a:ext>
            </a:extLst>
          </p:cNvPr>
          <p:cNvSpPr txBox="1"/>
          <p:nvPr/>
        </p:nvSpPr>
        <p:spPr>
          <a:xfrm>
            <a:off x="6725369" y="540923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터미널</a:t>
            </a: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51C75901-881F-4C61-8E8A-20E2BAD7694B}"/>
              </a:ext>
            </a:extLst>
          </p:cNvPr>
          <p:cNvSpPr/>
          <p:nvPr/>
        </p:nvSpPr>
        <p:spPr>
          <a:xfrm>
            <a:off x="1986844" y="3059289"/>
            <a:ext cx="1270000" cy="2229555"/>
          </a:xfrm>
          <a:custGeom>
            <a:avLst/>
            <a:gdLst>
              <a:gd name="connsiteX0" fmla="*/ 0 w 1270000"/>
              <a:gd name="connsiteY0" fmla="*/ 2229555 h 2229555"/>
              <a:gd name="connsiteX1" fmla="*/ 468489 w 1270000"/>
              <a:gd name="connsiteY1" fmla="*/ 778933 h 2229555"/>
              <a:gd name="connsiteX2" fmla="*/ 1270000 w 1270000"/>
              <a:gd name="connsiteY2" fmla="*/ 0 h 2229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0000" h="2229555">
                <a:moveTo>
                  <a:pt x="0" y="2229555"/>
                </a:moveTo>
                <a:cubicBezTo>
                  <a:pt x="128411" y="1690040"/>
                  <a:pt x="256822" y="1150525"/>
                  <a:pt x="468489" y="778933"/>
                </a:cubicBezTo>
                <a:cubicBezTo>
                  <a:pt x="680156" y="407341"/>
                  <a:pt x="975078" y="203670"/>
                  <a:pt x="1270000" y="0"/>
                </a:cubicBezTo>
              </a:path>
            </a:pathLst>
          </a:custGeom>
          <a:noFill/>
          <a:ln w="127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2B0EBC-4A35-4BFA-B2CE-F7C7EDD97D73}"/>
              </a:ext>
            </a:extLst>
          </p:cNvPr>
          <p:cNvSpPr txBox="1"/>
          <p:nvPr/>
        </p:nvSpPr>
        <p:spPr>
          <a:xfrm>
            <a:off x="3167604" y="337567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생성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EC188-86AF-413C-B57E-F324B9B021A1}"/>
              </a:ext>
            </a:extLst>
          </p:cNvPr>
          <p:cNvSpPr txBox="1"/>
          <p:nvPr/>
        </p:nvSpPr>
        <p:spPr>
          <a:xfrm>
            <a:off x="5470837" y="320896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생성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BF6849-96BC-4A36-AA78-0D4F57694923}"/>
              </a:ext>
            </a:extLst>
          </p:cNvPr>
          <p:cNvSpPr txBox="1"/>
          <p:nvPr/>
        </p:nvSpPr>
        <p:spPr>
          <a:xfrm>
            <a:off x="4374832" y="327782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생성</a:t>
            </a: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37AAA731-DB56-4A8A-89E2-52443D9FF045}"/>
              </a:ext>
            </a:extLst>
          </p:cNvPr>
          <p:cNvSpPr/>
          <p:nvPr/>
        </p:nvSpPr>
        <p:spPr>
          <a:xfrm>
            <a:off x="2348089" y="4357511"/>
            <a:ext cx="1061155" cy="914400"/>
          </a:xfrm>
          <a:custGeom>
            <a:avLst/>
            <a:gdLst>
              <a:gd name="connsiteX0" fmla="*/ 1061155 w 1061155"/>
              <a:gd name="connsiteY0" fmla="*/ 0 h 914400"/>
              <a:gd name="connsiteX1" fmla="*/ 750711 w 1061155"/>
              <a:gd name="connsiteY1" fmla="*/ 174978 h 914400"/>
              <a:gd name="connsiteX2" fmla="*/ 231422 w 1061155"/>
              <a:gd name="connsiteY2" fmla="*/ 423333 h 914400"/>
              <a:gd name="connsiteX3" fmla="*/ 0 w 1061155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1155" h="914400">
                <a:moveTo>
                  <a:pt x="1061155" y="0"/>
                </a:moveTo>
                <a:cubicBezTo>
                  <a:pt x="975077" y="52211"/>
                  <a:pt x="889000" y="104423"/>
                  <a:pt x="750711" y="174978"/>
                </a:cubicBezTo>
                <a:cubicBezTo>
                  <a:pt x="612422" y="245533"/>
                  <a:pt x="356540" y="300096"/>
                  <a:pt x="231422" y="423333"/>
                </a:cubicBezTo>
                <a:cubicBezTo>
                  <a:pt x="106304" y="546570"/>
                  <a:pt x="53152" y="730485"/>
                  <a:pt x="0" y="914400"/>
                </a:cubicBezTo>
              </a:path>
            </a:pathLst>
          </a:custGeom>
          <a:noFill/>
          <a:ln w="127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3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F4059-2971-4F52-82CF-5350D0E3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쉘과 프롬프트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89A566-DFE9-4887-A9AB-4F9CAA0EF1D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1253142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/>
              <a:t>쉘</a:t>
            </a:r>
            <a:endParaRPr lang="en-US" altLang="ko-KR" dirty="0"/>
          </a:p>
          <a:p>
            <a:pPr lvl="1"/>
            <a:r>
              <a:rPr lang="ko-KR" altLang="en-US" dirty="0"/>
              <a:t>사용자로부터 명령을 입력 </a:t>
            </a:r>
            <a:r>
              <a:rPr lang="ko-KR" altLang="en-US"/>
              <a:t>받아 실행해주는 프로그램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프롬프트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244E8A-F8C4-4F5E-86B1-928E93BA1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7A9C1C-87B0-48FE-831A-42CF08268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43" y="2711625"/>
            <a:ext cx="4536504" cy="20822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4A22536-8FA5-41DB-AB6A-B1BCBA0B5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5154143"/>
            <a:ext cx="4824536" cy="1587225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BB3FD36-A528-4FD3-9F9A-A0F98EAB5F2D}"/>
              </a:ext>
            </a:extLst>
          </p:cNvPr>
          <p:cNvSpPr/>
          <p:nvPr/>
        </p:nvSpPr>
        <p:spPr>
          <a:xfrm>
            <a:off x="1115616" y="2636912"/>
            <a:ext cx="2376264" cy="648072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37C1DDD-2218-4D3A-A0F3-1B1FDC5868B2}"/>
              </a:ext>
            </a:extLst>
          </p:cNvPr>
          <p:cNvSpPr/>
          <p:nvPr/>
        </p:nvSpPr>
        <p:spPr>
          <a:xfrm>
            <a:off x="1115616" y="5013176"/>
            <a:ext cx="2376264" cy="648072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572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376A20-652C-4D05-B959-18441F8F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쉘 동작 사례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F345C6-0FF4-4B48-A46B-56ED38258B8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ko-KR" altLang="en-US" dirty="0"/>
              <a:t>사용자가 입력한 </a:t>
            </a:r>
            <a:r>
              <a:rPr lang="en-US" altLang="ko-KR" dirty="0" err="1"/>
              <a:t>ps</a:t>
            </a:r>
            <a:r>
              <a:rPr lang="en-US" altLang="ko-KR" dirty="0"/>
              <a:t> </a:t>
            </a:r>
            <a:r>
              <a:rPr lang="ko-KR" altLang="en-US" dirty="0"/>
              <a:t>명령과 </a:t>
            </a:r>
            <a:r>
              <a:rPr lang="en-US" altLang="ko-KR" dirty="0"/>
              <a:t>cd </a:t>
            </a:r>
            <a:r>
              <a:rPr lang="ko-KR" altLang="en-US" dirty="0"/>
              <a:t>명령을 실행하는 사례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175C1A-7C3B-4CA3-95C7-C5E6CAE94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7B50F0-2FA7-416C-ABA3-84B14EBB39B9}"/>
              </a:ext>
            </a:extLst>
          </p:cNvPr>
          <p:cNvSpPr/>
          <p:nvPr/>
        </p:nvSpPr>
        <p:spPr>
          <a:xfrm>
            <a:off x="1331640" y="1916832"/>
            <a:ext cx="5391264" cy="156966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</a:t>
            </a:r>
            <a:r>
              <a:rPr lang="en-US" altLang="ko-KR" sz="1600" b="1" dirty="0" err="1"/>
              <a:t>ps</a:t>
            </a:r>
            <a:endParaRPr lang="en-US" altLang="ko-KR" sz="1600" b="1" dirty="0"/>
          </a:p>
          <a:p>
            <a:r>
              <a:rPr lang="en-US" altLang="ko-KR" sz="1600" dirty="0"/>
              <a:t>PID TTY TIME CMD</a:t>
            </a:r>
          </a:p>
          <a:p>
            <a:r>
              <a:rPr lang="en-US" altLang="ko-KR" sz="1600" dirty="0"/>
              <a:t>20888 pts/0 00:00:00 bash</a:t>
            </a:r>
          </a:p>
          <a:p>
            <a:r>
              <a:rPr lang="en-US" altLang="ko-KR" sz="1600" dirty="0"/>
              <a:t>24382 pts/0 00:00:00 </a:t>
            </a:r>
            <a:r>
              <a:rPr lang="en-US" altLang="ko-KR" sz="1600" dirty="0" err="1"/>
              <a:t>ps</a:t>
            </a:r>
            <a:endParaRPr lang="en-US" altLang="ko-KR" sz="1600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cd /</a:t>
            </a:r>
            <a:r>
              <a:rPr lang="en-US" altLang="ko-KR" sz="1600" b="1" dirty="0" err="1"/>
              <a:t>etc</a:t>
            </a:r>
            <a:endParaRPr lang="en-US" altLang="ko-KR" sz="1400" b="1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:/</a:t>
            </a:r>
            <a:r>
              <a:rPr lang="en-US" altLang="ko-KR" sz="1600" b="1" dirty="0" err="1"/>
              <a:t>etc</a:t>
            </a:r>
            <a:r>
              <a:rPr lang="en-US" altLang="ko-KR" sz="1600" b="1" dirty="0"/>
              <a:t> $</a:t>
            </a:r>
          </a:p>
        </p:txBody>
      </p:sp>
    </p:spTree>
    <p:extLst>
      <p:ext uri="{BB962C8B-B14F-4D97-AF65-F5344CB8AC3E}">
        <p14:creationId xmlns:p14="http://schemas.microsoft.com/office/powerpoint/2010/main" val="1547406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7DA39CF-E966-4A81-A745-57E287044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ADFD973-CDE9-469B-83B9-6C4EC925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3.2 </a:t>
            </a:r>
            <a:r>
              <a:rPr lang="ko-KR" altLang="en-US"/>
              <a:t>사용자 </a:t>
            </a:r>
            <a:r>
              <a:rPr lang="ko-KR" altLang="en-US" dirty="0"/>
              <a:t>관리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A36EDA-A0F5-4AA9-AC72-831B509BB2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528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F4ECD-7E19-4CDE-870B-5E75B6EED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유형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4CD3CF-E26B-480E-B260-A397B650B6B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루트 사용자</a:t>
            </a:r>
            <a:endParaRPr lang="en-US" altLang="ko-KR" dirty="0"/>
          </a:p>
          <a:p>
            <a:pPr lvl="1"/>
            <a:r>
              <a:rPr lang="ko-KR" altLang="en-US"/>
              <a:t>리눅스 </a:t>
            </a:r>
            <a:r>
              <a:rPr lang="ko-KR" altLang="en-US" dirty="0"/>
              <a:t>설치 시 </a:t>
            </a:r>
            <a:r>
              <a:rPr lang="ko-KR" altLang="en-US"/>
              <a:t>자동으로 생성되며</a:t>
            </a:r>
            <a:r>
              <a:rPr lang="en-US" altLang="ko-KR"/>
              <a:t>, </a:t>
            </a:r>
            <a:r>
              <a:rPr lang="ko-KR" altLang="en-US" dirty="0"/>
              <a:t>계정 이름은 </a:t>
            </a:r>
            <a:r>
              <a:rPr lang="en-US" altLang="ko-KR" dirty="0"/>
              <a:t>root</a:t>
            </a:r>
            <a:endParaRPr lang="ko-KR" altLang="en-US" dirty="0"/>
          </a:p>
          <a:p>
            <a:pPr lvl="1"/>
            <a:r>
              <a:rPr lang="ko-KR" altLang="en-US"/>
              <a:t>시스템에서 </a:t>
            </a:r>
            <a:r>
              <a:rPr lang="ko-KR" altLang="en-US" dirty="0"/>
              <a:t>가장 높은 </a:t>
            </a:r>
            <a:r>
              <a:rPr lang="ko-KR" altLang="en-US"/>
              <a:t>권한을 가짐</a:t>
            </a:r>
            <a:endParaRPr lang="en-US" altLang="ko-KR"/>
          </a:p>
          <a:p>
            <a:pPr lvl="2"/>
            <a:r>
              <a:rPr lang="ko-KR" altLang="en-US"/>
              <a:t>어떤 </a:t>
            </a:r>
            <a:r>
              <a:rPr lang="ko-KR" altLang="en-US" dirty="0"/>
              <a:t>디렉터리에도 진입 가능</a:t>
            </a:r>
            <a:endParaRPr lang="en-US" altLang="ko-KR" dirty="0"/>
          </a:p>
          <a:p>
            <a:pPr lvl="2"/>
            <a:r>
              <a:rPr lang="ko-KR" altLang="en-US"/>
              <a:t>어떤 파일도 읽거나 쓰거나 삭제 가능</a:t>
            </a:r>
            <a:endParaRPr lang="en-US" altLang="ko-KR"/>
          </a:p>
          <a:p>
            <a:pPr lvl="2"/>
            <a:r>
              <a:rPr lang="ko-KR" altLang="en-US"/>
              <a:t>어떤 디렉터리에도 파일 생성 가능</a:t>
            </a:r>
            <a:endParaRPr lang="ko-KR" altLang="en-US" dirty="0"/>
          </a:p>
          <a:p>
            <a:pPr lvl="1"/>
            <a:r>
              <a:rPr lang="ko-KR" altLang="en-US"/>
              <a:t>수퍼 </a:t>
            </a:r>
            <a:r>
              <a:rPr lang="ko-KR" altLang="en-US" dirty="0"/>
              <a:t>사용자</a:t>
            </a:r>
            <a:r>
              <a:rPr lang="en-US" altLang="ko-KR" dirty="0"/>
              <a:t>(super user)</a:t>
            </a:r>
            <a:r>
              <a:rPr lang="ko-KR" altLang="en-US" dirty="0"/>
              <a:t>라고도 함</a:t>
            </a:r>
            <a:endParaRPr lang="en-US" altLang="ko-KR" dirty="0"/>
          </a:p>
          <a:p>
            <a:r>
              <a:rPr lang="ko-KR" altLang="en-US" dirty="0"/>
              <a:t>일반 사용자</a:t>
            </a:r>
            <a:endParaRPr lang="en-US" altLang="ko-KR" dirty="0"/>
          </a:p>
          <a:p>
            <a:pPr lvl="1"/>
            <a:r>
              <a:rPr lang="ko-KR" altLang="en-US" dirty="0"/>
              <a:t>로그인 후 자신의 </a:t>
            </a:r>
            <a:r>
              <a:rPr lang="ko-KR" altLang="en-US"/>
              <a:t>홈 디렉터리에 </a:t>
            </a:r>
            <a:r>
              <a:rPr lang="ko-KR" altLang="en-US" dirty="0"/>
              <a:t>자유롭게 디렉터리나 파일을 만들 수 있음</a:t>
            </a:r>
            <a:endParaRPr lang="en-US" altLang="ko-KR" dirty="0"/>
          </a:p>
          <a:p>
            <a:pPr lvl="2"/>
            <a:r>
              <a:rPr lang="ko-KR" altLang="en-US" dirty="0"/>
              <a:t>다른 </a:t>
            </a:r>
            <a:r>
              <a:rPr lang="ko-KR" altLang="en-US"/>
              <a:t>디렉터리나 파일은 권한이 </a:t>
            </a:r>
            <a:r>
              <a:rPr lang="ko-KR" altLang="en-US" dirty="0"/>
              <a:t>부여된 </a:t>
            </a:r>
            <a:r>
              <a:rPr lang="ko-KR" altLang="en-US"/>
              <a:t>경우에만 액세스 </a:t>
            </a:r>
            <a:r>
              <a:rPr lang="ko-KR" altLang="en-US" dirty="0"/>
              <a:t>허용</a:t>
            </a:r>
          </a:p>
          <a:p>
            <a:pPr lvl="1"/>
            <a:r>
              <a:rPr lang="ko-KR" altLang="en-US" dirty="0" err="1"/>
              <a:t>라즈베리파이에서</a:t>
            </a:r>
            <a:r>
              <a:rPr lang="ko-KR" altLang="en-US" dirty="0"/>
              <a:t> 대표적인 일반사용자</a:t>
            </a:r>
            <a:r>
              <a:rPr lang="en-US" altLang="ko-KR" dirty="0"/>
              <a:t>: pi</a:t>
            </a:r>
            <a:endParaRPr lang="ko-KR" altLang="en-US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C532F-B28C-4165-A115-62D175BB5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187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F33FE4-1117-4194-9ED2-BC35B03F9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</a:t>
            </a:r>
            <a:r>
              <a:rPr lang="en-US" altLang="ko-KR" dirty="0"/>
              <a:t> </a:t>
            </a:r>
            <a:r>
              <a:rPr lang="ko-KR" altLang="en-US" dirty="0"/>
              <a:t>계정 정보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A88FD5-E7F3-4391-8914-D5A858E781C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사용자 계정과 관련된 관리 파일 </a:t>
            </a:r>
            <a:r>
              <a:rPr lang="en-US" altLang="ko-KR"/>
              <a:t>4</a:t>
            </a:r>
            <a:r>
              <a:rPr lang="ko-KR" altLang="en-US"/>
              <a:t>개</a:t>
            </a:r>
            <a:endParaRPr lang="en-US" altLang="ko-KR" dirty="0"/>
          </a:p>
          <a:p>
            <a:pPr lvl="1"/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/passwd, /</a:t>
            </a:r>
            <a:r>
              <a:rPr lang="en-US" altLang="ko-KR" dirty="0" err="1"/>
              <a:t>etc</a:t>
            </a:r>
            <a:r>
              <a:rPr lang="en-US" altLang="ko-KR" dirty="0"/>
              <a:t>/shadow, /</a:t>
            </a:r>
            <a:r>
              <a:rPr lang="en-US" altLang="ko-KR" dirty="0" err="1"/>
              <a:t>etc</a:t>
            </a:r>
            <a:r>
              <a:rPr lang="en-US" altLang="ko-KR" dirty="0"/>
              <a:t>/group, /</a:t>
            </a:r>
            <a:r>
              <a:rPr lang="en-US" altLang="ko-KR" dirty="0" err="1"/>
              <a:t>etc</a:t>
            </a:r>
            <a:r>
              <a:rPr lang="en-US" altLang="ko-KR"/>
              <a:t>/gshadow</a:t>
            </a:r>
            <a:r>
              <a:rPr lang="ko-KR" altLang="en-US"/>
              <a:t> 텍스트</a:t>
            </a:r>
            <a:endParaRPr lang="en-US" altLang="ko-KR" dirty="0"/>
          </a:p>
          <a:p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/passwd</a:t>
            </a:r>
            <a:r>
              <a:rPr lang="ko-KR" altLang="en-US" dirty="0"/>
              <a:t> 파일</a:t>
            </a:r>
            <a:endParaRPr lang="en-US" altLang="ko-KR" dirty="0"/>
          </a:p>
          <a:p>
            <a:pPr lvl="1"/>
            <a:r>
              <a:rPr lang="ko-KR" altLang="en-US" dirty="0"/>
              <a:t>모든 </a:t>
            </a:r>
            <a:r>
              <a:rPr lang="ko-KR" altLang="en-US"/>
              <a:t>사용자 계정 </a:t>
            </a:r>
            <a:r>
              <a:rPr lang="ko-KR" altLang="en-US" dirty="0"/>
              <a:t>저장</a:t>
            </a:r>
          </a:p>
          <a:p>
            <a:pPr lvl="1"/>
            <a:r>
              <a:rPr lang="ko-KR" altLang="en-US" dirty="0"/>
              <a:t>로그인 </a:t>
            </a:r>
            <a:r>
              <a:rPr lang="ko-KR" altLang="en-US"/>
              <a:t>과정에서 시스템에 </a:t>
            </a:r>
            <a:r>
              <a:rPr lang="ko-KR" altLang="en-US" dirty="0"/>
              <a:t>존재하는 사용자인지 판단할 때 사용</a:t>
            </a:r>
          </a:p>
          <a:p>
            <a:pPr lvl="1"/>
            <a:r>
              <a:rPr lang="en-US" altLang="ko-KR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/passwd </a:t>
            </a:r>
            <a:r>
              <a:rPr lang="ko-KR" altLang="en-US" dirty="0"/>
              <a:t>파일의 </a:t>
            </a:r>
            <a:r>
              <a:rPr lang="ko-KR" altLang="en-US"/>
              <a:t>한 행</a:t>
            </a:r>
            <a:endParaRPr lang="en-US" altLang="ko-KR"/>
          </a:p>
          <a:p>
            <a:pPr lvl="2"/>
            <a:r>
              <a:rPr lang="ko-KR" altLang="en-US"/>
              <a:t>하나의 사용자 계정에 대한 </a:t>
            </a:r>
            <a:r>
              <a:rPr lang="en-US" altLang="ko-KR"/>
              <a:t>7</a:t>
            </a:r>
            <a:r>
              <a:rPr lang="ko-KR" altLang="en-US"/>
              <a:t>가지 정보 포함</a:t>
            </a:r>
            <a:endParaRPr lang="en-US" altLang="ko-KR"/>
          </a:p>
          <a:p>
            <a:pPr lvl="2"/>
            <a:r>
              <a:rPr lang="ko-KR" altLang="en-US"/>
              <a:t>사용자 이름</a:t>
            </a:r>
            <a:endParaRPr lang="en-US" altLang="ko-KR" dirty="0"/>
          </a:p>
          <a:p>
            <a:pPr lvl="2"/>
            <a:r>
              <a:rPr lang="ko-KR" altLang="en-US"/>
              <a:t>암호 표시 문자</a:t>
            </a:r>
            <a:endParaRPr lang="en-US" altLang="ko-KR"/>
          </a:p>
          <a:p>
            <a:pPr lvl="2"/>
            <a:r>
              <a:rPr lang="en-US" altLang="ko-KR"/>
              <a:t>UID</a:t>
            </a:r>
            <a:r>
              <a:rPr lang="en-US" altLang="ko-KR" dirty="0"/>
              <a:t>(User </a:t>
            </a:r>
            <a:r>
              <a:rPr lang="en-US" altLang="ko-KR"/>
              <a:t>ID)</a:t>
            </a:r>
          </a:p>
          <a:p>
            <a:pPr lvl="2"/>
            <a:r>
              <a:rPr lang="en-US" altLang="ko-KR"/>
              <a:t>GID</a:t>
            </a:r>
            <a:r>
              <a:rPr lang="en-US" altLang="ko-KR" dirty="0"/>
              <a:t>(Group </a:t>
            </a:r>
            <a:r>
              <a:rPr lang="en-US" altLang="ko-KR"/>
              <a:t>ID)</a:t>
            </a:r>
          </a:p>
          <a:p>
            <a:pPr lvl="2"/>
            <a:r>
              <a:rPr lang="ko-KR" altLang="en-US"/>
              <a:t>사용자 </a:t>
            </a:r>
            <a:r>
              <a:rPr lang="ko-KR" altLang="en-US" dirty="0"/>
              <a:t>계정에 </a:t>
            </a:r>
            <a:r>
              <a:rPr lang="ko-KR" altLang="en-US"/>
              <a:t>대한 설명</a:t>
            </a:r>
            <a:endParaRPr lang="en-US" altLang="ko-KR"/>
          </a:p>
          <a:p>
            <a:pPr lvl="2"/>
            <a:r>
              <a:rPr lang="ko-KR" altLang="en-US"/>
              <a:t>홈 디렉터리</a:t>
            </a:r>
            <a:endParaRPr lang="en-US" altLang="ko-KR"/>
          </a:p>
          <a:p>
            <a:pPr lvl="2"/>
            <a:r>
              <a:rPr lang="ko-KR" altLang="en-US"/>
              <a:t>로그인 쉘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4DDB98-E240-4423-AFFD-047361713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591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41E72-F415-4B8D-9080-A9EC6142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/etc/passwd</a:t>
            </a:r>
            <a:r>
              <a:rPr lang="ko-KR" altLang="en-US"/>
              <a:t> 파일 내용 예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B534A3-ECBB-4BD1-B4CE-A977F2E50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6CEA90-E8BD-4F69-A555-60A93E21F19F}"/>
              </a:ext>
            </a:extLst>
          </p:cNvPr>
          <p:cNvSpPr/>
          <p:nvPr/>
        </p:nvSpPr>
        <p:spPr>
          <a:xfrm>
            <a:off x="683568" y="1412776"/>
            <a:ext cx="7848872" cy="477053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FR" altLang="ko-KR" sz="1600" b="1" dirty="0"/>
              <a:t>pi@pi:~ $ cat /etc/passwd</a:t>
            </a:r>
          </a:p>
          <a:p>
            <a:r>
              <a:rPr lang="nl-NL" altLang="ko-KR" sz="1600" dirty="0"/>
              <a:t>root:x:0:0:root:/root:/bin/bash</a:t>
            </a:r>
          </a:p>
          <a:p>
            <a:r>
              <a:rPr lang="en-US" altLang="ko-KR" sz="1600" dirty="0"/>
              <a:t>daemon:x:1:1:daemon:/</a:t>
            </a:r>
            <a:r>
              <a:rPr lang="en-US" altLang="ko-KR" sz="1600" dirty="0" err="1"/>
              <a:t>usr</a:t>
            </a:r>
            <a:r>
              <a:rPr lang="en-US" altLang="ko-KR" sz="1600" dirty="0"/>
              <a:t>/</a:t>
            </a:r>
            <a:r>
              <a:rPr lang="en-US" altLang="ko-KR" sz="1600" dirty="0" err="1"/>
              <a:t>sbin</a:t>
            </a:r>
            <a:r>
              <a:rPr lang="en-US" altLang="ko-KR" sz="1600" dirty="0"/>
              <a:t>:/</a:t>
            </a:r>
            <a:r>
              <a:rPr lang="en-US" altLang="ko-KR" sz="1600" dirty="0" err="1"/>
              <a:t>usr</a:t>
            </a:r>
            <a:r>
              <a:rPr lang="en-US" altLang="ko-KR" sz="1600" dirty="0"/>
              <a:t>/</a:t>
            </a:r>
            <a:r>
              <a:rPr lang="en-US" altLang="ko-KR" sz="1600" dirty="0" err="1"/>
              <a:t>sbin</a:t>
            </a:r>
            <a:r>
              <a:rPr lang="en-US" altLang="ko-KR" sz="1600" dirty="0"/>
              <a:t>/</a:t>
            </a:r>
            <a:r>
              <a:rPr lang="en-US" altLang="ko-KR" sz="1600" dirty="0" err="1"/>
              <a:t>nologin</a:t>
            </a:r>
            <a:endParaRPr lang="en-US" altLang="ko-KR" sz="1600" dirty="0"/>
          </a:p>
          <a:p>
            <a:r>
              <a:rPr lang="de-DE" altLang="ko-KR" sz="1600" dirty="0"/>
              <a:t>bin:x:2:2:bin:/bin:/usr/sbin/nologin</a:t>
            </a:r>
          </a:p>
          <a:p>
            <a:r>
              <a:rPr lang="en-US" altLang="ko-KR" sz="1600" dirty="0"/>
              <a:t>lp:x:7:7:lp:/var/spool/</a:t>
            </a:r>
            <a:r>
              <a:rPr lang="en-US" altLang="ko-KR" sz="1600" dirty="0" err="1"/>
              <a:t>lpd</a:t>
            </a:r>
            <a:r>
              <a:rPr lang="en-US" altLang="ko-KR" sz="1600" dirty="0"/>
              <a:t>:/</a:t>
            </a:r>
            <a:r>
              <a:rPr lang="en-US" altLang="ko-KR" sz="1600" dirty="0" err="1"/>
              <a:t>usr</a:t>
            </a:r>
            <a:r>
              <a:rPr lang="en-US" altLang="ko-KR" sz="1600" dirty="0"/>
              <a:t>/</a:t>
            </a:r>
            <a:r>
              <a:rPr lang="en-US" altLang="ko-KR" sz="1600" dirty="0" err="1"/>
              <a:t>sbin</a:t>
            </a:r>
            <a:r>
              <a:rPr lang="en-US" altLang="ko-KR" sz="1600" dirty="0"/>
              <a:t>/</a:t>
            </a:r>
            <a:r>
              <a:rPr lang="en-US" altLang="ko-KR" sz="1600" dirty="0" err="1"/>
              <a:t>nologin</a:t>
            </a:r>
            <a:endParaRPr lang="en-US" altLang="ko-KR" sz="1600" dirty="0"/>
          </a:p>
          <a:p>
            <a:r>
              <a:rPr lang="en-US" altLang="ko-KR" sz="1600" dirty="0"/>
              <a:t>mosquitto:x:116:124::/var/lib/</a:t>
            </a:r>
            <a:r>
              <a:rPr lang="en-US" altLang="ko-KR" sz="1600" dirty="0" err="1"/>
              <a:t>mosquitto</a:t>
            </a:r>
            <a:r>
              <a:rPr lang="en-US" altLang="ko-KR" sz="1600" dirty="0"/>
              <a:t>:/</a:t>
            </a:r>
            <a:r>
              <a:rPr lang="en-US" altLang="ko-KR" sz="1600" dirty="0" err="1"/>
              <a:t>usr</a:t>
            </a:r>
            <a:r>
              <a:rPr lang="en-US" altLang="ko-KR" sz="1600" dirty="0"/>
              <a:t>/</a:t>
            </a:r>
            <a:r>
              <a:rPr lang="en-US" altLang="ko-KR" sz="1600" dirty="0" err="1"/>
              <a:t>sbin</a:t>
            </a:r>
            <a:r>
              <a:rPr lang="en-US" altLang="ko-KR" sz="1600"/>
              <a:t>/nologin</a:t>
            </a:r>
          </a:p>
          <a:p>
            <a:endParaRPr lang="en-US" altLang="ko-KR" sz="1600" dirty="0"/>
          </a:p>
          <a:p>
            <a:r>
              <a:rPr lang="en-US" altLang="ko-KR" sz="1600" dirty="0"/>
              <a:t>... </a:t>
            </a:r>
            <a:r>
              <a:rPr lang="ko-KR" altLang="en-US" sz="1600"/>
              <a:t>일부분 생략</a:t>
            </a:r>
            <a:endParaRPr lang="en-US" altLang="ko-KR" sz="1600"/>
          </a:p>
          <a:p>
            <a:endParaRPr lang="ko-KR" altLang="en-US" sz="1600" dirty="0"/>
          </a:p>
          <a:p>
            <a:r>
              <a:rPr lang="en-US" altLang="ko-KR" sz="1600" dirty="0"/>
              <a:t>pi:x:1000:1000:,,,:/home/pi:/bin</a:t>
            </a:r>
            <a:r>
              <a:rPr lang="en-US" altLang="ko-KR" sz="1600"/>
              <a:t>/bash</a:t>
            </a:r>
          </a:p>
          <a:p>
            <a:endParaRPr lang="en-US" altLang="ko-KR" sz="1600" dirty="0"/>
          </a:p>
          <a:p>
            <a:r>
              <a:rPr lang="en-US" altLang="ko-KR" sz="1600" dirty="0"/>
              <a:t>... </a:t>
            </a:r>
            <a:r>
              <a:rPr lang="ko-KR" altLang="en-US" sz="1600"/>
              <a:t>일부분 생략</a:t>
            </a:r>
            <a:endParaRPr lang="en-US" altLang="ko-KR" sz="1600"/>
          </a:p>
          <a:p>
            <a:endParaRPr lang="ko-KR" altLang="en-US" sz="1600" dirty="0"/>
          </a:p>
          <a:p>
            <a:r>
              <a:rPr lang="en-US" altLang="ko-KR" sz="1600" dirty="0"/>
              <a:t>jmlee:x:1003:1003:Prof. Jae Moon Lee:/home/</a:t>
            </a:r>
            <a:r>
              <a:rPr lang="en-US" altLang="ko-KR" sz="1600" dirty="0" err="1"/>
              <a:t>jmlee</a:t>
            </a:r>
            <a:r>
              <a:rPr lang="en-US" altLang="ko-KR" sz="1600" dirty="0"/>
              <a:t>:/bin/bash</a:t>
            </a:r>
          </a:p>
          <a:p>
            <a:r>
              <a:rPr lang="en-US" altLang="ko-KR" sz="1600" dirty="0"/>
              <a:t>kitae:x:1004:1004:Prof. </a:t>
            </a:r>
            <a:r>
              <a:rPr lang="en-US" altLang="ko-KR" sz="1600" dirty="0" err="1"/>
              <a:t>Kitae</a:t>
            </a:r>
            <a:r>
              <a:rPr lang="en-US" altLang="ko-KR" sz="1600" dirty="0"/>
              <a:t> Hwang:/home/</a:t>
            </a:r>
            <a:r>
              <a:rPr lang="en-US" altLang="ko-KR" sz="1600" dirty="0" err="1"/>
              <a:t>kitae</a:t>
            </a:r>
            <a:r>
              <a:rPr lang="en-US" altLang="ko-KR" sz="1600" dirty="0"/>
              <a:t>:/bin</a:t>
            </a:r>
            <a:r>
              <a:rPr lang="en-US" altLang="ko-KR" sz="1600"/>
              <a:t>/bash</a:t>
            </a:r>
          </a:p>
          <a:p>
            <a:endParaRPr lang="en-US" altLang="ko-KR" sz="1600" dirty="0"/>
          </a:p>
          <a:p>
            <a:r>
              <a:rPr lang="en-US" altLang="ko-KR" sz="1600" dirty="0"/>
              <a:t>... </a:t>
            </a:r>
            <a:r>
              <a:rPr lang="ko-KR" altLang="en-US" sz="1600"/>
              <a:t>일부분 생략</a:t>
            </a:r>
            <a:endParaRPr lang="en-US" altLang="ko-KR" sz="1600"/>
          </a:p>
          <a:p>
            <a:endParaRPr lang="ko-KR" altLang="en-US" sz="1600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</a:t>
            </a:r>
          </a:p>
        </p:txBody>
      </p:sp>
    </p:spTree>
    <p:extLst>
      <p:ext uri="{BB962C8B-B14F-4D97-AF65-F5344CB8AC3E}">
        <p14:creationId xmlns:p14="http://schemas.microsoft.com/office/powerpoint/2010/main" val="129914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F7DB1-7D66-4E8C-9B02-276A29C81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/etc/passwd</a:t>
            </a:r>
            <a:r>
              <a:rPr lang="ko-KR" altLang="en-US"/>
              <a:t> 파일 구성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9E8BD0-397D-48A2-8DBE-294E4614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75E48F-1269-4131-9BCD-6175C22FB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28" y="2276872"/>
            <a:ext cx="7560840" cy="2963799"/>
          </a:xfrm>
          <a:prstGeom prst="rect">
            <a:avLst/>
          </a:prstGeom>
        </p:spPr>
      </p:pic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2EE48C2-F7C8-4EE7-B1C1-F28076F24AD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/>
          <a:p>
            <a:r>
              <a:rPr lang="en-US" altLang="ko-KR"/>
              <a:t>/etc/passwd</a:t>
            </a:r>
            <a:r>
              <a:rPr lang="ko-KR" altLang="en-US"/>
              <a:t> 파일의 한 행 </a:t>
            </a:r>
            <a:r>
              <a:rPr lang="en-US" altLang="ko-KR"/>
              <a:t>- </a:t>
            </a:r>
            <a:r>
              <a:rPr lang="ko-KR" altLang="en-US"/>
              <a:t>한 사용자에 대한 정보</a:t>
            </a:r>
          </a:p>
        </p:txBody>
      </p:sp>
    </p:spTree>
    <p:extLst>
      <p:ext uri="{BB962C8B-B14F-4D97-AF65-F5344CB8AC3E}">
        <p14:creationId xmlns:p14="http://schemas.microsoft.com/office/powerpoint/2010/main" val="269651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86C14-4FA0-40C9-BBF1-C2A3657B1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sudo</a:t>
            </a:r>
            <a:r>
              <a:rPr lang="ko-KR" altLang="en-US" dirty="0"/>
              <a:t> 명령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3E404D-5F50-4252-BB6F-1D24AD64206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루트 사용자 권한이 필요할 때 사용</a:t>
            </a:r>
            <a:endParaRPr lang="en-US" altLang="ko-KR"/>
          </a:p>
          <a:p>
            <a:pPr lvl="1"/>
            <a:r>
              <a:rPr lang="ko-KR" altLang="en-US"/>
              <a:t>‘</a:t>
            </a:r>
            <a:r>
              <a:rPr lang="en-US" altLang="ko-KR" dirty="0"/>
              <a:t>superuser do’</a:t>
            </a:r>
            <a:r>
              <a:rPr lang="ko-KR" altLang="en-US" dirty="0"/>
              <a:t>의 약자로 루트 사용자의 </a:t>
            </a:r>
            <a:r>
              <a:rPr lang="ko-KR" altLang="en-US"/>
              <a:t>권한으로 명령 실행</a:t>
            </a:r>
            <a:endParaRPr lang="ko-KR" altLang="en-US" dirty="0"/>
          </a:p>
          <a:p>
            <a:pPr lvl="1"/>
            <a:r>
              <a:rPr lang="ko-KR" altLang="en-US" dirty="0"/>
              <a:t>루트 사용자로부터 </a:t>
            </a:r>
            <a:r>
              <a:rPr lang="ko-KR" altLang="en-US" err="1"/>
              <a:t>위임받은</a:t>
            </a:r>
            <a:r>
              <a:rPr lang="ko-KR" altLang="en-US"/>
              <a:t> 사용자에 한해</a:t>
            </a:r>
            <a:r>
              <a:rPr lang="en-US" altLang="ko-KR"/>
              <a:t>,</a:t>
            </a:r>
            <a:r>
              <a:rPr lang="ko-KR" altLang="en-US"/>
              <a:t> 루트 </a:t>
            </a:r>
            <a:r>
              <a:rPr lang="ko-KR" altLang="en-US" dirty="0"/>
              <a:t>사용자와 </a:t>
            </a:r>
            <a:r>
              <a:rPr lang="ko-KR" altLang="en-US"/>
              <a:t>동일한 권한으로 실행</a:t>
            </a:r>
            <a:endParaRPr lang="ko-KR" altLang="en-US" dirty="0"/>
          </a:p>
          <a:p>
            <a:r>
              <a:rPr lang="ko-KR" altLang="en-US" dirty="0" err="1"/>
              <a:t>라즈베리파이</a:t>
            </a:r>
            <a:r>
              <a:rPr lang="ko-KR" altLang="en-US" dirty="0"/>
              <a:t> 운영체제를 설치할 때 만든 </a:t>
            </a:r>
            <a:r>
              <a:rPr lang="en-US" altLang="ko-KR"/>
              <a:t>pi </a:t>
            </a:r>
            <a:r>
              <a:rPr lang="ko-KR" altLang="en-US"/>
              <a:t>사용자</a:t>
            </a:r>
            <a:endParaRPr lang="en-US" altLang="ko-KR"/>
          </a:p>
          <a:p>
            <a:pPr lvl="1"/>
            <a:r>
              <a:rPr lang="en-US" altLang="ko-KR"/>
              <a:t>sudo</a:t>
            </a:r>
            <a:r>
              <a:rPr lang="ko-KR" altLang="en-US"/>
              <a:t> 사용 가능</a:t>
            </a:r>
            <a:endParaRPr lang="en-US" altLang="ko-KR"/>
          </a:p>
          <a:p>
            <a:pPr lvl="1"/>
            <a:r>
              <a:rPr lang="en-US" altLang="ko-KR"/>
              <a:t>sudo </a:t>
            </a:r>
            <a:r>
              <a:rPr lang="ko-KR" altLang="en-US"/>
              <a:t>명령을 실행할 권한을 </a:t>
            </a:r>
            <a:r>
              <a:rPr lang="ko-KR" altLang="en-US" err="1"/>
              <a:t>위임받는</a:t>
            </a:r>
            <a:r>
              <a:rPr lang="ko-KR" altLang="en-US"/>
              <a:t> 사용자</a:t>
            </a:r>
            <a:endParaRPr lang="en-US" altLang="ko-KR"/>
          </a:p>
          <a:p>
            <a:pPr lvl="1"/>
            <a:endParaRPr lang="en-US" altLang="ko-KR" dirty="0"/>
          </a:p>
          <a:p>
            <a:r>
              <a:rPr lang="en-US" altLang="ko-KR" dirty="0" err="1"/>
              <a:t>sudo</a:t>
            </a:r>
            <a:r>
              <a:rPr lang="ko-KR" altLang="en-US" dirty="0"/>
              <a:t> 사용 예</a:t>
            </a:r>
            <a:r>
              <a:rPr lang="en-US" altLang="ko-KR" dirty="0"/>
              <a:t>: halt</a:t>
            </a:r>
            <a:endParaRPr lang="ko-KR" altLang="en-US" dirty="0"/>
          </a:p>
          <a:p>
            <a:pPr marL="365760" lvl="1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B58A2E-8347-4F43-B939-2E884FC0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A28217-70F0-4CC0-AB22-B0264DE291CA}"/>
              </a:ext>
            </a:extLst>
          </p:cNvPr>
          <p:cNvSpPr/>
          <p:nvPr/>
        </p:nvSpPr>
        <p:spPr>
          <a:xfrm>
            <a:off x="699113" y="4293096"/>
            <a:ext cx="7848872" cy="212365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halt</a:t>
            </a:r>
          </a:p>
          <a:p>
            <a:r>
              <a:rPr lang="en-US" altLang="ko-KR" sz="1600" dirty="0"/>
              <a:t>Failed to set wall message, ignoring: Interactive authentication required.</a:t>
            </a:r>
          </a:p>
          <a:p>
            <a:r>
              <a:rPr lang="en-US" altLang="ko-KR" sz="1600" dirty="0"/>
              <a:t>Failed to halt system via </a:t>
            </a:r>
            <a:r>
              <a:rPr lang="en-US" altLang="ko-KR" sz="1600" dirty="0" err="1"/>
              <a:t>logind</a:t>
            </a:r>
            <a:r>
              <a:rPr lang="en-US" altLang="ko-KR" sz="1600" dirty="0"/>
              <a:t>: Interactive authentication required.</a:t>
            </a:r>
          </a:p>
          <a:p>
            <a:r>
              <a:rPr lang="en-US" altLang="ko-KR" sz="1600" dirty="0"/>
              <a:t>Failed to open </a:t>
            </a:r>
            <a:r>
              <a:rPr lang="en-US" altLang="ko-KR" sz="1600" dirty="0" err="1"/>
              <a:t>initctl</a:t>
            </a:r>
            <a:r>
              <a:rPr lang="en-US" altLang="ko-KR" sz="1600" dirty="0"/>
              <a:t> </a:t>
            </a:r>
            <a:r>
              <a:rPr lang="en-US" altLang="ko-KR" sz="1600" dirty="0" err="1"/>
              <a:t>fifo</a:t>
            </a:r>
            <a:r>
              <a:rPr lang="en-US" altLang="ko-KR" sz="1600" dirty="0"/>
              <a:t>: </a:t>
            </a:r>
            <a:r>
              <a:rPr lang="ko-KR" altLang="en-US" sz="1600" dirty="0"/>
              <a:t>허가 거부</a:t>
            </a:r>
          </a:p>
          <a:p>
            <a:r>
              <a:rPr lang="en-US" altLang="ko-KR" sz="1600" dirty="0"/>
              <a:t>Failed to talk to </a:t>
            </a:r>
            <a:r>
              <a:rPr lang="en-US" altLang="ko-KR" sz="1600" dirty="0" err="1"/>
              <a:t>init</a:t>
            </a:r>
            <a:r>
              <a:rPr lang="en-US" altLang="ko-KR" sz="1600" dirty="0"/>
              <a:t> daemon.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</a:t>
            </a:r>
            <a:r>
              <a:rPr lang="en-US" altLang="ko-KR" sz="1600" b="1" dirty="0" err="1"/>
              <a:t>sudo</a:t>
            </a:r>
            <a:r>
              <a:rPr lang="en-US" altLang="ko-KR" sz="1600" b="1" dirty="0"/>
              <a:t> halt</a:t>
            </a:r>
          </a:p>
          <a:p>
            <a:r>
              <a:rPr lang="en-US" altLang="ko-KR" sz="1600" dirty="0"/>
              <a:t>Connection to 192.168.0.11 closed by remote host.</a:t>
            </a:r>
          </a:p>
          <a:p>
            <a:r>
              <a:rPr lang="en-US" altLang="ko-KR" sz="1600" dirty="0"/>
              <a:t>Connection to 192.168.0.11 closed.</a:t>
            </a:r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2761D344-1C7E-41C5-8BF8-13F4C8FB728B}"/>
              </a:ext>
            </a:extLst>
          </p:cNvPr>
          <p:cNvSpPr/>
          <p:nvPr/>
        </p:nvSpPr>
        <p:spPr>
          <a:xfrm>
            <a:off x="6012160" y="5229200"/>
            <a:ext cx="2016224" cy="864096"/>
          </a:xfrm>
          <a:prstGeom prst="wedgeRoundRectCallout">
            <a:avLst>
              <a:gd name="adj1" fmla="val -137409"/>
              <a:gd name="adj2" fmla="val -306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sudo halt </a:t>
            </a:r>
            <a:r>
              <a:rPr lang="ko-KR" altLang="en-US" sz="1200">
                <a:solidFill>
                  <a:schemeClr val="tx1"/>
                </a:solidFill>
              </a:rPr>
              <a:t>명령을 실행하면 라즈베리파이를 끄게 되므로 하지 말것</a:t>
            </a:r>
          </a:p>
        </p:txBody>
      </p:sp>
    </p:spTree>
    <p:extLst>
      <p:ext uri="{BB962C8B-B14F-4D97-AF65-F5344CB8AC3E}">
        <p14:creationId xmlns:p14="http://schemas.microsoft.com/office/powerpoint/2010/main" val="444868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44EFBF-1488-4B7A-BE14-0D2734FD8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관리 명령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BD2827-2707-4CB3-8D63-460D9206AB5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sz="2000" dirty="0"/>
              <a:t>사용자 관리 명령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endParaRPr lang="en-US" altLang="ko-KR" sz="2000"/>
          </a:p>
          <a:p>
            <a:r>
              <a:rPr lang="ko-KR" altLang="en-US" sz="2000"/>
              <a:t>사용자 </a:t>
            </a:r>
            <a:r>
              <a:rPr lang="ko-KR" altLang="en-US" sz="2000" dirty="0"/>
              <a:t>계정 관리 주요 옵션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4C7D-705F-433D-871E-9EC41838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69BFA8-40C4-42B8-9606-36E1015DB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772817"/>
            <a:ext cx="6768752" cy="22595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30AFAAD-2B96-4782-8303-09C852FF8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4509120"/>
            <a:ext cx="6774152" cy="170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81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ECE37-54B9-4B0B-91E3-F83809F1C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계정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D423B0-8882-448B-9BF8-88BE2152D08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(1) </a:t>
            </a:r>
            <a:r>
              <a:rPr lang="en-US" altLang="ko-KR" dirty="0" err="1"/>
              <a:t>useradd</a:t>
            </a:r>
            <a:r>
              <a:rPr lang="en-US" altLang="ko-KR" dirty="0"/>
              <a:t> </a:t>
            </a:r>
            <a:r>
              <a:rPr lang="ko-KR" altLang="en-US" dirty="0"/>
              <a:t>명령으로 사용자 계정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65760" lvl="1" indent="0">
              <a:buNone/>
            </a:pPr>
            <a:endParaRPr lang="en-US" altLang="ko-KR" dirty="0"/>
          </a:p>
          <a:p>
            <a:pPr lvl="1"/>
            <a:r>
              <a:rPr lang="ko-KR" altLang="en-US" dirty="0" err="1"/>
              <a:t>생성후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/passwd</a:t>
            </a:r>
            <a:r>
              <a:rPr lang="ko-KR" altLang="en-US" dirty="0"/>
              <a:t> 내용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(2) passwd </a:t>
            </a:r>
            <a:r>
              <a:rPr lang="ko-KR" altLang="en-US" dirty="0"/>
              <a:t>명령으로 사용자 암호 설정</a:t>
            </a:r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2F0A0F-F4DB-4EFB-868B-01EFFB68C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8A8E9B-31B7-46AB-A361-CB0D4DBF185A}"/>
              </a:ext>
            </a:extLst>
          </p:cNvPr>
          <p:cNvSpPr/>
          <p:nvPr/>
        </p:nvSpPr>
        <p:spPr>
          <a:xfrm>
            <a:off x="905372" y="1979548"/>
            <a:ext cx="7848872" cy="33855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pt-BR" altLang="ko-KR" sz="1600" b="1" dirty="0"/>
              <a:t>pi@pi:~ $ sudo useradd kitae -m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3BA4CB-A8CF-486E-A069-77108C028E63}"/>
              </a:ext>
            </a:extLst>
          </p:cNvPr>
          <p:cNvSpPr/>
          <p:nvPr/>
        </p:nvSpPr>
        <p:spPr>
          <a:xfrm>
            <a:off x="871391" y="3789040"/>
            <a:ext cx="784887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600" dirty="0"/>
              <a:t>kitae:x:1001:1001:Prof. Hwang:/</a:t>
            </a:r>
            <a:r>
              <a:rPr lang="en-US" altLang="ko-KR" sz="1600"/>
              <a:t>home/kitae</a:t>
            </a:r>
            <a:r>
              <a:rPr lang="en-US" altLang="ko-KR" sz="1600" dirty="0"/>
              <a:t>:/bin/bash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C26B2B-DAE2-4DEC-9E7E-6D821422D812}"/>
              </a:ext>
            </a:extLst>
          </p:cNvPr>
          <p:cNvSpPr/>
          <p:nvPr/>
        </p:nvSpPr>
        <p:spPr>
          <a:xfrm>
            <a:off x="887521" y="2514962"/>
            <a:ext cx="7848872" cy="33855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</a:t>
            </a:r>
            <a:r>
              <a:rPr lang="en-US" altLang="ko-KR" sz="1600" dirty="0"/>
              <a:t>$ </a:t>
            </a:r>
            <a:r>
              <a:rPr lang="en-US" altLang="ko-KR" sz="1600" b="1" dirty="0" err="1"/>
              <a:t>sudo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useradd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kitae</a:t>
            </a:r>
            <a:r>
              <a:rPr lang="en-US" altLang="ko-KR" sz="1600" b="1" dirty="0"/>
              <a:t> -c "Prof. Hwang" -m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2B0DB6-E034-486E-9457-86C4BEDFD065}"/>
              </a:ext>
            </a:extLst>
          </p:cNvPr>
          <p:cNvSpPr/>
          <p:nvPr/>
        </p:nvSpPr>
        <p:spPr>
          <a:xfrm>
            <a:off x="862437" y="5144658"/>
            <a:ext cx="7848872" cy="135421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pt-BR" altLang="ko-KR" sz="1600" b="1" dirty="0"/>
              <a:t>pi@pi:~ $ sudo passwd kitae</a:t>
            </a:r>
          </a:p>
          <a:p>
            <a:r>
              <a:rPr lang="ko-KR" altLang="en-US" sz="1600" dirty="0"/>
              <a:t>새 암호</a:t>
            </a:r>
            <a:r>
              <a:rPr lang="en-US" altLang="ko-KR" sz="1600" dirty="0"/>
              <a:t>:[</a:t>
            </a:r>
            <a:r>
              <a:rPr lang="ko-KR" altLang="en-US" sz="1600" dirty="0">
                <a:solidFill>
                  <a:srgbClr val="C00000"/>
                </a:solidFill>
              </a:rPr>
              <a:t>암호입력</a:t>
            </a:r>
            <a:r>
              <a:rPr lang="en-US" altLang="ko-KR" sz="1600" dirty="0"/>
              <a:t>]</a:t>
            </a:r>
          </a:p>
          <a:p>
            <a:r>
              <a:rPr lang="ko-KR" altLang="en-US" sz="1600" dirty="0"/>
              <a:t>새 암호 재입력</a:t>
            </a:r>
            <a:r>
              <a:rPr lang="en-US" altLang="ko-KR" sz="1600" dirty="0"/>
              <a:t>:[</a:t>
            </a:r>
            <a:r>
              <a:rPr lang="ko-KR" altLang="en-US" sz="1600" dirty="0">
                <a:solidFill>
                  <a:srgbClr val="C00000"/>
                </a:solidFill>
              </a:rPr>
              <a:t>암호입력</a:t>
            </a:r>
            <a:r>
              <a:rPr lang="en-US" altLang="ko-KR" sz="1600" dirty="0"/>
              <a:t>]</a:t>
            </a:r>
          </a:p>
          <a:p>
            <a:r>
              <a:rPr lang="en-US" altLang="ko-KR" sz="1600" dirty="0"/>
              <a:t>passwd: </a:t>
            </a:r>
            <a:r>
              <a:rPr lang="ko-KR" altLang="en-US" sz="1600" dirty="0"/>
              <a:t>암호를 성공적으로 업데이트했습니다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</a:t>
            </a:r>
            <a:endParaRPr lang="ko-KR" altLang="en-US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102379-D9C8-4CCC-BD85-A6EE41EAAFC3}"/>
              </a:ext>
            </a:extLst>
          </p:cNvPr>
          <p:cNvSpPr txBox="1"/>
          <p:nvPr/>
        </p:nvSpPr>
        <p:spPr>
          <a:xfrm>
            <a:off x="3995936" y="5372511"/>
            <a:ext cx="2016224" cy="289441"/>
          </a:xfrm>
          <a:prstGeom prst="wedgeRoundRectCallout">
            <a:avLst>
              <a:gd name="adj1" fmla="val -117957"/>
              <a:gd name="adj2" fmla="val 1306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ko-KR" altLang="en-US" dirty="0"/>
              <a:t>입력된 암호는 보이지 않음</a:t>
            </a:r>
          </a:p>
        </p:txBody>
      </p:sp>
    </p:spTree>
    <p:extLst>
      <p:ext uri="{BB962C8B-B14F-4D97-AF65-F5344CB8AC3E}">
        <p14:creationId xmlns:p14="http://schemas.microsoft.com/office/powerpoint/2010/main" val="3233994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57B9AD-1C43-4258-BCA3-3C91EF21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3–1 </a:t>
            </a:r>
            <a:r>
              <a:rPr lang="ko-KR" altLang="en-US" dirty="0"/>
              <a:t>사용자 </a:t>
            </a:r>
            <a:r>
              <a:rPr lang="en-US" altLang="ko-KR" dirty="0" err="1"/>
              <a:t>kitae</a:t>
            </a:r>
            <a:r>
              <a:rPr lang="ko-KR" altLang="en-US" dirty="0"/>
              <a:t>와 </a:t>
            </a:r>
            <a:r>
              <a:rPr lang="en-US" altLang="ko-KR" dirty="0" err="1"/>
              <a:t>jmlee</a:t>
            </a:r>
            <a:r>
              <a:rPr lang="ko-KR" altLang="en-US" dirty="0"/>
              <a:t> 추가 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D5173C-3E8C-41E7-BC45-CF361409F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DA611F-2B66-4595-B37E-48D77C055648}"/>
              </a:ext>
            </a:extLst>
          </p:cNvPr>
          <p:cNvSpPr/>
          <p:nvPr/>
        </p:nvSpPr>
        <p:spPr>
          <a:xfrm>
            <a:off x="524674" y="2379652"/>
            <a:ext cx="6567606" cy="328159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</a:t>
            </a:r>
            <a:r>
              <a:rPr lang="en-US" altLang="ko-KR" sz="1600" b="1" dirty="0" err="1"/>
              <a:t>sudo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useradd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kitae</a:t>
            </a:r>
            <a:r>
              <a:rPr lang="en-US" altLang="ko-KR" sz="1600" b="1" dirty="0"/>
              <a:t> -c student -m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</a:t>
            </a:r>
            <a:r>
              <a:rPr lang="en-US" altLang="ko-KR" sz="1600" b="1" dirty="0" err="1"/>
              <a:t>sudo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useradd</a:t>
            </a:r>
            <a:r>
              <a:rPr lang="en-US" altLang="ko-KR" sz="1600" b="1" dirty="0"/>
              <a:t> </a:t>
            </a:r>
            <a:r>
              <a:rPr lang="en-US" altLang="ko-KR" sz="1600" b="1" dirty="0" err="1"/>
              <a:t>jmlee</a:t>
            </a:r>
            <a:r>
              <a:rPr lang="en-US" altLang="ko-KR" sz="1600" b="1" dirty="0"/>
              <a:t> -c student -m</a:t>
            </a:r>
          </a:p>
          <a:p>
            <a:r>
              <a:rPr lang="pt-BR" altLang="ko-KR" sz="1600" b="1" dirty="0"/>
              <a:t>pi@pi:~ $ sudo passwd kitae</a:t>
            </a:r>
          </a:p>
          <a:p>
            <a:r>
              <a:rPr lang="en-US" altLang="ko-KR" sz="1600" dirty="0"/>
              <a:t>New password:[</a:t>
            </a:r>
            <a:r>
              <a:rPr lang="ko-KR" altLang="en-US" sz="1600" dirty="0">
                <a:solidFill>
                  <a:srgbClr val="C00000"/>
                </a:solidFill>
              </a:rPr>
              <a:t>암호입력</a:t>
            </a:r>
            <a:r>
              <a:rPr lang="en-US" altLang="ko-KR" sz="1600" dirty="0"/>
              <a:t>]</a:t>
            </a:r>
          </a:p>
          <a:p>
            <a:r>
              <a:rPr lang="en-US" altLang="ko-KR" sz="1600" dirty="0"/>
              <a:t>Retype new password:[</a:t>
            </a:r>
            <a:r>
              <a:rPr lang="ko-KR" altLang="en-US" sz="1600" dirty="0">
                <a:solidFill>
                  <a:srgbClr val="C00000"/>
                </a:solidFill>
              </a:rPr>
              <a:t>암호입력</a:t>
            </a:r>
            <a:r>
              <a:rPr lang="en-US" altLang="ko-KR" sz="1600" dirty="0"/>
              <a:t>]</a:t>
            </a:r>
          </a:p>
          <a:p>
            <a:r>
              <a:rPr lang="en-US" altLang="ko-KR" sz="1600" dirty="0"/>
              <a:t>passwd: password updated successfully</a:t>
            </a:r>
          </a:p>
          <a:p>
            <a:r>
              <a:rPr lang="pt-BR" altLang="ko-KR" sz="1600" b="1" dirty="0"/>
              <a:t>pi@pi:~ $ sudo passwd jmlee</a:t>
            </a:r>
          </a:p>
          <a:p>
            <a:r>
              <a:rPr lang="en-US" altLang="ko-KR" sz="1600" dirty="0"/>
              <a:t>New password:[</a:t>
            </a:r>
            <a:r>
              <a:rPr lang="ko-KR" altLang="en-US" sz="1600" dirty="0">
                <a:solidFill>
                  <a:srgbClr val="C00000"/>
                </a:solidFill>
              </a:rPr>
              <a:t>암호입력</a:t>
            </a:r>
            <a:r>
              <a:rPr lang="en-US" altLang="ko-KR" sz="1600" dirty="0"/>
              <a:t>]</a:t>
            </a:r>
          </a:p>
          <a:p>
            <a:r>
              <a:rPr lang="en-US" altLang="ko-KR" sz="1600" dirty="0"/>
              <a:t>Retype new password:[</a:t>
            </a:r>
            <a:r>
              <a:rPr lang="ko-KR" altLang="en-US" sz="1600" dirty="0">
                <a:solidFill>
                  <a:srgbClr val="C00000"/>
                </a:solidFill>
              </a:rPr>
              <a:t>암호입력</a:t>
            </a:r>
            <a:r>
              <a:rPr lang="en-US" altLang="ko-KR" sz="1600" dirty="0"/>
              <a:t>]</a:t>
            </a:r>
          </a:p>
          <a:p>
            <a:r>
              <a:rPr lang="en-US" altLang="ko-KR" sz="1600" dirty="0"/>
              <a:t>passwd: password updated successfully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ls /home</a:t>
            </a:r>
          </a:p>
          <a:p>
            <a:r>
              <a:rPr lang="en-US" altLang="ko-KR" sz="1600" dirty="0" err="1"/>
              <a:t>jmlee</a:t>
            </a:r>
            <a:r>
              <a:rPr lang="en-US" altLang="ko-KR" sz="1600" dirty="0"/>
              <a:t> </a:t>
            </a:r>
            <a:r>
              <a:rPr lang="en-US" altLang="ko-KR" sz="1600" dirty="0" err="1"/>
              <a:t>kitae</a:t>
            </a:r>
            <a:r>
              <a:rPr lang="en-US" altLang="ko-KR" sz="1600" dirty="0"/>
              <a:t> pi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9AFDF0-8AEA-441B-89E1-2A522EE864A1}"/>
              </a:ext>
            </a:extLst>
          </p:cNvPr>
          <p:cNvSpPr/>
          <p:nvPr/>
        </p:nvSpPr>
        <p:spPr>
          <a:xfrm>
            <a:off x="495300" y="1405867"/>
            <a:ext cx="81533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useradd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명령을 활용하여 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kitae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와 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jmlee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사용자 계정을 추가하라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이때 사용자에 대한 설명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(-c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옵션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으로 “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student”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를 넣어라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또한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passwd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명령을 활용하여 암호를 설정하고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터미널을 열어 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kitae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와 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jmlee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로 각각 로그인하여 보라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1517BEED-E3CD-4BF4-B9D4-5BEB9BFF8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55976" y="3080449"/>
            <a:ext cx="4575897" cy="1788711"/>
          </a:xfrm>
          <a:prstGeom prst="rect">
            <a:avLst/>
          </a:prstGeom>
          <a:noFill/>
          <a:ln>
            <a:solidFill>
              <a:srgbClr val="0070C0"/>
            </a:solidFill>
          </a:ln>
          <a:effectLst/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E5E4420D-621A-4FF6-9BAF-67B9CCE01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55976" y="4932714"/>
            <a:ext cx="4575897" cy="1788711"/>
          </a:xfrm>
          <a:prstGeom prst="rect">
            <a:avLst/>
          </a:prstGeom>
          <a:noFill/>
          <a:ln>
            <a:solidFill>
              <a:srgbClr val="0070C0"/>
            </a:solidFill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BB4808-395A-473B-B659-7B826A540948}"/>
              </a:ext>
            </a:extLst>
          </p:cNvPr>
          <p:cNvSpPr txBox="1"/>
          <p:nvPr/>
        </p:nvSpPr>
        <p:spPr>
          <a:xfrm>
            <a:off x="6300192" y="3035393"/>
            <a:ext cx="2016224" cy="289441"/>
          </a:xfrm>
          <a:prstGeom prst="wedgeRoundRectCallout">
            <a:avLst>
              <a:gd name="adj1" fmla="val -55482"/>
              <a:gd name="adj2" fmla="val 10010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ko-KR" altLang="en-US" dirty="0"/>
              <a:t>입력된 암호는 보이지 않음</a:t>
            </a:r>
          </a:p>
        </p:txBody>
      </p:sp>
    </p:spTree>
    <p:extLst>
      <p:ext uri="{BB962C8B-B14F-4D97-AF65-F5344CB8AC3E}">
        <p14:creationId xmlns:p14="http://schemas.microsoft.com/office/powerpoint/2010/main" val="1534283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DB11B-F5BC-4CAD-987A-EB7D47FE1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</a:t>
            </a:r>
            <a:r>
              <a:rPr lang="ko-KR" altLang="en-US"/>
              <a:t>계정 삭제와 로그인 사용자 보기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7851F-7985-4708-8ADF-F57A819A2FB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userdel </a:t>
            </a:r>
            <a:r>
              <a:rPr lang="ko-KR" altLang="en-US"/>
              <a:t>명령으로 사용자 계정 삭제</a:t>
            </a:r>
            <a:endParaRPr lang="en-US" altLang="ko-KR"/>
          </a:p>
          <a:p>
            <a:pPr lvl="1"/>
            <a:r>
              <a:rPr lang="ko-KR" altLang="en-US"/>
              <a:t>사용자 계정</a:t>
            </a:r>
            <a:r>
              <a:rPr lang="en-US" altLang="ko-KR"/>
              <a:t>, </a:t>
            </a:r>
            <a:r>
              <a:rPr lang="ko-KR" altLang="en-US"/>
              <a:t>홈 </a:t>
            </a:r>
            <a:r>
              <a:rPr lang="ko-KR" altLang="en-US" dirty="0"/>
              <a:t>디렉터리</a:t>
            </a:r>
            <a:r>
              <a:rPr lang="en-US" altLang="ko-KR"/>
              <a:t>, </a:t>
            </a:r>
            <a:r>
              <a:rPr lang="ko-KR" altLang="en-US"/>
              <a:t>도착했지만 </a:t>
            </a:r>
            <a:r>
              <a:rPr lang="ko-KR" altLang="en-US" dirty="0"/>
              <a:t>아직 읽지 않은 메일이 저장된 메일 </a:t>
            </a:r>
            <a:r>
              <a:rPr lang="ko-KR" altLang="en-US" dirty="0" err="1"/>
              <a:t>스풀</a:t>
            </a:r>
            <a:r>
              <a:rPr lang="en-US" altLang="ko-KR" dirty="0"/>
              <a:t>(mail </a:t>
            </a:r>
            <a:r>
              <a:rPr lang="en-US" altLang="ko-KR"/>
              <a:t>spool) </a:t>
            </a:r>
            <a:r>
              <a:rPr lang="ko-KR" altLang="en-US"/>
              <a:t>등 </a:t>
            </a:r>
            <a:r>
              <a:rPr lang="ko-KR" altLang="en-US" dirty="0"/>
              <a:t>모두 삭제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365760" lvl="1" indent="0">
              <a:buNone/>
            </a:pPr>
            <a:endParaRPr lang="en-US" altLang="ko-KR" dirty="0"/>
          </a:p>
          <a:p>
            <a:r>
              <a:rPr lang="ko-KR" altLang="en-US" dirty="0"/>
              <a:t>현재 </a:t>
            </a:r>
            <a:r>
              <a:rPr lang="ko-KR" altLang="en-US"/>
              <a:t>로그인한 사용자 </a:t>
            </a:r>
            <a:r>
              <a:rPr lang="ko-KR" altLang="en-US" dirty="0"/>
              <a:t>보기</a:t>
            </a:r>
            <a:r>
              <a:rPr lang="en-US" altLang="ko-KR" dirty="0"/>
              <a:t>, who</a:t>
            </a:r>
            <a:r>
              <a:rPr lang="ko-KR" altLang="en-US" dirty="0"/>
              <a:t>와 </a:t>
            </a:r>
            <a:r>
              <a:rPr lang="en-US" altLang="ko-KR" dirty="0"/>
              <a:t>users</a:t>
            </a:r>
            <a:endParaRPr lang="ko-KR" altLang="en-US" dirty="0"/>
          </a:p>
          <a:p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DA40EB-8B8E-4A7C-90B6-1BB751799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D9EC544-FF86-47EF-A349-3D54EC0136A9}"/>
              </a:ext>
            </a:extLst>
          </p:cNvPr>
          <p:cNvSpPr/>
          <p:nvPr/>
        </p:nvSpPr>
        <p:spPr>
          <a:xfrm>
            <a:off x="915462" y="2708920"/>
            <a:ext cx="7848872" cy="36933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pt-BR" altLang="ko-KR" sz="1600" b="1" dirty="0"/>
              <a:t>pi@pi:~ $ sudo userdel -r jmlee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CC6DD7-FC41-40B8-82F2-3249D13EA3BC}"/>
              </a:ext>
            </a:extLst>
          </p:cNvPr>
          <p:cNvSpPr/>
          <p:nvPr/>
        </p:nvSpPr>
        <p:spPr>
          <a:xfrm>
            <a:off x="915462" y="3861048"/>
            <a:ext cx="7848872" cy="212365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who</a:t>
            </a:r>
          </a:p>
          <a:p>
            <a:r>
              <a:rPr lang="en-US" altLang="ko-KR" sz="1600" dirty="0"/>
              <a:t>pi tty1 		2023-04-07 15:02</a:t>
            </a:r>
          </a:p>
          <a:p>
            <a:r>
              <a:rPr lang="fi-FI" altLang="ko-KR" sz="1600" dirty="0"/>
              <a:t>pi tty7 		2023-04-07 15:02 (:0)</a:t>
            </a:r>
          </a:p>
          <a:p>
            <a:r>
              <a:rPr lang="en-US" altLang="ko-KR" sz="1600" dirty="0"/>
              <a:t>pi pts/0 		2023-04-08 10:43 (192.168.0.10)</a:t>
            </a:r>
          </a:p>
          <a:p>
            <a:r>
              <a:rPr lang="fi-FI" altLang="ko-KR" sz="1600" dirty="0"/>
              <a:t>kitae pts/2 	2023-04-09 23:55 (192.168.0.12)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users</a:t>
            </a:r>
          </a:p>
          <a:p>
            <a:r>
              <a:rPr lang="en-US" altLang="ko-KR" sz="1600" dirty="0" err="1"/>
              <a:t>kitae</a:t>
            </a:r>
            <a:r>
              <a:rPr lang="en-US" altLang="ko-KR" sz="1600" dirty="0"/>
              <a:t> pi </a:t>
            </a:r>
            <a:r>
              <a:rPr lang="en-US" altLang="ko-KR" sz="1600" dirty="0" err="1"/>
              <a:t>pi</a:t>
            </a:r>
            <a:r>
              <a:rPr lang="en-US" altLang="ko-KR" sz="1600" dirty="0"/>
              <a:t> </a:t>
            </a:r>
            <a:r>
              <a:rPr lang="en-US" altLang="ko-KR" sz="1600" dirty="0" err="1"/>
              <a:t>pi</a:t>
            </a:r>
            <a:endParaRPr lang="en-US" altLang="ko-KR" sz="1600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</a:t>
            </a:r>
          </a:p>
        </p:txBody>
      </p:sp>
    </p:spTree>
    <p:extLst>
      <p:ext uri="{BB962C8B-B14F-4D97-AF65-F5344CB8AC3E}">
        <p14:creationId xmlns:p14="http://schemas.microsoft.com/office/powerpoint/2010/main" val="3282615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BA24356-89CD-43A9-A93C-1930800C9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26D3719-E8CD-4DC5-A681-142E54FB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3.3 </a:t>
            </a:r>
            <a:r>
              <a:rPr lang="ko-KR" altLang="en-US"/>
              <a:t>파일 </a:t>
            </a:r>
            <a:r>
              <a:rPr lang="ko-KR" altLang="en-US" dirty="0"/>
              <a:t>관리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1A9195-612E-46AB-9C30-76E64C28DC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687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F7DCAA-A2E6-47B0-BB94-D9CFE22B1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리눅스의 파일 시스템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1D16BD-548E-4010-827A-A48425DB4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9B6022-B278-432C-8800-F9B6BCE2F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556792"/>
            <a:ext cx="8153400" cy="499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14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826D83-63AA-40BD-AB6C-124EA3341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시스템 경로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724D7D-26E6-4EE9-9BF6-BCEF3A46A06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절대경로</a:t>
            </a:r>
            <a:endParaRPr lang="en-US" altLang="ko-KR"/>
          </a:p>
          <a:p>
            <a:pPr lvl="1"/>
            <a:r>
              <a:rPr lang="ko-KR" altLang="en-US"/>
              <a:t>루트 </a:t>
            </a:r>
            <a:r>
              <a:rPr lang="ko-KR" altLang="en-US" dirty="0"/>
              <a:t>디렉터리에서 시작하여 특정 </a:t>
            </a:r>
            <a:r>
              <a:rPr lang="ko-KR" altLang="en-US"/>
              <a:t>디렉터리나 파일의 경로 표현</a:t>
            </a:r>
            <a:endParaRPr lang="en-US" altLang="ko-KR" dirty="0"/>
          </a:p>
          <a:p>
            <a:r>
              <a:rPr lang="ko-KR" altLang="en-US"/>
              <a:t>상대경로</a:t>
            </a:r>
            <a:endParaRPr lang="en-US" altLang="ko-KR"/>
          </a:p>
          <a:p>
            <a:pPr lvl="1"/>
            <a:r>
              <a:rPr lang="ko-KR" altLang="en-US"/>
              <a:t>현재 디렉터리를 기준으로 특정 디렉터리나 파일의 경로 표현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69CB73-F771-47D0-A37D-07A46F826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7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F59CCA-96E1-40AA-9EA1-B44B4622F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절대경로 사용하기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2A9087-1281-4A80-8279-7EA4B8D5F92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절대경로 사용 사례</a:t>
            </a:r>
            <a:endParaRPr lang="en-US" altLang="ko-KR" dirty="0"/>
          </a:p>
          <a:p>
            <a:pPr lvl="1"/>
            <a:r>
              <a:rPr lang="en-US" altLang="ko-KR"/>
              <a:t>pi </a:t>
            </a:r>
            <a:r>
              <a:rPr lang="ko-KR" altLang="en-US"/>
              <a:t>디렉터리의 절대 경로</a:t>
            </a:r>
          </a:p>
          <a:p>
            <a:pPr lvl="2"/>
            <a:r>
              <a:rPr lang="en-US" altLang="ko-KR"/>
              <a:t>/</a:t>
            </a:r>
            <a:r>
              <a:rPr lang="en-US" altLang="ko-KR" dirty="0"/>
              <a:t>home</a:t>
            </a:r>
            <a:r>
              <a:rPr lang="en-US" altLang="ko-KR"/>
              <a:t>/pi</a:t>
            </a:r>
          </a:p>
          <a:p>
            <a:pPr lvl="1"/>
            <a:r>
              <a:rPr lang="en-US" altLang="ko-KR"/>
              <a:t>wpa_supplcant.conf </a:t>
            </a:r>
            <a:r>
              <a:rPr lang="ko-KR" altLang="en-US"/>
              <a:t>파일의 절대 경로</a:t>
            </a:r>
          </a:p>
          <a:p>
            <a:pPr lvl="2"/>
            <a:r>
              <a:rPr lang="en-US" altLang="ko-KR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</a:t>
            </a:r>
            <a:r>
              <a:rPr lang="en-US" altLang="ko-KR" dirty="0" err="1"/>
              <a:t>wpa_supplicant</a:t>
            </a:r>
            <a:r>
              <a:rPr lang="en-US" altLang="ko-KR" dirty="0"/>
              <a:t>/</a:t>
            </a:r>
            <a:r>
              <a:rPr lang="en-US" altLang="ko-KR" dirty="0" err="1"/>
              <a:t>wpa_supplcant</a:t>
            </a:r>
            <a:r>
              <a:rPr lang="en-US" altLang="ko-KR" err="1"/>
              <a:t>.</a:t>
            </a:r>
            <a:r>
              <a:rPr lang="en-US" altLang="ko-KR"/>
              <a:t>conf</a:t>
            </a:r>
          </a:p>
          <a:p>
            <a:pPr lvl="1"/>
            <a:r>
              <a:rPr lang="ko-KR" altLang="en-US"/>
              <a:t>파이선이 </a:t>
            </a:r>
            <a:r>
              <a:rPr lang="ko-KR" altLang="en-US" dirty="0"/>
              <a:t>설치된 디렉터리의 절대 </a:t>
            </a:r>
            <a:r>
              <a:rPr lang="ko-KR" altLang="en-US"/>
              <a:t>경로</a:t>
            </a:r>
            <a:r>
              <a:rPr lang="en-US" altLang="ko-KR"/>
              <a:t> </a:t>
            </a:r>
          </a:p>
          <a:p>
            <a:pPr lvl="2"/>
            <a:r>
              <a:rPr lang="en-US" altLang="ko-KR"/>
              <a:t>/usr/lib/python3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872624-5D19-4639-A75E-2AA2AB64E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450923-2857-4A6E-8731-2E7FE4EBDB86}"/>
              </a:ext>
            </a:extLst>
          </p:cNvPr>
          <p:cNvSpPr/>
          <p:nvPr/>
        </p:nvSpPr>
        <p:spPr>
          <a:xfrm>
            <a:off x="1403648" y="4077072"/>
            <a:ext cx="5472608" cy="58477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cd /</a:t>
            </a:r>
            <a:r>
              <a:rPr lang="en-US" altLang="ko-KR" sz="1600" b="1" dirty="0" err="1"/>
              <a:t>usr</a:t>
            </a:r>
            <a:r>
              <a:rPr lang="en-US" altLang="ko-KR" sz="1600" b="1" dirty="0"/>
              <a:t>/lib/python3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:/</a:t>
            </a:r>
            <a:r>
              <a:rPr lang="en-US" altLang="ko-KR" sz="1600" b="1" dirty="0" err="1"/>
              <a:t>usr</a:t>
            </a:r>
            <a:r>
              <a:rPr lang="en-US" altLang="ko-KR" sz="1600" b="1" dirty="0"/>
              <a:t>/lib/python3 $</a:t>
            </a:r>
          </a:p>
        </p:txBody>
      </p:sp>
    </p:spTree>
    <p:extLst>
      <p:ext uri="{BB962C8B-B14F-4D97-AF65-F5344CB8AC3E}">
        <p14:creationId xmlns:p14="http://schemas.microsoft.com/office/powerpoint/2010/main" val="2972960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AB782-6D85-4D2C-8D3A-019B6A864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상대경로 사용하기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DB89F5-6A19-40FE-9109-D4BBFE907DA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특수 기호와 함께 상대 경로 사용</a:t>
            </a:r>
            <a:endParaRPr lang="en-US" altLang="ko-KR"/>
          </a:p>
          <a:p>
            <a:pPr lvl="1"/>
            <a:r>
              <a:rPr lang="en-US" altLang="ko-KR"/>
              <a:t>(.)</a:t>
            </a:r>
            <a:r>
              <a:rPr lang="ko-KR" altLang="en-US" dirty="0"/>
              <a:t>과 </a:t>
            </a:r>
            <a:r>
              <a:rPr lang="en-US" altLang="ko-KR"/>
              <a:t>(..) </a:t>
            </a:r>
            <a:r>
              <a:rPr lang="ko-KR" altLang="en-US"/>
              <a:t>기호 활용</a:t>
            </a:r>
            <a:endParaRPr lang="en-US" altLang="ko-KR" dirty="0"/>
          </a:p>
          <a:p>
            <a:pPr lvl="2"/>
            <a:r>
              <a:rPr lang="en-US" altLang="ko-KR" dirty="0"/>
              <a:t>. : </a:t>
            </a:r>
            <a:r>
              <a:rPr lang="ko-KR" altLang="en-US" dirty="0"/>
              <a:t>현재 디렉터리</a:t>
            </a:r>
            <a:endParaRPr lang="en-US" altLang="ko-KR" dirty="0"/>
          </a:p>
          <a:p>
            <a:pPr lvl="2"/>
            <a:r>
              <a:rPr lang="en-US" altLang="ko-KR" dirty="0"/>
              <a:t>.. : </a:t>
            </a:r>
            <a:r>
              <a:rPr lang="ko-KR" altLang="en-US" dirty="0"/>
              <a:t>부모 디렉터리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/>
              <a:t>상대 경로에 </a:t>
            </a:r>
            <a:r>
              <a:rPr lang="en-US" altLang="ko-KR"/>
              <a:t>~ </a:t>
            </a:r>
            <a:r>
              <a:rPr lang="ko-KR" altLang="en-US" dirty="0"/>
              <a:t>기호 활용</a:t>
            </a:r>
            <a:endParaRPr lang="en-US" altLang="ko-KR" dirty="0"/>
          </a:p>
          <a:p>
            <a:pPr lvl="2"/>
            <a:r>
              <a:rPr lang="en-US" altLang="ko-KR" dirty="0"/>
              <a:t>~ : </a:t>
            </a:r>
            <a:r>
              <a:rPr lang="ko-KR" altLang="en-US" dirty="0"/>
              <a:t>현재 사용자의 홈 디렉터리</a:t>
            </a:r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A0E0E4-FB35-436E-9568-61B73A25A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78E0C5-9EBF-4478-8605-E240036A291A}"/>
              </a:ext>
            </a:extLst>
          </p:cNvPr>
          <p:cNvSpPr/>
          <p:nvPr/>
        </p:nvSpPr>
        <p:spPr>
          <a:xfrm>
            <a:off x="1372312" y="2521060"/>
            <a:ext cx="6399376" cy="58477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cd ./../</a:t>
            </a:r>
            <a:r>
              <a:rPr lang="en-US" altLang="ko-KR" sz="1600" b="1" dirty="0" err="1"/>
              <a:t>kitae</a:t>
            </a:r>
            <a:endParaRPr lang="en-US" altLang="ko-KR" sz="1600" b="1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:/home/</a:t>
            </a:r>
            <a:r>
              <a:rPr lang="en-US" altLang="ko-KR" sz="1600" b="1" dirty="0" err="1"/>
              <a:t>kitae</a:t>
            </a:r>
            <a:r>
              <a:rPr lang="en-US" altLang="ko-KR" sz="1600" b="1" dirty="0"/>
              <a:t> 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0A8732-43DF-42F9-B3CE-28C8A64E5780}"/>
              </a:ext>
            </a:extLst>
          </p:cNvPr>
          <p:cNvSpPr/>
          <p:nvPr/>
        </p:nvSpPr>
        <p:spPr>
          <a:xfrm>
            <a:off x="1372312" y="3314939"/>
            <a:ext cx="6399376" cy="58477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:/home/</a:t>
            </a:r>
            <a:r>
              <a:rPr lang="en-US" altLang="ko-KR" sz="1600" b="1" dirty="0" err="1"/>
              <a:t>kitae</a:t>
            </a:r>
            <a:r>
              <a:rPr lang="en-US" altLang="ko-KR" sz="1600" b="1" dirty="0"/>
              <a:t> $ cd ..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:/home $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9400A0-9BE6-4CB1-B31B-19ED96FEDA89}"/>
              </a:ext>
            </a:extLst>
          </p:cNvPr>
          <p:cNvSpPr/>
          <p:nvPr/>
        </p:nvSpPr>
        <p:spPr>
          <a:xfrm>
            <a:off x="1403648" y="4978623"/>
            <a:ext cx="6399376" cy="107721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:/home/</a:t>
            </a:r>
            <a:r>
              <a:rPr lang="en-US" altLang="ko-KR" sz="1600" b="1" dirty="0" err="1"/>
              <a:t>kitae</a:t>
            </a:r>
            <a:r>
              <a:rPr lang="en-US" altLang="ko-KR" sz="1600" b="1" dirty="0"/>
              <a:t> $ cd ~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</a:t>
            </a:r>
            <a:r>
              <a:rPr lang="en-US" altLang="ko-KR" sz="1600" b="1" dirty="0" err="1"/>
              <a:t>pwd</a:t>
            </a:r>
            <a:endParaRPr lang="en-US" altLang="ko-KR" sz="1600" b="1" dirty="0"/>
          </a:p>
          <a:p>
            <a:r>
              <a:rPr lang="en-US" altLang="ko-KR" sz="1600" dirty="0"/>
              <a:t>/home/pi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</a:t>
            </a:r>
          </a:p>
        </p:txBody>
      </p:sp>
    </p:spTree>
    <p:extLst>
      <p:ext uri="{BB962C8B-B14F-4D97-AF65-F5344CB8AC3E}">
        <p14:creationId xmlns:p14="http://schemas.microsoft.com/office/powerpoint/2010/main" val="4126969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DA1A7-10C3-479C-A48D-BFC45C38F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</a:t>
            </a:r>
            <a:r>
              <a:rPr lang="ko-KR" altLang="en-US" dirty="0" err="1"/>
              <a:t>를</a:t>
            </a:r>
            <a:r>
              <a:rPr lang="ko-KR" altLang="en-US" dirty="0"/>
              <a:t> 이용한 </a:t>
            </a:r>
            <a:r>
              <a:rPr lang="ko-KR" altLang="en-US"/>
              <a:t>파일 편집 </a:t>
            </a:r>
            <a:r>
              <a:rPr lang="en-US" altLang="ko-KR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DAAF5-2459-4BED-B177-516297B06B0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vi - </a:t>
            </a:r>
            <a:r>
              <a:rPr lang="ko-KR" altLang="en-US"/>
              <a:t>유닉스 계열 운영체제의 대표 파일편집프로그램</a:t>
            </a:r>
            <a:endParaRPr lang="en-US" altLang="ko-KR" dirty="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[</a:t>
            </a:r>
            <a:r>
              <a:rPr lang="ko-KR" altLang="en-US" sz="2000"/>
              <a:t>단계 </a:t>
            </a:r>
            <a:r>
              <a:rPr lang="en-US" altLang="ko-KR" sz="2000"/>
              <a:t>1] </a:t>
            </a:r>
            <a:r>
              <a:rPr lang="en-US" altLang="ko-KR" sz="2000" dirty="0"/>
              <a:t>vi </a:t>
            </a:r>
            <a:r>
              <a:rPr lang="ko-KR" altLang="en-US" sz="2000" dirty="0"/>
              <a:t>실행으로 </a:t>
            </a:r>
            <a:r>
              <a:rPr lang="en-US" altLang="ko-KR" sz="2000" dirty="0" err="1"/>
              <a:t>hello.c</a:t>
            </a:r>
            <a:r>
              <a:rPr lang="en-US" altLang="ko-KR" sz="2000" dirty="0"/>
              <a:t> </a:t>
            </a:r>
            <a:r>
              <a:rPr lang="ko-KR" altLang="en-US" sz="2000" dirty="0"/>
              <a:t>생성하기</a:t>
            </a:r>
            <a:endParaRPr lang="en-US" altLang="ko-KR" sz="2000" dirty="0"/>
          </a:p>
          <a:p>
            <a:endParaRPr lang="en-US" altLang="ko-KR" sz="2000" dirty="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[</a:t>
            </a:r>
            <a:r>
              <a:rPr lang="ko-KR" altLang="en-US" sz="2000"/>
              <a:t>단계 </a:t>
            </a:r>
            <a:r>
              <a:rPr lang="en-US" altLang="ko-KR" sz="2000"/>
              <a:t>2] </a:t>
            </a:r>
            <a:r>
              <a:rPr lang="ko-KR" altLang="en-US" sz="2000" dirty="0"/>
              <a:t>명령모드 </a:t>
            </a:r>
            <a:r>
              <a:rPr lang="en-US" altLang="ko-KR" sz="2000" dirty="0"/>
              <a:t>-&gt; </a:t>
            </a:r>
            <a:r>
              <a:rPr lang="ko-KR" altLang="en-US" sz="2000" dirty="0"/>
              <a:t>입력모드 전환하기</a:t>
            </a:r>
          </a:p>
          <a:p>
            <a:pPr lvl="1"/>
            <a:r>
              <a:rPr lang="ko-KR" altLang="en-US" dirty="0"/>
              <a:t>아래와 같이 </a:t>
            </a:r>
            <a:r>
              <a:rPr lang="en-US" altLang="ko-KR" dirty="0" err="1"/>
              <a:t>i</a:t>
            </a:r>
            <a:r>
              <a:rPr lang="en-US" altLang="ko-KR" dirty="0"/>
              <a:t> </a:t>
            </a:r>
            <a:r>
              <a:rPr lang="ko-KR" altLang="en-US" dirty="0"/>
              <a:t>키를 입력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4AC8B6-4784-4205-A4E8-B77C996E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1BB3C4-B0A9-4068-8CD3-D5CBB13BFF11}"/>
              </a:ext>
            </a:extLst>
          </p:cNvPr>
          <p:cNvSpPr/>
          <p:nvPr/>
        </p:nvSpPr>
        <p:spPr>
          <a:xfrm>
            <a:off x="971600" y="2708920"/>
            <a:ext cx="684076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nb-NO" altLang="ko-KR" sz="1400" b="1" dirty="0"/>
              <a:t>pi@pi:~ $ vi hello.c</a:t>
            </a:r>
            <a:endParaRPr lang="en-US" altLang="ko-KR" sz="14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E43E46E-E796-45CF-A4B1-3A2DC09B7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275580"/>
            <a:ext cx="6840760" cy="206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45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6BA21-B465-413A-9774-E10E7880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</a:t>
            </a:r>
            <a:r>
              <a:rPr lang="ko-KR" altLang="en-US" dirty="0" err="1"/>
              <a:t>를</a:t>
            </a:r>
            <a:r>
              <a:rPr lang="ko-KR" altLang="en-US" dirty="0"/>
              <a:t> 이용한 </a:t>
            </a:r>
            <a:r>
              <a:rPr lang="ko-KR" altLang="en-US"/>
              <a:t>파일 편집 </a:t>
            </a:r>
            <a:r>
              <a:rPr lang="en-US" altLang="ko-KR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B32E06-9247-4C22-984E-E1C4BD55DA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/>
              <a:t>[</a:t>
            </a:r>
            <a:r>
              <a:rPr lang="ko-KR" altLang="en-US" sz="2000"/>
              <a:t>단계 </a:t>
            </a:r>
            <a:r>
              <a:rPr lang="en-US" altLang="ko-KR" sz="2000"/>
              <a:t>3] </a:t>
            </a:r>
            <a:r>
              <a:rPr lang="ko-KR" altLang="en-US" sz="2000" dirty="0"/>
              <a:t>입력하기</a:t>
            </a:r>
          </a:p>
          <a:p>
            <a:pPr lvl="1"/>
            <a:r>
              <a:rPr lang="ko-KR" altLang="en-US" sz="1800"/>
              <a:t>코드 입력 </a:t>
            </a:r>
            <a:r>
              <a:rPr lang="en-US" altLang="ko-KR" sz="1800"/>
              <a:t>- </a:t>
            </a:r>
            <a:r>
              <a:rPr lang="ko-KR" altLang="en-US" sz="1800"/>
              <a:t>현재 그대로 </a:t>
            </a:r>
            <a:r>
              <a:rPr lang="ko-KR" altLang="en-US" sz="1600"/>
              <a:t>틀린 </a:t>
            </a:r>
            <a:r>
              <a:rPr lang="ko-KR" altLang="en-US" sz="1600" dirty="0"/>
              <a:t>상태로 입력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373BB9-96D5-4F2F-A6BD-A7DB67AE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44E30B-0698-4071-8582-D8CD78CBE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3" y="2204864"/>
            <a:ext cx="7416825" cy="269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56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12ED4-771A-4AAB-A73C-C4F0DEA7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</a:t>
            </a:r>
            <a:r>
              <a:rPr lang="ko-KR" altLang="en-US" dirty="0" err="1"/>
              <a:t>를</a:t>
            </a:r>
            <a:r>
              <a:rPr lang="ko-KR" altLang="en-US" dirty="0"/>
              <a:t> 이용한 </a:t>
            </a:r>
            <a:r>
              <a:rPr lang="ko-KR" altLang="en-US"/>
              <a:t>파일 편집 </a:t>
            </a:r>
            <a:r>
              <a:rPr lang="en-US" altLang="ko-KR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EBB909-4F53-490F-AA67-9C5D15D9F9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단계 </a:t>
            </a:r>
            <a:r>
              <a:rPr lang="en-US" altLang="ko-KR" sz="2000" dirty="0"/>
              <a:t>4] ‘ESC’ </a:t>
            </a:r>
            <a:r>
              <a:rPr lang="ko-KR" altLang="en-US" sz="2000" dirty="0"/>
              <a:t>키로 입력모드에서 명령모드로 전환</a:t>
            </a:r>
          </a:p>
          <a:p>
            <a:pPr lvl="1"/>
            <a:r>
              <a:rPr lang="ko-KR" altLang="en-US" sz="1800" dirty="0"/>
              <a:t>입력모드 상태에서 </a:t>
            </a:r>
            <a:r>
              <a:rPr lang="en-US" altLang="ko-KR" sz="1800" dirty="0"/>
              <a:t>‘ESC’ </a:t>
            </a:r>
            <a:r>
              <a:rPr lang="ko-KR" altLang="en-US" sz="1800" dirty="0"/>
              <a:t>키 입력</a:t>
            </a:r>
            <a:endParaRPr lang="en-US" altLang="ko-KR" sz="1800" dirty="0"/>
          </a:p>
          <a:p>
            <a:pPr marL="320040" lvl="1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단계 </a:t>
            </a:r>
            <a:r>
              <a:rPr lang="en-US" altLang="ko-KR" sz="2000" dirty="0"/>
              <a:t>5] vi </a:t>
            </a:r>
            <a:r>
              <a:rPr lang="ko-KR" altLang="en-US" sz="2000" dirty="0"/>
              <a:t>편집 종료</a:t>
            </a:r>
          </a:p>
          <a:p>
            <a:pPr lvl="1"/>
            <a:r>
              <a:rPr lang="ko-KR" altLang="en-US" sz="1800" dirty="0"/>
              <a:t>명령모드에서 </a:t>
            </a:r>
            <a:r>
              <a:rPr lang="en-US" altLang="ko-KR" sz="1800" dirty="0"/>
              <a:t>‘:’ </a:t>
            </a:r>
            <a:r>
              <a:rPr lang="ko-KR" altLang="en-US" sz="1800" dirty="0"/>
              <a:t>키 입력</a:t>
            </a:r>
            <a:r>
              <a:rPr lang="en-US" altLang="ko-KR" sz="1800" dirty="0"/>
              <a:t>, vi </a:t>
            </a:r>
            <a:r>
              <a:rPr lang="ko-KR" altLang="en-US" sz="1800" dirty="0"/>
              <a:t>창의 맨 밑에 나타남</a:t>
            </a:r>
            <a:endParaRPr lang="en-US" altLang="ko-KR" sz="1800" dirty="0"/>
          </a:p>
          <a:p>
            <a:pPr lvl="2"/>
            <a:r>
              <a:rPr lang="ko-KR" altLang="en-US" sz="1600" dirty="0"/>
              <a:t>맨 밑에 나타나지 않으면 아직도 입력 모드이므로 </a:t>
            </a:r>
            <a:r>
              <a:rPr lang="en-US" altLang="ko-KR" sz="1600" dirty="0"/>
              <a:t>‘</a:t>
            </a:r>
            <a:r>
              <a:rPr lang="ko-KR" altLang="en-US" sz="1600" dirty="0"/>
              <a:t>단계 </a:t>
            </a:r>
            <a:r>
              <a:rPr lang="en-US" altLang="ko-KR" sz="1600" dirty="0"/>
              <a:t>4’</a:t>
            </a:r>
            <a:r>
              <a:rPr lang="ko-KR" altLang="en-US" sz="1600" dirty="0"/>
              <a:t>다시 실행 </a:t>
            </a:r>
            <a:r>
              <a:rPr lang="ko-KR" altLang="en-US" dirty="0"/>
              <a:t>후 </a:t>
            </a:r>
            <a:r>
              <a:rPr lang="en-US" altLang="ko-KR" dirty="0"/>
              <a:t>‘</a:t>
            </a:r>
            <a:r>
              <a:rPr lang="ko-KR" altLang="en-US" dirty="0"/>
              <a:t>단계</a:t>
            </a:r>
            <a:r>
              <a:rPr lang="en-US" altLang="ko-KR" dirty="0"/>
              <a:t>5’</a:t>
            </a:r>
            <a:r>
              <a:rPr lang="ko-KR" altLang="en-US" dirty="0"/>
              <a:t> 실행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221358-BCB7-4991-ADC2-E61A85A45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DBB358-8611-4637-BCC4-D1CBC2E97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96" y="3865815"/>
            <a:ext cx="7153607" cy="260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65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AA440-68A4-4EB3-A6D8-C9C626B71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</a:t>
            </a:r>
            <a:r>
              <a:rPr lang="ko-KR" altLang="en-US" dirty="0" err="1"/>
              <a:t>를</a:t>
            </a:r>
            <a:r>
              <a:rPr lang="ko-KR" altLang="en-US" dirty="0"/>
              <a:t> 이용한 </a:t>
            </a:r>
            <a:r>
              <a:rPr lang="ko-KR" altLang="en-US"/>
              <a:t>파일 편집 </a:t>
            </a:r>
            <a:r>
              <a:rPr lang="en-US" altLang="ko-KR"/>
              <a:t>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5C0274-8CE8-4CE7-8243-E3F999D815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/>
              <a:t>[</a:t>
            </a:r>
            <a:r>
              <a:rPr lang="ko-KR" altLang="en-US" sz="2000"/>
              <a:t>단계 </a:t>
            </a:r>
            <a:r>
              <a:rPr lang="en-US" altLang="ko-KR" sz="2000"/>
              <a:t>6] </a:t>
            </a:r>
            <a:r>
              <a:rPr lang="en-US" altLang="ko-KR" sz="2000" dirty="0" err="1"/>
              <a:t>hello.c</a:t>
            </a:r>
            <a:r>
              <a:rPr lang="en-US" altLang="ko-KR" sz="2000" dirty="0"/>
              <a:t> </a:t>
            </a:r>
            <a:r>
              <a:rPr lang="ko-KR" altLang="en-US" sz="2000" dirty="0"/>
              <a:t>파일 확인</a:t>
            </a:r>
            <a:endParaRPr lang="en-US" altLang="ko-KR" sz="2000" dirty="0"/>
          </a:p>
          <a:p>
            <a:pPr lvl="1"/>
            <a:r>
              <a:rPr lang="en-US" altLang="ko-KR" sz="1800"/>
              <a:t>ls </a:t>
            </a:r>
            <a:r>
              <a:rPr lang="ko-KR" altLang="en-US" sz="1800" dirty="0"/>
              <a:t>명령을 사용하여 </a:t>
            </a:r>
            <a:r>
              <a:rPr lang="en-US" altLang="ko-KR" sz="1800" dirty="0" err="1"/>
              <a:t>hello.c</a:t>
            </a:r>
            <a:r>
              <a:rPr lang="ko-KR" altLang="en-US" sz="1800" dirty="0"/>
              <a:t>가 </a:t>
            </a:r>
            <a:r>
              <a:rPr lang="ko-KR" altLang="en-US" sz="1800"/>
              <a:t>생성된 것 </a:t>
            </a:r>
            <a:r>
              <a:rPr lang="ko-KR" altLang="en-US" sz="1800" dirty="0"/>
              <a:t>확인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en-US" altLang="ko-KR" sz="1800"/>
              <a:t>cat </a:t>
            </a:r>
            <a:r>
              <a:rPr lang="ko-KR" altLang="en-US" sz="1800" dirty="0"/>
              <a:t>명령을 사용하여 </a:t>
            </a:r>
            <a:r>
              <a:rPr lang="en-US" altLang="ko-KR" sz="1800" dirty="0" err="1"/>
              <a:t>hello.c</a:t>
            </a:r>
            <a:r>
              <a:rPr lang="ko-KR" altLang="en-US" sz="1800" dirty="0"/>
              <a:t>의 내용 확인</a:t>
            </a:r>
            <a:endParaRPr lang="en-US" altLang="ko-KR" sz="1800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8483E5-4860-4765-B7E9-4FFE29361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B77D49-2B11-4895-9578-FEA5FB4D08D9}"/>
              </a:ext>
            </a:extLst>
          </p:cNvPr>
          <p:cNvSpPr/>
          <p:nvPr/>
        </p:nvSpPr>
        <p:spPr>
          <a:xfrm>
            <a:off x="1319874" y="3645024"/>
            <a:ext cx="6780518" cy="252028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nb-NO" altLang="ko-KR" sz="1400" b="1" dirty="0"/>
              <a:t>pi@pi:~ $ cat hello.c</a:t>
            </a:r>
          </a:p>
          <a:p>
            <a:r>
              <a:rPr lang="en-US" altLang="ko-KR" sz="1400" dirty="0"/>
              <a:t>#include &lt;</a:t>
            </a:r>
            <a:r>
              <a:rPr lang="en-US" altLang="ko-KR" sz="1400" dirty="0" err="1"/>
              <a:t>stdio.h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@include &lt;</a:t>
            </a:r>
            <a:r>
              <a:rPr lang="en-US" altLang="ko-KR" sz="1400" dirty="0" err="1"/>
              <a:t>unistd.h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int main() {</a:t>
            </a:r>
          </a:p>
          <a:p>
            <a:r>
              <a:rPr lang="en-US" altLang="ko-KR" sz="1400" dirty="0"/>
              <a:t>	</a:t>
            </a:r>
            <a:r>
              <a:rPr lang="en-US" altLang="ko-KR" sz="1400" dirty="0" err="1"/>
              <a:t>Whlie</a:t>
            </a:r>
            <a:r>
              <a:rPr lang="en-US" altLang="ko-KR" sz="1400" dirty="0"/>
              <a:t>(1{</a:t>
            </a:r>
          </a:p>
          <a:p>
            <a:r>
              <a:rPr lang="en-US" altLang="ko-KR" sz="1400" dirty="0"/>
              <a:t>	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(“Hello\n”);</a:t>
            </a:r>
          </a:p>
          <a:p>
            <a:r>
              <a:rPr lang="en-US" altLang="ko-KR" sz="1400" dirty="0"/>
              <a:t>	sleep(1)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    return 0;</a:t>
            </a:r>
          </a:p>
          <a:p>
            <a:r>
              <a:rPr lang="en-US" altLang="ko-KR" sz="1400" dirty="0"/>
              <a:t>}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 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836EEB-783B-4F28-8399-59B3B78955F1}"/>
              </a:ext>
            </a:extLst>
          </p:cNvPr>
          <p:cNvSpPr/>
          <p:nvPr/>
        </p:nvSpPr>
        <p:spPr>
          <a:xfrm>
            <a:off x="1319874" y="2123036"/>
            <a:ext cx="6780518" cy="86177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 $ ls</a:t>
            </a:r>
          </a:p>
          <a:p>
            <a:r>
              <a:rPr lang="en-US" altLang="ko-KR" sz="1400" dirty="0" err="1"/>
              <a:t>hello.c</a:t>
            </a:r>
            <a:endParaRPr lang="en-US" altLang="ko-KR" sz="1400" dirty="0"/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 $</a:t>
            </a:r>
          </a:p>
        </p:txBody>
      </p:sp>
    </p:spTree>
    <p:extLst>
      <p:ext uri="{BB962C8B-B14F-4D97-AF65-F5344CB8AC3E}">
        <p14:creationId xmlns:p14="http://schemas.microsoft.com/office/powerpoint/2010/main" val="11973682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F84EA-E11F-4EC7-B59F-C367E6590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vi</a:t>
            </a:r>
            <a:r>
              <a:rPr lang="ko-KR" altLang="en-US"/>
              <a:t>를 이용한 파일 편집 </a:t>
            </a:r>
            <a:r>
              <a:rPr lang="en-US" altLang="ko-KR"/>
              <a:t>(5)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D3D041-529C-49C3-987F-802C014579E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sz="2900"/>
              <a:t>[</a:t>
            </a:r>
            <a:r>
              <a:rPr lang="ko-KR" altLang="en-US" sz="2900"/>
              <a:t>단계 </a:t>
            </a:r>
            <a:r>
              <a:rPr lang="en-US" altLang="ko-KR" sz="2900"/>
              <a:t>7] vi</a:t>
            </a:r>
            <a:r>
              <a:rPr lang="ko-KR" altLang="en-US" sz="2900"/>
              <a:t>로 </a:t>
            </a:r>
            <a:r>
              <a:rPr lang="en-US" altLang="ko-KR" sz="2900"/>
              <a:t>hello.c </a:t>
            </a:r>
            <a:r>
              <a:rPr lang="ko-KR" altLang="en-US" sz="2900"/>
              <a:t>수정</a:t>
            </a:r>
          </a:p>
          <a:p>
            <a:pPr lvl="1"/>
            <a:r>
              <a:rPr lang="en-US" altLang="ko-KR" sz="2600"/>
              <a:t>$ vi hello.c</a:t>
            </a:r>
          </a:p>
          <a:p>
            <a:pPr lvl="1"/>
            <a:endParaRPr lang="en-US" altLang="ko-KR" sz="2600"/>
          </a:p>
          <a:p>
            <a:pPr lvl="1"/>
            <a:endParaRPr lang="en-US" altLang="ko-KR" sz="2600"/>
          </a:p>
          <a:p>
            <a:pPr lvl="1"/>
            <a:endParaRPr lang="en-US" altLang="ko-KR" sz="2600"/>
          </a:p>
          <a:p>
            <a:pPr lvl="1"/>
            <a:endParaRPr lang="en-US" altLang="ko-KR" sz="2600"/>
          </a:p>
          <a:p>
            <a:pPr lvl="1"/>
            <a:endParaRPr lang="en-US" altLang="ko-KR" sz="2600"/>
          </a:p>
          <a:p>
            <a:pPr lvl="1"/>
            <a:endParaRPr lang="en-US" altLang="ko-KR" sz="2600"/>
          </a:p>
          <a:p>
            <a:pPr lvl="1"/>
            <a:endParaRPr lang="en-US" altLang="ko-KR" sz="2600"/>
          </a:p>
          <a:p>
            <a:pPr lvl="1"/>
            <a:endParaRPr lang="en-US" altLang="ko-KR" sz="2600"/>
          </a:p>
          <a:p>
            <a:pPr lvl="1"/>
            <a:endParaRPr lang="en-US" altLang="ko-KR" sz="2600"/>
          </a:p>
          <a:p>
            <a:pPr lvl="1"/>
            <a:endParaRPr lang="en-US" altLang="ko-KR" sz="2600"/>
          </a:p>
          <a:p>
            <a:pPr lvl="1"/>
            <a:endParaRPr lang="en-US" altLang="ko-KR" sz="2600"/>
          </a:p>
          <a:p>
            <a:pPr marL="0" indent="0">
              <a:buNone/>
            </a:pPr>
            <a:r>
              <a:rPr lang="en-US" altLang="ko-KR" sz="2900"/>
              <a:t>[</a:t>
            </a:r>
            <a:r>
              <a:rPr lang="ko-KR" altLang="en-US" sz="2900"/>
              <a:t>단계 </a:t>
            </a:r>
            <a:r>
              <a:rPr lang="en-US" altLang="ko-KR" sz="2900"/>
              <a:t>8] </a:t>
            </a:r>
            <a:r>
              <a:rPr lang="ko-KR" altLang="en-US" sz="2900"/>
              <a:t>명령모드에서</a:t>
            </a:r>
            <a:r>
              <a:rPr lang="en-US" altLang="ko-KR" sz="2900"/>
              <a:t>(</a:t>
            </a:r>
            <a:r>
              <a:rPr lang="ko-KR" altLang="en-US" sz="2900"/>
              <a:t>현재 명령모드</a:t>
            </a:r>
            <a:r>
              <a:rPr lang="en-US" altLang="ko-KR" sz="2900"/>
              <a:t>)</a:t>
            </a:r>
            <a:r>
              <a:rPr lang="ko-KR" altLang="en-US" sz="2900"/>
              <a:t> 커서 이동</a:t>
            </a:r>
          </a:p>
          <a:p>
            <a:pPr lvl="2"/>
            <a:r>
              <a:rPr lang="en-US" altLang="ko-KR" sz="2400"/>
              <a:t>커서(화면 상의 </a:t>
            </a:r>
            <a:r>
              <a:rPr lang="ko-KR" altLang="en-US" sz="2400"/>
              <a:t>검은 </a:t>
            </a:r>
            <a:r>
              <a:rPr lang="en-US" altLang="ko-KR" sz="2400"/>
              <a:t>사각형)</a:t>
            </a:r>
          </a:p>
          <a:p>
            <a:pPr lvl="1"/>
            <a:r>
              <a:rPr lang="ko-KR" altLang="en-US" sz="2600"/>
              <a:t>상하좌우 화살키를 사용하여 커서 이동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FD160C-DC51-4DD3-B9FC-539054B1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023A823-B0B7-4FC9-94D7-ABE1F3284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988840"/>
            <a:ext cx="7129701" cy="280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868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67312-26F0-4F02-893F-2C9C51517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</a:t>
            </a:r>
            <a:r>
              <a:rPr lang="ko-KR" altLang="en-US" dirty="0" err="1"/>
              <a:t>를</a:t>
            </a:r>
            <a:r>
              <a:rPr lang="ko-KR" altLang="en-US" dirty="0"/>
              <a:t> 이용한 </a:t>
            </a:r>
            <a:r>
              <a:rPr lang="ko-KR" altLang="en-US"/>
              <a:t>파일 편집 </a:t>
            </a:r>
            <a:r>
              <a:rPr lang="en-US" altLang="ko-KR"/>
              <a:t>(6)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E2685-7ADE-4516-BFF6-8680E6DB30D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/>
              <a:t>[</a:t>
            </a:r>
            <a:r>
              <a:rPr lang="ko-KR" altLang="en-US" sz="2000"/>
              <a:t>단계 </a:t>
            </a:r>
            <a:r>
              <a:rPr lang="en-US" altLang="ko-KR" sz="2000"/>
              <a:t>9] </a:t>
            </a:r>
            <a:r>
              <a:rPr lang="ko-KR" altLang="en-US" sz="2000" dirty="0"/>
              <a:t>편집된 </a:t>
            </a:r>
            <a:r>
              <a:rPr lang="ko-KR" altLang="en-US" sz="2000"/>
              <a:t>내용 수정</a:t>
            </a:r>
            <a:r>
              <a:rPr lang="en-US" altLang="ko-KR" sz="2000"/>
              <a:t> (1)</a:t>
            </a:r>
            <a:endParaRPr lang="ko-KR" altLang="en-US" sz="2000"/>
          </a:p>
          <a:p>
            <a:pPr lvl="1" fontAlgn="base"/>
            <a:r>
              <a:rPr lang="ko-KR" altLang="en-US" sz="1800" b="1"/>
              <a:t>첫번째 오류 ‘</a:t>
            </a:r>
            <a:r>
              <a:rPr lang="en-US" altLang="ko-KR" sz="1800" b="1"/>
              <a:t>@include’</a:t>
            </a:r>
            <a:r>
              <a:rPr lang="ko-KR" altLang="en-US" sz="1800" b="1"/>
              <a:t>를 ‘</a:t>
            </a:r>
            <a:r>
              <a:rPr lang="en-US" altLang="ko-KR" sz="1800" b="1"/>
              <a:t>#include’</a:t>
            </a:r>
            <a:r>
              <a:rPr lang="ko-KR" altLang="en-US" sz="1800" b="1"/>
              <a:t>로 수정 </a:t>
            </a:r>
          </a:p>
          <a:p>
            <a:pPr lvl="2" fontAlgn="base"/>
            <a:r>
              <a:rPr lang="en-US" altLang="ko-KR" sz="1600"/>
              <a:t>(</a:t>
            </a:r>
            <a:r>
              <a:rPr lang="en-US" altLang="ko-KR" sz="1600" dirty="0"/>
              <a:t>1) </a:t>
            </a:r>
            <a:r>
              <a:rPr lang="ko-KR" altLang="en-US" sz="1600" dirty="0"/>
              <a:t>상하좌우 화살 키를 이용하여 커서를 ‘</a:t>
            </a:r>
            <a:r>
              <a:rPr lang="en-US" altLang="ko-KR" sz="1600" dirty="0"/>
              <a:t>@’</a:t>
            </a:r>
            <a:r>
              <a:rPr lang="ko-KR" altLang="en-US" sz="1600"/>
              <a:t>위로 이동</a:t>
            </a:r>
            <a:endParaRPr lang="ko-KR" altLang="en-US" sz="1600" dirty="0"/>
          </a:p>
          <a:p>
            <a:pPr lvl="2" fontAlgn="base"/>
            <a:r>
              <a:rPr lang="en-US" altLang="ko-KR" sz="1600" dirty="0"/>
              <a:t>(2) ‘x</a:t>
            </a:r>
            <a:r>
              <a:rPr lang="en-US" altLang="ko-KR" sz="1600"/>
              <a:t>’ </a:t>
            </a:r>
            <a:r>
              <a:rPr lang="ko-KR" altLang="en-US" sz="1600"/>
              <a:t>키 입력</a:t>
            </a:r>
            <a:endParaRPr lang="en-US" altLang="ko-KR" sz="1600"/>
          </a:p>
          <a:p>
            <a:pPr lvl="3" fontAlgn="base"/>
            <a:r>
              <a:rPr lang="en-US" altLang="ko-KR" sz="1200"/>
              <a:t>‘</a:t>
            </a:r>
            <a:r>
              <a:rPr lang="en-US" altLang="ko-KR" sz="1200" dirty="0"/>
              <a:t>x’ </a:t>
            </a:r>
            <a:r>
              <a:rPr lang="ko-KR" altLang="en-US" sz="1200" dirty="0"/>
              <a:t>키는 현재 커서 위치의 문자를 지우는 </a:t>
            </a:r>
            <a:r>
              <a:rPr lang="ko-KR" altLang="en-US" sz="1200"/>
              <a:t>편집 명령</a:t>
            </a:r>
            <a:endParaRPr lang="en-US" altLang="ko-KR" sz="1200"/>
          </a:p>
          <a:p>
            <a:pPr lvl="3" fontAlgn="base"/>
            <a:r>
              <a:rPr lang="en-US" altLang="ko-KR" sz="1200"/>
              <a:t>‘@’</a:t>
            </a:r>
            <a:r>
              <a:rPr lang="ko-KR" altLang="en-US" sz="1200" dirty="0"/>
              <a:t>가 지워지고 왼쪽으로 ‘</a:t>
            </a:r>
            <a:r>
              <a:rPr lang="en-US" altLang="ko-KR" sz="1200" dirty="0"/>
              <a:t>include’</a:t>
            </a:r>
            <a:r>
              <a:rPr lang="ko-KR" altLang="en-US" sz="1200" dirty="0"/>
              <a:t>가 이동되며</a:t>
            </a:r>
            <a:r>
              <a:rPr lang="en-US" altLang="ko-KR" sz="1200" dirty="0"/>
              <a:t>, </a:t>
            </a:r>
            <a:r>
              <a:rPr lang="ko-KR" altLang="en-US" sz="1200" dirty="0"/>
              <a:t>커서는 현재 ‘</a:t>
            </a:r>
            <a:r>
              <a:rPr lang="en-US" altLang="ko-KR" sz="1200" dirty="0" err="1"/>
              <a:t>i</a:t>
            </a:r>
            <a:r>
              <a:rPr lang="en-US" altLang="ko-KR" sz="1200" dirty="0"/>
              <a:t>’ </a:t>
            </a:r>
            <a:r>
              <a:rPr lang="ko-KR" altLang="en-US" sz="1200" dirty="0"/>
              <a:t>위에 </a:t>
            </a:r>
            <a:r>
              <a:rPr lang="ko-KR" altLang="en-US" sz="1200"/>
              <a:t>있게 됨</a:t>
            </a:r>
            <a:endParaRPr lang="ko-KR" altLang="en-US" sz="1200" dirty="0"/>
          </a:p>
          <a:p>
            <a:pPr lvl="2" fontAlgn="base"/>
            <a:r>
              <a:rPr lang="en-US" altLang="ko-KR" sz="1600" dirty="0"/>
              <a:t>(3) ‘</a:t>
            </a:r>
            <a:r>
              <a:rPr lang="en-US" altLang="ko-KR" sz="1600" dirty="0" err="1"/>
              <a:t>i</a:t>
            </a:r>
            <a:r>
              <a:rPr lang="en-US" altLang="ko-KR" sz="1600" dirty="0"/>
              <a:t>’ </a:t>
            </a:r>
            <a:r>
              <a:rPr lang="ko-KR" altLang="en-US" sz="1600" dirty="0"/>
              <a:t>키를 입력하여 </a:t>
            </a:r>
            <a:r>
              <a:rPr lang="ko-KR" altLang="en-US" sz="1600"/>
              <a:t>입력모드로 전환</a:t>
            </a:r>
            <a:r>
              <a:rPr lang="en-US" altLang="ko-KR" sz="1600"/>
              <a:t>, </a:t>
            </a:r>
            <a:r>
              <a:rPr lang="en-US" altLang="ko-KR" sz="1600" dirty="0"/>
              <a:t>‘#’ </a:t>
            </a:r>
            <a:r>
              <a:rPr lang="ko-KR" altLang="en-US" sz="1600" dirty="0"/>
              <a:t>키를 입력하면 커서가 있는 위치에 ‘</a:t>
            </a:r>
            <a:r>
              <a:rPr lang="en-US" altLang="ko-KR" sz="1600"/>
              <a:t>#’ </a:t>
            </a:r>
            <a:r>
              <a:rPr lang="ko-KR" altLang="en-US" sz="1600"/>
              <a:t>문자 삽입</a:t>
            </a:r>
            <a:endParaRPr lang="ko-KR" altLang="en-US" sz="1600" dirty="0"/>
          </a:p>
          <a:p>
            <a:pPr lvl="2" fontAlgn="base"/>
            <a:r>
              <a:rPr lang="en-US" altLang="ko-KR" sz="1600" dirty="0"/>
              <a:t>(4) ‘ESC’ </a:t>
            </a:r>
            <a:r>
              <a:rPr lang="ko-KR" altLang="en-US" sz="1600" dirty="0"/>
              <a:t>키를 입력하여 </a:t>
            </a:r>
            <a:r>
              <a:rPr lang="ko-KR" altLang="en-US" sz="1600"/>
              <a:t>명령모드로 전환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F608B9-830B-4BD1-A7BA-1F9701C6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5033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CFCA8-981C-4A20-BDB8-196311DE5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</a:t>
            </a:r>
            <a:r>
              <a:rPr lang="ko-KR" altLang="en-US" dirty="0" err="1"/>
              <a:t>를</a:t>
            </a:r>
            <a:r>
              <a:rPr lang="ko-KR" altLang="en-US" dirty="0"/>
              <a:t> 이용한 </a:t>
            </a:r>
            <a:r>
              <a:rPr lang="ko-KR" altLang="en-US"/>
              <a:t>파일 편집 </a:t>
            </a:r>
            <a:r>
              <a:rPr lang="en-US" altLang="ko-KR"/>
              <a:t>(7)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085608-E7CC-416A-B405-EC52B0A5F6A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/>
              <a:t>[</a:t>
            </a:r>
            <a:r>
              <a:rPr lang="ko-KR" altLang="en-US" sz="2000"/>
              <a:t>단계 </a:t>
            </a:r>
            <a:r>
              <a:rPr lang="en-US" altLang="ko-KR" sz="2000"/>
              <a:t>9] </a:t>
            </a:r>
            <a:r>
              <a:rPr lang="ko-KR" altLang="en-US" sz="2000" dirty="0"/>
              <a:t>편집된 내용 </a:t>
            </a:r>
            <a:r>
              <a:rPr lang="ko-KR" altLang="en-US" sz="2000"/>
              <a:t>수정</a:t>
            </a:r>
            <a:r>
              <a:rPr lang="en-US" altLang="ko-KR" sz="2000"/>
              <a:t>(2)</a:t>
            </a:r>
            <a:endParaRPr lang="en-US" altLang="ko-KR" sz="2000" dirty="0"/>
          </a:p>
          <a:p>
            <a:pPr lvl="1" fontAlgn="base"/>
            <a:r>
              <a:rPr lang="ko-KR" altLang="en-US" sz="1800" b="1" dirty="0"/>
              <a:t>두 번째 오류 ‘</a:t>
            </a:r>
            <a:r>
              <a:rPr lang="en-US" altLang="ko-KR" sz="1800" b="1" dirty="0" err="1"/>
              <a:t>Whlie</a:t>
            </a:r>
            <a:r>
              <a:rPr lang="en-US" altLang="ko-KR" sz="1800" b="1" dirty="0"/>
              <a:t>(1</a:t>
            </a:r>
            <a:r>
              <a:rPr lang="en-US" altLang="ko-KR" sz="1800" b="1"/>
              <a:t>{’; </a:t>
            </a:r>
            <a:r>
              <a:rPr lang="ko-KR" altLang="en-US" sz="1800" b="1"/>
              <a:t>을 </a:t>
            </a:r>
            <a:r>
              <a:rPr lang="ko-KR" altLang="en-US" sz="1800" b="1" dirty="0"/>
              <a:t>‘</a:t>
            </a:r>
            <a:r>
              <a:rPr lang="en-US" altLang="ko-KR" sz="1800" b="1" dirty="0"/>
              <a:t>while(1) {’ </a:t>
            </a:r>
            <a:r>
              <a:rPr lang="ko-KR" altLang="en-US" sz="1800" b="1"/>
              <a:t>로 수정</a:t>
            </a:r>
            <a:endParaRPr lang="ko-KR" altLang="en-US" sz="1800" b="1" dirty="0"/>
          </a:p>
          <a:p>
            <a:pPr lvl="2" fontAlgn="base"/>
            <a:r>
              <a:rPr lang="ko-KR" altLang="en-US" sz="1600"/>
              <a:t>이 라인에 여러 오류 존재</a:t>
            </a:r>
            <a:r>
              <a:rPr lang="en-US" altLang="ko-KR" sz="1600"/>
              <a:t>, </a:t>
            </a:r>
            <a:r>
              <a:rPr lang="ko-KR" altLang="en-US" sz="1600"/>
              <a:t>이 </a:t>
            </a:r>
            <a:r>
              <a:rPr lang="ko-KR" altLang="en-US" sz="1600" dirty="0"/>
              <a:t>라인을 지우고 새로 </a:t>
            </a:r>
            <a:r>
              <a:rPr lang="ko-KR" altLang="en-US" sz="1600"/>
              <a:t>입력하는 방법 설명</a:t>
            </a:r>
            <a:endParaRPr lang="ko-KR" altLang="en-US" sz="1600" dirty="0"/>
          </a:p>
          <a:p>
            <a:pPr lvl="2" fontAlgn="base"/>
            <a:r>
              <a:rPr lang="en-US" altLang="ko-KR" sz="1600" dirty="0"/>
              <a:t>(1) </a:t>
            </a:r>
            <a:r>
              <a:rPr lang="ko-KR" altLang="en-US" sz="1600" dirty="0"/>
              <a:t>상하좌우 </a:t>
            </a:r>
            <a:r>
              <a:rPr lang="ko-KR" altLang="en-US" sz="1600"/>
              <a:t>화살 키 활용</a:t>
            </a:r>
            <a:r>
              <a:rPr lang="en-US" altLang="ko-KR" sz="1600"/>
              <a:t>,</a:t>
            </a:r>
            <a:r>
              <a:rPr lang="ko-KR" altLang="en-US" sz="1600"/>
              <a:t> </a:t>
            </a:r>
            <a:r>
              <a:rPr lang="ko-KR" altLang="en-US" sz="1600" dirty="0"/>
              <a:t>커서를 ‘</a:t>
            </a:r>
            <a:r>
              <a:rPr lang="en-US" altLang="ko-KR" sz="1600" dirty="0" err="1"/>
              <a:t>Whlie</a:t>
            </a:r>
            <a:r>
              <a:rPr lang="en-US" altLang="ko-KR" sz="1600" dirty="0"/>
              <a:t>(1{’;</a:t>
            </a:r>
            <a:r>
              <a:rPr lang="ko-KR" altLang="en-US" sz="1600" dirty="0"/>
              <a:t>가 있는 라인의 아무 </a:t>
            </a:r>
            <a:r>
              <a:rPr lang="ko-KR" altLang="en-US" sz="1600"/>
              <a:t>위치로 이동</a:t>
            </a:r>
            <a:endParaRPr lang="ko-KR" altLang="en-US" sz="1600" dirty="0"/>
          </a:p>
          <a:p>
            <a:pPr lvl="2" fontAlgn="base"/>
            <a:r>
              <a:rPr lang="en-US" altLang="ko-KR" sz="1600" dirty="0"/>
              <a:t>(2) ‘dd</a:t>
            </a:r>
            <a:r>
              <a:rPr lang="en-US" altLang="ko-KR" sz="1600"/>
              <a:t>’ </a:t>
            </a:r>
            <a:r>
              <a:rPr lang="ko-KR" altLang="en-US" sz="1600"/>
              <a:t>키 입력</a:t>
            </a:r>
            <a:r>
              <a:rPr lang="en-US" altLang="ko-KR" sz="1600"/>
              <a:t>(</a:t>
            </a:r>
            <a:r>
              <a:rPr lang="en-US" altLang="ko-KR" sz="1600" dirty="0"/>
              <a:t>d</a:t>
            </a:r>
            <a:r>
              <a:rPr lang="ko-KR" altLang="en-US" sz="1600" dirty="0"/>
              <a:t>를 </a:t>
            </a:r>
            <a:r>
              <a:rPr lang="en-US" altLang="ko-KR" sz="1600" dirty="0"/>
              <a:t>2</a:t>
            </a:r>
            <a:r>
              <a:rPr lang="ko-KR" altLang="en-US" sz="1600" dirty="0"/>
              <a:t>번 입력</a:t>
            </a:r>
            <a:r>
              <a:rPr lang="en-US" altLang="ko-KR" sz="1600"/>
              <a:t>). </a:t>
            </a:r>
          </a:p>
          <a:p>
            <a:pPr lvl="3" fontAlgn="base"/>
            <a:r>
              <a:rPr lang="en-US" altLang="ko-KR" sz="1200"/>
              <a:t>dd</a:t>
            </a:r>
            <a:r>
              <a:rPr lang="ko-KR" altLang="en-US" sz="1200" dirty="0"/>
              <a:t>는 커서가 있는 라인을 </a:t>
            </a:r>
            <a:r>
              <a:rPr lang="ko-KR" altLang="en-US" sz="1200"/>
              <a:t>지우는 명령</a:t>
            </a:r>
            <a:endParaRPr lang="ko-KR" altLang="en-US" sz="1200" dirty="0"/>
          </a:p>
          <a:p>
            <a:pPr lvl="2" fontAlgn="base"/>
            <a:r>
              <a:rPr lang="en-US" altLang="ko-KR" sz="1600" dirty="0"/>
              <a:t>(3) </a:t>
            </a:r>
            <a:r>
              <a:rPr lang="ko-KR" altLang="en-US" sz="1600" dirty="0"/>
              <a:t>커서를 ‘</a:t>
            </a:r>
            <a:r>
              <a:rPr lang="en-US" altLang="ko-KR" sz="1600" dirty="0"/>
              <a:t>main’ </a:t>
            </a:r>
            <a:r>
              <a:rPr lang="ko-KR" altLang="en-US" sz="1600" dirty="0"/>
              <a:t>있는 라인의 아무 </a:t>
            </a:r>
            <a:r>
              <a:rPr lang="ko-KR" altLang="en-US" sz="1600"/>
              <a:t>위치로 이동</a:t>
            </a:r>
            <a:r>
              <a:rPr lang="en-US" altLang="ko-KR" sz="1600"/>
              <a:t>, </a:t>
            </a:r>
            <a:r>
              <a:rPr lang="en-US" altLang="ko-KR" sz="1600" dirty="0"/>
              <a:t>‘o</a:t>
            </a:r>
            <a:r>
              <a:rPr lang="en-US" altLang="ko-KR" sz="1600"/>
              <a:t>’ </a:t>
            </a:r>
            <a:r>
              <a:rPr lang="ko-KR" altLang="en-US" sz="1600"/>
              <a:t>키 입력</a:t>
            </a:r>
            <a:endParaRPr lang="en-US" altLang="ko-KR" sz="1600"/>
          </a:p>
          <a:p>
            <a:pPr lvl="3" fontAlgn="base"/>
            <a:r>
              <a:rPr lang="en-US" altLang="ko-KR" sz="1200"/>
              <a:t>‘</a:t>
            </a:r>
            <a:r>
              <a:rPr lang="en-US" altLang="ko-KR" sz="1200" dirty="0"/>
              <a:t>o’ </a:t>
            </a:r>
            <a:r>
              <a:rPr lang="ko-KR" altLang="en-US" sz="1200"/>
              <a:t>키는 커서가 있는 라인의 </a:t>
            </a:r>
            <a:r>
              <a:rPr lang="ko-KR" altLang="en-US" sz="1200" dirty="0"/>
              <a:t>아래에 빈 줄을 만들고</a:t>
            </a:r>
            <a:r>
              <a:rPr lang="en-US" altLang="ko-KR" sz="1200" dirty="0"/>
              <a:t>, </a:t>
            </a:r>
            <a:r>
              <a:rPr lang="ko-KR" altLang="en-US" sz="1200" dirty="0"/>
              <a:t>빈 줄로 커서를 옮기고</a:t>
            </a:r>
            <a:r>
              <a:rPr lang="en-US" altLang="ko-KR" sz="1200" dirty="0"/>
              <a:t>, </a:t>
            </a:r>
            <a:r>
              <a:rPr lang="ko-KR" altLang="en-US" sz="1200" dirty="0"/>
              <a:t>입력모드로 </a:t>
            </a:r>
            <a:r>
              <a:rPr lang="ko-KR" altLang="en-US" sz="1200"/>
              <a:t>바꾸는 명령</a:t>
            </a:r>
            <a:endParaRPr lang="ko-KR" altLang="en-US" sz="1200" dirty="0"/>
          </a:p>
          <a:p>
            <a:pPr lvl="2" fontAlgn="base"/>
            <a:r>
              <a:rPr lang="en-US" altLang="ko-KR" sz="1600" dirty="0"/>
              <a:t>(4) </a:t>
            </a:r>
            <a:r>
              <a:rPr lang="ko-KR" altLang="en-US" sz="1600" dirty="0"/>
              <a:t>현재 </a:t>
            </a:r>
            <a:r>
              <a:rPr lang="ko-KR" altLang="en-US" sz="1600" dirty="0" err="1"/>
              <a:t>입력모드이므로</a:t>
            </a:r>
            <a:r>
              <a:rPr lang="ko-KR" altLang="en-US" sz="1600" dirty="0"/>
              <a:t> </a:t>
            </a:r>
            <a:r>
              <a:rPr lang="en-US" altLang="ko-KR" sz="1600" dirty="0"/>
              <a:t>[TAB</a:t>
            </a:r>
            <a:r>
              <a:rPr lang="en-US" altLang="ko-KR" sz="1600"/>
              <a:t>] </a:t>
            </a:r>
            <a:r>
              <a:rPr lang="ko-KR" altLang="en-US" sz="1600"/>
              <a:t>키 입력</a:t>
            </a:r>
            <a:r>
              <a:rPr lang="en-US" altLang="ko-KR" sz="1600"/>
              <a:t>,</a:t>
            </a:r>
            <a:r>
              <a:rPr lang="ko-KR" altLang="en-US" sz="1600"/>
              <a:t> </a:t>
            </a:r>
            <a:r>
              <a:rPr lang="ko-KR" altLang="en-US" sz="1600" dirty="0"/>
              <a:t>‘</a:t>
            </a:r>
            <a:r>
              <a:rPr lang="en-US" altLang="ko-KR" sz="1600" dirty="0"/>
              <a:t>while(1) {’</a:t>
            </a:r>
            <a:r>
              <a:rPr lang="ko-KR" altLang="en-US" sz="1600" dirty="0"/>
              <a:t>를 입력한 후</a:t>
            </a:r>
            <a:r>
              <a:rPr lang="en-US" altLang="ko-KR" sz="1600" dirty="0"/>
              <a:t>, ‘ESC’ </a:t>
            </a:r>
            <a:r>
              <a:rPr lang="ko-KR" altLang="en-US" sz="1600" dirty="0"/>
              <a:t>키를 입력하여 </a:t>
            </a:r>
            <a:r>
              <a:rPr lang="ko-KR" altLang="en-US" sz="1600"/>
              <a:t>명령모드로 전환</a:t>
            </a:r>
            <a:endParaRPr lang="ko-KR" altLang="en-US" sz="1600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F159F3-355E-40D1-8F91-567C94F8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741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AD229-3834-4346-9DF4-330C54A4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</a:t>
            </a:r>
            <a:r>
              <a:rPr lang="ko-KR" altLang="en-US" dirty="0" err="1"/>
              <a:t>를</a:t>
            </a:r>
            <a:r>
              <a:rPr lang="ko-KR" altLang="en-US" dirty="0"/>
              <a:t> 이용한 </a:t>
            </a:r>
            <a:r>
              <a:rPr lang="ko-KR" altLang="en-US"/>
              <a:t>파일 편집 </a:t>
            </a:r>
            <a:r>
              <a:rPr lang="en-US" altLang="ko-KR"/>
              <a:t>(8)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9306F-18A0-4060-8C5A-3B00705E03A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/>
              <a:t>[</a:t>
            </a:r>
            <a:r>
              <a:rPr lang="ko-KR" altLang="en-US" sz="2000"/>
              <a:t>단계 </a:t>
            </a:r>
            <a:r>
              <a:rPr lang="en-US" altLang="ko-KR" sz="2000"/>
              <a:t>9] </a:t>
            </a:r>
            <a:r>
              <a:rPr lang="ko-KR" altLang="en-US" sz="2000" dirty="0"/>
              <a:t>편집된 내용 </a:t>
            </a:r>
            <a:r>
              <a:rPr lang="ko-KR" altLang="en-US" sz="2000"/>
              <a:t>수정</a:t>
            </a:r>
            <a:r>
              <a:rPr lang="en-US" altLang="ko-KR" sz="2000"/>
              <a:t>(3)</a:t>
            </a:r>
            <a:endParaRPr lang="en-US" altLang="ko-KR" sz="2000" dirty="0"/>
          </a:p>
          <a:p>
            <a:pPr lvl="1" fontAlgn="base"/>
            <a:r>
              <a:rPr lang="ko-KR" altLang="en-US" sz="1800" b="1" dirty="0"/>
              <a:t>마지막 오류</a:t>
            </a:r>
            <a:r>
              <a:rPr lang="en-US" altLang="ko-KR" sz="1800" b="1" dirty="0"/>
              <a:t>, ‘sleep(1)’ </a:t>
            </a:r>
            <a:r>
              <a:rPr lang="ko-KR" altLang="en-US" sz="1800" b="1" dirty="0"/>
              <a:t>끝에 ‘</a:t>
            </a:r>
            <a:r>
              <a:rPr lang="en-US" altLang="ko-KR" sz="1800" b="1" dirty="0"/>
              <a:t>;’</a:t>
            </a:r>
            <a:r>
              <a:rPr lang="ko-KR" altLang="en-US" sz="1800" b="1"/>
              <a:t>을 추가</a:t>
            </a:r>
            <a:endParaRPr lang="ko-KR" altLang="en-US" sz="1800" b="1" dirty="0"/>
          </a:p>
          <a:p>
            <a:pPr lvl="2" fontAlgn="base"/>
            <a:r>
              <a:rPr lang="en-US" altLang="ko-KR" sz="1600" dirty="0"/>
              <a:t>(1) </a:t>
            </a:r>
            <a:r>
              <a:rPr lang="ko-KR" altLang="en-US" sz="1600" dirty="0"/>
              <a:t>커서를 ‘</a:t>
            </a:r>
            <a:r>
              <a:rPr lang="en-US" altLang="ko-KR" sz="1600" dirty="0"/>
              <a:t>sleep(1)’</a:t>
            </a:r>
            <a:r>
              <a:rPr lang="ko-KR" altLang="en-US" sz="1600" dirty="0"/>
              <a:t>의 마지막 글자 ‘</a:t>
            </a:r>
            <a:r>
              <a:rPr lang="en-US" altLang="ko-KR" sz="1600" dirty="0"/>
              <a:t>)’ </a:t>
            </a:r>
            <a:r>
              <a:rPr lang="ko-KR" altLang="en-US" sz="1600"/>
              <a:t>위치로 이동</a:t>
            </a:r>
            <a:endParaRPr lang="ko-KR" altLang="en-US" sz="1600" dirty="0"/>
          </a:p>
          <a:p>
            <a:pPr lvl="2" fontAlgn="base"/>
            <a:r>
              <a:rPr lang="en-US" altLang="ko-KR" sz="1600" dirty="0"/>
              <a:t>(2) ‘a</a:t>
            </a:r>
            <a:r>
              <a:rPr lang="en-US" altLang="ko-KR" sz="1600"/>
              <a:t>’ </a:t>
            </a:r>
            <a:r>
              <a:rPr lang="ko-KR" altLang="en-US" sz="1600"/>
              <a:t>키 입력</a:t>
            </a:r>
            <a:r>
              <a:rPr lang="en-US" altLang="ko-KR" sz="1600"/>
              <a:t>. </a:t>
            </a:r>
          </a:p>
          <a:p>
            <a:pPr lvl="3" fontAlgn="base"/>
            <a:r>
              <a:rPr lang="en-US" altLang="ko-KR" sz="1200"/>
              <a:t>‘</a:t>
            </a:r>
            <a:r>
              <a:rPr lang="en-US" altLang="ko-KR" sz="1200" dirty="0"/>
              <a:t>a’ </a:t>
            </a:r>
            <a:r>
              <a:rPr lang="ko-KR" altLang="en-US" sz="1200" dirty="0"/>
              <a:t>키는 입력모드로 바꾸고</a:t>
            </a:r>
            <a:r>
              <a:rPr lang="en-US" altLang="ko-KR" sz="1200" dirty="0"/>
              <a:t>, </a:t>
            </a:r>
            <a:r>
              <a:rPr lang="ko-KR" altLang="en-US" sz="1200" dirty="0"/>
              <a:t>커서 다음 위치부터 입력을 </a:t>
            </a:r>
            <a:r>
              <a:rPr lang="ko-KR" altLang="en-US" sz="1200"/>
              <a:t>시작하는 명령</a:t>
            </a:r>
            <a:r>
              <a:rPr lang="en-US" altLang="ko-KR" sz="1200"/>
              <a:t>. </a:t>
            </a:r>
            <a:r>
              <a:rPr lang="en-US" altLang="ko-KR" sz="1200" dirty="0"/>
              <a:t>(</a:t>
            </a:r>
            <a:r>
              <a:rPr lang="ko-KR" altLang="en-US" sz="1200" dirty="0"/>
              <a:t>참고로 ‘</a:t>
            </a:r>
            <a:r>
              <a:rPr lang="en-US" altLang="ko-KR" sz="1200" dirty="0"/>
              <a:t>sleep(1)’</a:t>
            </a:r>
            <a:r>
              <a:rPr lang="ko-KR" altLang="en-US" sz="1200" dirty="0"/>
              <a:t>이 있는 라인의 아무 위치에서 </a:t>
            </a:r>
            <a:r>
              <a:rPr lang="en-US" altLang="ko-KR" sz="1200" dirty="0"/>
              <a:t>[Shift]+A </a:t>
            </a:r>
            <a:r>
              <a:rPr lang="ko-KR" altLang="en-US" sz="1200" dirty="0"/>
              <a:t>키를 입력하면 현재 라인의 마지막부터 입력할 수 있다</a:t>
            </a:r>
            <a:r>
              <a:rPr lang="en-US" altLang="ko-KR" sz="1200" dirty="0"/>
              <a:t>.)</a:t>
            </a:r>
            <a:endParaRPr lang="ko-KR" altLang="en-US" sz="1200" dirty="0"/>
          </a:p>
          <a:p>
            <a:pPr lvl="2" fontAlgn="base"/>
            <a:r>
              <a:rPr lang="en-US" altLang="ko-KR" sz="1600" dirty="0"/>
              <a:t>(3</a:t>
            </a:r>
            <a:r>
              <a:rPr lang="en-US" altLang="ko-KR" sz="1600"/>
              <a:t>) ‘;’ </a:t>
            </a:r>
            <a:r>
              <a:rPr lang="ko-KR" altLang="en-US" sz="1600"/>
              <a:t>키 입력</a:t>
            </a:r>
            <a:r>
              <a:rPr lang="en-US" altLang="ko-KR" sz="1600"/>
              <a:t>,</a:t>
            </a:r>
            <a:r>
              <a:rPr lang="ko-KR" altLang="en-US" sz="1600"/>
              <a:t> </a:t>
            </a:r>
            <a:r>
              <a:rPr lang="ko-KR" altLang="en-US" sz="1600" dirty="0"/>
              <a:t>‘</a:t>
            </a:r>
            <a:r>
              <a:rPr lang="en-US" altLang="ko-KR" sz="1600" dirty="0"/>
              <a:t>ESC’ </a:t>
            </a:r>
            <a:r>
              <a:rPr lang="ko-KR" altLang="en-US" sz="1600" dirty="0"/>
              <a:t>키를 입력하여 </a:t>
            </a:r>
            <a:r>
              <a:rPr lang="ko-KR" altLang="en-US" sz="1600"/>
              <a:t>명령모드로 전환</a:t>
            </a:r>
            <a:endParaRPr lang="ko-KR" altLang="en-US" sz="16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8C8D7E-1311-41BF-B644-EA627DDF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986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8A9C49-1FBE-4A9A-8DF8-38FCF3C82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</a:t>
            </a:r>
            <a:r>
              <a:rPr lang="ko-KR" altLang="en-US" dirty="0" err="1"/>
              <a:t>를</a:t>
            </a:r>
            <a:r>
              <a:rPr lang="ko-KR" altLang="en-US" dirty="0"/>
              <a:t> 이용한 </a:t>
            </a:r>
            <a:r>
              <a:rPr lang="ko-KR" altLang="en-US"/>
              <a:t>파일 편집 </a:t>
            </a:r>
            <a:r>
              <a:rPr lang="en-US" altLang="ko-KR"/>
              <a:t>(9)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556198-B384-47F5-8931-160E828FDFC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/>
              <a:t>[</a:t>
            </a:r>
            <a:r>
              <a:rPr lang="ko-KR" altLang="en-US" sz="2000"/>
              <a:t>단계 </a:t>
            </a:r>
            <a:r>
              <a:rPr lang="en-US" altLang="ko-KR" sz="2000"/>
              <a:t>9] </a:t>
            </a:r>
            <a:r>
              <a:rPr lang="ko-KR" altLang="en-US" sz="2000"/>
              <a:t>최종 수정된 결과</a:t>
            </a:r>
            <a:endParaRPr lang="ko-KR" altLang="en-US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474F13-4858-48A4-A90C-2B82610F0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F293E7-7E42-42BF-B5AC-934A9CF47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16832"/>
            <a:ext cx="6984500" cy="252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69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70C1B-F549-4DDF-84FE-A229DF8BD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</a:t>
            </a:r>
            <a:r>
              <a:rPr lang="ko-KR" altLang="en-US" dirty="0" err="1"/>
              <a:t>를</a:t>
            </a:r>
            <a:r>
              <a:rPr lang="ko-KR" altLang="en-US" dirty="0"/>
              <a:t> 이용한 </a:t>
            </a:r>
            <a:r>
              <a:rPr lang="ko-KR" altLang="en-US"/>
              <a:t>파일 편집 </a:t>
            </a:r>
            <a:r>
              <a:rPr lang="en-US" altLang="ko-KR"/>
              <a:t>(10)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E882E-F63A-4D58-9520-47939F675BD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altLang="ko-KR" sz="2000"/>
              <a:t>[</a:t>
            </a:r>
            <a:r>
              <a:rPr lang="ko-KR" altLang="en-US" sz="2000"/>
              <a:t>단계 </a:t>
            </a:r>
            <a:r>
              <a:rPr lang="en-US" altLang="ko-KR" sz="2000"/>
              <a:t>10] </a:t>
            </a:r>
            <a:r>
              <a:rPr lang="ko-KR" altLang="en-US" sz="2000" dirty="0"/>
              <a:t>종료하기</a:t>
            </a:r>
          </a:p>
          <a:p>
            <a:pPr lvl="1" fontAlgn="base"/>
            <a:r>
              <a:rPr lang="en-US" altLang="ko-KR" sz="1800"/>
              <a:t>[</a:t>
            </a:r>
            <a:r>
              <a:rPr lang="ko-KR" altLang="en-US" sz="1800"/>
              <a:t>단계 </a:t>
            </a:r>
            <a:r>
              <a:rPr lang="en-US" altLang="ko-KR" sz="1800"/>
              <a:t>5]</a:t>
            </a:r>
            <a:r>
              <a:rPr lang="ko-KR" altLang="en-US" sz="1800"/>
              <a:t>와 </a:t>
            </a:r>
            <a:r>
              <a:rPr lang="ko-KR" altLang="en-US" sz="1800" dirty="0"/>
              <a:t>동일</a:t>
            </a:r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[</a:t>
            </a:r>
            <a:r>
              <a:rPr lang="ko-KR" altLang="en-US" sz="2000"/>
              <a:t>단계 </a:t>
            </a:r>
            <a:r>
              <a:rPr lang="en-US" altLang="ko-KR" sz="2000"/>
              <a:t>11] </a:t>
            </a:r>
            <a:r>
              <a:rPr lang="ko-KR" altLang="en-US" sz="2000" dirty="0"/>
              <a:t>올바른 입력 확인하기</a:t>
            </a:r>
            <a:endParaRPr lang="en-US" altLang="ko-KR" sz="2000" dirty="0"/>
          </a:p>
          <a:p>
            <a:pPr lvl="1"/>
            <a:r>
              <a:rPr lang="en-US" altLang="ko-KR" sz="1800" dirty="0" err="1"/>
              <a:t>hello.c</a:t>
            </a:r>
            <a:r>
              <a:rPr lang="ko-KR" altLang="en-US" sz="1800" dirty="0"/>
              <a:t>를 컴파일하여 올바른 입력 확인</a:t>
            </a:r>
            <a:endParaRPr lang="en-US" altLang="ko-KR" sz="1800" dirty="0"/>
          </a:p>
          <a:p>
            <a:pPr lvl="1"/>
            <a:r>
              <a:rPr lang="ko-KR" altLang="en-US" sz="1800"/>
              <a:t>리눅스의 </a:t>
            </a:r>
            <a:r>
              <a:rPr lang="en-US" altLang="ko-KR" sz="1800"/>
              <a:t>c</a:t>
            </a:r>
            <a:r>
              <a:rPr lang="ko-KR" altLang="en-US" sz="1800"/>
              <a:t> 컴파일러는 </a:t>
            </a:r>
            <a:r>
              <a:rPr lang="en-US" altLang="ko-KR" sz="1800"/>
              <a:t>gcc</a:t>
            </a:r>
            <a:r>
              <a:rPr lang="ko-KR" altLang="en-US" sz="1800"/>
              <a:t> </a:t>
            </a:r>
            <a:r>
              <a:rPr lang="en-US" altLang="ko-KR" sz="1800"/>
              <a:t>- </a:t>
            </a:r>
            <a:r>
              <a:rPr lang="ko-KR" altLang="en-US" sz="1800"/>
              <a:t>컴파일 결과 </a:t>
            </a:r>
            <a:r>
              <a:rPr lang="en-US" altLang="ko-KR" sz="1800"/>
              <a:t>a.out </a:t>
            </a:r>
            <a:r>
              <a:rPr lang="ko-KR" altLang="en-US" sz="1800"/>
              <a:t>실행 파일 생성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marL="365760" lvl="1" indent="0">
              <a:buNone/>
            </a:pPr>
            <a:endParaRPr lang="en-US" altLang="ko-KR" sz="1800" dirty="0"/>
          </a:p>
          <a:p>
            <a:pPr lvl="1"/>
            <a:r>
              <a:rPr lang="en-US" altLang="ko-KR" sz="1800" dirty="0" err="1"/>
              <a:t>a.out</a:t>
            </a:r>
            <a:r>
              <a:rPr lang="ko-KR" altLang="en-US" sz="1800" dirty="0"/>
              <a:t> 실행</a:t>
            </a:r>
          </a:p>
          <a:p>
            <a:pPr marL="365760" lvl="1" indent="0">
              <a:buNone/>
            </a:pP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86ACB6-9057-4BE6-8071-1B3316B8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072A5F-D02A-4816-88C2-C9F1EF19925E}"/>
              </a:ext>
            </a:extLst>
          </p:cNvPr>
          <p:cNvSpPr/>
          <p:nvPr/>
        </p:nvSpPr>
        <p:spPr>
          <a:xfrm>
            <a:off x="1322974" y="3573016"/>
            <a:ext cx="6732748" cy="107721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 $ </a:t>
            </a:r>
            <a:r>
              <a:rPr lang="en-US" altLang="ko-KR" sz="1400" b="1" dirty="0" err="1"/>
              <a:t>gcc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hello.c</a:t>
            </a:r>
            <a:endParaRPr lang="en-US" altLang="ko-KR" sz="1400" b="1" dirty="0"/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 $ ls</a:t>
            </a:r>
          </a:p>
          <a:p>
            <a:r>
              <a:rPr lang="en-US" altLang="ko-KR" sz="1400" dirty="0" err="1"/>
              <a:t>a.out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hello.c</a:t>
            </a:r>
            <a:endParaRPr lang="en-US" altLang="ko-KR" sz="1400" dirty="0"/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 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449678-A80D-4059-B4BB-0F32A5943636}"/>
              </a:ext>
            </a:extLst>
          </p:cNvPr>
          <p:cNvSpPr/>
          <p:nvPr/>
        </p:nvSpPr>
        <p:spPr>
          <a:xfrm>
            <a:off x="1322974" y="5013176"/>
            <a:ext cx="6732748" cy="156966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 $ ./</a:t>
            </a:r>
            <a:r>
              <a:rPr lang="en-US" altLang="ko-KR" sz="1400" b="1" dirty="0" err="1"/>
              <a:t>a.out</a:t>
            </a:r>
            <a:endParaRPr lang="en-US" altLang="ko-KR" sz="1400" b="1" dirty="0"/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dirty="0"/>
              <a:t>^C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 $</a:t>
            </a:r>
          </a:p>
        </p:txBody>
      </p:sp>
    </p:spTree>
    <p:extLst>
      <p:ext uri="{BB962C8B-B14F-4D97-AF65-F5344CB8AC3E}">
        <p14:creationId xmlns:p14="http://schemas.microsoft.com/office/powerpoint/2010/main" val="3440274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05586-2F2C-494B-B291-79248FBE5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디렉터리와 파일 </a:t>
            </a:r>
            <a:r>
              <a:rPr lang="ko-KR" altLang="en-US"/>
              <a:t>관련 명령 </a:t>
            </a:r>
            <a:r>
              <a:rPr lang="en-US" altLang="ko-KR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5A0960-D020-4E4D-9C33-F2525EAD0B9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파일 관련 명령 요약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5DB343-87ED-4987-9266-A6C17A922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A39209-3CC0-423B-B971-61D5C53A1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753297"/>
            <a:ext cx="8388424" cy="421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96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04A6F-C897-4CDA-B493-BCC39DCDC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디렉터리와 파일 관련 명령 </a:t>
            </a:r>
            <a:r>
              <a:rPr lang="en-US" altLang="ko-KR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669B67-DB2E-4CEE-980A-7C0E92D2DD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b="1" dirty="0" err="1"/>
              <a:t>pwd</a:t>
            </a:r>
            <a:endParaRPr lang="en-US" altLang="ko-KR" b="1" dirty="0"/>
          </a:p>
          <a:p>
            <a:pPr lvl="1"/>
            <a:r>
              <a:rPr lang="en-US" altLang="ko-KR" dirty="0" err="1"/>
              <a:t>pwd</a:t>
            </a:r>
            <a:r>
              <a:rPr lang="ko-KR" altLang="en-US" dirty="0"/>
              <a:t>는 ‘</a:t>
            </a:r>
            <a:r>
              <a:rPr lang="en-US" altLang="ko-KR" dirty="0"/>
              <a:t>print working directory’</a:t>
            </a:r>
            <a:r>
              <a:rPr lang="ko-KR" altLang="en-US" dirty="0"/>
              <a:t>를 </a:t>
            </a:r>
            <a:r>
              <a:rPr lang="ko-KR" altLang="en-US"/>
              <a:t>줄인 명령</a:t>
            </a:r>
            <a:endParaRPr lang="en-US" altLang="ko-KR"/>
          </a:p>
          <a:p>
            <a:pPr lvl="1"/>
            <a:r>
              <a:rPr lang="ko-KR" altLang="en-US"/>
              <a:t>현재 </a:t>
            </a:r>
            <a:r>
              <a:rPr lang="ko-KR" altLang="en-US" dirty="0"/>
              <a:t>작업하고 </a:t>
            </a:r>
            <a:r>
              <a:rPr lang="ko-KR" altLang="en-US"/>
              <a:t>있는 디렉터리 경로 출력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b="1" dirty="0"/>
              <a:t>ls</a:t>
            </a:r>
          </a:p>
          <a:p>
            <a:pPr lvl="1"/>
            <a:r>
              <a:rPr lang="ko-KR" altLang="en-US"/>
              <a:t>디렉터리에 있는 파일과 서브디렉터리들을 출력하는 명령</a:t>
            </a:r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3D9430-14EE-4CCE-BD06-BABDA656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13748C-3626-4629-940D-D2BCB2ECB8E2}"/>
              </a:ext>
            </a:extLst>
          </p:cNvPr>
          <p:cNvSpPr/>
          <p:nvPr/>
        </p:nvSpPr>
        <p:spPr>
          <a:xfrm>
            <a:off x="1369132" y="2636912"/>
            <a:ext cx="6592112" cy="86177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</a:t>
            </a:r>
            <a:r>
              <a:rPr lang="en-US" altLang="ko-KR" sz="1600" b="1" dirty="0" err="1"/>
              <a:t>pwd</a:t>
            </a:r>
            <a:endParaRPr lang="en-US" altLang="ko-KR" sz="1600" b="1" dirty="0"/>
          </a:p>
          <a:p>
            <a:r>
              <a:rPr lang="en-US" altLang="ko-KR" sz="1600" dirty="0"/>
              <a:t>/home/pi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D84995-7549-49F8-A3EC-814A2DA63C5F}"/>
              </a:ext>
            </a:extLst>
          </p:cNvPr>
          <p:cNvSpPr/>
          <p:nvPr/>
        </p:nvSpPr>
        <p:spPr>
          <a:xfrm>
            <a:off x="1364265" y="4581128"/>
            <a:ext cx="6592112" cy="86177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ls</a:t>
            </a:r>
          </a:p>
          <a:p>
            <a:r>
              <a:rPr lang="en-US" altLang="ko-KR" sz="1600" dirty="0" err="1"/>
              <a:t>a.out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hello.c</a:t>
            </a:r>
            <a:endParaRPr lang="en-US" altLang="ko-KR" sz="1600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</a:t>
            </a:r>
          </a:p>
        </p:txBody>
      </p:sp>
    </p:spTree>
    <p:extLst>
      <p:ext uri="{BB962C8B-B14F-4D97-AF65-F5344CB8AC3E}">
        <p14:creationId xmlns:p14="http://schemas.microsoft.com/office/powerpoint/2010/main" val="1402484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B99F3-3EE9-4A63-BFAD-324AF99F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디렉터리와 파일 관련 명령 </a:t>
            </a:r>
            <a:r>
              <a:rPr lang="en-US" altLang="ko-KR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321D6-C5AE-482E-9091-6A7BD5357E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b="1" dirty="0"/>
              <a:t>ls -l</a:t>
            </a:r>
          </a:p>
          <a:p>
            <a:pPr lvl="1"/>
            <a:r>
              <a:rPr lang="en-US" altLang="ko-KR" dirty="0"/>
              <a:t>-l(</a:t>
            </a:r>
            <a:r>
              <a:rPr lang="ko-KR" altLang="en-US" b="1" dirty="0"/>
              <a:t>영어 엘</a:t>
            </a:r>
            <a:r>
              <a:rPr lang="en-US" altLang="ko-KR" dirty="0"/>
              <a:t>) </a:t>
            </a:r>
            <a:r>
              <a:rPr lang="ko-KR" altLang="en-US" dirty="0"/>
              <a:t>옵션은 자세히 </a:t>
            </a:r>
            <a:r>
              <a:rPr lang="ko-KR" altLang="en-US"/>
              <a:t>설명하라는 지시</a:t>
            </a:r>
            <a:endParaRPr lang="en-US" altLang="ko-KR"/>
          </a:p>
          <a:p>
            <a:pPr lvl="1"/>
            <a:r>
              <a:rPr lang="en-US" altLang="ko-KR"/>
              <a:t>ls </a:t>
            </a:r>
            <a:r>
              <a:rPr lang="en-US" altLang="ko-KR" dirty="0"/>
              <a:t>–l</a:t>
            </a:r>
            <a:r>
              <a:rPr lang="ko-KR" altLang="en-US" dirty="0"/>
              <a:t>을 사용하면 </a:t>
            </a:r>
            <a:r>
              <a:rPr lang="ko-KR" altLang="en-US"/>
              <a:t>다양한 정보를 얻을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b="1" dirty="0"/>
              <a:t>ls -al</a:t>
            </a:r>
          </a:p>
          <a:p>
            <a:pPr lvl="1"/>
            <a:r>
              <a:rPr lang="en-US" altLang="ko-KR" dirty="0"/>
              <a:t>-a </a:t>
            </a:r>
            <a:r>
              <a:rPr lang="ko-KR" altLang="en-US" dirty="0"/>
              <a:t>옵션은 ‘</a:t>
            </a:r>
            <a:r>
              <a:rPr lang="en-US" altLang="ko-KR" dirty="0"/>
              <a:t>all’</a:t>
            </a:r>
            <a:r>
              <a:rPr lang="ko-KR" altLang="en-US"/>
              <a:t>의 약자</a:t>
            </a:r>
            <a:r>
              <a:rPr lang="en-US" altLang="ko-KR"/>
              <a:t>,</a:t>
            </a:r>
            <a:r>
              <a:rPr lang="ko-KR" altLang="en-US"/>
              <a:t> 숨겨진 정보도 함께 출력</a:t>
            </a:r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8B386E-D78F-4E13-B91B-96C502AB3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633731-886F-4B1C-97E8-0C5A467607E9}"/>
              </a:ext>
            </a:extLst>
          </p:cNvPr>
          <p:cNvSpPr/>
          <p:nvPr/>
        </p:nvSpPr>
        <p:spPr>
          <a:xfrm>
            <a:off x="1331640" y="2564904"/>
            <a:ext cx="6948811" cy="135421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ls -l</a:t>
            </a:r>
          </a:p>
          <a:p>
            <a:r>
              <a:rPr lang="en-US" altLang="ko-KR" sz="1600" dirty="0"/>
              <a:t>total 16</a:t>
            </a:r>
          </a:p>
          <a:p>
            <a:r>
              <a:rPr lang="en-US" altLang="ko-KR" sz="1600" dirty="0"/>
              <a:t>-</a:t>
            </a:r>
            <a:r>
              <a:rPr lang="en-US" altLang="ko-KR" sz="1600" dirty="0" err="1"/>
              <a:t>rwxr</a:t>
            </a:r>
            <a:r>
              <a:rPr lang="en-US" altLang="ko-KR" sz="1600" dirty="0"/>
              <a:t>-</a:t>
            </a:r>
            <a:r>
              <a:rPr lang="en-US" altLang="ko-KR" sz="1600" dirty="0" err="1"/>
              <a:t>xr</a:t>
            </a:r>
            <a:r>
              <a:rPr lang="en-US" altLang="ko-KR" sz="1600" dirty="0"/>
              <a:t>-x 1 pi </a:t>
            </a:r>
            <a:r>
              <a:rPr lang="en-US" altLang="ko-KR" sz="1600" dirty="0" err="1"/>
              <a:t>pi</a:t>
            </a:r>
            <a:r>
              <a:rPr lang="en-US" altLang="ko-KR" sz="1600" dirty="0"/>
              <a:t> 8108 12</a:t>
            </a:r>
            <a:r>
              <a:rPr lang="ko-KR" altLang="en-US" sz="1600" dirty="0"/>
              <a:t>월 </a:t>
            </a:r>
            <a:r>
              <a:rPr lang="en-US" altLang="ko-KR" sz="1600" dirty="0"/>
              <a:t>26 11:19 </a:t>
            </a:r>
            <a:r>
              <a:rPr lang="en-US" altLang="ko-KR" sz="1600" dirty="0" err="1"/>
              <a:t>a.out</a:t>
            </a:r>
            <a:endParaRPr lang="en-US" altLang="ko-KR" sz="1600" dirty="0"/>
          </a:p>
          <a:p>
            <a:r>
              <a:rPr lang="en-US" altLang="ko-KR" sz="1600" dirty="0"/>
              <a:t>-</a:t>
            </a:r>
            <a:r>
              <a:rPr lang="en-US" altLang="ko-KR" sz="1600" dirty="0" err="1"/>
              <a:t>rw</a:t>
            </a:r>
            <a:r>
              <a:rPr lang="en-US" altLang="ko-KR" sz="1600" dirty="0"/>
              <a:t>-r--r-- 1  pi </a:t>
            </a:r>
            <a:r>
              <a:rPr lang="en-US" altLang="ko-KR" sz="1600" dirty="0" err="1"/>
              <a:t>pi</a:t>
            </a:r>
            <a:r>
              <a:rPr lang="en-US" altLang="ko-KR" sz="1600" dirty="0"/>
              <a:t>  113 12</a:t>
            </a:r>
            <a:r>
              <a:rPr lang="ko-KR" altLang="en-US" sz="1600" dirty="0"/>
              <a:t>월 </a:t>
            </a:r>
            <a:r>
              <a:rPr lang="en-US" altLang="ko-KR" sz="1600" dirty="0"/>
              <a:t>26 11:18 </a:t>
            </a:r>
            <a:r>
              <a:rPr lang="en-US" altLang="ko-KR" sz="1600" dirty="0" err="1"/>
              <a:t>hello.c</a:t>
            </a:r>
            <a:endParaRPr lang="en-US" altLang="ko-KR" sz="1600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31ABBF-2AF8-4572-A01C-CDC7DD929EB1}"/>
              </a:ext>
            </a:extLst>
          </p:cNvPr>
          <p:cNvSpPr/>
          <p:nvPr/>
        </p:nvSpPr>
        <p:spPr>
          <a:xfrm>
            <a:off x="1331640" y="4941168"/>
            <a:ext cx="6948811" cy="184665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ls -al</a:t>
            </a:r>
          </a:p>
          <a:p>
            <a:r>
              <a:rPr lang="en-US" altLang="ko-KR" sz="1600" dirty="0"/>
              <a:t>total 32</a:t>
            </a:r>
          </a:p>
          <a:p>
            <a:r>
              <a:rPr lang="en-US" altLang="ko-KR" sz="1600" dirty="0" err="1"/>
              <a:t>drwxr</a:t>
            </a:r>
            <a:r>
              <a:rPr lang="en-US" altLang="ko-KR" sz="1600" dirty="0"/>
              <a:t>-</a:t>
            </a:r>
            <a:r>
              <a:rPr lang="en-US" altLang="ko-KR" sz="1600" dirty="0" err="1"/>
              <a:t>xr</a:t>
            </a:r>
            <a:r>
              <a:rPr lang="en-US" altLang="ko-KR" sz="1600" dirty="0"/>
              <a:t>-x  4  pi </a:t>
            </a:r>
            <a:r>
              <a:rPr lang="en-US" altLang="ko-KR" sz="1600" dirty="0" err="1"/>
              <a:t>pi</a:t>
            </a:r>
            <a:r>
              <a:rPr lang="en-US" altLang="ko-KR" sz="1600" dirty="0"/>
              <a:t> 4096 12</a:t>
            </a:r>
            <a:r>
              <a:rPr lang="ko-KR" altLang="en-US" sz="1600" dirty="0"/>
              <a:t>월 </a:t>
            </a:r>
            <a:r>
              <a:rPr lang="en-US" altLang="ko-KR" sz="1600" dirty="0"/>
              <a:t>26 11:27 .</a:t>
            </a:r>
          </a:p>
          <a:p>
            <a:r>
              <a:rPr lang="en-US" altLang="ko-KR" sz="1600" dirty="0" err="1"/>
              <a:t>drwxr</a:t>
            </a:r>
            <a:r>
              <a:rPr lang="en-US" altLang="ko-KR" sz="1600" dirty="0"/>
              <a:t>-</a:t>
            </a:r>
            <a:r>
              <a:rPr lang="en-US" altLang="ko-KR" sz="1600" dirty="0" err="1"/>
              <a:t>xr</a:t>
            </a:r>
            <a:r>
              <a:rPr lang="en-US" altLang="ko-KR" sz="1600" dirty="0"/>
              <a:t>-x 32 pi </a:t>
            </a:r>
            <a:r>
              <a:rPr lang="en-US" altLang="ko-KR" sz="1600" dirty="0" err="1"/>
              <a:t>pi</a:t>
            </a:r>
            <a:r>
              <a:rPr lang="en-US" altLang="ko-KR" sz="1600" dirty="0"/>
              <a:t>  4096 12</a:t>
            </a:r>
            <a:r>
              <a:rPr lang="ko-KR" altLang="en-US" sz="1600" dirty="0"/>
              <a:t>월 </a:t>
            </a:r>
            <a:r>
              <a:rPr lang="en-US" altLang="ko-KR" sz="1600" dirty="0"/>
              <a:t>26 11:18 ..</a:t>
            </a:r>
          </a:p>
          <a:p>
            <a:r>
              <a:rPr lang="en-US" altLang="ko-KR" sz="1600" dirty="0"/>
              <a:t>-</a:t>
            </a:r>
            <a:r>
              <a:rPr lang="en-US" altLang="ko-KR" sz="1600" dirty="0" err="1"/>
              <a:t>rwxr</a:t>
            </a:r>
            <a:r>
              <a:rPr lang="en-US" altLang="ko-KR" sz="1600" dirty="0"/>
              <a:t>-</a:t>
            </a:r>
            <a:r>
              <a:rPr lang="en-US" altLang="ko-KR" sz="1600" dirty="0" err="1"/>
              <a:t>xr</a:t>
            </a:r>
            <a:r>
              <a:rPr lang="en-US" altLang="ko-KR" sz="1600" dirty="0"/>
              <a:t>-x   1 pi </a:t>
            </a:r>
            <a:r>
              <a:rPr lang="en-US" altLang="ko-KR" sz="1600" dirty="0" err="1"/>
              <a:t>pi</a:t>
            </a:r>
            <a:r>
              <a:rPr lang="en-US" altLang="ko-KR" sz="1600" dirty="0"/>
              <a:t>  8108 12</a:t>
            </a:r>
            <a:r>
              <a:rPr lang="ko-KR" altLang="en-US" sz="1600" dirty="0"/>
              <a:t>월 </a:t>
            </a:r>
            <a:r>
              <a:rPr lang="en-US" altLang="ko-KR" sz="1600" dirty="0"/>
              <a:t>26 11:19 </a:t>
            </a:r>
            <a:r>
              <a:rPr lang="en-US" altLang="ko-KR" sz="1600" dirty="0" err="1"/>
              <a:t>a.out</a:t>
            </a:r>
            <a:endParaRPr lang="en-US" altLang="ko-KR" sz="1600" dirty="0"/>
          </a:p>
          <a:p>
            <a:r>
              <a:rPr lang="en-US" altLang="ko-KR" sz="1600" dirty="0"/>
              <a:t>-</a:t>
            </a:r>
            <a:r>
              <a:rPr lang="en-US" altLang="ko-KR" sz="1600" dirty="0" err="1"/>
              <a:t>rw</a:t>
            </a:r>
            <a:r>
              <a:rPr lang="en-US" altLang="ko-KR" sz="1600" dirty="0"/>
              <a:t>-r--r--    1 pi </a:t>
            </a:r>
            <a:r>
              <a:rPr lang="en-US" altLang="ko-KR" sz="1600" dirty="0" err="1"/>
              <a:t>pi</a:t>
            </a:r>
            <a:r>
              <a:rPr lang="en-US" altLang="ko-KR" sz="1600" dirty="0"/>
              <a:t>   113 12</a:t>
            </a:r>
            <a:r>
              <a:rPr lang="ko-KR" altLang="en-US" sz="1600" dirty="0"/>
              <a:t>월 </a:t>
            </a:r>
            <a:r>
              <a:rPr lang="en-US" altLang="ko-KR" sz="1600" dirty="0"/>
              <a:t>26 11:18 </a:t>
            </a:r>
            <a:r>
              <a:rPr lang="en-US" altLang="ko-KR" sz="1600" dirty="0" err="1"/>
              <a:t>hello.c</a:t>
            </a:r>
            <a:endParaRPr lang="en-US" altLang="ko-KR" sz="1600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</a:t>
            </a:r>
          </a:p>
        </p:txBody>
      </p:sp>
    </p:spTree>
    <p:extLst>
      <p:ext uri="{BB962C8B-B14F-4D97-AF65-F5344CB8AC3E}">
        <p14:creationId xmlns:p14="http://schemas.microsoft.com/office/powerpoint/2010/main" val="40333952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2FCDB3-3B7E-4E83-AA6F-AAC1071B2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디렉터리와 파일 </a:t>
            </a:r>
            <a:r>
              <a:rPr lang="ko-KR" altLang="en-US"/>
              <a:t>관련 명령 </a:t>
            </a:r>
            <a:r>
              <a:rPr lang="en-US" altLang="ko-KR"/>
              <a:t>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47AAA8-3CC3-46B3-97E8-88E06D77E7D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b="1" dirty="0" err="1"/>
              <a:t>mkdir</a:t>
            </a:r>
            <a:endParaRPr lang="en-US" altLang="ko-KR" b="1" dirty="0"/>
          </a:p>
          <a:p>
            <a:pPr lvl="1"/>
            <a:r>
              <a:rPr lang="ko-KR" altLang="en-US"/>
              <a:t>새로운 </a:t>
            </a:r>
            <a:r>
              <a:rPr lang="ko-KR" altLang="en-US" dirty="0"/>
              <a:t>디렉터리를 생성하는 명령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CAEABD-2192-44C2-B213-524D1D77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CB158F-94D0-4264-8B86-77902617AF21}"/>
              </a:ext>
            </a:extLst>
          </p:cNvPr>
          <p:cNvSpPr/>
          <p:nvPr/>
        </p:nvSpPr>
        <p:spPr>
          <a:xfrm>
            <a:off x="1331640" y="2413337"/>
            <a:ext cx="6912768" cy="1807751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</a:t>
            </a:r>
            <a:r>
              <a:rPr lang="en-US" altLang="ko-KR" sz="1600" b="1" dirty="0" err="1"/>
              <a:t>mkdir</a:t>
            </a:r>
            <a:r>
              <a:rPr lang="en-US" altLang="ko-KR" sz="1600" b="1" dirty="0"/>
              <a:t> ch03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ls</a:t>
            </a:r>
          </a:p>
          <a:p>
            <a:r>
              <a:rPr lang="en-US" altLang="ko-KR" sz="1600" dirty="0" err="1"/>
              <a:t>a.out</a:t>
            </a:r>
            <a:r>
              <a:rPr lang="en-US" altLang="ko-KR" sz="1600" dirty="0"/>
              <a:t> ch03 </a:t>
            </a:r>
            <a:r>
              <a:rPr lang="en-US" altLang="ko-KR" sz="1600" dirty="0" err="1"/>
              <a:t>hello.c</a:t>
            </a:r>
            <a:endParaRPr lang="en-US" altLang="ko-KR" sz="1600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</a:t>
            </a:r>
            <a:r>
              <a:rPr lang="en-US" altLang="ko-KR" sz="1600" b="1" dirty="0" err="1"/>
              <a:t>mkdir</a:t>
            </a:r>
            <a:r>
              <a:rPr lang="en-US" altLang="ko-KR" sz="1600" b="1" dirty="0"/>
              <a:t> ch03/test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ls ch03</a:t>
            </a:r>
          </a:p>
          <a:p>
            <a:r>
              <a:rPr lang="en-US" altLang="ko-KR" sz="1600" dirty="0"/>
              <a:t>test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</a:t>
            </a:r>
          </a:p>
        </p:txBody>
      </p:sp>
    </p:spTree>
    <p:extLst>
      <p:ext uri="{BB962C8B-B14F-4D97-AF65-F5344CB8AC3E}">
        <p14:creationId xmlns:p14="http://schemas.microsoft.com/office/powerpoint/2010/main" val="1095686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945E3-B3D7-445F-9AB7-7B6ACE6D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디렉터리와 파일 </a:t>
            </a:r>
            <a:r>
              <a:rPr lang="ko-KR" altLang="en-US"/>
              <a:t>관련 명령 </a:t>
            </a:r>
            <a:r>
              <a:rPr lang="en-US" altLang="ko-KR"/>
              <a:t>(5)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A088EC-D5D6-4415-AACA-A323095E614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b="1" dirty="0"/>
              <a:t>mv</a:t>
            </a:r>
          </a:p>
          <a:p>
            <a:pPr lvl="1"/>
            <a:r>
              <a:rPr lang="ko-KR" altLang="en-US"/>
              <a:t>파일을 이동시키는 명령</a:t>
            </a:r>
            <a:endParaRPr lang="en-US" altLang="ko-KR"/>
          </a:p>
          <a:p>
            <a:pPr lvl="2"/>
            <a:r>
              <a:rPr lang="ko-KR" altLang="en-US"/>
              <a:t>파일 이름도 바꿀 수 있음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9B3301-6E0C-4361-BF02-BEA27867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CCFC28-1B8D-40F4-9027-CBBCB61F6B58}"/>
              </a:ext>
            </a:extLst>
          </p:cNvPr>
          <p:cNvSpPr/>
          <p:nvPr/>
        </p:nvSpPr>
        <p:spPr>
          <a:xfrm>
            <a:off x="1331640" y="2564905"/>
            <a:ext cx="6624737" cy="1800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mv </a:t>
            </a:r>
            <a:r>
              <a:rPr lang="en-US" altLang="ko-KR" sz="1600" b="1" dirty="0" err="1"/>
              <a:t>a.out</a:t>
            </a:r>
            <a:r>
              <a:rPr lang="en-US" altLang="ko-KR" sz="1600" b="1" dirty="0"/>
              <a:t> ch03/</a:t>
            </a:r>
            <a:r>
              <a:rPr lang="en-US" altLang="ko-KR" sz="1600" b="1" dirty="0" err="1"/>
              <a:t>a.out</a:t>
            </a:r>
            <a:endParaRPr lang="en-US" altLang="ko-KR" sz="1600" b="1" dirty="0"/>
          </a:p>
          <a:p>
            <a:r>
              <a:rPr lang="nb-NO" altLang="ko-KR" sz="1600" b="1" dirty="0"/>
              <a:t>pi@pi:~ $ mv hello.c ch03/.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ls</a:t>
            </a:r>
          </a:p>
          <a:p>
            <a:r>
              <a:rPr lang="en-US" altLang="ko-KR" sz="1600" dirty="0"/>
              <a:t>ch03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ls ch03</a:t>
            </a:r>
          </a:p>
          <a:p>
            <a:r>
              <a:rPr lang="en-US" altLang="ko-KR" sz="1600" dirty="0" err="1"/>
              <a:t>a.out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hello.c</a:t>
            </a:r>
            <a:r>
              <a:rPr lang="en-US" altLang="ko-KR" sz="1600" dirty="0"/>
              <a:t> test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</a:t>
            </a:r>
          </a:p>
        </p:txBody>
      </p:sp>
    </p:spTree>
    <p:extLst>
      <p:ext uri="{BB962C8B-B14F-4D97-AF65-F5344CB8AC3E}">
        <p14:creationId xmlns:p14="http://schemas.microsoft.com/office/powerpoint/2010/main" val="12879942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03540-54E3-4101-966F-376CBA701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디렉터리와 파일 </a:t>
            </a:r>
            <a:r>
              <a:rPr lang="ko-KR" altLang="en-US"/>
              <a:t>관련 명령 </a:t>
            </a:r>
            <a:r>
              <a:rPr lang="en-US" altLang="ko-KR"/>
              <a:t>(6)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733437-F782-40A5-84C5-07E1A4705EE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/>
          <a:p>
            <a:r>
              <a:rPr lang="ko-KR" altLang="en-US"/>
              <a:t>앞의 여러 명령 실행 결과로 구성된 디렉터리 </a:t>
            </a:r>
            <a:r>
              <a:rPr lang="ko-KR" altLang="en-US" dirty="0"/>
              <a:t>구조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805FC9-0C5B-4366-95FF-FE843674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9171D4-FFE7-42A5-908A-E64CA82EF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204864"/>
            <a:ext cx="7236296" cy="333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892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BA144-146B-4D4C-9092-6F1AE9A3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디렉터리와 파일 </a:t>
            </a:r>
            <a:r>
              <a:rPr lang="ko-KR" altLang="en-US"/>
              <a:t>관련 명령 </a:t>
            </a:r>
            <a:r>
              <a:rPr lang="en-US" altLang="ko-KR"/>
              <a:t>(7)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A9EAE0-7D3A-4188-AC72-F2076DA42C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b="1" dirty="0"/>
              <a:t>cd</a:t>
            </a:r>
          </a:p>
          <a:p>
            <a:pPr lvl="1"/>
            <a:r>
              <a:rPr lang="ko-KR" altLang="en-US"/>
              <a:t>현재 디렉터리를 이동시키는 명령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A25BCD-93D1-42EC-88D8-5123A832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626883-F743-4C4C-A144-D822103ED561}"/>
              </a:ext>
            </a:extLst>
          </p:cNvPr>
          <p:cNvSpPr/>
          <p:nvPr/>
        </p:nvSpPr>
        <p:spPr>
          <a:xfrm>
            <a:off x="1331640" y="2348880"/>
            <a:ext cx="6877272" cy="129614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 $ cd ch03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cd test</a:t>
            </a:r>
          </a:p>
          <a:p>
            <a:r>
              <a:rPr lang="fr-FR" altLang="ko-KR" sz="1600" b="1" dirty="0"/>
              <a:t>pi@pi:~/ch03/test $ ls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:~/ch03/test $ cd ../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</a:t>
            </a:r>
          </a:p>
        </p:txBody>
      </p:sp>
    </p:spTree>
    <p:extLst>
      <p:ext uri="{BB962C8B-B14F-4D97-AF65-F5344CB8AC3E}">
        <p14:creationId xmlns:p14="http://schemas.microsoft.com/office/powerpoint/2010/main" val="2262221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EF9AF-CF58-4AD4-9617-C1198903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디렉터리와 파일 </a:t>
            </a:r>
            <a:r>
              <a:rPr lang="ko-KR" altLang="en-US"/>
              <a:t>관련 명령 </a:t>
            </a:r>
            <a:r>
              <a:rPr lang="en-US" altLang="ko-KR"/>
              <a:t>(8)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AD51EF-73B0-41AE-A6C8-BA84EEC1751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34991" y="1481882"/>
            <a:ext cx="8153400" cy="5040560"/>
          </a:xfrm>
        </p:spPr>
        <p:txBody>
          <a:bodyPr>
            <a:normAutofit/>
          </a:bodyPr>
          <a:lstStyle/>
          <a:p>
            <a:r>
              <a:rPr lang="en-US" altLang="ko-KR" b="1"/>
              <a:t>cp - </a:t>
            </a:r>
            <a:r>
              <a:rPr lang="ko-KR" altLang="en-US"/>
              <a:t>파일 복사 명령</a:t>
            </a:r>
            <a:endParaRPr lang="en-US" altLang="ko-KR" dirty="0"/>
          </a:p>
          <a:p>
            <a:pPr lvl="2"/>
            <a:r>
              <a:rPr lang="ko-KR" altLang="en-US"/>
              <a:t>사례 </a:t>
            </a:r>
            <a:r>
              <a:rPr lang="en-US" altLang="ko-KR"/>
              <a:t>: </a:t>
            </a:r>
            <a:r>
              <a:rPr lang="ko-KR" altLang="en-US"/>
              <a:t>현재 </a:t>
            </a:r>
            <a:r>
              <a:rPr lang="ko-KR" altLang="en-US" dirty="0"/>
              <a:t>디렉터리의 </a:t>
            </a:r>
            <a:r>
              <a:rPr lang="en-US" altLang="ko-KR" dirty="0" err="1"/>
              <a:t>hello.c</a:t>
            </a:r>
            <a:r>
              <a:rPr lang="en-US" altLang="ko-KR" dirty="0"/>
              <a:t> </a:t>
            </a:r>
            <a:r>
              <a:rPr lang="ko-KR" altLang="en-US" dirty="0"/>
              <a:t>파일을 복사하여 </a:t>
            </a:r>
            <a:r>
              <a:rPr lang="en-US" altLang="ko-KR" dirty="0"/>
              <a:t>hello2.</a:t>
            </a:r>
            <a:r>
              <a:rPr lang="en-US" altLang="ko-KR"/>
              <a:t>c </a:t>
            </a:r>
            <a:r>
              <a:rPr lang="ko-KR" altLang="en-US"/>
              <a:t>파일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/>
              <a:t>사례 </a:t>
            </a:r>
            <a:r>
              <a:rPr lang="en-US" altLang="ko-KR"/>
              <a:t>: </a:t>
            </a:r>
            <a:r>
              <a:rPr lang="ko-KR" altLang="en-US"/>
              <a:t>현재 </a:t>
            </a:r>
            <a:r>
              <a:rPr lang="ko-KR" altLang="en-US" dirty="0"/>
              <a:t>디렉터리의 </a:t>
            </a:r>
            <a:r>
              <a:rPr lang="en-US" altLang="ko-KR" dirty="0" err="1"/>
              <a:t>hello.c</a:t>
            </a:r>
            <a:r>
              <a:rPr lang="en-US" altLang="ko-KR" dirty="0"/>
              <a:t> </a:t>
            </a:r>
            <a:r>
              <a:rPr lang="ko-KR" altLang="en-US" dirty="0"/>
              <a:t>파일을 복사하여 </a:t>
            </a:r>
            <a:r>
              <a:rPr lang="en-US" altLang="ko-KR" dirty="0"/>
              <a:t>test </a:t>
            </a:r>
            <a:r>
              <a:rPr lang="ko-KR" altLang="en-US" dirty="0"/>
              <a:t>디렉터리에 </a:t>
            </a:r>
            <a:r>
              <a:rPr lang="en-US" altLang="ko-KR" dirty="0"/>
              <a:t>hello2.</a:t>
            </a:r>
            <a:r>
              <a:rPr lang="en-US" altLang="ko-KR"/>
              <a:t>c </a:t>
            </a:r>
            <a:r>
              <a:rPr lang="ko-KR" altLang="en-US"/>
              <a:t>생성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r>
              <a:rPr lang="ko-KR" altLang="en-US"/>
              <a:t>사례 </a:t>
            </a:r>
            <a:r>
              <a:rPr lang="en-US" altLang="ko-KR"/>
              <a:t>: </a:t>
            </a:r>
            <a:r>
              <a:rPr lang="ko-KR" altLang="en-US"/>
              <a:t>현재 디렉터리의 </a:t>
            </a:r>
            <a:r>
              <a:rPr lang="en-US" altLang="ko-KR"/>
              <a:t>hello.c </a:t>
            </a:r>
            <a:r>
              <a:rPr lang="ko-KR" altLang="en-US"/>
              <a:t>파일을 복사하여 </a:t>
            </a:r>
            <a:r>
              <a:rPr lang="en-US" altLang="ko-KR"/>
              <a:t>test </a:t>
            </a:r>
            <a:r>
              <a:rPr lang="ko-KR" altLang="en-US"/>
              <a:t>디렉터리에 같은 이름으로 생성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ko-KR" altLang="en-US" dirty="0"/>
          </a:p>
          <a:p>
            <a:pPr lvl="2"/>
            <a:endParaRPr lang="ko-KR" altLang="en-US" dirty="0"/>
          </a:p>
          <a:p>
            <a:pPr lvl="2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518C21-BF57-4284-8B62-55B6E881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DB87F0-9C8B-4A70-AF77-23DFE8BB3AC1}"/>
              </a:ext>
            </a:extLst>
          </p:cNvPr>
          <p:cNvSpPr/>
          <p:nvPr/>
        </p:nvSpPr>
        <p:spPr>
          <a:xfrm>
            <a:off x="1691679" y="2292415"/>
            <a:ext cx="6192689" cy="848553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200" b="1" dirty="0" err="1"/>
              <a:t>pi@pi</a:t>
            </a:r>
            <a:r>
              <a:rPr lang="en-US" altLang="ko-KR" sz="1200" b="1" dirty="0"/>
              <a:t>:~/ch03 $ cp </a:t>
            </a:r>
            <a:r>
              <a:rPr lang="en-US" altLang="ko-KR" sz="1200" b="1" dirty="0" err="1"/>
              <a:t>hello.c</a:t>
            </a:r>
            <a:r>
              <a:rPr lang="en-US" altLang="ko-KR" sz="1200" b="1" dirty="0"/>
              <a:t> hello2.c</a:t>
            </a:r>
          </a:p>
          <a:p>
            <a:r>
              <a:rPr lang="en-US" altLang="ko-KR" sz="1200" b="1" dirty="0" err="1"/>
              <a:t>pi@pi</a:t>
            </a:r>
            <a:r>
              <a:rPr lang="en-US" altLang="ko-KR" sz="1200" b="1" dirty="0"/>
              <a:t>:~/ch03 $ ls</a:t>
            </a:r>
          </a:p>
          <a:p>
            <a:r>
              <a:rPr lang="en-US" altLang="ko-KR" sz="1200" dirty="0" err="1"/>
              <a:t>a.out</a:t>
            </a:r>
            <a:r>
              <a:rPr lang="en-US" altLang="ko-KR" sz="1200" dirty="0"/>
              <a:t> hello2.c </a:t>
            </a:r>
            <a:r>
              <a:rPr lang="en-US" altLang="ko-KR" sz="1200" dirty="0" err="1"/>
              <a:t>hello.c</a:t>
            </a:r>
            <a:r>
              <a:rPr lang="en-US" altLang="ko-KR" sz="1200" dirty="0"/>
              <a:t> test</a:t>
            </a:r>
          </a:p>
          <a:p>
            <a:r>
              <a:rPr lang="en-US" altLang="ko-KR" sz="1200" b="1" dirty="0" err="1"/>
              <a:t>pi@pi</a:t>
            </a:r>
            <a:r>
              <a:rPr lang="en-US" altLang="ko-KR" sz="1200" b="1" dirty="0"/>
              <a:t>:~/ch03 $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098C56-E17B-48F6-A7D7-9ECD9F49081B}"/>
              </a:ext>
            </a:extLst>
          </p:cNvPr>
          <p:cNvSpPr/>
          <p:nvPr/>
        </p:nvSpPr>
        <p:spPr>
          <a:xfrm>
            <a:off x="1691679" y="3951501"/>
            <a:ext cx="6192689" cy="848553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200" b="1" dirty="0" err="1"/>
              <a:t>pi@pi</a:t>
            </a:r>
            <a:r>
              <a:rPr lang="en-US" altLang="ko-KR" sz="1200" b="1" dirty="0"/>
              <a:t>:~/ch03 $ cp </a:t>
            </a:r>
            <a:r>
              <a:rPr lang="en-US" altLang="ko-KR" sz="1200" b="1" dirty="0" err="1"/>
              <a:t>hello.c</a:t>
            </a:r>
            <a:r>
              <a:rPr lang="en-US" altLang="ko-KR" sz="1200" b="1" dirty="0"/>
              <a:t> ./test/hello2.c</a:t>
            </a:r>
          </a:p>
          <a:p>
            <a:r>
              <a:rPr lang="en-US" altLang="ko-KR" sz="1200" b="1" dirty="0" err="1"/>
              <a:t>pi@pi</a:t>
            </a:r>
            <a:r>
              <a:rPr lang="en-US" altLang="ko-KR" sz="1200" b="1" dirty="0"/>
              <a:t>:~/ch03 $ ls test</a:t>
            </a:r>
          </a:p>
          <a:p>
            <a:r>
              <a:rPr lang="en-US" altLang="ko-KR" sz="1200" dirty="0"/>
              <a:t>hello2.c</a:t>
            </a:r>
          </a:p>
          <a:p>
            <a:r>
              <a:rPr lang="en-US" altLang="ko-KR" sz="1200" b="1" dirty="0" err="1"/>
              <a:t>pi@pi</a:t>
            </a:r>
            <a:r>
              <a:rPr lang="en-US" altLang="ko-KR" sz="1200" b="1" dirty="0"/>
              <a:t>:~/ch03 $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7F8AF0-6AF1-4C1B-95B6-7E5F9E0CB479}"/>
              </a:ext>
            </a:extLst>
          </p:cNvPr>
          <p:cNvSpPr/>
          <p:nvPr/>
        </p:nvSpPr>
        <p:spPr>
          <a:xfrm>
            <a:off x="1691678" y="5560516"/>
            <a:ext cx="6192689" cy="96192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200" b="1" dirty="0" err="1"/>
              <a:t>pi@pi</a:t>
            </a:r>
            <a:r>
              <a:rPr lang="en-US" altLang="ko-KR" sz="1200" b="1" dirty="0"/>
              <a:t>:~/ch03 $ cp </a:t>
            </a:r>
            <a:r>
              <a:rPr lang="en-US" altLang="ko-KR" sz="1200" b="1" dirty="0" err="1"/>
              <a:t>hello.c</a:t>
            </a:r>
            <a:r>
              <a:rPr lang="en-US" altLang="ko-KR" sz="1200" b="1" dirty="0"/>
              <a:t> ./test</a:t>
            </a:r>
          </a:p>
          <a:p>
            <a:r>
              <a:rPr lang="en-US" altLang="ko-KR" sz="1200" b="1" dirty="0" err="1"/>
              <a:t>pi@pi</a:t>
            </a:r>
            <a:r>
              <a:rPr lang="en-US" altLang="ko-KR" sz="1200" b="1" dirty="0"/>
              <a:t>:~/ch03 $ ls test</a:t>
            </a:r>
          </a:p>
          <a:p>
            <a:r>
              <a:rPr lang="en-US" altLang="ko-KR" sz="1200" dirty="0"/>
              <a:t>hello2.c </a:t>
            </a:r>
            <a:r>
              <a:rPr lang="en-US" altLang="ko-KR" sz="1200" dirty="0" err="1"/>
              <a:t>hello.c</a:t>
            </a:r>
            <a:endParaRPr lang="en-US" altLang="ko-KR" sz="1200" dirty="0"/>
          </a:p>
          <a:p>
            <a:r>
              <a:rPr lang="en-US" altLang="ko-KR" sz="1200" b="1" dirty="0" err="1"/>
              <a:t>pi@pi</a:t>
            </a:r>
            <a:r>
              <a:rPr lang="en-US" altLang="ko-KR" sz="1200" b="1" dirty="0"/>
              <a:t>:~/ch03 $</a:t>
            </a:r>
          </a:p>
        </p:txBody>
      </p:sp>
    </p:spTree>
    <p:extLst>
      <p:ext uri="{BB962C8B-B14F-4D97-AF65-F5344CB8AC3E}">
        <p14:creationId xmlns:p14="http://schemas.microsoft.com/office/powerpoint/2010/main" val="29634000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208A3-E0A2-476E-BA25-1CB3CDBDB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디렉터리와 파일 </a:t>
            </a:r>
            <a:r>
              <a:rPr lang="ko-KR" altLang="en-US"/>
              <a:t>관련 명령 </a:t>
            </a:r>
            <a:r>
              <a:rPr lang="en-US" altLang="ko-KR"/>
              <a:t>(9)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18765A-1D8A-47A9-B9CA-A1F5F4221F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b="1" dirty="0"/>
              <a:t>rm</a:t>
            </a:r>
          </a:p>
          <a:p>
            <a:pPr lvl="1"/>
            <a:r>
              <a:rPr lang="ko-KR" altLang="en-US"/>
              <a:t>파일 삭제 명령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6576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-r </a:t>
            </a:r>
            <a:r>
              <a:rPr lang="ko-KR" altLang="en-US"/>
              <a:t>옵션을 사용하면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dirty="0"/>
              <a:t>하위 </a:t>
            </a:r>
            <a:r>
              <a:rPr lang="ko-KR" altLang="en-US"/>
              <a:t>디렉터리까지 지우기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D18F95-754A-41EB-8841-665403E9E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2CC21A-5E01-417F-B688-9D7A395C2535}"/>
              </a:ext>
            </a:extLst>
          </p:cNvPr>
          <p:cNvSpPr/>
          <p:nvPr/>
        </p:nvSpPr>
        <p:spPr>
          <a:xfrm>
            <a:off x="1295127" y="2272892"/>
            <a:ext cx="6373217" cy="137213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ls</a:t>
            </a:r>
          </a:p>
          <a:p>
            <a:r>
              <a:rPr lang="en-US" altLang="ko-KR" sz="1400" dirty="0" err="1"/>
              <a:t>a.out</a:t>
            </a:r>
            <a:r>
              <a:rPr lang="en-US" altLang="ko-KR" sz="1400" dirty="0"/>
              <a:t> hello2.c </a:t>
            </a:r>
            <a:r>
              <a:rPr lang="en-US" altLang="ko-KR" sz="1400" dirty="0" err="1"/>
              <a:t>hello.c</a:t>
            </a:r>
            <a:r>
              <a:rPr lang="en-US" altLang="ko-KR" sz="1400" dirty="0"/>
              <a:t> test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rm hello2.c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ls</a:t>
            </a:r>
          </a:p>
          <a:p>
            <a:r>
              <a:rPr lang="en-US" altLang="ko-KR" sz="1400" dirty="0" err="1"/>
              <a:t>a.out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hello.c</a:t>
            </a:r>
            <a:r>
              <a:rPr lang="en-US" altLang="ko-KR" sz="1400" dirty="0"/>
              <a:t> test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E07232-351A-4E4F-82A8-BC2D819EAA4E}"/>
              </a:ext>
            </a:extLst>
          </p:cNvPr>
          <p:cNvSpPr/>
          <p:nvPr/>
        </p:nvSpPr>
        <p:spPr>
          <a:xfrm>
            <a:off x="1307843" y="4585108"/>
            <a:ext cx="6373217" cy="143618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ls</a:t>
            </a:r>
          </a:p>
          <a:p>
            <a:r>
              <a:rPr lang="en-US" altLang="ko-KR" sz="1400" dirty="0" err="1"/>
              <a:t>a.out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hello.c</a:t>
            </a:r>
            <a:r>
              <a:rPr lang="en-US" altLang="ko-KR" sz="1400" dirty="0"/>
              <a:t> test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rm -r test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ls</a:t>
            </a:r>
          </a:p>
          <a:p>
            <a:r>
              <a:rPr lang="en-US" altLang="ko-KR" sz="1400" dirty="0" err="1"/>
              <a:t>a.out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hello.c</a:t>
            </a:r>
            <a:endParaRPr lang="en-US" altLang="ko-KR" sz="1400" dirty="0"/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</a:p>
        </p:txBody>
      </p:sp>
    </p:spTree>
    <p:extLst>
      <p:ext uri="{BB962C8B-B14F-4D97-AF65-F5344CB8AC3E}">
        <p14:creationId xmlns:p14="http://schemas.microsoft.com/office/powerpoint/2010/main" val="11493454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787C2C-6539-48B8-A5B0-A1BE2F8B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디렉터리와 파일 </a:t>
            </a:r>
            <a:r>
              <a:rPr lang="ko-KR" altLang="en-US"/>
              <a:t>관련 명령 </a:t>
            </a:r>
            <a:r>
              <a:rPr lang="en-US" altLang="ko-KR"/>
              <a:t>(10)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249906-B78B-43B5-A784-E539A46ED5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400600"/>
          </a:xfrm>
        </p:spPr>
        <p:txBody>
          <a:bodyPr>
            <a:normAutofit/>
          </a:bodyPr>
          <a:lstStyle/>
          <a:p>
            <a:r>
              <a:rPr lang="en-US" altLang="ko-KR" b="1" dirty="0"/>
              <a:t>cat</a:t>
            </a:r>
          </a:p>
          <a:p>
            <a:pPr lvl="1"/>
            <a:r>
              <a:rPr lang="ko-KR" altLang="en-US"/>
              <a:t>텍스트 파일의 내용을 </a:t>
            </a:r>
            <a:r>
              <a:rPr lang="ko-KR" altLang="en-US" dirty="0"/>
              <a:t>출력하는 명령</a:t>
            </a:r>
          </a:p>
          <a:p>
            <a:pPr lvl="2"/>
            <a:r>
              <a:rPr lang="ko-KR" altLang="en-US"/>
              <a:t>텍스트 파일만 출력 가능</a:t>
            </a:r>
            <a:r>
              <a:rPr lang="en-US" altLang="ko-KR"/>
              <a:t>. </a:t>
            </a:r>
            <a:r>
              <a:rPr lang="ko-KR" altLang="en-US"/>
              <a:t>바이너리 파일 </a:t>
            </a:r>
            <a:r>
              <a:rPr lang="en-US" altLang="ko-KR"/>
              <a:t>a.out</a:t>
            </a:r>
            <a:r>
              <a:rPr lang="ko-KR" altLang="en-US"/>
              <a:t>은 출력 안 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b="1"/>
              <a:t>more</a:t>
            </a:r>
            <a:endParaRPr lang="en-US" altLang="ko-KR" b="1" dirty="0"/>
          </a:p>
          <a:p>
            <a:pPr lvl="1"/>
            <a:r>
              <a:rPr lang="en-US" altLang="ko-KR"/>
              <a:t>cat </a:t>
            </a:r>
            <a:r>
              <a:rPr lang="ko-KR" altLang="en-US"/>
              <a:t>명령과 동일하지만</a:t>
            </a:r>
            <a:r>
              <a:rPr lang="en-US" altLang="ko-KR"/>
              <a:t>, </a:t>
            </a:r>
            <a:r>
              <a:rPr lang="ko-KR" altLang="en-US"/>
              <a:t>페이지 </a:t>
            </a:r>
            <a:r>
              <a:rPr lang="ko-KR" altLang="en-US" dirty="0"/>
              <a:t>단위로 끊어서 출력</a:t>
            </a:r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49694D-E538-47F9-9C4C-D25E2FCD5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40206D-52AA-482D-B9B4-3373A981C04C}"/>
              </a:ext>
            </a:extLst>
          </p:cNvPr>
          <p:cNvSpPr/>
          <p:nvPr/>
        </p:nvSpPr>
        <p:spPr>
          <a:xfrm>
            <a:off x="1403648" y="2564905"/>
            <a:ext cx="6624736" cy="252028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nb-NO" altLang="ko-KR" sz="1400" b="1" dirty="0"/>
              <a:t>pi@pi:~/ch03 $ cat hello.c</a:t>
            </a:r>
          </a:p>
          <a:p>
            <a:r>
              <a:rPr lang="en-US" altLang="ko-KR" sz="1400" dirty="0"/>
              <a:t>#include &lt;</a:t>
            </a:r>
            <a:r>
              <a:rPr lang="en-US" altLang="ko-KR" sz="1400" dirty="0" err="1"/>
              <a:t>stdio.h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#include &lt;</a:t>
            </a:r>
            <a:r>
              <a:rPr lang="en-US" altLang="ko-KR" sz="1400" dirty="0" err="1"/>
              <a:t>unistd.h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int main() {</a:t>
            </a:r>
          </a:p>
          <a:p>
            <a:r>
              <a:rPr lang="en-US" altLang="ko-KR" sz="1400" dirty="0"/>
              <a:t>	while(1) {</a:t>
            </a:r>
          </a:p>
          <a:p>
            <a:r>
              <a:rPr lang="en-US" altLang="ko-KR" sz="1400" dirty="0"/>
              <a:t>		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("Hello\n");</a:t>
            </a:r>
          </a:p>
          <a:p>
            <a:r>
              <a:rPr lang="en-US" altLang="ko-KR" sz="1400" dirty="0"/>
              <a:t>		sleep(1);</a:t>
            </a:r>
          </a:p>
          <a:p>
            <a:r>
              <a:rPr lang="en-US" altLang="ko-KR" sz="1400" dirty="0"/>
              <a:t>	}</a:t>
            </a:r>
          </a:p>
          <a:p>
            <a:r>
              <a:rPr lang="en-US" altLang="ko-KR" sz="1400" dirty="0"/>
              <a:t>	return 0;</a:t>
            </a:r>
          </a:p>
          <a:p>
            <a:r>
              <a:rPr lang="en-US" altLang="ko-KR" sz="1400" dirty="0"/>
              <a:t>}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</a:p>
        </p:txBody>
      </p:sp>
    </p:spTree>
    <p:extLst>
      <p:ext uri="{BB962C8B-B14F-4D97-AF65-F5344CB8AC3E}">
        <p14:creationId xmlns:p14="http://schemas.microsoft.com/office/powerpoint/2010/main" val="5344060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3E9FA-1D01-4558-A582-36E59B55D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파일 관련 특수 </a:t>
            </a:r>
            <a:r>
              <a:rPr lang="ko-KR" altLang="en-US"/>
              <a:t>기호 </a:t>
            </a:r>
            <a:r>
              <a:rPr lang="en-US" altLang="ko-KR"/>
              <a:t>~ </a:t>
            </a:r>
            <a:r>
              <a:rPr lang="ko-KR" altLang="en-US"/>
              <a:t>활용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8142B3-03F9-4668-BB13-E3D6ED0E91D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b="1" dirty="0"/>
              <a:t>~ </a:t>
            </a:r>
            <a:r>
              <a:rPr lang="ko-KR" altLang="en-US" b="1" dirty="0"/>
              <a:t>기호</a:t>
            </a:r>
          </a:p>
          <a:p>
            <a:pPr lvl="1"/>
            <a:r>
              <a:rPr lang="ko-KR" altLang="en-US" dirty="0"/>
              <a:t>‘</a:t>
            </a:r>
            <a:r>
              <a:rPr lang="en-US" altLang="ko-KR" dirty="0"/>
              <a:t>~’</a:t>
            </a:r>
            <a:r>
              <a:rPr lang="ko-KR" altLang="en-US" dirty="0"/>
              <a:t>는 파일의 경로명에서 홈 </a:t>
            </a:r>
            <a:r>
              <a:rPr lang="ko-KR" altLang="en-US"/>
              <a:t>디렉터리를 나타냄</a:t>
            </a:r>
            <a:r>
              <a:rPr lang="en-US" altLang="ko-KR"/>
              <a:t>.</a:t>
            </a:r>
            <a:r>
              <a:rPr lang="ko-KR" altLang="en-US"/>
              <a:t> </a:t>
            </a:r>
            <a:r>
              <a:rPr lang="ko-KR" altLang="en-US" dirty="0"/>
              <a:t>‘</a:t>
            </a:r>
            <a:r>
              <a:rPr lang="ko-KR" altLang="en-US" dirty="0" err="1"/>
              <a:t>틸다’라고</a:t>
            </a:r>
            <a:r>
              <a:rPr lang="ko-KR" altLang="en-US" dirty="0"/>
              <a:t> 읽음</a:t>
            </a:r>
            <a:endParaRPr lang="en-US" altLang="ko-KR" dirty="0"/>
          </a:p>
          <a:p>
            <a:pPr lvl="2"/>
            <a:r>
              <a:rPr lang="ko-KR" altLang="en-US" dirty="0"/>
              <a:t>‘</a:t>
            </a:r>
            <a:r>
              <a:rPr lang="en-US" altLang="ko-KR" dirty="0"/>
              <a:t>~/ch03/test’</a:t>
            </a:r>
            <a:r>
              <a:rPr lang="ko-KR" altLang="en-US" dirty="0"/>
              <a:t>는 홈 디렉터리</a:t>
            </a:r>
            <a:r>
              <a:rPr lang="en-US" altLang="ko-KR" dirty="0"/>
              <a:t>/ch03</a:t>
            </a:r>
            <a:r>
              <a:rPr lang="ko-KR" altLang="en-US" dirty="0"/>
              <a:t>에 있는 </a:t>
            </a:r>
            <a:r>
              <a:rPr lang="en-US" altLang="ko-KR" dirty="0"/>
              <a:t>test </a:t>
            </a:r>
            <a:r>
              <a:rPr lang="ko-KR" altLang="en-US" dirty="0"/>
              <a:t>디렉터리를 뜻함</a:t>
            </a:r>
          </a:p>
          <a:p>
            <a:pPr lvl="2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395189-F259-4102-B6A8-DDEA019B4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573B2D-0FD8-45F0-985A-94C14FF17590}"/>
              </a:ext>
            </a:extLst>
          </p:cNvPr>
          <p:cNvSpPr/>
          <p:nvPr/>
        </p:nvSpPr>
        <p:spPr>
          <a:xfrm>
            <a:off x="1402560" y="2708921"/>
            <a:ext cx="6769840" cy="1800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ls</a:t>
            </a:r>
          </a:p>
          <a:p>
            <a:r>
              <a:rPr lang="en-US" altLang="ko-KR" sz="1600" dirty="0" err="1"/>
              <a:t>a.out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hello.c</a:t>
            </a:r>
            <a:endParaRPr lang="en-US" altLang="ko-KR" sz="1600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</a:t>
            </a:r>
            <a:r>
              <a:rPr lang="en-US" altLang="ko-KR" sz="1600" b="1" dirty="0" err="1"/>
              <a:t>mkdir</a:t>
            </a:r>
            <a:r>
              <a:rPr lang="en-US" altLang="ko-KR" sz="1600" b="1" dirty="0"/>
              <a:t> test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cp </a:t>
            </a:r>
            <a:r>
              <a:rPr lang="en-US" altLang="ko-KR" sz="1600" b="1" dirty="0" err="1"/>
              <a:t>a.out</a:t>
            </a:r>
            <a:r>
              <a:rPr lang="en-US" altLang="ko-KR" sz="1600" b="1" dirty="0"/>
              <a:t> ~/ch03/test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ls test</a:t>
            </a:r>
          </a:p>
          <a:p>
            <a:r>
              <a:rPr lang="en-US" altLang="ko-KR" sz="1600" dirty="0" err="1"/>
              <a:t>a.out</a:t>
            </a:r>
            <a:endParaRPr lang="en-US" altLang="ko-KR" sz="1600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</a:t>
            </a:r>
          </a:p>
        </p:txBody>
      </p:sp>
    </p:spTree>
    <p:extLst>
      <p:ext uri="{BB962C8B-B14F-4D97-AF65-F5344CB8AC3E}">
        <p14:creationId xmlns:p14="http://schemas.microsoft.com/office/powerpoint/2010/main" val="5359786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DA79E-8160-40FB-A318-39D4C86DA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관련 특수 </a:t>
            </a:r>
            <a:r>
              <a:rPr lang="ko-KR" altLang="en-US"/>
              <a:t>기호 </a:t>
            </a:r>
            <a:r>
              <a:rPr lang="en-US" altLang="ko-KR"/>
              <a:t>* </a:t>
            </a:r>
            <a:r>
              <a:rPr lang="ko-KR" altLang="en-US"/>
              <a:t>활용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CF84E2-865A-4D03-80D5-2CC76545642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* </a:t>
            </a:r>
            <a:r>
              <a:rPr lang="ko-KR" altLang="en-US" dirty="0"/>
              <a:t>기호</a:t>
            </a:r>
            <a:endParaRPr lang="en-US" altLang="ko-KR" dirty="0"/>
          </a:p>
          <a:p>
            <a:pPr lvl="1"/>
            <a:r>
              <a:rPr lang="ko-KR" altLang="en-US" dirty="0"/>
              <a:t>‘*’는 문자열 와일드카드</a:t>
            </a:r>
            <a:endParaRPr lang="en-US" altLang="ko-KR" dirty="0"/>
          </a:p>
          <a:p>
            <a:pPr lvl="2"/>
            <a:r>
              <a:rPr lang="ko-KR" altLang="en-US" dirty="0"/>
              <a:t>명령에 ‘*’</a:t>
            </a:r>
            <a:r>
              <a:rPr lang="ko-KR" altLang="en-US"/>
              <a:t>가 있으면</a:t>
            </a:r>
            <a:r>
              <a:rPr lang="en-US" altLang="ko-KR"/>
              <a:t>,</a:t>
            </a:r>
            <a:r>
              <a:rPr lang="ko-KR" altLang="en-US"/>
              <a:t> 그 </a:t>
            </a:r>
            <a:r>
              <a:rPr lang="ko-KR" altLang="en-US" dirty="0"/>
              <a:t>곳에 어떠한 단어가 들어갈 수 </a:t>
            </a:r>
            <a:r>
              <a:rPr lang="ko-KR" altLang="en-US"/>
              <a:t>있음을 뜻함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35911E-A6D7-4B99-8EF2-15210F9DB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5562C7-FC88-4DA0-8F56-0B39B8B7E6E9}"/>
              </a:ext>
            </a:extLst>
          </p:cNvPr>
          <p:cNvSpPr/>
          <p:nvPr/>
        </p:nvSpPr>
        <p:spPr>
          <a:xfrm>
            <a:off x="1403648" y="2708920"/>
            <a:ext cx="6984776" cy="158417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ls</a:t>
            </a:r>
          </a:p>
          <a:p>
            <a:r>
              <a:rPr lang="en-US" altLang="ko-KR" sz="1600" dirty="0" err="1"/>
              <a:t>a.out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hello.c</a:t>
            </a:r>
            <a:r>
              <a:rPr lang="en-US" altLang="ko-KR" sz="1600" dirty="0"/>
              <a:t> test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cp h*.c ~/ch03/test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ls test</a:t>
            </a:r>
          </a:p>
          <a:p>
            <a:r>
              <a:rPr lang="en-US" altLang="ko-KR" sz="1600" dirty="0" err="1"/>
              <a:t>a.out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hello.c</a:t>
            </a:r>
            <a:endParaRPr lang="en-US" altLang="ko-KR" sz="1600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</a:t>
            </a:r>
          </a:p>
        </p:txBody>
      </p:sp>
    </p:spTree>
    <p:extLst>
      <p:ext uri="{BB962C8B-B14F-4D97-AF65-F5344CB8AC3E}">
        <p14:creationId xmlns:p14="http://schemas.microsoft.com/office/powerpoint/2010/main" val="14870993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0716D-70C8-4B9A-A35B-1EC0EE1DB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속성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393F89-9C4B-4B41-BFA7-A2D94230CB2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파일 </a:t>
            </a:r>
            <a:r>
              <a:rPr lang="ko-KR" altLang="en-US"/>
              <a:t>속성 관점에서 </a:t>
            </a:r>
            <a:r>
              <a:rPr lang="en-US" altLang="ko-KR" dirty="0"/>
              <a:t>3</a:t>
            </a:r>
            <a:r>
              <a:rPr lang="ko-KR" altLang="en-US" dirty="0"/>
              <a:t>가지 유형의 사용자</a:t>
            </a:r>
            <a:endParaRPr lang="en-US" altLang="ko-KR" dirty="0"/>
          </a:p>
          <a:p>
            <a:pPr lvl="1" fontAlgn="base"/>
            <a:r>
              <a:rPr lang="ko-KR" altLang="en-US" dirty="0"/>
              <a:t>나</a:t>
            </a:r>
            <a:r>
              <a:rPr lang="en-US" altLang="ko-KR" dirty="0"/>
              <a:t>(user)</a:t>
            </a:r>
            <a:endParaRPr lang="ko-KR" altLang="en-US" dirty="0"/>
          </a:p>
          <a:p>
            <a:pPr lvl="1" fontAlgn="base"/>
            <a:r>
              <a:rPr lang="ko-KR" altLang="en-US" dirty="0"/>
              <a:t>나와 같은 그룹에 속한 사용자</a:t>
            </a:r>
            <a:r>
              <a:rPr lang="en-US" altLang="ko-KR" dirty="0"/>
              <a:t>(group)</a:t>
            </a:r>
            <a:endParaRPr lang="ko-KR" altLang="en-US" dirty="0"/>
          </a:p>
          <a:p>
            <a:pPr lvl="1" fontAlgn="base"/>
            <a:r>
              <a:rPr lang="ko-KR" altLang="en-US" dirty="0"/>
              <a:t>나와 다른 그룹에 속한 사용자</a:t>
            </a:r>
            <a:r>
              <a:rPr lang="en-US" altLang="ko-KR" dirty="0"/>
              <a:t>(other)</a:t>
            </a:r>
            <a:endParaRPr lang="ko-KR" altLang="en-US" dirty="0"/>
          </a:p>
          <a:p>
            <a:r>
              <a:rPr lang="ko-KR" altLang="en-US" dirty="0"/>
              <a:t>파일 속성 보기</a:t>
            </a:r>
            <a:endParaRPr lang="en-US" altLang="ko-KR" dirty="0"/>
          </a:p>
          <a:p>
            <a:pPr lvl="1"/>
            <a:r>
              <a:rPr lang="ko-KR" altLang="en-US"/>
              <a:t>파일에 관한 다양한 정보</a:t>
            </a:r>
            <a:r>
              <a:rPr lang="en-US" altLang="ko-KR"/>
              <a:t>, </a:t>
            </a:r>
            <a:r>
              <a:rPr lang="en-US" altLang="ko-KR" dirty="0"/>
              <a:t>’ls –l’</a:t>
            </a:r>
            <a:r>
              <a:rPr lang="ko-KR" altLang="en-US" dirty="0"/>
              <a:t>이나 ‘</a:t>
            </a:r>
            <a:r>
              <a:rPr lang="en-US" altLang="ko-KR" dirty="0"/>
              <a:t>ls -al’ </a:t>
            </a:r>
            <a:r>
              <a:rPr lang="ko-KR" altLang="en-US" dirty="0"/>
              <a:t>명령으로 볼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65760" lvl="1" indent="0">
              <a:buNone/>
            </a:pP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36E41E-26C5-422D-9952-DC1176579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A6277D-BA65-402B-A22A-CCF5A0E4A822}"/>
              </a:ext>
            </a:extLst>
          </p:cNvPr>
          <p:cNvSpPr/>
          <p:nvPr/>
        </p:nvSpPr>
        <p:spPr>
          <a:xfrm>
            <a:off x="1052944" y="3861049"/>
            <a:ext cx="7272808" cy="158417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ls -l</a:t>
            </a:r>
          </a:p>
          <a:p>
            <a:r>
              <a:rPr lang="en-US" altLang="ko-KR" sz="1600" dirty="0"/>
              <a:t>total 20</a:t>
            </a:r>
          </a:p>
          <a:p>
            <a:r>
              <a:rPr lang="en-US" altLang="ko-KR" sz="1600" dirty="0"/>
              <a:t>-</a:t>
            </a:r>
            <a:r>
              <a:rPr lang="en-US" altLang="ko-KR" sz="1600" dirty="0" err="1"/>
              <a:t>rwxr</a:t>
            </a:r>
            <a:r>
              <a:rPr lang="en-US" altLang="ko-KR" sz="1600" dirty="0"/>
              <a:t>-</a:t>
            </a:r>
            <a:r>
              <a:rPr lang="en-US" altLang="ko-KR" sz="1600" dirty="0" err="1"/>
              <a:t>xr</a:t>
            </a:r>
            <a:r>
              <a:rPr lang="en-US" altLang="ko-KR" sz="1600" dirty="0"/>
              <a:t>-x 1 pi </a:t>
            </a:r>
            <a:r>
              <a:rPr lang="en-US" altLang="ko-KR" sz="1600" dirty="0" err="1"/>
              <a:t>pi</a:t>
            </a:r>
            <a:r>
              <a:rPr lang="en-US" altLang="ko-KR" sz="1600" dirty="0"/>
              <a:t> 8108 	12</a:t>
            </a:r>
            <a:r>
              <a:rPr lang="ko-KR" altLang="en-US" sz="1600" dirty="0"/>
              <a:t>월 </a:t>
            </a:r>
            <a:r>
              <a:rPr lang="en-US" altLang="ko-KR" sz="1600" dirty="0"/>
              <a:t>26 12:36 </a:t>
            </a:r>
            <a:r>
              <a:rPr lang="en-US" altLang="ko-KR" sz="1600" dirty="0" err="1"/>
              <a:t>a.out</a:t>
            </a:r>
            <a:endParaRPr lang="en-US" altLang="ko-KR" sz="1600" dirty="0"/>
          </a:p>
          <a:p>
            <a:r>
              <a:rPr lang="en-US" altLang="ko-KR" sz="1600" dirty="0"/>
              <a:t>-</a:t>
            </a:r>
            <a:r>
              <a:rPr lang="en-US" altLang="ko-KR" sz="1600" dirty="0" err="1"/>
              <a:t>rw</a:t>
            </a:r>
            <a:r>
              <a:rPr lang="en-US" altLang="ko-KR" sz="1600" dirty="0"/>
              <a:t>-r--r--  1 pi </a:t>
            </a:r>
            <a:r>
              <a:rPr lang="en-US" altLang="ko-KR" sz="1600" dirty="0" err="1"/>
              <a:t>pi</a:t>
            </a:r>
            <a:r>
              <a:rPr lang="en-US" altLang="ko-KR" sz="1600" dirty="0"/>
              <a:t>  113 	12</a:t>
            </a:r>
            <a:r>
              <a:rPr lang="ko-KR" altLang="en-US" sz="1600" dirty="0"/>
              <a:t>월 </a:t>
            </a:r>
            <a:r>
              <a:rPr lang="en-US" altLang="ko-KR" sz="1600" dirty="0"/>
              <a:t>26 12:27 </a:t>
            </a:r>
            <a:r>
              <a:rPr lang="en-US" altLang="ko-KR" sz="1600" dirty="0" err="1"/>
              <a:t>hello.c</a:t>
            </a:r>
            <a:endParaRPr lang="en-US" altLang="ko-KR" sz="1600" dirty="0"/>
          </a:p>
          <a:p>
            <a:r>
              <a:rPr lang="en-US" altLang="ko-KR" sz="1600" dirty="0" err="1"/>
              <a:t>drwxr</a:t>
            </a:r>
            <a:r>
              <a:rPr lang="en-US" altLang="ko-KR" sz="1600" dirty="0"/>
              <a:t>-</a:t>
            </a:r>
            <a:r>
              <a:rPr lang="en-US" altLang="ko-KR" sz="1600" dirty="0" err="1"/>
              <a:t>xr</a:t>
            </a:r>
            <a:r>
              <a:rPr lang="en-US" altLang="ko-KR" sz="1600" dirty="0"/>
              <a:t>-x 2 pi </a:t>
            </a:r>
            <a:r>
              <a:rPr lang="en-US" altLang="ko-KR" sz="1600" dirty="0" err="1"/>
              <a:t>pi</a:t>
            </a:r>
            <a:r>
              <a:rPr lang="en-US" altLang="ko-KR" sz="1600" dirty="0"/>
              <a:t> 4096 	12</a:t>
            </a:r>
            <a:r>
              <a:rPr lang="ko-KR" altLang="en-US" sz="1600" dirty="0"/>
              <a:t>월 </a:t>
            </a:r>
            <a:r>
              <a:rPr lang="en-US" altLang="ko-KR" sz="1600" dirty="0"/>
              <a:t>26 13:52 test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</a:t>
            </a:r>
          </a:p>
        </p:txBody>
      </p:sp>
    </p:spTree>
    <p:extLst>
      <p:ext uri="{BB962C8B-B14F-4D97-AF65-F5344CB8AC3E}">
        <p14:creationId xmlns:p14="http://schemas.microsoft.com/office/powerpoint/2010/main" val="36318032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48339-66FD-48A6-9FFB-7263877CF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파일 속성 종류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5ED21-19BD-491C-9D0E-A79BA3BE1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725" y="1036860"/>
            <a:ext cx="533400" cy="244476"/>
          </a:xfrm>
        </p:spPr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49</a:t>
            </a:fld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3DF8C13-39C8-4F60-8CBC-C99930D3D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05" y="1700808"/>
            <a:ext cx="7048131" cy="387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8062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2C3EA-D922-40E1-9F89-66AAF585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파일 속성 설명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AF7625-DB7A-46E0-A573-7A7F0AF04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6A3690-5215-4318-BA3C-E82C187DD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772816"/>
            <a:ext cx="7878064" cy="293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4649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EACF2-39AA-4788-87E2-E1B8EAFD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/>
          <a:lstStyle/>
          <a:p>
            <a:r>
              <a:rPr lang="ko-KR" altLang="en-US" dirty="0"/>
              <a:t>파일 허가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6FDD02-5D6C-40DC-A2D6-80DD90CEE7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사용자 유형별 파일 허가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/>
              <a:t>r</a:t>
            </a:r>
          </a:p>
          <a:p>
            <a:pPr lvl="2"/>
            <a:r>
              <a:rPr lang="ko-KR" altLang="en-US"/>
              <a:t>파일 </a:t>
            </a:r>
            <a:r>
              <a:rPr lang="ko-KR" altLang="en-US" dirty="0"/>
              <a:t>읽기 허용</a:t>
            </a:r>
          </a:p>
          <a:p>
            <a:pPr lvl="1"/>
            <a:r>
              <a:rPr lang="en-US" altLang="ko-KR"/>
              <a:t>w </a:t>
            </a:r>
          </a:p>
          <a:p>
            <a:pPr lvl="2"/>
            <a:r>
              <a:rPr lang="ko-KR" altLang="en-US"/>
              <a:t>파일 </a:t>
            </a:r>
            <a:r>
              <a:rPr lang="ko-KR" altLang="en-US" dirty="0"/>
              <a:t>쓰기나 </a:t>
            </a:r>
            <a:r>
              <a:rPr lang="ko-KR" altLang="en-US"/>
              <a:t>수정 허용</a:t>
            </a:r>
            <a:endParaRPr lang="en-US" altLang="ko-KR"/>
          </a:p>
          <a:p>
            <a:pPr lvl="2"/>
            <a:r>
              <a:rPr lang="ko-KR" altLang="en-US"/>
              <a:t>파일 </a:t>
            </a:r>
            <a:r>
              <a:rPr lang="ko-KR" altLang="en-US" dirty="0"/>
              <a:t>쓰기가 허용되면 파일 삭제도 가능</a:t>
            </a:r>
          </a:p>
          <a:p>
            <a:pPr lvl="1"/>
            <a:r>
              <a:rPr lang="en-US" altLang="ko-KR"/>
              <a:t>x</a:t>
            </a:r>
          </a:p>
          <a:p>
            <a:pPr lvl="2"/>
            <a:r>
              <a:rPr lang="ko-KR" altLang="en-US"/>
              <a:t>파일의 실행 허용</a:t>
            </a:r>
            <a:r>
              <a:rPr lang="en-US" altLang="ko-KR"/>
              <a:t>(</a:t>
            </a:r>
            <a:r>
              <a:rPr lang="ko-KR" altLang="en-US"/>
              <a:t>실행 가능한 파일에 대해서만 의미 있음</a:t>
            </a:r>
            <a:r>
              <a:rPr lang="en-US" altLang="ko-KR"/>
              <a:t>)</a:t>
            </a:r>
          </a:p>
          <a:p>
            <a:pPr lvl="2"/>
            <a:r>
              <a:rPr lang="ko-KR" altLang="en-US"/>
              <a:t>디렉터리의 </a:t>
            </a:r>
            <a:r>
              <a:rPr lang="ko-KR" altLang="en-US" dirty="0"/>
              <a:t>경우 디렉터리 안으로 이동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55010F-F5CC-496C-B77E-D694ADF9D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51</a:t>
            </a:fld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5767DC2-E3B4-4857-AB19-84A0E3562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700809"/>
            <a:ext cx="5976664" cy="179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81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654EEF-5358-4F61-ADD3-3A5D18B67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파일 허가 사례 </a:t>
            </a:r>
            <a:r>
              <a:rPr lang="en-US" altLang="ko-KR"/>
              <a:t>(1)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88909-FC08-4C7C-B71A-4534A68071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(1) </a:t>
            </a:r>
            <a:r>
              <a:rPr lang="en-US" altLang="ko-KR" dirty="0" err="1"/>
              <a:t>hello.c</a:t>
            </a:r>
            <a:r>
              <a:rPr lang="en-US" altLang="ko-KR" dirty="0"/>
              <a:t> </a:t>
            </a:r>
            <a:r>
              <a:rPr lang="ko-KR" altLang="en-US" dirty="0"/>
              <a:t>파일 허가 사례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/>
              <a:t>(</a:t>
            </a:r>
            <a:r>
              <a:rPr lang="en-US" altLang="ko-KR" dirty="0"/>
              <a:t>2) </a:t>
            </a:r>
            <a:r>
              <a:rPr lang="en-US" altLang="ko-KR" dirty="0" err="1"/>
              <a:t>a.out</a:t>
            </a:r>
            <a:r>
              <a:rPr lang="en-US" altLang="ko-KR" dirty="0"/>
              <a:t> </a:t>
            </a:r>
            <a:r>
              <a:rPr lang="ko-KR" altLang="en-US" dirty="0"/>
              <a:t>파일의 실행 허가 사례</a:t>
            </a:r>
            <a:endParaRPr lang="en-US" altLang="ko-KR" dirty="0"/>
          </a:p>
          <a:p>
            <a:pPr lvl="1"/>
            <a:r>
              <a:rPr lang="en-US" altLang="ko-KR" dirty="0" err="1"/>
              <a:t>a.out</a:t>
            </a:r>
            <a:r>
              <a:rPr lang="ko-KR" altLang="en-US" dirty="0"/>
              <a:t>이 </a:t>
            </a:r>
            <a:r>
              <a:rPr lang="ko-KR" altLang="en-US"/>
              <a:t>실행 파일</a:t>
            </a:r>
            <a:endParaRPr lang="en-US" altLang="ko-KR"/>
          </a:p>
          <a:p>
            <a:pPr lvl="1"/>
            <a:r>
              <a:rPr lang="en-US" altLang="ko-KR"/>
              <a:t>a</a:t>
            </a:r>
            <a:r>
              <a:rPr lang="en-US" altLang="ko-KR" dirty="0" err="1"/>
              <a:t>.out</a:t>
            </a:r>
            <a:r>
              <a:rPr lang="ko-KR" altLang="en-US" dirty="0"/>
              <a:t>을 실행시키려면 </a:t>
            </a:r>
            <a:r>
              <a:rPr lang="en-US" altLang="ko-KR"/>
              <a:t>x </a:t>
            </a:r>
            <a:r>
              <a:rPr lang="ko-KR" altLang="en-US"/>
              <a:t>옵션 설정 필요</a:t>
            </a:r>
            <a:endParaRPr lang="ko-KR" altLang="en-US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56213-BBE4-4EC3-BEA9-64AA70D36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B26129E-C6DB-4891-A0BF-28BBE4C0212F}"/>
              </a:ext>
            </a:extLst>
          </p:cNvPr>
          <p:cNvSpPr/>
          <p:nvPr/>
        </p:nvSpPr>
        <p:spPr>
          <a:xfrm>
            <a:off x="1073989" y="5445224"/>
            <a:ext cx="7230718" cy="33855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dirty="0"/>
              <a:t>-</a:t>
            </a:r>
            <a:r>
              <a:rPr lang="en-US" altLang="ko-KR" sz="1600" dirty="0" err="1"/>
              <a:t>rw</a:t>
            </a:r>
            <a:r>
              <a:rPr lang="en-US" altLang="ko-KR" sz="1600" dirty="0" err="1">
                <a:solidFill>
                  <a:srgbClr val="C00000"/>
                </a:solidFill>
              </a:rPr>
              <a:t>x</a:t>
            </a:r>
            <a:r>
              <a:rPr lang="en-US" altLang="ko-KR" sz="1600" dirty="0" err="1"/>
              <a:t>r</a:t>
            </a:r>
            <a:r>
              <a:rPr lang="en-US" altLang="ko-KR" sz="1600" dirty="0"/>
              <a:t>-</a:t>
            </a:r>
            <a:r>
              <a:rPr lang="en-US" altLang="ko-KR" sz="1600" dirty="0" err="1">
                <a:solidFill>
                  <a:srgbClr val="C00000"/>
                </a:solidFill>
              </a:rPr>
              <a:t>x</a:t>
            </a:r>
            <a:r>
              <a:rPr lang="en-US" altLang="ko-KR" sz="1600" dirty="0" err="1"/>
              <a:t>r</a:t>
            </a:r>
            <a:r>
              <a:rPr lang="en-US" altLang="ko-KR" sz="1600" dirty="0"/>
              <a:t>-</a:t>
            </a:r>
            <a:r>
              <a:rPr lang="en-US" altLang="ko-KR" sz="1600" dirty="0">
                <a:solidFill>
                  <a:srgbClr val="C00000"/>
                </a:solidFill>
              </a:rPr>
              <a:t>x</a:t>
            </a:r>
            <a:r>
              <a:rPr lang="en-US" altLang="ko-KR" sz="1600" dirty="0"/>
              <a:t> 1 pi </a:t>
            </a:r>
            <a:r>
              <a:rPr lang="en-US" altLang="ko-KR" sz="1600" dirty="0" err="1"/>
              <a:t>pi</a:t>
            </a:r>
            <a:r>
              <a:rPr lang="en-US" altLang="ko-KR" sz="1600" dirty="0"/>
              <a:t> 8072 12</a:t>
            </a:r>
            <a:r>
              <a:rPr lang="ko-KR" altLang="en-US" sz="1600" dirty="0"/>
              <a:t>월 </a:t>
            </a:r>
            <a:r>
              <a:rPr lang="en-US" altLang="ko-KR" sz="1600" dirty="0"/>
              <a:t>26 12:36 </a:t>
            </a:r>
            <a:r>
              <a:rPr lang="en-US" altLang="ko-KR" sz="1600" dirty="0" err="1"/>
              <a:t>a.out</a:t>
            </a:r>
            <a:endParaRPr lang="en-US" altLang="ko-KR" sz="16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862262B-4145-40EF-B698-4EA00FD59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916832"/>
            <a:ext cx="6714656" cy="192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970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1D0EA-4977-46D6-B10A-4F4BCEE18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파일 허가 사례 </a:t>
            </a:r>
            <a:r>
              <a:rPr lang="en-US" altLang="ko-KR"/>
              <a:t>(2)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0A5E2F-02CC-44D5-B7EB-EA47876EA9B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(3) </a:t>
            </a:r>
            <a:r>
              <a:rPr lang="en-US" altLang="ko-KR"/>
              <a:t>test </a:t>
            </a:r>
            <a:r>
              <a:rPr lang="ko-KR" altLang="en-US"/>
              <a:t>디렉터리로 진힙 사례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파일 속성의 맨 앞의 문자가 ‘</a:t>
            </a:r>
            <a:r>
              <a:rPr lang="en-US" altLang="ko-KR" dirty="0"/>
              <a:t>d’</a:t>
            </a:r>
            <a:r>
              <a:rPr lang="ko-KR" altLang="en-US" dirty="0"/>
              <a:t>이므로</a:t>
            </a:r>
            <a:r>
              <a:rPr lang="en-US" altLang="ko-KR" dirty="0"/>
              <a:t>, test</a:t>
            </a:r>
            <a:r>
              <a:rPr lang="ko-KR" altLang="en-US" dirty="0"/>
              <a:t>는 디렉터리임</a:t>
            </a:r>
          </a:p>
          <a:p>
            <a:pPr lvl="1"/>
            <a:r>
              <a:rPr lang="ko-KR" altLang="en-US" dirty="0"/>
              <a:t>디렉터리의 경우 파일 허가 옵션 중 </a:t>
            </a:r>
            <a:r>
              <a:rPr lang="en-US" altLang="ko-KR" dirty="0"/>
              <a:t>x </a:t>
            </a:r>
            <a:r>
              <a:rPr lang="ko-KR" altLang="en-US" dirty="0"/>
              <a:t>옵션이 있으면</a:t>
            </a:r>
            <a:r>
              <a:rPr lang="en-US" altLang="ko-KR" dirty="0"/>
              <a:t>, </a:t>
            </a:r>
            <a:r>
              <a:rPr lang="ko-KR" altLang="en-US" dirty="0"/>
              <a:t>디렉터리로 진입하는 것을 허가한다는 의미</a:t>
            </a:r>
          </a:p>
          <a:p>
            <a:pPr lvl="1"/>
            <a:r>
              <a:rPr lang="en-US" altLang="ko-KR" dirty="0"/>
              <a:t>test </a:t>
            </a:r>
            <a:r>
              <a:rPr lang="ko-KR" altLang="en-US" dirty="0"/>
              <a:t>디렉터리의 파일 허가 속성에는 모든 사용자 유형에 대해 </a:t>
            </a:r>
            <a:r>
              <a:rPr lang="en-US" altLang="ko-KR" dirty="0"/>
              <a:t>x </a:t>
            </a:r>
            <a:r>
              <a:rPr lang="ko-KR" altLang="en-US" dirty="0"/>
              <a:t>옵션이 들어 있으므로 </a:t>
            </a:r>
            <a:r>
              <a:rPr lang="en-US" altLang="ko-KR" dirty="0"/>
              <a:t>pi </a:t>
            </a:r>
            <a:r>
              <a:rPr lang="ko-KR" altLang="en-US" dirty="0"/>
              <a:t>사용자를 비롯한 모든 사용자가 </a:t>
            </a:r>
            <a:r>
              <a:rPr lang="en-US" altLang="ko-KR" dirty="0"/>
              <a:t>cd </a:t>
            </a:r>
            <a:r>
              <a:rPr lang="ko-KR" altLang="en-US" dirty="0"/>
              <a:t>명령으로 </a:t>
            </a:r>
            <a:r>
              <a:rPr lang="en-US" altLang="ko-KR" dirty="0"/>
              <a:t>test </a:t>
            </a:r>
            <a:r>
              <a:rPr lang="ko-KR" altLang="en-US" dirty="0"/>
              <a:t>디렉터리에 진입할 수 있음</a:t>
            </a:r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A49546-375E-4B3D-9B43-1708DE370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24B782D-6890-45DD-9D25-2AE2EC85D300}"/>
              </a:ext>
            </a:extLst>
          </p:cNvPr>
          <p:cNvSpPr/>
          <p:nvPr/>
        </p:nvSpPr>
        <p:spPr>
          <a:xfrm>
            <a:off x="947757" y="1988840"/>
            <a:ext cx="7848872" cy="33855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dirty="0" err="1"/>
              <a:t>drwxr</a:t>
            </a:r>
            <a:r>
              <a:rPr lang="en-US" altLang="ko-KR" sz="1600" dirty="0"/>
              <a:t>-</a:t>
            </a:r>
            <a:r>
              <a:rPr lang="en-US" altLang="ko-KR" sz="1600" dirty="0" err="1"/>
              <a:t>xr</a:t>
            </a:r>
            <a:r>
              <a:rPr lang="en-US" altLang="ko-KR" sz="1600" dirty="0"/>
              <a:t>-x 2 pi </a:t>
            </a:r>
            <a:r>
              <a:rPr lang="en-US" altLang="ko-KR" sz="1600" dirty="0" err="1"/>
              <a:t>pi</a:t>
            </a:r>
            <a:r>
              <a:rPr lang="en-US" altLang="ko-KR" sz="1600" dirty="0"/>
              <a:t> 4096 12</a:t>
            </a:r>
            <a:r>
              <a:rPr lang="ko-KR" altLang="en-US" sz="1600" dirty="0"/>
              <a:t>월 </a:t>
            </a:r>
            <a:r>
              <a:rPr lang="en-US" altLang="ko-KR" sz="1600" dirty="0"/>
              <a:t>26 13:52 test</a:t>
            </a:r>
          </a:p>
        </p:txBody>
      </p:sp>
    </p:spTree>
    <p:extLst>
      <p:ext uri="{BB962C8B-B14F-4D97-AF65-F5344CB8AC3E}">
        <p14:creationId xmlns:p14="http://schemas.microsoft.com/office/powerpoint/2010/main" val="8463586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A4EBC-E0CA-48BC-9CE8-AB1B6E60F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 </a:t>
            </a:r>
            <a:r>
              <a:rPr lang="ko-KR" altLang="en-US"/>
              <a:t>허가 변경 </a:t>
            </a:r>
            <a:r>
              <a:rPr lang="en-US" altLang="ko-KR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58635A-3E13-4FB1-BDFE-DCDD32962AB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/>
          <a:p>
            <a:r>
              <a:rPr lang="en-US" altLang="ko-KR" sz="2000"/>
              <a:t>chmod </a:t>
            </a:r>
            <a:r>
              <a:rPr lang="ko-KR" altLang="en-US" sz="2000"/>
              <a:t>명령을 이용한 </a:t>
            </a:r>
            <a:r>
              <a:rPr lang="ko-KR" altLang="en-US" sz="2000" dirty="0"/>
              <a:t>파일 허가 변경</a:t>
            </a:r>
          </a:p>
          <a:p>
            <a:pPr lvl="1"/>
            <a:r>
              <a:rPr lang="ko-KR" altLang="en-US" sz="1800" dirty="0"/>
              <a:t>루트 사용자나 </a:t>
            </a:r>
            <a:r>
              <a:rPr lang="ko-KR" altLang="en-US" sz="1800"/>
              <a:t>파일의 소유자만 </a:t>
            </a:r>
            <a:r>
              <a:rPr lang="en-US" altLang="ko-KR" sz="1800"/>
              <a:t>chmod </a:t>
            </a:r>
            <a:r>
              <a:rPr lang="ko-KR" altLang="en-US" sz="1800"/>
              <a:t>명령 사용 가능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endParaRPr lang="en-US" altLang="ko-KR" sz="2000"/>
          </a:p>
          <a:p>
            <a:pPr marL="0" indent="0">
              <a:buNone/>
            </a:pPr>
            <a:r>
              <a:rPr lang="en-US" altLang="ko-KR" sz="1800"/>
              <a:t>(1) 8</a:t>
            </a:r>
            <a:r>
              <a:rPr lang="ko-KR" altLang="en-US" sz="1800"/>
              <a:t>진수로 파일 허가 표현</a:t>
            </a:r>
            <a:endParaRPr lang="en-US" altLang="ko-KR" sz="1800"/>
          </a:p>
          <a:p>
            <a:pPr marL="365760" lvl="1" indent="0">
              <a:buNone/>
            </a:pPr>
            <a:endParaRPr lang="en-US" altLang="ko-KR" sz="1800"/>
          </a:p>
          <a:p>
            <a:pPr marL="365760" lvl="1" indent="0">
              <a:buNone/>
            </a:pPr>
            <a:endParaRPr lang="en-US" altLang="ko-KR" sz="1800"/>
          </a:p>
          <a:p>
            <a:pPr marL="365760" lvl="1" indent="0">
              <a:buNone/>
            </a:pPr>
            <a:endParaRPr lang="en-US" altLang="ko-KR" sz="1800"/>
          </a:p>
          <a:p>
            <a:pPr lvl="1"/>
            <a:r>
              <a:rPr lang="en-US" altLang="ko-KR" sz="1800"/>
              <a:t>hello.c </a:t>
            </a:r>
            <a:r>
              <a:rPr lang="ko-KR" altLang="en-US" sz="1800"/>
              <a:t>파일의 허가 속성을 </a:t>
            </a:r>
            <a:r>
              <a:rPr lang="en-US" altLang="ko-KR" sz="1800"/>
              <a:t>664</a:t>
            </a:r>
            <a:r>
              <a:rPr lang="ko-KR" altLang="en-US" sz="1800"/>
              <a:t>로 변경하는 사례</a:t>
            </a:r>
            <a:endParaRPr lang="ko-KR" altLang="en-US" sz="1800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487BC4-601C-4CAC-8380-C2C1D984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57255A-BF8C-49EF-8D47-2D070BB31B0C}"/>
              </a:ext>
            </a:extLst>
          </p:cNvPr>
          <p:cNvSpPr/>
          <p:nvPr/>
        </p:nvSpPr>
        <p:spPr>
          <a:xfrm>
            <a:off x="1262471" y="2195572"/>
            <a:ext cx="66939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/>
              <a:t>chomd</a:t>
            </a:r>
            <a:r>
              <a:rPr lang="en-US" altLang="ko-KR" sz="1400" dirty="0"/>
              <a:t> </a:t>
            </a:r>
            <a:r>
              <a:rPr lang="ko-KR" altLang="en-US" sz="1400" dirty="0"/>
              <a:t>파일허가 파일이름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AFF579-C26B-481D-8ADE-BB4BCCE0055A}"/>
              </a:ext>
            </a:extLst>
          </p:cNvPr>
          <p:cNvSpPr/>
          <p:nvPr/>
        </p:nvSpPr>
        <p:spPr>
          <a:xfrm>
            <a:off x="1225047" y="3243605"/>
            <a:ext cx="6693905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pt-BR" altLang="ko-KR" sz="1400"/>
              <a:t>rw-r--r--		-&gt;	110 100 100	-&gt; 	</a:t>
            </a:r>
            <a:r>
              <a:rPr lang="pt-BR" altLang="ko-KR" sz="1400" b="1"/>
              <a:t>644</a:t>
            </a:r>
          </a:p>
          <a:p>
            <a:pPr defTabSz="180000"/>
            <a:r>
              <a:rPr lang="pt-BR" altLang="ko-KR" sz="1400"/>
              <a:t>rwxrw--		-&gt;	111 110 000	-&gt; 	</a:t>
            </a:r>
            <a:r>
              <a:rPr lang="pt-BR" altLang="ko-KR" sz="1400" b="1"/>
              <a:t>760</a:t>
            </a:r>
          </a:p>
          <a:p>
            <a:pPr defTabSz="180000"/>
            <a:r>
              <a:rPr lang="pt-BR" altLang="ko-KR" sz="1400"/>
              <a:t>rwxrwxrwx	-&gt;	111 111 111	-&gt; 	</a:t>
            </a:r>
            <a:r>
              <a:rPr lang="pt-BR" altLang="ko-KR" sz="1400" b="1"/>
              <a:t>777</a:t>
            </a:r>
            <a:endParaRPr lang="pt-BR" altLang="ko-KR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10FFBA-0082-47E2-BBA1-2380A621009D}"/>
              </a:ext>
            </a:extLst>
          </p:cNvPr>
          <p:cNvSpPr/>
          <p:nvPr/>
        </p:nvSpPr>
        <p:spPr>
          <a:xfrm>
            <a:off x="1225047" y="4725145"/>
            <a:ext cx="6693905" cy="100811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da-DK" altLang="ko-KR" sz="1400" b="1" dirty="0"/>
              <a:t>pi@pi:~/ch03 $ chmod 664 hello.c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ls -l </a:t>
            </a:r>
            <a:r>
              <a:rPr lang="en-US" altLang="ko-KR" sz="1400" b="1" dirty="0" err="1"/>
              <a:t>hello.c</a:t>
            </a:r>
            <a:endParaRPr lang="en-US" altLang="ko-KR" sz="1400" b="1" dirty="0"/>
          </a:p>
          <a:p>
            <a:r>
              <a:rPr lang="en-US" altLang="ko-KR" sz="1400" dirty="0"/>
              <a:t>-</a:t>
            </a:r>
            <a:r>
              <a:rPr lang="en-US" altLang="ko-KR" sz="1400" dirty="0" err="1"/>
              <a:t>rw</a:t>
            </a:r>
            <a:r>
              <a:rPr lang="en-US" altLang="ko-KR" sz="1400" dirty="0"/>
              <a:t>-</a:t>
            </a:r>
            <a:r>
              <a:rPr lang="en-US" altLang="ko-KR" sz="1400" dirty="0" err="1"/>
              <a:t>rw</a:t>
            </a:r>
            <a:r>
              <a:rPr lang="en-US" altLang="ko-KR" sz="1400" dirty="0"/>
              <a:t>-r-- 1 pi </a:t>
            </a:r>
            <a:r>
              <a:rPr lang="en-US" altLang="ko-KR" sz="1400" dirty="0" err="1"/>
              <a:t>pi</a:t>
            </a:r>
            <a:r>
              <a:rPr lang="en-US" altLang="ko-KR" sz="1400" dirty="0"/>
              <a:t> 112 12</a:t>
            </a:r>
            <a:r>
              <a:rPr lang="ko-KR" altLang="en-US" sz="1400" dirty="0"/>
              <a:t>월 </a:t>
            </a:r>
            <a:r>
              <a:rPr lang="en-US" altLang="ko-KR" sz="1400" dirty="0"/>
              <a:t>26 12:27 </a:t>
            </a:r>
            <a:r>
              <a:rPr lang="en-US" altLang="ko-KR" sz="1400" dirty="0" err="1"/>
              <a:t>hello.c</a:t>
            </a:r>
            <a:endParaRPr lang="en-US" altLang="ko-KR" sz="1400" dirty="0"/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  <a:endParaRPr lang="da-DK" altLang="ko-KR" sz="14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86EB170-5D5F-46D6-81D3-FA430C02FA1F}"/>
              </a:ext>
            </a:extLst>
          </p:cNvPr>
          <p:cNvSpPr/>
          <p:nvPr/>
        </p:nvSpPr>
        <p:spPr>
          <a:xfrm>
            <a:off x="1271643" y="5193007"/>
            <a:ext cx="892661" cy="216403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6140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EC726-F5A5-4856-B354-F5C11C96E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파일 허가 변경 </a:t>
            </a:r>
            <a:r>
              <a:rPr lang="en-US" altLang="ko-KR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B0BD92-C4A6-416E-B5A0-91DEE7D752A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" indent="0" fontAlgn="base">
              <a:buNone/>
            </a:pPr>
            <a:r>
              <a:rPr lang="en-US" altLang="ko-KR" sz="2000"/>
              <a:t>(</a:t>
            </a:r>
            <a:r>
              <a:rPr lang="en-US" altLang="ko-KR" sz="2000" dirty="0"/>
              <a:t>2) +, -, u, g, </a:t>
            </a:r>
            <a:r>
              <a:rPr lang="en-US" altLang="ko-KR" sz="2000"/>
              <a:t>o </a:t>
            </a:r>
            <a:r>
              <a:rPr lang="ko-KR" altLang="en-US" sz="2000"/>
              <a:t>옵션으로 파일 허가 변경</a:t>
            </a:r>
            <a:endParaRPr lang="ko-KR" altLang="en-US" sz="2000" dirty="0"/>
          </a:p>
          <a:p>
            <a:pPr lvl="1"/>
            <a:r>
              <a:rPr lang="en-US" altLang="ko-KR" sz="1800" dirty="0"/>
              <a:t>u(user), g(group), o(other), a(all)</a:t>
            </a:r>
            <a:r>
              <a:rPr lang="ko-KR" altLang="en-US" sz="1800" dirty="0"/>
              <a:t>와 </a:t>
            </a:r>
            <a:r>
              <a:rPr lang="en-US" altLang="ko-KR" sz="1800" dirty="0"/>
              <a:t>+, -, r, w, </a:t>
            </a:r>
            <a:r>
              <a:rPr lang="en-US" altLang="ko-KR" sz="1800"/>
              <a:t>x </a:t>
            </a:r>
            <a:r>
              <a:rPr lang="ko-KR" altLang="en-US" sz="1800"/>
              <a:t>문자 함께 이용</a:t>
            </a:r>
            <a:endParaRPr lang="ko-KR" altLang="en-US" sz="1800" dirty="0"/>
          </a:p>
          <a:p>
            <a:pPr lvl="1"/>
            <a:r>
              <a:rPr lang="en-US" altLang="ko-KR" sz="1800" dirty="0"/>
              <a:t>+</a:t>
            </a:r>
            <a:r>
              <a:rPr lang="ko-KR" altLang="en-US" sz="1800"/>
              <a:t>는 권한 추가</a:t>
            </a:r>
            <a:endParaRPr lang="en-US" altLang="ko-KR" sz="1800"/>
          </a:p>
          <a:p>
            <a:pPr lvl="1"/>
            <a:r>
              <a:rPr lang="en-US" altLang="ko-KR" sz="1800"/>
              <a:t>-</a:t>
            </a:r>
            <a:r>
              <a:rPr lang="ko-KR" altLang="en-US" sz="1800"/>
              <a:t>는 권한 </a:t>
            </a:r>
            <a:r>
              <a:rPr lang="ko-KR" altLang="en-US" sz="1800" dirty="0"/>
              <a:t>삭제</a:t>
            </a:r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699993-83EA-424E-9CAE-90B2FECE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9C1B0B-A833-4094-BDAB-102788ADDB11}"/>
              </a:ext>
            </a:extLst>
          </p:cNvPr>
          <p:cNvSpPr/>
          <p:nvPr/>
        </p:nvSpPr>
        <p:spPr>
          <a:xfrm>
            <a:off x="1142044" y="2996952"/>
            <a:ext cx="7318388" cy="144016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</a:t>
            </a:r>
            <a:r>
              <a:rPr lang="en-US" altLang="ko-KR" sz="1400" b="1" dirty="0" err="1"/>
              <a:t>chmod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u+w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hello.c</a:t>
            </a:r>
            <a:r>
              <a:rPr lang="en-US" altLang="ko-KR" sz="1400" b="1" dirty="0"/>
              <a:t> </a:t>
            </a:r>
            <a:r>
              <a:rPr lang="en-US" altLang="ko-KR" sz="1400" dirty="0"/>
              <a:t>// pi </a:t>
            </a:r>
            <a:r>
              <a:rPr lang="ko-KR" altLang="en-US" sz="1400" dirty="0"/>
              <a:t>사용자에게 쓰기 권한 부여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</a:t>
            </a:r>
            <a:r>
              <a:rPr lang="en-US" altLang="ko-KR" sz="1400" b="1" dirty="0" err="1"/>
              <a:t>chmod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g+w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hello.c</a:t>
            </a:r>
            <a:r>
              <a:rPr lang="en-US" altLang="ko-KR" sz="1400" b="1" dirty="0"/>
              <a:t> </a:t>
            </a:r>
            <a:r>
              <a:rPr lang="en-US" altLang="ko-KR" sz="1400" dirty="0"/>
              <a:t>// pi</a:t>
            </a:r>
            <a:r>
              <a:rPr lang="ko-KR" altLang="en-US" sz="1400" dirty="0"/>
              <a:t>와 동일 그룹 사용자들에게 쓰기 권한 부여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</a:t>
            </a:r>
            <a:r>
              <a:rPr lang="en-US" altLang="ko-KR" sz="1400" b="1" dirty="0" err="1"/>
              <a:t>chmod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a+r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hello.c</a:t>
            </a:r>
            <a:r>
              <a:rPr lang="en-US" altLang="ko-KR" sz="1400" b="1" dirty="0"/>
              <a:t> </a:t>
            </a:r>
            <a:r>
              <a:rPr lang="en-US" altLang="ko-KR" sz="1400" dirty="0"/>
              <a:t>// </a:t>
            </a:r>
            <a:r>
              <a:rPr lang="ko-KR" altLang="en-US" sz="1400" dirty="0"/>
              <a:t>모든 사용자에게 읽기 권한 부여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</a:t>
            </a:r>
            <a:r>
              <a:rPr lang="en-US" altLang="ko-KR" sz="1400" b="1" dirty="0" err="1"/>
              <a:t>chmod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o+rw</a:t>
            </a:r>
            <a:r>
              <a:rPr lang="en-US" altLang="ko-KR" sz="1400" b="1" dirty="0"/>
              <a:t> </a:t>
            </a:r>
            <a:r>
              <a:rPr lang="en-US" altLang="ko-KR" sz="1400" b="1" dirty="0" err="1"/>
              <a:t>hello.c</a:t>
            </a:r>
            <a:r>
              <a:rPr lang="en-US" altLang="ko-KR" sz="1400" b="1" dirty="0"/>
              <a:t> </a:t>
            </a:r>
            <a:r>
              <a:rPr lang="en-US" altLang="ko-KR" sz="1400" dirty="0"/>
              <a:t>// </a:t>
            </a:r>
            <a:r>
              <a:rPr lang="ko-KR" altLang="en-US" sz="1400" dirty="0"/>
              <a:t>기타 사용자들에게 읽기와 쓰기 권한 부여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</a:t>
            </a:r>
            <a:r>
              <a:rPr lang="en-US" altLang="ko-KR" sz="1400" b="1" dirty="0" err="1"/>
              <a:t>chmod</a:t>
            </a:r>
            <a:r>
              <a:rPr lang="en-US" altLang="ko-KR" sz="1400" b="1" dirty="0"/>
              <a:t> o-x </a:t>
            </a:r>
            <a:r>
              <a:rPr lang="en-US" altLang="ko-KR" sz="1400" b="1" dirty="0" err="1"/>
              <a:t>a.out</a:t>
            </a:r>
            <a:r>
              <a:rPr lang="en-US" altLang="ko-KR" sz="1400" b="1" dirty="0"/>
              <a:t> </a:t>
            </a:r>
            <a:r>
              <a:rPr lang="en-US" altLang="ko-KR" sz="1400" dirty="0"/>
              <a:t>// </a:t>
            </a:r>
            <a:r>
              <a:rPr lang="ko-KR" altLang="en-US" sz="1400" dirty="0"/>
              <a:t>기타 사용자들에게 실행 권한 제거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</a:t>
            </a:r>
            <a:r>
              <a:rPr lang="en-US" altLang="ko-KR" sz="1400" b="1" dirty="0" err="1"/>
              <a:t>chmod</a:t>
            </a:r>
            <a:r>
              <a:rPr lang="en-US" altLang="ko-KR" sz="1400" b="1" dirty="0"/>
              <a:t> go-x test </a:t>
            </a:r>
            <a:r>
              <a:rPr lang="en-US" altLang="ko-KR" sz="1400" dirty="0"/>
              <a:t>// </a:t>
            </a:r>
            <a:r>
              <a:rPr lang="ko-KR" altLang="en-US" sz="1400" dirty="0"/>
              <a:t>다른 사용자가 </a:t>
            </a:r>
            <a:r>
              <a:rPr lang="en-US" altLang="ko-KR" sz="1400" dirty="0"/>
              <a:t>test </a:t>
            </a:r>
            <a:r>
              <a:rPr lang="ko-KR" altLang="en-US" sz="1400" dirty="0"/>
              <a:t>디렉터리에 들어가는 권한 제거</a:t>
            </a:r>
          </a:p>
        </p:txBody>
      </p:sp>
    </p:spTree>
    <p:extLst>
      <p:ext uri="{BB962C8B-B14F-4D97-AF65-F5344CB8AC3E}">
        <p14:creationId xmlns:p14="http://schemas.microsoft.com/office/powerpoint/2010/main" val="15877442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C53A74-6C33-42D0-84B4-B78928B4A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/>
              <a:t>3–2 </a:t>
            </a:r>
            <a:r>
              <a:rPr lang="ko-KR" altLang="en-US"/>
              <a:t>다중 사용자들 사이의 파일 허가 실습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105C78-E2FE-46C9-8C0E-42FFD493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5D2C47-170D-4429-A0A1-3F6CD51B6450}"/>
              </a:ext>
            </a:extLst>
          </p:cNvPr>
          <p:cNvSpPr/>
          <p:nvPr/>
        </p:nvSpPr>
        <p:spPr>
          <a:xfrm>
            <a:off x="395536" y="1420329"/>
            <a:ext cx="8370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예제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3-1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에서 생성한 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kitae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와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pi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계정을 활용하여 각각 로그인하고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, pi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는 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hello.c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를 복사하여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helloc2.c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를 만든 후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hello2.c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는 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kitae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가 볼 수 없도록 파일 허가 속성을 변경하라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DDAE49E-1A24-4C33-A784-5F2E5D99EB03}"/>
              </a:ext>
            </a:extLst>
          </p:cNvPr>
          <p:cNvGrpSpPr/>
          <p:nvPr/>
        </p:nvGrpSpPr>
        <p:grpSpPr>
          <a:xfrm>
            <a:off x="827584" y="2358968"/>
            <a:ext cx="6535144" cy="3734328"/>
            <a:chOff x="827584" y="2358968"/>
            <a:chExt cx="6535144" cy="373432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3D12453-A521-4DB6-A315-4A96EDCB595F}"/>
                </a:ext>
              </a:extLst>
            </p:cNvPr>
            <p:cNvSpPr/>
            <p:nvPr/>
          </p:nvSpPr>
          <p:spPr>
            <a:xfrm>
              <a:off x="899592" y="2698676"/>
              <a:ext cx="6463136" cy="33946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txBody>
            <a:bodyPr wrap="square">
              <a:noAutofit/>
            </a:bodyPr>
            <a:lstStyle/>
            <a:p>
              <a:r>
                <a:rPr lang="en-US" altLang="ko-KR" sz="1400" b="1" dirty="0" err="1"/>
                <a:t>pi@pi</a:t>
              </a:r>
              <a:r>
                <a:rPr lang="en-US" altLang="ko-KR" sz="1400" b="1" dirty="0"/>
                <a:t>:~ $ cd ~/ch03</a:t>
              </a:r>
            </a:p>
            <a:p>
              <a:r>
                <a:rPr lang="fr-FR" altLang="ko-KR" sz="1400" b="1" dirty="0"/>
                <a:t>pi@pi:~/ch03 $ ls -l</a:t>
              </a:r>
            </a:p>
            <a:p>
              <a:r>
                <a:rPr lang="en-US" altLang="ko-KR" sz="1400" dirty="0"/>
                <a:t>total 20</a:t>
              </a:r>
            </a:p>
            <a:p>
              <a:r>
                <a:rPr lang="en-US" altLang="ko-KR" sz="1400" dirty="0"/>
                <a:t>-</a:t>
              </a:r>
              <a:r>
                <a:rPr lang="en-US" altLang="ko-KR" sz="1400" dirty="0" err="1"/>
                <a:t>rwxr</a:t>
              </a:r>
              <a:r>
                <a:rPr lang="en-US" altLang="ko-KR" sz="1400" dirty="0"/>
                <a:t>-</a:t>
              </a:r>
              <a:r>
                <a:rPr lang="en-US" altLang="ko-KR" sz="1400" dirty="0" err="1"/>
                <a:t>xr</a:t>
              </a:r>
              <a:r>
                <a:rPr lang="en-US" altLang="ko-KR" sz="1400" dirty="0"/>
                <a:t>-x 1  pi </a:t>
              </a:r>
              <a:r>
                <a:rPr lang="en-US" altLang="ko-KR" sz="1400" dirty="0" err="1"/>
                <a:t>pi</a:t>
              </a:r>
              <a:r>
                <a:rPr lang="en-US" altLang="ko-KR" sz="1400" dirty="0"/>
                <a:t> 8072 12</a:t>
              </a:r>
              <a:r>
                <a:rPr lang="ko-KR" altLang="en-US" sz="1400" dirty="0"/>
                <a:t>월 </a:t>
              </a:r>
              <a:r>
                <a:rPr lang="en-US" altLang="ko-KR" sz="1400" dirty="0"/>
                <a:t>26 12:36 </a:t>
              </a:r>
              <a:r>
                <a:rPr lang="en-US" altLang="ko-KR" sz="1400" dirty="0" err="1"/>
                <a:t>a.out</a:t>
              </a:r>
              <a:endParaRPr lang="en-US" altLang="ko-KR" sz="1400" dirty="0"/>
            </a:p>
            <a:p>
              <a:r>
                <a:rPr lang="pt-BR" altLang="ko-KR" sz="1400" dirty="0"/>
                <a:t>-rw-r--r-- 1  pi pi    99   1</a:t>
              </a:r>
              <a:r>
                <a:rPr lang="ko-KR" altLang="en-US" sz="1400" dirty="0"/>
                <a:t>월</a:t>
              </a:r>
              <a:r>
                <a:rPr lang="pt-BR" altLang="ko-KR" sz="1400" dirty="0"/>
                <a:t> 13 08:38 hello2.c</a:t>
              </a:r>
            </a:p>
            <a:p>
              <a:r>
                <a:rPr lang="en-US" altLang="ko-KR" sz="1400" dirty="0"/>
                <a:t>-</a:t>
              </a:r>
              <a:r>
                <a:rPr lang="en-US" altLang="ko-KR" sz="1400" dirty="0" err="1"/>
                <a:t>rw</a:t>
              </a:r>
              <a:r>
                <a:rPr lang="en-US" altLang="ko-KR" sz="1400" dirty="0"/>
                <a:t>-r--r-- 1  pi </a:t>
              </a:r>
              <a:r>
                <a:rPr lang="en-US" altLang="ko-KR" sz="1400" dirty="0" err="1"/>
                <a:t>pi</a:t>
              </a:r>
              <a:r>
                <a:rPr lang="en-US" altLang="ko-KR" sz="1400" dirty="0"/>
                <a:t>    99 12</a:t>
              </a:r>
              <a:r>
                <a:rPr lang="ko-KR" altLang="en-US" sz="1400" dirty="0"/>
                <a:t>월 </a:t>
              </a:r>
              <a:r>
                <a:rPr lang="en-US" altLang="ko-KR" sz="1400" dirty="0"/>
                <a:t>26 12:27 </a:t>
              </a:r>
              <a:r>
                <a:rPr lang="en-US" altLang="ko-KR" sz="1400" dirty="0" err="1"/>
                <a:t>hello.c</a:t>
              </a:r>
              <a:endParaRPr lang="en-US" altLang="ko-KR" sz="1400" dirty="0"/>
            </a:p>
            <a:p>
              <a:r>
                <a:rPr lang="en-US" altLang="ko-KR" sz="1400" dirty="0" err="1"/>
                <a:t>drwxr</a:t>
              </a:r>
              <a:r>
                <a:rPr lang="en-US" altLang="ko-KR" sz="1400" dirty="0"/>
                <a:t>-</a:t>
              </a:r>
              <a:r>
                <a:rPr lang="en-US" altLang="ko-KR" sz="1400" dirty="0" err="1"/>
                <a:t>xr</a:t>
              </a:r>
              <a:r>
                <a:rPr lang="en-US" altLang="ko-KR" sz="1400" dirty="0"/>
                <a:t>-x 2 pi </a:t>
              </a:r>
              <a:r>
                <a:rPr lang="en-US" altLang="ko-KR" sz="1400" dirty="0" err="1"/>
                <a:t>pi</a:t>
              </a:r>
              <a:r>
                <a:rPr lang="en-US" altLang="ko-KR" sz="1400" dirty="0"/>
                <a:t> 4096 12</a:t>
              </a:r>
              <a:r>
                <a:rPr lang="ko-KR" altLang="en-US" sz="1400" dirty="0"/>
                <a:t>월 </a:t>
              </a:r>
              <a:r>
                <a:rPr lang="en-US" altLang="ko-KR" sz="1400" dirty="0"/>
                <a:t>26 13:52 test</a:t>
              </a:r>
            </a:p>
            <a:p>
              <a:r>
                <a:rPr lang="da-DK" altLang="ko-KR" sz="1400" b="1" dirty="0"/>
                <a:t>pi@pi:~/ch03 $ chmod 711 hello2.c</a:t>
              </a:r>
            </a:p>
            <a:p>
              <a:r>
                <a:rPr lang="fr-FR" altLang="ko-KR" sz="1400" b="1" dirty="0"/>
                <a:t>pi@pi:~/ch03 $ ls -l</a:t>
              </a:r>
            </a:p>
            <a:p>
              <a:r>
                <a:rPr lang="en-US" altLang="ko-KR" sz="1400" dirty="0"/>
                <a:t>total 20</a:t>
              </a:r>
            </a:p>
            <a:p>
              <a:r>
                <a:rPr lang="en-US" altLang="ko-KR" sz="1400" dirty="0"/>
                <a:t>-</a:t>
              </a:r>
              <a:r>
                <a:rPr lang="en-US" altLang="ko-KR" sz="1400" dirty="0" err="1"/>
                <a:t>rwxr</a:t>
              </a:r>
              <a:r>
                <a:rPr lang="en-US" altLang="ko-KR" sz="1400" dirty="0"/>
                <a:t>-</a:t>
              </a:r>
              <a:r>
                <a:rPr lang="en-US" altLang="ko-KR" sz="1400" dirty="0" err="1"/>
                <a:t>xr</a:t>
              </a:r>
              <a:r>
                <a:rPr lang="en-US" altLang="ko-KR" sz="1400" dirty="0"/>
                <a:t>-x 1  pi </a:t>
              </a:r>
              <a:r>
                <a:rPr lang="en-US" altLang="ko-KR" sz="1400" dirty="0" err="1"/>
                <a:t>pi</a:t>
              </a:r>
              <a:r>
                <a:rPr lang="en-US" altLang="ko-KR" sz="1400" dirty="0"/>
                <a:t> 8072 12</a:t>
              </a:r>
              <a:r>
                <a:rPr lang="ko-KR" altLang="en-US" sz="1400" dirty="0"/>
                <a:t>월 </a:t>
              </a:r>
              <a:r>
                <a:rPr lang="en-US" altLang="ko-KR" sz="1400" dirty="0"/>
                <a:t>26 12:36 </a:t>
              </a:r>
              <a:r>
                <a:rPr lang="en-US" altLang="ko-KR" sz="1400" dirty="0" err="1"/>
                <a:t>a.out</a:t>
              </a:r>
              <a:endParaRPr lang="en-US" altLang="ko-KR" sz="1400" dirty="0"/>
            </a:p>
            <a:p>
              <a:r>
                <a:rPr lang="en-US" altLang="ko-KR" sz="1400" dirty="0"/>
                <a:t>-</a:t>
              </a:r>
              <a:r>
                <a:rPr lang="en-US" altLang="ko-KR" sz="1400" dirty="0" err="1"/>
                <a:t>rwx</a:t>
              </a:r>
              <a:r>
                <a:rPr lang="en-US" altLang="ko-KR" sz="1400" dirty="0"/>
                <a:t>--x--x 1 pi </a:t>
              </a:r>
              <a:r>
                <a:rPr lang="en-US" altLang="ko-KR" sz="1400" dirty="0" err="1"/>
                <a:t>pi</a:t>
              </a:r>
              <a:r>
                <a:rPr lang="en-US" altLang="ko-KR" sz="1400" dirty="0"/>
                <a:t>    99  1</a:t>
              </a:r>
              <a:r>
                <a:rPr lang="ko-KR" altLang="en-US" sz="1400" dirty="0"/>
                <a:t>월</a:t>
              </a:r>
              <a:r>
                <a:rPr lang="en-US" altLang="ko-KR" sz="1400" dirty="0"/>
                <a:t> 13 08:38 hello2.c</a:t>
              </a:r>
            </a:p>
            <a:p>
              <a:r>
                <a:rPr lang="en-US" altLang="ko-KR" sz="1400" dirty="0"/>
                <a:t>-</a:t>
              </a:r>
              <a:r>
                <a:rPr lang="en-US" altLang="ko-KR" sz="1400" dirty="0" err="1"/>
                <a:t>rw</a:t>
              </a:r>
              <a:r>
                <a:rPr lang="en-US" altLang="ko-KR" sz="1400" dirty="0"/>
                <a:t>-r--r-- 1  pi </a:t>
              </a:r>
              <a:r>
                <a:rPr lang="en-US" altLang="ko-KR" sz="1400" dirty="0" err="1"/>
                <a:t>pi</a:t>
              </a:r>
              <a:r>
                <a:rPr lang="en-US" altLang="ko-KR" sz="1400" dirty="0"/>
                <a:t>    99 12</a:t>
              </a:r>
              <a:r>
                <a:rPr lang="ko-KR" altLang="en-US" sz="1400" dirty="0"/>
                <a:t>월 </a:t>
              </a:r>
              <a:r>
                <a:rPr lang="en-US" altLang="ko-KR" sz="1400" dirty="0"/>
                <a:t>26 12:27 </a:t>
              </a:r>
              <a:r>
                <a:rPr lang="en-US" altLang="ko-KR" sz="1400" dirty="0" err="1"/>
                <a:t>hello.c</a:t>
              </a:r>
              <a:endParaRPr lang="en-US" altLang="ko-KR" sz="1400" dirty="0"/>
            </a:p>
            <a:p>
              <a:r>
                <a:rPr lang="en-US" altLang="ko-KR" sz="1400" dirty="0" err="1"/>
                <a:t>drwxr</a:t>
              </a:r>
              <a:r>
                <a:rPr lang="en-US" altLang="ko-KR" sz="1400" dirty="0"/>
                <a:t>-</a:t>
              </a:r>
              <a:r>
                <a:rPr lang="en-US" altLang="ko-KR" sz="1400" dirty="0" err="1"/>
                <a:t>xr</a:t>
              </a:r>
              <a:r>
                <a:rPr lang="en-US" altLang="ko-KR" sz="1400" dirty="0"/>
                <a:t>-x 2 pi </a:t>
              </a:r>
              <a:r>
                <a:rPr lang="en-US" altLang="ko-KR" sz="1400" dirty="0" err="1"/>
                <a:t>pi</a:t>
              </a:r>
              <a:r>
                <a:rPr lang="en-US" altLang="ko-KR" sz="1400" dirty="0"/>
                <a:t> 4096 12</a:t>
              </a:r>
              <a:r>
                <a:rPr lang="ko-KR" altLang="en-US" sz="1400" dirty="0"/>
                <a:t>월 </a:t>
              </a:r>
              <a:r>
                <a:rPr lang="en-US" altLang="ko-KR" sz="1400" dirty="0"/>
                <a:t>26 13:52 test</a:t>
              </a:r>
            </a:p>
            <a:p>
              <a:r>
                <a:rPr lang="en-US" altLang="ko-KR" sz="1400" b="1" dirty="0" err="1"/>
                <a:t>pi@pi</a:t>
              </a:r>
              <a:r>
                <a:rPr lang="en-US" altLang="ko-KR" sz="1400" b="1" dirty="0"/>
                <a:t>:~/ch03 $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66FA30A-C959-45B2-B09F-6B8D221AF746}"/>
                </a:ext>
              </a:extLst>
            </p:cNvPr>
            <p:cNvSpPr/>
            <p:nvPr/>
          </p:nvSpPr>
          <p:spPr>
            <a:xfrm>
              <a:off x="827584" y="2358968"/>
              <a:ext cx="217719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/>
                <a:t>터미널</a:t>
              </a:r>
              <a:r>
                <a:rPr lang="en-US" altLang="ko-KR" sz="1400"/>
                <a:t>1</a:t>
              </a:r>
              <a:r>
                <a:rPr lang="ko-KR" altLang="en-US" sz="1400"/>
                <a:t>에서</a:t>
              </a:r>
              <a:r>
                <a:rPr lang="en-US" altLang="ko-KR" sz="1400"/>
                <a:t> pi</a:t>
              </a:r>
              <a:r>
                <a:rPr lang="ko-KR" altLang="en-US" sz="1400"/>
                <a:t>로 로그인</a:t>
              </a:r>
              <a:endParaRPr lang="ko-KR" altLang="en-US" sz="1400" dirty="0"/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79628E9-4B06-441F-A708-874B8C714AA6}"/>
              </a:ext>
            </a:extLst>
          </p:cNvPr>
          <p:cNvSpPr/>
          <p:nvPr/>
        </p:nvSpPr>
        <p:spPr>
          <a:xfrm>
            <a:off x="619944" y="4239613"/>
            <a:ext cx="4096072" cy="231237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B9F6F9F-786B-45E6-B10E-ACF774E2959D}"/>
              </a:ext>
            </a:extLst>
          </p:cNvPr>
          <p:cNvSpPr/>
          <p:nvPr/>
        </p:nvSpPr>
        <p:spPr>
          <a:xfrm>
            <a:off x="944163" y="5103246"/>
            <a:ext cx="891425" cy="231237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0274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16AAA-7ACC-49A9-9C50-C938E0521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/>
              <a:t>3–2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ECD4B2-1838-47C8-B055-B5F8AC6D6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57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B87631F-3415-4847-90E8-AC4DA0B732CB}"/>
              </a:ext>
            </a:extLst>
          </p:cNvPr>
          <p:cNvGrpSpPr/>
          <p:nvPr/>
        </p:nvGrpSpPr>
        <p:grpSpPr>
          <a:xfrm>
            <a:off x="651970" y="1690935"/>
            <a:ext cx="6728342" cy="3250234"/>
            <a:chOff x="651970" y="1690935"/>
            <a:chExt cx="6728342" cy="325023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C95D03A-060B-488C-9438-5DA458500763}"/>
                </a:ext>
              </a:extLst>
            </p:cNvPr>
            <p:cNvSpPr/>
            <p:nvPr/>
          </p:nvSpPr>
          <p:spPr>
            <a:xfrm>
              <a:off x="764912" y="2014389"/>
              <a:ext cx="6615400" cy="29267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txBody>
            <a:bodyPr wrap="square">
              <a:noAutofit/>
            </a:bodyPr>
            <a:lstStyle/>
            <a:p>
              <a:r>
                <a:rPr lang="en-US" altLang="ko-KR" sz="1400" dirty="0" err="1"/>
                <a:t>kitae@pi</a:t>
              </a:r>
              <a:r>
                <a:rPr lang="en-US" altLang="ko-KR" sz="1400" dirty="0"/>
                <a:t>:~ $ </a:t>
              </a:r>
              <a:r>
                <a:rPr lang="en-US" altLang="ko-KR" sz="1400" b="1" dirty="0"/>
                <a:t>cat /home/pi/ch03/</a:t>
              </a:r>
              <a:r>
                <a:rPr lang="en-US" altLang="ko-KR" sz="1400" b="1" dirty="0" err="1"/>
                <a:t>hello.c</a:t>
              </a:r>
              <a:endParaRPr lang="en-US" altLang="ko-KR" sz="1400" b="1" dirty="0"/>
            </a:p>
            <a:p>
              <a:r>
                <a:rPr lang="en-US" altLang="ko-KR" sz="1400" dirty="0"/>
                <a:t>#include &lt;</a:t>
              </a:r>
              <a:r>
                <a:rPr lang="en-US" altLang="ko-KR" sz="1400" dirty="0" err="1"/>
                <a:t>stdio.h</a:t>
              </a:r>
              <a:r>
                <a:rPr lang="en-US" altLang="ko-KR" sz="1400" dirty="0"/>
                <a:t>&gt;</a:t>
              </a:r>
            </a:p>
            <a:p>
              <a:r>
                <a:rPr lang="en-US" altLang="ko-KR" sz="1400" dirty="0"/>
                <a:t>#include &lt;</a:t>
              </a:r>
              <a:r>
                <a:rPr lang="en-US" altLang="ko-KR" sz="1400" dirty="0" err="1"/>
                <a:t>unistd.h</a:t>
              </a:r>
              <a:r>
                <a:rPr lang="en-US" altLang="ko-KR" sz="1400" dirty="0"/>
                <a:t>&gt;</a:t>
              </a:r>
            </a:p>
            <a:p>
              <a:r>
                <a:rPr lang="en-US" altLang="ko-KR" sz="1400" dirty="0"/>
                <a:t>int main(){</a:t>
              </a:r>
            </a:p>
            <a:p>
              <a:r>
                <a:rPr lang="en-US" altLang="ko-KR" sz="1400" dirty="0"/>
                <a:t>	while(1){</a:t>
              </a:r>
            </a:p>
            <a:p>
              <a:r>
                <a:rPr lang="en-US" altLang="ko-KR" sz="1400" dirty="0"/>
                <a:t>		</a:t>
              </a:r>
              <a:r>
                <a:rPr lang="en-US" altLang="ko-KR" sz="1400" dirty="0" err="1"/>
                <a:t>printf</a:t>
              </a:r>
              <a:r>
                <a:rPr lang="en-US" altLang="ko-KR" sz="1400" dirty="0"/>
                <a:t>("Hello\n");</a:t>
              </a:r>
            </a:p>
            <a:p>
              <a:r>
                <a:rPr lang="en-US" altLang="ko-KR" sz="1400" dirty="0"/>
                <a:t>		sleep(1);</a:t>
              </a:r>
            </a:p>
            <a:p>
              <a:r>
                <a:rPr lang="en-US" altLang="ko-KR" sz="1400" dirty="0"/>
                <a:t>	}</a:t>
              </a:r>
            </a:p>
            <a:p>
              <a:r>
                <a:rPr lang="en-US" altLang="ko-KR" sz="1400" dirty="0"/>
                <a:t>	return 0;</a:t>
              </a:r>
            </a:p>
            <a:p>
              <a:r>
                <a:rPr lang="en-US" altLang="ko-KR" sz="1400" dirty="0"/>
                <a:t>}</a:t>
              </a:r>
            </a:p>
            <a:p>
              <a:r>
                <a:rPr lang="en-US" altLang="ko-KR" sz="1400" dirty="0" err="1"/>
                <a:t>kitae@pi</a:t>
              </a:r>
              <a:r>
                <a:rPr lang="en-US" altLang="ko-KR" sz="1400" dirty="0"/>
                <a:t>:~ $ </a:t>
              </a:r>
              <a:r>
                <a:rPr lang="en-US" altLang="ko-KR" sz="1400" b="1" dirty="0"/>
                <a:t>cat /home/</a:t>
              </a:r>
              <a:r>
                <a:rPr lang="en-US" altLang="ko-KR" sz="1400" b="1"/>
                <a:t>pi/ch03/hello2.</a:t>
              </a:r>
              <a:r>
                <a:rPr lang="en-US" altLang="ko-KR" sz="1400" b="1" dirty="0" err="1"/>
                <a:t>c</a:t>
              </a:r>
              <a:endParaRPr lang="en-US" altLang="ko-KR" sz="1400" b="1" dirty="0"/>
            </a:p>
            <a:p>
              <a:r>
                <a:rPr lang="en-US" altLang="ko-KR" sz="1400" dirty="0"/>
                <a:t>cat: /home/pi/ch03/</a:t>
              </a:r>
              <a:r>
                <a:rPr lang="en-US" altLang="ko-KR" sz="1400" dirty="0" err="1"/>
                <a:t>hello.c</a:t>
              </a:r>
              <a:r>
                <a:rPr lang="en-US" altLang="ko-KR" sz="1400" dirty="0"/>
                <a:t>: </a:t>
              </a:r>
              <a:r>
                <a:rPr lang="ko-KR" altLang="en-US" sz="1400" dirty="0"/>
                <a:t>허가 거부</a:t>
              </a:r>
              <a:endParaRPr lang="en-US" altLang="ko-KR" sz="1400" dirty="0"/>
            </a:p>
            <a:p>
              <a:r>
                <a:rPr lang="en-US" altLang="ko-KR" sz="1400" dirty="0" err="1"/>
                <a:t>kitae@pi</a:t>
              </a:r>
              <a:r>
                <a:rPr lang="en-US" altLang="ko-KR" sz="1400" dirty="0"/>
                <a:t>:~ $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4F6C6C6-B44A-426B-9242-423AB71207BE}"/>
                </a:ext>
              </a:extLst>
            </p:cNvPr>
            <p:cNvSpPr/>
            <p:nvPr/>
          </p:nvSpPr>
          <p:spPr>
            <a:xfrm>
              <a:off x="651970" y="1690935"/>
              <a:ext cx="245772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/>
                <a:t>터미널</a:t>
              </a:r>
              <a:r>
                <a:rPr lang="en-US" altLang="ko-KR" sz="1400"/>
                <a:t>2</a:t>
              </a:r>
              <a:r>
                <a:rPr lang="ko-KR" altLang="en-US" sz="1400"/>
                <a:t>에서</a:t>
              </a:r>
              <a:r>
                <a:rPr lang="en-US" altLang="ko-KR" sz="1400"/>
                <a:t> kitae</a:t>
              </a:r>
              <a:r>
                <a:rPr lang="ko-KR" altLang="en-US" sz="1400"/>
                <a:t>로 로그인</a:t>
              </a:r>
              <a:endParaRPr lang="ko-KR" altLang="en-US" sz="1400" dirty="0"/>
            </a:p>
          </p:txBody>
        </p:sp>
      </p:grp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ECB6CF5-7DCF-43AC-A0BA-B5CA5173FEAE}"/>
              </a:ext>
            </a:extLst>
          </p:cNvPr>
          <p:cNvSpPr/>
          <p:nvPr/>
        </p:nvSpPr>
        <p:spPr>
          <a:xfrm>
            <a:off x="467544" y="4149080"/>
            <a:ext cx="3816424" cy="576064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F638F4-A143-4632-B200-72C9EE470464}"/>
              </a:ext>
            </a:extLst>
          </p:cNvPr>
          <p:cNvSpPr txBox="1"/>
          <p:nvPr/>
        </p:nvSpPr>
        <p:spPr>
          <a:xfrm>
            <a:off x="4689348" y="4005064"/>
            <a:ext cx="2389248" cy="510778"/>
          </a:xfrm>
          <a:prstGeom prst="wedgeRoundRectCallout">
            <a:avLst>
              <a:gd name="adj1" fmla="val -63590"/>
              <a:gd name="adj2" fmla="val 1865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/>
              <a:t>kitae </a:t>
            </a:r>
            <a:r>
              <a:rPr lang="ko-KR" altLang="en-US" sz="1200"/>
              <a:t>사용자는 </a:t>
            </a:r>
            <a:r>
              <a:rPr lang="en-US" altLang="ko-KR" sz="1200"/>
              <a:t>hello2.c </a:t>
            </a:r>
            <a:r>
              <a:rPr lang="ko-KR" altLang="en-US" sz="1200"/>
              <a:t>파일을 </a:t>
            </a:r>
            <a:endParaRPr lang="en-US" altLang="ko-KR" sz="1200"/>
          </a:p>
          <a:p>
            <a:r>
              <a:rPr lang="ko-KR" altLang="en-US" sz="1200"/>
              <a:t>읽을 허가 없기 때문</a:t>
            </a:r>
          </a:p>
        </p:txBody>
      </p:sp>
    </p:spTree>
    <p:extLst>
      <p:ext uri="{BB962C8B-B14F-4D97-AF65-F5344CB8AC3E}">
        <p14:creationId xmlns:p14="http://schemas.microsoft.com/office/powerpoint/2010/main" val="17209738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614CCE9-7FF2-4344-B6B3-74AD20089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2FC9055-7782-494E-A697-01CA61EA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3.4 </a:t>
            </a:r>
            <a:r>
              <a:rPr lang="ko-KR" altLang="en-US"/>
              <a:t>프로세스</a:t>
            </a:r>
            <a:r>
              <a:rPr lang="en-US" altLang="ko-KR"/>
              <a:t> </a:t>
            </a:r>
            <a:r>
              <a:rPr lang="ko-KR" altLang="en-US" dirty="0"/>
              <a:t>관리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8F39DE-23B5-4034-BB38-D034A87A6A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2329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CA7EF1-FCD8-4914-8FD1-B1F9635BC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프로세스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2F3B1F-EAC1-43D0-A5F9-95D2056EC43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프로세스</a:t>
            </a:r>
            <a:endParaRPr lang="en-US" altLang="ko-KR" dirty="0"/>
          </a:p>
          <a:p>
            <a:pPr lvl="1"/>
            <a:r>
              <a:rPr lang="ko-KR" altLang="en-US" dirty="0"/>
              <a:t>프로그램이 실행 중일 때 이를 프로세스</a:t>
            </a:r>
            <a:r>
              <a:rPr lang="en-US" altLang="ko-KR" dirty="0"/>
              <a:t>(process)</a:t>
            </a:r>
            <a:r>
              <a:rPr lang="ko-KR" altLang="en-US" dirty="0"/>
              <a:t>라고 부름</a:t>
            </a:r>
          </a:p>
          <a:p>
            <a:pPr lvl="1"/>
            <a:r>
              <a:rPr lang="ko-KR" altLang="en-US"/>
              <a:t>운영체제</a:t>
            </a:r>
            <a:endParaRPr lang="en-US" altLang="ko-KR"/>
          </a:p>
          <a:p>
            <a:pPr lvl="2"/>
            <a:r>
              <a:rPr lang="ko-KR" altLang="en-US"/>
              <a:t>프로세스에게 </a:t>
            </a:r>
            <a:r>
              <a:rPr lang="ko-KR" altLang="en-US" dirty="0"/>
              <a:t>유일한 프로세스 번호</a:t>
            </a:r>
            <a:r>
              <a:rPr lang="en-US" altLang="ko-KR" dirty="0"/>
              <a:t>(PID)</a:t>
            </a:r>
            <a:r>
              <a:rPr lang="ko-KR" altLang="en-US" dirty="0"/>
              <a:t>를 할당</a:t>
            </a:r>
          </a:p>
          <a:p>
            <a:pPr lvl="2"/>
            <a:r>
              <a:rPr lang="en-US" altLang="ko-KR"/>
              <a:t>PID</a:t>
            </a:r>
            <a:r>
              <a:rPr lang="ko-KR" altLang="en-US" dirty="0"/>
              <a:t>를 포함하여</a:t>
            </a:r>
            <a:r>
              <a:rPr lang="en-US" altLang="ko-KR" dirty="0"/>
              <a:t>, </a:t>
            </a:r>
            <a:r>
              <a:rPr lang="ko-KR" altLang="en-US" dirty="0"/>
              <a:t>프로세스의 스케줄링 우선순위</a:t>
            </a:r>
            <a:r>
              <a:rPr lang="en-US" altLang="ko-KR" dirty="0"/>
              <a:t>, </a:t>
            </a:r>
            <a:r>
              <a:rPr lang="ko-KR" altLang="en-US" dirty="0"/>
              <a:t>프로세스가 사용한 </a:t>
            </a:r>
            <a:r>
              <a:rPr lang="en-US" altLang="ko-KR" dirty="0"/>
              <a:t>CPU 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프로세스의 상태 정보</a:t>
            </a:r>
            <a:r>
              <a:rPr lang="en-US" altLang="ko-KR" dirty="0"/>
              <a:t>, </a:t>
            </a:r>
            <a:r>
              <a:rPr lang="ko-KR" altLang="en-US"/>
              <a:t>부모프로세스의 번호 등 운영체제 </a:t>
            </a:r>
            <a:r>
              <a:rPr lang="ko-KR" altLang="en-US" dirty="0"/>
              <a:t>내부에 유지</a:t>
            </a:r>
            <a:endParaRPr lang="en-US" altLang="ko-KR" dirty="0"/>
          </a:p>
          <a:p>
            <a:pPr lvl="1"/>
            <a:r>
              <a:rPr lang="ko-KR" altLang="en-US"/>
              <a:t>부모 프로세스 </a:t>
            </a:r>
            <a:r>
              <a:rPr lang="en-US" altLang="ko-KR"/>
              <a:t>: </a:t>
            </a:r>
            <a:r>
              <a:rPr lang="ko-KR" altLang="en-US"/>
              <a:t>자식 프로세스를 만든 프로세스</a:t>
            </a:r>
            <a:endParaRPr lang="en-US" altLang="ko-KR"/>
          </a:p>
          <a:p>
            <a:pPr lvl="1"/>
            <a:r>
              <a:rPr lang="ko-KR" altLang="en-US"/>
              <a:t>자식 프로세스 </a:t>
            </a:r>
            <a:r>
              <a:rPr lang="en-US" altLang="ko-KR"/>
              <a:t>: </a:t>
            </a:r>
            <a:r>
              <a:rPr lang="ko-KR" altLang="en-US"/>
              <a:t>새로 생성된 프로세스</a:t>
            </a:r>
            <a:endParaRPr lang="en-US" altLang="ko-KR" dirty="0"/>
          </a:p>
          <a:p>
            <a:r>
              <a:rPr lang="ko-KR" altLang="en-US"/>
              <a:t>프로세스 관리란</a:t>
            </a:r>
            <a:r>
              <a:rPr lang="en-US" altLang="ko-KR"/>
              <a:t>?</a:t>
            </a:r>
            <a:endParaRPr lang="en-US" altLang="ko-KR" dirty="0"/>
          </a:p>
          <a:p>
            <a:pPr lvl="1"/>
            <a:r>
              <a:rPr lang="ko-KR" altLang="en-US"/>
              <a:t>프로세스 </a:t>
            </a:r>
            <a:r>
              <a:rPr lang="ko-KR" altLang="en-US" dirty="0"/>
              <a:t>생성</a:t>
            </a:r>
            <a:r>
              <a:rPr lang="en-US" altLang="ko-KR"/>
              <a:t>, </a:t>
            </a:r>
            <a:r>
              <a:rPr lang="ko-KR" altLang="en-US"/>
              <a:t>프로세스 </a:t>
            </a:r>
            <a:r>
              <a:rPr lang="ko-KR" altLang="en-US" dirty="0"/>
              <a:t>실행</a:t>
            </a:r>
            <a:r>
              <a:rPr lang="en-US" altLang="ko-KR"/>
              <a:t>, </a:t>
            </a:r>
            <a:r>
              <a:rPr lang="ko-KR" altLang="en-US"/>
              <a:t>프로세스 </a:t>
            </a:r>
            <a:r>
              <a:rPr lang="ko-KR" altLang="en-US" dirty="0"/>
              <a:t>일시 중단</a:t>
            </a:r>
            <a:r>
              <a:rPr lang="en-US" altLang="ko-KR"/>
              <a:t>, </a:t>
            </a:r>
            <a:r>
              <a:rPr lang="ko-KR" altLang="en-US"/>
              <a:t>프로세스 </a:t>
            </a:r>
            <a:r>
              <a:rPr lang="ko-KR" altLang="en-US" dirty="0"/>
              <a:t>종료</a:t>
            </a:r>
            <a:r>
              <a:rPr lang="en-US" altLang="ko-KR"/>
              <a:t>, </a:t>
            </a:r>
            <a:r>
              <a:rPr lang="ko-KR" altLang="en-US"/>
              <a:t>프로세스들 간의 정보 소통 등에 대한 관리</a:t>
            </a:r>
            <a:endParaRPr lang="en-US" altLang="ko-KR"/>
          </a:p>
          <a:p>
            <a:pPr lvl="1"/>
            <a:r>
              <a:rPr lang="ko-KR" altLang="en-US"/>
              <a:t>운영체제에 의해 관리됨</a:t>
            </a:r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2F801C-B050-4D99-A91D-640875FE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46780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3C266-29E4-47FE-8229-010D9AAA7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프로세스 상태와 실행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E989E1-1B67-495E-96D7-50D55AB0316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프로세스의 </a:t>
            </a:r>
            <a:r>
              <a:rPr lang="en-US" altLang="ko-KR" dirty="0"/>
              <a:t>2</a:t>
            </a:r>
            <a:r>
              <a:rPr lang="ko-KR" altLang="en-US" dirty="0"/>
              <a:t>가지 상태</a:t>
            </a:r>
            <a:endParaRPr lang="en-US" altLang="ko-KR" dirty="0"/>
          </a:p>
          <a:p>
            <a:pPr lvl="1"/>
            <a:r>
              <a:rPr lang="ko-KR" altLang="en-US" dirty="0"/>
              <a:t>포그라운드 상태</a:t>
            </a:r>
            <a:r>
              <a:rPr lang="en-US" altLang="ko-KR" dirty="0"/>
              <a:t>(FG) - </a:t>
            </a:r>
            <a:r>
              <a:rPr lang="ko-KR" altLang="en-US" dirty="0"/>
              <a:t>키보드 입력을 독점하는 상태</a:t>
            </a:r>
          </a:p>
          <a:p>
            <a:pPr lvl="1"/>
            <a:r>
              <a:rPr lang="ko-KR" altLang="en-US" dirty="0"/>
              <a:t>백그라운드 상태</a:t>
            </a:r>
            <a:r>
              <a:rPr lang="en-US" altLang="ko-KR" dirty="0"/>
              <a:t>(BG) - </a:t>
            </a:r>
            <a:r>
              <a:rPr lang="ko-KR" altLang="en-US" dirty="0"/>
              <a:t>키보드에 대한 사용 권한이 없는 상태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포그라운드 상태로 프로세스 실행시키기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포그라운드 상태의 프로세스 강제 종료</a:t>
            </a:r>
            <a:r>
              <a:rPr lang="en-US" altLang="ko-KR" dirty="0"/>
              <a:t>, [</a:t>
            </a:r>
            <a:r>
              <a:rPr lang="en-US" altLang="ko-KR" dirty="0" err="1"/>
              <a:t>Ctrl+C</a:t>
            </a:r>
            <a:r>
              <a:rPr lang="en-US" altLang="ko-KR" dirty="0"/>
              <a:t>] </a:t>
            </a:r>
            <a:r>
              <a:rPr lang="ko-KR" altLang="en-US" dirty="0"/>
              <a:t>키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C359EB-EC28-4498-B66C-8EFD65B3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60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39A8AA-5231-4B14-B895-7DD36D2C0063}"/>
              </a:ext>
            </a:extLst>
          </p:cNvPr>
          <p:cNvSpPr/>
          <p:nvPr/>
        </p:nvSpPr>
        <p:spPr>
          <a:xfrm>
            <a:off x="1024720" y="3460771"/>
            <a:ext cx="7291696" cy="92333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./</a:t>
            </a:r>
            <a:r>
              <a:rPr lang="en-US" altLang="ko-KR" sz="1600" b="1" dirty="0" err="1"/>
              <a:t>a.out</a:t>
            </a:r>
            <a:endParaRPr lang="en-US" altLang="ko-KR" sz="1600" b="1" dirty="0"/>
          </a:p>
          <a:p>
            <a:r>
              <a:rPr lang="en-US" altLang="ko-KR" sz="1600" dirty="0"/>
              <a:t>Hello</a:t>
            </a:r>
          </a:p>
          <a:p>
            <a:r>
              <a:rPr lang="en-US" altLang="ko-KR" sz="1600" dirty="0"/>
              <a:t>Hello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A18D3E-3A18-4CBC-8D49-905F76C385D9}"/>
              </a:ext>
            </a:extLst>
          </p:cNvPr>
          <p:cNvSpPr/>
          <p:nvPr/>
        </p:nvSpPr>
        <p:spPr>
          <a:xfrm>
            <a:off x="1024720" y="5303775"/>
            <a:ext cx="7291696" cy="135421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./</a:t>
            </a:r>
            <a:r>
              <a:rPr lang="en-US" altLang="ko-KR" sz="1600" b="1" dirty="0" err="1"/>
              <a:t>a.out</a:t>
            </a:r>
            <a:endParaRPr lang="en-US" altLang="ko-KR" sz="1600" b="1" dirty="0"/>
          </a:p>
          <a:p>
            <a:r>
              <a:rPr lang="en-US" altLang="ko-KR" sz="1600" dirty="0"/>
              <a:t>Hello</a:t>
            </a:r>
          </a:p>
          <a:p>
            <a:r>
              <a:rPr lang="en-US" altLang="ko-KR" sz="1600" dirty="0"/>
              <a:t>Hello</a:t>
            </a:r>
          </a:p>
          <a:p>
            <a:r>
              <a:rPr lang="en-US" altLang="ko-KR" sz="1600" b="1" dirty="0"/>
              <a:t>^C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960CC-C3DB-4AB8-8F13-89A09CA7FB22}"/>
              </a:ext>
            </a:extLst>
          </p:cNvPr>
          <p:cNvSpPr txBox="1"/>
          <p:nvPr/>
        </p:nvSpPr>
        <p:spPr>
          <a:xfrm>
            <a:off x="2411760" y="5951877"/>
            <a:ext cx="1080120" cy="289441"/>
          </a:xfrm>
          <a:prstGeom prst="wedgeRoundRectCallout">
            <a:avLst>
              <a:gd name="adj1" fmla="val -142359"/>
              <a:gd name="adj2" fmla="val 3240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dirty="0"/>
              <a:t>[</a:t>
            </a:r>
            <a:r>
              <a:rPr lang="en-US" altLang="ko-KR" dirty="0" err="1"/>
              <a:t>Ctrl+C</a:t>
            </a:r>
            <a:r>
              <a:rPr lang="en-US" altLang="ko-KR" dirty="0"/>
              <a:t>] </a:t>
            </a:r>
            <a:r>
              <a:rPr lang="ko-KR" altLang="en-US" dirty="0"/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28490507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25E3D-132D-44DC-9B94-DE907285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프로세스 관리 </a:t>
            </a:r>
            <a:r>
              <a:rPr lang="en-US" altLang="ko-KR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36010A-C550-47CA-8270-49E3205FD3F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포그라운드 상태의 프로세스 일시 정지</a:t>
            </a:r>
            <a:r>
              <a:rPr lang="en-US" altLang="ko-KR" dirty="0"/>
              <a:t>, [</a:t>
            </a:r>
            <a:r>
              <a:rPr lang="en-US" altLang="ko-KR" dirty="0" err="1"/>
              <a:t>Ctrl+Z</a:t>
            </a:r>
            <a:r>
              <a:rPr lang="en-US" altLang="ko-KR" dirty="0"/>
              <a:t>] </a:t>
            </a:r>
            <a:r>
              <a:rPr lang="ko-KR" altLang="en-US" dirty="0"/>
              <a:t>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/>
              <a:t>ps </a:t>
            </a:r>
            <a:r>
              <a:rPr lang="ko-KR" altLang="en-US"/>
              <a:t>혹은 </a:t>
            </a:r>
            <a:r>
              <a:rPr lang="en-US" altLang="ko-KR"/>
              <a:t>jobs </a:t>
            </a:r>
            <a:r>
              <a:rPr lang="ko-KR" altLang="en-US"/>
              <a:t>명령 </a:t>
            </a:r>
            <a:endParaRPr lang="en-US" altLang="ko-KR"/>
          </a:p>
          <a:p>
            <a:pPr lvl="1"/>
            <a:r>
              <a:rPr lang="ko-KR" altLang="en-US"/>
              <a:t>프로세스 목록 보기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592541-902F-441E-A6E7-D0BD1D26C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46D01D-627A-4877-8580-55BEA15B815B}"/>
              </a:ext>
            </a:extLst>
          </p:cNvPr>
          <p:cNvSpPr/>
          <p:nvPr/>
        </p:nvSpPr>
        <p:spPr>
          <a:xfrm>
            <a:off x="1043608" y="1844824"/>
            <a:ext cx="6768752" cy="146629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./</a:t>
            </a:r>
            <a:r>
              <a:rPr lang="en-US" altLang="ko-KR" sz="1400" b="1" dirty="0" err="1"/>
              <a:t>a.out</a:t>
            </a:r>
            <a:endParaRPr lang="en-US" altLang="ko-KR" sz="1400" b="1" dirty="0"/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b="1" dirty="0"/>
              <a:t>^Z</a:t>
            </a:r>
          </a:p>
          <a:p>
            <a:r>
              <a:rPr lang="en-US" altLang="ko-KR" sz="1400" dirty="0"/>
              <a:t>[1]+ </a:t>
            </a:r>
            <a:r>
              <a:rPr lang="ko-KR" altLang="en-US" sz="1400" dirty="0"/>
              <a:t>멈춤 </a:t>
            </a:r>
            <a:r>
              <a:rPr lang="en-US" altLang="ko-KR" sz="1400" dirty="0"/>
              <a:t>./</a:t>
            </a:r>
            <a:r>
              <a:rPr lang="en-US" altLang="ko-KR" sz="1400" dirty="0" err="1"/>
              <a:t>a.out</a:t>
            </a:r>
            <a:endParaRPr lang="en-US" altLang="ko-KR" sz="1400" dirty="0"/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C9B87D-E48F-42A5-8FD4-D638FA9DAAB1}"/>
              </a:ext>
            </a:extLst>
          </p:cNvPr>
          <p:cNvSpPr/>
          <p:nvPr/>
        </p:nvSpPr>
        <p:spPr>
          <a:xfrm>
            <a:off x="1043608" y="4554994"/>
            <a:ext cx="3744416" cy="146629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</a:t>
            </a:r>
            <a:r>
              <a:rPr lang="en-US" altLang="ko-KR" sz="1400" b="1" dirty="0" err="1"/>
              <a:t>ps</a:t>
            </a:r>
            <a:endParaRPr lang="en-US" altLang="ko-KR" sz="1400" b="1" dirty="0"/>
          </a:p>
          <a:p>
            <a:r>
              <a:rPr lang="en-US" altLang="ko-KR" sz="1400" dirty="0"/>
              <a:t>PID    TTY   TIME     CMD</a:t>
            </a:r>
          </a:p>
          <a:p>
            <a:r>
              <a:rPr lang="en-US" altLang="ko-KR" sz="1400" dirty="0"/>
              <a:t> 4746 pts/0 00:00:02 bash</a:t>
            </a:r>
          </a:p>
          <a:p>
            <a:r>
              <a:rPr lang="en-US" altLang="ko-KR" sz="1400" dirty="0"/>
              <a:t>16937 pts/0 00:00:00 </a:t>
            </a:r>
            <a:r>
              <a:rPr lang="en-US" altLang="ko-KR" sz="1400" dirty="0" err="1"/>
              <a:t>a.out</a:t>
            </a:r>
            <a:endParaRPr lang="en-US" altLang="ko-KR" sz="1400" dirty="0"/>
          </a:p>
          <a:p>
            <a:r>
              <a:rPr lang="en-US" altLang="ko-KR" sz="1400" dirty="0"/>
              <a:t>16938 pts/0 00:00:00 </a:t>
            </a:r>
            <a:r>
              <a:rPr lang="en-US" altLang="ko-KR" sz="1400" dirty="0" err="1"/>
              <a:t>ps</a:t>
            </a:r>
            <a:endParaRPr lang="en-US" altLang="ko-KR" sz="1400" dirty="0"/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AC9505-F410-4DFC-AA17-B5D3CB900D60}"/>
              </a:ext>
            </a:extLst>
          </p:cNvPr>
          <p:cNvSpPr/>
          <p:nvPr/>
        </p:nvSpPr>
        <p:spPr>
          <a:xfrm>
            <a:off x="5148065" y="4581648"/>
            <a:ext cx="2664296" cy="79156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jobs</a:t>
            </a:r>
          </a:p>
          <a:p>
            <a:r>
              <a:rPr lang="en-US" altLang="ko-KR" sz="1400" dirty="0"/>
              <a:t>[1]+ </a:t>
            </a:r>
            <a:r>
              <a:rPr lang="ko-KR" altLang="en-US" sz="1400" dirty="0"/>
              <a:t>멈춤 </a:t>
            </a:r>
            <a:r>
              <a:rPr lang="en-US" altLang="ko-KR" sz="1400" dirty="0"/>
              <a:t>./</a:t>
            </a:r>
            <a:r>
              <a:rPr lang="en-US" altLang="ko-KR" sz="1400" dirty="0" err="1"/>
              <a:t>a.out</a:t>
            </a:r>
            <a:endParaRPr lang="en-US" altLang="ko-KR" sz="1400" dirty="0"/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A9FBB-352E-4344-9291-4BBF8A3E178C}"/>
              </a:ext>
            </a:extLst>
          </p:cNvPr>
          <p:cNvSpPr txBox="1"/>
          <p:nvPr/>
        </p:nvSpPr>
        <p:spPr>
          <a:xfrm>
            <a:off x="2483768" y="2419479"/>
            <a:ext cx="1080120" cy="289441"/>
          </a:xfrm>
          <a:prstGeom prst="wedgeRoundRectCallout">
            <a:avLst>
              <a:gd name="adj1" fmla="val -142359"/>
              <a:gd name="adj2" fmla="val 3240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dirty="0"/>
              <a:t>[</a:t>
            </a:r>
            <a:r>
              <a:rPr lang="en-US" altLang="ko-KR" dirty="0" err="1"/>
              <a:t>Ctrl+Z</a:t>
            </a:r>
            <a:r>
              <a:rPr lang="en-US" altLang="ko-KR" dirty="0"/>
              <a:t>] </a:t>
            </a:r>
            <a:r>
              <a:rPr lang="ko-KR" altLang="en-US" dirty="0"/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42944133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2B692-0382-4CF5-865E-33D82E53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프로세스 관리 </a:t>
            </a:r>
            <a:r>
              <a:rPr lang="en-US" altLang="ko-KR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EA1E74-2198-4590-BCE1-D79BB769D3F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sz="2000"/>
              <a:t>fg </a:t>
            </a:r>
            <a:r>
              <a:rPr lang="ko-KR" altLang="en-US" sz="2000"/>
              <a:t>명령</a:t>
            </a:r>
            <a:endParaRPr lang="en-US" altLang="ko-KR" sz="2000"/>
          </a:p>
          <a:p>
            <a:pPr lvl="1"/>
            <a:r>
              <a:rPr lang="en-US" altLang="ko-KR" sz="1600"/>
              <a:t> </a:t>
            </a:r>
            <a:r>
              <a:rPr lang="ko-KR" altLang="en-US" sz="1600"/>
              <a:t>일지 </a:t>
            </a:r>
            <a:r>
              <a:rPr lang="ko-KR" altLang="en-US" sz="1600" dirty="0"/>
              <a:t>정지된 프로세스를 다시 포그라운드 </a:t>
            </a:r>
            <a:r>
              <a:rPr lang="ko-KR" altLang="en-US" sz="1600"/>
              <a:t>상태로 실행</a:t>
            </a:r>
            <a:endParaRPr lang="en-US" altLang="ko-KR" sz="1600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sz="2000"/>
          </a:p>
          <a:p>
            <a:r>
              <a:rPr lang="en-US" altLang="ko-KR" sz="2000"/>
              <a:t>bg </a:t>
            </a:r>
            <a:r>
              <a:rPr lang="ko-KR" altLang="en-US" sz="2000"/>
              <a:t>명령 </a:t>
            </a:r>
            <a:endParaRPr lang="en-US" altLang="ko-KR" sz="2000"/>
          </a:p>
          <a:p>
            <a:pPr lvl="1"/>
            <a:r>
              <a:rPr lang="ko-KR" altLang="en-US" sz="1600"/>
              <a:t>일시 </a:t>
            </a:r>
            <a:r>
              <a:rPr lang="ko-KR" altLang="en-US" sz="1600" dirty="0"/>
              <a:t>정지된 프로세스를 백그라운드 </a:t>
            </a:r>
            <a:r>
              <a:rPr lang="ko-KR" altLang="en-US" sz="1600"/>
              <a:t>상태로 실행</a:t>
            </a:r>
            <a:endParaRPr lang="en-US" altLang="ko-KR" sz="16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AAFE8B-42C9-42B9-9553-FAC7B79B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12F8B3-A300-49A0-80E5-C21E12A16165}"/>
              </a:ext>
            </a:extLst>
          </p:cNvPr>
          <p:cNvSpPr/>
          <p:nvPr/>
        </p:nvSpPr>
        <p:spPr>
          <a:xfrm>
            <a:off x="1475656" y="2072261"/>
            <a:ext cx="6696744" cy="142874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</a:t>
            </a:r>
            <a:r>
              <a:rPr lang="en-US" altLang="ko-KR" sz="1400" b="1" dirty="0" err="1"/>
              <a:t>fg</a:t>
            </a:r>
            <a:endParaRPr lang="en-US" altLang="ko-KR" sz="1400" b="1" dirty="0"/>
          </a:p>
          <a:p>
            <a:r>
              <a:rPr lang="en-US" altLang="ko-KR" sz="1400" dirty="0"/>
              <a:t>./</a:t>
            </a:r>
            <a:r>
              <a:rPr lang="en-US" altLang="ko-KR" sz="1400" dirty="0" err="1"/>
              <a:t>a.out</a:t>
            </a:r>
            <a:endParaRPr lang="en-US" altLang="ko-KR" sz="1400" dirty="0"/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b="1" dirty="0"/>
              <a:t>^C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</a:t>
            </a:r>
            <a:r>
              <a:rPr lang="en-US" altLang="ko-KR" sz="1400" dirty="0"/>
              <a:t>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717299-2915-494C-A69C-0BD5B2B4DB80}"/>
              </a:ext>
            </a:extLst>
          </p:cNvPr>
          <p:cNvSpPr/>
          <p:nvPr/>
        </p:nvSpPr>
        <p:spPr>
          <a:xfrm>
            <a:off x="1475656" y="4605810"/>
            <a:ext cx="6696744" cy="202359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./</a:t>
            </a:r>
            <a:r>
              <a:rPr lang="en-US" altLang="ko-KR" sz="1400" b="1" dirty="0" err="1"/>
              <a:t>a.out</a:t>
            </a:r>
            <a:endParaRPr lang="en-US" altLang="ko-KR" sz="1400" b="1" dirty="0"/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b="1" dirty="0"/>
              <a:t>^Z</a:t>
            </a:r>
          </a:p>
          <a:p>
            <a:r>
              <a:rPr lang="en-US" altLang="ko-KR" sz="1400" dirty="0"/>
              <a:t>[1]+ </a:t>
            </a:r>
            <a:r>
              <a:rPr lang="ko-KR" altLang="en-US" sz="1400" dirty="0"/>
              <a:t>멈춤 </a:t>
            </a:r>
            <a:r>
              <a:rPr lang="en-US" altLang="ko-KR" sz="1400" dirty="0"/>
              <a:t>./</a:t>
            </a:r>
            <a:r>
              <a:rPr lang="en-US" altLang="ko-KR" sz="1400" dirty="0" err="1"/>
              <a:t>a.out</a:t>
            </a:r>
            <a:endParaRPr lang="en-US" altLang="ko-KR" sz="1400" dirty="0"/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</a:t>
            </a:r>
            <a:r>
              <a:rPr lang="en-US" altLang="ko-KR" sz="1400" b="1" dirty="0" err="1"/>
              <a:t>bg</a:t>
            </a:r>
            <a:endParaRPr lang="en-US" altLang="ko-KR" sz="1400" b="1" dirty="0"/>
          </a:p>
          <a:p>
            <a:r>
              <a:rPr lang="en-US" altLang="ko-KR" sz="1400" dirty="0"/>
              <a:t>[1]+ ./</a:t>
            </a:r>
            <a:r>
              <a:rPr lang="en-US" altLang="ko-KR" sz="1400" dirty="0" err="1"/>
              <a:t>a.out</a:t>
            </a:r>
            <a:r>
              <a:rPr lang="en-US" altLang="ko-KR" sz="1400" dirty="0"/>
              <a:t> &amp;</a:t>
            </a:r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 :~/ch03 $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FA0100-D788-4542-BE1A-C4618C85375B}"/>
              </a:ext>
            </a:extLst>
          </p:cNvPr>
          <p:cNvSpPr txBox="1"/>
          <p:nvPr/>
        </p:nvSpPr>
        <p:spPr>
          <a:xfrm>
            <a:off x="2843808" y="2851527"/>
            <a:ext cx="1048696" cy="289441"/>
          </a:xfrm>
          <a:prstGeom prst="wedgeRoundRectCallout">
            <a:avLst>
              <a:gd name="adj1" fmla="val -142359"/>
              <a:gd name="adj2" fmla="val 3240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dirty="0"/>
              <a:t>[</a:t>
            </a:r>
            <a:r>
              <a:rPr lang="en-US" altLang="ko-KR" dirty="0" err="1"/>
              <a:t>Ctrl+C</a:t>
            </a:r>
            <a:r>
              <a:rPr lang="en-US" altLang="ko-KR" dirty="0"/>
              <a:t>] </a:t>
            </a:r>
            <a:r>
              <a:rPr lang="ko-KR" altLang="en-US" dirty="0"/>
              <a:t>입력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E682BF-0F50-416D-9E28-02C5095ED618}"/>
              </a:ext>
            </a:extLst>
          </p:cNvPr>
          <p:cNvSpPr txBox="1"/>
          <p:nvPr/>
        </p:nvSpPr>
        <p:spPr>
          <a:xfrm>
            <a:off x="2843808" y="5155783"/>
            <a:ext cx="1048696" cy="289441"/>
          </a:xfrm>
          <a:prstGeom prst="wedgeRoundRectCallout">
            <a:avLst>
              <a:gd name="adj1" fmla="val -142359"/>
              <a:gd name="adj2" fmla="val 3240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dirty="0"/>
              <a:t>[</a:t>
            </a:r>
            <a:r>
              <a:rPr lang="en-US" altLang="ko-KR" dirty="0" err="1"/>
              <a:t>Ctrl+Z</a:t>
            </a:r>
            <a:r>
              <a:rPr lang="en-US" altLang="ko-KR" dirty="0"/>
              <a:t>] </a:t>
            </a:r>
            <a:r>
              <a:rPr lang="ko-KR" altLang="en-US" dirty="0"/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5793449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17446-0AC9-4D8D-A4F0-C55AF36A2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프로세스 관리 </a:t>
            </a:r>
            <a:r>
              <a:rPr lang="en-US" altLang="ko-KR"/>
              <a:t>(3)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2C496-C865-4888-BF7E-4CE067C89CC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백그라운드 상태의 프로세스를 포그라운드 전환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18D342-B13A-49E8-BC76-8A74BAB01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A30A3E-0C61-47F3-B365-E64B7F84EB6C}"/>
              </a:ext>
            </a:extLst>
          </p:cNvPr>
          <p:cNvSpPr/>
          <p:nvPr/>
        </p:nvSpPr>
        <p:spPr>
          <a:xfrm>
            <a:off x="1055913" y="1844824"/>
            <a:ext cx="7044479" cy="28931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</a:t>
            </a:r>
            <a:r>
              <a:rPr lang="en-US" altLang="ko-KR" sz="1600" b="1" dirty="0" err="1"/>
              <a:t>bg</a:t>
            </a:r>
            <a:endParaRPr lang="en-US" altLang="ko-KR" sz="1600" b="1" dirty="0"/>
          </a:p>
          <a:p>
            <a:r>
              <a:rPr lang="en-US" altLang="ko-KR" sz="1600" dirty="0"/>
              <a:t>[1]+ ./</a:t>
            </a:r>
            <a:r>
              <a:rPr lang="en-US" altLang="ko-KR" sz="1600" dirty="0" err="1"/>
              <a:t>a.out</a:t>
            </a:r>
            <a:r>
              <a:rPr lang="en-US" altLang="ko-KR" sz="1600" dirty="0"/>
              <a:t> &amp;</a:t>
            </a:r>
          </a:p>
          <a:p>
            <a:r>
              <a:rPr lang="en-US" altLang="ko-KR" sz="1600" dirty="0"/>
              <a:t>Hello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</a:t>
            </a:r>
            <a:r>
              <a:rPr lang="en-US" altLang="ko-KR" sz="1600" dirty="0"/>
              <a:t>Hello</a:t>
            </a:r>
          </a:p>
          <a:p>
            <a:r>
              <a:rPr lang="en-US" altLang="ko-KR" sz="1600" dirty="0"/>
              <a:t>Hello</a:t>
            </a:r>
          </a:p>
          <a:p>
            <a:r>
              <a:rPr lang="en-US" altLang="ko-KR" sz="1600" dirty="0"/>
              <a:t>Hello</a:t>
            </a:r>
          </a:p>
          <a:p>
            <a:r>
              <a:rPr lang="en-US" altLang="ko-KR" sz="1600" b="1" dirty="0" err="1"/>
              <a:t>fg</a:t>
            </a:r>
            <a:endParaRPr lang="en-US" altLang="ko-KR" sz="1600" b="1" dirty="0"/>
          </a:p>
          <a:p>
            <a:r>
              <a:rPr lang="en-US" altLang="ko-KR" sz="1600" dirty="0"/>
              <a:t>./</a:t>
            </a:r>
            <a:r>
              <a:rPr lang="en-US" altLang="ko-KR" sz="1600" dirty="0" err="1"/>
              <a:t>a.out</a:t>
            </a:r>
            <a:endParaRPr lang="en-US" altLang="ko-KR" sz="1600" dirty="0"/>
          </a:p>
          <a:p>
            <a:r>
              <a:rPr lang="en-US" altLang="ko-KR" sz="1600" dirty="0"/>
              <a:t>Hello</a:t>
            </a:r>
          </a:p>
          <a:p>
            <a:r>
              <a:rPr lang="en-US" altLang="ko-KR" sz="1600" b="1" dirty="0"/>
              <a:t>^C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</a:t>
            </a:r>
            <a:endParaRPr lang="ko-KR" altLang="en-US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B5FED6-D656-4369-9962-1811B65DE150}"/>
              </a:ext>
            </a:extLst>
          </p:cNvPr>
          <p:cNvSpPr txBox="1"/>
          <p:nvPr/>
        </p:nvSpPr>
        <p:spPr>
          <a:xfrm>
            <a:off x="2911478" y="2901404"/>
            <a:ext cx="3229143" cy="289441"/>
          </a:xfrm>
          <a:prstGeom prst="wedgeRoundRectCallout">
            <a:avLst>
              <a:gd name="adj1" fmla="val -88891"/>
              <a:gd name="adj2" fmla="val -15948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dirty="0" err="1"/>
              <a:t>a.out</a:t>
            </a:r>
            <a:r>
              <a:rPr lang="ko-KR" altLang="en-US" dirty="0"/>
              <a:t>이 백그라운드 상태에서 출력한 내용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CF8377-5949-4306-8296-9D198CF96478}"/>
              </a:ext>
            </a:extLst>
          </p:cNvPr>
          <p:cNvSpPr txBox="1"/>
          <p:nvPr/>
        </p:nvSpPr>
        <p:spPr>
          <a:xfrm>
            <a:off x="1835696" y="3301476"/>
            <a:ext cx="864096" cy="289441"/>
          </a:xfrm>
          <a:prstGeom prst="wedgeRoundRectCallout">
            <a:avLst>
              <a:gd name="adj1" fmla="val -90852"/>
              <a:gd name="adj2" fmla="val 2273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err="1"/>
              <a:t>fg</a:t>
            </a:r>
            <a:r>
              <a:rPr lang="en-US" altLang="ko-KR" dirty="0"/>
              <a:t> </a:t>
            </a:r>
            <a:r>
              <a:rPr lang="ko-KR" altLang="en-US" dirty="0"/>
              <a:t>입력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952D7-2A2D-42A0-A3CA-89CEA5BAE47A}"/>
              </a:ext>
            </a:extLst>
          </p:cNvPr>
          <p:cNvSpPr txBox="1"/>
          <p:nvPr/>
        </p:nvSpPr>
        <p:spPr>
          <a:xfrm>
            <a:off x="2927032" y="3543819"/>
            <a:ext cx="3229143" cy="289441"/>
          </a:xfrm>
          <a:prstGeom prst="wedgeRoundRectCallout">
            <a:avLst>
              <a:gd name="adj1" fmla="val -85362"/>
              <a:gd name="adj2" fmla="val 1951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dirty="0" err="1"/>
              <a:t>a.out</a:t>
            </a:r>
            <a:r>
              <a:rPr lang="ko-KR" altLang="en-US" dirty="0"/>
              <a:t>이 포그라운드 상태로 전환됨을 나타냄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BCB46-094C-4C5F-89D3-0E3160534701}"/>
              </a:ext>
            </a:extLst>
          </p:cNvPr>
          <p:cNvSpPr txBox="1"/>
          <p:nvPr/>
        </p:nvSpPr>
        <p:spPr>
          <a:xfrm>
            <a:off x="2927031" y="3890462"/>
            <a:ext cx="3229143" cy="289441"/>
          </a:xfrm>
          <a:prstGeom prst="wedgeRoundRectCallout">
            <a:avLst>
              <a:gd name="adj1" fmla="val -85073"/>
              <a:gd name="adj2" fmla="val -2884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 dirty="0" err="1"/>
              <a:t>a.out</a:t>
            </a:r>
            <a:r>
              <a:rPr lang="ko-KR" altLang="en-US" dirty="0"/>
              <a:t>이 포그라운드 상태에서 출력한 내용</a:t>
            </a:r>
          </a:p>
        </p:txBody>
      </p:sp>
    </p:spTree>
    <p:extLst>
      <p:ext uri="{BB962C8B-B14F-4D97-AF65-F5344CB8AC3E}">
        <p14:creationId xmlns:p14="http://schemas.microsoft.com/office/powerpoint/2010/main" val="39701063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17446-0AC9-4D8D-A4F0-C55AF36A2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프로세스 관리 </a:t>
            </a:r>
            <a:r>
              <a:rPr lang="en-US" altLang="ko-KR"/>
              <a:t>(4)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2C496-C865-4888-BF7E-4CE067C89CC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처음부터 백그라운드 상태로 실행시키기</a:t>
            </a:r>
            <a:r>
              <a:rPr lang="en-US" altLang="ko-KR" dirty="0"/>
              <a:t>, &amp; </a:t>
            </a:r>
            <a:r>
              <a:rPr lang="ko-KR" altLang="en-US" dirty="0"/>
              <a:t>기호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18D342-B13A-49E8-BC76-8A74BAB01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64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283639-59CD-4971-8A0B-B59B2CFD2EC4}"/>
              </a:ext>
            </a:extLst>
          </p:cNvPr>
          <p:cNvSpPr/>
          <p:nvPr/>
        </p:nvSpPr>
        <p:spPr>
          <a:xfrm>
            <a:off x="1115616" y="1916833"/>
            <a:ext cx="7200800" cy="194421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./</a:t>
            </a:r>
            <a:r>
              <a:rPr lang="en-US" altLang="ko-KR" sz="1600" b="1" dirty="0" err="1"/>
              <a:t>a.out</a:t>
            </a:r>
            <a:r>
              <a:rPr lang="en-US" altLang="ko-KR" sz="1600" b="1" dirty="0"/>
              <a:t>&amp;</a:t>
            </a:r>
          </a:p>
          <a:p>
            <a:r>
              <a:rPr lang="en-US" altLang="ko-KR" sz="1600" dirty="0"/>
              <a:t>[1] 17022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</a:t>
            </a:r>
            <a:r>
              <a:rPr lang="en-US" altLang="ko-KR" sz="1600" dirty="0"/>
              <a:t>Hello</a:t>
            </a:r>
          </a:p>
          <a:p>
            <a:r>
              <a:rPr lang="en-US" altLang="ko-KR" sz="1600" dirty="0"/>
              <a:t>Hello</a:t>
            </a:r>
          </a:p>
          <a:p>
            <a:r>
              <a:rPr lang="en-US" altLang="ko-KR" sz="1600" dirty="0"/>
              <a:t>Hello</a:t>
            </a:r>
          </a:p>
          <a:p>
            <a:r>
              <a:rPr lang="en-US" altLang="ko-KR" sz="1600" dirty="0"/>
              <a:t>Hello</a:t>
            </a:r>
          </a:p>
          <a:p>
            <a:r>
              <a:rPr lang="en-US" altLang="ko-KR" sz="1600" dirty="0"/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42307948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78CEA-7C07-4916-9A61-74AB92E4B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프로세스 관리 </a:t>
            </a:r>
            <a:r>
              <a:rPr lang="en-US" altLang="ko-KR"/>
              <a:t>(5)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B9B8B4-3164-40C8-8B83-752470A2711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2638" y="1340768"/>
            <a:ext cx="8153400" cy="5040560"/>
          </a:xfrm>
        </p:spPr>
        <p:txBody>
          <a:bodyPr/>
          <a:lstStyle/>
          <a:p>
            <a:r>
              <a:rPr lang="ko-KR" altLang="en-US" dirty="0"/>
              <a:t>프로세스 상태 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2EF8C-9730-40FB-963F-A7CA1255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632F54-0B6B-45EB-9ADE-950162BAE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2" y="2325596"/>
            <a:ext cx="8244408" cy="307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750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9957C-C414-4EB0-8D37-AFEBB4D1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프로세스 상태 보기 </a:t>
            </a:r>
            <a:r>
              <a:rPr lang="en-US" altLang="ko-KR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4BB49A-3D02-414A-856B-33995C91AE9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/>
          <a:p>
            <a:r>
              <a:rPr lang="en-US" altLang="ko-KR" dirty="0" err="1"/>
              <a:t>ps</a:t>
            </a:r>
            <a:endParaRPr lang="en-US" altLang="ko-KR" dirty="0"/>
          </a:p>
          <a:p>
            <a:pPr lvl="1"/>
            <a:r>
              <a:rPr lang="en-US" altLang="ko-KR" dirty="0" err="1"/>
              <a:t>ps</a:t>
            </a:r>
            <a:r>
              <a:rPr lang="ko-KR" altLang="en-US" dirty="0"/>
              <a:t>는 가장 많이 사용되는 명령 중 하나이며</a:t>
            </a:r>
            <a:r>
              <a:rPr lang="en-US" altLang="ko-KR" dirty="0"/>
              <a:t> </a:t>
            </a:r>
            <a:r>
              <a:rPr lang="ko-KR" altLang="en-US" dirty="0"/>
              <a:t>다양한 옵션이 있음</a:t>
            </a:r>
            <a:endParaRPr lang="en-US" altLang="ko-KR" dirty="0"/>
          </a:p>
          <a:p>
            <a:pPr lvl="1"/>
            <a:r>
              <a:rPr lang="ko-KR" altLang="en-US" dirty="0"/>
              <a:t>‘</a:t>
            </a:r>
            <a:r>
              <a:rPr lang="en-US" altLang="ko-KR" dirty="0" err="1"/>
              <a:t>ps’</a:t>
            </a:r>
            <a:r>
              <a:rPr lang="ko-KR" altLang="en-US" dirty="0"/>
              <a:t>만 입력하면 현재 사용자가 현재 터미널에서 실행시킨 모든 프로세스 목록</a:t>
            </a:r>
          </a:p>
          <a:p>
            <a:pPr lvl="1"/>
            <a:endParaRPr lang="ko-KR" altLang="en-US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6B9743-C016-422E-A12D-D7787F44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66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6343B5-69F6-4887-960B-3A02C3C72136}"/>
              </a:ext>
            </a:extLst>
          </p:cNvPr>
          <p:cNvSpPr/>
          <p:nvPr/>
        </p:nvSpPr>
        <p:spPr>
          <a:xfrm>
            <a:off x="719504" y="4163015"/>
            <a:ext cx="8046544" cy="135421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</a:t>
            </a:r>
            <a:r>
              <a:rPr lang="en-US" altLang="ko-KR" sz="1600" b="1" dirty="0" err="1"/>
              <a:t>ps</a:t>
            </a:r>
            <a:endParaRPr lang="en-US" altLang="ko-KR" sz="1600" b="1" dirty="0"/>
          </a:p>
          <a:p>
            <a:r>
              <a:rPr lang="en-US" altLang="ko-KR" sz="1600" dirty="0"/>
              <a:t>PID 		TTY 	TIME 	CMD</a:t>
            </a:r>
          </a:p>
          <a:p>
            <a:r>
              <a:rPr lang="en-US" altLang="ko-KR" sz="1600" dirty="0"/>
              <a:t>4746 		pts/0 	00:00:02 	bash</a:t>
            </a:r>
          </a:p>
          <a:p>
            <a:r>
              <a:rPr lang="en-US" altLang="ko-KR" sz="1600" dirty="0"/>
              <a:t>17089 	pts/0 	00:00:00 	</a:t>
            </a:r>
            <a:r>
              <a:rPr lang="en-US" altLang="ko-KR" sz="1600" dirty="0" err="1"/>
              <a:t>ps</a:t>
            </a:r>
            <a:endParaRPr lang="en-US" altLang="ko-KR" sz="1600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8C466BF-F044-4F7E-A0AD-E37127067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76" y="2878582"/>
            <a:ext cx="8073927" cy="110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0145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8EF2A-77C5-4242-9B93-1829BC1EC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프로세스 상태보기 </a:t>
            </a:r>
            <a:r>
              <a:rPr lang="en-US" altLang="ko-KR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44C48A-84A9-45B0-8D5C-03629BBB12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ps</a:t>
            </a:r>
            <a:r>
              <a:rPr lang="en-US" altLang="ko-KR" dirty="0"/>
              <a:t> –</a:t>
            </a:r>
            <a:r>
              <a:rPr lang="en-US" altLang="ko-KR" dirty="0" err="1"/>
              <a:t>ef</a:t>
            </a:r>
            <a:endParaRPr lang="en-US" altLang="ko-KR" dirty="0"/>
          </a:p>
          <a:p>
            <a:pPr lvl="1" fontAlgn="base"/>
            <a:r>
              <a:rPr lang="ko-KR" altLang="en-US"/>
              <a:t>현재 실행되는 </a:t>
            </a:r>
            <a:r>
              <a:rPr lang="ko-KR" altLang="en-US" dirty="0"/>
              <a:t>모든 </a:t>
            </a:r>
            <a:r>
              <a:rPr lang="ko-KR" altLang="en-US"/>
              <a:t>프로세스 목록 보기</a:t>
            </a:r>
            <a:endParaRPr lang="ko-KR" altLang="en-US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4D787-AF9D-4D84-A30D-12BF06DD7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DF6E1F-F269-4F65-AF34-9A7BC252AD07}"/>
              </a:ext>
            </a:extLst>
          </p:cNvPr>
          <p:cNvSpPr/>
          <p:nvPr/>
        </p:nvSpPr>
        <p:spPr>
          <a:xfrm>
            <a:off x="1115616" y="2348880"/>
            <a:ext cx="7056784" cy="208823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</a:t>
            </a:r>
            <a:r>
              <a:rPr lang="en-US" altLang="ko-KR" sz="1600" b="1" dirty="0" err="1"/>
              <a:t>ps</a:t>
            </a:r>
            <a:r>
              <a:rPr lang="en-US" altLang="ko-KR" sz="1600" b="1" dirty="0"/>
              <a:t> -</a:t>
            </a:r>
            <a:r>
              <a:rPr lang="en-US" altLang="ko-KR" sz="1600" b="1" dirty="0" err="1"/>
              <a:t>ef</a:t>
            </a:r>
            <a:endParaRPr lang="en-US" altLang="ko-KR" sz="1600" b="1" dirty="0"/>
          </a:p>
          <a:p>
            <a:r>
              <a:rPr lang="en-US" altLang="ko-KR" sz="1600" dirty="0"/>
              <a:t>UID 	PID  PPID C STIME TTY 	TIME     CMD</a:t>
            </a:r>
          </a:p>
          <a:p>
            <a:r>
              <a:rPr lang="en-US" altLang="ko-KR" sz="1600" dirty="0"/>
              <a:t>root         1      0  0 02:26 ? 	00:00:04 /</a:t>
            </a:r>
            <a:r>
              <a:rPr lang="en-US" altLang="ko-KR" sz="1600" dirty="0" err="1"/>
              <a:t>sbin</a:t>
            </a:r>
            <a:r>
              <a:rPr lang="en-US" altLang="ko-KR" sz="1600" dirty="0"/>
              <a:t>/</a:t>
            </a:r>
            <a:r>
              <a:rPr lang="en-US" altLang="ko-KR" sz="1600" dirty="0" err="1"/>
              <a:t>init</a:t>
            </a:r>
            <a:r>
              <a:rPr lang="en-US" altLang="ko-KR" sz="1600" dirty="0"/>
              <a:t> splash</a:t>
            </a:r>
          </a:p>
          <a:p>
            <a:r>
              <a:rPr lang="en-US" altLang="ko-KR" sz="1600" dirty="0"/>
              <a:t>.... </a:t>
            </a:r>
            <a:r>
              <a:rPr lang="ko-KR" altLang="en-US" sz="1600" dirty="0"/>
              <a:t>중간 생략함</a:t>
            </a:r>
          </a:p>
          <a:p>
            <a:r>
              <a:rPr lang="en-US" altLang="ko-KR" sz="1600" dirty="0"/>
              <a:t>root     2009     2  0 07:35 ? 	00:00:00 [</a:t>
            </a:r>
            <a:r>
              <a:rPr lang="en-US" altLang="ko-KR" sz="1600" dirty="0" err="1"/>
              <a:t>kworker</a:t>
            </a:r>
            <a:r>
              <a:rPr lang="en-US" altLang="ko-KR" sz="1600" dirty="0"/>
              <a:t>/0:2-events]</a:t>
            </a:r>
          </a:p>
          <a:p>
            <a:r>
              <a:rPr lang="en-US" altLang="ko-KR" sz="1600" dirty="0"/>
              <a:t>root     2012     2  0 07:35 ? 	00:00:00 [</a:t>
            </a:r>
            <a:r>
              <a:rPr lang="en-US" altLang="ko-KR" sz="1600" dirty="0" err="1"/>
              <a:t>kworker</a:t>
            </a:r>
            <a:r>
              <a:rPr lang="en-US" altLang="ko-KR" sz="1600" dirty="0"/>
              <a:t>/1:0-mm_percpu_wq]</a:t>
            </a:r>
          </a:p>
          <a:p>
            <a:r>
              <a:rPr lang="en-US" altLang="ko-KR" sz="1600" dirty="0"/>
              <a:t>pi        2013 1349  0 07:36  pts/0 	00:00:00 </a:t>
            </a:r>
            <a:r>
              <a:rPr lang="en-US" altLang="ko-KR" sz="1600" dirty="0" err="1"/>
              <a:t>ps</a:t>
            </a:r>
            <a:r>
              <a:rPr lang="en-US" altLang="ko-KR" sz="1600" dirty="0"/>
              <a:t> -</a:t>
            </a:r>
            <a:r>
              <a:rPr lang="en-US" altLang="ko-KR" sz="1600" dirty="0" err="1"/>
              <a:t>ef</a:t>
            </a:r>
            <a:endParaRPr lang="en-US" altLang="ko-KR" sz="1600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</a:t>
            </a:r>
          </a:p>
        </p:txBody>
      </p:sp>
    </p:spTree>
    <p:extLst>
      <p:ext uri="{BB962C8B-B14F-4D97-AF65-F5344CB8AC3E}">
        <p14:creationId xmlns:p14="http://schemas.microsoft.com/office/powerpoint/2010/main" val="5863149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854D0-9FDB-4301-924A-77C2DEA53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프로세스 강제 종료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B48558-7EB1-4D0D-B065-601328DB7FE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kill</a:t>
            </a:r>
          </a:p>
          <a:p>
            <a:pPr lvl="1"/>
            <a:r>
              <a:rPr lang="en-US" altLang="ko-KR" dirty="0"/>
              <a:t>kill </a:t>
            </a:r>
            <a:r>
              <a:rPr lang="ko-KR" altLang="en-US"/>
              <a:t>명령은 본래 프로세스 사이의 통신 방법 중 하나임</a:t>
            </a:r>
            <a:endParaRPr lang="ko-KR" altLang="en-US" dirty="0"/>
          </a:p>
          <a:p>
            <a:pPr lvl="2"/>
            <a:r>
              <a:rPr lang="ko-KR" altLang="en-US"/>
              <a:t>한 프로세스가 </a:t>
            </a:r>
            <a:r>
              <a:rPr lang="ko-KR" altLang="en-US" dirty="0"/>
              <a:t>다른 프로세스에게 </a:t>
            </a:r>
            <a:r>
              <a:rPr lang="ko-KR" altLang="en-US"/>
              <a:t>알림을 보내는 것은 신호</a:t>
            </a:r>
            <a:r>
              <a:rPr lang="en-US" altLang="ko-KR" dirty="0"/>
              <a:t>(signal)</a:t>
            </a:r>
            <a:r>
              <a:rPr lang="ko-KR" altLang="en-US" dirty="0"/>
              <a:t>라고 하는데</a:t>
            </a:r>
            <a:r>
              <a:rPr lang="en-US" altLang="ko-KR" dirty="0"/>
              <a:t>, kill</a:t>
            </a:r>
            <a:r>
              <a:rPr lang="ko-KR" altLang="en-US" dirty="0"/>
              <a:t>은 신호를 보내는 명령</a:t>
            </a:r>
          </a:p>
          <a:p>
            <a:pPr lvl="1"/>
            <a:r>
              <a:rPr lang="en-US" altLang="ko-KR" dirty="0"/>
              <a:t>kill</a:t>
            </a:r>
            <a:r>
              <a:rPr lang="ko-KR" altLang="en-US" dirty="0"/>
              <a:t> 명령의 </a:t>
            </a:r>
            <a:r>
              <a:rPr lang="ko-KR" altLang="en-US" dirty="0" err="1"/>
              <a:t>옵션중</a:t>
            </a:r>
            <a:r>
              <a:rPr lang="ko-KR" altLang="en-US" dirty="0"/>
              <a:t> </a:t>
            </a:r>
            <a:r>
              <a:rPr lang="en-US" altLang="ko-KR" dirty="0"/>
              <a:t>-9</a:t>
            </a:r>
            <a:r>
              <a:rPr lang="ko-KR" altLang="en-US"/>
              <a:t>는 프로세스에게 종료 신호를 보내는 것임</a:t>
            </a:r>
            <a:endParaRPr lang="en-US" altLang="ko-KR"/>
          </a:p>
          <a:p>
            <a:pPr lvl="2"/>
            <a:r>
              <a:rPr lang="ko-KR" altLang="en-US"/>
              <a:t>결과적으로 프로세스를 종료시키게 됨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AD1611-DC02-4E05-B701-230B9F8C5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110DB8-CC5E-4D07-BDF7-F285CB4FDB13}"/>
              </a:ext>
            </a:extLst>
          </p:cNvPr>
          <p:cNvSpPr/>
          <p:nvPr/>
        </p:nvSpPr>
        <p:spPr>
          <a:xfrm>
            <a:off x="1331640" y="3556312"/>
            <a:ext cx="6033027" cy="253698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./</a:t>
            </a:r>
            <a:r>
              <a:rPr lang="en-US" altLang="ko-KR" sz="1400" b="1" dirty="0" err="1"/>
              <a:t>a.out</a:t>
            </a:r>
            <a:endParaRPr lang="en-US" altLang="ko-KR" sz="1400" b="1" dirty="0"/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dirty="0"/>
              <a:t>^Z</a:t>
            </a:r>
          </a:p>
          <a:p>
            <a:r>
              <a:rPr lang="en-US" altLang="ko-KR" sz="1400" dirty="0"/>
              <a:t>[1]+ </a:t>
            </a:r>
            <a:r>
              <a:rPr lang="ko-KR" altLang="en-US" sz="1400" dirty="0"/>
              <a:t>멈춤 </a:t>
            </a:r>
            <a:r>
              <a:rPr lang="en-US" altLang="ko-KR" sz="1400" dirty="0"/>
              <a:t>./</a:t>
            </a:r>
            <a:r>
              <a:rPr lang="en-US" altLang="ko-KR" sz="1400" dirty="0" err="1"/>
              <a:t>a.out</a:t>
            </a:r>
            <a:endParaRPr lang="en-US" altLang="ko-KR" sz="1400" dirty="0"/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</a:t>
            </a:r>
            <a:r>
              <a:rPr lang="en-US" altLang="ko-KR" sz="1400" b="1" dirty="0" err="1"/>
              <a:t>ps</a:t>
            </a:r>
            <a:endParaRPr lang="en-US" altLang="ko-KR" sz="1400" b="1" dirty="0"/>
          </a:p>
          <a:p>
            <a:r>
              <a:rPr lang="en-US" altLang="ko-KR" sz="1400" dirty="0"/>
              <a:t>PID TTY TIME CMD</a:t>
            </a:r>
          </a:p>
          <a:p>
            <a:r>
              <a:rPr lang="en-US" altLang="ko-KR" sz="1400" dirty="0"/>
              <a:t>1239 pts/0 00:00:00 bash</a:t>
            </a:r>
          </a:p>
          <a:p>
            <a:r>
              <a:rPr lang="en-US" altLang="ko-KR" sz="1400" dirty="0"/>
              <a:t>2007 pts/0 00:00:00 </a:t>
            </a:r>
            <a:r>
              <a:rPr lang="en-US" altLang="ko-KR" sz="1400" dirty="0" err="1"/>
              <a:t>a.out</a:t>
            </a:r>
            <a:endParaRPr lang="en-US" altLang="ko-KR" sz="1400" dirty="0"/>
          </a:p>
          <a:p>
            <a:r>
              <a:rPr lang="en-US" altLang="ko-KR" sz="1400" dirty="0"/>
              <a:t>2026 pts/0 00:00:00 </a:t>
            </a:r>
            <a:r>
              <a:rPr lang="en-US" altLang="ko-KR" sz="1400" dirty="0" err="1"/>
              <a:t>ps</a:t>
            </a:r>
            <a:endParaRPr lang="en-US" altLang="ko-KR" sz="1400" dirty="0"/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EF9BBD-9E73-4061-86AF-33270517488B}"/>
              </a:ext>
            </a:extLst>
          </p:cNvPr>
          <p:cNvSpPr/>
          <p:nvPr/>
        </p:nvSpPr>
        <p:spPr>
          <a:xfrm>
            <a:off x="4130521" y="4409305"/>
            <a:ext cx="4181045" cy="83099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sv-SE" altLang="ko-KR" sz="1400" b="1" dirty="0"/>
              <a:t>pi@pi:~/ch03 $ kill -9 2026</a:t>
            </a:r>
          </a:p>
          <a:p>
            <a:r>
              <a:rPr lang="en-US" altLang="ko-KR" sz="1400" dirty="0"/>
              <a:t>-bash: kill: (2026) - </a:t>
            </a:r>
            <a:r>
              <a:rPr lang="ko-KR" altLang="en-US" sz="1400" dirty="0"/>
              <a:t>그런 프로세스가 없음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A60E58-0105-4DC7-B147-A8A7529FC791}"/>
              </a:ext>
            </a:extLst>
          </p:cNvPr>
          <p:cNvSpPr/>
          <p:nvPr/>
        </p:nvSpPr>
        <p:spPr>
          <a:xfrm>
            <a:off x="4132345" y="5478193"/>
            <a:ext cx="4188651" cy="83099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sv-SE" altLang="ko-KR" sz="1400" b="1" dirty="0"/>
              <a:t>pi@pi:~/ch03 $ kill -9 2007</a:t>
            </a:r>
          </a:p>
          <a:p>
            <a:r>
              <a:rPr lang="en-US" altLang="ko-KR" sz="1400" dirty="0"/>
              <a:t>[1]+ </a:t>
            </a:r>
            <a:r>
              <a:rPr lang="ko-KR" altLang="en-US" sz="1400" dirty="0"/>
              <a:t>죽었음 </a:t>
            </a:r>
            <a:r>
              <a:rPr lang="en-US" altLang="ko-KR" sz="1400" dirty="0"/>
              <a:t>./</a:t>
            </a:r>
            <a:r>
              <a:rPr lang="en-US" altLang="ko-KR" sz="1400" dirty="0" err="1"/>
              <a:t>a.out</a:t>
            </a:r>
            <a:endParaRPr lang="en-US" altLang="ko-KR" sz="1400" dirty="0"/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CB2E363-3BEA-44D9-9E78-99BC04C3D508}"/>
              </a:ext>
            </a:extLst>
          </p:cNvPr>
          <p:cNvSpPr/>
          <p:nvPr/>
        </p:nvSpPr>
        <p:spPr>
          <a:xfrm>
            <a:off x="1187624" y="5301208"/>
            <a:ext cx="2448272" cy="245733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55796-E80A-403A-B275-6A0AE89BF481}"/>
              </a:ext>
            </a:extLst>
          </p:cNvPr>
          <p:cNvSpPr txBox="1"/>
          <p:nvPr/>
        </p:nvSpPr>
        <p:spPr>
          <a:xfrm>
            <a:off x="6921510" y="4132058"/>
            <a:ext cx="1584893" cy="476726"/>
          </a:xfrm>
          <a:prstGeom prst="wedgeRoundRectCallout">
            <a:avLst>
              <a:gd name="adj1" fmla="val -58131"/>
              <a:gd name="adj2" fmla="val 5616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/>
              <a:t>ps</a:t>
            </a:r>
            <a:r>
              <a:rPr lang="ko-KR" altLang="en-US"/>
              <a:t>를 실행 후 자동 </a:t>
            </a:r>
            <a:endParaRPr lang="en-US" altLang="ko-KR"/>
          </a:p>
          <a:p>
            <a:r>
              <a:rPr lang="ko-KR" altLang="en-US"/>
              <a:t>종료되었기 때문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E892B0-6D2A-4CD1-960D-FEACA7CE83E4}"/>
              </a:ext>
            </a:extLst>
          </p:cNvPr>
          <p:cNvSpPr txBox="1"/>
          <p:nvPr/>
        </p:nvSpPr>
        <p:spPr>
          <a:xfrm>
            <a:off x="7019913" y="5590809"/>
            <a:ext cx="1584893" cy="476726"/>
          </a:xfrm>
          <a:prstGeom prst="wedgeRoundRectCallout">
            <a:avLst>
              <a:gd name="adj1" fmla="val -64716"/>
              <a:gd name="adj2" fmla="val -3348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en-US" altLang="ko-KR"/>
              <a:t>2007</a:t>
            </a:r>
            <a:r>
              <a:rPr lang="ko-KR" altLang="en-US"/>
              <a:t>번 프로세스 강제 종료 시킴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85936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6CF93BB-971B-40D5-A17A-DDEAC027D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B057935-DDE0-44A5-9D99-A2A00FA63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유용한 명령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DF6098-A51E-46BE-9997-22CE179D3C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8563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5AA0C-42A2-4D67-9880-8A9E600DD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파일에서 텍스트 검색</a:t>
            </a:r>
            <a:r>
              <a:rPr lang="en-US" altLang="ko-KR" dirty="0"/>
              <a:t>, grep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11E66C-E3B8-4667-9655-46759BE2215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grep</a:t>
            </a:r>
          </a:p>
          <a:p>
            <a:pPr lvl="1"/>
            <a:r>
              <a:rPr lang="ko-KR" altLang="en-US"/>
              <a:t>파일들에 대해 ‘</a:t>
            </a:r>
            <a:r>
              <a:rPr lang="ko-KR" altLang="en-US" err="1"/>
              <a:t>문자열</a:t>
            </a:r>
            <a:r>
              <a:rPr lang="ko-KR" altLang="en-US"/>
              <a:t>’ 검색하여 라인들 </a:t>
            </a:r>
            <a:r>
              <a:rPr lang="ko-KR" altLang="en-US" dirty="0"/>
              <a:t>출력</a:t>
            </a:r>
          </a:p>
          <a:p>
            <a:pPr lvl="1"/>
            <a:r>
              <a:rPr lang="ko-KR" altLang="en-US"/>
              <a:t>사례</a:t>
            </a:r>
            <a:endParaRPr lang="en-US" altLang="ko-KR"/>
          </a:p>
          <a:p>
            <a:pPr lvl="2"/>
            <a:r>
              <a:rPr lang="en-US" altLang="ko-KR"/>
              <a:t>$ </a:t>
            </a:r>
            <a:r>
              <a:rPr lang="en-US" altLang="ko-KR" dirty="0"/>
              <a:t>grep in </a:t>
            </a:r>
            <a:r>
              <a:rPr lang="en-US" altLang="ko-KR" dirty="0" err="1"/>
              <a:t>hello.c</a:t>
            </a:r>
            <a:r>
              <a:rPr lang="en-US" altLang="ko-KR" dirty="0"/>
              <a:t> </a:t>
            </a:r>
            <a:r>
              <a:rPr lang="en-US" altLang="ko-KR"/>
              <a:t>– hello.c </a:t>
            </a:r>
            <a:r>
              <a:rPr lang="ko-KR" altLang="en-US"/>
              <a:t>파일에서 </a:t>
            </a:r>
            <a:r>
              <a:rPr lang="en-US" altLang="ko-KR"/>
              <a:t>"in" </a:t>
            </a:r>
            <a:r>
              <a:rPr lang="ko-KR" altLang="en-US"/>
              <a:t>문자열 검색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/>
          </a:p>
          <a:p>
            <a:pPr lvl="2"/>
            <a:r>
              <a:rPr lang="en-US" altLang="ko-KR"/>
              <a:t>$ </a:t>
            </a:r>
            <a:r>
              <a:rPr lang="en-US" altLang="ko-KR" dirty="0"/>
              <a:t>grep -</a:t>
            </a:r>
            <a:r>
              <a:rPr lang="en-US" altLang="ko-KR"/>
              <a:t>n main </a:t>
            </a:r>
            <a:r>
              <a:rPr lang="en-US" altLang="ko-KR" dirty="0"/>
              <a:t>*.c </a:t>
            </a:r>
            <a:r>
              <a:rPr lang="en-US" altLang="ko-KR"/>
              <a:t>– </a:t>
            </a:r>
            <a:r>
              <a:rPr lang="ko-KR" altLang="en-US"/>
              <a:t>현재 디렉터리에서 </a:t>
            </a:r>
            <a:r>
              <a:rPr lang="en-US" altLang="ko-KR"/>
              <a:t>.c</a:t>
            </a:r>
            <a:r>
              <a:rPr lang="ko-KR" altLang="en-US"/>
              <a:t>의 이름을 가진 모든 파일을 대상으로 </a:t>
            </a:r>
            <a:r>
              <a:rPr lang="en-US" altLang="ko-KR"/>
              <a:t>"main" </a:t>
            </a:r>
            <a:r>
              <a:rPr lang="ko-KR" altLang="en-US"/>
              <a:t>문자열 검색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5A0A40-2147-4086-BE31-265B5D43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70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74943B-6C09-4328-8B8E-5BCECEAA2EB7}"/>
              </a:ext>
            </a:extLst>
          </p:cNvPr>
          <p:cNvSpPr/>
          <p:nvPr/>
        </p:nvSpPr>
        <p:spPr>
          <a:xfrm>
            <a:off x="1619672" y="2996952"/>
            <a:ext cx="6598834" cy="144016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grep in </a:t>
            </a:r>
            <a:r>
              <a:rPr lang="en-US" altLang="ko-KR" sz="1400" b="1" dirty="0" err="1"/>
              <a:t>hello.c</a:t>
            </a:r>
            <a:endParaRPr lang="en-US" altLang="ko-KR" sz="1400" b="1" dirty="0"/>
          </a:p>
          <a:p>
            <a:r>
              <a:rPr lang="en-US" altLang="ko-KR" sz="1400" dirty="0"/>
              <a:t>#include &lt;</a:t>
            </a:r>
            <a:r>
              <a:rPr lang="en-US" altLang="ko-KR" sz="1400" dirty="0" err="1"/>
              <a:t>stdio.h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#include &lt;</a:t>
            </a:r>
            <a:r>
              <a:rPr lang="en-US" altLang="ko-KR" sz="1400" dirty="0" err="1"/>
              <a:t>unistd.h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int main( ){</a:t>
            </a:r>
          </a:p>
          <a:p>
            <a:r>
              <a:rPr lang="en-US" altLang="ko-KR" sz="1400" dirty="0"/>
              <a:t>	</a:t>
            </a:r>
            <a:r>
              <a:rPr lang="en-US" altLang="ko-KR" sz="1400" dirty="0" err="1"/>
              <a:t>printf</a:t>
            </a:r>
            <a:r>
              <a:rPr lang="en-US" altLang="ko-KR" sz="1400" dirty="0"/>
              <a:t>(“Hello\n”);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4D2663-774C-43EB-9031-542385F9CC59}"/>
              </a:ext>
            </a:extLst>
          </p:cNvPr>
          <p:cNvSpPr/>
          <p:nvPr/>
        </p:nvSpPr>
        <p:spPr>
          <a:xfrm>
            <a:off x="1594621" y="5504629"/>
            <a:ext cx="6598834" cy="107721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grep -n main *.c</a:t>
            </a:r>
          </a:p>
          <a:p>
            <a:r>
              <a:rPr lang="en-US" altLang="ko-KR" sz="1400" dirty="0"/>
              <a:t>hello2.c:4:int main( ){</a:t>
            </a:r>
          </a:p>
          <a:p>
            <a:r>
              <a:rPr lang="en-US" altLang="ko-KR" sz="1400" dirty="0"/>
              <a:t>hello.c:4:int main( ){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</a:p>
        </p:txBody>
      </p:sp>
    </p:spTree>
    <p:extLst>
      <p:ext uri="{BB962C8B-B14F-4D97-AF65-F5344CB8AC3E}">
        <p14:creationId xmlns:p14="http://schemas.microsoft.com/office/powerpoint/2010/main" val="5663969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5BC16A-05E0-444F-AC57-1913F4E0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파이프</a:t>
            </a:r>
            <a:r>
              <a:rPr lang="en-US" altLang="ko-KR" dirty="0"/>
              <a:t>, |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D572A-9795-466D-897A-2766DAFDE50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파이프란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한 프로그램의 출력 내용을 다른 </a:t>
            </a:r>
            <a:r>
              <a:rPr lang="ko-KR" altLang="en-US" dirty="0"/>
              <a:t>프로그램의 입력으로 연결</a:t>
            </a:r>
            <a:endParaRPr lang="en-US" altLang="ko-KR" dirty="0"/>
          </a:p>
          <a:p>
            <a:pPr lvl="1"/>
            <a:r>
              <a:rPr lang="en-US" altLang="ko-KR"/>
              <a:t>‘|’ </a:t>
            </a:r>
            <a:r>
              <a:rPr lang="ko-KR" altLang="en-US"/>
              <a:t>기호 사용</a:t>
            </a:r>
            <a:endParaRPr lang="en-US" altLang="ko-KR"/>
          </a:p>
          <a:p>
            <a:pPr lvl="1"/>
            <a:r>
              <a:rPr lang="ko-KR" altLang="en-US"/>
              <a:t>사용 사례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C76285-B4FF-42AD-B576-E004A736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2A6B93-0415-48B5-90F9-FB411977723F}"/>
              </a:ext>
            </a:extLst>
          </p:cNvPr>
          <p:cNvSpPr/>
          <p:nvPr/>
        </p:nvSpPr>
        <p:spPr>
          <a:xfrm>
            <a:off x="1403648" y="3068960"/>
            <a:ext cx="6916317" cy="86177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cat /</a:t>
            </a:r>
            <a:r>
              <a:rPr lang="en-US" altLang="ko-KR" sz="1400" b="1" dirty="0" err="1"/>
              <a:t>etc</a:t>
            </a:r>
            <a:r>
              <a:rPr lang="en-US" altLang="ko-KR" sz="1400" b="1" dirty="0"/>
              <a:t>/passwd ┃ grep pi</a:t>
            </a:r>
          </a:p>
          <a:p>
            <a:r>
              <a:rPr lang="en-US" altLang="ko-KR" sz="1400" dirty="0"/>
              <a:t>pi:x:1000:1000:,,,:/home/pi:/bin/bash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22D7D1-53EB-45E3-9167-D3322C9A2A23}"/>
              </a:ext>
            </a:extLst>
          </p:cNvPr>
          <p:cNvSpPr/>
          <p:nvPr/>
        </p:nvSpPr>
        <p:spPr>
          <a:xfrm>
            <a:off x="1389567" y="4218344"/>
            <a:ext cx="6916317" cy="122688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</a:t>
            </a:r>
            <a:r>
              <a:rPr lang="en-US" altLang="ko-KR" sz="1400" b="1" dirty="0" err="1"/>
              <a:t>ps</a:t>
            </a:r>
            <a:r>
              <a:rPr lang="en-US" altLang="ko-KR" sz="1400" b="1" dirty="0"/>
              <a:t> -</a:t>
            </a:r>
            <a:r>
              <a:rPr lang="en-US" altLang="ko-KR" sz="1400" b="1" dirty="0" err="1"/>
              <a:t>ef</a:t>
            </a:r>
            <a:r>
              <a:rPr lang="en-US" altLang="ko-KR" sz="1400" b="1" dirty="0"/>
              <a:t> | grep bash</a:t>
            </a:r>
          </a:p>
          <a:p>
            <a:r>
              <a:rPr lang="en-US" altLang="ko-KR" sz="1400" dirty="0"/>
              <a:t>pi   795  598 0 02:26 tty1   00:00:00 -bash</a:t>
            </a:r>
          </a:p>
          <a:p>
            <a:r>
              <a:rPr lang="en-US" altLang="ko-KR" sz="1400" dirty="0"/>
              <a:t>pi 1349 1348 0 02:29 pts/0 00:00:00 -bash</a:t>
            </a:r>
          </a:p>
          <a:p>
            <a:r>
              <a:rPr lang="en-US" altLang="ko-KR" sz="1400" dirty="0"/>
              <a:t>pi 2044 1349 0 08:01 pts/0 00:00:00 grep --color=auto bash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</a:t>
            </a:r>
          </a:p>
        </p:txBody>
      </p:sp>
    </p:spTree>
    <p:extLst>
      <p:ext uri="{BB962C8B-B14F-4D97-AF65-F5344CB8AC3E}">
        <p14:creationId xmlns:p14="http://schemas.microsoft.com/office/powerpoint/2010/main" val="8220337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04D0D-2FCA-437D-BDEC-47748707F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history </a:t>
            </a:r>
            <a:r>
              <a:rPr lang="ko-KR" altLang="en-US"/>
              <a:t>명령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25C56C-A402-44A6-B632-2F581AE1988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쉘은 사용자가 입력한 명령들에 번호를 붙여 보관</a:t>
            </a:r>
            <a:endParaRPr lang="en-US" altLang="ko-KR"/>
          </a:p>
          <a:p>
            <a:r>
              <a:rPr lang="en-US" altLang="ko-KR"/>
              <a:t>history </a:t>
            </a:r>
            <a:r>
              <a:rPr lang="ko-KR" altLang="en-US"/>
              <a:t>명령</a:t>
            </a:r>
            <a:endParaRPr lang="en-US" altLang="ko-KR" dirty="0"/>
          </a:p>
          <a:p>
            <a:pPr lvl="1"/>
            <a:r>
              <a:rPr lang="ko-KR" altLang="en-US"/>
              <a:t>지금까지 쉘에서 입력한 명령들을 시간 순으로</a:t>
            </a:r>
            <a:r>
              <a:rPr lang="en-US" altLang="ko-KR"/>
              <a:t>, </a:t>
            </a:r>
            <a:r>
              <a:rPr lang="ko-KR" altLang="en-US"/>
              <a:t>번호를 붙여 출력</a:t>
            </a:r>
            <a:endParaRPr lang="en-US" altLang="ko-KR"/>
          </a:p>
          <a:p>
            <a:pPr lvl="2"/>
            <a:r>
              <a:rPr lang="ko-KR" altLang="en-US"/>
              <a:t>히스토리 번호는 해당 명령을 소환할 때 활용됨</a:t>
            </a:r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B9B9DC-6BE4-4B43-889A-0EBBFDA5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FFB5D4-C3FD-45DE-A79F-9BEB16CF1F70}"/>
              </a:ext>
            </a:extLst>
          </p:cNvPr>
          <p:cNvSpPr/>
          <p:nvPr/>
        </p:nvSpPr>
        <p:spPr>
          <a:xfrm>
            <a:off x="1232964" y="3420176"/>
            <a:ext cx="6912768" cy="209705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history</a:t>
            </a:r>
          </a:p>
          <a:p>
            <a:r>
              <a:rPr lang="en-US" altLang="ko-KR" sz="1600" dirty="0"/>
              <a:t>... </a:t>
            </a:r>
            <a:r>
              <a:rPr lang="ko-KR" altLang="en-US" sz="1600" dirty="0"/>
              <a:t>앞부분 생략</a:t>
            </a:r>
          </a:p>
          <a:p>
            <a:r>
              <a:rPr lang="en-US" altLang="ko-KR" sz="1600" dirty="0"/>
              <a:t>1326 grep in </a:t>
            </a:r>
            <a:r>
              <a:rPr lang="en-US" altLang="ko-KR" sz="1600" dirty="0" err="1"/>
              <a:t>hello.c</a:t>
            </a:r>
            <a:endParaRPr lang="en-US" altLang="ko-KR" sz="1600" dirty="0"/>
          </a:p>
          <a:p>
            <a:r>
              <a:rPr lang="en-US" altLang="ko-KR" sz="1600" dirty="0"/>
              <a:t>1327 grep -n main *.c</a:t>
            </a:r>
          </a:p>
          <a:p>
            <a:r>
              <a:rPr lang="en-US" altLang="ko-KR" sz="1600" dirty="0"/>
              <a:t>1328 cat /</a:t>
            </a:r>
            <a:r>
              <a:rPr lang="en-US" altLang="ko-KR" sz="1600" dirty="0" err="1"/>
              <a:t>etc</a:t>
            </a:r>
            <a:r>
              <a:rPr lang="en-US" altLang="ko-KR" sz="1600" dirty="0"/>
              <a:t>/passwd ┃ grep pi</a:t>
            </a:r>
          </a:p>
          <a:p>
            <a:r>
              <a:rPr lang="en-US" altLang="ko-KR" sz="1600" dirty="0"/>
              <a:t>1329 </a:t>
            </a:r>
            <a:r>
              <a:rPr lang="en-US" altLang="ko-KR" sz="1600" dirty="0" err="1"/>
              <a:t>ps</a:t>
            </a:r>
            <a:r>
              <a:rPr lang="en-US" altLang="ko-KR" sz="1600" dirty="0"/>
              <a:t> -</a:t>
            </a:r>
            <a:r>
              <a:rPr lang="en-US" altLang="ko-KR" sz="1600" dirty="0" err="1"/>
              <a:t>ef</a:t>
            </a:r>
            <a:r>
              <a:rPr lang="en-US" altLang="ko-KR" sz="1600" dirty="0"/>
              <a:t> ┃ grep bash</a:t>
            </a:r>
          </a:p>
          <a:p>
            <a:r>
              <a:rPr lang="en-US" altLang="ko-KR" sz="1600" dirty="0"/>
              <a:t>1330 history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</a:t>
            </a:r>
          </a:p>
        </p:txBody>
      </p:sp>
    </p:spTree>
    <p:extLst>
      <p:ext uri="{BB962C8B-B14F-4D97-AF65-F5344CB8AC3E}">
        <p14:creationId xmlns:p14="http://schemas.microsoft.com/office/powerpoint/2010/main" val="177586719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75EC1-4A7F-451B-97CD-6C755F972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히스토리 관련 명령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530A62-673B-4014-9257-71D6CAB57A3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! </a:t>
            </a:r>
            <a:r>
              <a:rPr lang="ko-KR" altLang="en-US"/>
              <a:t>기호 </a:t>
            </a:r>
            <a:r>
              <a:rPr lang="ko-KR" altLang="en-US" dirty="0"/>
              <a:t>활용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59459A-3B34-4816-AF7B-744301C1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85D975-D3B5-470F-82BC-86283E0CD5DB}"/>
              </a:ext>
            </a:extLst>
          </p:cNvPr>
          <p:cNvSpPr/>
          <p:nvPr/>
        </p:nvSpPr>
        <p:spPr>
          <a:xfrm>
            <a:off x="1027295" y="3105083"/>
            <a:ext cx="7104432" cy="306022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200" b="1" dirty="0" err="1"/>
              <a:t>pi@pi</a:t>
            </a:r>
            <a:r>
              <a:rPr lang="en-US" altLang="ko-KR" sz="1200" b="1" dirty="0"/>
              <a:t>:~/ch03 $ !1329</a:t>
            </a:r>
          </a:p>
          <a:p>
            <a:r>
              <a:rPr lang="en-US" altLang="ko-KR" sz="1200" dirty="0" err="1"/>
              <a:t>ps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ef</a:t>
            </a:r>
            <a:r>
              <a:rPr lang="en-US" altLang="ko-KR" sz="1200" dirty="0"/>
              <a:t> | grep bash</a:t>
            </a:r>
          </a:p>
          <a:p>
            <a:r>
              <a:rPr lang="en-US" altLang="ko-KR" sz="1200" dirty="0"/>
              <a:t>pi 665 557 0 16:04 tty1 00:00:00 -bash</a:t>
            </a:r>
          </a:p>
          <a:p>
            <a:r>
              <a:rPr lang="en-US" altLang="ko-KR" sz="1200" dirty="0"/>
              <a:t>pi 1327 1326 0 16:27 pts/0 00:00:00 -bash</a:t>
            </a:r>
          </a:p>
          <a:p>
            <a:r>
              <a:rPr lang="en-US" altLang="ko-KR" sz="1200" dirty="0"/>
              <a:t>pi 1433 1327 0 16:52 pts/0 00:00:00 grep --color=auto bash</a:t>
            </a:r>
          </a:p>
          <a:p>
            <a:r>
              <a:rPr lang="en-US" altLang="ko-KR" sz="1200" b="1" dirty="0" err="1"/>
              <a:t>pi@pi</a:t>
            </a:r>
            <a:r>
              <a:rPr lang="en-US" altLang="ko-KR" sz="1200" b="1" dirty="0"/>
              <a:t>:~/ch03 $ !p</a:t>
            </a:r>
          </a:p>
          <a:p>
            <a:r>
              <a:rPr lang="en-US" altLang="ko-KR" sz="1200" dirty="0" err="1"/>
              <a:t>ps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ef</a:t>
            </a:r>
            <a:r>
              <a:rPr lang="en-US" altLang="ko-KR" sz="1200" dirty="0"/>
              <a:t> | grep bash</a:t>
            </a:r>
          </a:p>
          <a:p>
            <a:r>
              <a:rPr lang="en-US" altLang="ko-KR" sz="1200" dirty="0"/>
              <a:t>pi 665 557 0 16:04 tty1 00:00:00 -bash</a:t>
            </a:r>
          </a:p>
          <a:p>
            <a:r>
              <a:rPr lang="en-US" altLang="ko-KR" sz="1200" dirty="0"/>
              <a:t>pi 1327 1326 0 16:27 pts/0 00:00:00 -bash</a:t>
            </a:r>
          </a:p>
          <a:p>
            <a:r>
              <a:rPr lang="en-US" altLang="ko-KR" sz="1200" dirty="0"/>
              <a:t>pi 1436 1327 0 16:53 pts/0 00:00:00 grep --color=auto bash</a:t>
            </a:r>
          </a:p>
          <a:p>
            <a:r>
              <a:rPr lang="en-US" altLang="ko-KR" sz="1200" b="1" dirty="0" err="1"/>
              <a:t>pi@pi</a:t>
            </a:r>
            <a:r>
              <a:rPr lang="en-US" altLang="ko-KR" sz="1200" b="1" dirty="0"/>
              <a:t>:~/ch03 $ !!</a:t>
            </a:r>
          </a:p>
          <a:p>
            <a:r>
              <a:rPr lang="en-US" altLang="ko-KR" sz="1200" dirty="0" err="1"/>
              <a:t>ps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ef</a:t>
            </a:r>
            <a:r>
              <a:rPr lang="en-US" altLang="ko-KR" sz="1200" dirty="0"/>
              <a:t> | grep bash</a:t>
            </a:r>
          </a:p>
          <a:p>
            <a:r>
              <a:rPr lang="en-US" altLang="ko-KR" sz="1200" dirty="0"/>
              <a:t>pi 665 557 0 16:04 tty1 00:00:00 -bash</a:t>
            </a:r>
          </a:p>
          <a:p>
            <a:r>
              <a:rPr lang="en-US" altLang="ko-KR" sz="1200" dirty="0"/>
              <a:t>pi 1327 1326 0 16:27 pts/0 00:00:00 -bash</a:t>
            </a:r>
          </a:p>
          <a:p>
            <a:r>
              <a:rPr lang="en-US" altLang="ko-KR" sz="1200" dirty="0"/>
              <a:t>pi 1438 1327 0 16:53 pts/0 00:00:00 grep --color=auto bash</a:t>
            </a:r>
          </a:p>
          <a:p>
            <a:r>
              <a:rPr lang="en-US" altLang="ko-KR" sz="1200" b="1" dirty="0" err="1"/>
              <a:t>pi@pi</a:t>
            </a:r>
            <a:r>
              <a:rPr lang="en-US" altLang="ko-KR" sz="1200" b="1" dirty="0"/>
              <a:t>:~/ch03 $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0345E0-8F01-4FD4-9888-0164E2660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72" y="1772816"/>
            <a:ext cx="7119455" cy="120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930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81A9B-5E56-45F6-BC27-61B22C997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디렉터리 구조 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B723A7-778D-44F9-B93E-DCB2D26DFF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tree</a:t>
            </a:r>
          </a:p>
          <a:p>
            <a:pPr lvl="1"/>
            <a:r>
              <a:rPr lang="ko-KR" altLang="en-US" dirty="0"/>
              <a:t>디렉터리와 그 하위 모든 </a:t>
            </a:r>
            <a:r>
              <a:rPr lang="ko-KR" altLang="en-US" dirty="0" err="1"/>
              <a:t>서브디렉터리에</a:t>
            </a:r>
            <a:r>
              <a:rPr lang="ko-KR" altLang="en-US" dirty="0"/>
              <a:t> 만들어진 파일들을 트리 모양으로 출력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EEC5EE-2E3C-44C9-AF41-41ABAC6F0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553655-59D4-4FAC-8B24-F440B4292DFE}"/>
              </a:ext>
            </a:extLst>
          </p:cNvPr>
          <p:cNvSpPr/>
          <p:nvPr/>
        </p:nvSpPr>
        <p:spPr>
          <a:xfrm>
            <a:off x="1297904" y="2636912"/>
            <a:ext cx="6874496" cy="304698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tree</a:t>
            </a:r>
          </a:p>
          <a:p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├── </a:t>
            </a:r>
            <a:r>
              <a:rPr lang="en-US" altLang="ko-KR" sz="1600" dirty="0" err="1"/>
              <a:t>a.out</a:t>
            </a:r>
            <a:endParaRPr lang="en-US" altLang="ko-KR" sz="1600" dirty="0"/>
          </a:p>
          <a:p>
            <a:r>
              <a:rPr lang="en-US" altLang="ko-KR" sz="1600" dirty="0"/>
              <a:t>├── </a:t>
            </a:r>
            <a:r>
              <a:rPr lang="en-US" altLang="ko-KR" sz="1600" dirty="0" err="1"/>
              <a:t>hello.c</a:t>
            </a:r>
            <a:endParaRPr lang="en-US" altLang="ko-KR" sz="1600" dirty="0"/>
          </a:p>
          <a:p>
            <a:r>
              <a:rPr lang="en-US" altLang="ko-KR" sz="1600" dirty="0"/>
              <a:t>├── hello2.c</a:t>
            </a:r>
          </a:p>
          <a:p>
            <a:r>
              <a:rPr lang="en-US" altLang="ko-KR" sz="1600" dirty="0"/>
              <a:t>└── test</a:t>
            </a:r>
          </a:p>
          <a:p>
            <a:r>
              <a:rPr lang="en-US" altLang="ko-KR" sz="1600" dirty="0"/>
              <a:t>    ├── </a:t>
            </a:r>
            <a:r>
              <a:rPr lang="en-US" altLang="ko-KR" sz="1600" dirty="0" err="1"/>
              <a:t>a.out</a:t>
            </a:r>
            <a:endParaRPr lang="en-US" altLang="ko-KR" sz="1600" dirty="0"/>
          </a:p>
          <a:p>
            <a:r>
              <a:rPr lang="en-US" altLang="ko-KR" sz="1600" dirty="0"/>
              <a:t>    ├── </a:t>
            </a:r>
            <a:r>
              <a:rPr lang="en-US" altLang="ko-KR" sz="1600" dirty="0" err="1"/>
              <a:t>hello.c</a:t>
            </a:r>
            <a:endParaRPr lang="en-US" altLang="ko-KR" sz="1600" dirty="0"/>
          </a:p>
          <a:p>
            <a:r>
              <a:rPr lang="en-US" altLang="ko-KR" sz="1600" dirty="0"/>
              <a:t>    └── hello2.c</a:t>
            </a:r>
          </a:p>
          <a:p>
            <a:endParaRPr lang="en-US" altLang="ko-KR" sz="1600" dirty="0"/>
          </a:p>
          <a:p>
            <a:r>
              <a:rPr lang="en-US" altLang="ko-KR" sz="1600" dirty="0"/>
              <a:t>1 directory, 6 files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</a:t>
            </a:r>
          </a:p>
        </p:txBody>
      </p:sp>
    </p:spTree>
    <p:extLst>
      <p:ext uri="{BB962C8B-B14F-4D97-AF65-F5344CB8AC3E}">
        <p14:creationId xmlns:p14="http://schemas.microsoft.com/office/powerpoint/2010/main" val="35315062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72958-F807-403B-A0FB-38A2C3F2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소프트웨어 관리</a:t>
            </a:r>
            <a:r>
              <a:rPr lang="en-US" altLang="ko-KR" dirty="0"/>
              <a:t>, apt-get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16F80F-F9DC-4AED-A88B-F830CEC4B09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apt-get</a:t>
            </a:r>
          </a:p>
          <a:p>
            <a:pPr lvl="1"/>
            <a:r>
              <a:rPr lang="ko-KR" altLang="en-US"/>
              <a:t>리눅스에서 </a:t>
            </a:r>
            <a:r>
              <a:rPr lang="ko-KR" altLang="en-US" dirty="0"/>
              <a:t>패키지를 설치</a:t>
            </a:r>
            <a:r>
              <a:rPr lang="en-US" altLang="ko-KR" dirty="0"/>
              <a:t>, </a:t>
            </a:r>
            <a:r>
              <a:rPr lang="ko-KR" altLang="en-US" dirty="0"/>
              <a:t>제거 및 업데이트할 수 있는 명령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1D42A9-82F0-4F06-87A9-0641BB63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1E25CC-DAE3-4855-88E7-ED1385BF4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348880"/>
            <a:ext cx="7552247" cy="191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051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574B70-742D-4B2F-A1F0-C6176CF88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045176B-9E5C-4834-9587-3FEDC81FE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 변수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02D8CF-D628-4199-B486-28C7861B3D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5083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09C76-17B7-4626-B8A2-75F3B0CC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5A4811-8D20-4926-9E9D-A3AAA13935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환경 변수란</a:t>
            </a:r>
            <a:endParaRPr lang="en-US" altLang="ko-KR"/>
          </a:p>
          <a:p>
            <a:pPr lvl="1"/>
            <a:r>
              <a:rPr lang="ko-KR" altLang="en-US"/>
              <a:t>컴퓨터의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로그인한 사용자의 이름</a:t>
            </a:r>
            <a:r>
              <a:rPr lang="en-US" altLang="ko-KR" dirty="0"/>
              <a:t>, </a:t>
            </a:r>
            <a:r>
              <a:rPr lang="ko-KR" altLang="en-US" dirty="0"/>
              <a:t>실행 가능한 파일을 검색한 경로명</a:t>
            </a:r>
            <a:r>
              <a:rPr lang="en-US" altLang="ko-KR" dirty="0"/>
              <a:t>, </a:t>
            </a:r>
            <a:r>
              <a:rPr lang="ko-KR" altLang="en-US" dirty="0"/>
              <a:t>사용자의 홈 디렉터리 등 다양한 정보를 저장하는 변수</a:t>
            </a:r>
            <a:endParaRPr lang="en-US" altLang="ko-KR" dirty="0"/>
          </a:p>
          <a:p>
            <a:pPr lvl="1"/>
            <a:r>
              <a:rPr lang="ko-KR" altLang="en-US"/>
              <a:t>현재 프로세스의 환경변수는 자식 </a:t>
            </a:r>
            <a:r>
              <a:rPr lang="ko-KR" altLang="en-US" dirty="0"/>
              <a:t>프로세스에게 </a:t>
            </a:r>
            <a:r>
              <a:rPr lang="ko-KR" altLang="en-US"/>
              <a:t>복사되어 전달</a:t>
            </a:r>
            <a:endParaRPr lang="en-US" altLang="ko-KR"/>
          </a:p>
          <a:p>
            <a:pPr lvl="1"/>
            <a:r>
              <a:rPr lang="ko-KR" altLang="en-US"/>
              <a:t>부모 프로세스가 자식 프로세스에게 정보를 전달하기 위해 사용</a:t>
            </a:r>
            <a:endParaRPr lang="ko-KR" altLang="en-US" dirty="0"/>
          </a:p>
          <a:p>
            <a:endParaRPr lang="en-US" altLang="ko-KR"/>
          </a:p>
          <a:p>
            <a:r>
              <a:rPr lang="ko-KR" altLang="en-US"/>
              <a:t>환경 변수 저장</a:t>
            </a:r>
            <a:endParaRPr lang="en-US" altLang="ko-KR"/>
          </a:p>
          <a:p>
            <a:pPr lvl="1"/>
            <a:r>
              <a:rPr lang="ko-KR" altLang="en-US"/>
              <a:t>“</a:t>
            </a:r>
            <a:r>
              <a:rPr lang="ko-KR" altLang="en-US" dirty="0"/>
              <a:t>환경변수이름</a:t>
            </a:r>
            <a:r>
              <a:rPr lang="en-US" altLang="ko-KR" dirty="0"/>
              <a:t>=</a:t>
            </a:r>
            <a:r>
              <a:rPr lang="ko-KR" altLang="en-US" dirty="0" err="1"/>
              <a:t>값”의</a:t>
            </a:r>
            <a:r>
              <a:rPr lang="ko-KR" altLang="en-US" dirty="0"/>
              <a:t> 형태로 저장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95E07A-75D6-46B9-BDE7-B37AF7B9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30907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F2F4EF-DAAD-46E6-BEDE-0620348A4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환경변수 보기 </a:t>
            </a:r>
            <a:r>
              <a:rPr lang="en-US" altLang="ko-KR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C9564A-4221-4973-B857-CC015315212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bash </a:t>
            </a:r>
            <a:r>
              <a:rPr lang="ko-KR" altLang="en-US" dirty="0"/>
              <a:t>쉘에서 환경변수 </a:t>
            </a:r>
            <a:r>
              <a:rPr lang="ko-KR" altLang="en-US"/>
              <a:t>보는 여러 방법</a:t>
            </a:r>
            <a:endParaRPr lang="en-US" altLang="ko-KR" dirty="0"/>
          </a:p>
          <a:p>
            <a:pPr lvl="1" fontAlgn="base"/>
            <a:r>
              <a:rPr lang="en-US" altLang="ko-KR" dirty="0"/>
              <a:t>$ </a:t>
            </a:r>
            <a:r>
              <a:rPr lang="en-US" altLang="ko-KR" dirty="0" err="1"/>
              <a:t>printenv</a:t>
            </a:r>
            <a:r>
              <a:rPr lang="en-US" altLang="ko-KR" dirty="0"/>
              <a:t> – </a:t>
            </a:r>
            <a:r>
              <a:rPr lang="ko-KR" altLang="en-US" dirty="0"/>
              <a:t>전체 환경변수 출력</a:t>
            </a:r>
          </a:p>
          <a:p>
            <a:pPr lvl="1" fontAlgn="base"/>
            <a:r>
              <a:rPr lang="en-US" altLang="ko-KR" dirty="0"/>
              <a:t>$ </a:t>
            </a:r>
            <a:r>
              <a:rPr lang="en-US" altLang="ko-KR" dirty="0" err="1"/>
              <a:t>printenv</a:t>
            </a:r>
            <a:r>
              <a:rPr lang="en-US" altLang="ko-KR" dirty="0"/>
              <a:t> HOME – </a:t>
            </a:r>
            <a:r>
              <a:rPr lang="ko-KR" altLang="en-US" dirty="0"/>
              <a:t>환경변수 </a:t>
            </a:r>
            <a:r>
              <a:rPr lang="en-US" altLang="ko-KR" dirty="0"/>
              <a:t>HOME</a:t>
            </a:r>
            <a:r>
              <a:rPr lang="ko-KR" altLang="en-US" dirty="0"/>
              <a:t>의 값 출력</a:t>
            </a:r>
          </a:p>
          <a:p>
            <a:pPr lvl="1" fontAlgn="base"/>
            <a:r>
              <a:rPr lang="en-US" altLang="ko-KR" dirty="0"/>
              <a:t>$ echo $HOME – </a:t>
            </a:r>
            <a:r>
              <a:rPr lang="ko-KR" altLang="en-US" dirty="0"/>
              <a:t>환경변수 </a:t>
            </a:r>
            <a:r>
              <a:rPr lang="en-US" altLang="ko-KR" dirty="0"/>
              <a:t>HOME</a:t>
            </a:r>
            <a:r>
              <a:rPr lang="ko-KR" altLang="en-US" dirty="0"/>
              <a:t>의 값 출력 </a:t>
            </a:r>
          </a:p>
          <a:p>
            <a:pPr lvl="1" fontAlgn="base"/>
            <a:r>
              <a:rPr lang="en-US" altLang="ko-KR" dirty="0"/>
              <a:t>$ env – </a:t>
            </a:r>
            <a:r>
              <a:rPr lang="ko-KR" altLang="en-US" dirty="0"/>
              <a:t>전체 환경변수 출력</a:t>
            </a:r>
            <a:endParaRPr lang="en-US" altLang="ko-KR" dirty="0"/>
          </a:p>
          <a:p>
            <a:pPr fontAlgn="base"/>
            <a:r>
              <a:rPr lang="ko-KR" altLang="en-US" dirty="0"/>
              <a:t>전체 환경변수 출력</a:t>
            </a:r>
            <a:endParaRPr lang="en-US" altLang="ko-KR" dirty="0"/>
          </a:p>
          <a:p>
            <a:pPr fontAlgn="base"/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AFCA3B-54B3-4203-8C6B-B7BF5648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48DDC0-2D07-4C5A-A876-C219D84247B5}"/>
              </a:ext>
            </a:extLst>
          </p:cNvPr>
          <p:cNvSpPr/>
          <p:nvPr/>
        </p:nvSpPr>
        <p:spPr>
          <a:xfrm>
            <a:off x="1043608" y="3869061"/>
            <a:ext cx="6535144" cy="230832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</a:t>
            </a:r>
            <a:r>
              <a:rPr lang="en-US" altLang="ko-KR" sz="1600" b="1" dirty="0" err="1"/>
              <a:t>printenv</a:t>
            </a:r>
            <a:endParaRPr lang="en-US" altLang="ko-KR" sz="1600" b="1" dirty="0"/>
          </a:p>
          <a:p>
            <a:r>
              <a:rPr lang="en-US" altLang="ko-KR" sz="1600" dirty="0"/>
              <a:t>SHELL=/bin/bash</a:t>
            </a:r>
          </a:p>
          <a:p>
            <a:r>
              <a:rPr lang="en-US" altLang="ko-KR" sz="1600" dirty="0"/>
              <a:t>NO_AT_BRIDGE=1</a:t>
            </a:r>
          </a:p>
          <a:p>
            <a:r>
              <a:rPr lang="en-US" altLang="ko-KR" sz="1600" dirty="0"/>
              <a:t>PWD=/home/pi/ch03</a:t>
            </a:r>
          </a:p>
          <a:p>
            <a:r>
              <a:rPr lang="en-US" altLang="ko-KR" sz="1600" dirty="0"/>
              <a:t>LOGNAME=pi</a:t>
            </a:r>
          </a:p>
          <a:p>
            <a:r>
              <a:rPr lang="en-US" altLang="ko-KR" sz="1600" dirty="0"/>
              <a:t>…</a:t>
            </a:r>
          </a:p>
          <a:p>
            <a:r>
              <a:rPr lang="en-US" altLang="ko-KR" sz="1600" dirty="0"/>
              <a:t>TEXTDOMAIN=Linux-PAM</a:t>
            </a:r>
          </a:p>
          <a:p>
            <a:r>
              <a:rPr lang="en-US" altLang="ko-KR" sz="1600" dirty="0"/>
              <a:t>_=/</a:t>
            </a:r>
            <a:r>
              <a:rPr lang="en-US" altLang="ko-KR" sz="1600" dirty="0" err="1"/>
              <a:t>usr</a:t>
            </a:r>
            <a:r>
              <a:rPr lang="en-US" altLang="ko-KR" sz="1600" dirty="0"/>
              <a:t>/bin/</a:t>
            </a:r>
            <a:r>
              <a:rPr lang="en-US" altLang="ko-KR" sz="1600" dirty="0" err="1"/>
              <a:t>printenv</a:t>
            </a:r>
            <a:endParaRPr lang="en-US" altLang="ko-KR" sz="1600" dirty="0"/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</a:t>
            </a:r>
          </a:p>
        </p:txBody>
      </p:sp>
    </p:spTree>
    <p:extLst>
      <p:ext uri="{BB962C8B-B14F-4D97-AF65-F5344CB8AC3E}">
        <p14:creationId xmlns:p14="http://schemas.microsoft.com/office/powerpoint/2010/main" val="259950770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EE71C-B789-48A9-A1A3-56C60CBAE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개별 환경변수 값 보기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2844D3-BE46-4E1A-A426-CE5CA2753F8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ko-KR" altLang="en-US"/>
              <a:t>환경변수 이름으로 값을 볼 수 있음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0C62D1-0736-4552-9DCC-595A9FE4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79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30E93B-2A4F-4294-864D-618AFA62E8E5}"/>
              </a:ext>
            </a:extLst>
          </p:cNvPr>
          <p:cNvSpPr/>
          <p:nvPr/>
        </p:nvSpPr>
        <p:spPr>
          <a:xfrm>
            <a:off x="1331640" y="1844824"/>
            <a:ext cx="6912768" cy="92333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</a:t>
            </a:r>
            <a:r>
              <a:rPr lang="en-US" altLang="ko-KR" sz="1600" b="1" dirty="0" err="1"/>
              <a:t>printenv</a:t>
            </a:r>
            <a:r>
              <a:rPr lang="en-US" altLang="ko-KR" sz="1600" b="1" dirty="0"/>
              <a:t> HOME</a:t>
            </a:r>
          </a:p>
          <a:p>
            <a:r>
              <a:rPr lang="en-US" altLang="ko-KR" sz="1600" dirty="0"/>
              <a:t>/home/pi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</a:t>
            </a:r>
          </a:p>
        </p:txBody>
      </p:sp>
    </p:spTree>
    <p:extLst>
      <p:ext uri="{BB962C8B-B14F-4D97-AF65-F5344CB8AC3E}">
        <p14:creationId xmlns:p14="http://schemas.microsoft.com/office/powerpoint/2010/main" val="219002440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EF3F7-6A74-4FA8-A653-99D224FB1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PATH</a:t>
            </a:r>
            <a:r>
              <a:rPr lang="ko-KR" altLang="en-US" dirty="0"/>
              <a:t> 환경변수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D80139-53CE-4238-9253-2D64E17904E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PATH</a:t>
            </a:r>
            <a:r>
              <a:rPr lang="ko-KR" altLang="en-US" dirty="0"/>
              <a:t> 환경변수</a:t>
            </a:r>
            <a:endParaRPr lang="en-US" altLang="ko-KR" dirty="0"/>
          </a:p>
          <a:p>
            <a:pPr lvl="1"/>
            <a:r>
              <a:rPr lang="ko-KR" altLang="en-US" dirty="0"/>
              <a:t>환경 변수 중에 가장 </a:t>
            </a:r>
            <a:r>
              <a:rPr lang="ko-KR" altLang="en-US"/>
              <a:t>많이 사용</a:t>
            </a:r>
            <a:r>
              <a:rPr lang="en-US" altLang="ko-KR"/>
              <a:t>, </a:t>
            </a:r>
            <a:r>
              <a:rPr lang="ko-KR" altLang="en-US"/>
              <a:t>중요한 환경 변수</a:t>
            </a:r>
            <a:endParaRPr lang="ko-KR" altLang="en-US" dirty="0"/>
          </a:p>
          <a:p>
            <a:pPr lvl="1"/>
            <a:r>
              <a:rPr lang="ko-KR" altLang="en-US"/>
              <a:t>실행가능한 프로그램들이 </a:t>
            </a:r>
            <a:r>
              <a:rPr lang="ko-KR" altLang="en-US" dirty="0"/>
              <a:t>있는 디렉터리</a:t>
            </a:r>
            <a:r>
              <a:rPr lang="en-US" altLang="ko-KR" dirty="0"/>
              <a:t>(</a:t>
            </a:r>
            <a:r>
              <a:rPr lang="en-US" altLang="ko-KR"/>
              <a:t>path)</a:t>
            </a:r>
            <a:r>
              <a:rPr lang="ko-KR" altLang="en-US"/>
              <a:t>들을 값으로 가짐</a:t>
            </a:r>
            <a:endParaRPr lang="en-US" altLang="ko-KR"/>
          </a:p>
          <a:p>
            <a:pPr lvl="2"/>
            <a:r>
              <a:rPr lang="ko-KR" altLang="en-US"/>
              <a:t>각 </a:t>
            </a:r>
            <a:r>
              <a:rPr lang="ko-KR" altLang="en-US" dirty="0"/>
              <a:t>디렉터리는 </a:t>
            </a:r>
            <a:r>
              <a:rPr lang="en-US" altLang="ko-KR" dirty="0"/>
              <a:t>‘:’</a:t>
            </a:r>
            <a:r>
              <a:rPr lang="ko-KR" altLang="en-US" dirty="0"/>
              <a:t>으로 </a:t>
            </a:r>
            <a:r>
              <a:rPr lang="ko-KR" altLang="en-US"/>
              <a:t>분리되어 있음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r>
              <a:rPr lang="ko-KR" altLang="en-US"/>
              <a:t>쉘은 사용자가 입력한 명령을 </a:t>
            </a:r>
            <a:r>
              <a:rPr lang="en-US" altLang="ko-KR"/>
              <a:t>PATH </a:t>
            </a:r>
            <a:r>
              <a:rPr lang="ko-KR" altLang="en-US"/>
              <a:t>환경 변수에 지정된 디렉터리에서만 찾아서 실행함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4E22FB-1A3B-46DC-9459-CEF9D2EB2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80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2F2431-B048-4D2D-82C2-A36A0F1C4BBC}"/>
              </a:ext>
            </a:extLst>
          </p:cNvPr>
          <p:cNvSpPr/>
          <p:nvPr/>
        </p:nvSpPr>
        <p:spPr>
          <a:xfrm>
            <a:off x="1475656" y="2996952"/>
            <a:ext cx="6696744" cy="115212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s-ES" altLang="ko-KR" sz="1400" b="1" dirty="0"/>
              <a:t>pi@pi:~/ch03 $ echo $PATH</a:t>
            </a:r>
          </a:p>
          <a:p>
            <a:r>
              <a:rPr lang="en-US" altLang="ko-KR" sz="1400" dirty="0"/>
              <a:t>/home/pi/.local/bin:/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/local/</a:t>
            </a:r>
            <a:r>
              <a:rPr lang="en-US" altLang="ko-KR" sz="1400" dirty="0" err="1"/>
              <a:t>sbin</a:t>
            </a:r>
            <a:r>
              <a:rPr lang="en-US" altLang="ko-KR" sz="1400" dirty="0"/>
              <a:t>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/local/bin:/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</a:t>
            </a:r>
            <a:r>
              <a:rPr lang="en-US" altLang="ko-KR" sz="1400" dirty="0" err="1"/>
              <a:t>sbin</a:t>
            </a:r>
            <a:r>
              <a:rPr lang="en-US" altLang="ko-KR" sz="1400" dirty="0"/>
              <a:t>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/bin:/</a:t>
            </a:r>
            <a:r>
              <a:rPr lang="en-US" altLang="ko-KR" sz="1400" dirty="0" err="1"/>
              <a:t>sbin</a:t>
            </a:r>
            <a:r>
              <a:rPr lang="en-US" altLang="ko-KR" sz="1400" dirty="0"/>
              <a:t>:/bin:/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/local/games:/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/games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  <a:endParaRPr lang="es-E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74693510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1D0E7-BA7C-42C6-8D0E-690B9DADF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쉘이 </a:t>
            </a:r>
            <a:r>
              <a:rPr lang="en-US" altLang="ko-KR"/>
              <a:t>ls </a:t>
            </a:r>
            <a:r>
              <a:rPr lang="ko-KR" altLang="en-US"/>
              <a:t>명령을 실행하는 과정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F16344-9368-4E77-BD5D-95EA413BD36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sz="2000" dirty="0"/>
              <a:t>쉘이 </a:t>
            </a:r>
            <a:r>
              <a:rPr lang="en-US" altLang="ko-KR" sz="2000" dirty="0"/>
              <a:t>ls </a:t>
            </a:r>
            <a:r>
              <a:rPr lang="ko-KR" altLang="en-US" sz="2000" dirty="0"/>
              <a:t>명령을 실행하는 과정</a:t>
            </a:r>
            <a:endParaRPr lang="en-US" altLang="ko-KR" sz="2000" dirty="0"/>
          </a:p>
          <a:p>
            <a:endParaRPr lang="en-US" altLang="ko-KR" sz="2000" dirty="0"/>
          </a:p>
          <a:p>
            <a:pPr lvl="1"/>
            <a:endParaRPr lang="en-US" altLang="ko-KR" sz="1800"/>
          </a:p>
          <a:p>
            <a:pPr lvl="1"/>
            <a:r>
              <a:rPr lang="ko-KR" altLang="en-US" sz="1800"/>
              <a:t>쉘은 </a:t>
            </a:r>
            <a:r>
              <a:rPr lang="en-US" altLang="ko-KR" sz="1800" dirty="0"/>
              <a:t>ls </a:t>
            </a:r>
            <a:r>
              <a:rPr lang="ko-KR" altLang="en-US" sz="1800"/>
              <a:t>프로그램을 실행시키기 </a:t>
            </a:r>
            <a:r>
              <a:rPr lang="ko-KR" altLang="en-US" sz="1800" dirty="0"/>
              <a:t>위해 </a:t>
            </a:r>
            <a:r>
              <a:rPr lang="en-US" altLang="ko-KR" sz="1800" dirty="0"/>
              <a:t>PATH </a:t>
            </a:r>
            <a:r>
              <a:rPr lang="ko-KR" altLang="en-US" sz="1800" dirty="0"/>
              <a:t>환경변수에 </a:t>
            </a:r>
            <a:r>
              <a:rPr lang="ko-KR" altLang="en-US" sz="1800"/>
              <a:t>저장된 경로명들을 순서대로 검색</a:t>
            </a:r>
            <a:endParaRPr lang="en-US" altLang="ko-KR" sz="1800" dirty="0"/>
          </a:p>
          <a:p>
            <a:pPr lvl="1"/>
            <a:r>
              <a:rPr lang="ko-KR" altLang="en-US" sz="1800"/>
              <a:t>처음에</a:t>
            </a:r>
            <a:r>
              <a:rPr lang="en-US" altLang="ko-KR" sz="1800"/>
              <a:t>, ‘/</a:t>
            </a:r>
            <a:r>
              <a:rPr lang="en-US" altLang="ko-KR" sz="1800" dirty="0"/>
              <a:t>home/pi/.local/bin’ </a:t>
            </a:r>
            <a:r>
              <a:rPr lang="ko-KR" altLang="en-US" sz="1800" dirty="0"/>
              <a:t>디렉터리에서 찾으나 없음</a:t>
            </a:r>
            <a:endParaRPr lang="en-US" altLang="ko-KR" sz="1800" dirty="0"/>
          </a:p>
          <a:p>
            <a:pPr lvl="1"/>
            <a:r>
              <a:rPr lang="ko-KR" altLang="en-US" sz="1800"/>
              <a:t>다음에</a:t>
            </a:r>
            <a:r>
              <a:rPr lang="en-US" altLang="ko-KR" sz="1800"/>
              <a:t>, ‘/</a:t>
            </a:r>
            <a:r>
              <a:rPr lang="en-US" altLang="ko-KR" sz="1800" dirty="0" err="1"/>
              <a:t>usr</a:t>
            </a:r>
            <a:r>
              <a:rPr lang="en-US" altLang="ko-KR" sz="1800" dirty="0"/>
              <a:t>/local/</a:t>
            </a:r>
            <a:r>
              <a:rPr lang="en-US" altLang="ko-KR" sz="1800" dirty="0" err="1"/>
              <a:t>sbin</a:t>
            </a:r>
            <a:r>
              <a:rPr lang="en-US" altLang="ko-KR" sz="1800" dirty="0"/>
              <a:t>’ </a:t>
            </a:r>
            <a:r>
              <a:rPr lang="ko-KR" altLang="en-US" sz="1800" dirty="0"/>
              <a:t>디렉터리에서 찾으나 없음</a:t>
            </a:r>
          </a:p>
          <a:p>
            <a:pPr lvl="1"/>
            <a:r>
              <a:rPr lang="ko-KR" altLang="en-US" sz="1800"/>
              <a:t>다음에</a:t>
            </a:r>
            <a:r>
              <a:rPr lang="en-US" altLang="ko-KR" sz="1800"/>
              <a:t>, </a:t>
            </a:r>
            <a:r>
              <a:rPr lang="ko-KR" altLang="en-US" sz="1800"/>
              <a:t>‘</a:t>
            </a:r>
            <a:r>
              <a:rPr lang="en-US" altLang="ko-KR" sz="1800" dirty="0"/>
              <a:t>/</a:t>
            </a:r>
            <a:r>
              <a:rPr lang="en-US" altLang="ko-KR" sz="1800" dirty="0" err="1"/>
              <a:t>usr</a:t>
            </a:r>
            <a:r>
              <a:rPr lang="en-US" altLang="ko-KR" sz="1800" dirty="0"/>
              <a:t>/local/bin’ </a:t>
            </a:r>
            <a:r>
              <a:rPr lang="ko-KR" altLang="en-US" sz="1800" dirty="0"/>
              <a:t>디렉터리에서 찾으나 없음</a:t>
            </a:r>
          </a:p>
          <a:p>
            <a:pPr lvl="1"/>
            <a:r>
              <a:rPr lang="ko-KR" altLang="en-US" sz="1800"/>
              <a:t>다음에</a:t>
            </a:r>
            <a:r>
              <a:rPr lang="en-US" altLang="ko-KR" sz="1800"/>
              <a:t>, ‘/</a:t>
            </a:r>
            <a:r>
              <a:rPr lang="en-US" altLang="ko-KR" sz="1800" dirty="0" err="1"/>
              <a:t>usr</a:t>
            </a:r>
            <a:r>
              <a:rPr lang="en-US" altLang="ko-KR" sz="1800" dirty="0"/>
              <a:t>/</a:t>
            </a:r>
            <a:r>
              <a:rPr lang="en-US" altLang="ko-KR" sz="1800" dirty="0" err="1"/>
              <a:t>sbin</a:t>
            </a:r>
            <a:r>
              <a:rPr lang="en-US" altLang="ko-KR" sz="1800" dirty="0"/>
              <a:t>’</a:t>
            </a:r>
            <a:r>
              <a:rPr lang="ko-KR" altLang="en-US" sz="1800" dirty="0"/>
              <a:t> 디렉터리에서 찾으나 없음</a:t>
            </a:r>
          </a:p>
          <a:p>
            <a:pPr lvl="1"/>
            <a:r>
              <a:rPr lang="en-US" altLang="ko-KR" sz="1800" dirty="0"/>
              <a:t>‘/</a:t>
            </a:r>
            <a:r>
              <a:rPr lang="en-US" altLang="ko-KR" sz="1800" dirty="0" err="1"/>
              <a:t>usr</a:t>
            </a:r>
            <a:r>
              <a:rPr lang="en-US" altLang="ko-KR" sz="1800" dirty="0"/>
              <a:t>/bin’</a:t>
            </a:r>
            <a:r>
              <a:rPr lang="ko-KR" altLang="en-US" sz="1800" dirty="0"/>
              <a:t> </a:t>
            </a:r>
            <a:r>
              <a:rPr lang="ko-KR" altLang="en-US" sz="1800"/>
              <a:t>디렉터리에서 찾음</a:t>
            </a:r>
            <a:endParaRPr lang="en-US" altLang="ko-KR" sz="1800" dirty="0"/>
          </a:p>
          <a:p>
            <a:pPr lvl="2"/>
            <a:r>
              <a:rPr lang="ko-KR" altLang="en-US" sz="1600"/>
              <a:t>쉘은 </a:t>
            </a:r>
            <a:r>
              <a:rPr lang="en-US" altLang="ko-KR" sz="1600"/>
              <a:t>ls </a:t>
            </a:r>
            <a:r>
              <a:rPr lang="ko-KR" altLang="en-US" sz="1600"/>
              <a:t>프로그램</a:t>
            </a:r>
            <a:r>
              <a:rPr lang="en-US" altLang="ko-KR" sz="1600"/>
              <a:t>(ls</a:t>
            </a:r>
            <a:r>
              <a:rPr lang="ko-KR" altLang="en-US" sz="1600"/>
              <a:t> 명령</a:t>
            </a:r>
            <a:r>
              <a:rPr lang="en-US" altLang="ko-KR" sz="1600"/>
              <a:t>)</a:t>
            </a:r>
            <a:r>
              <a:rPr lang="ko-KR" altLang="en-US" sz="1600"/>
              <a:t> 실행</a:t>
            </a:r>
            <a:endParaRPr lang="ko-KR" altLang="en-US" sz="1600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ED41C3-8F15-45C6-BB90-C6900AA2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7A13AA-0D1F-4D6F-ABDA-8FB8C8056D96}"/>
              </a:ext>
            </a:extLst>
          </p:cNvPr>
          <p:cNvSpPr/>
          <p:nvPr/>
        </p:nvSpPr>
        <p:spPr>
          <a:xfrm>
            <a:off x="1052944" y="1916832"/>
            <a:ext cx="7272808" cy="33855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s-ES" altLang="ko-KR" sz="1600" b="1" dirty="0"/>
              <a:t>pi@pi:~/ch03 $ ls</a:t>
            </a:r>
          </a:p>
        </p:txBody>
      </p:sp>
    </p:spTree>
    <p:extLst>
      <p:ext uri="{BB962C8B-B14F-4D97-AF65-F5344CB8AC3E}">
        <p14:creationId xmlns:p14="http://schemas.microsoft.com/office/powerpoint/2010/main" val="16352500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5D8430-6D76-4E72-AEDB-0F1863DC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a.out </a:t>
            </a:r>
            <a:r>
              <a:rPr lang="ko-KR" altLang="en-US"/>
              <a:t>프로그램을 찾는데 실패하는 경우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F53C03-44DF-45CE-BF7A-B50C25DD74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/>
          <a:p>
            <a:r>
              <a:rPr lang="en-US" altLang="ko-KR" dirty="0" err="1"/>
              <a:t>a.out</a:t>
            </a:r>
            <a:r>
              <a:rPr lang="en-US" altLang="ko-KR" dirty="0"/>
              <a:t> </a:t>
            </a:r>
            <a:r>
              <a:rPr lang="ko-KR" altLang="en-US" dirty="0"/>
              <a:t>프로그램을 찾는데 실패하는 경우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lvl="1"/>
            <a:r>
              <a:rPr lang="en-US" altLang="ko-KR"/>
              <a:t>ch03 </a:t>
            </a:r>
            <a:r>
              <a:rPr lang="ko-KR" altLang="en-US"/>
              <a:t>디렉터리에 </a:t>
            </a:r>
            <a:r>
              <a:rPr lang="en-US" altLang="ko-KR"/>
              <a:t>a.out </a:t>
            </a:r>
            <a:r>
              <a:rPr lang="ko-KR" altLang="en-US"/>
              <a:t>명령이 있지만</a:t>
            </a:r>
            <a:r>
              <a:rPr lang="en-US" altLang="ko-KR"/>
              <a:t>,</a:t>
            </a:r>
          </a:p>
          <a:p>
            <a:pPr lvl="1"/>
            <a:r>
              <a:rPr lang="en-US" altLang="ko-KR"/>
              <a:t>PATH </a:t>
            </a:r>
            <a:r>
              <a:rPr lang="ko-KR" altLang="en-US"/>
              <a:t>환경 변수에 지정된 디렉터리들 내에 </a:t>
            </a:r>
            <a:r>
              <a:rPr lang="en-US" altLang="ko-KR"/>
              <a:t>a</a:t>
            </a:r>
            <a:r>
              <a:rPr lang="en-US" altLang="ko-KR" err="1"/>
              <a:t>.</a:t>
            </a:r>
            <a:r>
              <a:rPr lang="en-US" altLang="ko-KR"/>
              <a:t>out</a:t>
            </a:r>
            <a:r>
              <a:rPr lang="ko-KR" altLang="en-US"/>
              <a:t>이 없기 때문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F5FB87-09D5-4FF0-87E0-1F6B4BE1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DB0590-CCDF-4C66-8428-1DDF4A349A64}"/>
              </a:ext>
            </a:extLst>
          </p:cNvPr>
          <p:cNvSpPr/>
          <p:nvPr/>
        </p:nvSpPr>
        <p:spPr>
          <a:xfrm>
            <a:off x="917176" y="1844824"/>
            <a:ext cx="7183216" cy="92333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ls</a:t>
            </a:r>
          </a:p>
          <a:p>
            <a:r>
              <a:rPr lang="en-US" altLang="ko-KR" sz="1600" dirty="0" err="1"/>
              <a:t>a.out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hello.c</a:t>
            </a:r>
            <a:r>
              <a:rPr lang="en-US" altLang="ko-KR" sz="1600" dirty="0"/>
              <a:t> hello2.c test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457B5C-0661-4E53-8BE7-304F9D6986F8}"/>
              </a:ext>
            </a:extLst>
          </p:cNvPr>
          <p:cNvSpPr/>
          <p:nvPr/>
        </p:nvSpPr>
        <p:spPr>
          <a:xfrm>
            <a:off x="917176" y="3068960"/>
            <a:ext cx="7183216" cy="86177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 </a:t>
            </a:r>
            <a:r>
              <a:rPr lang="en-US" altLang="ko-KR" sz="1600" b="1" dirty="0" err="1"/>
              <a:t>a.out</a:t>
            </a:r>
            <a:endParaRPr lang="en-US" altLang="ko-KR" sz="1600" b="1" dirty="0"/>
          </a:p>
          <a:p>
            <a:r>
              <a:rPr lang="en-US" altLang="ko-KR" sz="1600" dirty="0"/>
              <a:t>-bash: </a:t>
            </a:r>
            <a:r>
              <a:rPr lang="en-US" altLang="ko-KR" sz="1600" dirty="0" err="1"/>
              <a:t>a.out</a:t>
            </a:r>
            <a:r>
              <a:rPr lang="en-US" altLang="ko-KR" sz="1600" dirty="0"/>
              <a:t>: </a:t>
            </a:r>
            <a:r>
              <a:rPr lang="ko-KR" altLang="en-US" sz="1600" dirty="0"/>
              <a:t>명령어를 찾을 수 없음</a:t>
            </a:r>
          </a:p>
          <a:p>
            <a:r>
              <a:rPr lang="en-US" altLang="ko-KR" sz="1600" b="1" dirty="0" err="1"/>
              <a:t>pi@pi</a:t>
            </a:r>
            <a:r>
              <a:rPr lang="en-US" altLang="ko-KR" sz="1600" b="1" dirty="0"/>
              <a:t>:~/ch03 $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E9A63B3-47C8-42EB-B70C-F78785F6C189}"/>
              </a:ext>
            </a:extLst>
          </p:cNvPr>
          <p:cNvSpPr/>
          <p:nvPr/>
        </p:nvSpPr>
        <p:spPr>
          <a:xfrm>
            <a:off x="755576" y="2132856"/>
            <a:ext cx="864096" cy="288032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5916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4D500-89FE-49B1-887A-E3DAEC57B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a.out </a:t>
            </a:r>
            <a:r>
              <a:rPr lang="ko-KR" altLang="en-US"/>
              <a:t>프로그램을 찾는데 성공하는 경우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B98C0D-77A7-4533-9BDA-7194F8B5212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sz="2000" dirty="0" err="1"/>
              <a:t>a.out</a:t>
            </a:r>
            <a:r>
              <a:rPr lang="en-US" altLang="ko-KR" sz="2000" dirty="0"/>
              <a:t> </a:t>
            </a:r>
            <a:r>
              <a:rPr lang="ko-KR" altLang="en-US" sz="2000" dirty="0"/>
              <a:t>프로그램을 찾는데 성공하는 경우</a:t>
            </a:r>
            <a:endParaRPr lang="en-US" altLang="ko-KR" sz="2000" dirty="0"/>
          </a:p>
          <a:p>
            <a:pPr lvl="1"/>
            <a:r>
              <a:rPr lang="ko-KR" altLang="en-US" sz="1800" dirty="0"/>
              <a:t>방법</a:t>
            </a:r>
            <a:r>
              <a:rPr lang="en-US" altLang="ko-KR" sz="1800" dirty="0"/>
              <a:t>1</a:t>
            </a:r>
            <a:r>
              <a:rPr lang="en-US" altLang="ko-KR" sz="1800"/>
              <a:t>: </a:t>
            </a:r>
            <a:r>
              <a:rPr lang="ko-KR" altLang="en-US" sz="1800" b="1"/>
              <a:t>경로를 명시적으로 주기</a:t>
            </a:r>
            <a:endParaRPr lang="ko-KR" altLang="en-US" sz="1800" b="1" dirty="0"/>
          </a:p>
          <a:p>
            <a:pPr lvl="2"/>
            <a:r>
              <a:rPr lang="ko-KR" altLang="en-US" sz="1600" dirty="0"/>
              <a:t>다음과 </a:t>
            </a:r>
            <a:r>
              <a:rPr lang="ko-KR" altLang="en-US" sz="1600"/>
              <a:t>같이 </a:t>
            </a:r>
            <a:r>
              <a:rPr lang="en-US" altLang="ko-KR" sz="1600"/>
              <a:t>./a</a:t>
            </a:r>
            <a:r>
              <a:rPr lang="en-US" altLang="ko-KR" sz="1600" err="1"/>
              <a:t>.</a:t>
            </a:r>
            <a:r>
              <a:rPr lang="en-US" altLang="ko-KR" sz="1600"/>
              <a:t>out</a:t>
            </a:r>
            <a:r>
              <a:rPr lang="ko-KR" altLang="en-US" sz="1600"/>
              <a:t>을 사용하여 경로 명시</a:t>
            </a:r>
            <a:endParaRPr lang="en-US" altLang="ko-KR" sz="1600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pPr lvl="1"/>
            <a:r>
              <a:rPr lang="ko-KR" altLang="en-US" sz="1800" dirty="0"/>
              <a:t>방법</a:t>
            </a:r>
            <a:r>
              <a:rPr lang="en-US" altLang="ko-KR" sz="1800" dirty="0"/>
              <a:t>2</a:t>
            </a:r>
            <a:r>
              <a:rPr lang="en-US" altLang="ko-KR" sz="1800"/>
              <a:t>: </a:t>
            </a:r>
            <a:r>
              <a:rPr lang="en-US" altLang="ko-KR" sz="1800" b="1"/>
              <a:t>PATH </a:t>
            </a:r>
            <a:r>
              <a:rPr lang="ko-KR" altLang="en-US" sz="1800" b="1"/>
              <a:t>환경변수에 </a:t>
            </a:r>
            <a:r>
              <a:rPr lang="en-US" altLang="ko-KR" sz="1800" b="1" dirty="0" err="1"/>
              <a:t>a.</a:t>
            </a:r>
            <a:r>
              <a:rPr lang="en-US" altLang="ko-KR" sz="1800" b="1" err="1"/>
              <a:t>out</a:t>
            </a:r>
            <a:r>
              <a:rPr lang="en-US" altLang="ko-KR" sz="1800" b="1"/>
              <a:t> </a:t>
            </a:r>
            <a:r>
              <a:rPr lang="ko-KR" altLang="en-US" sz="1800" b="1"/>
              <a:t>경로 등록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61851A-0D1B-4BF7-9F37-509F0245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83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0AB32C-BE37-4188-898B-4B1FA9162C37}"/>
              </a:ext>
            </a:extLst>
          </p:cNvPr>
          <p:cNvSpPr/>
          <p:nvPr/>
        </p:nvSpPr>
        <p:spPr>
          <a:xfrm>
            <a:off x="1619672" y="2420888"/>
            <a:ext cx="6336704" cy="114783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./</a:t>
            </a:r>
            <a:r>
              <a:rPr lang="en-US" altLang="ko-KR" sz="1400" b="1" dirty="0" err="1"/>
              <a:t>a.out</a:t>
            </a:r>
            <a:endParaRPr lang="en-US" altLang="ko-KR" sz="1400" b="1" dirty="0"/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dirty="0"/>
              <a:t>^C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6451B6-5B58-4896-8A85-284E158157E8}"/>
              </a:ext>
            </a:extLst>
          </p:cNvPr>
          <p:cNvSpPr/>
          <p:nvPr/>
        </p:nvSpPr>
        <p:spPr>
          <a:xfrm>
            <a:off x="1619672" y="3995196"/>
            <a:ext cx="6336704" cy="137801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export PATH=.:$PATH</a:t>
            </a:r>
          </a:p>
          <a:p>
            <a:r>
              <a:rPr lang="es-ES" altLang="ko-KR" sz="1400" dirty="0"/>
              <a:t>pi@pi:~/ch03 $ echo $PATH</a:t>
            </a:r>
          </a:p>
          <a:p>
            <a:r>
              <a:rPr lang="en-US" altLang="ko-KR" sz="1400" dirty="0"/>
              <a:t>.:/home/pi/.local/bin:/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/local/</a:t>
            </a:r>
            <a:r>
              <a:rPr lang="en-US" altLang="ko-KR" sz="1400" dirty="0" err="1"/>
              <a:t>sbin</a:t>
            </a:r>
            <a:r>
              <a:rPr lang="en-US" altLang="ko-KR" sz="1400" dirty="0"/>
              <a:t>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/local/bin:/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</a:t>
            </a:r>
            <a:r>
              <a:rPr lang="en-US" altLang="ko-KR" sz="1400" dirty="0" err="1"/>
              <a:t>sbin</a:t>
            </a:r>
            <a:r>
              <a:rPr lang="en-US" altLang="ko-KR" sz="1400" dirty="0"/>
              <a:t>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/bin:/</a:t>
            </a:r>
            <a:r>
              <a:rPr lang="en-US" altLang="ko-KR" sz="1400" dirty="0" err="1"/>
              <a:t>sbin</a:t>
            </a:r>
            <a:r>
              <a:rPr lang="en-US" altLang="ko-KR" sz="1400" dirty="0"/>
              <a:t>:/bin:/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</a:t>
            </a:r>
          </a:p>
          <a:p>
            <a:r>
              <a:rPr lang="en-US" altLang="ko-KR" sz="1400" dirty="0"/>
              <a:t>local/games:/</a:t>
            </a:r>
            <a:r>
              <a:rPr lang="en-US" altLang="ko-KR" sz="1400" dirty="0" err="1"/>
              <a:t>usr</a:t>
            </a:r>
            <a:r>
              <a:rPr lang="en-US" altLang="ko-KR" sz="1400" dirty="0"/>
              <a:t>/games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  <a:endParaRPr lang="es-ES" altLang="ko-KR" sz="14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B04BF9-510F-45EE-94EE-A13A51CC802C}"/>
              </a:ext>
            </a:extLst>
          </p:cNvPr>
          <p:cNvSpPr/>
          <p:nvPr/>
        </p:nvSpPr>
        <p:spPr>
          <a:xfrm>
            <a:off x="1619672" y="5501685"/>
            <a:ext cx="6336704" cy="1147841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 </a:t>
            </a:r>
            <a:r>
              <a:rPr lang="en-US" altLang="ko-KR" sz="1400" b="1" dirty="0" err="1"/>
              <a:t>a.out</a:t>
            </a:r>
            <a:endParaRPr lang="en-US" altLang="ko-KR" sz="1400" b="1" dirty="0"/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dirty="0"/>
              <a:t>Hello</a:t>
            </a:r>
          </a:p>
          <a:p>
            <a:r>
              <a:rPr lang="en-US" altLang="ko-KR" sz="1400" dirty="0"/>
              <a:t>^C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:~/ch03 $</a:t>
            </a:r>
          </a:p>
        </p:txBody>
      </p:sp>
    </p:spTree>
    <p:extLst>
      <p:ext uri="{BB962C8B-B14F-4D97-AF65-F5344CB8AC3E}">
        <p14:creationId xmlns:p14="http://schemas.microsoft.com/office/powerpoint/2010/main" val="91558986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C3675-171A-49F1-88BB-50A6C24DC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수정한 </a:t>
            </a:r>
            <a:r>
              <a:rPr lang="en-US" altLang="ko-KR" dirty="0"/>
              <a:t>PATH </a:t>
            </a:r>
            <a:r>
              <a:rPr lang="ko-KR" altLang="en-US"/>
              <a:t>환경변수를 영구 유지 </a:t>
            </a:r>
            <a:r>
              <a:rPr lang="ko-KR" altLang="en-US" dirty="0"/>
              <a:t>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E01D3F-5B9F-4DDE-B2DE-D018308F451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sz="1800" dirty="0"/>
              <a:t>.profile </a:t>
            </a:r>
            <a:r>
              <a:rPr lang="ko-KR" altLang="en-US" sz="1800" dirty="0"/>
              <a:t>파일</a:t>
            </a:r>
            <a:endParaRPr lang="en-US" altLang="ko-KR" sz="1800" dirty="0"/>
          </a:p>
          <a:p>
            <a:pPr lvl="1"/>
            <a:r>
              <a:rPr lang="ko-KR" altLang="en-US" sz="1600"/>
              <a:t>사용자가 로그인할 때 반드시 </a:t>
            </a:r>
            <a:r>
              <a:rPr lang="ko-KR" altLang="en-US" sz="1600" dirty="0"/>
              <a:t>실행되는 </a:t>
            </a:r>
            <a:r>
              <a:rPr lang="ko-KR" altLang="en-US" sz="1600"/>
              <a:t>스크립트 파일</a:t>
            </a:r>
            <a:endParaRPr lang="en-US" altLang="ko-KR" sz="1600"/>
          </a:p>
          <a:p>
            <a:pPr lvl="1"/>
            <a:r>
              <a:rPr lang="ko-KR" altLang="en-US" sz="1600"/>
              <a:t>홈 디렉터리에 만들어두면 됨</a:t>
            </a:r>
            <a:endParaRPr lang="en-US" altLang="ko-KR" sz="1600"/>
          </a:p>
          <a:p>
            <a:pPr lvl="1"/>
            <a:r>
              <a:rPr lang="ko-KR" altLang="en-US" sz="1600"/>
              <a:t>현재 리눅스에서 자동으로 생성</a:t>
            </a:r>
            <a:endParaRPr lang="en-US" altLang="ko-KR" sz="1600"/>
          </a:p>
          <a:p>
            <a:r>
              <a:rPr lang="en-US" altLang="ko-KR" sz="1800"/>
              <a:t>.</a:t>
            </a:r>
            <a:r>
              <a:rPr lang="en-US" altLang="ko-KR" sz="1800" dirty="0"/>
              <a:t>profile</a:t>
            </a:r>
            <a:r>
              <a:rPr lang="ko-KR" altLang="en-US" sz="1800" dirty="0"/>
              <a:t> </a:t>
            </a:r>
            <a:r>
              <a:rPr lang="ko-KR" altLang="en-US" sz="1800"/>
              <a:t>파일에 </a:t>
            </a:r>
            <a:r>
              <a:rPr lang="en-US" altLang="ko-KR" sz="1800"/>
              <a:t>PATH</a:t>
            </a:r>
            <a:r>
              <a:rPr lang="ko-KR" altLang="en-US" sz="1800"/>
              <a:t>를 설정하는 명령 작성</a:t>
            </a:r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/>
          </a:p>
          <a:p>
            <a:endParaRPr lang="en-US" altLang="ko-KR" sz="1800"/>
          </a:p>
          <a:p>
            <a:r>
              <a:rPr lang="ko-KR" altLang="en-US" sz="1800"/>
              <a:t>다시 </a:t>
            </a:r>
            <a:r>
              <a:rPr lang="ko-KR" altLang="en-US" sz="1800" dirty="0"/>
              <a:t>로그인을 </a:t>
            </a:r>
            <a:r>
              <a:rPr lang="ko-KR" altLang="en-US" sz="1800"/>
              <a:t>하거나 </a:t>
            </a:r>
            <a:r>
              <a:rPr lang="en-US" altLang="ko-KR" sz="1800"/>
              <a:t>source</a:t>
            </a:r>
            <a:r>
              <a:rPr lang="ko-KR" altLang="en-US" sz="1800"/>
              <a:t> 실행 실행</a:t>
            </a:r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lvl="1"/>
            <a:r>
              <a:rPr lang="en-US" altLang="ko-KR" sz="1400"/>
              <a:t>PATH </a:t>
            </a:r>
            <a:r>
              <a:rPr lang="ko-KR" altLang="en-US" sz="1400"/>
              <a:t>환경 변수에 현재 디렉터리</a:t>
            </a:r>
            <a:r>
              <a:rPr lang="en-US" altLang="ko-KR" sz="1400"/>
              <a:t>(.)</a:t>
            </a:r>
            <a:r>
              <a:rPr lang="ko-KR" altLang="en-US" sz="1400"/>
              <a:t>이 저장됨</a:t>
            </a:r>
            <a:endParaRPr lang="en-US" altLang="ko-KR" sz="1400"/>
          </a:p>
          <a:p>
            <a:pPr marL="0" indent="0">
              <a:buNone/>
            </a:pPr>
            <a:r>
              <a:rPr lang="en-US" altLang="ko-KR" sz="1800"/>
              <a:t>	</a:t>
            </a: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FC730E-347C-477D-8123-677DA24ED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ADED10-A845-40C8-BA16-05751D96E123}"/>
              </a:ext>
            </a:extLst>
          </p:cNvPr>
          <p:cNvSpPr/>
          <p:nvPr/>
        </p:nvSpPr>
        <p:spPr>
          <a:xfrm>
            <a:off x="1115616" y="2636912"/>
            <a:ext cx="6624736" cy="208823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 $ cd ~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 $ cat .profile</a:t>
            </a:r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앞 부분 생략</a:t>
            </a:r>
          </a:p>
          <a:p>
            <a:r>
              <a:rPr lang="en-US" altLang="ko-KR" sz="1400" dirty="0"/>
              <a:t># set PATH so it includes user’s private bin if it exists</a:t>
            </a:r>
          </a:p>
          <a:p>
            <a:r>
              <a:rPr lang="en-US" altLang="ko-KR" sz="1400" dirty="0"/>
              <a:t>if [ -d “$HOME/.local/bin” ] ; then</a:t>
            </a:r>
          </a:p>
          <a:p>
            <a:r>
              <a:rPr lang="en-US" altLang="ko-KR" sz="1400" dirty="0"/>
              <a:t>PATH=”$HOME/.local/bin:$PATH”</a:t>
            </a:r>
          </a:p>
          <a:p>
            <a:r>
              <a:rPr lang="en-US" altLang="ko-KR" sz="1400" dirty="0"/>
              <a:t>fi</a:t>
            </a:r>
          </a:p>
          <a:p>
            <a:r>
              <a:rPr lang="en-US" altLang="ko-KR" sz="1400" dirty="0"/>
              <a:t>export PATH=.:$PATH # PATH</a:t>
            </a:r>
            <a:r>
              <a:rPr lang="ko-KR" altLang="en-US" sz="1400" dirty="0"/>
              <a:t>에 </a:t>
            </a:r>
            <a:r>
              <a:rPr lang="en-US" altLang="ko-KR" sz="1400" dirty="0"/>
              <a:t>.</a:t>
            </a:r>
            <a:r>
              <a:rPr lang="ko-KR" altLang="en-US" sz="1400" dirty="0"/>
              <a:t>를 맨 앞에 붙여 새로 만듦</a:t>
            </a:r>
          </a:p>
          <a:p>
            <a:r>
              <a:rPr lang="en-US" altLang="ko-KR" sz="1400" b="1" dirty="0" err="1"/>
              <a:t>pi@pi</a:t>
            </a:r>
            <a:r>
              <a:rPr lang="en-US" altLang="ko-KR" sz="1400" b="1" dirty="0"/>
              <a:t>:~ 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52F176-0F14-4252-BEC4-BCC349BB98E8}"/>
              </a:ext>
            </a:extLst>
          </p:cNvPr>
          <p:cNvSpPr/>
          <p:nvPr/>
        </p:nvSpPr>
        <p:spPr>
          <a:xfrm>
            <a:off x="1108314" y="5101301"/>
            <a:ext cx="6624736" cy="36933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fr-FR" altLang="ko-KR" sz="1600" b="1" dirty="0"/>
              <a:t>pi@pi:~$ source .profile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E2A5300-0EC0-4CC0-A786-F60436FD6BFA}"/>
              </a:ext>
            </a:extLst>
          </p:cNvPr>
          <p:cNvSpPr/>
          <p:nvPr/>
        </p:nvSpPr>
        <p:spPr>
          <a:xfrm>
            <a:off x="971600" y="4190606"/>
            <a:ext cx="2016224" cy="261847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2278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34991</TotalTime>
  <Words>6209</Words>
  <Application>Microsoft Office PowerPoint</Application>
  <PresentationFormat>화면 슬라이드 쇼(4:3)</PresentationFormat>
  <Paragraphs>1150</Paragraphs>
  <Slides>84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84</vt:i4>
      </vt:variant>
    </vt:vector>
  </HeadingPairs>
  <TitlesOfParts>
    <vt:vector size="90" baseType="lpstr">
      <vt:lpstr>HY나무L</vt:lpstr>
      <vt:lpstr>맑은 고딕</vt:lpstr>
      <vt:lpstr>휴먼편지체</vt:lpstr>
      <vt:lpstr>Wingdings</vt:lpstr>
      <vt:lpstr>Wingdings 2</vt:lpstr>
      <vt:lpstr>가을</vt:lpstr>
      <vt:lpstr>3장. 라즈베리파이 운영체제</vt:lpstr>
      <vt:lpstr>강의 목표</vt:lpstr>
      <vt:lpstr>들어가기 전에</vt:lpstr>
      <vt:lpstr>3.1 라즈베리파이 운영체제</vt:lpstr>
      <vt:lpstr>리눅스 역사</vt:lpstr>
      <vt:lpstr>리눅스 운영체제 구성</vt:lpstr>
      <vt:lpstr>리눅스 운영체제의 특징</vt:lpstr>
      <vt:lpstr>로그인 과정과 쉘</vt:lpstr>
      <vt:lpstr>쉘과 프롬프트</vt:lpstr>
      <vt:lpstr>쉘 동작 사례</vt:lpstr>
      <vt:lpstr>3.2 사용자 관리</vt:lpstr>
      <vt:lpstr>사용자 유형</vt:lpstr>
      <vt:lpstr>사용자 계정 정보</vt:lpstr>
      <vt:lpstr>/etc/passwd 파일 내용 예</vt:lpstr>
      <vt:lpstr>/etc/passwd 파일 구성</vt:lpstr>
      <vt:lpstr>sudo 명령</vt:lpstr>
      <vt:lpstr>사용자 관리 명령</vt:lpstr>
      <vt:lpstr>사용자 계정 생성</vt:lpstr>
      <vt:lpstr>예제 3–1 사용자 kitae와 jmlee 추가 실습</vt:lpstr>
      <vt:lpstr>사용자 계정 삭제와 로그인 사용자 보기</vt:lpstr>
      <vt:lpstr>3.3 파일 관리</vt:lpstr>
      <vt:lpstr>리눅스의 파일 시스템 구조</vt:lpstr>
      <vt:lpstr>파일 시스템 경로</vt:lpstr>
      <vt:lpstr>절대경로 사용하기</vt:lpstr>
      <vt:lpstr>상대경로 사용하기</vt:lpstr>
      <vt:lpstr>vi를 이용한 파일 편집 (1)</vt:lpstr>
      <vt:lpstr>vi를 이용한 파일 편집 (2)</vt:lpstr>
      <vt:lpstr>vi를 이용한 파일 편집 (3)</vt:lpstr>
      <vt:lpstr>vi를 이용한 파일 편집 (4)</vt:lpstr>
      <vt:lpstr>vi를 이용한 파일 편집 (5)</vt:lpstr>
      <vt:lpstr>vi를 이용한 파일 편집 (6)</vt:lpstr>
      <vt:lpstr>vi를 이용한 파일 편집 (7)</vt:lpstr>
      <vt:lpstr>vi를 이용한 파일 편집 (8)</vt:lpstr>
      <vt:lpstr>vi를 이용한 파일 편집 (9)</vt:lpstr>
      <vt:lpstr>vi를 이용한 파일 편집 (10)</vt:lpstr>
      <vt:lpstr>디렉터리와 파일 관련 명령 (1)</vt:lpstr>
      <vt:lpstr>디렉터리와 파일 관련 명령 (2)</vt:lpstr>
      <vt:lpstr>디렉터리와 파일 관련 명령 (3)</vt:lpstr>
      <vt:lpstr>디렉터리와 파일 관련 명령 (4)</vt:lpstr>
      <vt:lpstr>디렉터리와 파일 관련 명령 (5)</vt:lpstr>
      <vt:lpstr>디렉터리와 파일 관련 명령 (6)</vt:lpstr>
      <vt:lpstr>디렉터리와 파일 관련 명령 (7)</vt:lpstr>
      <vt:lpstr>디렉터리와 파일 관련 명령 (8)</vt:lpstr>
      <vt:lpstr>디렉터리와 파일 관련 명령 (9)</vt:lpstr>
      <vt:lpstr>디렉터리와 파일 관련 명령 (10)</vt:lpstr>
      <vt:lpstr>파일 관련 특수 기호 ~ 활용</vt:lpstr>
      <vt:lpstr>파일 관련 특수 기호 * 활용</vt:lpstr>
      <vt:lpstr>파일 속성</vt:lpstr>
      <vt:lpstr>파일 속성 종류</vt:lpstr>
      <vt:lpstr>파일 속성 설명</vt:lpstr>
      <vt:lpstr>파일 허가</vt:lpstr>
      <vt:lpstr>파일 허가 사례 (1)</vt:lpstr>
      <vt:lpstr>파일 허가 사례 (2)</vt:lpstr>
      <vt:lpstr>파일 허가 변경 (1)</vt:lpstr>
      <vt:lpstr>파일 허가 변경 (2)</vt:lpstr>
      <vt:lpstr>예제 3–2 다중 사용자들 사이의 파일 허가 실습</vt:lpstr>
      <vt:lpstr>예제 3–2 (계속)</vt:lpstr>
      <vt:lpstr>3.4 프로세스 관리</vt:lpstr>
      <vt:lpstr>프로세스</vt:lpstr>
      <vt:lpstr>프로세스 상태와 실행</vt:lpstr>
      <vt:lpstr>프로세스 관리 (1)</vt:lpstr>
      <vt:lpstr>프로세스 관리 (2)</vt:lpstr>
      <vt:lpstr>프로세스 관리 (3)</vt:lpstr>
      <vt:lpstr>프로세스 관리 (4)</vt:lpstr>
      <vt:lpstr>프로세스 관리 (5)</vt:lpstr>
      <vt:lpstr>프로세스 상태 보기 (1)</vt:lpstr>
      <vt:lpstr>프로세스 상태보기 (2)</vt:lpstr>
      <vt:lpstr>프로세스 강제 종료</vt:lpstr>
      <vt:lpstr>유용한 명령</vt:lpstr>
      <vt:lpstr>파일에서 텍스트 검색, grep</vt:lpstr>
      <vt:lpstr>파이프, |</vt:lpstr>
      <vt:lpstr>history 명령</vt:lpstr>
      <vt:lpstr>히스토리 관련 명령</vt:lpstr>
      <vt:lpstr>디렉터리 구조 보기</vt:lpstr>
      <vt:lpstr>소프트웨어 관리, apt-get</vt:lpstr>
      <vt:lpstr>환경 변수</vt:lpstr>
      <vt:lpstr>환경변수</vt:lpstr>
      <vt:lpstr>환경변수 보기 (1)</vt:lpstr>
      <vt:lpstr>개별 환경변수 값 보기</vt:lpstr>
      <vt:lpstr>PATH 환경변수</vt:lpstr>
      <vt:lpstr>쉘이 ls 명령을 실행하는 과정</vt:lpstr>
      <vt:lpstr>a.out 프로그램을 찾는데 실패하는 경우</vt:lpstr>
      <vt:lpstr>a.out 프로그램을 찾는데 성공하는 경우</vt:lpstr>
      <vt:lpstr>수정한 PATH 환경변수를 영구 유지 방법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Kitae</dc:creator>
  <cp:lastModifiedBy>hansung</cp:lastModifiedBy>
  <cp:revision>686</cp:revision>
  <cp:lastPrinted>2013-07-12T10:01:15Z</cp:lastPrinted>
  <dcterms:created xsi:type="dcterms:W3CDTF">2011-08-27T14:53:28Z</dcterms:created>
  <dcterms:modified xsi:type="dcterms:W3CDTF">2024-08-21T08:15:42Z</dcterms:modified>
</cp:coreProperties>
</file>