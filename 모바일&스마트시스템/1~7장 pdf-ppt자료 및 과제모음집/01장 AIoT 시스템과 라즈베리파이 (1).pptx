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" ContentType="image/t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31"/>
  </p:notesMasterIdLst>
  <p:sldIdLst>
    <p:sldId id="256" r:id="rId2"/>
    <p:sldId id="485" r:id="rId3"/>
    <p:sldId id="487" r:id="rId4"/>
    <p:sldId id="457" r:id="rId5"/>
    <p:sldId id="459" r:id="rId6"/>
    <p:sldId id="460" r:id="rId7"/>
    <p:sldId id="483" r:id="rId8"/>
    <p:sldId id="461" r:id="rId9"/>
    <p:sldId id="462" r:id="rId10"/>
    <p:sldId id="463" r:id="rId11"/>
    <p:sldId id="464" r:id="rId12"/>
    <p:sldId id="465" r:id="rId13"/>
    <p:sldId id="484" r:id="rId14"/>
    <p:sldId id="419" r:id="rId15"/>
    <p:sldId id="330" r:id="rId16"/>
    <p:sldId id="466" r:id="rId17"/>
    <p:sldId id="486" r:id="rId18"/>
    <p:sldId id="469" r:id="rId19"/>
    <p:sldId id="472" r:id="rId20"/>
    <p:sldId id="473" r:id="rId21"/>
    <p:sldId id="482" r:id="rId22"/>
    <p:sldId id="379" r:id="rId23"/>
    <p:sldId id="470" r:id="rId24"/>
    <p:sldId id="476" r:id="rId25"/>
    <p:sldId id="392" r:id="rId26"/>
    <p:sldId id="471" r:id="rId27"/>
    <p:sldId id="477" r:id="rId28"/>
    <p:sldId id="478" r:id="rId29"/>
    <p:sldId id="384" r:id="rId30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5A"/>
    <a:srgbClr val="3A3A3A"/>
    <a:srgbClr val="0E1B22"/>
    <a:srgbClr val="B5E3F7"/>
    <a:srgbClr val="C1D7FA"/>
    <a:srgbClr val="ED7D31"/>
    <a:srgbClr val="F7C9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1" autoAdjust="0"/>
    <p:restoredTop sz="96496" autoAdjust="0"/>
  </p:normalViewPr>
  <p:slideViewPr>
    <p:cSldViewPr>
      <p:cViewPr varScale="1">
        <p:scale>
          <a:sx n="118" d="100"/>
          <a:sy n="118" d="100"/>
        </p:scale>
        <p:origin x="42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9897E-559B-4802-87FD-BDDBC21CBA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AADCE-4523-43FE-B0A8-90B87F2F6B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algn="r">
              <a:defRPr cap="all" baseline="0"/>
            </a:lvl1pPr>
          </a:lstStyle>
          <a:p>
            <a:endParaRPr kumimoji="0" lang="en-US" dirty="0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endParaRPr kumimoji="0" lang="en-US" dirty="0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lnSpc>
                <a:spcPct val="100000"/>
              </a:lnSpc>
              <a:defRPr sz="2000"/>
            </a:lvl2pPr>
            <a:lvl3pPr>
              <a:defRPr sz="1800">
                <a:latin typeface="HY나무L" pitchFamily="18" charset="-127"/>
                <a:ea typeface="HY나무L" pitchFamily="18" charset="-127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ft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6.tif"/><Relationship Id="rId7" Type="http://schemas.microsoft.com/office/2007/relationships/hdphoto" Target="../media/hdphoto1.wdp"/><Relationship Id="rId12" Type="http://schemas.openxmlformats.org/officeDocument/2006/relationships/image" Target="../media/image24.ti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tif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7.tif"/><Relationship Id="rId9" Type="http://schemas.openxmlformats.org/officeDocument/2006/relationships/image" Target="../media/image21.tif"/><Relationship Id="rId1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jpe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1</a:t>
            </a:r>
            <a:r>
              <a:rPr lang="ko-KR" altLang="en-US"/>
              <a:t>장</a:t>
            </a:r>
            <a:r>
              <a:rPr lang="en-US" altLang="ko-KR"/>
              <a:t> AIot </a:t>
            </a:r>
            <a:r>
              <a:rPr lang="ko-KR" altLang="en-US"/>
              <a:t>시스템과 라즈베리파이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69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"/>
    </mc:Choice>
    <mc:Fallback xmlns="">
      <p:transition spd="slow" advTm="1029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D444FEC-D049-4E18-B46C-2C832D7BF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1800"/>
              <a:t>AIoT </a:t>
            </a:r>
            <a:r>
              <a:rPr lang="ko-KR" altLang="en-US" sz="1800"/>
              <a:t>시스템에 대해 간략히 이해한다</a:t>
            </a:r>
            <a:r>
              <a:rPr lang="en-US" altLang="ko-KR" sz="180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1800"/>
              <a:t>라즈베리파이와 아두이노의 차이점을 안다</a:t>
            </a:r>
            <a:r>
              <a:rPr lang="en-US" altLang="ko-KR" sz="180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1800"/>
              <a:t>라즈베리파이의 역사</a:t>
            </a:r>
            <a:r>
              <a:rPr lang="en-US" altLang="ko-KR" sz="1800"/>
              <a:t>, </a:t>
            </a:r>
            <a:r>
              <a:rPr lang="ko-KR" altLang="en-US" sz="1800"/>
              <a:t>구조</a:t>
            </a:r>
            <a:r>
              <a:rPr lang="en-US" altLang="ko-KR" sz="1800"/>
              <a:t> </a:t>
            </a:r>
            <a:r>
              <a:rPr lang="ko-KR" altLang="en-US" sz="1800"/>
              <a:t>등에 대해 이해한다</a:t>
            </a:r>
            <a:r>
              <a:rPr lang="en-US" altLang="ko-KR" sz="180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1800"/>
              <a:t>라즈베리파이의 활용에 간략히 이해한다</a:t>
            </a:r>
            <a:r>
              <a:rPr lang="en-US" altLang="ko-KR" sz="1800"/>
              <a:t>.</a:t>
            </a:r>
            <a:endParaRPr lang="ko-KR" altLang="en-US" sz="180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8AAC6B8-C9C1-4B93-BF64-C585B4212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강의 목표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245648-7E9E-4F33-B27A-8DE4DE3B8E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1584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BD4DEFE-DEFE-47A0-BEFB-83F6AD7A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들어가기 전에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3BFB3A-D985-4569-88E3-307B5716E4E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이 책은 라즈베리파이</a:t>
            </a:r>
            <a:r>
              <a:rPr lang="en-US" altLang="ko-KR"/>
              <a:t>4 </a:t>
            </a:r>
            <a:r>
              <a:rPr lang="ko-KR" altLang="en-US"/>
              <a:t>버전 </a:t>
            </a:r>
            <a:r>
              <a:rPr lang="en-US" altLang="ko-KR"/>
              <a:t>B </a:t>
            </a:r>
            <a:r>
              <a:rPr lang="ko-KR" altLang="en-US"/>
              <a:t>사용</a:t>
            </a:r>
            <a:endParaRPr lang="en-US" altLang="ko-KR"/>
          </a:p>
          <a:p>
            <a:pPr lvl="1"/>
            <a:r>
              <a:rPr lang="ko-KR" altLang="en-US"/>
              <a:t>라즈베리파이</a:t>
            </a:r>
            <a:r>
              <a:rPr lang="en-US" altLang="ko-KR"/>
              <a:t>3</a:t>
            </a:r>
            <a:r>
              <a:rPr lang="ko-KR" altLang="en-US"/>
              <a:t>은 수급 불안정</a:t>
            </a:r>
            <a:endParaRPr lang="en-US" altLang="ko-KR"/>
          </a:p>
          <a:p>
            <a:pPr lvl="1"/>
            <a:r>
              <a:rPr lang="ko-KR" altLang="en-US"/>
              <a:t>라즈베리파이</a:t>
            </a:r>
            <a:r>
              <a:rPr lang="en-US" altLang="ko-KR"/>
              <a:t>5</a:t>
            </a:r>
            <a:r>
              <a:rPr lang="ko-KR" altLang="en-US"/>
              <a:t>는 가격이 비싸서 교육용으로 부적절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권장 메모리</a:t>
            </a:r>
            <a:endParaRPr lang="en-US" altLang="ko-KR"/>
          </a:p>
          <a:p>
            <a:pPr lvl="1"/>
            <a:r>
              <a:rPr lang="ko-KR" altLang="en-US"/>
              <a:t>라즈베리파이</a:t>
            </a:r>
            <a:r>
              <a:rPr lang="en-US" altLang="ko-KR"/>
              <a:t>4,</a:t>
            </a:r>
            <a:r>
              <a:rPr lang="ko-KR" altLang="en-US"/>
              <a:t> </a:t>
            </a:r>
            <a:r>
              <a:rPr lang="en-US" altLang="ko-KR"/>
              <a:t>RAM 2GB </a:t>
            </a:r>
            <a:r>
              <a:rPr lang="ko-KR" altLang="en-US"/>
              <a:t>이상</a:t>
            </a:r>
            <a:endParaRPr lang="en-US" altLang="ko-KR"/>
          </a:p>
          <a:p>
            <a:pPr lvl="1"/>
            <a:r>
              <a:rPr lang="ko-KR" altLang="en-US"/>
              <a:t>가격 대비 학습에 적절한 성능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이 책의 범위</a:t>
            </a:r>
            <a:endParaRPr lang="en-US" altLang="ko-KR"/>
          </a:p>
          <a:p>
            <a:pPr lvl="1"/>
            <a:r>
              <a:rPr lang="ko-KR" altLang="en-US"/>
              <a:t>이 책의 예제들은 라즈베리파이 </a:t>
            </a:r>
            <a:r>
              <a:rPr lang="en-US" altLang="ko-KR"/>
              <a:t>4, 5</a:t>
            </a:r>
            <a:r>
              <a:rPr lang="ko-KR" altLang="en-US"/>
              <a:t>에 모두 실행됨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804EA0-0CE0-4C77-9E78-0BE1871F4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986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1.1 AIoT </a:t>
            </a:r>
            <a:r>
              <a:rPr lang="ko-KR" altLang="en-US"/>
              <a:t>개요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621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BACFDC2-F245-43C7-AD94-84A5187DF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AIoT </a:t>
            </a:r>
            <a:r>
              <a:rPr lang="ko-KR" altLang="en-US"/>
              <a:t>개요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C40C8F1-537D-423E-B229-F905C411E2E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2880320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sz="2000" dirty="0"/>
              <a:t>IoT</a:t>
            </a:r>
          </a:p>
          <a:p>
            <a:pPr lvl="1"/>
            <a:r>
              <a:rPr lang="ko-KR" altLang="en-US" sz="1600" dirty="0"/>
              <a:t>인터넷을 통해 다른 장치와 데이터를 주고받을 수 있도록 네트워크 기능을 갖춘 장치들 혹은 사물들의 네트워크</a:t>
            </a:r>
          </a:p>
          <a:p>
            <a:pPr lvl="1"/>
            <a:r>
              <a:rPr lang="en-US" altLang="ko-KR" sz="1600" dirty="0" err="1"/>
              <a:t>인터넷을</a:t>
            </a:r>
            <a:r>
              <a:rPr lang="en-US" altLang="ko-KR" sz="1600" dirty="0"/>
              <a:t> </a:t>
            </a:r>
            <a:r>
              <a:rPr lang="en-US" altLang="ko-KR" sz="1600" dirty="0" err="1"/>
              <a:t>활용한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사물들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사이의</a:t>
            </a:r>
            <a:r>
              <a:rPr lang="en-US" altLang="ko-KR" sz="1600" dirty="0"/>
              <a:t> </a:t>
            </a:r>
            <a:r>
              <a:rPr lang="en-US" altLang="ko-KR" sz="1600" dirty="0" err="1"/>
              <a:t>네트워크</a:t>
            </a:r>
            <a:endParaRPr lang="en-US" altLang="ko-KR" sz="1600" dirty="0"/>
          </a:p>
          <a:p>
            <a:pPr lvl="1"/>
            <a:r>
              <a:rPr lang="en-US" altLang="ko-KR" sz="1600" dirty="0"/>
              <a:t>IoT</a:t>
            </a:r>
            <a:r>
              <a:rPr lang="ko-KR" altLang="en-US" sz="1600" dirty="0"/>
              <a:t>는 사물과 사물을 연결하는 기술</a:t>
            </a:r>
            <a:r>
              <a:rPr lang="en-US" altLang="ko-KR" sz="1600" dirty="0"/>
              <a:t>, </a:t>
            </a:r>
            <a:r>
              <a:rPr lang="ko-KR" altLang="en-US" sz="1600" dirty="0"/>
              <a:t>세상의 모든 사물들을 연결하는 </a:t>
            </a:r>
            <a:r>
              <a:rPr lang="ko-KR" altLang="en-US" sz="1600" dirty="0" err="1"/>
              <a:t>초연결</a:t>
            </a:r>
            <a:r>
              <a:rPr lang="ko-KR" altLang="en-US" sz="1600" dirty="0"/>
              <a:t> 사회를 만드는 기반 기술</a:t>
            </a:r>
            <a:endParaRPr lang="en-US" altLang="ko-KR" sz="1600" dirty="0"/>
          </a:p>
          <a:p>
            <a:r>
              <a:rPr lang="en-US" altLang="ko-KR" sz="2000" dirty="0" err="1"/>
              <a:t>AIoT</a:t>
            </a:r>
            <a:endParaRPr lang="en-US" altLang="ko-KR" sz="2000" dirty="0"/>
          </a:p>
          <a:p>
            <a:pPr lvl="1"/>
            <a:r>
              <a:rPr lang="en-US" altLang="ko-KR" sz="1600" dirty="0"/>
              <a:t>IoT</a:t>
            </a:r>
            <a:r>
              <a:rPr lang="ko-KR" altLang="en-US" sz="1600" dirty="0"/>
              <a:t>에 </a:t>
            </a:r>
            <a:r>
              <a:rPr lang="en-US" altLang="ko-KR" sz="1600" dirty="0"/>
              <a:t>AI</a:t>
            </a:r>
            <a:r>
              <a:rPr lang="ko-KR" altLang="en-US" sz="1600" dirty="0"/>
              <a:t>를 결합한 기술</a:t>
            </a:r>
            <a:endParaRPr lang="en-US" altLang="ko-KR" sz="1600" dirty="0"/>
          </a:p>
          <a:p>
            <a:pPr lvl="1"/>
            <a:r>
              <a:rPr lang="ko-KR" altLang="en-US" sz="1600" dirty="0"/>
              <a:t>센서 등의 </a:t>
            </a:r>
            <a:r>
              <a:rPr lang="en-US" altLang="ko-KR" sz="1600" dirty="0"/>
              <a:t>IoT </a:t>
            </a:r>
            <a:r>
              <a:rPr lang="ko-KR" altLang="en-US" sz="1600" dirty="0"/>
              <a:t>기기를 통해 수집된 데이터를 </a:t>
            </a:r>
            <a:r>
              <a:rPr lang="en-US" altLang="ko-KR" sz="1600" dirty="0"/>
              <a:t>AI </a:t>
            </a:r>
            <a:r>
              <a:rPr lang="ko-KR" altLang="en-US" sz="1600" dirty="0"/>
              <a:t>모델로 학습</a:t>
            </a:r>
            <a:r>
              <a:rPr lang="en-US" altLang="ko-KR" sz="1600" dirty="0"/>
              <a:t>, </a:t>
            </a:r>
            <a:r>
              <a:rPr lang="ko-KR" altLang="en-US" sz="1600" dirty="0"/>
              <a:t>분석</a:t>
            </a:r>
            <a:r>
              <a:rPr lang="en-US" altLang="ko-KR" sz="1600" dirty="0"/>
              <a:t>, </a:t>
            </a:r>
            <a:r>
              <a:rPr lang="ko-KR" altLang="en-US" sz="1600" dirty="0"/>
              <a:t>능동적 제어 기술</a:t>
            </a:r>
            <a:endParaRPr lang="en-US" altLang="ko-KR" sz="1600" dirty="0"/>
          </a:p>
          <a:p>
            <a:pPr lvl="1"/>
            <a:r>
              <a:rPr lang="ko-KR" altLang="en-US" sz="1600" dirty="0"/>
              <a:t>자동차</a:t>
            </a:r>
            <a:r>
              <a:rPr lang="en-US" altLang="ko-KR" sz="1600" dirty="0"/>
              <a:t>, </a:t>
            </a:r>
            <a:r>
              <a:rPr lang="ko-KR" altLang="en-US" sz="1600" dirty="0"/>
              <a:t>홈</a:t>
            </a:r>
            <a:r>
              <a:rPr lang="en-US" altLang="ko-KR" sz="1600" dirty="0"/>
              <a:t>, </a:t>
            </a:r>
            <a:r>
              <a:rPr lang="ko-KR" altLang="en-US" sz="1600" dirty="0"/>
              <a:t>사무실</a:t>
            </a:r>
            <a:r>
              <a:rPr lang="en-US" altLang="ko-KR" sz="1600" dirty="0"/>
              <a:t>, </a:t>
            </a:r>
            <a:r>
              <a:rPr lang="ko-KR" altLang="en-US" sz="1600" dirty="0"/>
              <a:t>물</a:t>
            </a:r>
            <a:r>
              <a:rPr lang="en-US" altLang="ko-KR" sz="1600" dirty="0"/>
              <a:t>, </a:t>
            </a:r>
            <a:r>
              <a:rPr lang="ko-KR" altLang="en-US" sz="1600" dirty="0"/>
              <a:t>소매</a:t>
            </a:r>
            <a:r>
              <a:rPr lang="en-US" altLang="ko-KR" sz="1600" dirty="0"/>
              <a:t>, </a:t>
            </a:r>
            <a:r>
              <a:rPr lang="ko-KR" altLang="en-US" sz="1600" dirty="0"/>
              <a:t>제조</a:t>
            </a:r>
            <a:r>
              <a:rPr lang="en-US" altLang="ko-KR" sz="1600" dirty="0"/>
              <a:t>, </a:t>
            </a:r>
            <a:r>
              <a:rPr lang="ko-KR" altLang="en-US" sz="1600" dirty="0"/>
              <a:t>의학 등 산업 전반 활용</a:t>
            </a:r>
            <a:endParaRPr lang="en-US" altLang="ko-KR" sz="1600" dirty="0"/>
          </a:p>
          <a:p>
            <a:pPr lvl="1"/>
            <a:r>
              <a:rPr lang="ko-KR" altLang="en-US" sz="1500" dirty="0"/>
              <a:t>인터넷에 연결되는 장치들</a:t>
            </a:r>
            <a:endParaRPr lang="en-US" altLang="ko-KR" sz="1500" dirty="0"/>
          </a:p>
          <a:p>
            <a:pPr lvl="2"/>
            <a:r>
              <a:rPr lang="en-US" altLang="ko-KR" sz="1400" dirty="0"/>
              <a:t>2030</a:t>
            </a:r>
            <a:r>
              <a:rPr lang="ko-KR" altLang="en-US" sz="1400" dirty="0"/>
              <a:t>년에는 </a:t>
            </a:r>
            <a:r>
              <a:rPr lang="en-US" altLang="ko-KR" sz="1400" dirty="0"/>
              <a:t>250</a:t>
            </a:r>
            <a:r>
              <a:rPr lang="ko-KR" altLang="en-US" sz="1400" dirty="0"/>
              <a:t>억</a:t>
            </a:r>
            <a:r>
              <a:rPr lang="en-US" altLang="ko-KR" sz="1400" dirty="0"/>
              <a:t>~400</a:t>
            </a:r>
            <a:r>
              <a:rPr lang="ko-KR" altLang="en-US" sz="1400" dirty="0" err="1"/>
              <a:t>억개</a:t>
            </a:r>
            <a:r>
              <a:rPr lang="ko-KR" altLang="en-US" sz="1400" dirty="0"/>
              <a:t> 전망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BBE067-5BDF-403D-BBD1-EA8A7A74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5CC7614-BDC1-EA32-2F37-DA1F67DB86F4}"/>
              </a:ext>
            </a:extLst>
          </p:cNvPr>
          <p:cNvGrpSpPr/>
          <p:nvPr/>
        </p:nvGrpSpPr>
        <p:grpSpPr>
          <a:xfrm>
            <a:off x="4145231" y="3673017"/>
            <a:ext cx="4976763" cy="3238426"/>
            <a:chOff x="3995936" y="3635322"/>
            <a:chExt cx="4976763" cy="3238426"/>
          </a:xfrm>
        </p:grpSpPr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C15708DE-EF09-4280-B1A5-63B65D86D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5936" y="3635322"/>
              <a:ext cx="4976763" cy="3238426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D827BE1-F53A-CD02-CBA1-498012027A1E}"/>
                </a:ext>
              </a:extLst>
            </p:cNvPr>
            <p:cNvSpPr txBox="1"/>
            <p:nvPr/>
          </p:nvSpPr>
          <p:spPr>
            <a:xfrm>
              <a:off x="5949483" y="5010527"/>
              <a:ext cx="936104" cy="430887"/>
            </a:xfrm>
            <a:prstGeom prst="rect">
              <a:avLst/>
            </a:prstGeom>
            <a:solidFill>
              <a:srgbClr val="B5E3F7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>
                  <a:latin typeface="+mn-ea"/>
                </a:rPr>
                <a:t>AI </a:t>
              </a:r>
              <a:r>
                <a:rPr lang="ko-KR" altLang="en-US" sz="1100" b="1" dirty="0">
                  <a:latin typeface="+mn-ea"/>
                </a:rPr>
                <a:t>클라우드</a:t>
              </a:r>
              <a:endParaRPr lang="en-US" altLang="ko-KR" sz="1100" b="1" dirty="0">
                <a:latin typeface="+mn-ea"/>
              </a:endParaRPr>
            </a:p>
            <a:p>
              <a:pPr algn="ctr"/>
              <a:r>
                <a:rPr lang="ko-KR" altLang="en-US" sz="1100" b="1" dirty="0">
                  <a:latin typeface="+mn-ea"/>
                </a:rPr>
                <a:t>서비스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0652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BACFDC2-F245-43C7-AD94-84A5187DF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기술적 관점의 </a:t>
            </a:r>
            <a:r>
              <a:rPr lang="en-US" altLang="ko-KR"/>
              <a:t>AIoT </a:t>
            </a:r>
            <a:r>
              <a:rPr lang="ko-KR" altLang="en-US"/>
              <a:t>기술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B7254E0-4B53-4DC8-AEE3-7A58A0A8E05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 err="1"/>
              <a:t>AIoT</a:t>
            </a:r>
            <a:r>
              <a:rPr lang="en-US" altLang="ko-KR" sz="1600" dirty="0"/>
              <a:t> </a:t>
            </a:r>
            <a:r>
              <a:rPr lang="ko-KR" altLang="en-US" sz="1600" dirty="0"/>
              <a:t>기술</a:t>
            </a:r>
            <a:endParaRPr lang="en-US" altLang="ko-KR" sz="1600" dirty="0"/>
          </a:p>
          <a:p>
            <a:pPr lvl="1"/>
            <a:r>
              <a:rPr lang="ko-KR" altLang="en-US" sz="1400" dirty="0"/>
              <a:t>사물이나 장치를 </a:t>
            </a:r>
            <a:r>
              <a:rPr lang="ko-KR" altLang="en-US" sz="1400" dirty="0" err="1"/>
              <a:t>네트워크화하여</a:t>
            </a:r>
            <a:r>
              <a:rPr lang="ko-KR" altLang="en-US" sz="1400" dirty="0"/>
              <a:t> 인터넷에 연결하는 기술</a:t>
            </a:r>
          </a:p>
          <a:p>
            <a:pPr lvl="2"/>
            <a:r>
              <a:rPr lang="en-US" altLang="ko-KR" sz="1200" dirty="0" err="1"/>
              <a:t>사물이나</a:t>
            </a:r>
            <a:r>
              <a:rPr lang="en-US" altLang="ko-KR" sz="1200" dirty="0"/>
              <a:t> </a:t>
            </a:r>
            <a:r>
              <a:rPr lang="en-US" altLang="ko-KR" sz="1200" dirty="0" err="1"/>
              <a:t>장치들은</a:t>
            </a:r>
            <a:r>
              <a:rPr lang="en-US" altLang="ko-KR" sz="1200" dirty="0"/>
              <a:t> </a:t>
            </a:r>
            <a:r>
              <a:rPr lang="en-US" altLang="ko-KR" sz="1200" dirty="0" err="1"/>
              <a:t>최소한의</a:t>
            </a:r>
            <a:r>
              <a:rPr lang="en-US" altLang="ko-KR" sz="1200" dirty="0"/>
              <a:t> </a:t>
            </a:r>
            <a:r>
              <a:rPr lang="en-US" altLang="ko-KR" sz="1200" dirty="0" err="1"/>
              <a:t>컴퓨팅</a:t>
            </a:r>
            <a:r>
              <a:rPr lang="en-US" altLang="ko-KR" sz="1200" dirty="0"/>
              <a:t> </a:t>
            </a:r>
            <a:r>
              <a:rPr lang="en-US" altLang="ko-KR" sz="1200" dirty="0" err="1"/>
              <a:t>능력과</a:t>
            </a:r>
            <a:r>
              <a:rPr lang="en-US" altLang="ko-KR" sz="1200" dirty="0"/>
              <a:t> </a:t>
            </a:r>
            <a:r>
              <a:rPr lang="en-US" altLang="ko-KR" sz="1200" dirty="0" err="1"/>
              <a:t>네트워킹</a:t>
            </a:r>
            <a:r>
              <a:rPr lang="en-US" altLang="ko-KR" sz="1200" dirty="0"/>
              <a:t> </a:t>
            </a:r>
            <a:r>
              <a:rPr lang="en-US" altLang="ko-KR" sz="1200" dirty="0" err="1"/>
              <a:t>능력</a:t>
            </a:r>
            <a:r>
              <a:rPr lang="en-US" altLang="ko-KR" sz="1200" dirty="0"/>
              <a:t> </a:t>
            </a:r>
            <a:r>
              <a:rPr lang="ko-KR" altLang="en-US" sz="1200" dirty="0"/>
              <a:t>필요</a:t>
            </a:r>
            <a:endParaRPr lang="en-US" altLang="ko-KR" sz="1200" dirty="0"/>
          </a:p>
          <a:p>
            <a:r>
              <a:rPr lang="en-US" altLang="ko-KR" sz="1600" dirty="0" err="1"/>
              <a:t>AIoT</a:t>
            </a:r>
            <a:r>
              <a:rPr lang="en-US" altLang="ko-KR" sz="1600" dirty="0"/>
              <a:t> </a:t>
            </a:r>
            <a:r>
              <a:rPr lang="ko-KR" altLang="en-US" sz="1600" dirty="0"/>
              <a:t>시스템 사례</a:t>
            </a:r>
            <a:endParaRPr lang="en-US" altLang="ko-KR" sz="1600" dirty="0"/>
          </a:p>
          <a:p>
            <a:pPr lvl="1"/>
            <a:r>
              <a:rPr lang="ko-KR" altLang="en-US" sz="1400" dirty="0"/>
              <a:t>데스크톱</a:t>
            </a:r>
            <a:r>
              <a:rPr lang="en-US" altLang="ko-KR" sz="1400" dirty="0"/>
              <a:t>, </a:t>
            </a:r>
            <a:r>
              <a:rPr lang="ko-KR" altLang="en-US" sz="1400" dirty="0"/>
              <a:t>스마트폰</a:t>
            </a:r>
            <a:r>
              <a:rPr lang="en-US" altLang="ko-KR" sz="1400" dirty="0"/>
              <a:t>, </a:t>
            </a:r>
            <a:r>
              <a:rPr lang="ko-KR" altLang="en-US" sz="1400" dirty="0"/>
              <a:t>센서</a:t>
            </a:r>
            <a:r>
              <a:rPr lang="en-US" altLang="ko-KR" sz="1400" dirty="0"/>
              <a:t>, </a:t>
            </a:r>
            <a:r>
              <a:rPr lang="ko-KR" altLang="en-US" sz="1400" dirty="0"/>
              <a:t>모터 등 모든 장치 연결</a:t>
            </a:r>
            <a:endParaRPr lang="en-US" altLang="ko-KR" sz="1400" dirty="0"/>
          </a:p>
          <a:p>
            <a:pPr lvl="1"/>
            <a:r>
              <a:rPr lang="ko-KR" altLang="en-US" sz="1400" dirty="0"/>
              <a:t>클라우드 역할의 대용량 저장 장치</a:t>
            </a:r>
            <a:endParaRPr lang="en-US" altLang="ko-KR" sz="1400" dirty="0"/>
          </a:p>
          <a:p>
            <a:pPr lvl="1"/>
            <a:r>
              <a:rPr lang="ko-KR" altLang="en-US" sz="1400" dirty="0"/>
              <a:t>데이터 수집 및 제어 장치</a:t>
            </a:r>
            <a:endParaRPr lang="en-US" altLang="ko-KR" sz="1400" dirty="0"/>
          </a:p>
          <a:p>
            <a:pPr lvl="2"/>
            <a:r>
              <a:rPr lang="ko-KR" altLang="en-US" sz="1200" dirty="0"/>
              <a:t>센서로부터 정보 수집</a:t>
            </a:r>
            <a:endParaRPr lang="en-US" altLang="ko-KR" sz="1200" dirty="0"/>
          </a:p>
          <a:p>
            <a:pPr lvl="2"/>
            <a:r>
              <a:rPr lang="ko-KR" altLang="en-US" sz="1200" dirty="0"/>
              <a:t>모터 등 제어</a:t>
            </a:r>
            <a:endParaRPr lang="en-US" altLang="ko-KR" sz="1200" dirty="0"/>
          </a:p>
          <a:p>
            <a:pPr lvl="2"/>
            <a:r>
              <a:rPr lang="en-US" altLang="ko-KR" sz="1200" dirty="0"/>
              <a:t>PC</a:t>
            </a:r>
            <a:r>
              <a:rPr lang="ko-KR" altLang="en-US" sz="1200" dirty="0"/>
              <a:t>나 스마트폰 사용자에게 </a:t>
            </a:r>
            <a:endParaRPr lang="en-US" altLang="ko-KR" sz="1200" dirty="0"/>
          </a:p>
          <a:p>
            <a:pPr marL="685800" lvl="2" indent="0">
              <a:buNone/>
            </a:pPr>
            <a:r>
              <a:rPr lang="en-US" altLang="ko-KR" sz="1200" dirty="0"/>
              <a:t>   </a:t>
            </a:r>
            <a:r>
              <a:rPr lang="ko-KR" altLang="en-US" sz="1200" dirty="0"/>
              <a:t>정보 제공</a:t>
            </a:r>
            <a:endParaRPr lang="en-US" altLang="ko-KR" sz="1200" dirty="0"/>
          </a:p>
          <a:p>
            <a:pPr lvl="1"/>
            <a:r>
              <a:rPr lang="en-US" altLang="ko-KR" sz="1400" dirty="0"/>
              <a:t>CCTV</a:t>
            </a:r>
          </a:p>
          <a:p>
            <a:pPr lvl="2"/>
            <a:r>
              <a:rPr lang="ko-KR" altLang="en-US" sz="1200" dirty="0"/>
              <a:t>독자적으로 작동</a:t>
            </a:r>
            <a:endParaRPr lang="en-US" altLang="ko-KR" sz="1200" dirty="0"/>
          </a:p>
          <a:p>
            <a:pPr lvl="2"/>
            <a:r>
              <a:rPr lang="ko-KR" altLang="en-US" sz="1200" dirty="0"/>
              <a:t>영상 스트림 전달</a:t>
            </a:r>
            <a:endParaRPr lang="en-US" altLang="ko-KR" sz="1200" dirty="0"/>
          </a:p>
          <a:p>
            <a:pPr lvl="2"/>
            <a:r>
              <a:rPr lang="ko-KR" altLang="en-US" sz="1200" dirty="0"/>
              <a:t>제어 명령 수신</a:t>
            </a:r>
            <a:r>
              <a:rPr lang="en-US" altLang="ko-KR" sz="1200" dirty="0"/>
              <a:t>, </a:t>
            </a:r>
            <a:r>
              <a:rPr lang="ko-KR" altLang="en-US" sz="1200" dirty="0"/>
              <a:t>카메라 제어 등</a:t>
            </a:r>
            <a:endParaRPr lang="en-US" altLang="ko-KR" sz="1200" dirty="0"/>
          </a:p>
          <a:p>
            <a:pPr lvl="2"/>
            <a:endParaRPr lang="en-US" altLang="ko-KR" sz="1400" dirty="0"/>
          </a:p>
          <a:p>
            <a:pPr lvl="1"/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BBE067-5BDF-403D-BBD1-EA8A7A74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</a:t>
            </a:fld>
            <a:endParaRPr lang="ko-KR" altLang="en-US"/>
          </a:p>
        </p:txBody>
      </p: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8E8F8011-E322-F4F0-1225-7068242383F6}"/>
              </a:ext>
            </a:extLst>
          </p:cNvPr>
          <p:cNvCxnSpPr>
            <a:cxnSpLocks/>
          </p:cNvCxnSpPr>
          <p:nvPr/>
        </p:nvCxnSpPr>
        <p:spPr>
          <a:xfrm rot="16200000" flipV="1">
            <a:off x="6409840" y="3800077"/>
            <a:ext cx="766741" cy="121941"/>
          </a:xfrm>
          <a:prstGeom prst="curvedConnector3">
            <a:avLst>
              <a:gd name="adj1" fmla="val 51838"/>
            </a:avLst>
          </a:prstGeom>
          <a:ln w="28575">
            <a:solidFill>
              <a:srgbClr val="ED7D3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0197E4BC-A4F4-4CFD-ADCC-C248B1AA5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3068960"/>
            <a:ext cx="5624869" cy="3240360"/>
          </a:xfrm>
          <a:prstGeom prst="rect">
            <a:avLst/>
          </a:prstGeom>
        </p:spPr>
      </p:pic>
      <p:sp>
        <p:nvSpPr>
          <p:cNvPr id="21" name="그래픽 19" descr="구름 단색으로 채워진">
            <a:extLst>
              <a:ext uri="{FF2B5EF4-FFF2-40B4-BE49-F238E27FC236}">
                <a16:creationId xmlns:a16="http://schemas.microsoft.com/office/drawing/2014/main" id="{8E525A52-5F3D-2AAC-5230-175921AE8F7E}"/>
              </a:ext>
            </a:extLst>
          </p:cNvPr>
          <p:cNvSpPr/>
          <p:nvPr/>
        </p:nvSpPr>
        <p:spPr>
          <a:xfrm>
            <a:off x="6258845" y="2872489"/>
            <a:ext cx="977451" cy="556511"/>
          </a:xfrm>
          <a:custGeom>
            <a:avLst/>
            <a:gdLst>
              <a:gd name="csX0" fmla="*/ 689427 w 802774"/>
              <a:gd name="csY0" fmla="*/ 227507 h 457059"/>
              <a:gd name="csX1" fmla="*/ 679902 w 802774"/>
              <a:gd name="csY1" fmla="*/ 227507 h 457059"/>
              <a:gd name="csX2" fmla="*/ 679902 w 802774"/>
              <a:gd name="csY2" fmla="*/ 227507 h 457059"/>
              <a:gd name="csX3" fmla="*/ 619895 w 802774"/>
              <a:gd name="csY3" fmla="*/ 111302 h 457059"/>
              <a:gd name="csX4" fmla="*/ 489403 w 802774"/>
              <a:gd name="csY4" fmla="*/ 93204 h 457059"/>
              <a:gd name="csX5" fmla="*/ 296998 w 802774"/>
              <a:gd name="csY5" fmla="*/ 4622 h 457059"/>
              <a:gd name="csX6" fmla="*/ 165552 w 802774"/>
              <a:gd name="csY6" fmla="*/ 170357 h 457059"/>
              <a:gd name="csX7" fmla="*/ 165552 w 802774"/>
              <a:gd name="csY7" fmla="*/ 172262 h 457059"/>
              <a:gd name="csX8" fmla="*/ 28392 w 802774"/>
              <a:gd name="csY8" fmla="*/ 227507 h 457059"/>
              <a:gd name="csX9" fmla="*/ 13152 w 802774"/>
              <a:gd name="csY9" fmla="*/ 374192 h 457059"/>
              <a:gd name="csX10" fmla="*/ 136025 w 802774"/>
              <a:gd name="csY10" fmla="*/ 456107 h 457059"/>
              <a:gd name="csX11" fmla="*/ 136025 w 802774"/>
              <a:gd name="csY11" fmla="*/ 457059 h 457059"/>
              <a:gd name="csX12" fmla="*/ 688475 w 802774"/>
              <a:gd name="csY12" fmla="*/ 457059 h 457059"/>
              <a:gd name="csX13" fmla="*/ 802775 w 802774"/>
              <a:gd name="csY13" fmla="*/ 342759 h 457059"/>
              <a:gd name="csX14" fmla="*/ 689427 w 802774"/>
              <a:gd name="csY14" fmla="*/ 227507 h 4570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802774" h="457059">
                <a:moveTo>
                  <a:pt x="689427" y="227507"/>
                </a:moveTo>
                <a:cubicBezTo>
                  <a:pt x="686570" y="227507"/>
                  <a:pt x="682760" y="227507"/>
                  <a:pt x="679902" y="227507"/>
                </a:cubicBezTo>
                <a:cubicBezTo>
                  <a:pt x="679902" y="227507"/>
                  <a:pt x="679902" y="227507"/>
                  <a:pt x="679902" y="227507"/>
                </a:cubicBezTo>
                <a:cubicBezTo>
                  <a:pt x="679902" y="180834"/>
                  <a:pt x="657043" y="137972"/>
                  <a:pt x="619895" y="111302"/>
                </a:cubicBezTo>
                <a:cubicBezTo>
                  <a:pt x="581795" y="84632"/>
                  <a:pt x="533218" y="77964"/>
                  <a:pt x="489403" y="93204"/>
                </a:cubicBezTo>
                <a:cubicBezTo>
                  <a:pt x="453208" y="22719"/>
                  <a:pt x="373198" y="-13476"/>
                  <a:pt x="296998" y="4622"/>
                </a:cubicBezTo>
                <a:cubicBezTo>
                  <a:pt x="220797" y="22719"/>
                  <a:pt x="165552" y="91299"/>
                  <a:pt x="165552" y="170357"/>
                </a:cubicBezTo>
                <a:cubicBezTo>
                  <a:pt x="165552" y="170357"/>
                  <a:pt x="165552" y="171309"/>
                  <a:pt x="165552" y="172262"/>
                </a:cubicBezTo>
                <a:cubicBezTo>
                  <a:pt x="113165" y="163689"/>
                  <a:pt x="60777" y="185597"/>
                  <a:pt x="28392" y="227507"/>
                </a:cubicBezTo>
                <a:cubicBezTo>
                  <a:pt x="-3040" y="270369"/>
                  <a:pt x="-8755" y="326567"/>
                  <a:pt x="13152" y="374192"/>
                </a:cubicBezTo>
                <a:cubicBezTo>
                  <a:pt x="36012" y="421817"/>
                  <a:pt x="83637" y="453249"/>
                  <a:pt x="136025" y="456107"/>
                </a:cubicBezTo>
                <a:lnTo>
                  <a:pt x="136025" y="457059"/>
                </a:lnTo>
                <a:lnTo>
                  <a:pt x="688475" y="457059"/>
                </a:lnTo>
                <a:cubicBezTo>
                  <a:pt x="751340" y="457059"/>
                  <a:pt x="802775" y="405624"/>
                  <a:pt x="802775" y="342759"/>
                </a:cubicBezTo>
                <a:cubicBezTo>
                  <a:pt x="802775" y="279894"/>
                  <a:pt x="752293" y="227507"/>
                  <a:pt x="689427" y="227507"/>
                </a:cubicBezTo>
                <a:close/>
              </a:path>
            </a:pathLst>
          </a:custGeom>
          <a:solidFill>
            <a:srgbClr val="C1D7FA"/>
          </a:solidFill>
          <a:ln w="9525" cap="flat">
            <a:noFill/>
            <a:prstDash val="solid"/>
            <a:miter/>
          </a:ln>
        </p:spPr>
        <p:txBody>
          <a:bodyPr anchor="b"/>
          <a:lstStyle/>
          <a:p>
            <a:pPr algn="ctr"/>
            <a:r>
              <a:rPr lang="en-US" altLang="ko-KR" sz="900" b="1" dirty="0"/>
              <a:t>AI </a:t>
            </a:r>
            <a:r>
              <a:rPr lang="ko-KR" altLang="en-US" sz="900" b="1" dirty="0"/>
              <a:t>클라우드</a:t>
            </a:r>
            <a:endParaRPr lang="en-US" altLang="ko-KR" sz="900" b="1" dirty="0"/>
          </a:p>
          <a:p>
            <a:pPr algn="ctr"/>
            <a:r>
              <a:rPr lang="ko-KR" altLang="en-US" sz="900" b="1" dirty="0"/>
              <a:t> 서비스</a:t>
            </a:r>
          </a:p>
        </p:txBody>
      </p:sp>
    </p:spTree>
    <p:extLst>
      <p:ext uri="{BB962C8B-B14F-4D97-AF65-F5344CB8AC3E}">
        <p14:creationId xmlns:p14="http://schemas.microsoft.com/office/powerpoint/2010/main" val="2849787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F0639F-DEB5-4585-8AC1-0A634791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 책의 학습 범위 및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F6B9B1-2FE6-42CB-A36B-357E733C1F4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이 책의 학습 범위 및 목표</a:t>
            </a:r>
            <a:endParaRPr lang="en-US" altLang="ko-KR"/>
          </a:p>
          <a:p>
            <a:pPr lvl="1"/>
            <a:r>
              <a:rPr lang="ko-KR" altLang="en-US"/>
              <a:t>슬라이드 </a:t>
            </a:r>
            <a:r>
              <a:rPr lang="en-US" altLang="ko-KR"/>
              <a:t>6</a:t>
            </a:r>
            <a:r>
              <a:rPr lang="ko-KR" altLang="en-US"/>
              <a:t>의 </a:t>
            </a:r>
            <a:r>
              <a:rPr lang="en-US" altLang="ko-KR"/>
              <a:t>AIoT </a:t>
            </a:r>
            <a:r>
              <a:rPr lang="ko-KR" altLang="en-US"/>
              <a:t>시스템 구현 기술 학습</a:t>
            </a:r>
            <a:endParaRPr lang="en-US" altLang="ko-KR"/>
          </a:p>
          <a:p>
            <a:pPr lvl="2"/>
            <a:r>
              <a:rPr lang="ko-KR" altLang="en-US"/>
              <a:t>데이터 수집 및 장치 제어 기술</a:t>
            </a:r>
            <a:endParaRPr lang="en-US" altLang="ko-KR"/>
          </a:p>
          <a:p>
            <a:pPr lvl="2"/>
            <a:r>
              <a:rPr lang="ko-KR" altLang="en-US"/>
              <a:t>센서 제어 소프트웨어 개발 능력</a:t>
            </a:r>
            <a:endParaRPr lang="en-US" altLang="ko-KR"/>
          </a:p>
          <a:p>
            <a:pPr lvl="2"/>
            <a:r>
              <a:rPr lang="ko-KR" altLang="en-US"/>
              <a:t>카메라에 </a:t>
            </a:r>
            <a:r>
              <a:rPr lang="en-US" altLang="ko-KR"/>
              <a:t>AI </a:t>
            </a:r>
            <a:r>
              <a:rPr lang="ko-KR" altLang="en-US"/>
              <a:t>기술 활용</a:t>
            </a:r>
            <a:endParaRPr lang="en-US" altLang="ko-KR"/>
          </a:p>
          <a:p>
            <a:pPr lvl="1"/>
            <a:r>
              <a:rPr lang="ko-KR" altLang="en-US"/>
              <a:t>이 책의 목적에 적합한 것으로 추천되는 장치들</a:t>
            </a:r>
            <a:endParaRPr lang="en-US" altLang="ko-KR"/>
          </a:p>
          <a:p>
            <a:pPr lvl="2"/>
            <a:r>
              <a:rPr lang="ko-KR" altLang="en-US"/>
              <a:t>아두이노</a:t>
            </a:r>
            <a:r>
              <a:rPr lang="en-US" altLang="ko-KR"/>
              <a:t>(Arduino)</a:t>
            </a:r>
            <a:r>
              <a:rPr lang="ko-KR" altLang="en-US"/>
              <a:t>와 라즈베리파이</a:t>
            </a:r>
            <a:r>
              <a:rPr lang="en-US" altLang="ko-KR"/>
              <a:t>(Raspberry Pi)</a:t>
            </a:r>
          </a:p>
          <a:p>
            <a:pPr lvl="2"/>
            <a:r>
              <a:rPr lang="ko-KR" altLang="en-US" b="1"/>
              <a:t>이들 중 어떤 것이 가장 적합할까</a:t>
            </a:r>
            <a:r>
              <a:rPr lang="en-US" altLang="ko-KR" b="1"/>
              <a:t>?(</a:t>
            </a:r>
            <a:r>
              <a:rPr lang="ko-KR" altLang="en-US" b="1"/>
              <a:t>답</a:t>
            </a:r>
            <a:r>
              <a:rPr lang="en-US" altLang="ko-KR" b="1"/>
              <a:t>: </a:t>
            </a:r>
            <a:r>
              <a:rPr lang="ko-KR" altLang="en-US" b="1"/>
              <a:t>라즈베리파이</a:t>
            </a:r>
            <a:r>
              <a:rPr lang="en-US" altLang="ko-KR" b="1"/>
              <a:t>)</a:t>
            </a:r>
            <a:endParaRPr lang="ko-KR" altLang="en-US" b="1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2613DD-C5D3-4016-9092-9F64882F4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8435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F6D5C-B790-4178-8F04-944A2C033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아두이노와 라즈베리파이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83358D-6ACE-4FE9-AFDB-3F381802DE0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아두이노</a:t>
            </a:r>
            <a:endParaRPr lang="en-US" altLang="ko-KR"/>
          </a:p>
          <a:p>
            <a:pPr lvl="1"/>
            <a:r>
              <a:rPr lang="en-US" altLang="ko-KR"/>
              <a:t>2005</a:t>
            </a:r>
            <a:r>
              <a:rPr lang="ko-KR" altLang="en-US"/>
              <a:t>년 개발 시작</a:t>
            </a:r>
            <a:r>
              <a:rPr lang="en-US" altLang="ko-KR"/>
              <a:t>, </a:t>
            </a:r>
            <a:r>
              <a:rPr lang="ko-KR" altLang="en-US"/>
              <a:t>현재 많이 사용</a:t>
            </a:r>
            <a:endParaRPr lang="en-US" altLang="ko-KR"/>
          </a:p>
          <a:p>
            <a:pPr lvl="1"/>
            <a:r>
              <a:rPr lang="ko-KR" altLang="en-US"/>
              <a:t>라즈베리파이와 비슷해보이지만</a:t>
            </a:r>
            <a:r>
              <a:rPr lang="en-US" altLang="ko-KR"/>
              <a:t>, </a:t>
            </a:r>
          </a:p>
          <a:p>
            <a:pPr lvl="2"/>
            <a:r>
              <a:rPr lang="ko-KR" altLang="en-US"/>
              <a:t>구조와 성능에서 열악</a:t>
            </a:r>
            <a:endParaRPr lang="en-US" altLang="ko-KR"/>
          </a:p>
          <a:p>
            <a:pPr lvl="2"/>
            <a:r>
              <a:rPr lang="ko-KR" altLang="en-US"/>
              <a:t>활용 목표와 응용 분야가 근본적으로 다름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4B9764F-168B-4E32-89F1-38DCA1B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2049" name="_x391495264" descr="EMB00000d440669">
            <a:extLst>
              <a:ext uri="{FF2B5EF4-FFF2-40B4-BE49-F238E27FC236}">
                <a16:creationId xmlns:a16="http://schemas.microsoft.com/office/drawing/2014/main" id="{520D512A-752D-4756-BBC5-90812B94C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397078"/>
            <a:ext cx="3512069" cy="2631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09EA351-ED88-480E-99FC-92243F787640}"/>
              </a:ext>
            </a:extLst>
          </p:cNvPr>
          <p:cNvSpPr/>
          <p:nvPr/>
        </p:nvSpPr>
        <p:spPr>
          <a:xfrm>
            <a:off x="1601395" y="6028983"/>
            <a:ext cx="2036135" cy="390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 latinLnBrk="0">
              <a:lnSpc>
                <a:spcPct val="160000"/>
              </a:lnSpc>
            </a:pP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(a) </a:t>
            </a:r>
            <a:r>
              <a:rPr lang="ko-KR" altLang="en-US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아두이노 우노</a:t>
            </a: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(Uno)</a:t>
            </a:r>
            <a:endParaRPr lang="ko-KR" altLang="en-US" sz="140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145AF2-47F2-4B10-A3F7-AB7E12481AC7}"/>
              </a:ext>
            </a:extLst>
          </p:cNvPr>
          <p:cNvSpPr/>
          <p:nvPr/>
        </p:nvSpPr>
        <p:spPr>
          <a:xfrm>
            <a:off x="5329779" y="6025395"/>
            <a:ext cx="1869422" cy="390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 latinLnBrk="0">
              <a:lnSpc>
                <a:spcPct val="160000"/>
              </a:lnSpc>
            </a:pP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(b) </a:t>
            </a:r>
            <a:r>
              <a:rPr lang="ko-KR" altLang="en-US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</a:t>
            </a: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4 B</a:t>
            </a:r>
            <a:endParaRPr lang="ko-KR" altLang="en-US" sz="140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87B8E50-947F-451A-836E-76BA987E25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507" y="3582838"/>
            <a:ext cx="3385608" cy="226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442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852E2-0264-4E02-B3E1-A7F7DAA36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아두이노와 라즈베리파이 하드웨어 비교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AAAF03-207A-4180-91DB-29242F4D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860E35-1FAD-4750-9D21-4FF57CB1C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00808"/>
            <a:ext cx="7668344" cy="387073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F442BCE-1408-48D4-A664-5D50A8F4351D}"/>
              </a:ext>
            </a:extLst>
          </p:cNvPr>
          <p:cNvSpPr/>
          <p:nvPr/>
        </p:nvSpPr>
        <p:spPr>
          <a:xfrm>
            <a:off x="395536" y="3429000"/>
            <a:ext cx="7882408" cy="432048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421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B17FA-C6AE-44C3-A004-A19349FB9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아두이노와 라즈베리파이 목적의 차이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3FB9E3-563C-4817-9B8D-7F1F4BF3199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아두이노</a:t>
            </a:r>
            <a:endParaRPr lang="en-US" altLang="ko-KR"/>
          </a:p>
          <a:p>
            <a:pPr lvl="1"/>
            <a:r>
              <a:rPr lang="ko-KR" altLang="en-US"/>
              <a:t>오직 </a:t>
            </a:r>
            <a:r>
              <a:rPr lang="en-US" altLang="ko-KR"/>
              <a:t>1</a:t>
            </a:r>
            <a:r>
              <a:rPr lang="ko-KR" altLang="en-US"/>
              <a:t>개의 프로그램만 탑재하여 실행할 목적</a:t>
            </a:r>
            <a:endParaRPr lang="en-US" altLang="ko-KR"/>
          </a:p>
          <a:p>
            <a:pPr lvl="2"/>
            <a:r>
              <a:rPr lang="ko-KR" altLang="en-US"/>
              <a:t>멀티태스킹 불가능</a:t>
            </a:r>
          </a:p>
          <a:p>
            <a:pPr lvl="2"/>
            <a:r>
              <a:rPr lang="en-US" altLang="ko-KR"/>
              <a:t>8</a:t>
            </a:r>
            <a:r>
              <a:rPr lang="ko-KR" altLang="en-US"/>
              <a:t>비트 컴퓨터</a:t>
            </a:r>
            <a:r>
              <a:rPr lang="en-US" altLang="ko-KR"/>
              <a:t>, </a:t>
            </a:r>
            <a:r>
              <a:rPr lang="ko-KR" altLang="en-US"/>
              <a:t>메모리 용량 적기 때문</a:t>
            </a:r>
          </a:p>
          <a:p>
            <a:pPr lvl="2"/>
            <a:r>
              <a:rPr lang="ko-KR" altLang="en-US"/>
              <a:t>코드 크기가 </a:t>
            </a:r>
            <a:r>
              <a:rPr lang="en-US" altLang="ko-KR"/>
              <a:t>32KB</a:t>
            </a:r>
            <a:r>
              <a:rPr lang="ko-KR" altLang="en-US"/>
              <a:t>보다 크거나 변수나 데이터의 크기가 </a:t>
            </a:r>
            <a:r>
              <a:rPr lang="en-US" altLang="ko-KR"/>
              <a:t>2KB</a:t>
            </a:r>
            <a:r>
              <a:rPr lang="ko-KR" altLang="en-US"/>
              <a:t>보다 큰 프로그램 작성 불가</a:t>
            </a:r>
            <a:endParaRPr lang="en-US" altLang="ko-KR"/>
          </a:p>
          <a:p>
            <a:pPr lvl="1"/>
            <a:r>
              <a:rPr lang="ko-KR" altLang="en-US"/>
              <a:t>응용분야</a:t>
            </a:r>
            <a:endParaRPr lang="en-US" altLang="ko-KR"/>
          </a:p>
          <a:p>
            <a:pPr lvl="2"/>
            <a:r>
              <a:rPr lang="ko-KR" altLang="en-US"/>
              <a:t>센서나 모터 등과 같은 장치 제어의 단순한 목적에 활용</a:t>
            </a:r>
            <a:endParaRPr lang="en-US" altLang="ko-KR"/>
          </a:p>
          <a:p>
            <a:r>
              <a:rPr lang="ko-KR" altLang="en-US"/>
              <a:t>라즈베리파이</a:t>
            </a:r>
            <a:endParaRPr lang="en-US" altLang="ko-KR"/>
          </a:p>
          <a:p>
            <a:pPr lvl="1"/>
            <a:r>
              <a:rPr lang="en-US" altLang="ko-KR"/>
              <a:t>64</a:t>
            </a:r>
            <a:r>
              <a:rPr lang="ko-KR" altLang="en-US"/>
              <a:t>비트 컴퓨터</a:t>
            </a:r>
            <a:r>
              <a:rPr lang="en-US" altLang="ko-KR"/>
              <a:t>, </a:t>
            </a:r>
            <a:r>
              <a:rPr lang="ko-KR" altLang="en-US"/>
              <a:t>멀티태스킹 실행 가능</a:t>
            </a:r>
            <a:endParaRPr lang="en-US" altLang="ko-KR"/>
          </a:p>
          <a:p>
            <a:pPr lvl="2"/>
            <a:r>
              <a:rPr lang="ko-KR" altLang="en-US"/>
              <a:t>여러 응용프로그램 동시 실행 가능</a:t>
            </a:r>
            <a:endParaRPr lang="en-US" altLang="ko-KR"/>
          </a:p>
          <a:p>
            <a:pPr lvl="1"/>
            <a:r>
              <a:rPr lang="ko-KR" altLang="en-US"/>
              <a:t>응용분야 </a:t>
            </a:r>
            <a:endParaRPr lang="en-US" altLang="ko-KR"/>
          </a:p>
          <a:p>
            <a:pPr lvl="2"/>
            <a:r>
              <a:rPr lang="ko-KR" altLang="en-US"/>
              <a:t>데스크톱</a:t>
            </a:r>
            <a:endParaRPr lang="en-US" altLang="ko-KR"/>
          </a:p>
          <a:p>
            <a:pPr lvl="2"/>
            <a:r>
              <a:rPr lang="ko-KR" altLang="en-US"/>
              <a:t>웹 서버나 파일 서버 혹은 미디어 서버 등 다양한 서버</a:t>
            </a:r>
            <a:endParaRPr lang="en-US" altLang="ko-KR"/>
          </a:p>
          <a:p>
            <a:pPr lvl="2"/>
            <a:r>
              <a:rPr lang="ko-KR" altLang="en-US"/>
              <a:t>임베디드 컴퓨터</a:t>
            </a:r>
          </a:p>
          <a:p>
            <a:pPr lvl="2"/>
            <a:endParaRPr lang="ko-KR" altLang="en-US"/>
          </a:p>
          <a:p>
            <a:pPr lvl="1"/>
            <a:endParaRPr lang="ko-KR" altLang="en-US"/>
          </a:p>
          <a:p>
            <a:pPr lvl="2"/>
            <a:endParaRPr lang="ko-KR" altLang="en-US"/>
          </a:p>
          <a:p>
            <a:pPr lvl="1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8B34DFB-9A39-4E8B-BEEE-089B5EC0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114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B17FA-C6AE-44C3-A004-A19349FB9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운영체제 여부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3FB9E3-563C-4817-9B8D-7F1F4BF3199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아두이노</a:t>
            </a:r>
            <a:endParaRPr lang="en-US" altLang="ko-KR"/>
          </a:p>
          <a:p>
            <a:pPr lvl="1"/>
            <a:r>
              <a:rPr lang="ko-KR" altLang="en-US"/>
              <a:t>하드웨어 사양이 열악하여 </a:t>
            </a:r>
            <a:r>
              <a:rPr lang="ko-KR" altLang="en-US" b="1"/>
              <a:t>운영체제 설치될 수 없음</a:t>
            </a:r>
            <a:endParaRPr lang="en-US" altLang="ko-KR" b="1"/>
          </a:p>
          <a:p>
            <a:pPr lvl="2"/>
            <a:r>
              <a:rPr lang="ko-KR" altLang="en-US"/>
              <a:t>멀티태스킹이 이루어지지 않기 때문에</a:t>
            </a:r>
            <a:r>
              <a:rPr lang="en-US" altLang="ko-KR"/>
              <a:t>, </a:t>
            </a:r>
            <a:r>
              <a:rPr lang="ko-KR" altLang="en-US"/>
              <a:t>근본적으로 운영체제 불필요</a:t>
            </a:r>
            <a:endParaRPr lang="en-US" altLang="ko-KR"/>
          </a:p>
          <a:p>
            <a:pPr lvl="1"/>
            <a:r>
              <a:rPr lang="ko-KR" altLang="en-US"/>
              <a:t>보드의 플래시 메모리에 부트로더</a:t>
            </a:r>
            <a:r>
              <a:rPr lang="en-US" altLang="ko-KR"/>
              <a:t>(bootloader)</a:t>
            </a:r>
            <a:r>
              <a:rPr lang="ko-KR" altLang="en-US"/>
              <a:t> 펌웨어 내장</a:t>
            </a:r>
            <a:endParaRPr lang="en-US" altLang="ko-KR"/>
          </a:p>
          <a:p>
            <a:pPr lvl="2"/>
            <a:r>
              <a:rPr lang="ko-KR" altLang="en-US"/>
              <a:t>응용프로그램을 </a:t>
            </a:r>
            <a:r>
              <a:rPr lang="en-US" altLang="ko-KR"/>
              <a:t>PC</a:t>
            </a:r>
            <a:r>
              <a:rPr lang="ko-KR" altLang="en-US"/>
              <a:t>로부터 다운받아 플래시 메모리에 저장</a:t>
            </a:r>
            <a:endParaRPr lang="en-US" altLang="ko-KR"/>
          </a:p>
          <a:p>
            <a:pPr lvl="2"/>
            <a:r>
              <a:rPr lang="ko-KR" altLang="en-US"/>
              <a:t>다운로드 받은 </a:t>
            </a:r>
            <a:r>
              <a:rPr lang="en-US" altLang="ko-KR"/>
              <a:t>1</a:t>
            </a:r>
            <a:r>
              <a:rPr lang="ko-KR" altLang="en-US"/>
              <a:t>개의 응용프로그램만 영원히 실행</a:t>
            </a:r>
          </a:p>
          <a:p>
            <a:r>
              <a:rPr lang="ko-KR" altLang="en-US"/>
              <a:t>라즈베리파이</a:t>
            </a:r>
            <a:endParaRPr lang="en-US" altLang="ko-KR"/>
          </a:p>
          <a:p>
            <a:pPr lvl="1"/>
            <a:r>
              <a:rPr lang="ko-KR" altLang="en-US"/>
              <a:t>운영체제 설치</a:t>
            </a:r>
            <a:endParaRPr lang="en-US" altLang="ko-KR"/>
          </a:p>
          <a:p>
            <a:pPr lvl="2"/>
            <a:r>
              <a:rPr lang="ko-KR" altLang="en-US"/>
              <a:t>설치 가능한 운영체제</a:t>
            </a:r>
            <a:endParaRPr lang="en-US" altLang="ko-KR"/>
          </a:p>
          <a:p>
            <a:pPr lvl="3"/>
            <a:r>
              <a:rPr lang="ko-KR" altLang="en-US"/>
              <a:t>우분투</a:t>
            </a:r>
            <a:r>
              <a:rPr lang="en-US" altLang="ko-KR"/>
              <a:t>, </a:t>
            </a:r>
            <a:r>
              <a:rPr lang="ko-KR" altLang="en-US"/>
              <a:t>데비안</a:t>
            </a:r>
            <a:r>
              <a:rPr lang="en-US" altLang="ko-KR"/>
              <a:t>, </a:t>
            </a:r>
            <a:r>
              <a:rPr lang="ko-KR" altLang="en-US"/>
              <a:t>라즈베리파이 운영제체 등 다양한 운영체제</a:t>
            </a:r>
            <a:endParaRPr lang="en-US" altLang="ko-KR"/>
          </a:p>
          <a:p>
            <a:pPr lvl="2"/>
            <a:r>
              <a:rPr lang="ko-KR" altLang="en-US" b="1"/>
              <a:t>운영체제는 동시에 여러 응용프로그램을 멀티태스킹으로 실행</a:t>
            </a:r>
            <a:endParaRPr lang="en-US" altLang="ko-KR" b="1"/>
          </a:p>
          <a:p>
            <a:pPr lvl="3"/>
            <a:r>
              <a:rPr lang="ko-KR" altLang="en-US"/>
              <a:t>롬 브라우저</a:t>
            </a:r>
            <a:r>
              <a:rPr lang="en-US" altLang="ko-KR"/>
              <a:t>, </a:t>
            </a:r>
            <a:r>
              <a:rPr lang="ko-KR" altLang="en-US"/>
              <a:t>편집기</a:t>
            </a:r>
            <a:r>
              <a:rPr lang="en-US" altLang="ko-KR"/>
              <a:t>, </a:t>
            </a:r>
            <a:r>
              <a:rPr lang="ko-KR" altLang="en-US"/>
              <a:t>동영상 재생기 등 동시 실행</a:t>
            </a:r>
            <a:r>
              <a:rPr lang="en-US" altLang="ko-KR"/>
              <a:t>(PC</a:t>
            </a:r>
            <a:r>
              <a:rPr lang="ko-KR" altLang="en-US"/>
              <a:t>와 동일</a:t>
            </a:r>
            <a:r>
              <a:rPr lang="en-US" altLang="ko-KR"/>
              <a:t>)</a:t>
            </a:r>
            <a:endParaRPr lang="ko-KR" altLang="en-US"/>
          </a:p>
          <a:p>
            <a:pPr lvl="2"/>
            <a:r>
              <a:rPr lang="en-US" altLang="ko-KR"/>
              <a:t>키보드, 마우스, USB, 디스플레이 등 </a:t>
            </a:r>
            <a:r>
              <a:rPr lang="ko-KR" altLang="en-US"/>
              <a:t>장치</a:t>
            </a:r>
            <a:r>
              <a:rPr lang="en-US" altLang="ko-KR"/>
              <a:t> 연결 </a:t>
            </a:r>
            <a:r>
              <a:rPr lang="ko-KR" altLang="en-US"/>
              <a:t>가능</a:t>
            </a:r>
            <a:endParaRPr lang="en-US" altLang="ko-KR"/>
          </a:p>
          <a:p>
            <a:pPr lvl="2"/>
            <a:r>
              <a:rPr lang="en-US" altLang="ko-KR"/>
              <a:t>LAN/Wifi</a:t>
            </a:r>
            <a:r>
              <a:rPr lang="ko-KR" altLang="en-US"/>
              <a:t>를 사용하여 외부 세계와 인터넷 통신</a:t>
            </a:r>
          </a:p>
          <a:p>
            <a:pPr lvl="2"/>
            <a:r>
              <a:rPr lang="ko-KR" altLang="en-US"/>
              <a:t>소형이라는 점을 빼고 일반적인 범용 컴퓨터와 동일</a:t>
            </a:r>
          </a:p>
          <a:p>
            <a:pPr lvl="1"/>
            <a:endParaRPr lang="ko-KR" altLang="en-US"/>
          </a:p>
          <a:p>
            <a:pPr lvl="2"/>
            <a:endParaRPr lang="ko-KR" altLang="en-US"/>
          </a:p>
          <a:p>
            <a:pPr lvl="1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8B34DFB-9A39-4E8B-BEEE-089B5EC0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130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B17FA-C6AE-44C3-A004-A19349FB9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응용프로그램 개발 방법 차이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3FB9E3-563C-4817-9B8D-7F1F4BF3199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아두이노</a:t>
            </a:r>
            <a:endParaRPr lang="en-US" altLang="ko-KR"/>
          </a:p>
          <a:p>
            <a:pPr lvl="1"/>
            <a:r>
              <a:rPr lang="en-US" altLang="ko-KR"/>
              <a:t>C/C++</a:t>
            </a:r>
            <a:r>
              <a:rPr lang="ko-KR" altLang="en-US"/>
              <a:t>과 유사한 특별한 언어 사용</a:t>
            </a:r>
            <a:endParaRPr lang="en-US" altLang="ko-KR"/>
          </a:p>
          <a:p>
            <a:pPr lvl="1"/>
            <a:r>
              <a:rPr lang="en-US" altLang="ko-KR"/>
              <a:t>PC</a:t>
            </a:r>
            <a:r>
              <a:rPr lang="ko-KR" altLang="en-US"/>
              <a:t>에서 </a:t>
            </a:r>
            <a:r>
              <a:rPr lang="en-US" altLang="ko-KR"/>
              <a:t>sketch</a:t>
            </a:r>
            <a:r>
              <a:rPr lang="ko-KR" altLang="en-US"/>
              <a:t> 프로그램으로 응용프로그램 개발</a:t>
            </a:r>
            <a:endParaRPr lang="en-US" altLang="ko-KR"/>
          </a:p>
          <a:p>
            <a:pPr lvl="2"/>
            <a:r>
              <a:rPr lang="ko-KR" altLang="en-US"/>
              <a:t>개발된 응용프로그램은 컴파일된 후</a:t>
            </a:r>
            <a:r>
              <a:rPr lang="en-US" altLang="ko-KR"/>
              <a:t>, </a:t>
            </a:r>
            <a:r>
              <a:rPr lang="ko-KR" altLang="en-US"/>
              <a:t>아두이노에 업로드</a:t>
            </a:r>
            <a:endParaRPr lang="en-US" altLang="ko-KR"/>
          </a:p>
          <a:p>
            <a:r>
              <a:rPr lang="ko-KR" altLang="en-US"/>
              <a:t>라즈베리파이</a:t>
            </a:r>
            <a:endParaRPr lang="en-US" altLang="ko-KR"/>
          </a:p>
          <a:p>
            <a:pPr lvl="1"/>
            <a:r>
              <a:rPr lang="ko-KR" altLang="en-US"/>
              <a:t>거의 모든 언어 사용</a:t>
            </a:r>
            <a:endParaRPr lang="en-US" altLang="ko-KR"/>
          </a:p>
          <a:p>
            <a:pPr lvl="2" fontAlgn="base"/>
            <a:r>
              <a:rPr lang="en-US" altLang="ko-KR"/>
              <a:t>C/C++, </a:t>
            </a:r>
            <a:r>
              <a:rPr lang="ko-KR" altLang="en-US"/>
              <a:t>파이썬</a:t>
            </a:r>
            <a:r>
              <a:rPr lang="en-US" altLang="ko-KR"/>
              <a:t>, </a:t>
            </a:r>
            <a:r>
              <a:rPr lang="ko-KR" altLang="en-US"/>
              <a:t>자바</a:t>
            </a:r>
            <a:r>
              <a:rPr lang="en-US" altLang="ko-KR"/>
              <a:t>, C#, </a:t>
            </a:r>
            <a:r>
              <a:rPr lang="ko-KR" altLang="en-US"/>
              <a:t>자바스크립트 등</a:t>
            </a:r>
          </a:p>
          <a:p>
            <a:pPr lvl="1"/>
            <a:r>
              <a:rPr lang="ko-KR" altLang="en-US"/>
              <a:t>개발자가 라즈베리파이에 로그인하여 응용프로그램 개발</a:t>
            </a:r>
            <a:endParaRPr lang="en-US" altLang="ko-KR"/>
          </a:p>
          <a:p>
            <a:pPr lvl="2"/>
            <a:r>
              <a:rPr lang="ko-KR" altLang="en-US"/>
              <a:t>개발된 응용프로그램은 컴파일된 후</a:t>
            </a:r>
            <a:r>
              <a:rPr lang="en-US" altLang="ko-KR"/>
              <a:t>, </a:t>
            </a:r>
            <a:r>
              <a:rPr lang="ko-KR" altLang="en-US"/>
              <a:t>라즈베리파이의 저장소</a:t>
            </a:r>
            <a:r>
              <a:rPr lang="en-US" altLang="ko-KR"/>
              <a:t>(SD </a:t>
            </a:r>
            <a:r>
              <a:rPr lang="ko-KR" altLang="en-US"/>
              <a:t>카드 등</a:t>
            </a:r>
            <a:r>
              <a:rPr lang="en-US" altLang="ko-KR"/>
              <a:t>)</a:t>
            </a:r>
            <a:r>
              <a:rPr lang="ko-KR" altLang="en-US"/>
              <a:t>에 저장</a:t>
            </a:r>
          </a:p>
          <a:p>
            <a:pPr lvl="2"/>
            <a:endParaRPr lang="ko-KR" altLang="en-US"/>
          </a:p>
          <a:p>
            <a:pPr lvl="1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8B34DFB-9A39-4E8B-BEEE-089B5EC0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337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28F90-B763-43FC-BFFA-A1364BD9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Sketch </a:t>
            </a:r>
            <a:r>
              <a:rPr lang="ko-KR" altLang="en-US"/>
              <a:t>소프트웨어와 라즈베리파이 운영체제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8FB131-B5D4-4F1B-AB02-ACAAACDA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21168-CF68-4DFC-83A3-4761F96ABD4C}"/>
              </a:ext>
            </a:extLst>
          </p:cNvPr>
          <p:cNvSpPr txBox="1"/>
          <p:nvPr/>
        </p:nvSpPr>
        <p:spPr>
          <a:xfrm>
            <a:off x="261010" y="5082476"/>
            <a:ext cx="25266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아두이노 응용프로그램</a:t>
            </a:r>
            <a:endParaRPr lang="en-US" altLang="ko-KR" sz="1400"/>
          </a:p>
          <a:p>
            <a:pPr algn="ctr"/>
            <a:r>
              <a:rPr lang="ko-KR" altLang="en-US" sz="1400"/>
              <a:t>개발을 돕는 스케치 프로그램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602536-E237-4022-A496-0685B0365F70}"/>
              </a:ext>
            </a:extLst>
          </p:cNvPr>
          <p:cNvSpPr txBox="1"/>
          <p:nvPr/>
        </p:nvSpPr>
        <p:spPr>
          <a:xfrm>
            <a:off x="4173242" y="5210255"/>
            <a:ext cx="4330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라즈베리파이에 라즈베리파이 운영체제를 설치</a:t>
            </a:r>
            <a:r>
              <a:rPr lang="en-US" altLang="ko-KR" sz="1400"/>
              <a:t>.</a:t>
            </a:r>
            <a:r>
              <a:rPr lang="ko-KR" altLang="en-US" sz="1400"/>
              <a:t> </a:t>
            </a:r>
            <a:endParaRPr lang="en-US" altLang="ko-KR" sz="1400"/>
          </a:p>
          <a:p>
            <a:pPr algn="ctr"/>
            <a:r>
              <a:rPr lang="ko-KR" altLang="en-US" sz="1400"/>
              <a:t>개발자가 로그인 후 응용프로그램을 개발하는 모습</a:t>
            </a:r>
          </a:p>
        </p:txBody>
      </p:sp>
      <p:pic>
        <p:nvPicPr>
          <p:cNvPr id="12" name="_x145145688" descr="EMB000036483a09">
            <a:extLst>
              <a:ext uri="{FF2B5EF4-FFF2-40B4-BE49-F238E27FC236}">
                <a16:creationId xmlns:a16="http://schemas.microsoft.com/office/drawing/2014/main" id="{175A410E-0652-45B1-AEB1-7BA550A5A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29" y="1733364"/>
            <a:ext cx="2720086" cy="325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4377E0C-A41B-4649-9B38-B8FE75B743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515631"/>
            <a:ext cx="5229315" cy="366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927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1.2 </a:t>
            </a:r>
            <a:r>
              <a:rPr lang="ko-KR" altLang="en-US"/>
              <a:t>라즈베리파이 개요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795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1668EA2-7F35-46AD-829A-C1FBBC522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2708920"/>
            <a:ext cx="4608512" cy="3776282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교육 목적으로 탄생한 라즈베리파이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4680520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/>
              <a:t>라즈베리파이</a:t>
            </a:r>
            <a:r>
              <a:rPr lang="en-US" altLang="ko-KR"/>
              <a:t>(Raspberry Pi)</a:t>
            </a:r>
          </a:p>
          <a:p>
            <a:pPr lvl="1"/>
            <a:r>
              <a:rPr lang="ko-KR" altLang="en-US"/>
              <a:t>영국</a:t>
            </a:r>
            <a:r>
              <a:rPr lang="en-US" altLang="ko-KR"/>
              <a:t>,</a:t>
            </a:r>
            <a:r>
              <a:rPr lang="ko-KR" altLang="en-US"/>
              <a:t> 라즈베리파이 </a:t>
            </a:r>
            <a:r>
              <a:rPr lang="ko-KR" altLang="en-US" dirty="0"/>
              <a:t>재단에서 개발</a:t>
            </a:r>
            <a:endParaRPr lang="en-US" altLang="ko-KR" dirty="0"/>
          </a:p>
          <a:p>
            <a:pPr lvl="2"/>
            <a:r>
              <a:rPr lang="ko-KR" altLang="en-US"/>
              <a:t>컴퓨터 교육 증진을 위해 만든 </a:t>
            </a:r>
            <a:r>
              <a:rPr lang="ko-KR" altLang="en-US" dirty="0"/>
              <a:t>신용카드 </a:t>
            </a:r>
            <a:r>
              <a:rPr lang="ko-KR" altLang="en-US"/>
              <a:t>크기의 싱글보드 컴퓨터</a:t>
            </a:r>
            <a:endParaRPr lang="en-US" altLang="ko-KR"/>
          </a:p>
          <a:p>
            <a:pPr lvl="1"/>
            <a:r>
              <a:rPr lang="en-US" altLang="ko-KR"/>
              <a:t>2012</a:t>
            </a:r>
            <a:r>
              <a:rPr lang="ko-KR" altLang="en-US"/>
              <a:t>년 </a:t>
            </a:r>
            <a:r>
              <a:rPr lang="en-US" altLang="ko-KR"/>
              <a:t>1</a:t>
            </a:r>
            <a:r>
              <a:rPr lang="ko-KR" altLang="en-US"/>
              <a:t>월</a:t>
            </a:r>
            <a:r>
              <a:rPr lang="en-US" altLang="ko-KR"/>
              <a:t>,</a:t>
            </a:r>
            <a:r>
              <a:rPr lang="ko-KR" altLang="en-US"/>
              <a:t> 최초 버전 </a:t>
            </a:r>
            <a:r>
              <a:rPr lang="en-US" altLang="ko-KR"/>
              <a:t>Raspberry Pi </a:t>
            </a:r>
            <a:r>
              <a:rPr lang="ko-KR" altLang="en-US"/>
              <a:t>출시</a:t>
            </a:r>
            <a:endParaRPr lang="en-US" altLang="ko-KR"/>
          </a:p>
          <a:p>
            <a:pPr lvl="2"/>
            <a:r>
              <a:rPr lang="ko-KR" altLang="en-US"/>
              <a:t>어린이 교과서 가격에 맞쳐 가격 </a:t>
            </a:r>
            <a:r>
              <a:rPr lang="en-US" altLang="ko-KR"/>
              <a:t>$35</a:t>
            </a:r>
          </a:p>
          <a:p>
            <a:pPr lvl="1"/>
            <a:r>
              <a:rPr lang="ko-KR" altLang="en-US"/>
              <a:t>현재 라즈베리파이 </a:t>
            </a:r>
            <a:r>
              <a:rPr lang="en-US" altLang="ko-KR"/>
              <a:t>5</a:t>
            </a:r>
            <a:r>
              <a:rPr lang="ko-KR" altLang="en-US"/>
              <a:t>버전까지 출시</a:t>
            </a:r>
            <a:endParaRPr lang="en-US" altLang="ko-KR" dirty="0"/>
          </a:p>
          <a:p>
            <a:endParaRPr lang="en-US" altLang="ko-KR"/>
          </a:p>
          <a:p>
            <a:r>
              <a:rPr lang="ko-KR" altLang="en-US"/>
              <a:t>특징</a:t>
            </a:r>
            <a:endParaRPr lang="en-US" altLang="ko-KR" dirty="0"/>
          </a:p>
          <a:p>
            <a:pPr lvl="1"/>
            <a:r>
              <a:rPr lang="ko-KR" altLang="en-US" dirty="0"/>
              <a:t>컴퓨터 구성 필수 요소 포함</a:t>
            </a:r>
            <a:endParaRPr lang="en-US" altLang="ko-KR" dirty="0"/>
          </a:p>
          <a:p>
            <a:pPr lvl="2"/>
            <a:r>
              <a:rPr lang="en-US" altLang="ko-KR"/>
              <a:t>CPU</a:t>
            </a:r>
            <a:r>
              <a:rPr lang="en-US" altLang="ko-KR" dirty="0"/>
              <a:t>, </a:t>
            </a:r>
            <a:r>
              <a:rPr lang="ko-KR" altLang="en-US" dirty="0"/>
              <a:t>메모리</a:t>
            </a:r>
            <a:r>
              <a:rPr lang="en-US" altLang="ko-KR"/>
              <a:t>, </a:t>
            </a:r>
            <a:r>
              <a:rPr lang="ko-KR" altLang="en-US"/>
              <a:t>제어 칩들</a:t>
            </a:r>
            <a:r>
              <a:rPr lang="en-US" altLang="ko-KR"/>
              <a:t>,</a:t>
            </a:r>
          </a:p>
          <a:p>
            <a:pPr marL="685800" lvl="2" indent="0">
              <a:buNone/>
            </a:pPr>
            <a:r>
              <a:rPr lang="ko-KR" altLang="en-US"/>
              <a:t>   입출력 </a:t>
            </a:r>
            <a:r>
              <a:rPr lang="ko-KR" altLang="en-US" dirty="0"/>
              <a:t>및 </a:t>
            </a:r>
            <a:r>
              <a:rPr lang="ko-KR" altLang="en-US"/>
              <a:t>저장 인터페이스</a:t>
            </a:r>
            <a:endParaRPr lang="en-US" altLang="ko-KR"/>
          </a:p>
          <a:p>
            <a:pPr marL="685800" lvl="2" indent="0">
              <a:buNone/>
            </a:pPr>
            <a:r>
              <a:rPr lang="en-US" altLang="ko-KR"/>
              <a:t>   (</a:t>
            </a:r>
            <a:r>
              <a:rPr lang="en-US" altLang="ko-KR" dirty="0"/>
              <a:t>USB, SD </a:t>
            </a:r>
            <a:r>
              <a:rPr lang="ko-KR" altLang="en-US"/>
              <a:t>카드</a:t>
            </a:r>
            <a:r>
              <a:rPr lang="en-US" altLang="ko-KR"/>
              <a:t>) </a:t>
            </a:r>
            <a:r>
              <a:rPr lang="ko-KR" altLang="en-US"/>
              <a:t>등</a:t>
            </a:r>
            <a:endParaRPr lang="en-US" altLang="ko-KR" dirty="0"/>
          </a:p>
          <a:p>
            <a:pPr lvl="2"/>
            <a:r>
              <a:rPr lang="en-US" altLang="ko-KR" dirty="0"/>
              <a:t>GPIO(General Purpose I/</a:t>
            </a:r>
            <a:r>
              <a:rPr lang="en-US" altLang="ko-KR"/>
              <a:t>O)</a:t>
            </a:r>
            <a:r>
              <a:rPr lang="ko-KR" altLang="en-US"/>
              <a:t>를</a:t>
            </a:r>
            <a:endParaRPr lang="en-US" altLang="ko-KR"/>
          </a:p>
          <a:p>
            <a:pPr marL="365760" lvl="1" indent="0">
              <a:buNone/>
            </a:pPr>
            <a:r>
              <a:rPr lang="ko-KR" altLang="en-US"/>
              <a:t>   </a:t>
            </a:r>
            <a:r>
              <a:rPr lang="en-US" altLang="ko-KR"/>
              <a:t>	</a:t>
            </a:r>
            <a:r>
              <a:rPr lang="ko-KR" altLang="en-US" sz="1800"/>
              <a:t>이용하여 다양한 기기 제어에</a:t>
            </a:r>
            <a:endParaRPr lang="en-US" altLang="ko-KR" sz="1800"/>
          </a:p>
          <a:p>
            <a:pPr marL="365760" lvl="1" indent="0">
              <a:buNone/>
            </a:pPr>
            <a:r>
              <a:rPr lang="ko-KR" altLang="en-US" sz="1800"/>
              <a:t>   </a:t>
            </a:r>
            <a:r>
              <a:rPr lang="en-US" altLang="ko-KR" sz="1800"/>
              <a:t>	</a:t>
            </a:r>
            <a:r>
              <a:rPr lang="ko-KR" altLang="en-US" sz="1800"/>
              <a:t>활용</a:t>
            </a:r>
            <a:endParaRPr lang="en-US" altLang="ko-KR" sz="1800"/>
          </a:p>
          <a:p>
            <a:pPr lvl="1"/>
            <a:r>
              <a:rPr lang="en-US" altLang="ko-KR"/>
              <a:t>Pi</a:t>
            </a:r>
            <a:r>
              <a:rPr lang="ko-KR" altLang="en-US"/>
              <a:t>는 </a:t>
            </a:r>
            <a:r>
              <a:rPr lang="en-US" altLang="ko-KR"/>
              <a:t>Python </a:t>
            </a:r>
            <a:r>
              <a:rPr lang="ko-KR" altLang="en-US"/>
              <a:t>줄임말</a:t>
            </a:r>
            <a:endParaRPr lang="en-US" altLang="ko-KR"/>
          </a:p>
          <a:p>
            <a:pPr lvl="2"/>
            <a:r>
              <a:rPr lang="ko-KR" altLang="en-US"/>
              <a:t>교육에 쉬운 언어로 선택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19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"/>
    </mc:Choice>
    <mc:Fallback xmlns="">
      <p:transition spd="slow" advTm="13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1FA8B-40D9-49FC-A6ED-CCF5CAC63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라즈베리파이의 발전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D70354-329F-4795-A8CA-F911B2093DD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2012</a:t>
            </a:r>
            <a:r>
              <a:rPr lang="ko-KR" altLang="en-US"/>
              <a:t>년 초기 출시 이후 다양한 버전 출시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3B2F50-7629-4196-B659-2A39A0C2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B1332B-DFD9-41C8-A099-838B78851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420888"/>
            <a:ext cx="7343930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66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3DE9D-36BD-48AA-8660-7EC09986B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라즈베리파이</a:t>
            </a:r>
            <a:r>
              <a:rPr lang="en-US" altLang="ko-KR"/>
              <a:t>4</a:t>
            </a:r>
            <a:r>
              <a:rPr lang="ko-KR" altLang="en-US"/>
              <a:t>와 라즈베리파이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81057C-DF78-420A-A935-FF1E77C5E27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라즈베리파이</a:t>
            </a:r>
            <a:r>
              <a:rPr lang="en-US" altLang="ko-KR"/>
              <a:t>4</a:t>
            </a:r>
          </a:p>
          <a:p>
            <a:pPr lvl="1"/>
            <a:r>
              <a:rPr lang="en-US" altLang="ko-KR"/>
              <a:t>2019</a:t>
            </a:r>
            <a:r>
              <a:rPr lang="ko-KR" altLang="en-US"/>
              <a:t>년 출시</a:t>
            </a:r>
            <a:endParaRPr lang="en-US" altLang="ko-KR"/>
          </a:p>
          <a:p>
            <a:pPr lvl="1"/>
            <a:r>
              <a:rPr lang="ko-KR" altLang="en-US"/>
              <a:t>라즈베리파이</a:t>
            </a:r>
            <a:r>
              <a:rPr lang="en-US" altLang="ko-KR"/>
              <a:t>3</a:t>
            </a:r>
            <a:r>
              <a:rPr lang="ko-KR" altLang="en-US"/>
              <a:t>의 성능을 획기적으로 개선</a:t>
            </a:r>
            <a:endParaRPr lang="en-US" altLang="ko-KR"/>
          </a:p>
          <a:p>
            <a:pPr lvl="2"/>
            <a:r>
              <a:rPr lang="ko-KR" altLang="en-US"/>
              <a:t>프로세스 속도 증가</a:t>
            </a:r>
            <a:endParaRPr lang="en-US" altLang="ko-KR"/>
          </a:p>
          <a:p>
            <a:pPr lvl="2"/>
            <a:r>
              <a:rPr lang="en-US" altLang="ko-KR"/>
              <a:t>RAM </a:t>
            </a:r>
            <a:r>
              <a:rPr lang="ko-KR" altLang="en-US"/>
              <a:t>최대 </a:t>
            </a:r>
            <a:r>
              <a:rPr lang="en-US" altLang="ko-KR"/>
              <a:t>8GB</a:t>
            </a:r>
            <a:r>
              <a:rPr lang="ko-KR" altLang="en-US"/>
              <a:t>까지 지원</a:t>
            </a:r>
            <a:r>
              <a:rPr lang="en-US" altLang="ko-KR"/>
              <a:t>(</a:t>
            </a:r>
            <a:r>
              <a:rPr lang="ko-KR" altLang="en-US"/>
              <a:t>구입시 선택 가능</a:t>
            </a:r>
            <a:r>
              <a:rPr lang="en-US" altLang="ko-KR"/>
              <a:t>)</a:t>
            </a:r>
          </a:p>
          <a:p>
            <a:pPr lvl="2"/>
            <a:r>
              <a:rPr lang="en-US" altLang="ko-KR"/>
              <a:t>2.4GHz, 5GHz </a:t>
            </a:r>
            <a:r>
              <a:rPr lang="ko-KR" altLang="en-US"/>
              <a:t>무선 공유기 모두 연결 가능</a:t>
            </a:r>
            <a:endParaRPr lang="en-US" altLang="ko-KR"/>
          </a:p>
          <a:p>
            <a:pPr lvl="2"/>
            <a:r>
              <a:rPr lang="ko-KR" altLang="en-US"/>
              <a:t>기존 </a:t>
            </a:r>
            <a:r>
              <a:rPr lang="en-US" altLang="ko-KR"/>
              <a:t>HDMI </a:t>
            </a:r>
            <a:r>
              <a:rPr lang="ko-KR" altLang="en-US"/>
              <a:t>단자 제거 </a:t>
            </a:r>
            <a:r>
              <a:rPr lang="en-US" altLang="ko-KR"/>
              <a:t>-&gt; 2</a:t>
            </a:r>
            <a:r>
              <a:rPr lang="ko-KR" altLang="en-US"/>
              <a:t>개의 마이크로 </a:t>
            </a:r>
            <a:r>
              <a:rPr lang="en-US" altLang="ko-KR"/>
              <a:t>HDMI </a:t>
            </a:r>
            <a:r>
              <a:rPr lang="ko-KR" altLang="en-US"/>
              <a:t>추가</a:t>
            </a:r>
            <a:r>
              <a:rPr lang="en-US" altLang="ko-KR"/>
              <a:t>(4K </a:t>
            </a:r>
            <a:r>
              <a:rPr lang="ko-KR" altLang="en-US"/>
              <a:t>해상도의 듀얼 디스플레이 지원</a:t>
            </a:r>
            <a:r>
              <a:rPr lang="en-US" altLang="ko-KR"/>
              <a:t>)</a:t>
            </a:r>
          </a:p>
          <a:p>
            <a:r>
              <a:rPr lang="ko-KR" altLang="en-US"/>
              <a:t>라즈베리파이</a:t>
            </a:r>
            <a:r>
              <a:rPr lang="en-US" altLang="ko-KR"/>
              <a:t>5</a:t>
            </a:r>
          </a:p>
          <a:p>
            <a:pPr lvl="1"/>
            <a:r>
              <a:rPr lang="en-US" altLang="ko-KR"/>
              <a:t>2023</a:t>
            </a:r>
            <a:r>
              <a:rPr lang="ko-KR" altLang="en-US"/>
              <a:t>년 </a:t>
            </a:r>
            <a:r>
              <a:rPr lang="en-US" altLang="ko-KR"/>
              <a:t>10</a:t>
            </a:r>
            <a:r>
              <a:rPr lang="ko-KR" altLang="en-US"/>
              <a:t>월 출시</a:t>
            </a:r>
            <a:endParaRPr lang="en-US" altLang="ko-KR"/>
          </a:p>
          <a:p>
            <a:pPr lvl="2"/>
            <a:r>
              <a:rPr lang="ko-KR" altLang="en-US"/>
              <a:t>현재까지 최고 성능</a:t>
            </a:r>
            <a:endParaRPr lang="en-US" altLang="ko-KR"/>
          </a:p>
          <a:p>
            <a:pPr lvl="2"/>
            <a:r>
              <a:rPr lang="ko-KR" altLang="en-US"/>
              <a:t>프로세스와 그래픽 처리 성능 대폭 향상</a:t>
            </a:r>
            <a:endParaRPr lang="en-US" altLang="ko-KR"/>
          </a:p>
          <a:p>
            <a:pPr lvl="3"/>
            <a:r>
              <a:rPr lang="en-US" altLang="ko-KR"/>
              <a:t>Tensorflow</a:t>
            </a:r>
            <a:r>
              <a:rPr lang="ko-KR" altLang="en-US"/>
              <a:t> 등 기계학습 프레임워크 실행 가능</a:t>
            </a:r>
            <a:endParaRPr lang="en-US" altLang="ko-KR"/>
          </a:p>
          <a:p>
            <a:pPr lvl="2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F954F-7BB8-4E6B-94B1-BB0138128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8737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98B0703-6129-4A2C-997C-8150476AC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7C6F8AF-39FE-4515-A54F-952F0B58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1.3 </a:t>
            </a:r>
            <a:r>
              <a:rPr lang="ko-KR" altLang="en-US"/>
              <a:t>라즈베리파이 하드웨어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5B3CE1-1198-411A-B669-D1F1861F90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6016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라즈베리파이</a:t>
            </a:r>
            <a:r>
              <a:rPr lang="en-US" altLang="ko-KR" dirty="0"/>
              <a:t>4 </a:t>
            </a:r>
            <a:r>
              <a:rPr lang="ko-KR" altLang="en-US" dirty="0"/>
              <a:t>모델 </a:t>
            </a:r>
            <a:r>
              <a:rPr lang="en-US" altLang="ko-KR" dirty="0"/>
              <a:t>B </a:t>
            </a:r>
            <a:r>
              <a:rPr lang="ko-KR" altLang="en-US" dirty="0"/>
              <a:t>하드웨어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3C95205-68DA-477B-A804-B0F4B723E7EA}"/>
              </a:ext>
            </a:extLst>
          </p:cNvPr>
          <p:cNvGrpSpPr/>
          <p:nvPr/>
        </p:nvGrpSpPr>
        <p:grpSpPr>
          <a:xfrm>
            <a:off x="4716016" y="1844824"/>
            <a:ext cx="4283810" cy="2802535"/>
            <a:chOff x="4678466" y="2642689"/>
            <a:chExt cx="4283810" cy="2802535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182B9A60-39B3-418B-AA58-D0D0EE3FB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4678466" y="2642689"/>
              <a:ext cx="4283810" cy="2802535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65D7E5D-C047-41C4-AA57-F2D40D939780}"/>
                </a:ext>
              </a:extLst>
            </p:cNvPr>
            <p:cNvSpPr/>
            <p:nvPr/>
          </p:nvSpPr>
          <p:spPr>
            <a:xfrm>
              <a:off x="8170102" y="3700033"/>
              <a:ext cx="555276" cy="590539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85E1637-9224-4125-A76A-E0E630F1CA3F}"/>
                </a:ext>
              </a:extLst>
            </p:cNvPr>
            <p:cNvSpPr/>
            <p:nvPr/>
          </p:nvSpPr>
          <p:spPr>
            <a:xfrm>
              <a:off x="8244408" y="3365680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⑬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63910A8-791E-4CB6-80DF-BD48C9ED06B7}"/>
              </a:ext>
            </a:extLst>
          </p:cNvPr>
          <p:cNvGrpSpPr/>
          <p:nvPr/>
        </p:nvGrpSpPr>
        <p:grpSpPr>
          <a:xfrm>
            <a:off x="110398" y="1573167"/>
            <a:ext cx="4499152" cy="3470536"/>
            <a:chOff x="72848" y="2371032"/>
            <a:chExt cx="4499152" cy="3470536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1913CED4-1462-4177-8E63-DAE76EF54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" y="2721161"/>
              <a:ext cx="4164739" cy="2780566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835CFD1-2430-4ABE-90F8-68676C3CD78A}"/>
                </a:ext>
              </a:extLst>
            </p:cNvPr>
            <p:cNvSpPr/>
            <p:nvPr/>
          </p:nvSpPr>
          <p:spPr>
            <a:xfrm>
              <a:off x="2185059" y="3440767"/>
              <a:ext cx="631383" cy="757048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A73E94F-C83E-4807-86ED-2DF6EFD3EB6F}"/>
                </a:ext>
              </a:extLst>
            </p:cNvPr>
            <p:cNvSpPr/>
            <p:nvPr/>
          </p:nvSpPr>
          <p:spPr>
            <a:xfrm>
              <a:off x="149702" y="3810526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⑤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766CFF0-DCF9-4DC4-BB85-F3FDA38109E4}"/>
                </a:ext>
              </a:extLst>
            </p:cNvPr>
            <p:cNvSpPr/>
            <p:nvPr/>
          </p:nvSpPr>
          <p:spPr>
            <a:xfrm>
              <a:off x="3419872" y="2924944"/>
              <a:ext cx="1152128" cy="873592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3EE9C0E6-94A0-405A-BC4F-F93336D6909C}"/>
                </a:ext>
              </a:extLst>
            </p:cNvPr>
            <p:cNvSpPr/>
            <p:nvPr/>
          </p:nvSpPr>
          <p:spPr>
            <a:xfrm>
              <a:off x="2294796" y="3140968"/>
              <a:ext cx="33124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②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C7A5385-9F4C-4A9C-ADC5-290C66987E4D}"/>
                </a:ext>
              </a:extLst>
            </p:cNvPr>
            <p:cNvSpPr/>
            <p:nvPr/>
          </p:nvSpPr>
          <p:spPr>
            <a:xfrm>
              <a:off x="1397343" y="3451899"/>
              <a:ext cx="726385" cy="730380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787A4A1-34BA-4C87-82EA-80EE6690A331}"/>
                </a:ext>
              </a:extLst>
            </p:cNvPr>
            <p:cNvSpPr/>
            <p:nvPr/>
          </p:nvSpPr>
          <p:spPr>
            <a:xfrm>
              <a:off x="2933092" y="3349114"/>
              <a:ext cx="414772" cy="412855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6EB6EE2-6789-4370-9DE3-1C9E57976044}"/>
                </a:ext>
              </a:extLst>
            </p:cNvPr>
            <p:cNvSpPr/>
            <p:nvPr/>
          </p:nvSpPr>
          <p:spPr>
            <a:xfrm>
              <a:off x="3573153" y="3892139"/>
              <a:ext cx="990440" cy="1542305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65EAC1E-75B1-45AC-961E-1D7FDE546D6E}"/>
                </a:ext>
              </a:extLst>
            </p:cNvPr>
            <p:cNvSpPr/>
            <p:nvPr/>
          </p:nvSpPr>
          <p:spPr>
            <a:xfrm>
              <a:off x="2933092" y="3984746"/>
              <a:ext cx="517017" cy="431692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A5044B0-CA35-41AD-9EB8-87FFEE2DFB54}"/>
                </a:ext>
              </a:extLst>
            </p:cNvPr>
            <p:cNvSpPr/>
            <p:nvPr/>
          </p:nvSpPr>
          <p:spPr>
            <a:xfrm>
              <a:off x="2732409" y="4858918"/>
              <a:ext cx="399431" cy="679959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DA9A357-8B93-4E24-B1AE-4047799A00B8}"/>
                </a:ext>
              </a:extLst>
            </p:cNvPr>
            <p:cNvSpPr/>
            <p:nvPr/>
          </p:nvSpPr>
          <p:spPr>
            <a:xfrm>
              <a:off x="1416662" y="4992170"/>
              <a:ext cx="1027610" cy="438036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B813377-7975-4E2D-92CA-E4E70888ECC2}"/>
                </a:ext>
              </a:extLst>
            </p:cNvPr>
            <p:cNvSpPr/>
            <p:nvPr/>
          </p:nvSpPr>
          <p:spPr>
            <a:xfrm>
              <a:off x="703120" y="2725861"/>
              <a:ext cx="2413874" cy="301381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solidFill>
                  <a:srgbClr val="FF000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67C1518-8969-4E6E-A9EE-BBCD27C7D876}"/>
                </a:ext>
              </a:extLst>
            </p:cNvPr>
            <p:cNvSpPr/>
            <p:nvPr/>
          </p:nvSpPr>
          <p:spPr>
            <a:xfrm>
              <a:off x="731272" y="5012152"/>
              <a:ext cx="409784" cy="402419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FCD0AB0-CC14-490D-A11E-FFE6BC9D76E5}"/>
                </a:ext>
              </a:extLst>
            </p:cNvPr>
            <p:cNvSpPr/>
            <p:nvPr/>
          </p:nvSpPr>
          <p:spPr>
            <a:xfrm>
              <a:off x="493345" y="3523006"/>
              <a:ext cx="269117" cy="1033405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23260A4-E437-441A-AD93-CD88B712BD26}"/>
                </a:ext>
              </a:extLst>
            </p:cNvPr>
            <p:cNvSpPr/>
            <p:nvPr/>
          </p:nvSpPr>
          <p:spPr>
            <a:xfrm>
              <a:off x="2467063" y="4269336"/>
              <a:ext cx="232729" cy="1031872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27E667-C92F-4ACA-8FFA-64FABBCB30BF}"/>
                </a:ext>
              </a:extLst>
            </p:cNvPr>
            <p:cNvSpPr txBox="1"/>
            <p:nvPr/>
          </p:nvSpPr>
          <p:spPr>
            <a:xfrm>
              <a:off x="828854" y="2371032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③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806A96B-6BD1-4401-83FD-F2AC10E7F8B3}"/>
                </a:ext>
              </a:extLst>
            </p:cNvPr>
            <p:cNvSpPr/>
            <p:nvPr/>
          </p:nvSpPr>
          <p:spPr>
            <a:xfrm>
              <a:off x="1589862" y="3140968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①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7549EEA-F38A-473F-9716-A08B7DDEC948}"/>
                </a:ext>
              </a:extLst>
            </p:cNvPr>
            <p:cNvSpPr/>
            <p:nvPr/>
          </p:nvSpPr>
          <p:spPr>
            <a:xfrm>
              <a:off x="3810276" y="5369600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④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BE1545A-7462-44AD-8C56-85FE897E3EEE}"/>
                </a:ext>
              </a:extLst>
            </p:cNvPr>
            <p:cNvSpPr/>
            <p:nvPr/>
          </p:nvSpPr>
          <p:spPr>
            <a:xfrm>
              <a:off x="2843808" y="3068960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⑥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3EB342A-9C41-4B8D-BA31-FA44255D469C}"/>
                </a:ext>
              </a:extLst>
            </p:cNvPr>
            <p:cNvSpPr/>
            <p:nvPr/>
          </p:nvSpPr>
          <p:spPr>
            <a:xfrm>
              <a:off x="323528" y="3030561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⑭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91EC375-A015-4055-996F-99D2EA122432}"/>
                </a:ext>
              </a:extLst>
            </p:cNvPr>
            <p:cNvSpPr/>
            <p:nvPr/>
          </p:nvSpPr>
          <p:spPr>
            <a:xfrm>
              <a:off x="672842" y="2992427"/>
              <a:ext cx="607267" cy="658786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EA425CA-D818-49A4-8825-36AC0BED34E3}"/>
                </a:ext>
              </a:extLst>
            </p:cNvPr>
            <p:cNvSpPr/>
            <p:nvPr/>
          </p:nvSpPr>
          <p:spPr>
            <a:xfrm>
              <a:off x="728415" y="5394702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⑧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2E3E2EB-5ED1-4AB0-9692-BCB6BBC88832}"/>
                </a:ext>
              </a:extLst>
            </p:cNvPr>
            <p:cNvSpPr/>
            <p:nvPr/>
          </p:nvSpPr>
          <p:spPr>
            <a:xfrm>
              <a:off x="1735542" y="5372347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⑨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D297A95-6AC3-48B4-A320-578709DE48F6}"/>
                </a:ext>
              </a:extLst>
            </p:cNvPr>
            <p:cNvSpPr/>
            <p:nvPr/>
          </p:nvSpPr>
          <p:spPr>
            <a:xfrm>
              <a:off x="2388286" y="5256776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⑩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4926AA1-8120-4BDE-9D9E-1CEDE7198F2E}"/>
                </a:ext>
              </a:extLst>
            </p:cNvPr>
            <p:cNvSpPr/>
            <p:nvPr/>
          </p:nvSpPr>
          <p:spPr>
            <a:xfrm>
              <a:off x="2727144" y="5503014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⑪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89EE08E6-440C-4B83-9B18-7FDDD3EB302D}"/>
                </a:ext>
              </a:extLst>
            </p:cNvPr>
            <p:cNvSpPr/>
            <p:nvPr/>
          </p:nvSpPr>
          <p:spPr>
            <a:xfrm>
              <a:off x="3779912" y="2636912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⑫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06FD13C-3916-427B-89CE-5ADEBA79EAA3}"/>
                </a:ext>
              </a:extLst>
            </p:cNvPr>
            <p:cNvSpPr/>
            <p:nvPr/>
          </p:nvSpPr>
          <p:spPr>
            <a:xfrm>
              <a:off x="2962705" y="4386590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⑦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9550B3E-291A-4282-BC85-4DFE5B0A50C3}"/>
                </a:ext>
              </a:extLst>
            </p:cNvPr>
            <p:cNvSpPr/>
            <p:nvPr/>
          </p:nvSpPr>
          <p:spPr>
            <a:xfrm>
              <a:off x="411121" y="4634567"/>
              <a:ext cx="151610" cy="412565"/>
            </a:xfrm>
            <a:prstGeom prst="rect">
              <a:avLst/>
            </a:prstGeom>
            <a:noFill/>
            <a:ln w="28575">
              <a:solidFill>
                <a:srgbClr val="E704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2679BC8B-7BDA-4CFF-90DB-B4F04DA980FC}"/>
                </a:ext>
              </a:extLst>
            </p:cNvPr>
            <p:cNvSpPr/>
            <p:nvPr/>
          </p:nvSpPr>
          <p:spPr>
            <a:xfrm>
              <a:off x="72848" y="4653616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>
                  <a:solidFill>
                    <a:srgbClr val="C00000"/>
                  </a:solidFill>
                </a:rPr>
                <a:t>⑮</a:t>
              </a:r>
              <a:endParaRPr lang="ko-KR" altLang="en-US" sz="160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C4D2C26-897F-4D9B-8000-C527E2187633}"/>
              </a:ext>
            </a:extLst>
          </p:cNvPr>
          <p:cNvSpPr txBox="1"/>
          <p:nvPr/>
        </p:nvSpPr>
        <p:spPr>
          <a:xfrm>
            <a:off x="2301465" y="524489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앞면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5BBF9E-DE53-488E-B366-CBE8AAE70B73}"/>
              </a:ext>
            </a:extLst>
          </p:cNvPr>
          <p:cNvSpPr txBox="1"/>
          <p:nvPr/>
        </p:nvSpPr>
        <p:spPr>
          <a:xfrm>
            <a:off x="6625774" y="515141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뒷면</a:t>
            </a:r>
          </a:p>
        </p:txBody>
      </p:sp>
    </p:spTree>
    <p:extLst>
      <p:ext uri="{BB962C8B-B14F-4D97-AF65-F5344CB8AC3E}">
        <p14:creationId xmlns:p14="http://schemas.microsoft.com/office/powerpoint/2010/main" val="3889755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2146C-A6C6-408C-84AC-A45DC904D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라즈베리파이</a:t>
            </a:r>
            <a:r>
              <a:rPr lang="en-US" altLang="ko-KR" dirty="0"/>
              <a:t>4 </a:t>
            </a:r>
            <a:r>
              <a:rPr lang="ko-KR" altLang="en-US" dirty="0"/>
              <a:t>모델 </a:t>
            </a:r>
            <a:r>
              <a:rPr lang="en-US" altLang="ko-KR" dirty="0"/>
              <a:t>B</a:t>
            </a:r>
            <a:r>
              <a:rPr lang="ko-KR" altLang="en-US" dirty="0"/>
              <a:t>의 구성 요소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9A5842-36F2-4077-BB90-2F8AEC67F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20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D64764-2605-47E7-AD35-AB5AB4F00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412776"/>
            <a:ext cx="7020272" cy="515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154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라즈베리파이에 주변 장치들 연결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4A231C-7831-4E5B-B030-D5AD56630C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25727" y="2583135"/>
            <a:ext cx="3212976" cy="2409732"/>
          </a:xfrm>
          <a:prstGeom prst="rect">
            <a:avLst/>
          </a:prstGeom>
        </p:spPr>
      </p:pic>
      <p:grpSp>
        <p:nvGrpSpPr>
          <p:cNvPr id="67" name="그룹 66">
            <a:extLst>
              <a:ext uri="{FF2B5EF4-FFF2-40B4-BE49-F238E27FC236}">
                <a16:creationId xmlns:a16="http://schemas.microsoft.com/office/drawing/2014/main" id="{E93BD372-FBC5-4AA3-8CC0-96BDFD60F297}"/>
              </a:ext>
            </a:extLst>
          </p:cNvPr>
          <p:cNvGrpSpPr/>
          <p:nvPr/>
        </p:nvGrpSpPr>
        <p:grpSpPr>
          <a:xfrm>
            <a:off x="443647" y="1711041"/>
            <a:ext cx="5140051" cy="4375219"/>
            <a:chOff x="443647" y="1711041"/>
            <a:chExt cx="5140051" cy="4375219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CAD3B85B-F4EC-4959-A6F8-62246050C4D8}"/>
                </a:ext>
              </a:extLst>
            </p:cNvPr>
            <p:cNvGrpSpPr/>
            <p:nvPr/>
          </p:nvGrpSpPr>
          <p:grpSpPr>
            <a:xfrm>
              <a:off x="1312247" y="2825762"/>
              <a:ext cx="1031665" cy="378574"/>
              <a:chOff x="1132801" y="2817040"/>
              <a:chExt cx="1211111" cy="414723"/>
            </a:xfrm>
          </p:grpSpPr>
          <p:pic>
            <p:nvPicPr>
              <p:cNvPr id="27" name="이미지" descr="이미지">
                <a:extLst>
                  <a:ext uri="{FF2B5EF4-FFF2-40B4-BE49-F238E27FC236}">
                    <a16:creationId xmlns:a16="http://schemas.microsoft.com/office/drawing/2014/main" id="{1B378ED7-046D-44B3-A2D4-99F6B4F8A8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0038" t="14878" r="39929" b="37281"/>
              <a:stretch/>
            </p:blipFill>
            <p:spPr>
              <a:xfrm rot="16200000">
                <a:off x="1298450" y="2651391"/>
                <a:ext cx="402704" cy="734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21" extrusionOk="0">
                    <a:moveTo>
                      <a:pt x="1940" y="0"/>
                    </a:moveTo>
                    <a:lnTo>
                      <a:pt x="1883" y="1324"/>
                    </a:lnTo>
                    <a:lnTo>
                      <a:pt x="1808" y="2643"/>
                    </a:lnTo>
                    <a:lnTo>
                      <a:pt x="904" y="2665"/>
                    </a:lnTo>
                    <a:lnTo>
                      <a:pt x="0" y="2687"/>
                    </a:lnTo>
                    <a:lnTo>
                      <a:pt x="56" y="5796"/>
                    </a:lnTo>
                    <a:lnTo>
                      <a:pt x="132" y="8835"/>
                    </a:lnTo>
                    <a:cubicBezTo>
                      <a:pt x="196" y="8890"/>
                      <a:pt x="259" y="8944"/>
                      <a:pt x="339" y="8994"/>
                    </a:cubicBezTo>
                    <a:lnTo>
                      <a:pt x="810" y="9170"/>
                    </a:lnTo>
                    <a:cubicBezTo>
                      <a:pt x="1596" y="9470"/>
                      <a:pt x="2390" y="9601"/>
                      <a:pt x="3804" y="9670"/>
                    </a:cubicBezTo>
                    <a:cubicBezTo>
                      <a:pt x="3987" y="9679"/>
                      <a:pt x="4123" y="9692"/>
                      <a:pt x="4256" y="9703"/>
                    </a:cubicBezTo>
                    <a:lnTo>
                      <a:pt x="5009" y="9719"/>
                    </a:lnTo>
                    <a:lnTo>
                      <a:pt x="5085" y="9878"/>
                    </a:lnTo>
                    <a:cubicBezTo>
                      <a:pt x="5089" y="9888"/>
                      <a:pt x="5098" y="9897"/>
                      <a:pt x="5103" y="9906"/>
                    </a:cubicBezTo>
                    <a:cubicBezTo>
                      <a:pt x="5152" y="9930"/>
                      <a:pt x="5183" y="9946"/>
                      <a:pt x="5235" y="9977"/>
                    </a:cubicBezTo>
                    <a:cubicBezTo>
                      <a:pt x="5626" y="10210"/>
                      <a:pt x="5780" y="10242"/>
                      <a:pt x="6817" y="10274"/>
                    </a:cubicBezTo>
                    <a:cubicBezTo>
                      <a:pt x="7353" y="10290"/>
                      <a:pt x="7668" y="10310"/>
                      <a:pt x="7909" y="10356"/>
                    </a:cubicBezTo>
                    <a:cubicBezTo>
                      <a:pt x="8014" y="10368"/>
                      <a:pt x="8076" y="10383"/>
                      <a:pt x="8116" y="10406"/>
                    </a:cubicBezTo>
                    <a:cubicBezTo>
                      <a:pt x="8119" y="10407"/>
                      <a:pt x="8133" y="10405"/>
                      <a:pt x="8135" y="10406"/>
                    </a:cubicBezTo>
                    <a:cubicBezTo>
                      <a:pt x="8249" y="10441"/>
                      <a:pt x="8350" y="10489"/>
                      <a:pt x="8474" y="10549"/>
                    </a:cubicBezTo>
                    <a:cubicBezTo>
                      <a:pt x="8563" y="10591"/>
                      <a:pt x="8622" y="10631"/>
                      <a:pt x="8681" y="10681"/>
                    </a:cubicBezTo>
                    <a:cubicBezTo>
                      <a:pt x="8840" y="10742"/>
                      <a:pt x="8989" y="10782"/>
                      <a:pt x="9096" y="10791"/>
                    </a:cubicBezTo>
                    <a:cubicBezTo>
                      <a:pt x="9326" y="10809"/>
                      <a:pt x="9338" y="10813"/>
                      <a:pt x="9171" y="10851"/>
                    </a:cubicBezTo>
                    <a:cubicBezTo>
                      <a:pt x="9003" y="10889"/>
                      <a:pt x="8974" y="11108"/>
                      <a:pt x="8926" y="13235"/>
                    </a:cubicBezTo>
                    <a:cubicBezTo>
                      <a:pt x="8894" y="14665"/>
                      <a:pt x="8816" y="15708"/>
                      <a:pt x="8738" y="15917"/>
                    </a:cubicBezTo>
                    <a:cubicBezTo>
                      <a:pt x="8723" y="15957"/>
                      <a:pt x="8702" y="16027"/>
                      <a:pt x="8681" y="16076"/>
                    </a:cubicBezTo>
                    <a:cubicBezTo>
                      <a:pt x="8607" y="16483"/>
                      <a:pt x="8510" y="16759"/>
                      <a:pt x="8361" y="16982"/>
                    </a:cubicBezTo>
                    <a:cubicBezTo>
                      <a:pt x="8085" y="17398"/>
                      <a:pt x="7718" y="17792"/>
                      <a:pt x="7307" y="18164"/>
                    </a:cubicBezTo>
                    <a:cubicBezTo>
                      <a:pt x="7299" y="18173"/>
                      <a:pt x="7295" y="18183"/>
                      <a:pt x="7288" y="18191"/>
                    </a:cubicBezTo>
                    <a:cubicBezTo>
                      <a:pt x="7218" y="18272"/>
                      <a:pt x="7107" y="18372"/>
                      <a:pt x="7043" y="18416"/>
                    </a:cubicBezTo>
                    <a:cubicBezTo>
                      <a:pt x="6979" y="18461"/>
                      <a:pt x="6881" y="18529"/>
                      <a:pt x="6836" y="18565"/>
                    </a:cubicBezTo>
                    <a:cubicBezTo>
                      <a:pt x="6791" y="18601"/>
                      <a:pt x="6698" y="18669"/>
                      <a:pt x="6629" y="18719"/>
                    </a:cubicBezTo>
                    <a:cubicBezTo>
                      <a:pt x="6571" y="18759"/>
                      <a:pt x="6489" y="18819"/>
                      <a:pt x="6422" y="18867"/>
                    </a:cubicBezTo>
                    <a:cubicBezTo>
                      <a:pt x="6407" y="18877"/>
                      <a:pt x="6396" y="18891"/>
                      <a:pt x="6384" y="18900"/>
                    </a:cubicBezTo>
                    <a:cubicBezTo>
                      <a:pt x="6287" y="18969"/>
                      <a:pt x="6129" y="19066"/>
                      <a:pt x="5951" y="19169"/>
                    </a:cubicBezTo>
                    <a:cubicBezTo>
                      <a:pt x="5586" y="19388"/>
                      <a:pt x="5192" y="19587"/>
                      <a:pt x="4783" y="19768"/>
                    </a:cubicBezTo>
                    <a:cubicBezTo>
                      <a:pt x="4771" y="19775"/>
                      <a:pt x="4727" y="19793"/>
                      <a:pt x="4727" y="19795"/>
                    </a:cubicBezTo>
                    <a:cubicBezTo>
                      <a:pt x="4727" y="19823"/>
                      <a:pt x="4181" y="20018"/>
                      <a:pt x="3616" y="20213"/>
                    </a:cubicBezTo>
                    <a:cubicBezTo>
                      <a:pt x="3377" y="20295"/>
                      <a:pt x="3149" y="20384"/>
                      <a:pt x="2938" y="20449"/>
                    </a:cubicBezTo>
                    <a:cubicBezTo>
                      <a:pt x="1727" y="20884"/>
                      <a:pt x="1656" y="21103"/>
                      <a:pt x="2523" y="21356"/>
                    </a:cubicBezTo>
                    <a:cubicBezTo>
                      <a:pt x="3361" y="21600"/>
                      <a:pt x="4165" y="21575"/>
                      <a:pt x="5329" y="21268"/>
                    </a:cubicBezTo>
                    <a:cubicBezTo>
                      <a:pt x="8326" y="20478"/>
                      <a:pt x="10755" y="18963"/>
                      <a:pt x="11883" y="17169"/>
                    </a:cubicBezTo>
                    <a:cubicBezTo>
                      <a:pt x="12327" y="16464"/>
                      <a:pt x="12401" y="15991"/>
                      <a:pt x="12523" y="13532"/>
                    </a:cubicBezTo>
                    <a:cubicBezTo>
                      <a:pt x="12568" y="12631"/>
                      <a:pt x="12614" y="12085"/>
                      <a:pt x="12655" y="11659"/>
                    </a:cubicBezTo>
                    <a:cubicBezTo>
                      <a:pt x="12684" y="11112"/>
                      <a:pt x="12710" y="10782"/>
                      <a:pt x="12768" y="10747"/>
                    </a:cubicBezTo>
                    <a:cubicBezTo>
                      <a:pt x="12783" y="10737"/>
                      <a:pt x="12855" y="10706"/>
                      <a:pt x="12881" y="10692"/>
                    </a:cubicBezTo>
                    <a:cubicBezTo>
                      <a:pt x="12956" y="10603"/>
                      <a:pt x="13053" y="10555"/>
                      <a:pt x="13182" y="10505"/>
                    </a:cubicBezTo>
                    <a:cubicBezTo>
                      <a:pt x="13260" y="10474"/>
                      <a:pt x="13327" y="10451"/>
                      <a:pt x="13408" y="10428"/>
                    </a:cubicBezTo>
                    <a:lnTo>
                      <a:pt x="13653" y="10324"/>
                    </a:lnTo>
                    <a:lnTo>
                      <a:pt x="14011" y="10324"/>
                    </a:lnTo>
                    <a:cubicBezTo>
                      <a:pt x="14216" y="10302"/>
                      <a:pt x="14443" y="10284"/>
                      <a:pt x="14745" y="10274"/>
                    </a:cubicBezTo>
                    <a:cubicBezTo>
                      <a:pt x="15680" y="10243"/>
                      <a:pt x="15852" y="10205"/>
                      <a:pt x="16233" y="9977"/>
                    </a:cubicBezTo>
                    <a:cubicBezTo>
                      <a:pt x="16296" y="9940"/>
                      <a:pt x="16363" y="9918"/>
                      <a:pt x="16421" y="9889"/>
                    </a:cubicBezTo>
                    <a:cubicBezTo>
                      <a:pt x="16422" y="9888"/>
                      <a:pt x="16421" y="9885"/>
                      <a:pt x="16421" y="9884"/>
                    </a:cubicBezTo>
                    <a:lnTo>
                      <a:pt x="16478" y="9719"/>
                    </a:lnTo>
                    <a:lnTo>
                      <a:pt x="17212" y="9703"/>
                    </a:lnTo>
                    <a:cubicBezTo>
                      <a:pt x="17348" y="9691"/>
                      <a:pt x="17494" y="9679"/>
                      <a:pt x="17683" y="9670"/>
                    </a:cubicBezTo>
                    <a:cubicBezTo>
                      <a:pt x="18241" y="9643"/>
                      <a:pt x="18991" y="9579"/>
                      <a:pt x="19340" y="9527"/>
                    </a:cubicBezTo>
                    <a:cubicBezTo>
                      <a:pt x="20133" y="9409"/>
                      <a:pt x="21188" y="9050"/>
                      <a:pt x="21374" y="8835"/>
                    </a:cubicBezTo>
                    <a:cubicBezTo>
                      <a:pt x="21451" y="8745"/>
                      <a:pt x="21540" y="7322"/>
                      <a:pt x="21562" y="5675"/>
                    </a:cubicBezTo>
                    <a:lnTo>
                      <a:pt x="21600" y="2681"/>
                    </a:lnTo>
                    <a:lnTo>
                      <a:pt x="20640" y="2659"/>
                    </a:lnTo>
                    <a:lnTo>
                      <a:pt x="19660" y="2643"/>
                    </a:lnTo>
                    <a:lnTo>
                      <a:pt x="19604" y="1324"/>
                    </a:lnTo>
                    <a:lnTo>
                      <a:pt x="19529" y="0"/>
                    </a:lnTo>
                    <a:lnTo>
                      <a:pt x="10734" y="0"/>
                    </a:lnTo>
                    <a:lnTo>
                      <a:pt x="1940" y="0"/>
                    </a:ln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" name="이미지" descr="이미지">
                <a:extLst>
                  <a:ext uri="{FF2B5EF4-FFF2-40B4-BE49-F238E27FC236}">
                    <a16:creationId xmlns:a16="http://schemas.microsoft.com/office/drawing/2014/main" id="{8091BF70-A150-45D7-B2CB-D79668FE42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0038" t="14878" r="39929" b="40970"/>
              <a:stretch/>
            </p:blipFill>
            <p:spPr>
              <a:xfrm rot="5400000">
                <a:off x="1754497" y="2642348"/>
                <a:ext cx="414723" cy="7641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21" extrusionOk="0">
                    <a:moveTo>
                      <a:pt x="1940" y="0"/>
                    </a:moveTo>
                    <a:lnTo>
                      <a:pt x="1883" y="1324"/>
                    </a:lnTo>
                    <a:lnTo>
                      <a:pt x="1808" y="2643"/>
                    </a:lnTo>
                    <a:lnTo>
                      <a:pt x="904" y="2665"/>
                    </a:lnTo>
                    <a:lnTo>
                      <a:pt x="0" y="2687"/>
                    </a:lnTo>
                    <a:lnTo>
                      <a:pt x="56" y="5796"/>
                    </a:lnTo>
                    <a:lnTo>
                      <a:pt x="132" y="8835"/>
                    </a:lnTo>
                    <a:cubicBezTo>
                      <a:pt x="196" y="8890"/>
                      <a:pt x="259" y="8944"/>
                      <a:pt x="339" y="8994"/>
                    </a:cubicBezTo>
                    <a:lnTo>
                      <a:pt x="810" y="9170"/>
                    </a:lnTo>
                    <a:cubicBezTo>
                      <a:pt x="1596" y="9470"/>
                      <a:pt x="2390" y="9601"/>
                      <a:pt x="3804" y="9670"/>
                    </a:cubicBezTo>
                    <a:cubicBezTo>
                      <a:pt x="3987" y="9679"/>
                      <a:pt x="4123" y="9692"/>
                      <a:pt x="4256" y="9703"/>
                    </a:cubicBezTo>
                    <a:lnTo>
                      <a:pt x="5009" y="9719"/>
                    </a:lnTo>
                    <a:lnTo>
                      <a:pt x="5085" y="9878"/>
                    </a:lnTo>
                    <a:cubicBezTo>
                      <a:pt x="5089" y="9888"/>
                      <a:pt x="5098" y="9897"/>
                      <a:pt x="5103" y="9906"/>
                    </a:cubicBezTo>
                    <a:cubicBezTo>
                      <a:pt x="5152" y="9930"/>
                      <a:pt x="5183" y="9946"/>
                      <a:pt x="5235" y="9977"/>
                    </a:cubicBezTo>
                    <a:cubicBezTo>
                      <a:pt x="5626" y="10210"/>
                      <a:pt x="5780" y="10242"/>
                      <a:pt x="6817" y="10274"/>
                    </a:cubicBezTo>
                    <a:cubicBezTo>
                      <a:pt x="7353" y="10290"/>
                      <a:pt x="7668" y="10310"/>
                      <a:pt x="7909" y="10356"/>
                    </a:cubicBezTo>
                    <a:cubicBezTo>
                      <a:pt x="8014" y="10368"/>
                      <a:pt x="8076" y="10383"/>
                      <a:pt x="8116" y="10406"/>
                    </a:cubicBezTo>
                    <a:cubicBezTo>
                      <a:pt x="8119" y="10407"/>
                      <a:pt x="8133" y="10405"/>
                      <a:pt x="8135" y="10406"/>
                    </a:cubicBezTo>
                    <a:cubicBezTo>
                      <a:pt x="8249" y="10441"/>
                      <a:pt x="8350" y="10489"/>
                      <a:pt x="8474" y="10549"/>
                    </a:cubicBezTo>
                    <a:cubicBezTo>
                      <a:pt x="8563" y="10591"/>
                      <a:pt x="8622" y="10631"/>
                      <a:pt x="8681" y="10681"/>
                    </a:cubicBezTo>
                    <a:cubicBezTo>
                      <a:pt x="8840" y="10742"/>
                      <a:pt x="8989" y="10782"/>
                      <a:pt x="9096" y="10791"/>
                    </a:cubicBezTo>
                    <a:cubicBezTo>
                      <a:pt x="9326" y="10809"/>
                      <a:pt x="9338" y="10813"/>
                      <a:pt x="9171" y="10851"/>
                    </a:cubicBezTo>
                    <a:cubicBezTo>
                      <a:pt x="9003" y="10889"/>
                      <a:pt x="8974" y="11108"/>
                      <a:pt x="8926" y="13235"/>
                    </a:cubicBezTo>
                    <a:cubicBezTo>
                      <a:pt x="8894" y="14665"/>
                      <a:pt x="8816" y="15708"/>
                      <a:pt x="8738" y="15917"/>
                    </a:cubicBezTo>
                    <a:cubicBezTo>
                      <a:pt x="8723" y="15957"/>
                      <a:pt x="8702" y="16027"/>
                      <a:pt x="8681" y="16076"/>
                    </a:cubicBezTo>
                    <a:cubicBezTo>
                      <a:pt x="8607" y="16483"/>
                      <a:pt x="8510" y="16759"/>
                      <a:pt x="8361" y="16982"/>
                    </a:cubicBezTo>
                    <a:cubicBezTo>
                      <a:pt x="8085" y="17398"/>
                      <a:pt x="7718" y="17792"/>
                      <a:pt x="7307" y="18164"/>
                    </a:cubicBezTo>
                    <a:cubicBezTo>
                      <a:pt x="7299" y="18173"/>
                      <a:pt x="7295" y="18183"/>
                      <a:pt x="7288" y="18191"/>
                    </a:cubicBezTo>
                    <a:cubicBezTo>
                      <a:pt x="7218" y="18272"/>
                      <a:pt x="7107" y="18372"/>
                      <a:pt x="7043" y="18416"/>
                    </a:cubicBezTo>
                    <a:cubicBezTo>
                      <a:pt x="6979" y="18461"/>
                      <a:pt x="6881" y="18529"/>
                      <a:pt x="6836" y="18565"/>
                    </a:cubicBezTo>
                    <a:cubicBezTo>
                      <a:pt x="6791" y="18601"/>
                      <a:pt x="6698" y="18669"/>
                      <a:pt x="6629" y="18719"/>
                    </a:cubicBezTo>
                    <a:cubicBezTo>
                      <a:pt x="6571" y="18759"/>
                      <a:pt x="6489" y="18819"/>
                      <a:pt x="6422" y="18867"/>
                    </a:cubicBezTo>
                    <a:cubicBezTo>
                      <a:pt x="6407" y="18877"/>
                      <a:pt x="6396" y="18891"/>
                      <a:pt x="6384" y="18900"/>
                    </a:cubicBezTo>
                    <a:cubicBezTo>
                      <a:pt x="6287" y="18969"/>
                      <a:pt x="6129" y="19066"/>
                      <a:pt x="5951" y="19169"/>
                    </a:cubicBezTo>
                    <a:cubicBezTo>
                      <a:pt x="5586" y="19388"/>
                      <a:pt x="5192" y="19587"/>
                      <a:pt x="4783" y="19768"/>
                    </a:cubicBezTo>
                    <a:cubicBezTo>
                      <a:pt x="4771" y="19775"/>
                      <a:pt x="4727" y="19793"/>
                      <a:pt x="4727" y="19795"/>
                    </a:cubicBezTo>
                    <a:cubicBezTo>
                      <a:pt x="4727" y="19823"/>
                      <a:pt x="4181" y="20018"/>
                      <a:pt x="3616" y="20213"/>
                    </a:cubicBezTo>
                    <a:cubicBezTo>
                      <a:pt x="3377" y="20295"/>
                      <a:pt x="3149" y="20384"/>
                      <a:pt x="2938" y="20449"/>
                    </a:cubicBezTo>
                    <a:cubicBezTo>
                      <a:pt x="1727" y="20884"/>
                      <a:pt x="1656" y="21103"/>
                      <a:pt x="2523" y="21356"/>
                    </a:cubicBezTo>
                    <a:cubicBezTo>
                      <a:pt x="3361" y="21600"/>
                      <a:pt x="4165" y="21575"/>
                      <a:pt x="5329" y="21268"/>
                    </a:cubicBezTo>
                    <a:cubicBezTo>
                      <a:pt x="8326" y="20478"/>
                      <a:pt x="10755" y="18963"/>
                      <a:pt x="11883" y="17169"/>
                    </a:cubicBezTo>
                    <a:cubicBezTo>
                      <a:pt x="12327" y="16464"/>
                      <a:pt x="12401" y="15991"/>
                      <a:pt x="12523" y="13532"/>
                    </a:cubicBezTo>
                    <a:cubicBezTo>
                      <a:pt x="12568" y="12631"/>
                      <a:pt x="12614" y="12085"/>
                      <a:pt x="12655" y="11659"/>
                    </a:cubicBezTo>
                    <a:cubicBezTo>
                      <a:pt x="12684" y="11112"/>
                      <a:pt x="12710" y="10782"/>
                      <a:pt x="12768" y="10747"/>
                    </a:cubicBezTo>
                    <a:cubicBezTo>
                      <a:pt x="12783" y="10737"/>
                      <a:pt x="12855" y="10706"/>
                      <a:pt x="12881" y="10692"/>
                    </a:cubicBezTo>
                    <a:cubicBezTo>
                      <a:pt x="12956" y="10603"/>
                      <a:pt x="13053" y="10555"/>
                      <a:pt x="13182" y="10505"/>
                    </a:cubicBezTo>
                    <a:cubicBezTo>
                      <a:pt x="13260" y="10474"/>
                      <a:pt x="13327" y="10451"/>
                      <a:pt x="13408" y="10428"/>
                    </a:cubicBezTo>
                    <a:lnTo>
                      <a:pt x="13653" y="10324"/>
                    </a:lnTo>
                    <a:lnTo>
                      <a:pt x="14011" y="10324"/>
                    </a:lnTo>
                    <a:cubicBezTo>
                      <a:pt x="14216" y="10302"/>
                      <a:pt x="14443" y="10284"/>
                      <a:pt x="14745" y="10274"/>
                    </a:cubicBezTo>
                    <a:cubicBezTo>
                      <a:pt x="15680" y="10243"/>
                      <a:pt x="15852" y="10205"/>
                      <a:pt x="16233" y="9977"/>
                    </a:cubicBezTo>
                    <a:cubicBezTo>
                      <a:pt x="16296" y="9940"/>
                      <a:pt x="16363" y="9918"/>
                      <a:pt x="16421" y="9889"/>
                    </a:cubicBezTo>
                    <a:cubicBezTo>
                      <a:pt x="16422" y="9888"/>
                      <a:pt x="16421" y="9885"/>
                      <a:pt x="16421" y="9884"/>
                    </a:cubicBezTo>
                    <a:lnTo>
                      <a:pt x="16478" y="9719"/>
                    </a:lnTo>
                    <a:lnTo>
                      <a:pt x="17212" y="9703"/>
                    </a:lnTo>
                    <a:cubicBezTo>
                      <a:pt x="17348" y="9691"/>
                      <a:pt x="17494" y="9679"/>
                      <a:pt x="17683" y="9670"/>
                    </a:cubicBezTo>
                    <a:cubicBezTo>
                      <a:pt x="18241" y="9643"/>
                      <a:pt x="18991" y="9579"/>
                      <a:pt x="19340" y="9527"/>
                    </a:cubicBezTo>
                    <a:cubicBezTo>
                      <a:pt x="20133" y="9409"/>
                      <a:pt x="21188" y="9050"/>
                      <a:pt x="21374" y="8835"/>
                    </a:cubicBezTo>
                    <a:cubicBezTo>
                      <a:pt x="21451" y="8745"/>
                      <a:pt x="21540" y="7322"/>
                      <a:pt x="21562" y="5675"/>
                    </a:cubicBezTo>
                    <a:lnTo>
                      <a:pt x="21600" y="2681"/>
                    </a:lnTo>
                    <a:lnTo>
                      <a:pt x="20640" y="2659"/>
                    </a:lnTo>
                    <a:lnTo>
                      <a:pt x="19660" y="2643"/>
                    </a:lnTo>
                    <a:lnTo>
                      <a:pt x="19604" y="1324"/>
                    </a:lnTo>
                    <a:lnTo>
                      <a:pt x="19529" y="0"/>
                    </a:lnTo>
                    <a:lnTo>
                      <a:pt x="10734" y="0"/>
                    </a:lnTo>
                    <a:lnTo>
                      <a:pt x="1940" y="0"/>
                    </a:ln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29" name="그룹화">
              <a:extLst>
                <a:ext uri="{FF2B5EF4-FFF2-40B4-BE49-F238E27FC236}">
                  <a16:creationId xmlns:a16="http://schemas.microsoft.com/office/drawing/2014/main" id="{4928EA85-E282-44F4-AD2F-9954DCA8E6AB}"/>
                </a:ext>
              </a:extLst>
            </p:cNvPr>
            <p:cNvGrpSpPr/>
            <p:nvPr/>
          </p:nvGrpSpPr>
          <p:grpSpPr>
            <a:xfrm>
              <a:off x="443647" y="2759732"/>
              <a:ext cx="832754" cy="634517"/>
              <a:chOff x="0" y="0"/>
              <a:chExt cx="1579148" cy="1203229"/>
            </a:xfrm>
          </p:grpSpPr>
          <p:pic>
            <p:nvPicPr>
              <p:cNvPr id="30" name="이미지" descr="이미지">
                <a:extLst>
                  <a:ext uri="{FF2B5EF4-FFF2-40B4-BE49-F238E27FC236}">
                    <a16:creationId xmlns:a16="http://schemas.microsoft.com/office/drawing/2014/main" id="{7D8B6688-AEED-47B0-9879-BEAE89B34C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579149" cy="120323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1" name="이미지" descr="이미지">
                <a:extLst>
                  <a:ext uri="{FF2B5EF4-FFF2-40B4-BE49-F238E27FC236}">
                    <a16:creationId xmlns:a16="http://schemas.microsoft.com/office/drawing/2014/main" id="{3DC665CF-7447-41A2-A154-7DDFE92E78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r="125" b="1"/>
              <a:stretch>
                <a:fillRect/>
              </a:stretch>
            </p:blipFill>
            <p:spPr>
              <a:xfrm>
                <a:off x="553185" y="177221"/>
                <a:ext cx="472720" cy="6052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1" h="21600" extrusionOk="0">
                    <a:moveTo>
                      <a:pt x="5419" y="0"/>
                    </a:moveTo>
                    <a:cubicBezTo>
                      <a:pt x="5137" y="0"/>
                      <a:pt x="4897" y="16"/>
                      <a:pt x="4876" y="42"/>
                    </a:cubicBezTo>
                    <a:cubicBezTo>
                      <a:pt x="4855" y="69"/>
                      <a:pt x="4781" y="99"/>
                      <a:pt x="4713" y="99"/>
                    </a:cubicBezTo>
                    <a:cubicBezTo>
                      <a:pt x="4645" y="99"/>
                      <a:pt x="4496" y="138"/>
                      <a:pt x="4386" y="184"/>
                    </a:cubicBezTo>
                    <a:cubicBezTo>
                      <a:pt x="4277" y="230"/>
                      <a:pt x="4063" y="265"/>
                      <a:pt x="3915" y="269"/>
                    </a:cubicBezTo>
                    <a:cubicBezTo>
                      <a:pt x="3759" y="274"/>
                      <a:pt x="3577" y="313"/>
                      <a:pt x="3481" y="368"/>
                    </a:cubicBezTo>
                    <a:cubicBezTo>
                      <a:pt x="3371" y="432"/>
                      <a:pt x="3178" y="478"/>
                      <a:pt x="2901" y="496"/>
                    </a:cubicBezTo>
                    <a:cubicBezTo>
                      <a:pt x="2637" y="512"/>
                      <a:pt x="2424" y="552"/>
                      <a:pt x="2321" y="609"/>
                    </a:cubicBezTo>
                    <a:cubicBezTo>
                      <a:pt x="2045" y="761"/>
                      <a:pt x="2035" y="776"/>
                      <a:pt x="1723" y="807"/>
                    </a:cubicBezTo>
                    <a:cubicBezTo>
                      <a:pt x="1519" y="828"/>
                      <a:pt x="1357" y="867"/>
                      <a:pt x="1252" y="949"/>
                    </a:cubicBezTo>
                    <a:cubicBezTo>
                      <a:pt x="1108" y="1062"/>
                      <a:pt x="1111" y="1104"/>
                      <a:pt x="1143" y="1402"/>
                    </a:cubicBezTo>
                    <a:cubicBezTo>
                      <a:pt x="1168" y="1630"/>
                      <a:pt x="1150" y="1756"/>
                      <a:pt x="1089" y="1841"/>
                    </a:cubicBezTo>
                    <a:cubicBezTo>
                      <a:pt x="969" y="2010"/>
                      <a:pt x="977" y="2136"/>
                      <a:pt x="1125" y="2351"/>
                    </a:cubicBezTo>
                    <a:cubicBezTo>
                      <a:pt x="1195" y="2453"/>
                      <a:pt x="1241" y="2592"/>
                      <a:pt x="1234" y="2663"/>
                    </a:cubicBezTo>
                    <a:cubicBezTo>
                      <a:pt x="1211" y="2901"/>
                      <a:pt x="1232" y="2990"/>
                      <a:pt x="1379" y="3159"/>
                    </a:cubicBezTo>
                    <a:cubicBezTo>
                      <a:pt x="1459" y="3251"/>
                      <a:pt x="1542" y="3442"/>
                      <a:pt x="1560" y="3569"/>
                    </a:cubicBezTo>
                    <a:cubicBezTo>
                      <a:pt x="1584" y="3735"/>
                      <a:pt x="1646" y="3842"/>
                      <a:pt x="1777" y="3952"/>
                    </a:cubicBezTo>
                    <a:cubicBezTo>
                      <a:pt x="1878" y="4036"/>
                      <a:pt x="2006" y="4200"/>
                      <a:pt x="2049" y="4320"/>
                    </a:cubicBezTo>
                    <a:cubicBezTo>
                      <a:pt x="2104" y="4473"/>
                      <a:pt x="2205" y="4607"/>
                      <a:pt x="2412" y="4759"/>
                    </a:cubicBezTo>
                    <a:cubicBezTo>
                      <a:pt x="2575" y="4879"/>
                      <a:pt x="2767" y="5066"/>
                      <a:pt x="2828" y="5170"/>
                    </a:cubicBezTo>
                    <a:cubicBezTo>
                      <a:pt x="2916" y="5317"/>
                      <a:pt x="3009" y="5376"/>
                      <a:pt x="3263" y="5467"/>
                    </a:cubicBezTo>
                    <a:cubicBezTo>
                      <a:pt x="3484" y="5546"/>
                      <a:pt x="3629" y="5635"/>
                      <a:pt x="3716" y="5751"/>
                    </a:cubicBezTo>
                    <a:cubicBezTo>
                      <a:pt x="3807" y="5870"/>
                      <a:pt x="3947" y="5965"/>
                      <a:pt x="4187" y="6048"/>
                    </a:cubicBezTo>
                    <a:cubicBezTo>
                      <a:pt x="4375" y="6113"/>
                      <a:pt x="4531" y="6179"/>
                      <a:pt x="4531" y="6190"/>
                    </a:cubicBezTo>
                    <a:cubicBezTo>
                      <a:pt x="4531" y="6200"/>
                      <a:pt x="4345" y="6300"/>
                      <a:pt x="4115" y="6416"/>
                    </a:cubicBezTo>
                    <a:cubicBezTo>
                      <a:pt x="2887" y="7037"/>
                      <a:pt x="2254" y="7907"/>
                      <a:pt x="2140" y="9122"/>
                    </a:cubicBezTo>
                    <a:cubicBezTo>
                      <a:pt x="2092" y="9628"/>
                      <a:pt x="2019" y="9729"/>
                      <a:pt x="1596" y="10000"/>
                    </a:cubicBezTo>
                    <a:cubicBezTo>
                      <a:pt x="937" y="10421"/>
                      <a:pt x="410" y="11090"/>
                      <a:pt x="219" y="11728"/>
                    </a:cubicBezTo>
                    <a:cubicBezTo>
                      <a:pt x="163" y="11914"/>
                      <a:pt x="88" y="12106"/>
                      <a:pt x="56" y="12153"/>
                    </a:cubicBezTo>
                    <a:cubicBezTo>
                      <a:pt x="-19" y="12262"/>
                      <a:pt x="-19" y="12893"/>
                      <a:pt x="56" y="13002"/>
                    </a:cubicBezTo>
                    <a:cubicBezTo>
                      <a:pt x="88" y="13049"/>
                      <a:pt x="146" y="13187"/>
                      <a:pt x="183" y="13314"/>
                    </a:cubicBezTo>
                    <a:cubicBezTo>
                      <a:pt x="306" y="13737"/>
                      <a:pt x="501" y="14069"/>
                      <a:pt x="835" y="14433"/>
                    </a:cubicBezTo>
                    <a:cubicBezTo>
                      <a:pt x="1017" y="14632"/>
                      <a:pt x="1192" y="14868"/>
                      <a:pt x="1216" y="14957"/>
                    </a:cubicBezTo>
                    <a:cubicBezTo>
                      <a:pt x="1239" y="15046"/>
                      <a:pt x="1377" y="15418"/>
                      <a:pt x="1524" y="15779"/>
                    </a:cubicBezTo>
                    <a:cubicBezTo>
                      <a:pt x="1670" y="16139"/>
                      <a:pt x="1825" y="16552"/>
                      <a:pt x="1868" y="16699"/>
                    </a:cubicBezTo>
                    <a:cubicBezTo>
                      <a:pt x="2132" y="17607"/>
                      <a:pt x="3075" y="18559"/>
                      <a:pt x="4151" y="18980"/>
                    </a:cubicBezTo>
                    <a:cubicBezTo>
                      <a:pt x="4415" y="19083"/>
                      <a:pt x="4840" y="19279"/>
                      <a:pt x="5093" y="19419"/>
                    </a:cubicBezTo>
                    <a:cubicBezTo>
                      <a:pt x="5743" y="19777"/>
                      <a:pt x="6294" y="20012"/>
                      <a:pt x="6869" y="20198"/>
                    </a:cubicBezTo>
                    <a:cubicBezTo>
                      <a:pt x="7207" y="20307"/>
                      <a:pt x="7485" y="20444"/>
                      <a:pt x="7738" y="20623"/>
                    </a:cubicBezTo>
                    <a:cubicBezTo>
                      <a:pt x="7943" y="20766"/>
                      <a:pt x="8277" y="20959"/>
                      <a:pt x="8499" y="21062"/>
                    </a:cubicBezTo>
                    <a:cubicBezTo>
                      <a:pt x="8904" y="21249"/>
                      <a:pt x="9751" y="21501"/>
                      <a:pt x="9985" y="21501"/>
                    </a:cubicBezTo>
                    <a:cubicBezTo>
                      <a:pt x="10054" y="21501"/>
                      <a:pt x="10127" y="21531"/>
                      <a:pt x="10148" y="21558"/>
                    </a:cubicBezTo>
                    <a:cubicBezTo>
                      <a:pt x="10170" y="21585"/>
                      <a:pt x="10458" y="21600"/>
                      <a:pt x="10800" y="21600"/>
                    </a:cubicBezTo>
                    <a:cubicBezTo>
                      <a:pt x="11143" y="21600"/>
                      <a:pt x="11431" y="21585"/>
                      <a:pt x="11453" y="21558"/>
                    </a:cubicBezTo>
                    <a:cubicBezTo>
                      <a:pt x="11474" y="21531"/>
                      <a:pt x="11547" y="21501"/>
                      <a:pt x="11616" y="21501"/>
                    </a:cubicBezTo>
                    <a:cubicBezTo>
                      <a:pt x="11852" y="21501"/>
                      <a:pt x="12702" y="21254"/>
                      <a:pt x="13120" y="21062"/>
                    </a:cubicBezTo>
                    <a:cubicBezTo>
                      <a:pt x="13349" y="20956"/>
                      <a:pt x="13702" y="20749"/>
                      <a:pt x="13899" y="20609"/>
                    </a:cubicBezTo>
                    <a:cubicBezTo>
                      <a:pt x="14118" y="20453"/>
                      <a:pt x="14396" y="20310"/>
                      <a:pt x="14623" y="20240"/>
                    </a:cubicBezTo>
                    <a:cubicBezTo>
                      <a:pt x="15134" y="20084"/>
                      <a:pt x="15705" y="19840"/>
                      <a:pt x="16363" y="19490"/>
                    </a:cubicBezTo>
                    <a:cubicBezTo>
                      <a:pt x="16667" y="19327"/>
                      <a:pt x="17157" y="19098"/>
                      <a:pt x="17450" y="18980"/>
                    </a:cubicBezTo>
                    <a:cubicBezTo>
                      <a:pt x="17867" y="18811"/>
                      <a:pt x="18097" y="18672"/>
                      <a:pt x="18537" y="18328"/>
                    </a:cubicBezTo>
                    <a:cubicBezTo>
                      <a:pt x="19009" y="17958"/>
                      <a:pt x="19145" y="17809"/>
                      <a:pt x="19389" y="17422"/>
                    </a:cubicBezTo>
                    <a:cubicBezTo>
                      <a:pt x="19548" y="17168"/>
                      <a:pt x="19733" y="16815"/>
                      <a:pt x="19787" y="16628"/>
                    </a:cubicBezTo>
                    <a:cubicBezTo>
                      <a:pt x="19841" y="16442"/>
                      <a:pt x="19998" y="15988"/>
                      <a:pt x="20150" y="15623"/>
                    </a:cubicBezTo>
                    <a:cubicBezTo>
                      <a:pt x="20301" y="15257"/>
                      <a:pt x="20421" y="14927"/>
                      <a:pt x="20421" y="14886"/>
                    </a:cubicBezTo>
                    <a:cubicBezTo>
                      <a:pt x="20421" y="14845"/>
                      <a:pt x="20537" y="14687"/>
                      <a:pt x="20675" y="14546"/>
                    </a:cubicBezTo>
                    <a:cubicBezTo>
                      <a:pt x="20984" y="14231"/>
                      <a:pt x="21324" y="13695"/>
                      <a:pt x="21418" y="13371"/>
                    </a:cubicBezTo>
                    <a:cubicBezTo>
                      <a:pt x="21457" y="13237"/>
                      <a:pt x="21513" y="13091"/>
                      <a:pt x="21545" y="13045"/>
                    </a:cubicBezTo>
                    <a:cubicBezTo>
                      <a:pt x="21557" y="13027"/>
                      <a:pt x="21573" y="12978"/>
                      <a:pt x="21581" y="12932"/>
                    </a:cubicBezTo>
                    <a:cubicBezTo>
                      <a:pt x="21575" y="12623"/>
                      <a:pt x="21570" y="12233"/>
                      <a:pt x="21563" y="12181"/>
                    </a:cubicBezTo>
                    <a:cubicBezTo>
                      <a:pt x="21560" y="12174"/>
                      <a:pt x="21566" y="12157"/>
                      <a:pt x="21563" y="12153"/>
                    </a:cubicBezTo>
                    <a:cubicBezTo>
                      <a:pt x="21533" y="12106"/>
                      <a:pt x="21454" y="11920"/>
                      <a:pt x="21400" y="11742"/>
                    </a:cubicBezTo>
                    <a:cubicBezTo>
                      <a:pt x="21204" y="11098"/>
                      <a:pt x="20611" y="10345"/>
                      <a:pt x="20005" y="9986"/>
                    </a:cubicBezTo>
                    <a:cubicBezTo>
                      <a:pt x="19926" y="9939"/>
                      <a:pt x="19837" y="9882"/>
                      <a:pt x="19769" y="9830"/>
                    </a:cubicBezTo>
                    <a:cubicBezTo>
                      <a:pt x="19686" y="9766"/>
                      <a:pt x="19613" y="9698"/>
                      <a:pt x="19588" y="9660"/>
                    </a:cubicBezTo>
                    <a:cubicBezTo>
                      <a:pt x="19543" y="9590"/>
                      <a:pt x="19485" y="9348"/>
                      <a:pt x="19461" y="9107"/>
                    </a:cubicBezTo>
                    <a:cubicBezTo>
                      <a:pt x="19345" y="7922"/>
                      <a:pt x="18778" y="7092"/>
                      <a:pt x="17613" y="6473"/>
                    </a:cubicBezTo>
                    <a:cubicBezTo>
                      <a:pt x="17428" y="6375"/>
                      <a:pt x="17300" y="6293"/>
                      <a:pt x="17214" y="6232"/>
                    </a:cubicBezTo>
                    <a:cubicBezTo>
                      <a:pt x="17199" y="6222"/>
                      <a:pt x="17139" y="6185"/>
                      <a:pt x="17124" y="6175"/>
                    </a:cubicBezTo>
                    <a:cubicBezTo>
                      <a:pt x="17123" y="6177"/>
                      <a:pt x="17106" y="6175"/>
                      <a:pt x="17106" y="6175"/>
                    </a:cubicBezTo>
                    <a:cubicBezTo>
                      <a:pt x="17102" y="6173"/>
                      <a:pt x="17105" y="6162"/>
                      <a:pt x="17106" y="6161"/>
                    </a:cubicBezTo>
                    <a:cubicBezTo>
                      <a:pt x="17123" y="6139"/>
                      <a:pt x="17261" y="6094"/>
                      <a:pt x="17396" y="6062"/>
                    </a:cubicBezTo>
                    <a:cubicBezTo>
                      <a:pt x="17447" y="6050"/>
                      <a:pt x="17481" y="6034"/>
                      <a:pt x="17522" y="6020"/>
                    </a:cubicBezTo>
                    <a:cubicBezTo>
                      <a:pt x="17527" y="6018"/>
                      <a:pt x="17536" y="6021"/>
                      <a:pt x="17541" y="6020"/>
                    </a:cubicBezTo>
                    <a:cubicBezTo>
                      <a:pt x="17554" y="6015"/>
                      <a:pt x="17564" y="6010"/>
                      <a:pt x="17577" y="6006"/>
                    </a:cubicBezTo>
                    <a:cubicBezTo>
                      <a:pt x="17593" y="5999"/>
                      <a:pt x="17598" y="5983"/>
                      <a:pt x="17613" y="5977"/>
                    </a:cubicBezTo>
                    <a:cubicBezTo>
                      <a:pt x="17738" y="5918"/>
                      <a:pt x="17829" y="5841"/>
                      <a:pt x="17939" y="5694"/>
                    </a:cubicBezTo>
                    <a:cubicBezTo>
                      <a:pt x="18003" y="5609"/>
                      <a:pt x="18135" y="5528"/>
                      <a:pt x="18229" y="5510"/>
                    </a:cubicBezTo>
                    <a:cubicBezTo>
                      <a:pt x="18275" y="5501"/>
                      <a:pt x="18314" y="5495"/>
                      <a:pt x="18356" y="5481"/>
                    </a:cubicBezTo>
                    <a:cubicBezTo>
                      <a:pt x="18460" y="5440"/>
                      <a:pt x="18546" y="5398"/>
                      <a:pt x="18610" y="5354"/>
                    </a:cubicBezTo>
                    <a:cubicBezTo>
                      <a:pt x="18616" y="5351"/>
                      <a:pt x="18625" y="5342"/>
                      <a:pt x="18628" y="5340"/>
                    </a:cubicBezTo>
                    <a:cubicBezTo>
                      <a:pt x="18692" y="5293"/>
                      <a:pt x="18728" y="5237"/>
                      <a:pt x="18773" y="5170"/>
                    </a:cubicBezTo>
                    <a:cubicBezTo>
                      <a:pt x="18775" y="5167"/>
                      <a:pt x="18788" y="5173"/>
                      <a:pt x="18791" y="5170"/>
                    </a:cubicBezTo>
                    <a:cubicBezTo>
                      <a:pt x="18795" y="5164"/>
                      <a:pt x="18787" y="5148"/>
                      <a:pt x="18791" y="5142"/>
                    </a:cubicBezTo>
                    <a:cubicBezTo>
                      <a:pt x="18841" y="5047"/>
                      <a:pt x="19029" y="4865"/>
                      <a:pt x="19207" y="4731"/>
                    </a:cubicBezTo>
                    <a:cubicBezTo>
                      <a:pt x="19447" y="4551"/>
                      <a:pt x="19555" y="4445"/>
                      <a:pt x="19588" y="4306"/>
                    </a:cubicBezTo>
                    <a:cubicBezTo>
                      <a:pt x="19591" y="4293"/>
                      <a:pt x="19601" y="4277"/>
                      <a:pt x="19606" y="4263"/>
                    </a:cubicBezTo>
                    <a:cubicBezTo>
                      <a:pt x="19609" y="4252"/>
                      <a:pt x="19620" y="4231"/>
                      <a:pt x="19624" y="4221"/>
                    </a:cubicBezTo>
                    <a:cubicBezTo>
                      <a:pt x="19639" y="4177"/>
                      <a:pt x="19641" y="4138"/>
                      <a:pt x="19660" y="4108"/>
                    </a:cubicBezTo>
                    <a:cubicBezTo>
                      <a:pt x="19686" y="4064"/>
                      <a:pt x="19717" y="4037"/>
                      <a:pt x="19751" y="4023"/>
                    </a:cubicBezTo>
                    <a:cubicBezTo>
                      <a:pt x="19756" y="4021"/>
                      <a:pt x="19764" y="4025"/>
                      <a:pt x="19769" y="4023"/>
                    </a:cubicBezTo>
                    <a:cubicBezTo>
                      <a:pt x="19783" y="4009"/>
                      <a:pt x="19791" y="3991"/>
                      <a:pt x="19805" y="3980"/>
                    </a:cubicBezTo>
                    <a:cubicBezTo>
                      <a:pt x="19975" y="3847"/>
                      <a:pt x="20101" y="3498"/>
                      <a:pt x="20023" y="3399"/>
                    </a:cubicBezTo>
                    <a:cubicBezTo>
                      <a:pt x="20003" y="3375"/>
                      <a:pt x="20039" y="3337"/>
                      <a:pt x="20095" y="3300"/>
                    </a:cubicBezTo>
                    <a:cubicBezTo>
                      <a:pt x="20137" y="3273"/>
                      <a:pt x="20183" y="3224"/>
                      <a:pt x="20222" y="3173"/>
                    </a:cubicBezTo>
                    <a:cubicBezTo>
                      <a:pt x="20295" y="3077"/>
                      <a:pt x="20355" y="2954"/>
                      <a:pt x="20385" y="2847"/>
                    </a:cubicBezTo>
                    <a:cubicBezTo>
                      <a:pt x="20386" y="2840"/>
                      <a:pt x="20384" y="2840"/>
                      <a:pt x="20385" y="2833"/>
                    </a:cubicBezTo>
                    <a:cubicBezTo>
                      <a:pt x="20386" y="2826"/>
                      <a:pt x="20385" y="2812"/>
                      <a:pt x="20385" y="2804"/>
                    </a:cubicBezTo>
                    <a:cubicBezTo>
                      <a:pt x="20386" y="2796"/>
                      <a:pt x="20403" y="2785"/>
                      <a:pt x="20403" y="2776"/>
                    </a:cubicBezTo>
                    <a:cubicBezTo>
                      <a:pt x="20409" y="2738"/>
                      <a:pt x="20411" y="2703"/>
                      <a:pt x="20403" y="2677"/>
                    </a:cubicBezTo>
                    <a:cubicBezTo>
                      <a:pt x="20380" y="2593"/>
                      <a:pt x="20413" y="2475"/>
                      <a:pt x="20494" y="2351"/>
                    </a:cubicBezTo>
                    <a:cubicBezTo>
                      <a:pt x="20566" y="2240"/>
                      <a:pt x="20596" y="2170"/>
                      <a:pt x="20603" y="2096"/>
                    </a:cubicBezTo>
                    <a:cubicBezTo>
                      <a:pt x="20603" y="2093"/>
                      <a:pt x="20603" y="2083"/>
                      <a:pt x="20603" y="2082"/>
                    </a:cubicBezTo>
                    <a:cubicBezTo>
                      <a:pt x="20603" y="2046"/>
                      <a:pt x="20597" y="2009"/>
                      <a:pt x="20584" y="1969"/>
                    </a:cubicBezTo>
                    <a:cubicBezTo>
                      <a:pt x="20568" y="1929"/>
                      <a:pt x="20560" y="1887"/>
                      <a:pt x="20530" y="1841"/>
                    </a:cubicBezTo>
                    <a:cubicBezTo>
                      <a:pt x="20493" y="1785"/>
                      <a:pt x="20463" y="1721"/>
                      <a:pt x="20458" y="1643"/>
                    </a:cubicBezTo>
                    <a:cubicBezTo>
                      <a:pt x="20457" y="1640"/>
                      <a:pt x="20458" y="1632"/>
                      <a:pt x="20458" y="1629"/>
                    </a:cubicBezTo>
                    <a:cubicBezTo>
                      <a:pt x="20455" y="1576"/>
                      <a:pt x="20466" y="1521"/>
                      <a:pt x="20476" y="1459"/>
                    </a:cubicBezTo>
                    <a:cubicBezTo>
                      <a:pt x="20496" y="1325"/>
                      <a:pt x="20498" y="1159"/>
                      <a:pt x="20476" y="1091"/>
                    </a:cubicBezTo>
                    <a:cubicBezTo>
                      <a:pt x="20426" y="936"/>
                      <a:pt x="20142" y="822"/>
                      <a:pt x="19823" y="822"/>
                    </a:cubicBezTo>
                    <a:cubicBezTo>
                      <a:pt x="19655" y="822"/>
                      <a:pt x="19544" y="795"/>
                      <a:pt x="19461" y="722"/>
                    </a:cubicBezTo>
                    <a:cubicBezTo>
                      <a:pt x="19288" y="571"/>
                      <a:pt x="18978" y="482"/>
                      <a:pt x="18610" y="482"/>
                    </a:cubicBezTo>
                    <a:cubicBezTo>
                      <a:pt x="18367" y="482"/>
                      <a:pt x="18259" y="458"/>
                      <a:pt x="18157" y="382"/>
                    </a:cubicBezTo>
                    <a:cubicBezTo>
                      <a:pt x="18063" y="314"/>
                      <a:pt x="17928" y="276"/>
                      <a:pt x="17722" y="269"/>
                    </a:cubicBezTo>
                    <a:cubicBezTo>
                      <a:pt x="17556" y="263"/>
                      <a:pt x="17324" y="230"/>
                      <a:pt x="17214" y="184"/>
                    </a:cubicBezTo>
                    <a:cubicBezTo>
                      <a:pt x="17131" y="149"/>
                      <a:pt x="17022" y="126"/>
                      <a:pt x="16906" y="113"/>
                    </a:cubicBezTo>
                    <a:cubicBezTo>
                      <a:pt x="16787" y="104"/>
                      <a:pt x="16671" y="104"/>
                      <a:pt x="16562" y="113"/>
                    </a:cubicBezTo>
                    <a:cubicBezTo>
                      <a:pt x="16560" y="113"/>
                      <a:pt x="16546" y="113"/>
                      <a:pt x="16544" y="113"/>
                    </a:cubicBezTo>
                    <a:cubicBezTo>
                      <a:pt x="16479" y="121"/>
                      <a:pt x="16417" y="126"/>
                      <a:pt x="16363" y="142"/>
                    </a:cubicBezTo>
                    <a:cubicBezTo>
                      <a:pt x="16247" y="174"/>
                      <a:pt x="16172" y="171"/>
                      <a:pt x="16055" y="99"/>
                    </a:cubicBezTo>
                    <a:cubicBezTo>
                      <a:pt x="16031" y="85"/>
                      <a:pt x="16007" y="68"/>
                      <a:pt x="15982" y="57"/>
                    </a:cubicBezTo>
                    <a:cubicBezTo>
                      <a:pt x="15926" y="45"/>
                      <a:pt x="15739" y="36"/>
                      <a:pt x="15566" y="28"/>
                    </a:cubicBezTo>
                    <a:cubicBezTo>
                      <a:pt x="15504" y="45"/>
                      <a:pt x="15433" y="68"/>
                      <a:pt x="15366" y="99"/>
                    </a:cubicBezTo>
                    <a:cubicBezTo>
                      <a:pt x="15199" y="176"/>
                      <a:pt x="15078" y="202"/>
                      <a:pt x="14877" y="184"/>
                    </a:cubicBezTo>
                    <a:cubicBezTo>
                      <a:pt x="14702" y="169"/>
                      <a:pt x="14514" y="196"/>
                      <a:pt x="14315" y="255"/>
                    </a:cubicBezTo>
                    <a:cubicBezTo>
                      <a:pt x="14148" y="305"/>
                      <a:pt x="13903" y="340"/>
                      <a:pt x="13772" y="340"/>
                    </a:cubicBezTo>
                    <a:cubicBezTo>
                      <a:pt x="13489" y="340"/>
                      <a:pt x="13172" y="445"/>
                      <a:pt x="12975" y="609"/>
                    </a:cubicBezTo>
                    <a:cubicBezTo>
                      <a:pt x="12887" y="682"/>
                      <a:pt x="12760" y="722"/>
                      <a:pt x="12649" y="722"/>
                    </a:cubicBezTo>
                    <a:cubicBezTo>
                      <a:pt x="12173" y="722"/>
                      <a:pt x="11420" y="1401"/>
                      <a:pt x="11036" y="2167"/>
                    </a:cubicBezTo>
                    <a:cubicBezTo>
                      <a:pt x="10942" y="2354"/>
                      <a:pt x="10842" y="2493"/>
                      <a:pt x="10800" y="2493"/>
                    </a:cubicBezTo>
                    <a:cubicBezTo>
                      <a:pt x="10758" y="2493"/>
                      <a:pt x="10678" y="2386"/>
                      <a:pt x="10619" y="2252"/>
                    </a:cubicBezTo>
                    <a:cubicBezTo>
                      <a:pt x="10301" y="1530"/>
                      <a:pt x="9427" y="722"/>
                      <a:pt x="8970" y="722"/>
                    </a:cubicBezTo>
                    <a:cubicBezTo>
                      <a:pt x="8836" y="722"/>
                      <a:pt x="8728" y="681"/>
                      <a:pt x="8626" y="595"/>
                    </a:cubicBezTo>
                    <a:cubicBezTo>
                      <a:pt x="8429" y="428"/>
                      <a:pt x="8140" y="342"/>
                      <a:pt x="7811" y="340"/>
                    </a:cubicBezTo>
                    <a:cubicBezTo>
                      <a:pt x="7665" y="339"/>
                      <a:pt x="7480" y="307"/>
                      <a:pt x="7394" y="269"/>
                    </a:cubicBezTo>
                    <a:cubicBezTo>
                      <a:pt x="7306" y="230"/>
                      <a:pt x="7072" y="199"/>
                      <a:pt x="6851" y="198"/>
                    </a:cubicBezTo>
                    <a:cubicBezTo>
                      <a:pt x="6590" y="197"/>
                      <a:pt x="6369" y="164"/>
                      <a:pt x="6198" y="99"/>
                    </a:cubicBezTo>
                    <a:cubicBezTo>
                      <a:pt x="6005" y="26"/>
                      <a:pt x="5805" y="0"/>
                      <a:pt x="5419" y="0"/>
                    </a:cubicBez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63" name="Picture 2" descr="Raspberry Pi 4">
              <a:extLst>
                <a:ext uri="{FF2B5EF4-FFF2-40B4-BE49-F238E27FC236}">
                  <a16:creationId xmlns:a16="http://schemas.microsoft.com/office/drawing/2014/main" id="{E44B86D9-374E-4CCD-8D4B-B84940F85A0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alphaModFix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saturation sat="93000"/>
                      </a14:imgEffect>
                      <a14:imgEffect>
                        <a14:brightnessContrast contrast="3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42" t="7529" r="10542" b="8944"/>
            <a:stretch/>
          </p:blipFill>
          <p:spPr bwMode="auto">
            <a:xfrm rot="5400000">
              <a:off x="2836727" y="2736411"/>
              <a:ext cx="2351914" cy="1576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그림 7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3D7C1D53-4D13-41FE-99CA-CFD562EEC7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b="17860"/>
            <a:stretch/>
          </p:blipFill>
          <p:spPr>
            <a:xfrm>
              <a:off x="3894191" y="4706466"/>
              <a:ext cx="276225" cy="578966"/>
            </a:xfrm>
            <a:prstGeom prst="rect">
              <a:avLst/>
            </a:prstGeom>
          </p:spPr>
        </p:pic>
        <p:sp>
          <p:nvSpPr>
            <p:cNvPr id="10" name="모서리가 둥근 직사각형 2">
              <a:extLst>
                <a:ext uri="{FF2B5EF4-FFF2-40B4-BE49-F238E27FC236}">
                  <a16:creationId xmlns:a16="http://schemas.microsoft.com/office/drawing/2014/main" id="{AA3C5B5A-5559-40A6-965D-94A28587934D}"/>
                </a:ext>
              </a:extLst>
            </p:cNvPr>
            <p:cNvSpPr/>
            <p:nvPr/>
          </p:nvSpPr>
          <p:spPr>
            <a:xfrm>
              <a:off x="2335398" y="2147771"/>
              <a:ext cx="793238" cy="534824"/>
            </a:xfrm>
            <a:prstGeom prst="round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JP" altLang="en-US" sz="1350" dirty="0"/>
            </a:p>
          </p:txBody>
        </p:sp>
        <p:pic>
          <p:nvPicPr>
            <p:cNvPr id="12" name="이미지" descr="이미지">
              <a:extLst>
                <a:ext uri="{FF2B5EF4-FFF2-40B4-BE49-F238E27FC236}">
                  <a16:creationId xmlns:a16="http://schemas.microsoft.com/office/drawing/2014/main" id="{4E9B0E74-077E-4F2B-9CBC-33DA9B928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10551" t="20979" r="10550" b="20984"/>
            <a:stretch>
              <a:fillRect/>
            </a:stretch>
          </p:blipFill>
          <p:spPr>
            <a:xfrm rot="16200000">
              <a:off x="3879540" y="2102595"/>
              <a:ext cx="281141" cy="2068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5" h="21594" extrusionOk="0">
                  <a:moveTo>
                    <a:pt x="2013" y="0"/>
                  </a:moveTo>
                  <a:cubicBezTo>
                    <a:pt x="752" y="19"/>
                    <a:pt x="584" y="65"/>
                    <a:pt x="471" y="153"/>
                  </a:cubicBezTo>
                  <a:lnTo>
                    <a:pt x="342" y="328"/>
                  </a:lnTo>
                  <a:cubicBezTo>
                    <a:pt x="272" y="416"/>
                    <a:pt x="216" y="518"/>
                    <a:pt x="165" y="612"/>
                  </a:cubicBezTo>
                  <a:cubicBezTo>
                    <a:pt x="67" y="970"/>
                    <a:pt x="18" y="1839"/>
                    <a:pt x="5" y="3781"/>
                  </a:cubicBezTo>
                  <a:cubicBezTo>
                    <a:pt x="4" y="3868"/>
                    <a:pt x="5" y="3866"/>
                    <a:pt x="5" y="3956"/>
                  </a:cubicBezTo>
                  <a:cubicBezTo>
                    <a:pt x="-15" y="8701"/>
                    <a:pt x="26" y="17166"/>
                    <a:pt x="85" y="17614"/>
                  </a:cubicBezTo>
                  <a:cubicBezTo>
                    <a:pt x="117" y="17854"/>
                    <a:pt x="113" y="17999"/>
                    <a:pt x="133" y="18204"/>
                  </a:cubicBezTo>
                  <a:cubicBezTo>
                    <a:pt x="204" y="18546"/>
                    <a:pt x="308" y="18616"/>
                    <a:pt x="471" y="18751"/>
                  </a:cubicBezTo>
                  <a:cubicBezTo>
                    <a:pt x="704" y="18944"/>
                    <a:pt x="874" y="18969"/>
                    <a:pt x="3829" y="18969"/>
                  </a:cubicBezTo>
                  <a:lnTo>
                    <a:pt x="6930" y="18969"/>
                  </a:lnTo>
                  <a:lnTo>
                    <a:pt x="7910" y="20259"/>
                  </a:lnTo>
                  <a:lnTo>
                    <a:pt x="8875" y="21548"/>
                  </a:lnTo>
                  <a:lnTo>
                    <a:pt x="10080" y="21526"/>
                  </a:lnTo>
                  <a:lnTo>
                    <a:pt x="11285" y="21504"/>
                  </a:lnTo>
                  <a:lnTo>
                    <a:pt x="11301" y="20980"/>
                  </a:lnTo>
                  <a:cubicBezTo>
                    <a:pt x="11332" y="20257"/>
                    <a:pt x="11410" y="20193"/>
                    <a:pt x="12442" y="20193"/>
                  </a:cubicBezTo>
                  <a:lnTo>
                    <a:pt x="13310" y="20193"/>
                  </a:lnTo>
                  <a:lnTo>
                    <a:pt x="13824" y="20871"/>
                  </a:lnTo>
                  <a:lnTo>
                    <a:pt x="14338" y="21548"/>
                  </a:lnTo>
                  <a:lnTo>
                    <a:pt x="14868" y="21570"/>
                  </a:lnTo>
                  <a:cubicBezTo>
                    <a:pt x="15160" y="21587"/>
                    <a:pt x="16610" y="21600"/>
                    <a:pt x="18098" y="21592"/>
                  </a:cubicBezTo>
                  <a:cubicBezTo>
                    <a:pt x="21094" y="21575"/>
                    <a:pt x="21144" y="21554"/>
                    <a:pt x="21440" y="20892"/>
                  </a:cubicBezTo>
                  <a:cubicBezTo>
                    <a:pt x="21585" y="20570"/>
                    <a:pt x="21585" y="20309"/>
                    <a:pt x="21585" y="10730"/>
                  </a:cubicBezTo>
                  <a:lnTo>
                    <a:pt x="21585" y="1071"/>
                  </a:lnTo>
                  <a:cubicBezTo>
                    <a:pt x="21547" y="943"/>
                    <a:pt x="21521" y="820"/>
                    <a:pt x="21489" y="721"/>
                  </a:cubicBezTo>
                  <a:lnTo>
                    <a:pt x="21344" y="524"/>
                  </a:lnTo>
                  <a:cubicBezTo>
                    <a:pt x="21306" y="465"/>
                    <a:pt x="21273" y="420"/>
                    <a:pt x="21231" y="372"/>
                  </a:cubicBezTo>
                  <a:cubicBezTo>
                    <a:pt x="21026" y="234"/>
                    <a:pt x="20596" y="141"/>
                    <a:pt x="19866" y="87"/>
                  </a:cubicBezTo>
                  <a:cubicBezTo>
                    <a:pt x="18979" y="63"/>
                    <a:pt x="15847" y="44"/>
                    <a:pt x="11478" y="22"/>
                  </a:cubicBezTo>
                  <a:lnTo>
                    <a:pt x="11462" y="22"/>
                  </a:lnTo>
                  <a:cubicBezTo>
                    <a:pt x="11286" y="37"/>
                    <a:pt x="11139" y="42"/>
                    <a:pt x="11028" y="22"/>
                  </a:cubicBezTo>
                  <a:cubicBezTo>
                    <a:pt x="10835" y="21"/>
                    <a:pt x="10853" y="23"/>
                    <a:pt x="10658" y="22"/>
                  </a:cubicBezTo>
                  <a:cubicBezTo>
                    <a:pt x="8725" y="13"/>
                    <a:pt x="8462" y="3"/>
                    <a:pt x="7203" y="0"/>
                  </a:cubicBezTo>
                  <a:cubicBezTo>
                    <a:pt x="7112" y="29"/>
                    <a:pt x="7011" y="44"/>
                    <a:pt x="6866" y="44"/>
                  </a:cubicBezTo>
                  <a:cubicBezTo>
                    <a:pt x="6721" y="44"/>
                    <a:pt x="6596" y="28"/>
                    <a:pt x="6496" y="0"/>
                  </a:cubicBezTo>
                  <a:lnTo>
                    <a:pt x="2013" y="0"/>
                  </a:lnTo>
                  <a:close/>
                </a:path>
              </a:pathLst>
            </a:custGeom>
            <a:ln w="12700">
              <a:miter lim="400000"/>
            </a:ln>
          </p:spPr>
        </p:pic>
        <p:grpSp>
          <p:nvGrpSpPr>
            <p:cNvPr id="13" name="그룹화">
              <a:extLst>
                <a:ext uri="{FF2B5EF4-FFF2-40B4-BE49-F238E27FC236}">
                  <a16:creationId xmlns:a16="http://schemas.microsoft.com/office/drawing/2014/main" id="{7F6BDA59-C624-4031-BAC1-14A60792000B}"/>
                </a:ext>
              </a:extLst>
            </p:cNvPr>
            <p:cNvGrpSpPr/>
            <p:nvPr/>
          </p:nvGrpSpPr>
          <p:grpSpPr>
            <a:xfrm>
              <a:off x="2689825" y="1711041"/>
              <a:ext cx="757275" cy="1048691"/>
              <a:chOff x="769967" y="0"/>
              <a:chExt cx="1436017" cy="1988625"/>
            </a:xfrm>
          </p:grpSpPr>
          <p:sp>
            <p:nvSpPr>
              <p:cNvPr id="14" name="직사각형">
                <a:extLst>
                  <a:ext uri="{FF2B5EF4-FFF2-40B4-BE49-F238E27FC236}">
                    <a16:creationId xmlns:a16="http://schemas.microsoft.com/office/drawing/2014/main" id="{8DBD25D7-EC88-430C-A065-298F8A815EB5}"/>
                  </a:ext>
                </a:extLst>
              </p:cNvPr>
              <p:cNvSpPr/>
              <p:nvPr/>
            </p:nvSpPr>
            <p:spPr>
              <a:xfrm>
                <a:off x="1555185" y="1109346"/>
                <a:ext cx="122480" cy="56058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63">
                  <a:defRPr sz="2200">
                    <a:solidFill>
                      <a:srgbClr val="0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160" dirty="0"/>
              </a:p>
            </p:txBody>
          </p:sp>
          <p:grpSp>
            <p:nvGrpSpPr>
              <p:cNvPr id="15" name="그룹화">
                <a:extLst>
                  <a:ext uri="{FF2B5EF4-FFF2-40B4-BE49-F238E27FC236}">
                    <a16:creationId xmlns:a16="http://schemas.microsoft.com/office/drawing/2014/main" id="{1FB11096-24E1-44D2-ABD9-48FC9ED227D9}"/>
                  </a:ext>
                </a:extLst>
              </p:cNvPr>
              <p:cNvGrpSpPr/>
              <p:nvPr/>
            </p:nvGrpSpPr>
            <p:grpSpPr>
              <a:xfrm>
                <a:off x="1199434" y="1674553"/>
                <a:ext cx="615959" cy="314072"/>
                <a:chOff x="4072" y="-119809"/>
                <a:chExt cx="615958" cy="314071"/>
              </a:xfrm>
            </p:grpSpPr>
            <p:sp>
              <p:nvSpPr>
                <p:cNvPr id="23" name="모서리가 둥근 직사각형">
                  <a:extLst>
                    <a:ext uri="{FF2B5EF4-FFF2-40B4-BE49-F238E27FC236}">
                      <a16:creationId xmlns:a16="http://schemas.microsoft.com/office/drawing/2014/main" id="{4AA8478A-882F-4F60-B36F-A14B8081476A}"/>
                    </a:ext>
                  </a:extLst>
                </p:cNvPr>
                <p:cNvSpPr/>
                <p:nvPr/>
              </p:nvSpPr>
              <p:spPr>
                <a:xfrm>
                  <a:off x="4072" y="-119809"/>
                  <a:ext cx="314072" cy="314071"/>
                </a:xfrm>
                <a:prstGeom prst="roundRect">
                  <a:avLst>
                    <a:gd name="adj" fmla="val 44527"/>
                  </a:avLst>
                </a:prstGeom>
                <a:solidFill>
                  <a:schemeClr val="bg1"/>
                </a:solidFill>
                <a:ln w="41275" cap="flat">
                  <a:solidFill>
                    <a:schemeClr val="tx1"/>
                  </a:solidFill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63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 sz="1160" dirty="0"/>
                </a:p>
              </p:txBody>
            </p:sp>
            <p:sp>
              <p:nvSpPr>
                <p:cNvPr id="24" name="직사각형">
                  <a:extLst>
                    <a:ext uri="{FF2B5EF4-FFF2-40B4-BE49-F238E27FC236}">
                      <a16:creationId xmlns:a16="http://schemas.microsoft.com/office/drawing/2014/main" id="{25DF5CE2-B4C6-4F44-8429-1736AC4A7072}"/>
                    </a:ext>
                  </a:extLst>
                </p:cNvPr>
                <p:cNvSpPr/>
                <p:nvPr/>
              </p:nvSpPr>
              <p:spPr>
                <a:xfrm>
                  <a:off x="417146" y="-45006"/>
                  <a:ext cx="202884" cy="151692"/>
                </a:xfrm>
                <a:prstGeom prst="rect">
                  <a:avLst/>
                </a:prstGeom>
                <a:solidFill>
                  <a:schemeClr val="bg1"/>
                </a:solidFill>
                <a:ln w="41275" cap="flat">
                  <a:solidFill>
                    <a:schemeClr val="tx1"/>
                  </a:solidFill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63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 sz="1160" dirty="0"/>
                </a:p>
              </p:txBody>
            </p:sp>
            <p:sp>
              <p:nvSpPr>
                <p:cNvPr id="25" name="모서리가 둥근 직사각형">
                  <a:extLst>
                    <a:ext uri="{FF2B5EF4-FFF2-40B4-BE49-F238E27FC236}">
                      <a16:creationId xmlns:a16="http://schemas.microsoft.com/office/drawing/2014/main" id="{AA64E804-4899-4208-BD8C-5DF327892191}"/>
                    </a:ext>
                  </a:extLst>
                </p:cNvPr>
                <p:cNvSpPr/>
                <p:nvPr/>
              </p:nvSpPr>
              <p:spPr>
                <a:xfrm>
                  <a:off x="168234" y="-119809"/>
                  <a:ext cx="314071" cy="314071"/>
                </a:xfrm>
                <a:prstGeom prst="roundRect">
                  <a:avLst>
                    <a:gd name="adj" fmla="val 8530"/>
                  </a:avLst>
                </a:prstGeom>
                <a:solidFill>
                  <a:schemeClr val="bg1"/>
                </a:solidFill>
                <a:ln w="41275" cap="flat">
                  <a:solidFill>
                    <a:schemeClr val="tx1"/>
                  </a:solidFill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63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 sz="1160" dirty="0"/>
                </a:p>
              </p:txBody>
            </p:sp>
          </p:grpSp>
          <p:sp>
            <p:nvSpPr>
              <p:cNvPr id="16" name="모서리가 둥근 직사각형">
                <a:extLst>
                  <a:ext uri="{FF2B5EF4-FFF2-40B4-BE49-F238E27FC236}">
                    <a16:creationId xmlns:a16="http://schemas.microsoft.com/office/drawing/2014/main" id="{F7C7721D-29DE-49B3-9AE3-57D8DA2905CB}"/>
                  </a:ext>
                </a:extLst>
              </p:cNvPr>
              <p:cNvSpPr/>
              <p:nvPr/>
            </p:nvSpPr>
            <p:spPr>
              <a:xfrm>
                <a:off x="915612" y="640761"/>
                <a:ext cx="145597" cy="35203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41275" cap="flat">
                <a:solidFill>
                  <a:schemeClr val="tx1"/>
                </a:solidFill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63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160" dirty="0"/>
              </a:p>
            </p:txBody>
          </p:sp>
          <p:sp>
            <p:nvSpPr>
              <p:cNvPr id="17" name="모서리가 둥근 직사각형">
                <a:extLst>
                  <a:ext uri="{FF2B5EF4-FFF2-40B4-BE49-F238E27FC236}">
                    <a16:creationId xmlns:a16="http://schemas.microsoft.com/office/drawing/2014/main" id="{5EBF4901-4020-4E91-9152-258DF5E4E18F}"/>
                  </a:ext>
                </a:extLst>
              </p:cNvPr>
              <p:cNvSpPr/>
              <p:nvPr/>
            </p:nvSpPr>
            <p:spPr>
              <a:xfrm>
                <a:off x="769967" y="691370"/>
                <a:ext cx="145599" cy="26451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41275" cap="flat">
                <a:solidFill>
                  <a:schemeClr val="tx1"/>
                </a:solidFill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63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160" dirty="0"/>
              </a:p>
            </p:txBody>
          </p:sp>
          <p:grpSp>
            <p:nvGrpSpPr>
              <p:cNvPr id="18" name="그룹화">
                <a:extLst>
                  <a:ext uri="{FF2B5EF4-FFF2-40B4-BE49-F238E27FC236}">
                    <a16:creationId xmlns:a16="http://schemas.microsoft.com/office/drawing/2014/main" id="{BFC0423E-EA35-4767-A266-06215AD69361}"/>
                  </a:ext>
                </a:extLst>
              </p:cNvPr>
              <p:cNvGrpSpPr/>
              <p:nvPr/>
            </p:nvGrpSpPr>
            <p:grpSpPr>
              <a:xfrm>
                <a:off x="1047669" y="0"/>
                <a:ext cx="1158315" cy="1122635"/>
                <a:chOff x="0" y="0"/>
                <a:chExt cx="1158313" cy="1122634"/>
              </a:xfrm>
            </p:grpSpPr>
            <p:sp>
              <p:nvSpPr>
                <p:cNvPr id="19" name="모서리가 둥근 직사각형">
                  <a:extLst>
                    <a:ext uri="{FF2B5EF4-FFF2-40B4-BE49-F238E27FC236}">
                      <a16:creationId xmlns:a16="http://schemas.microsoft.com/office/drawing/2014/main" id="{3F047955-2D7F-4DDA-878F-31B1FC12DB5E}"/>
                    </a:ext>
                  </a:extLst>
                </p:cNvPr>
                <p:cNvSpPr/>
                <p:nvPr/>
              </p:nvSpPr>
              <p:spPr>
                <a:xfrm>
                  <a:off x="544390" y="0"/>
                  <a:ext cx="91165" cy="43602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41275" cap="flat">
                  <a:solidFill>
                    <a:schemeClr val="tx1"/>
                  </a:solidFill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63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 sz="1160"/>
                </a:p>
              </p:txBody>
            </p:sp>
            <p:sp>
              <p:nvSpPr>
                <p:cNvPr id="20" name="모서리가 둥근 직사각형">
                  <a:extLst>
                    <a:ext uri="{FF2B5EF4-FFF2-40B4-BE49-F238E27FC236}">
                      <a16:creationId xmlns:a16="http://schemas.microsoft.com/office/drawing/2014/main" id="{4E5F12C5-35EB-4E81-B15F-08604406555A}"/>
                    </a:ext>
                  </a:extLst>
                </p:cNvPr>
                <p:cNvSpPr/>
                <p:nvPr/>
              </p:nvSpPr>
              <p:spPr>
                <a:xfrm>
                  <a:off x="824154" y="0"/>
                  <a:ext cx="91165" cy="43602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41275" cap="flat">
                  <a:solidFill>
                    <a:schemeClr val="tx1"/>
                  </a:solidFill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63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 sz="1160" dirty="0"/>
                </a:p>
              </p:txBody>
            </p:sp>
            <p:sp>
              <p:nvSpPr>
                <p:cNvPr id="21" name="모서리가 둥근 직사각형">
                  <a:extLst>
                    <a:ext uri="{FF2B5EF4-FFF2-40B4-BE49-F238E27FC236}">
                      <a16:creationId xmlns:a16="http://schemas.microsoft.com/office/drawing/2014/main" id="{1D3A0A34-091B-430E-88E9-519186823BAE}"/>
                    </a:ext>
                  </a:extLst>
                </p:cNvPr>
                <p:cNvSpPr/>
                <p:nvPr/>
              </p:nvSpPr>
              <p:spPr>
                <a:xfrm>
                  <a:off x="432412" y="228925"/>
                  <a:ext cx="594888" cy="533999"/>
                </a:xfrm>
                <a:prstGeom prst="roundRect">
                  <a:avLst>
                    <a:gd name="adj" fmla="val 11335"/>
                  </a:avLst>
                </a:prstGeom>
                <a:solidFill>
                  <a:schemeClr val="bg1"/>
                </a:solidFill>
                <a:ln w="41275" cap="flat">
                  <a:solidFill>
                    <a:schemeClr val="tx1"/>
                  </a:solidFill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63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 sz="1160" dirty="0"/>
                </a:p>
              </p:txBody>
            </p:sp>
            <p:sp>
              <p:nvSpPr>
                <p:cNvPr id="22" name="모서리가 둥근 직사각형">
                  <a:extLst>
                    <a:ext uri="{FF2B5EF4-FFF2-40B4-BE49-F238E27FC236}">
                      <a16:creationId xmlns:a16="http://schemas.microsoft.com/office/drawing/2014/main" id="{AAD7149E-6D88-4BB6-9785-4AB9910109C1}"/>
                    </a:ext>
                  </a:extLst>
                </p:cNvPr>
                <p:cNvSpPr/>
                <p:nvPr/>
              </p:nvSpPr>
              <p:spPr>
                <a:xfrm>
                  <a:off x="0" y="521933"/>
                  <a:ext cx="1158313" cy="600701"/>
                </a:xfrm>
                <a:prstGeom prst="roundRect">
                  <a:avLst>
                    <a:gd name="adj" fmla="val 10077"/>
                  </a:avLst>
                </a:prstGeom>
                <a:solidFill>
                  <a:schemeClr val="bg1"/>
                </a:solidFill>
                <a:ln w="41275" cap="flat">
                  <a:solidFill>
                    <a:schemeClr val="tx1"/>
                  </a:solidFill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63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 sz="1160" dirty="0"/>
                </a:p>
              </p:txBody>
            </p:sp>
          </p:grpSp>
        </p:grpSp>
        <p:grpSp>
          <p:nvGrpSpPr>
            <p:cNvPr id="32" name="그룹화">
              <a:extLst>
                <a:ext uri="{FF2B5EF4-FFF2-40B4-BE49-F238E27FC236}">
                  <a16:creationId xmlns:a16="http://schemas.microsoft.com/office/drawing/2014/main" id="{FBDD3D88-18C4-4DA7-8A5B-B10AA59972E5}"/>
                </a:ext>
              </a:extLst>
            </p:cNvPr>
            <p:cNvGrpSpPr/>
            <p:nvPr/>
          </p:nvGrpSpPr>
          <p:grpSpPr>
            <a:xfrm rot="10800000" flipV="1">
              <a:off x="4133186" y="4798177"/>
              <a:ext cx="1450512" cy="735974"/>
              <a:chOff x="4561" y="385606"/>
              <a:chExt cx="2750600" cy="1406912"/>
            </a:xfrm>
          </p:grpSpPr>
          <p:pic>
            <p:nvPicPr>
              <p:cNvPr id="33" name="스크린샷 2023-06-28 오전 4.57.52.png" descr="스크린샷 2023-06-28 오전 4.57.52.png">
                <a:extLst>
                  <a:ext uri="{FF2B5EF4-FFF2-40B4-BE49-F238E27FC236}">
                    <a16:creationId xmlns:a16="http://schemas.microsoft.com/office/drawing/2014/main" id="{934D2152-A2A6-47F4-8C7F-A3B8DEA2D7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3755" t="7604" r="8003" b="3804"/>
              <a:stretch>
                <a:fillRect/>
              </a:stretch>
            </p:blipFill>
            <p:spPr>
              <a:xfrm rot="2760000" flipH="1">
                <a:off x="1350617" y="191138"/>
                <a:ext cx="1210075" cy="15990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72" h="21596" extrusionOk="0">
                    <a:moveTo>
                      <a:pt x="16171" y="0"/>
                    </a:moveTo>
                    <a:cubicBezTo>
                      <a:pt x="16081" y="0"/>
                      <a:pt x="15391" y="464"/>
                      <a:pt x="14643" y="1029"/>
                    </a:cubicBezTo>
                    <a:cubicBezTo>
                      <a:pt x="13433" y="1942"/>
                      <a:pt x="13257" y="2046"/>
                      <a:pt x="13038" y="1956"/>
                    </a:cubicBezTo>
                    <a:cubicBezTo>
                      <a:pt x="12902" y="1901"/>
                      <a:pt x="12689" y="1855"/>
                      <a:pt x="12568" y="1855"/>
                    </a:cubicBezTo>
                    <a:cubicBezTo>
                      <a:pt x="12442" y="1855"/>
                      <a:pt x="11268" y="2681"/>
                      <a:pt x="9834" y="3779"/>
                    </a:cubicBezTo>
                    <a:lnTo>
                      <a:pt x="7325" y="5703"/>
                    </a:lnTo>
                    <a:lnTo>
                      <a:pt x="7325" y="6352"/>
                    </a:lnTo>
                    <a:lnTo>
                      <a:pt x="7325" y="6995"/>
                    </a:lnTo>
                    <a:lnTo>
                      <a:pt x="9778" y="8876"/>
                    </a:lnTo>
                    <a:lnTo>
                      <a:pt x="12224" y="10752"/>
                    </a:lnTo>
                    <a:lnTo>
                      <a:pt x="13199" y="10752"/>
                    </a:lnTo>
                    <a:lnTo>
                      <a:pt x="14166" y="10752"/>
                    </a:lnTo>
                    <a:lnTo>
                      <a:pt x="16619" y="8876"/>
                    </a:lnTo>
                    <a:cubicBezTo>
                      <a:pt x="19127" y="6959"/>
                      <a:pt x="19341" y="6728"/>
                      <a:pt x="18925" y="6411"/>
                    </a:cubicBezTo>
                    <a:cubicBezTo>
                      <a:pt x="18810" y="6322"/>
                      <a:pt x="19056" y="6084"/>
                      <a:pt x="20075" y="5301"/>
                    </a:cubicBezTo>
                    <a:cubicBezTo>
                      <a:pt x="21036" y="4564"/>
                      <a:pt x="21372" y="4246"/>
                      <a:pt x="21372" y="4074"/>
                    </a:cubicBezTo>
                    <a:cubicBezTo>
                      <a:pt x="21372" y="3894"/>
                      <a:pt x="20801" y="3402"/>
                      <a:pt x="18855" y="1919"/>
                    </a:cubicBezTo>
                    <a:cubicBezTo>
                      <a:pt x="17470" y="863"/>
                      <a:pt x="16261" y="0"/>
                      <a:pt x="16171" y="0"/>
                    </a:cubicBezTo>
                    <a:close/>
                    <a:moveTo>
                      <a:pt x="7255" y="7708"/>
                    </a:moveTo>
                    <a:cubicBezTo>
                      <a:pt x="6952" y="7734"/>
                      <a:pt x="6896" y="7785"/>
                      <a:pt x="6862" y="8056"/>
                    </a:cubicBezTo>
                    <a:cubicBezTo>
                      <a:pt x="6825" y="8354"/>
                      <a:pt x="6934" y="8456"/>
                      <a:pt x="8678" y="9793"/>
                    </a:cubicBezTo>
                    <a:cubicBezTo>
                      <a:pt x="10566" y="11240"/>
                      <a:pt x="10902" y="11411"/>
                      <a:pt x="11299" y="11106"/>
                    </a:cubicBezTo>
                    <a:cubicBezTo>
                      <a:pt x="11645" y="10842"/>
                      <a:pt x="11422" y="10594"/>
                      <a:pt x="9526" y="9144"/>
                    </a:cubicBezTo>
                    <a:cubicBezTo>
                      <a:pt x="7822" y="7843"/>
                      <a:pt x="7567" y="7681"/>
                      <a:pt x="7255" y="7708"/>
                    </a:cubicBezTo>
                    <a:close/>
                    <a:moveTo>
                      <a:pt x="6687" y="9021"/>
                    </a:moveTo>
                    <a:cubicBezTo>
                      <a:pt x="6439" y="9056"/>
                      <a:pt x="6238" y="9224"/>
                      <a:pt x="6238" y="9434"/>
                    </a:cubicBezTo>
                    <a:cubicBezTo>
                      <a:pt x="6238" y="9628"/>
                      <a:pt x="6526" y="9908"/>
                      <a:pt x="7535" y="10683"/>
                    </a:cubicBezTo>
                    <a:cubicBezTo>
                      <a:pt x="8554" y="11465"/>
                      <a:pt x="8909" y="11680"/>
                      <a:pt x="9168" y="11680"/>
                    </a:cubicBezTo>
                    <a:cubicBezTo>
                      <a:pt x="9488" y="11680"/>
                      <a:pt x="9750" y="11467"/>
                      <a:pt x="9750" y="11208"/>
                    </a:cubicBezTo>
                    <a:cubicBezTo>
                      <a:pt x="9750" y="11060"/>
                      <a:pt x="7225" y="9099"/>
                      <a:pt x="6946" y="9032"/>
                    </a:cubicBezTo>
                    <a:cubicBezTo>
                      <a:pt x="6860" y="9011"/>
                      <a:pt x="6770" y="9010"/>
                      <a:pt x="6687" y="9021"/>
                    </a:cubicBezTo>
                    <a:close/>
                    <a:moveTo>
                      <a:pt x="6217" y="10383"/>
                    </a:moveTo>
                    <a:cubicBezTo>
                      <a:pt x="5794" y="10383"/>
                      <a:pt x="5629" y="10496"/>
                      <a:pt x="5629" y="10785"/>
                    </a:cubicBezTo>
                    <a:cubicBezTo>
                      <a:pt x="5629" y="11012"/>
                      <a:pt x="5778" y="11184"/>
                      <a:pt x="6323" y="11605"/>
                    </a:cubicBezTo>
                    <a:cubicBezTo>
                      <a:pt x="6810" y="11982"/>
                      <a:pt x="7105" y="12141"/>
                      <a:pt x="7325" y="12141"/>
                    </a:cubicBezTo>
                    <a:cubicBezTo>
                      <a:pt x="7700" y="12141"/>
                      <a:pt x="7928" y="11989"/>
                      <a:pt x="7928" y="11733"/>
                    </a:cubicBezTo>
                    <a:cubicBezTo>
                      <a:pt x="7928" y="11505"/>
                      <a:pt x="6507" y="10383"/>
                      <a:pt x="6217" y="10383"/>
                    </a:cubicBezTo>
                    <a:close/>
                    <a:moveTo>
                      <a:pt x="17313" y="10999"/>
                    </a:moveTo>
                    <a:cubicBezTo>
                      <a:pt x="15677" y="10993"/>
                      <a:pt x="15769" y="10940"/>
                      <a:pt x="10290" y="15116"/>
                    </a:cubicBezTo>
                    <a:cubicBezTo>
                      <a:pt x="5170" y="19018"/>
                      <a:pt x="4913" y="19180"/>
                      <a:pt x="3841" y="19184"/>
                    </a:cubicBezTo>
                    <a:cubicBezTo>
                      <a:pt x="2863" y="19188"/>
                      <a:pt x="1877" y="18698"/>
                      <a:pt x="1381" y="17962"/>
                    </a:cubicBezTo>
                    <a:cubicBezTo>
                      <a:pt x="1122" y="17577"/>
                      <a:pt x="1068" y="16762"/>
                      <a:pt x="1276" y="16343"/>
                    </a:cubicBezTo>
                    <a:cubicBezTo>
                      <a:pt x="1347" y="16200"/>
                      <a:pt x="2470" y="15268"/>
                      <a:pt x="3764" y="14269"/>
                    </a:cubicBezTo>
                    <a:cubicBezTo>
                      <a:pt x="5834" y="12671"/>
                      <a:pt x="6112" y="12417"/>
                      <a:pt x="6112" y="12157"/>
                    </a:cubicBezTo>
                    <a:cubicBezTo>
                      <a:pt x="6112" y="11745"/>
                      <a:pt x="5735" y="11614"/>
                      <a:pt x="5110" y="11814"/>
                    </a:cubicBezTo>
                    <a:cubicBezTo>
                      <a:pt x="4858" y="11894"/>
                      <a:pt x="4678" y="11993"/>
                      <a:pt x="4710" y="12034"/>
                    </a:cubicBezTo>
                    <a:cubicBezTo>
                      <a:pt x="4771" y="12109"/>
                      <a:pt x="2333" y="14021"/>
                      <a:pt x="2236" y="13974"/>
                    </a:cubicBezTo>
                    <a:cubicBezTo>
                      <a:pt x="2206" y="13960"/>
                      <a:pt x="2191" y="13969"/>
                      <a:pt x="2208" y="13990"/>
                    </a:cubicBezTo>
                    <a:cubicBezTo>
                      <a:pt x="2225" y="14011"/>
                      <a:pt x="1870" y="14321"/>
                      <a:pt x="1416" y="14681"/>
                    </a:cubicBezTo>
                    <a:cubicBezTo>
                      <a:pt x="262" y="15598"/>
                      <a:pt x="0" y="16043"/>
                      <a:pt x="0" y="17099"/>
                    </a:cubicBezTo>
                    <a:cubicBezTo>
                      <a:pt x="0" y="18080"/>
                      <a:pt x="231" y="18532"/>
                      <a:pt x="1058" y="19179"/>
                    </a:cubicBezTo>
                    <a:cubicBezTo>
                      <a:pt x="1834" y="19785"/>
                      <a:pt x="2696" y="20062"/>
                      <a:pt x="3813" y="20058"/>
                    </a:cubicBezTo>
                    <a:cubicBezTo>
                      <a:pt x="5513" y="20051"/>
                      <a:pt x="5512" y="20055"/>
                      <a:pt x="11019" y="15855"/>
                    </a:cubicBezTo>
                    <a:cubicBezTo>
                      <a:pt x="14442" y="13244"/>
                      <a:pt x="16001" y="12116"/>
                      <a:pt x="16332" y="12012"/>
                    </a:cubicBezTo>
                    <a:cubicBezTo>
                      <a:pt x="17543" y="11632"/>
                      <a:pt x="18943" y="12020"/>
                      <a:pt x="19690" y="12945"/>
                    </a:cubicBezTo>
                    <a:cubicBezTo>
                      <a:pt x="19979" y="13303"/>
                      <a:pt x="20071" y="14160"/>
                      <a:pt x="19879" y="14692"/>
                    </a:cubicBezTo>
                    <a:cubicBezTo>
                      <a:pt x="19810" y="14881"/>
                      <a:pt x="18537" y="15922"/>
                      <a:pt x="15911" y="17940"/>
                    </a:cubicBezTo>
                    <a:cubicBezTo>
                      <a:pt x="12798" y="20335"/>
                      <a:pt x="12049" y="20960"/>
                      <a:pt x="12049" y="21157"/>
                    </a:cubicBezTo>
                    <a:cubicBezTo>
                      <a:pt x="12049" y="21292"/>
                      <a:pt x="12142" y="21442"/>
                      <a:pt x="12260" y="21494"/>
                    </a:cubicBezTo>
                    <a:cubicBezTo>
                      <a:pt x="12376" y="21546"/>
                      <a:pt x="12555" y="21595"/>
                      <a:pt x="12652" y="21596"/>
                    </a:cubicBezTo>
                    <a:cubicBezTo>
                      <a:pt x="12897" y="21600"/>
                      <a:pt x="20356" y="15891"/>
                      <a:pt x="20706" y="15432"/>
                    </a:cubicBezTo>
                    <a:cubicBezTo>
                      <a:pt x="21600" y="14261"/>
                      <a:pt x="21264" y="12668"/>
                      <a:pt x="19935" y="11749"/>
                    </a:cubicBezTo>
                    <a:cubicBezTo>
                      <a:pt x="19153" y="11209"/>
                      <a:pt x="18434" y="11003"/>
                      <a:pt x="17313" y="10999"/>
                    </a:cubicBez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4" name="스크린샷 2023-06-28 오전 5.00.23.png" descr="스크린샷 2023-06-28 오전 5.00.23.png">
                <a:extLst>
                  <a:ext uri="{FF2B5EF4-FFF2-40B4-BE49-F238E27FC236}">
                    <a16:creationId xmlns:a16="http://schemas.microsoft.com/office/drawing/2014/main" id="{110D3CC8-A282-455C-96ED-FD9A2A0C49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l="9646" t="15254" r="14873" b="1781"/>
              <a:stretch>
                <a:fillRect/>
              </a:stretch>
            </p:blipFill>
            <p:spPr>
              <a:xfrm rot="16260000" flipH="1">
                <a:off x="224839" y="211180"/>
                <a:ext cx="522994" cy="9635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3" h="21580" extrusionOk="0">
                    <a:moveTo>
                      <a:pt x="10911" y="16"/>
                    </a:moveTo>
                    <a:cubicBezTo>
                      <a:pt x="6873" y="-17"/>
                      <a:pt x="2873" y="-3"/>
                      <a:pt x="2707" y="87"/>
                    </a:cubicBezTo>
                    <a:cubicBezTo>
                      <a:pt x="2578" y="157"/>
                      <a:pt x="2410" y="1265"/>
                      <a:pt x="2332" y="2549"/>
                    </a:cubicBezTo>
                    <a:lnTo>
                      <a:pt x="2186" y="4878"/>
                    </a:lnTo>
                    <a:lnTo>
                      <a:pt x="1305" y="4931"/>
                    </a:lnTo>
                    <a:lnTo>
                      <a:pt x="408" y="4976"/>
                    </a:lnTo>
                    <a:lnTo>
                      <a:pt x="375" y="8469"/>
                    </a:lnTo>
                    <a:cubicBezTo>
                      <a:pt x="356" y="10390"/>
                      <a:pt x="257" y="12392"/>
                      <a:pt x="163" y="12913"/>
                    </a:cubicBezTo>
                    <a:lnTo>
                      <a:pt x="0" y="13855"/>
                    </a:lnTo>
                    <a:lnTo>
                      <a:pt x="1337" y="14638"/>
                    </a:lnTo>
                    <a:lnTo>
                      <a:pt x="2675" y="15411"/>
                    </a:lnTo>
                    <a:lnTo>
                      <a:pt x="5105" y="15464"/>
                    </a:lnTo>
                    <a:cubicBezTo>
                      <a:pt x="6446" y="15494"/>
                      <a:pt x="10228" y="15525"/>
                      <a:pt x="13504" y="15535"/>
                    </a:cubicBezTo>
                    <a:lnTo>
                      <a:pt x="19458" y="15553"/>
                    </a:lnTo>
                    <a:lnTo>
                      <a:pt x="20257" y="15109"/>
                    </a:lnTo>
                    <a:cubicBezTo>
                      <a:pt x="20692" y="14861"/>
                      <a:pt x="20937" y="14655"/>
                      <a:pt x="20811" y="14655"/>
                    </a:cubicBezTo>
                    <a:cubicBezTo>
                      <a:pt x="20686" y="14655"/>
                      <a:pt x="20719" y="14566"/>
                      <a:pt x="20893" y="14451"/>
                    </a:cubicBezTo>
                    <a:cubicBezTo>
                      <a:pt x="21100" y="14315"/>
                      <a:pt x="21277" y="12729"/>
                      <a:pt x="21398" y="9864"/>
                    </a:cubicBezTo>
                    <a:cubicBezTo>
                      <a:pt x="21595" y="5196"/>
                      <a:pt x="21600" y="5234"/>
                      <a:pt x="20224" y="5091"/>
                    </a:cubicBezTo>
                    <a:cubicBezTo>
                      <a:pt x="19684" y="5035"/>
                      <a:pt x="19666" y="4930"/>
                      <a:pt x="19767" y="2700"/>
                    </a:cubicBezTo>
                    <a:cubicBezTo>
                      <a:pt x="19866" y="547"/>
                      <a:pt x="19833" y="362"/>
                      <a:pt x="19343" y="220"/>
                    </a:cubicBezTo>
                    <a:cubicBezTo>
                      <a:pt x="19018" y="127"/>
                      <a:pt x="14950" y="49"/>
                      <a:pt x="10911" y="16"/>
                    </a:cubicBezTo>
                    <a:close/>
                    <a:moveTo>
                      <a:pt x="11172" y="16113"/>
                    </a:moveTo>
                    <a:cubicBezTo>
                      <a:pt x="7833" y="16048"/>
                      <a:pt x="5012" y="16061"/>
                      <a:pt x="4599" y="16140"/>
                    </a:cubicBezTo>
                    <a:cubicBezTo>
                      <a:pt x="3779" y="16296"/>
                      <a:pt x="3463" y="16955"/>
                      <a:pt x="4077" y="17233"/>
                    </a:cubicBezTo>
                    <a:cubicBezTo>
                      <a:pt x="4283" y="17326"/>
                      <a:pt x="5084" y="17432"/>
                      <a:pt x="5855" y="17464"/>
                    </a:cubicBezTo>
                    <a:cubicBezTo>
                      <a:pt x="6627" y="17497"/>
                      <a:pt x="9449" y="17538"/>
                      <a:pt x="12118" y="17553"/>
                    </a:cubicBezTo>
                    <a:cubicBezTo>
                      <a:pt x="16805" y="17580"/>
                      <a:pt x="16978" y="17567"/>
                      <a:pt x="17288" y="17251"/>
                    </a:cubicBezTo>
                    <a:cubicBezTo>
                      <a:pt x="17514" y="17020"/>
                      <a:pt x="17525" y="16820"/>
                      <a:pt x="17321" y="16575"/>
                    </a:cubicBezTo>
                    <a:cubicBezTo>
                      <a:pt x="17038" y="16236"/>
                      <a:pt x="16880" y="16224"/>
                      <a:pt x="11172" y="16113"/>
                    </a:cubicBezTo>
                    <a:close/>
                    <a:moveTo>
                      <a:pt x="10536" y="18149"/>
                    </a:moveTo>
                    <a:cubicBezTo>
                      <a:pt x="6750" y="18125"/>
                      <a:pt x="5932" y="18161"/>
                      <a:pt x="5708" y="18353"/>
                    </a:cubicBezTo>
                    <a:cubicBezTo>
                      <a:pt x="5300" y="18702"/>
                      <a:pt x="5365" y="18930"/>
                      <a:pt x="5986" y="19269"/>
                    </a:cubicBezTo>
                    <a:cubicBezTo>
                      <a:pt x="6499" y="19549"/>
                      <a:pt x="6935" y="19580"/>
                      <a:pt x="10732" y="19580"/>
                    </a:cubicBezTo>
                    <a:cubicBezTo>
                      <a:pt x="15100" y="19580"/>
                      <a:pt x="15584" y="19512"/>
                      <a:pt x="15576" y="18895"/>
                    </a:cubicBezTo>
                    <a:cubicBezTo>
                      <a:pt x="15566" y="18211"/>
                      <a:pt x="15324" y="18178"/>
                      <a:pt x="10536" y="18149"/>
                    </a:cubicBezTo>
                    <a:close/>
                    <a:moveTo>
                      <a:pt x="10177" y="20229"/>
                    </a:moveTo>
                    <a:lnTo>
                      <a:pt x="7551" y="20273"/>
                    </a:lnTo>
                    <a:lnTo>
                      <a:pt x="7454" y="20726"/>
                    </a:lnTo>
                    <a:cubicBezTo>
                      <a:pt x="7391" y="21028"/>
                      <a:pt x="7528" y="21251"/>
                      <a:pt x="7861" y="21384"/>
                    </a:cubicBezTo>
                    <a:cubicBezTo>
                      <a:pt x="8188" y="21514"/>
                      <a:pt x="9422" y="21576"/>
                      <a:pt x="10634" y="21580"/>
                    </a:cubicBezTo>
                    <a:cubicBezTo>
                      <a:pt x="11846" y="21583"/>
                      <a:pt x="13024" y="21522"/>
                      <a:pt x="13260" y="21393"/>
                    </a:cubicBezTo>
                    <a:cubicBezTo>
                      <a:pt x="13718" y="21143"/>
                      <a:pt x="13694" y="20581"/>
                      <a:pt x="13211" y="20362"/>
                    </a:cubicBezTo>
                    <a:cubicBezTo>
                      <a:pt x="12956" y="20246"/>
                      <a:pt x="11879" y="20200"/>
                      <a:pt x="10177" y="20229"/>
                    </a:cubicBez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  <p:sp>
            <p:nvSpPr>
              <p:cNvPr id="35" name="모서리가 둥근 직사각형">
                <a:extLst>
                  <a:ext uri="{FF2B5EF4-FFF2-40B4-BE49-F238E27FC236}">
                    <a16:creationId xmlns:a16="http://schemas.microsoft.com/office/drawing/2014/main" id="{B26A050D-BDFE-4BD2-8773-452F52146988}"/>
                  </a:ext>
                </a:extLst>
              </p:cNvPr>
              <p:cNvSpPr/>
              <p:nvPr/>
            </p:nvSpPr>
            <p:spPr>
              <a:xfrm>
                <a:off x="1011276" y="662386"/>
                <a:ext cx="542027" cy="6096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63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160"/>
              </a:p>
            </p:txBody>
          </p:sp>
          <p:sp>
            <p:nvSpPr>
              <p:cNvPr id="36" name="모서리가 둥근 직사각형">
                <a:extLst>
                  <a:ext uri="{FF2B5EF4-FFF2-40B4-BE49-F238E27FC236}">
                    <a16:creationId xmlns:a16="http://schemas.microsoft.com/office/drawing/2014/main" id="{149BC1B2-311F-4DCE-A0D0-CCB6AC02978F}"/>
                  </a:ext>
                </a:extLst>
              </p:cNvPr>
              <p:cNvSpPr/>
              <p:nvPr/>
            </p:nvSpPr>
            <p:spPr>
              <a:xfrm>
                <a:off x="934754" y="719748"/>
                <a:ext cx="743271" cy="1072770"/>
              </a:xfrm>
              <a:prstGeom prst="roundRect">
                <a:avLst>
                  <a:gd name="adj" fmla="val 22556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63">
                  <a:defRPr sz="2200">
                    <a:solidFill>
                      <a:srgbClr val="0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160"/>
              </a:p>
            </p:txBody>
          </p:sp>
        </p:grpSp>
        <p:pic>
          <p:nvPicPr>
            <p:cNvPr id="37" name="이미지" descr="이미지">
              <a:extLst>
                <a:ext uri="{FF2B5EF4-FFF2-40B4-BE49-F238E27FC236}">
                  <a16:creationId xmlns:a16="http://schemas.microsoft.com/office/drawing/2014/main" id="{47FC9CB5-7B5E-4B53-A044-156C5BEA2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33792"/>
            <a:stretch>
              <a:fillRect/>
            </a:stretch>
          </p:blipFill>
          <p:spPr>
            <a:xfrm>
              <a:off x="1485660" y="4789779"/>
              <a:ext cx="1353788" cy="896312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6D8B614-FAEC-4B54-9B31-4ECBC615DF3E}"/>
                </a:ext>
              </a:extLst>
            </p:cNvPr>
            <p:cNvSpPr/>
            <p:nvPr/>
          </p:nvSpPr>
          <p:spPr>
            <a:xfrm>
              <a:off x="3779912" y="1966300"/>
              <a:ext cx="486054" cy="432049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E062575-E0F3-4866-9DAF-10259FAF5C7C}"/>
                </a:ext>
              </a:extLst>
            </p:cNvPr>
            <p:cNvSpPr txBox="1"/>
            <p:nvPr/>
          </p:nvSpPr>
          <p:spPr>
            <a:xfrm>
              <a:off x="4458485" y="1793175"/>
              <a:ext cx="6463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900">
                  <a:solidFill>
                    <a:srgbClr val="C00000"/>
                  </a:solidFill>
                </a:rPr>
                <a:t>마이크로</a:t>
              </a:r>
              <a:endParaRPr lang="en-US" altLang="ko-KR" sz="900">
                <a:solidFill>
                  <a:srgbClr val="C00000"/>
                </a:solidFill>
              </a:endParaRPr>
            </a:p>
            <a:p>
              <a:r>
                <a:rPr lang="en-US" altLang="ko-KR" sz="900">
                  <a:solidFill>
                    <a:srgbClr val="C00000"/>
                  </a:solidFill>
                </a:rPr>
                <a:t>SD </a:t>
              </a:r>
              <a:r>
                <a:rPr lang="ko-KR" altLang="en-US" sz="900" dirty="0">
                  <a:solidFill>
                    <a:srgbClr val="C00000"/>
                  </a:solidFill>
                </a:rPr>
                <a:t>카드</a:t>
              </a:r>
            </a:p>
          </p:txBody>
        </p:sp>
        <p:cxnSp>
          <p:nvCxnSpPr>
            <p:cNvPr id="40" name="구부러진 연결선 8">
              <a:extLst>
                <a:ext uri="{FF2B5EF4-FFF2-40B4-BE49-F238E27FC236}">
                  <a16:creationId xmlns:a16="http://schemas.microsoft.com/office/drawing/2014/main" id="{CE398CF0-30FE-46D4-B18D-CF525B8F031E}"/>
                </a:ext>
              </a:extLst>
            </p:cNvPr>
            <p:cNvCxnSpPr>
              <a:cxnSpLocks/>
              <a:stCxn id="39" idx="1"/>
              <a:endCxn id="38" idx="6"/>
            </p:cNvCxnSpPr>
            <p:nvPr/>
          </p:nvCxnSpPr>
          <p:spPr>
            <a:xfrm rot="10800000" flipV="1">
              <a:off x="4265967" y="1977841"/>
              <a:ext cx="192519" cy="204484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CD17A90-7EF7-4905-BD57-D03F9EC16227}"/>
                </a:ext>
              </a:extLst>
            </p:cNvPr>
            <p:cNvSpPr txBox="1"/>
            <p:nvPr/>
          </p:nvSpPr>
          <p:spPr>
            <a:xfrm>
              <a:off x="4351859" y="5516388"/>
              <a:ext cx="79060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900">
                  <a:solidFill>
                    <a:srgbClr val="C00000"/>
                  </a:solidFill>
                </a:rPr>
                <a:t>LAN </a:t>
              </a:r>
              <a:r>
                <a:rPr lang="ko-KR" altLang="en-US" sz="900">
                  <a:solidFill>
                    <a:srgbClr val="C00000"/>
                  </a:solidFill>
                </a:rPr>
                <a:t>케이블</a:t>
              </a:r>
              <a:endParaRPr lang="ko-KR" altLang="en-US" sz="900" dirty="0">
                <a:solidFill>
                  <a:srgbClr val="C00000"/>
                </a:solidFill>
              </a:endParaRP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0E355FF1-017A-4BC2-A7D0-A6AE2522C62D}"/>
                </a:ext>
              </a:extLst>
            </p:cNvPr>
            <p:cNvGrpSpPr/>
            <p:nvPr/>
          </p:nvGrpSpPr>
          <p:grpSpPr>
            <a:xfrm flipH="1" flipV="1">
              <a:off x="3859236" y="5165363"/>
              <a:ext cx="251285" cy="611904"/>
              <a:chOff x="6478819" y="4328161"/>
              <a:chExt cx="968425" cy="1166281"/>
            </a:xfrm>
          </p:grpSpPr>
          <p:sp>
            <p:nvSpPr>
              <p:cNvPr id="43" name="호 5">
                <a:extLst>
                  <a:ext uri="{FF2B5EF4-FFF2-40B4-BE49-F238E27FC236}">
                    <a16:creationId xmlns:a16="http://schemas.microsoft.com/office/drawing/2014/main" id="{5976B424-326C-492B-B87D-4F35542EB32B}"/>
                  </a:ext>
                </a:extLst>
              </p:cNvPr>
              <p:cNvSpPr/>
              <p:nvPr/>
            </p:nvSpPr>
            <p:spPr>
              <a:xfrm rot="10800000">
                <a:off x="6478819" y="5048890"/>
                <a:ext cx="349658" cy="445552"/>
              </a:xfrm>
              <a:prstGeom prst="arc">
                <a:avLst>
                  <a:gd name="adj1" fmla="val 11400509"/>
                  <a:gd name="adj2" fmla="val 18458565"/>
                </a:avLst>
              </a:prstGeom>
              <a:ln w="38100" cap="flat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350" dirty="0"/>
              </a:p>
            </p:txBody>
          </p:sp>
          <p:sp>
            <p:nvSpPr>
              <p:cNvPr id="44" name="자유형 6">
                <a:extLst>
                  <a:ext uri="{FF2B5EF4-FFF2-40B4-BE49-F238E27FC236}">
                    <a16:creationId xmlns:a16="http://schemas.microsoft.com/office/drawing/2014/main" id="{288D0594-9FF0-4F24-8760-FFB1F92FB6C3}"/>
                  </a:ext>
                </a:extLst>
              </p:cNvPr>
              <p:cNvSpPr/>
              <p:nvPr/>
            </p:nvSpPr>
            <p:spPr>
              <a:xfrm>
                <a:off x="6706010" y="4328161"/>
                <a:ext cx="741234" cy="984069"/>
              </a:xfrm>
              <a:custGeom>
                <a:avLst/>
                <a:gdLst>
                  <a:gd name="connsiteX0" fmla="*/ 0 w 627017"/>
                  <a:gd name="connsiteY0" fmla="*/ 984069 h 984069"/>
                  <a:gd name="connsiteX1" fmla="*/ 113212 w 627017"/>
                  <a:gd name="connsiteY1" fmla="*/ 278675 h 984069"/>
                  <a:gd name="connsiteX2" fmla="*/ 627017 w 627017"/>
                  <a:gd name="connsiteY2" fmla="*/ 0 h 984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7017" h="984069">
                    <a:moveTo>
                      <a:pt x="0" y="984069"/>
                    </a:moveTo>
                    <a:cubicBezTo>
                      <a:pt x="4354" y="713377"/>
                      <a:pt x="8709" y="442686"/>
                      <a:pt x="113212" y="278675"/>
                    </a:cubicBezTo>
                    <a:cubicBezTo>
                      <a:pt x="217715" y="114664"/>
                      <a:pt x="422366" y="57332"/>
                      <a:pt x="627017" y="0"/>
                    </a:cubicBezTo>
                  </a:path>
                </a:pathLst>
              </a:custGeom>
              <a:noFill/>
              <a:ln w="3810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350"/>
              </a:p>
            </p:txBody>
          </p:sp>
        </p:grpSp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BF9C4FD4-5CC1-4BDF-A2AD-14C697EDD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5400000" flipH="1">
              <a:off x="3280720" y="5476424"/>
              <a:ext cx="611902" cy="607769"/>
            </a:xfrm>
            <a:prstGeom prst="rect">
              <a:avLst/>
            </a:prstGeom>
          </p:spPr>
        </p:pic>
        <p:pic>
          <p:nvPicPr>
            <p:cNvPr id="46" name="그림 45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19DD231D-4A15-46E4-A746-D57C751D6D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b="17860"/>
            <a:stretch/>
          </p:blipFill>
          <p:spPr>
            <a:xfrm flipH="1">
              <a:off x="3426550" y="4703525"/>
              <a:ext cx="273529" cy="578966"/>
            </a:xfrm>
            <a:prstGeom prst="rect">
              <a:avLst/>
            </a:prstGeom>
          </p:spPr>
        </p:pic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F21F3B74-A72C-47F3-AFD8-96BF5755C75A}"/>
                </a:ext>
              </a:extLst>
            </p:cNvPr>
            <p:cNvGrpSpPr/>
            <p:nvPr/>
          </p:nvGrpSpPr>
          <p:grpSpPr>
            <a:xfrm flipH="1">
              <a:off x="2464778" y="4842581"/>
              <a:ext cx="1548022" cy="1199455"/>
              <a:chOff x="6949240" y="4446106"/>
              <a:chExt cx="2188196" cy="1599274"/>
            </a:xfrm>
          </p:grpSpPr>
          <p:sp>
            <p:nvSpPr>
              <p:cNvPr id="48" name="직사각형">
                <a:extLst>
                  <a:ext uri="{FF2B5EF4-FFF2-40B4-BE49-F238E27FC236}">
                    <a16:creationId xmlns:a16="http://schemas.microsoft.com/office/drawing/2014/main" id="{376B5335-792D-4571-A96C-882AEF5D01D9}"/>
                  </a:ext>
                </a:extLst>
              </p:cNvPr>
              <p:cNvSpPr/>
              <p:nvPr/>
            </p:nvSpPr>
            <p:spPr>
              <a:xfrm>
                <a:off x="7051582" y="5065110"/>
                <a:ext cx="76513" cy="262929"/>
              </a:xfrm>
              <a:prstGeom prst="rect">
                <a:avLst/>
              </a:prstGeom>
              <a:solidFill>
                <a:srgbClr val="FFFFFF"/>
              </a:solidFill>
              <a:ln w="12700">
                <a:miter lim="400000"/>
              </a:ln>
            </p:spPr>
            <p:txBody>
              <a:bodyPr lIns="26789" tIns="26789" rIns="26789" bIns="26789" anchor="ctr"/>
              <a:lstStyle/>
              <a:p>
                <a:pPr defTabSz="308063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160"/>
              </a:p>
            </p:txBody>
          </p:sp>
          <p:sp>
            <p:nvSpPr>
              <p:cNvPr id="49" name="직사각형">
                <a:extLst>
                  <a:ext uri="{FF2B5EF4-FFF2-40B4-BE49-F238E27FC236}">
                    <a16:creationId xmlns:a16="http://schemas.microsoft.com/office/drawing/2014/main" id="{4D03D4D2-4384-4A5A-856D-27B4893C3E7B}"/>
                  </a:ext>
                </a:extLst>
              </p:cNvPr>
              <p:cNvSpPr/>
              <p:nvPr/>
            </p:nvSpPr>
            <p:spPr>
              <a:xfrm>
                <a:off x="6949240" y="5065110"/>
                <a:ext cx="76513" cy="262929"/>
              </a:xfrm>
              <a:prstGeom prst="rect">
                <a:avLst/>
              </a:prstGeom>
              <a:solidFill>
                <a:srgbClr val="FFFFFF"/>
              </a:solidFill>
              <a:ln w="12700">
                <a:miter lim="400000"/>
              </a:ln>
            </p:spPr>
            <p:txBody>
              <a:bodyPr lIns="26789" tIns="26789" rIns="26789" bIns="26789" anchor="ctr"/>
              <a:lstStyle/>
              <a:p>
                <a:pPr defTabSz="308063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160"/>
              </a:p>
            </p:txBody>
          </p:sp>
          <p:sp>
            <p:nvSpPr>
              <p:cNvPr id="50" name="호 1">
                <a:extLst>
                  <a:ext uri="{FF2B5EF4-FFF2-40B4-BE49-F238E27FC236}">
                    <a16:creationId xmlns:a16="http://schemas.microsoft.com/office/drawing/2014/main" id="{E4144ED8-D6DB-469A-9E14-B2A2E69DC706}"/>
                  </a:ext>
                </a:extLst>
              </p:cNvPr>
              <p:cNvSpPr/>
              <p:nvPr/>
            </p:nvSpPr>
            <p:spPr>
              <a:xfrm rot="5400000">
                <a:off x="7573013" y="4444001"/>
                <a:ext cx="771960" cy="776170"/>
              </a:xfrm>
              <a:prstGeom prst="arc">
                <a:avLst>
                  <a:gd name="adj1" fmla="val 19426617"/>
                  <a:gd name="adj2" fmla="val 504167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350"/>
              </a:p>
            </p:txBody>
          </p:sp>
          <p:sp>
            <p:nvSpPr>
              <p:cNvPr id="51" name="호 7">
                <a:extLst>
                  <a:ext uri="{FF2B5EF4-FFF2-40B4-BE49-F238E27FC236}">
                    <a16:creationId xmlns:a16="http://schemas.microsoft.com/office/drawing/2014/main" id="{C01DA86D-B2F5-4FCB-A350-D35D6CF97395}"/>
                  </a:ext>
                </a:extLst>
              </p:cNvPr>
              <p:cNvSpPr/>
              <p:nvPr/>
            </p:nvSpPr>
            <p:spPr>
              <a:xfrm rot="13639331">
                <a:off x="8093161" y="5001105"/>
                <a:ext cx="1114896" cy="973654"/>
              </a:xfrm>
              <a:prstGeom prst="arc">
                <a:avLst>
                  <a:gd name="adj1" fmla="val 21051100"/>
                  <a:gd name="adj2" fmla="val 306649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350"/>
              </a:p>
            </p:txBody>
          </p:sp>
        </p:grpSp>
        <p:pic>
          <p:nvPicPr>
            <p:cNvPr id="54" name="그림 53" descr="상징, 스크린샷, 그래픽, 화이트이(가) 표시된 사진&#10;&#10;자동 생성된 설명">
              <a:extLst>
                <a:ext uri="{FF2B5EF4-FFF2-40B4-BE49-F238E27FC236}">
                  <a16:creationId xmlns:a16="http://schemas.microsoft.com/office/drawing/2014/main" id="{8E43D840-6F05-4CBC-A672-B90245A99D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r="55088"/>
            <a:stretch/>
          </p:blipFill>
          <p:spPr>
            <a:xfrm>
              <a:off x="1777433" y="3478138"/>
              <a:ext cx="654510" cy="742950"/>
            </a:xfrm>
            <a:prstGeom prst="rect">
              <a:avLst/>
            </a:prstGeom>
          </p:spPr>
        </p:pic>
        <p:pic>
          <p:nvPicPr>
            <p:cNvPr id="55" name="그림 54" descr="상징, 스크린샷, 그래픽, 화이트이(가) 표시된 사진&#10;&#10;자동 생성된 설명">
              <a:extLst>
                <a:ext uri="{FF2B5EF4-FFF2-40B4-BE49-F238E27FC236}">
                  <a16:creationId xmlns:a16="http://schemas.microsoft.com/office/drawing/2014/main" id="{5469537D-852F-404B-9FC0-B35AE92073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81377" t="21031" b="48400"/>
            <a:stretch/>
          </p:blipFill>
          <p:spPr>
            <a:xfrm>
              <a:off x="2917180" y="3610663"/>
              <a:ext cx="324609" cy="271649"/>
            </a:xfrm>
            <a:prstGeom prst="rect">
              <a:avLst/>
            </a:prstGeom>
          </p:spPr>
        </p:pic>
        <p:sp>
          <p:nvSpPr>
            <p:cNvPr id="56" name="자유형 24">
              <a:extLst>
                <a:ext uri="{FF2B5EF4-FFF2-40B4-BE49-F238E27FC236}">
                  <a16:creationId xmlns:a16="http://schemas.microsoft.com/office/drawing/2014/main" id="{B3D3E22D-B985-4FAA-9849-D7B6CAE5C7AD}"/>
                </a:ext>
              </a:extLst>
            </p:cNvPr>
            <p:cNvSpPr/>
            <p:nvPr/>
          </p:nvSpPr>
          <p:spPr>
            <a:xfrm>
              <a:off x="2339407" y="3740458"/>
              <a:ext cx="588365" cy="111977"/>
            </a:xfrm>
            <a:custGeom>
              <a:avLst/>
              <a:gdLst>
                <a:gd name="connsiteX0" fmla="*/ 790687 w 790687"/>
                <a:gd name="connsiteY0" fmla="*/ 9449 h 149303"/>
                <a:gd name="connsiteX1" fmla="*/ 134471 w 790687"/>
                <a:gd name="connsiteY1" fmla="*/ 14828 h 149303"/>
                <a:gd name="connsiteX2" fmla="*/ 0 w 790687"/>
                <a:gd name="connsiteY2" fmla="*/ 149298 h 14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0687" h="149303">
                  <a:moveTo>
                    <a:pt x="790687" y="9449"/>
                  </a:moveTo>
                  <a:cubicBezTo>
                    <a:pt x="528469" y="484"/>
                    <a:pt x="266252" y="-8480"/>
                    <a:pt x="134471" y="14828"/>
                  </a:cubicBezTo>
                  <a:cubicBezTo>
                    <a:pt x="2690" y="38136"/>
                    <a:pt x="21515" y="150195"/>
                    <a:pt x="0" y="14929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35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A1A0FC5-A85F-4EF4-84D0-023605110396}"/>
                </a:ext>
              </a:extLst>
            </p:cNvPr>
            <p:cNvSpPr txBox="1"/>
            <p:nvPr/>
          </p:nvSpPr>
          <p:spPr>
            <a:xfrm>
              <a:off x="4636556" y="4499064"/>
              <a:ext cx="8018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900">
                  <a:solidFill>
                    <a:srgbClr val="C00000"/>
                  </a:solidFill>
                </a:rPr>
                <a:t>이더넷 포트</a:t>
              </a:r>
              <a:endParaRPr lang="ko-KR" altLang="en-US" sz="900" dirty="0">
                <a:solidFill>
                  <a:srgbClr val="C00000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6E8FC87-B624-4B38-A01F-1C700D6A9C7A}"/>
                </a:ext>
              </a:extLst>
            </p:cNvPr>
            <p:cNvSpPr txBox="1"/>
            <p:nvPr/>
          </p:nvSpPr>
          <p:spPr>
            <a:xfrm>
              <a:off x="2765009" y="4500849"/>
              <a:ext cx="66717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900">
                  <a:solidFill>
                    <a:srgbClr val="C00000"/>
                  </a:solidFill>
                </a:rPr>
                <a:t>USB</a:t>
              </a:r>
              <a:r>
                <a:rPr lang="ko-KR" altLang="en-US" sz="900">
                  <a:solidFill>
                    <a:srgbClr val="C00000"/>
                  </a:solidFill>
                </a:rPr>
                <a:t> 포트</a:t>
              </a:r>
              <a:endParaRPr lang="ko-KR" altLang="en-US" sz="900" dirty="0">
                <a:solidFill>
                  <a:srgbClr val="C00000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665A07D-359B-4B93-9FEE-53A4B273D4C7}"/>
                </a:ext>
              </a:extLst>
            </p:cNvPr>
            <p:cNvSpPr txBox="1"/>
            <p:nvPr/>
          </p:nvSpPr>
          <p:spPr>
            <a:xfrm>
              <a:off x="2747625" y="2381364"/>
              <a:ext cx="64633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900">
                  <a:solidFill>
                    <a:srgbClr val="C00000"/>
                  </a:solidFill>
                </a:rPr>
                <a:t>전원단자</a:t>
              </a:r>
              <a:endParaRPr lang="ko-KR" altLang="en-US" sz="900" dirty="0">
                <a:solidFill>
                  <a:srgbClr val="C00000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43A1D03-ABF7-4A46-AB58-5EA4FD66F29D}"/>
                </a:ext>
              </a:extLst>
            </p:cNvPr>
            <p:cNvSpPr txBox="1"/>
            <p:nvPr/>
          </p:nvSpPr>
          <p:spPr>
            <a:xfrm>
              <a:off x="2379244" y="3809107"/>
              <a:ext cx="10326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900">
                  <a:solidFill>
                    <a:srgbClr val="C00000"/>
                  </a:solidFill>
                </a:rPr>
                <a:t>스테레오 오디오</a:t>
              </a:r>
              <a:endParaRPr lang="ko-KR" altLang="en-US" sz="900" dirty="0">
                <a:solidFill>
                  <a:srgbClr val="C00000"/>
                </a:solidFill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20469A2-C9A9-4287-8552-7975E4F144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67" t="15021" r="6134" b="14692"/>
            <a:stretch/>
          </p:blipFill>
          <p:spPr>
            <a:xfrm>
              <a:off x="2366214" y="2832397"/>
              <a:ext cx="893187" cy="368112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4C9556-BED1-4526-98A4-77C3AC95F473}"/>
                </a:ext>
              </a:extLst>
            </p:cNvPr>
            <p:cNvSpPr txBox="1"/>
            <p:nvPr/>
          </p:nvSpPr>
          <p:spPr>
            <a:xfrm>
              <a:off x="2322609" y="3161585"/>
              <a:ext cx="10294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900">
                  <a:solidFill>
                    <a:srgbClr val="C00000"/>
                  </a:solidFill>
                </a:rPr>
                <a:t>미니 </a:t>
              </a:r>
              <a:r>
                <a:rPr lang="en-US" altLang="ko-KR" sz="900">
                  <a:solidFill>
                    <a:srgbClr val="C00000"/>
                  </a:solidFill>
                </a:rPr>
                <a:t>HDMI</a:t>
              </a:r>
              <a:r>
                <a:rPr lang="ko-KR" altLang="en-US" sz="900">
                  <a:solidFill>
                    <a:srgbClr val="C00000"/>
                  </a:solidFill>
                </a:rPr>
                <a:t> 젠더</a:t>
              </a:r>
              <a:endParaRPr lang="ko-KR" altLang="en-US" sz="900" dirty="0">
                <a:solidFill>
                  <a:srgbClr val="C00000"/>
                </a:solidFill>
              </a:endParaRPr>
            </a:p>
          </p:txBody>
        </p:sp>
      </p:grpSp>
      <p:sp>
        <p:nvSpPr>
          <p:cNvPr id="4" name="타원 3">
            <a:extLst>
              <a:ext uri="{FF2B5EF4-FFF2-40B4-BE49-F238E27FC236}">
                <a16:creationId xmlns:a16="http://schemas.microsoft.com/office/drawing/2014/main" id="{09F80227-8AAB-4618-94A4-166B70C22505}"/>
              </a:ext>
            </a:extLst>
          </p:cNvPr>
          <p:cNvSpPr/>
          <p:nvPr/>
        </p:nvSpPr>
        <p:spPr>
          <a:xfrm>
            <a:off x="6084168" y="3543479"/>
            <a:ext cx="1368152" cy="115731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497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디바이스마트,오픈소스/코딩교육 &gt; 라즈베리파이 &gt; 케이스,라즈베리파이,[정품] 라즈베리파이4 공식 케이스 (검정/회색),Raspberry Pi 4 Model B 공식 엔클로저(케이스) / 검정,회색의 제품 / 재질 : 플라스틱 / 사이즈 : 97mm X 70mm X 25mm">
            <a:extLst>
              <a:ext uri="{FF2B5EF4-FFF2-40B4-BE49-F238E27FC236}">
                <a16:creationId xmlns:a16="http://schemas.microsoft.com/office/drawing/2014/main" id="{BBC376DF-7221-4879-BEEB-38A5E8B4A3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24" b="9974"/>
          <a:stretch/>
        </p:blipFill>
        <p:spPr bwMode="auto">
          <a:xfrm>
            <a:off x="3059832" y="1484784"/>
            <a:ext cx="2263511" cy="1795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/>
              <a:t>라즈베리파이</a:t>
            </a:r>
            <a:r>
              <a:rPr lang="ko-KR" altLang="en-US"/>
              <a:t> 악세서리들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91891" y="3042741"/>
            <a:ext cx="1358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Micro SD </a:t>
            </a:r>
            <a:r>
              <a:rPr lang="ko-KR" altLang="en-US" sz="1400" dirty="0"/>
              <a:t>카드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7E723-1B0C-44CE-9D5E-582DE471AE60}"/>
              </a:ext>
            </a:extLst>
          </p:cNvPr>
          <p:cNvSpPr txBox="1"/>
          <p:nvPr/>
        </p:nvSpPr>
        <p:spPr>
          <a:xfrm>
            <a:off x="882139" y="5237554"/>
            <a:ext cx="18582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마이크로 </a:t>
            </a:r>
            <a:r>
              <a:rPr lang="en-US" altLang="ko-KR" sz="1400"/>
              <a:t>HDMI </a:t>
            </a:r>
            <a:r>
              <a:rPr lang="ko-KR" altLang="en-US" sz="1400"/>
              <a:t>젠더</a:t>
            </a:r>
            <a:endParaRPr lang="ko-KR" altLang="en-US" sz="1400" dirty="0"/>
          </a:p>
        </p:txBody>
      </p:sp>
      <p:pic>
        <p:nvPicPr>
          <p:cNvPr id="14" name="_x443937016" descr="EMB00005154380d">
            <a:extLst>
              <a:ext uri="{FF2B5EF4-FFF2-40B4-BE49-F238E27FC236}">
                <a16:creationId xmlns:a16="http://schemas.microsoft.com/office/drawing/2014/main" id="{82C27258-7177-4C12-83BA-631EC50C7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78" b="16548"/>
          <a:stretch>
            <a:fillRect/>
          </a:stretch>
        </p:blipFill>
        <p:spPr bwMode="auto">
          <a:xfrm>
            <a:off x="3341723" y="4075470"/>
            <a:ext cx="1743578" cy="112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EDCD0C3-83E5-4680-A7D6-4645F68395D2}"/>
              </a:ext>
            </a:extLst>
          </p:cNvPr>
          <p:cNvSpPr txBox="1"/>
          <p:nvPr/>
        </p:nvSpPr>
        <p:spPr>
          <a:xfrm>
            <a:off x="3587400" y="5254947"/>
            <a:ext cx="1114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USB </a:t>
            </a:r>
            <a:r>
              <a:rPr lang="ko-KR" altLang="en-US" sz="1400" dirty="0"/>
              <a:t>메모리</a:t>
            </a:r>
          </a:p>
        </p:txBody>
      </p:sp>
      <p:pic>
        <p:nvPicPr>
          <p:cNvPr id="19" name="Picture 4" descr="http://www.devicemart.co.kr/data/collect_img/kind_0/fogoods/large/6500202.jpg">
            <a:extLst>
              <a:ext uri="{FF2B5EF4-FFF2-40B4-BE49-F238E27FC236}">
                <a16:creationId xmlns:a16="http://schemas.microsoft.com/office/drawing/2014/main" id="{B592B638-8B87-408D-8716-8ACA37C1F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361" y="3518254"/>
            <a:ext cx="2279104" cy="2279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988BDB2-737B-4CDE-ADC9-226919CD7803}"/>
              </a:ext>
            </a:extLst>
          </p:cNvPr>
          <p:cNvSpPr txBox="1"/>
          <p:nvPr/>
        </p:nvSpPr>
        <p:spPr>
          <a:xfrm>
            <a:off x="6465462" y="5699630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파이캠</a:t>
            </a:r>
            <a:r>
              <a:rPr lang="ko-KR" altLang="en-US" sz="1400" dirty="0"/>
              <a:t> 카메라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81DAF-C14C-43B7-9F97-5F87FC25A88B}"/>
              </a:ext>
            </a:extLst>
          </p:cNvPr>
          <p:cNvSpPr txBox="1"/>
          <p:nvPr/>
        </p:nvSpPr>
        <p:spPr>
          <a:xfrm>
            <a:off x="3501303" y="3244478"/>
            <a:ext cx="1713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전용 케이스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C7A1F7-0F2D-4909-9524-37F89036B193}"/>
              </a:ext>
            </a:extLst>
          </p:cNvPr>
          <p:cNvSpPr txBox="1"/>
          <p:nvPr/>
        </p:nvSpPr>
        <p:spPr>
          <a:xfrm>
            <a:off x="6474150" y="321047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방열판</a:t>
            </a:r>
            <a:endParaRPr lang="ko-KR" altLang="en-US" sz="1400" dirty="0"/>
          </a:p>
        </p:txBody>
      </p:sp>
      <p:pic>
        <p:nvPicPr>
          <p:cNvPr id="24" name="_x443731784" descr="EMB0000515438a4">
            <a:extLst>
              <a:ext uri="{FF2B5EF4-FFF2-40B4-BE49-F238E27FC236}">
                <a16:creationId xmlns:a16="http://schemas.microsoft.com/office/drawing/2014/main" id="{B4D43336-359F-4566-A249-07EB1467C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" b="64"/>
          <a:stretch>
            <a:fillRect/>
          </a:stretch>
        </p:blipFill>
        <p:spPr bwMode="auto">
          <a:xfrm>
            <a:off x="6020715" y="1664109"/>
            <a:ext cx="2190750" cy="149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A73A26D-45EB-435F-A945-283D9E075BD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30" y="3910043"/>
            <a:ext cx="1722937" cy="129220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3304474-2687-4702-A672-0D6414F2C9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652" y="2003269"/>
            <a:ext cx="1380944" cy="103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2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D50C985-4B53-4C29-B145-04757C1A2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54C28B1-B7D3-4FB8-9346-DDF1DB296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1.4 </a:t>
            </a:r>
            <a:r>
              <a:rPr lang="ko-KR" altLang="en-US"/>
              <a:t>라즈베리파이 응용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AB10F3-8DC4-468C-A38F-476F97E4F1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3266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39D7888-6F64-4AC3-B580-A5D5D8BDF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라즈베리파이 응용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C0D1BA-1F26-41F5-B35F-73A44AFC4D3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fontAlgn="base">
              <a:buNone/>
            </a:pPr>
            <a:r>
              <a:rPr lang="en-US" altLang="ko-KR" dirty="0"/>
              <a:t>1. </a:t>
            </a:r>
            <a:r>
              <a:rPr lang="ko-KR" altLang="en-US" dirty="0"/>
              <a:t>데스크톱 컴퓨터로 활용</a:t>
            </a:r>
            <a:endParaRPr lang="en-US" altLang="ko-KR" dirty="0"/>
          </a:p>
          <a:p>
            <a:pPr lvl="1" fontAlgn="base"/>
            <a:r>
              <a:rPr lang="en-US" altLang="ko-KR" dirty="0"/>
              <a:t>PC</a:t>
            </a:r>
            <a:r>
              <a:rPr lang="ko-KR" altLang="en-US" dirty="0"/>
              <a:t>와 다를 바 없는 컴퓨터</a:t>
            </a:r>
          </a:p>
          <a:p>
            <a:pPr lvl="2" fontAlgn="base"/>
            <a:r>
              <a:rPr lang="ko-KR" altLang="en-US" dirty="0" err="1"/>
              <a:t>라즈베리파이에</a:t>
            </a:r>
            <a:r>
              <a:rPr lang="ko-KR" altLang="en-US" dirty="0"/>
              <a:t> 디스플레이</a:t>
            </a:r>
            <a:r>
              <a:rPr lang="en-US" altLang="ko-KR" dirty="0"/>
              <a:t>, </a:t>
            </a:r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마우스</a:t>
            </a:r>
            <a:r>
              <a:rPr lang="en-US" altLang="ko-KR" dirty="0"/>
              <a:t>, LAN </a:t>
            </a:r>
            <a:r>
              <a:rPr lang="ko-KR" altLang="en-US" dirty="0"/>
              <a:t>포트나 와이파이</a:t>
            </a:r>
            <a:endParaRPr lang="en-US" altLang="ko-KR" dirty="0"/>
          </a:p>
          <a:p>
            <a:pPr lvl="2" fontAlgn="base"/>
            <a:r>
              <a:rPr lang="en-US" altLang="ko-KR" dirty="0"/>
              <a:t>SSD </a:t>
            </a:r>
            <a:r>
              <a:rPr lang="ko-KR" altLang="en-US" dirty="0"/>
              <a:t>연결하면 대용량 저장소 가능</a:t>
            </a:r>
            <a:endParaRPr lang="en-US" altLang="ko-KR" dirty="0"/>
          </a:p>
          <a:p>
            <a:pPr lvl="1" fontAlgn="base"/>
            <a:r>
              <a:rPr lang="en-US" altLang="ko-KR" dirty="0"/>
              <a:t>SD </a:t>
            </a:r>
            <a:r>
              <a:rPr lang="ko-KR" altLang="en-US" dirty="0"/>
              <a:t>카드에 리눅스나 윈도우 운영체제 탑재</a:t>
            </a:r>
          </a:p>
          <a:p>
            <a:pPr marL="0" indent="0" fontAlgn="base">
              <a:buNone/>
            </a:pPr>
            <a:r>
              <a:rPr lang="en-US" altLang="ko-KR" dirty="0"/>
              <a:t>2. </a:t>
            </a:r>
            <a:r>
              <a:rPr lang="ko-KR" altLang="en-US" dirty="0"/>
              <a:t>서버 컴퓨터로 활용</a:t>
            </a:r>
            <a:endParaRPr lang="en-US" altLang="ko-KR" dirty="0"/>
          </a:p>
          <a:p>
            <a:pPr lvl="1" fontAlgn="base"/>
            <a:r>
              <a:rPr lang="ko-KR" altLang="en-US" dirty="0"/>
              <a:t>웹 서버</a:t>
            </a:r>
            <a:endParaRPr lang="en-US" altLang="ko-KR" dirty="0"/>
          </a:p>
          <a:p>
            <a:pPr lvl="2" fontAlgn="base"/>
            <a:r>
              <a:rPr lang="ko-KR" altLang="en-US" dirty="0"/>
              <a:t>아파치</a:t>
            </a:r>
            <a:r>
              <a:rPr lang="en-US" altLang="ko-KR" dirty="0"/>
              <a:t>(Apache)</a:t>
            </a:r>
            <a:r>
              <a:rPr lang="ko-KR" altLang="en-US" dirty="0"/>
              <a:t>와 같은 웹 서버 소프트웨어 설치</a:t>
            </a:r>
            <a:r>
              <a:rPr lang="en-US" altLang="ko-KR" dirty="0"/>
              <a:t>, </a:t>
            </a:r>
            <a:r>
              <a:rPr lang="ko-KR" altLang="en-US" dirty="0"/>
              <a:t>홈페이지 구축</a:t>
            </a:r>
            <a:endParaRPr lang="en-US" altLang="ko-KR" dirty="0"/>
          </a:p>
          <a:p>
            <a:pPr lvl="1" fontAlgn="base"/>
            <a:r>
              <a:rPr lang="ko-KR" altLang="en-US" dirty="0"/>
              <a:t>파일 서버</a:t>
            </a:r>
          </a:p>
          <a:p>
            <a:pPr lvl="2" fontAlgn="base"/>
            <a:r>
              <a:rPr lang="en-US" altLang="ko-KR" dirty="0"/>
              <a:t>USB </a:t>
            </a:r>
            <a:r>
              <a:rPr lang="ko-KR" altLang="en-US" dirty="0"/>
              <a:t>하드 디스크나 </a:t>
            </a:r>
            <a:r>
              <a:rPr lang="en-US" altLang="ko-KR" dirty="0"/>
              <a:t>SSD</a:t>
            </a:r>
            <a:r>
              <a:rPr lang="ko-KR" altLang="en-US" dirty="0"/>
              <a:t>로 몇 </a:t>
            </a:r>
            <a:r>
              <a:rPr lang="en-US" altLang="ko-KR" dirty="0"/>
              <a:t>TB</a:t>
            </a:r>
            <a:r>
              <a:rPr lang="ko-KR" altLang="en-US" dirty="0"/>
              <a:t>의 저장 공간을 갖추면 파일 서버</a:t>
            </a:r>
            <a:endParaRPr lang="en-US" altLang="ko-KR" dirty="0"/>
          </a:p>
          <a:p>
            <a:pPr lvl="1" fontAlgn="base"/>
            <a:r>
              <a:rPr lang="en-US" altLang="ko-KR" dirty="0"/>
              <a:t>NAS(Network Attached Storage) </a:t>
            </a:r>
            <a:r>
              <a:rPr lang="ko-KR" altLang="en-US" dirty="0"/>
              <a:t>서버</a:t>
            </a:r>
          </a:p>
          <a:p>
            <a:pPr lvl="2" fontAlgn="base"/>
            <a:r>
              <a:rPr lang="ko-KR" altLang="en-US" dirty="0"/>
              <a:t>대용량 하드 디스크에 음악이나 동영상 저장</a:t>
            </a:r>
            <a:r>
              <a:rPr lang="en-US" altLang="ko-KR" dirty="0"/>
              <a:t>, </a:t>
            </a:r>
            <a:r>
              <a:rPr lang="ko-KR" altLang="en-US" dirty="0"/>
              <a:t>외부로 스트리밍 서비스</a:t>
            </a:r>
            <a:endParaRPr lang="en-US" altLang="ko-KR" dirty="0"/>
          </a:p>
          <a:p>
            <a:pPr marL="0" indent="0" fontAlgn="base">
              <a:buNone/>
            </a:pPr>
            <a:r>
              <a:rPr lang="en-US" altLang="ko-KR" dirty="0"/>
              <a:t>3. </a:t>
            </a:r>
            <a:r>
              <a:rPr lang="ko-KR" altLang="en-US" dirty="0"/>
              <a:t>임베디드 컴퓨터로 활용</a:t>
            </a:r>
            <a:endParaRPr lang="en-US" altLang="ko-KR" dirty="0"/>
          </a:p>
          <a:p>
            <a:pPr lvl="1" fontAlgn="base"/>
            <a:r>
              <a:rPr lang="ko-KR" altLang="en-US" dirty="0"/>
              <a:t>어떤 장치에 내장되어 그 장치를 제어할 목적</a:t>
            </a:r>
          </a:p>
          <a:p>
            <a:pPr lvl="2" fontAlgn="base"/>
            <a:r>
              <a:rPr lang="ko-KR" altLang="en-US" dirty="0"/>
              <a:t>디스플레이</a:t>
            </a:r>
            <a:r>
              <a:rPr lang="en-US" altLang="ko-KR" dirty="0"/>
              <a:t>, </a:t>
            </a:r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마우스 없이 네트워크만 연결된 형태</a:t>
            </a:r>
            <a:r>
              <a:rPr lang="en-US" altLang="ko-KR" dirty="0"/>
              <a:t>(</a:t>
            </a:r>
            <a:r>
              <a:rPr lang="ko-KR" altLang="en-US" dirty="0"/>
              <a:t>헤드리스 </a:t>
            </a:r>
            <a:r>
              <a:rPr lang="ko-KR" altLang="en-US" dirty="0" err="1"/>
              <a:t>라즈베리파이</a:t>
            </a:r>
            <a:r>
              <a:rPr lang="en-US" altLang="ko-KR" dirty="0"/>
              <a:t>)</a:t>
            </a:r>
          </a:p>
          <a:p>
            <a:pPr lvl="1" fontAlgn="base"/>
            <a:r>
              <a:rPr lang="en-US" altLang="ko-KR" dirty="0"/>
              <a:t>CCTV, </a:t>
            </a:r>
            <a:r>
              <a:rPr lang="ko-KR" altLang="en-US" dirty="0"/>
              <a:t>로봇</a:t>
            </a:r>
            <a:r>
              <a:rPr lang="en-US" altLang="ko-KR" dirty="0"/>
              <a:t>, </a:t>
            </a:r>
            <a:r>
              <a:rPr lang="ko-KR" altLang="en-US" dirty="0" err="1"/>
              <a:t>스마트팜</a:t>
            </a:r>
            <a:r>
              <a:rPr lang="en-US" altLang="ko-KR" dirty="0"/>
              <a:t>, </a:t>
            </a:r>
            <a:r>
              <a:rPr lang="ko-KR" altLang="en-US" dirty="0"/>
              <a:t>자율 주행 </a:t>
            </a:r>
            <a:r>
              <a:rPr lang="en-US" altLang="ko-KR" dirty="0"/>
              <a:t>RC-Car, </a:t>
            </a:r>
            <a:r>
              <a:rPr lang="ko-KR" altLang="en-US" dirty="0"/>
              <a:t>스마트 미러</a:t>
            </a:r>
            <a:r>
              <a:rPr lang="en-US" altLang="ko-KR" dirty="0"/>
              <a:t>(Smart Mirror) </a:t>
            </a:r>
            <a:r>
              <a:rPr lang="ko-KR" altLang="en-US" dirty="0"/>
              <a:t>등</a:t>
            </a:r>
          </a:p>
          <a:p>
            <a:pPr lvl="1" fontAlgn="base"/>
            <a:endParaRPr lang="ko-KR" altLang="en-US" dirty="0"/>
          </a:p>
          <a:p>
            <a:pPr lvl="1" fontAlgn="base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6A6CFA-4193-4B84-B282-618ABF81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889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데스크톱으로 활용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8A953F-A8C6-4FF8-98B4-3CF4150F70E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72008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/>
              <a:t>라즈베리파이 운영체제 설치</a:t>
            </a:r>
            <a:endParaRPr lang="en-US" altLang="ko-KR"/>
          </a:p>
          <a:p>
            <a:pPr lvl="1"/>
            <a:r>
              <a:rPr lang="ko-KR" altLang="en-US"/>
              <a:t>데스크톱 </a:t>
            </a:r>
            <a:r>
              <a:rPr lang="en-US" altLang="ko-KR"/>
              <a:t>UI - </a:t>
            </a:r>
            <a:r>
              <a:rPr lang="ko-KR" altLang="en-US"/>
              <a:t>파일 관리자</a:t>
            </a:r>
            <a:r>
              <a:rPr lang="en-US" altLang="ko-KR"/>
              <a:t>, </a:t>
            </a:r>
            <a:r>
              <a:rPr lang="ko-KR" altLang="en-US"/>
              <a:t>터미널 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25</a:t>
            </a:fld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7306F35-DB90-47B7-AECF-909A5760949D}"/>
              </a:ext>
            </a:extLst>
          </p:cNvPr>
          <p:cNvGrpSpPr/>
          <p:nvPr/>
        </p:nvGrpSpPr>
        <p:grpSpPr>
          <a:xfrm>
            <a:off x="755576" y="2060848"/>
            <a:ext cx="8063880" cy="4423421"/>
            <a:chOff x="1043608" y="2132856"/>
            <a:chExt cx="8063880" cy="442342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8BAF102-5B3F-469F-93C9-6FB1492E9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3608" y="2132857"/>
              <a:ext cx="8063880" cy="4423420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43D4AC0-CADF-428E-ABC9-9F3DD67BC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5128" y="2591049"/>
              <a:ext cx="4382318" cy="272478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7110145-68EE-4624-BE98-3C4918B10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77398" y="3061762"/>
              <a:ext cx="3859466" cy="335404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1385B20-6490-4707-969C-ACA60717E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48673" y="2132856"/>
              <a:ext cx="628807" cy="14633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E5FE194-F212-4CD0-A5C9-12CA59179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12672" y="2139551"/>
              <a:ext cx="72001" cy="131068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77298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83CCC-048D-45A5-AA0A-9D5CDFBC3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임베디드 컴퓨터로 활용되는 사례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74AAAE-A40C-4DA1-85E8-40713A85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26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2B6D3D-981A-463C-BF71-7D7FF1525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576440"/>
            <a:ext cx="2938147" cy="13975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B48DA12-86F6-4A88-A928-2AB2157C8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1540995"/>
            <a:ext cx="3131840" cy="14744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57817D0-F11D-4FFA-A39B-7B936702B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453" y="1540995"/>
            <a:ext cx="2352098" cy="35372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0F237D-6B73-4B40-9AD7-685E2E373AF5}"/>
              </a:ext>
            </a:extLst>
          </p:cNvPr>
          <p:cNvSpPr txBox="1"/>
          <p:nvPr/>
        </p:nvSpPr>
        <p:spPr>
          <a:xfrm>
            <a:off x="2421549" y="3030513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자율 자동차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CC3AD9-5C17-4058-9CCB-05DE46921091}"/>
              </a:ext>
            </a:extLst>
          </p:cNvPr>
          <p:cNvSpPr txBox="1"/>
          <p:nvPr/>
        </p:nvSpPr>
        <p:spPr>
          <a:xfrm>
            <a:off x="2267744" y="6475511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스마트 미러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1B0AD3C-E33C-4E54-A30A-F859C49BEB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173" y="3317605"/>
            <a:ext cx="1768990" cy="3187994"/>
          </a:xfrm>
          <a:prstGeom prst="rect">
            <a:avLst/>
          </a:prstGeom>
        </p:spPr>
      </p:pic>
      <p:pic>
        <p:nvPicPr>
          <p:cNvPr id="1025" name="_x362885048" descr="EMB00005498769d">
            <a:extLst>
              <a:ext uri="{FF2B5EF4-FFF2-40B4-BE49-F238E27FC236}">
                <a16:creationId xmlns:a16="http://schemas.microsoft.com/office/drawing/2014/main" id="{AAD5E01B-867C-4A66-ACF5-235AAC878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4"/>
          <a:stretch>
            <a:fillRect/>
          </a:stretch>
        </p:blipFill>
        <p:spPr bwMode="auto">
          <a:xfrm>
            <a:off x="169449" y="3269141"/>
            <a:ext cx="3153378" cy="325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972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CA47DB1-B99F-409C-8C34-BDB966AF1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F5DDF5F-9770-4D80-9B53-56E230580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1.5 </a:t>
            </a:r>
            <a:r>
              <a:rPr lang="ko-KR" altLang="en-US"/>
              <a:t>학습 목표와 마일스톤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8D22C1-1F17-47DF-9884-92CD4FA9A4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7202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E3AEBB7E-B2D2-40E3-BC9F-22A53E8DF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 목표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0689D0-C4C6-4293-8900-9E34FE8A279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ko-KR" altLang="en-US" dirty="0" err="1"/>
              <a:t>라즈베리파이를</a:t>
            </a:r>
            <a:r>
              <a:rPr lang="ko-KR" altLang="en-US" dirty="0"/>
              <a:t> 통한 임베디드 컴퓨터 경험</a:t>
            </a:r>
            <a:endParaRPr lang="en-US" altLang="ko-KR" dirty="0"/>
          </a:p>
          <a:p>
            <a:pPr lvl="1"/>
            <a:r>
              <a:rPr lang="ko-KR" altLang="en-US" dirty="0"/>
              <a:t>소프트웨어 학생들에게 하드웨어에 대한 두려움 해소</a:t>
            </a:r>
          </a:p>
          <a:p>
            <a:pPr lvl="1"/>
            <a:r>
              <a:rPr lang="ko-KR" altLang="en-US" dirty="0"/>
              <a:t>하드웨어 회로를 꾸미고 제어하는 소프트웨어 개발경험</a:t>
            </a:r>
          </a:p>
          <a:p>
            <a:pPr lvl="1"/>
            <a:r>
              <a:rPr lang="ko-KR" altLang="en-US" dirty="0"/>
              <a:t>네트워크 환경에서 여러 하드웨어 혹은 소프트웨어들이 함께 작동하는 응용 시스템 경험</a:t>
            </a:r>
            <a:r>
              <a:rPr lang="en-US" altLang="ko-KR" dirty="0"/>
              <a:t> </a:t>
            </a:r>
            <a:r>
              <a:rPr lang="ko-KR" altLang="en-US" dirty="0"/>
              <a:t>및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  <a:p>
            <a:pPr lvl="1"/>
            <a:r>
              <a:rPr lang="en-US" altLang="ko-KR" dirty="0" err="1"/>
              <a:t>AIoT</a:t>
            </a:r>
            <a:r>
              <a:rPr lang="en-US" altLang="ko-KR" dirty="0"/>
              <a:t> </a:t>
            </a:r>
            <a:r>
              <a:rPr lang="ko-KR" altLang="en-US" dirty="0"/>
              <a:t>응용 세계 경험</a:t>
            </a:r>
          </a:p>
          <a:p>
            <a:pPr lvl="1"/>
            <a:r>
              <a:rPr lang="en-US" altLang="ko-KR" dirty="0" err="1"/>
              <a:t>AIoT</a:t>
            </a:r>
            <a:r>
              <a:rPr lang="en-US" altLang="ko-KR" dirty="0"/>
              <a:t> </a:t>
            </a:r>
            <a:r>
              <a:rPr lang="ko-KR" altLang="en-US" dirty="0"/>
              <a:t>응용 세계 설계 구현</a:t>
            </a:r>
          </a:p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3D6573-77BA-4136-9601-8A95E392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325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라즈베리파이를 </a:t>
            </a:r>
            <a:r>
              <a:rPr lang="ko-KR" altLang="en-US" dirty="0"/>
              <a:t>다룰 때 주의 사항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정전기 주의</a:t>
            </a:r>
            <a:endParaRPr lang="en-US" altLang="ko-KR" dirty="0"/>
          </a:p>
          <a:p>
            <a:pPr lvl="1"/>
            <a:r>
              <a:rPr lang="ko-KR" altLang="en-US" dirty="0"/>
              <a:t>라즈베리 파이 본체는 손으로 만졌을 때 정전기에 주의</a:t>
            </a:r>
            <a:endParaRPr lang="en-US" altLang="ko-KR" dirty="0"/>
          </a:p>
          <a:p>
            <a:pPr lvl="1"/>
            <a:r>
              <a:rPr lang="ko-KR" altLang="en-US" dirty="0"/>
              <a:t>보드의 외곽을 잡거나 케이스 사용 권함</a:t>
            </a:r>
            <a:endParaRPr lang="en-US" altLang="ko-KR" dirty="0"/>
          </a:p>
          <a:p>
            <a:r>
              <a:rPr lang="en-US" altLang="ko-KR" dirty="0"/>
              <a:t>SD </a:t>
            </a:r>
            <a:r>
              <a:rPr lang="ko-KR" altLang="en-US" dirty="0"/>
              <a:t>카드 고장 주의</a:t>
            </a:r>
            <a:endParaRPr lang="en-US" altLang="ko-KR" dirty="0"/>
          </a:p>
          <a:p>
            <a:pPr lvl="1"/>
            <a:r>
              <a:rPr lang="en-US" altLang="ko-KR" dirty="0"/>
              <a:t> SD </a:t>
            </a:r>
            <a:r>
              <a:rPr lang="ko-KR" altLang="en-US" dirty="0"/>
              <a:t>카드는 잘 망가지므로 조심스럽게 다룸</a:t>
            </a:r>
            <a:endParaRPr lang="en-US" altLang="ko-KR" dirty="0"/>
          </a:p>
          <a:p>
            <a:r>
              <a:rPr lang="ko-KR" altLang="en-US" dirty="0" err="1"/>
              <a:t>라즈베리파이</a:t>
            </a:r>
            <a:r>
              <a:rPr lang="ko-KR" altLang="en-US" dirty="0"/>
              <a:t> 변형 주의</a:t>
            </a:r>
            <a:endParaRPr lang="en-US" altLang="ko-KR" dirty="0"/>
          </a:p>
          <a:p>
            <a:pPr lvl="1"/>
            <a:r>
              <a:rPr lang="en-US" altLang="ko-KR" dirty="0"/>
              <a:t>GPIO </a:t>
            </a:r>
            <a:r>
              <a:rPr lang="ko-KR" altLang="en-US" dirty="0"/>
              <a:t>핀 구부러지지 않도록 주의</a:t>
            </a:r>
            <a:endParaRPr lang="en-US" altLang="ko-KR" dirty="0"/>
          </a:p>
          <a:p>
            <a:pPr lvl="1"/>
            <a:r>
              <a:rPr lang="en-US" altLang="ko-KR" dirty="0"/>
              <a:t>USB </a:t>
            </a:r>
            <a:r>
              <a:rPr lang="ko-KR" altLang="en-US" dirty="0"/>
              <a:t>인터페이스가 찌그러지지 않도록 주의</a:t>
            </a:r>
            <a:endParaRPr lang="en-US" altLang="ko-KR" dirty="0"/>
          </a:p>
          <a:p>
            <a:r>
              <a:rPr lang="ko-KR" altLang="en-US" dirty="0"/>
              <a:t>전원 단자 접촉 불량 고장 주의</a:t>
            </a:r>
            <a:endParaRPr lang="en-US" altLang="ko-KR" dirty="0"/>
          </a:p>
          <a:p>
            <a:pPr lvl="1"/>
            <a:r>
              <a:rPr lang="ko-KR" altLang="en-US" dirty="0" err="1"/>
              <a:t>실험시</a:t>
            </a:r>
            <a:r>
              <a:rPr lang="en-US" altLang="ko-KR" dirty="0"/>
              <a:t>, </a:t>
            </a:r>
            <a:r>
              <a:rPr lang="ko-KR" altLang="en-US" dirty="0" err="1"/>
              <a:t>라즈베리파이의</a:t>
            </a:r>
            <a:r>
              <a:rPr lang="ko-KR" altLang="en-US" dirty="0"/>
              <a:t> 전원 연결 단자에서 전원을 끼우고 빼는 반복된 행위 </a:t>
            </a:r>
            <a:r>
              <a:rPr lang="en-US" altLang="ko-KR" dirty="0"/>
              <a:t>-&gt;</a:t>
            </a:r>
            <a:r>
              <a:rPr lang="ko-KR" altLang="en-US" dirty="0"/>
              <a:t> 전원 연결 단자의 접촉 불량 고장 발생</a:t>
            </a:r>
            <a:endParaRPr lang="en-US" altLang="ko-KR" dirty="0"/>
          </a:p>
          <a:p>
            <a:pPr lvl="1"/>
            <a:r>
              <a:rPr lang="ko-KR" altLang="en-US" dirty="0"/>
              <a:t>전원을 끌 때</a:t>
            </a:r>
            <a:r>
              <a:rPr lang="en-US" altLang="ko-KR" dirty="0"/>
              <a:t> </a:t>
            </a:r>
            <a:r>
              <a:rPr lang="ko-KR" altLang="en-US" dirty="0" err="1"/>
              <a:t>멀티탭에서</a:t>
            </a:r>
            <a:r>
              <a:rPr lang="ko-KR" altLang="en-US" dirty="0"/>
              <a:t> 전원 분리하도록 권고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91977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56197</TotalTime>
  <Words>1169</Words>
  <Application>Microsoft Office PowerPoint</Application>
  <PresentationFormat>화면 슬라이드 쇼(4:3)</PresentationFormat>
  <Paragraphs>260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Helvetica Neue Medium</vt:lpstr>
      <vt:lpstr>HY나무L</vt:lpstr>
      <vt:lpstr>맑은 고딕</vt:lpstr>
      <vt:lpstr>휴먼편지체</vt:lpstr>
      <vt:lpstr>Wingdings</vt:lpstr>
      <vt:lpstr>Wingdings 2</vt:lpstr>
      <vt:lpstr>가을</vt:lpstr>
      <vt:lpstr>1장 AIot 시스템과 라즈베리파이</vt:lpstr>
      <vt:lpstr>강의 목표</vt:lpstr>
      <vt:lpstr>들어가기 전에</vt:lpstr>
      <vt:lpstr>1.1 AIoT 개요</vt:lpstr>
      <vt:lpstr>AIoT 개요</vt:lpstr>
      <vt:lpstr>기술적 관점의 AIoT 기술</vt:lpstr>
      <vt:lpstr>이 책의 학습 범위 및 목표</vt:lpstr>
      <vt:lpstr>아두이노와 라즈베리파이</vt:lpstr>
      <vt:lpstr>아두이노와 라즈베리파이 하드웨어 비교</vt:lpstr>
      <vt:lpstr>아두이노와 라즈베리파이 목적의 차이</vt:lpstr>
      <vt:lpstr>운영체제 여부</vt:lpstr>
      <vt:lpstr>응용프로그램 개발 방법 차이</vt:lpstr>
      <vt:lpstr>Sketch 소프트웨어와 라즈베리파이 운영체제</vt:lpstr>
      <vt:lpstr>1.2 라즈베리파이 개요</vt:lpstr>
      <vt:lpstr>교육 목적으로 탄생한 라즈베리파이</vt:lpstr>
      <vt:lpstr>라즈베리파이의 발전</vt:lpstr>
      <vt:lpstr>라즈베리파이4와 라즈베리파이5</vt:lpstr>
      <vt:lpstr>1.3 라즈베리파이 하드웨어 구성</vt:lpstr>
      <vt:lpstr>라즈베리파이4 모델 B 하드웨어</vt:lpstr>
      <vt:lpstr>라즈베리파이4 모델 B의 구성 요소</vt:lpstr>
      <vt:lpstr>라즈베리파이에 주변 장치들 연결</vt:lpstr>
      <vt:lpstr>라즈베리파이 악세서리들</vt:lpstr>
      <vt:lpstr>1.4 라즈베리파이 응용</vt:lpstr>
      <vt:lpstr>라즈베리파이 응용</vt:lpstr>
      <vt:lpstr>데스크톱으로 활용</vt:lpstr>
      <vt:lpstr>임베디드 컴퓨터로 활용되는 사례</vt:lpstr>
      <vt:lpstr>1.5 학습 목표와 마일스톤</vt:lpstr>
      <vt:lpstr>학습 목표</vt:lpstr>
      <vt:lpstr>라즈베리파이를 다룰 때 주의 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황기태</cp:lastModifiedBy>
  <cp:revision>606</cp:revision>
  <cp:lastPrinted>2013-07-12T10:01:15Z</cp:lastPrinted>
  <dcterms:created xsi:type="dcterms:W3CDTF">2011-08-27T14:53:28Z</dcterms:created>
  <dcterms:modified xsi:type="dcterms:W3CDTF">2026-07-23T06:26:47Z</dcterms:modified>
</cp:coreProperties>
</file>