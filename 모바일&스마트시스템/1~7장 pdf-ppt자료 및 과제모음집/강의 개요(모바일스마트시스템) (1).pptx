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7" r:id="rId2"/>
    <p:sldId id="262" r:id="rId3"/>
    <p:sldId id="259" r:id="rId4"/>
    <p:sldId id="261" r:id="rId5"/>
    <p:sldId id="301" r:id="rId6"/>
    <p:sldId id="302" r:id="rId7"/>
    <p:sldId id="308" r:id="rId8"/>
    <p:sldId id="263" r:id="rId9"/>
    <p:sldId id="264" r:id="rId10"/>
    <p:sldId id="265" r:id="rId11"/>
    <p:sldId id="266" r:id="rId12"/>
    <p:sldId id="267" r:id="rId13"/>
    <p:sldId id="275" r:id="rId14"/>
    <p:sldId id="276" r:id="rId15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B48"/>
    <a:srgbClr val="014098"/>
    <a:srgbClr val="003F97"/>
    <a:srgbClr val="E95977"/>
    <a:srgbClr val="E95A75"/>
    <a:srgbClr val="89C987"/>
    <a:srgbClr val="9ED6E8"/>
    <a:srgbClr val="D3BEDE"/>
    <a:srgbClr val="004098"/>
    <a:srgbClr val="006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/>
    <p:restoredTop sz="87877"/>
  </p:normalViewPr>
  <p:slideViewPr>
    <p:cSldViewPr snapToGrid="0" snapToObjects="1">
      <p:cViewPr varScale="1">
        <p:scale>
          <a:sx n="111" d="100"/>
          <a:sy n="111" d="100"/>
        </p:scale>
        <p:origin x="1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E96D7-769E-8E4E-8F2E-3EC29021E1E9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AAEF9-9369-5B43-B8BE-920E3CD0F56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2149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64634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32708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76413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118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D6B8-ECCF-98AC-88B0-E4E7B7244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F6BF3-8D37-7AFE-45FE-ED63AA612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08FED6-C4F8-194D-93A4-52413F1D4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F26435-1648-3C3B-BAA5-4836C081E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75634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8E7E-06EC-0DC4-D7A0-F91C082D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949440-585E-0969-B3A1-5985E58C9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943DD2-236A-F9ED-45CA-66C20CB42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A1CA7-656A-8F11-5055-59493F9FD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2481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D8AA-7D28-8DF9-AE1B-4C7B30D95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98F3CA-833D-5DE9-2007-B60DF6D11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E03950-DD79-3AA8-EA2B-94138AFFD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4A5CA1-4D96-DC82-3DB4-5B6B6C02E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60899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87810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33747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42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67066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72044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AAEF9-9369-5B43-B8BE-920E3CD0F56A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95768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57FD5-FBBA-7D4A-A54F-F4F19DCBE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EC3068-3211-F246-A277-AD671B2B5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13AED0-ED52-324F-B405-39EBFD57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CE7E34-DF7A-6E48-AE9A-FB47F9BCA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43E6D-1A40-3640-995B-DA91DB7B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58940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4333B-7F7D-5049-A03E-3F4D980C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FF1F1-5BC2-F64C-8C2D-F0E9CD8A1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A0C04-5705-B544-82D4-5CAF1D9A4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0EB17E-D7C7-2A40-A09A-BF2691936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B8FF61-5A00-DB43-97E4-010E4BE4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24506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BDAC0-6E17-D24C-A6A0-4B843D9D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A11608-425F-2743-91FF-D80BBA4D1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12C90-8652-D844-B468-0D2DFBB85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6CC9F7-9430-1646-9E58-082833EC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D2C515-68FB-2747-8F00-09B4FE0C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02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063CC-CFE5-974A-9F27-AF32DDFA8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7EA616-F290-814F-8633-16C797D04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D2B9E4-483D-C543-8922-75607C11D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F85B83-239E-F646-82BB-E1EE9DCC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CBE34E-5D5A-4B41-8C33-5339CAB1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3A9D08-7DD2-A749-9313-ECADBAE1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0218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8B16D9-BEC2-AA4F-8A5D-5678FC6C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17E25B-6C3D-0A44-8D6F-AE4B9B8BF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C0C274-D29D-BF44-B437-6F214DC0A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39963C-EB49-0C44-A6B8-1602B99D0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D0CAB1-48B5-DE45-A456-1739C18F6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43839A-BD31-B84C-B012-3738536FF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3824EB-2C09-0B46-91CA-223746D2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B173E9-D6E9-9046-A31A-3F01CDFEE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0619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DF7CD-94A0-BE42-9298-D350DAF39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3B8E1B-94CA-1F43-A58D-AEE9DCBC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707502E-A854-DA45-9729-8E0E90BC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1EE91-54FB-0B43-86C6-7224B35B6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2845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DE7457A2-D11F-1A46-889B-C77BD768C7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12600" y="65786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2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14A18-9710-7E4F-B6A8-CFF55A3F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E6C4B-45AC-E242-A10F-23FCADBFA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B2C881-82EB-0844-A421-5811CCC49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410365-E6BD-734F-A732-EAED694F3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B12FE3-0F9B-1548-9703-92A238D9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413D52-F767-3B4B-9ADE-381BABD7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855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0B454-09D5-D941-AE34-A234114F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39D8E57-5B49-0C48-89F4-49CD266C0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715544-11A8-2648-A46F-5AD639719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73B5A9-21C6-5540-8C17-8BEF5E6E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845E3-430B-9841-BDF0-59421FBB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C5A964-7503-7D47-AE3F-D542952D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4594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8EA44-B2DE-E148-878B-E8F9C9DC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1B3C31-36E8-9546-BE25-F7250E77A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E04A-4ADD-2D44-9922-ED90133F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97B477-7B86-0044-ACFA-634CC7B9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0268C2-43F7-D647-A0BF-6237ABA9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7016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F632CF-6479-2147-972F-91FC01D38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CFC201-2F6D-8741-A7D3-D1D2F5A09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A25621-E69C-7047-B223-6A5A2131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B69D85-0C10-1845-AE56-8B0D63A07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A767B1-2376-B049-8DF2-CC14C29A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7061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27FB03-9003-2146-B1C6-2BD8646D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01DDB4-1777-894A-82AD-BE1FDF566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128D9-6876-0644-9A6E-007A168C1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332CB-1053-3D49-9258-6CA441FC716A}" type="datetimeFigureOut">
              <a:rPr kumimoji="1" lang="ko-Kore-KR" altLang="en-US" smtClean="0"/>
              <a:t>9/1/26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D65FBF-E066-E946-B245-B95475E61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7F1D6-B13C-6042-A2CF-E8B50DBA1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D3C49-DE90-5C41-814A-943D74072F9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86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A2144E0-CB18-2E47-B8BF-A1E69C3A5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73041" cy="57702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4DD1F9A-1A18-B447-B6C6-037F492AC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78453CBF-29E2-8548-92F2-CE8E50635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4367" y="4903470"/>
            <a:ext cx="8623266" cy="905542"/>
          </a:xfrm>
        </p:spPr>
        <p:txBody>
          <a:bodyPr>
            <a:normAutofit/>
          </a:bodyPr>
          <a:lstStyle/>
          <a:p>
            <a:r>
              <a:rPr lang="ko-KR" altLang="en-US" sz="5000" b="1" dirty="0">
                <a:latin typeface="+mj-ea"/>
              </a:rPr>
              <a:t>교수 </a:t>
            </a:r>
            <a:r>
              <a:rPr lang="en-US" altLang="ko-KR" sz="5000" b="1" dirty="0">
                <a:latin typeface="+mj-ea"/>
              </a:rPr>
              <a:t>:</a:t>
            </a:r>
            <a:r>
              <a:rPr lang="ko-KR" altLang="en-US" sz="5000" b="1" dirty="0">
                <a:latin typeface="+mj-ea"/>
              </a:rPr>
              <a:t> </a:t>
            </a:r>
            <a:r>
              <a:rPr lang="ko-KR" altLang="en-US" sz="5000" b="1" dirty="0" err="1">
                <a:latin typeface="+mj-ea"/>
              </a:rPr>
              <a:t>박필준</a:t>
            </a:r>
            <a:endParaRPr lang="ko-Kore-KR" altLang="en-US" sz="5000" b="1" dirty="0">
              <a:latin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6517E8-3667-2F4A-B889-02AE8F2B89E8}"/>
              </a:ext>
            </a:extLst>
          </p:cNvPr>
          <p:cNvSpPr txBox="1"/>
          <p:nvPr/>
        </p:nvSpPr>
        <p:spPr>
          <a:xfrm>
            <a:off x="110325" y="119743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제목 4">
            <a:extLst>
              <a:ext uri="{FF2B5EF4-FFF2-40B4-BE49-F238E27FC236}">
                <a16:creationId xmlns:a16="http://schemas.microsoft.com/office/drawing/2014/main" id="{5EA59B3B-AE14-30FB-8F27-BF14C354136E}"/>
              </a:ext>
            </a:extLst>
          </p:cNvPr>
          <p:cNvSpPr txBox="1">
            <a:spLocks/>
          </p:cNvSpPr>
          <p:nvPr/>
        </p:nvSpPr>
        <p:spPr>
          <a:xfrm>
            <a:off x="765810" y="1284252"/>
            <a:ext cx="10618470" cy="22402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7500" b="1" dirty="0">
                <a:latin typeface="+mj-ea"/>
              </a:rPr>
              <a:t>모바일</a:t>
            </a:r>
            <a:r>
              <a:rPr lang="en-US" altLang="ko-KR" sz="7500" b="1" dirty="0">
                <a:latin typeface="+mj-ea"/>
              </a:rPr>
              <a:t>&amp;</a:t>
            </a:r>
            <a:r>
              <a:rPr lang="ko-KR" altLang="en-US" sz="7500" b="1" dirty="0">
                <a:latin typeface="+mj-ea"/>
              </a:rPr>
              <a:t>스마트시스템</a:t>
            </a:r>
            <a:endParaRPr lang="ko-Kore-KR" altLang="en-US" sz="51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9990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97C4B213-B00C-DA4F-AA68-DDA6B8F00F79}"/>
              </a:ext>
            </a:extLst>
          </p:cNvPr>
          <p:cNvSpPr/>
          <p:nvPr/>
        </p:nvSpPr>
        <p:spPr>
          <a:xfrm>
            <a:off x="889930" y="1713612"/>
            <a:ext cx="7091140" cy="858489"/>
          </a:xfrm>
          <a:prstGeom prst="roundRect">
            <a:avLst/>
          </a:prstGeom>
          <a:solidFill>
            <a:srgbClr val="D3BE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A2144E0-CB18-2E47-B8BF-A1E69C3A5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4DD1F9A-1A18-B447-B6C6-037F492AC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78453CBF-29E2-8548-92F2-CE8E50635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323" y="661367"/>
            <a:ext cx="4604394" cy="983133"/>
          </a:xfrm>
        </p:spPr>
        <p:txBody>
          <a:bodyPr>
            <a:normAutofit/>
          </a:bodyPr>
          <a:lstStyle/>
          <a:p>
            <a:r>
              <a:rPr lang="en-US" altLang="ko-Kore-KR" b="1" dirty="0">
                <a:solidFill>
                  <a:srgbClr val="00B0F0"/>
                </a:solidFill>
                <a:latin typeface="+mj-ea"/>
              </a:rPr>
              <a:t>Contents</a:t>
            </a:r>
            <a:endParaRPr lang="ko-Kore-KR" altLang="en-US" b="1" dirty="0">
              <a:solidFill>
                <a:srgbClr val="00B0F0"/>
              </a:solidFill>
              <a:latin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1BAA20-1323-7A4A-BCC9-2B0E9CFA1E47}"/>
              </a:ext>
            </a:extLst>
          </p:cNvPr>
          <p:cNvSpPr txBox="1"/>
          <p:nvPr/>
        </p:nvSpPr>
        <p:spPr>
          <a:xfrm>
            <a:off x="1100633" y="1920051"/>
            <a:ext cx="6498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강의 개요</a:t>
            </a:r>
            <a:endParaRPr kumimoji="1" lang="ko-Kore-KR" altLang="en-US" sz="2400" b="1" dirty="0">
              <a:latin typeface="+mj-ea"/>
              <a:ea typeface="+mj-ea"/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4C719637-B88B-1A45-A86C-72F4A3AD9CCD}"/>
              </a:ext>
            </a:extLst>
          </p:cNvPr>
          <p:cNvSpPr/>
          <p:nvPr/>
        </p:nvSpPr>
        <p:spPr>
          <a:xfrm>
            <a:off x="889930" y="2684283"/>
            <a:ext cx="7091140" cy="858489"/>
          </a:xfrm>
          <a:prstGeom prst="roundRect">
            <a:avLst/>
          </a:prstGeom>
          <a:solidFill>
            <a:srgbClr val="9ED6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7FF86B-18F0-234F-B760-E7D26832C4F7}"/>
              </a:ext>
            </a:extLst>
          </p:cNvPr>
          <p:cNvSpPr txBox="1"/>
          <p:nvPr/>
        </p:nvSpPr>
        <p:spPr>
          <a:xfrm>
            <a:off x="1100634" y="2890722"/>
            <a:ext cx="649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라즈베리파이</a:t>
            </a:r>
            <a:r>
              <a:rPr kumimoji="1" lang="ko-KR" altLang="en-US" sz="2400" b="1" dirty="0">
                <a:latin typeface="+mj-ea"/>
                <a:ea typeface="+mj-ea"/>
              </a:rPr>
              <a:t> 키트</a:t>
            </a:r>
            <a:endParaRPr kumimoji="1" lang="ko-Kore-KR" altLang="en-US" sz="2400" b="1" dirty="0">
              <a:latin typeface="+mj-ea"/>
              <a:ea typeface="+mj-ea"/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11F70F96-F586-F741-BCA2-6DFF714BB6A3}"/>
              </a:ext>
            </a:extLst>
          </p:cNvPr>
          <p:cNvSpPr/>
          <p:nvPr/>
        </p:nvSpPr>
        <p:spPr>
          <a:xfrm>
            <a:off x="889930" y="3640886"/>
            <a:ext cx="7091140" cy="858489"/>
          </a:xfrm>
          <a:prstGeom prst="roundRect">
            <a:avLst/>
          </a:prstGeom>
          <a:solidFill>
            <a:srgbClr val="E9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44A681-AE13-9E43-AD41-27592A55CEB6}"/>
              </a:ext>
            </a:extLst>
          </p:cNvPr>
          <p:cNvSpPr txBox="1"/>
          <p:nvPr/>
        </p:nvSpPr>
        <p:spPr>
          <a:xfrm>
            <a:off x="1100634" y="3847325"/>
            <a:ext cx="649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성적 평가</a:t>
            </a:r>
            <a:endParaRPr kumimoji="1" lang="ko-Kore-KR" altLang="en-US" sz="2400" b="1" dirty="0">
              <a:latin typeface="+mj-ea"/>
              <a:ea typeface="+mj-ea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155BB571-A97D-8D48-8ED9-19997DDE16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8782" y="2890722"/>
            <a:ext cx="3813218" cy="41475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289892A-92AB-2E4D-812A-1375C97DA0BD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모서리가 둥근 직사각형 42">
            <a:extLst>
              <a:ext uri="{FF2B5EF4-FFF2-40B4-BE49-F238E27FC236}">
                <a16:creationId xmlns:a16="http://schemas.microsoft.com/office/drawing/2014/main" id="{50073FD6-FF67-C27F-D5D0-434DEF5B87BF}"/>
              </a:ext>
            </a:extLst>
          </p:cNvPr>
          <p:cNvSpPr/>
          <p:nvPr/>
        </p:nvSpPr>
        <p:spPr>
          <a:xfrm>
            <a:off x="889930" y="4611557"/>
            <a:ext cx="7091140" cy="858489"/>
          </a:xfrm>
          <a:prstGeom prst="roundRect">
            <a:avLst/>
          </a:prstGeom>
          <a:solidFill>
            <a:srgbClr val="89C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F3CEB-74A4-C8CC-89A2-BBC5967E16D9}"/>
              </a:ext>
            </a:extLst>
          </p:cNvPr>
          <p:cNvSpPr txBox="1"/>
          <p:nvPr/>
        </p:nvSpPr>
        <p:spPr>
          <a:xfrm>
            <a:off x="1100634" y="4817996"/>
            <a:ext cx="649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교재</a:t>
            </a:r>
            <a:endParaRPr kumimoji="1" lang="ko-Kore-KR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75138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 descr="방이(가) 표시된 사진&#10;&#10;자동 생성된 설명">
            <a:extLst>
              <a:ext uri="{FF2B5EF4-FFF2-40B4-BE49-F238E27FC236}">
                <a16:creationId xmlns:a16="http://schemas.microsoft.com/office/drawing/2014/main" id="{F6214330-0D8C-0E4E-B56E-E192D0B9A6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 flipH="1">
            <a:off x="6700911" y="778262"/>
            <a:ext cx="6470431" cy="7037702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D84E60C1-7FCB-3A4F-8757-A7F07DFE7E5E}"/>
              </a:ext>
            </a:extLst>
          </p:cNvPr>
          <p:cNvSpPr/>
          <p:nvPr/>
        </p:nvSpPr>
        <p:spPr>
          <a:xfrm>
            <a:off x="0" y="778262"/>
            <a:ext cx="7202531" cy="1853363"/>
          </a:xfrm>
          <a:prstGeom prst="rect">
            <a:avLst/>
          </a:prstGeom>
          <a:solidFill>
            <a:srgbClr val="D3BEDE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B281054-C997-9949-9929-69FF27007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A7FDD720-F0CE-664A-8F81-4AACFE90C0D6}"/>
              </a:ext>
            </a:extLst>
          </p:cNvPr>
          <p:cNvSpPr/>
          <p:nvPr/>
        </p:nvSpPr>
        <p:spPr>
          <a:xfrm>
            <a:off x="0" y="778262"/>
            <a:ext cx="6700911" cy="1842868"/>
          </a:xfrm>
          <a:prstGeom prst="rect">
            <a:avLst/>
          </a:prstGeom>
          <a:solidFill>
            <a:srgbClr val="D3B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v</a:t>
            </a:r>
            <a:endParaRPr kumimoji="1" lang="ko-Kore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F8A6FA-72A9-7247-AEE3-FA00B9280452}"/>
              </a:ext>
            </a:extLst>
          </p:cNvPr>
          <p:cNvSpPr txBox="1"/>
          <p:nvPr/>
        </p:nvSpPr>
        <p:spPr>
          <a:xfrm>
            <a:off x="230480" y="1375761"/>
            <a:ext cx="5073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/>
              <a:t>강의 개요</a:t>
            </a:r>
            <a:endParaRPr kumimoji="1" lang="en-US" altLang="ko-KR" sz="28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1F374C-4A06-364E-A230-93F4D7DE5892}"/>
              </a:ext>
            </a:extLst>
          </p:cNvPr>
          <p:cNvSpPr/>
          <p:nvPr/>
        </p:nvSpPr>
        <p:spPr>
          <a:xfrm rot="5400000">
            <a:off x="453132" y="950474"/>
            <a:ext cx="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F2EE0F-1FA2-674B-8C28-053914F98A5A}"/>
              </a:ext>
            </a:extLst>
          </p:cNvPr>
          <p:cNvSpPr txBox="1"/>
          <p:nvPr/>
        </p:nvSpPr>
        <p:spPr>
          <a:xfrm>
            <a:off x="309108" y="3002555"/>
            <a:ext cx="56133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kumimoji="1" lang="ko-KR" altLang="en-US" dirty="0"/>
              <a:t>교과목 개요</a:t>
            </a: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en-US" altLang="ko-Kore-KR" dirty="0"/>
          </a:p>
          <a:p>
            <a:pPr marL="514350" indent="-514350">
              <a:buAutoNum type="arabicPeriod"/>
            </a:pPr>
            <a:r>
              <a:rPr kumimoji="1" lang="ko-KR" altLang="en-US" dirty="0"/>
              <a:t>학습 목표</a:t>
            </a: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en-US" altLang="ko-Kore-KR" dirty="0"/>
          </a:p>
          <a:p>
            <a:pPr marL="514350" indent="-514350">
              <a:buFontTx/>
              <a:buAutoNum type="arabicPeriod"/>
            </a:pPr>
            <a:r>
              <a:rPr kumimoji="1" lang="ko-KR" altLang="en-US" dirty="0" err="1"/>
              <a:t>주차별</a:t>
            </a:r>
            <a:r>
              <a:rPr kumimoji="1" lang="ko-KR" altLang="en-US" dirty="0"/>
              <a:t> 계획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7709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2B281054-C997-9949-9929-69FF27007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96EFCE6-3026-814C-83E6-A3D4C1F21B46}"/>
              </a:ext>
            </a:extLst>
          </p:cNvPr>
          <p:cNvSpPr txBox="1"/>
          <p:nvPr/>
        </p:nvSpPr>
        <p:spPr>
          <a:xfrm>
            <a:off x="484301" y="851300"/>
            <a:ext cx="6070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latin typeface="+mj-ea"/>
                <a:ea typeface="+mj-ea"/>
              </a:rPr>
              <a:t>교과목 개요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E5E4FE-2996-9A4A-99D1-15E308086D72}"/>
              </a:ext>
            </a:extLst>
          </p:cNvPr>
          <p:cNvSpPr/>
          <p:nvPr/>
        </p:nvSpPr>
        <p:spPr>
          <a:xfrm>
            <a:off x="265486" y="835331"/>
            <a:ext cx="144000" cy="432048"/>
          </a:xfrm>
          <a:prstGeom prst="rect">
            <a:avLst/>
          </a:prstGeom>
          <a:solidFill>
            <a:srgbClr val="D3B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16AECA-EEDD-714C-98C3-3318F711B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46D08B-83A8-674B-AE14-CB5236CB5D18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44FDC79-E00E-1B4A-B0BE-19F53E94BE68}"/>
              </a:ext>
            </a:extLst>
          </p:cNvPr>
          <p:cNvCxnSpPr/>
          <p:nvPr/>
        </p:nvCxnSpPr>
        <p:spPr>
          <a:xfrm>
            <a:off x="0" y="6379029"/>
            <a:ext cx="5562600" cy="0"/>
          </a:xfrm>
          <a:prstGeom prst="line">
            <a:avLst/>
          </a:prstGeom>
          <a:ln w="19050">
            <a:solidFill>
              <a:srgbClr val="01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6260054-784E-8BE8-5EAC-F014E9A14DF5}"/>
              </a:ext>
            </a:extLst>
          </p:cNvPr>
          <p:cNvSpPr txBox="1"/>
          <p:nvPr/>
        </p:nvSpPr>
        <p:spPr>
          <a:xfrm>
            <a:off x="733976" y="1331241"/>
            <a:ext cx="103754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세상에는 </a:t>
            </a:r>
            <a:r>
              <a:rPr kumimoji="1" lang="en-US" altLang="ko-KR" sz="2000" dirty="0">
                <a:latin typeface="+mj-ea"/>
                <a:ea typeface="+mj-ea"/>
              </a:rPr>
              <a:t>PC</a:t>
            </a:r>
            <a:r>
              <a:rPr kumimoji="1" lang="ko-KR" altLang="en-US" sz="2000" dirty="0">
                <a:latin typeface="+mj-ea"/>
                <a:ea typeface="+mj-ea"/>
              </a:rPr>
              <a:t>보다 더 많은 임베디드 환경이 존재한다</a:t>
            </a:r>
            <a:r>
              <a:rPr kumimoji="1" lang="en-US" altLang="ko-KR" sz="2000" dirty="0">
                <a:latin typeface="+mj-ea"/>
                <a:ea typeface="+mj-ea"/>
              </a:rPr>
              <a:t>. </a:t>
            </a:r>
            <a:r>
              <a:rPr kumimoji="1" lang="ko-KR" altLang="en-US" sz="2000" dirty="0">
                <a:latin typeface="+mj-ea"/>
                <a:ea typeface="+mj-ea"/>
              </a:rPr>
              <a:t>본 과목에서는 마이크로 컴퓨터인 </a:t>
            </a:r>
            <a:r>
              <a:rPr kumimoji="1"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라즈베리파이를</a:t>
            </a:r>
            <a:r>
              <a:rPr kumimoji="1"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활용</a:t>
            </a:r>
            <a:r>
              <a:rPr kumimoji="1" lang="ko-KR" altLang="en-US" sz="2000" dirty="0">
                <a:latin typeface="+mj-ea"/>
                <a:ea typeface="+mj-ea"/>
              </a:rPr>
              <a:t>하여 임베디드 시스템 등 네트워크 기반의 모바일 시스템을 만들고 활용하는 방법을 학습한다</a:t>
            </a:r>
            <a:r>
              <a:rPr kumimoji="1" lang="en-US" altLang="ko-KR" sz="2000" dirty="0">
                <a:latin typeface="+mj-ea"/>
                <a:ea typeface="+mj-ea"/>
              </a:rPr>
              <a:t>.</a:t>
            </a:r>
          </a:p>
          <a:p>
            <a:pPr algn="just"/>
            <a:endParaRPr kumimoji="1" lang="en-US" altLang="ko-KR" sz="2000" dirty="0">
              <a:latin typeface="+mj-ea"/>
              <a:ea typeface="+mj-ea"/>
            </a:endParaRPr>
          </a:p>
          <a:p>
            <a:pPr algn="just"/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먼저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라즈베리파이에</a:t>
            </a:r>
            <a:r>
              <a:rPr kumimoji="1" lang="ko-KR" altLang="en-US" sz="2000" dirty="0">
                <a:latin typeface="+mj-ea"/>
                <a:ea typeface="+mj-ea"/>
              </a:rPr>
              <a:t> 리눅스를 설치하여 네트워크로만 접속하여 사용할 수 있는 </a:t>
            </a:r>
            <a:r>
              <a:rPr kumimoji="1"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헤드리스 환경을 구축</a:t>
            </a:r>
            <a:r>
              <a:rPr kumimoji="1" lang="ko-KR" altLang="en-US" sz="2000" dirty="0">
                <a:latin typeface="+mj-ea"/>
                <a:ea typeface="+mj-ea"/>
              </a:rPr>
              <a:t>한다</a:t>
            </a:r>
            <a:r>
              <a:rPr kumimoji="1" lang="en-US" altLang="ko-KR" sz="2000" dirty="0">
                <a:latin typeface="+mj-ea"/>
                <a:ea typeface="+mj-ea"/>
              </a:rPr>
              <a:t>. </a:t>
            </a:r>
            <a:r>
              <a:rPr kumimoji="1" lang="ko-KR" altLang="en-US" sz="2000" dirty="0">
                <a:latin typeface="+mj-ea"/>
                <a:ea typeface="+mj-ea"/>
              </a:rPr>
              <a:t>그리고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라즈베리파이를</a:t>
            </a:r>
            <a:r>
              <a:rPr kumimoji="1" lang="ko-KR" altLang="en-US" sz="2000" dirty="0">
                <a:latin typeface="+mj-ea"/>
                <a:ea typeface="+mj-ea"/>
              </a:rPr>
              <a:t> 활용에 필요한 </a:t>
            </a:r>
            <a:r>
              <a:rPr kumimoji="1"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리눅스 명령</a:t>
            </a:r>
            <a:r>
              <a:rPr kumimoji="1" lang="ko-KR" altLang="en-US" sz="2000" dirty="0">
                <a:latin typeface="+mj-ea"/>
                <a:ea typeface="+mj-ea"/>
              </a:rPr>
              <a:t>들을 학습하고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라즈베리파이에</a:t>
            </a:r>
            <a:r>
              <a:rPr kumimoji="1" lang="ko-KR" altLang="en-US" sz="2000" dirty="0">
                <a:latin typeface="+mj-ea"/>
                <a:ea typeface="+mj-ea"/>
              </a:rPr>
              <a:t> 연결된 센서의 제어를 위해 </a:t>
            </a:r>
            <a:r>
              <a:rPr kumimoji="1"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파이썬 프로그래밍</a:t>
            </a:r>
            <a:r>
              <a:rPr kumimoji="1" lang="ko-KR" altLang="en-US" sz="2000" dirty="0">
                <a:latin typeface="+mj-ea"/>
                <a:ea typeface="+mj-ea"/>
              </a:rPr>
              <a:t>을 학습한다</a:t>
            </a:r>
            <a:r>
              <a:rPr kumimoji="1" lang="en-US" altLang="ko-KR" sz="2000" dirty="0">
                <a:latin typeface="+mj-ea"/>
                <a:ea typeface="+mj-ea"/>
              </a:rPr>
              <a:t>.</a:t>
            </a:r>
          </a:p>
          <a:p>
            <a:pPr algn="just"/>
            <a:endParaRPr kumimoji="1" lang="en-US" altLang="ko-KR" sz="2000" dirty="0">
              <a:latin typeface="+mj-ea"/>
              <a:ea typeface="+mj-ea"/>
            </a:endParaRPr>
          </a:p>
          <a:p>
            <a:pPr algn="just"/>
            <a:r>
              <a:rPr kumimoji="1" lang="en-US" altLang="ko-KR" sz="2000" dirty="0">
                <a:latin typeface="+mj-ea"/>
                <a:ea typeface="+mj-ea"/>
              </a:rPr>
              <a:t>-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라즈베리파이를</a:t>
            </a:r>
            <a:r>
              <a:rPr kumimoji="1" lang="ko-KR" altLang="en-US" sz="2000" dirty="0">
                <a:latin typeface="+mj-ea"/>
                <a:ea typeface="+mj-ea"/>
              </a:rPr>
              <a:t> 원격에서 활용하기 위해 </a:t>
            </a:r>
            <a:r>
              <a:rPr kumimoji="1" lang="ko-KR" altLang="en-US" sz="2000" dirty="0" err="1">
                <a:latin typeface="+mj-ea"/>
                <a:ea typeface="+mj-ea"/>
              </a:rPr>
              <a:t>웹와</a:t>
            </a:r>
            <a:r>
              <a:rPr kumimoji="1" lang="ko-KR" altLang="en-US" sz="2000" dirty="0">
                <a:latin typeface="+mj-ea"/>
                <a:ea typeface="+mj-ea"/>
              </a:rPr>
              <a:t> 메시징 기법을 학습한다</a:t>
            </a:r>
            <a:r>
              <a:rPr kumimoji="1" lang="en-US" altLang="ko-KR" sz="2000" dirty="0">
                <a:latin typeface="+mj-ea"/>
                <a:ea typeface="+mj-ea"/>
              </a:rPr>
              <a:t>. </a:t>
            </a:r>
            <a:r>
              <a:rPr kumimoji="1" lang="ko-KR" altLang="en-US" sz="2000" dirty="0">
                <a:latin typeface="+mj-ea"/>
                <a:ea typeface="+mj-ea"/>
              </a:rPr>
              <a:t>웹은 </a:t>
            </a:r>
            <a:r>
              <a:rPr kumimoji="1"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플라스크</a:t>
            </a:r>
            <a:r>
              <a:rPr kumimoji="1" lang="ko-KR" altLang="en-US" sz="2000" dirty="0">
                <a:latin typeface="+mj-ea"/>
                <a:ea typeface="+mj-ea"/>
              </a:rPr>
              <a:t>로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>
                <a:latin typeface="+mj-ea"/>
                <a:ea typeface="+mj-ea"/>
              </a:rPr>
              <a:t>메시징은 </a:t>
            </a:r>
            <a:r>
              <a:rPr kumimoji="1"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MQTT</a:t>
            </a:r>
            <a:r>
              <a:rPr kumimoji="1" lang="ko-KR" altLang="en-US" sz="2000" dirty="0">
                <a:latin typeface="+mj-ea"/>
                <a:ea typeface="+mj-ea"/>
              </a:rPr>
              <a:t>로 다룬다</a:t>
            </a:r>
            <a:r>
              <a:rPr kumimoji="1" lang="en-US" altLang="ko-KR" sz="2000" dirty="0">
                <a:latin typeface="+mj-ea"/>
                <a:ea typeface="+mj-ea"/>
              </a:rPr>
              <a:t>. </a:t>
            </a:r>
            <a:r>
              <a:rPr kumimoji="1" lang="ko-KR" altLang="en-US" sz="2000" dirty="0">
                <a:latin typeface="+mj-ea"/>
                <a:ea typeface="+mj-ea"/>
              </a:rPr>
              <a:t>그 후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라즈베리파이를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IoT </a:t>
            </a:r>
            <a:r>
              <a:rPr kumimoji="1" lang="ko-KR" altLang="en-US" sz="2000" dirty="0">
                <a:latin typeface="+mj-ea"/>
                <a:ea typeface="+mj-ea"/>
              </a:rPr>
              <a:t>장치로 다루기 위해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>
                <a:latin typeface="+mj-ea"/>
                <a:ea typeface="+mj-ea"/>
              </a:rPr>
              <a:t>카메라</a:t>
            </a:r>
            <a:r>
              <a:rPr kumimoji="1" lang="en-US" altLang="ko-KR" sz="2000" dirty="0">
                <a:latin typeface="+mj-ea"/>
                <a:ea typeface="+mj-ea"/>
              </a:rPr>
              <a:t>, LED. </a:t>
            </a:r>
            <a:r>
              <a:rPr kumimoji="1" lang="ko-KR" altLang="en-US" sz="2000" dirty="0">
                <a:latin typeface="+mj-ea"/>
                <a:ea typeface="+mj-ea"/>
              </a:rPr>
              <a:t>초음파 센서 등을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라즈베리파이에</a:t>
            </a:r>
            <a:r>
              <a:rPr kumimoji="1" lang="ko-KR" altLang="en-US" sz="2000" dirty="0">
                <a:latin typeface="+mj-ea"/>
                <a:ea typeface="+mj-ea"/>
              </a:rPr>
              <a:t> 연결하는 </a:t>
            </a:r>
            <a:r>
              <a:rPr kumimoji="1"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회로 구성</a:t>
            </a:r>
            <a:r>
              <a:rPr kumimoji="1" lang="ko-KR" altLang="en-US" sz="2000" dirty="0">
                <a:latin typeface="+mj-ea"/>
                <a:ea typeface="+mj-ea"/>
              </a:rPr>
              <a:t>을 배우고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 err="1">
                <a:latin typeface="+mj-ea"/>
                <a:ea typeface="+mj-ea"/>
              </a:rPr>
              <a:t>파이썬으로</a:t>
            </a:r>
            <a:r>
              <a:rPr kumimoji="1" lang="ko-KR" altLang="en-US" sz="2000" dirty="0">
                <a:latin typeface="+mj-ea"/>
                <a:ea typeface="+mj-ea"/>
              </a:rPr>
              <a:t> 이들을 다루는 실습을 진행한다</a:t>
            </a:r>
            <a:r>
              <a:rPr kumimoji="1" lang="en-US" altLang="ko-KR" sz="2000" dirty="0">
                <a:latin typeface="+mj-ea"/>
                <a:ea typeface="+mj-ea"/>
              </a:rPr>
              <a:t>.</a:t>
            </a:r>
          </a:p>
          <a:p>
            <a:pPr algn="just"/>
            <a:endParaRPr kumimoji="1" lang="en-US" altLang="ko-KR" sz="2000" dirty="0">
              <a:latin typeface="+mj-ea"/>
              <a:ea typeface="+mj-ea"/>
            </a:endParaRPr>
          </a:p>
          <a:p>
            <a:pPr algn="just"/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>
                <a:latin typeface="+mj-ea"/>
                <a:ea typeface="+mj-ea"/>
              </a:rPr>
              <a:t>카메라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 err="1">
                <a:latin typeface="+mj-ea"/>
                <a:ea typeface="+mj-ea"/>
              </a:rPr>
              <a:t>센서등</a:t>
            </a:r>
            <a:r>
              <a:rPr kumimoji="1" lang="ko-KR" altLang="en-US" sz="2000" dirty="0">
                <a:latin typeface="+mj-ea"/>
                <a:ea typeface="+mj-ea"/>
              </a:rPr>
              <a:t> 부품을 학생 </a:t>
            </a:r>
            <a:r>
              <a:rPr kumimoji="1" lang="en-US" altLang="ko-KR" sz="2000" dirty="0">
                <a:latin typeface="+mj-ea"/>
                <a:ea typeface="+mj-ea"/>
              </a:rPr>
              <a:t>1</a:t>
            </a:r>
            <a:r>
              <a:rPr kumimoji="1" lang="ko-KR" altLang="en-US" sz="2000" dirty="0">
                <a:latin typeface="+mj-ea"/>
                <a:ea typeface="+mj-ea"/>
              </a:rPr>
              <a:t>인당 </a:t>
            </a:r>
            <a:r>
              <a:rPr kumimoji="1" lang="ko-KR" altLang="en-US" sz="2000" dirty="0" err="1">
                <a:latin typeface="+mj-ea"/>
                <a:ea typeface="+mj-ea"/>
              </a:rPr>
              <a:t>한대씩</a:t>
            </a:r>
            <a:r>
              <a:rPr kumimoji="1" lang="ko-KR" altLang="en-US" sz="2000" dirty="0">
                <a:latin typeface="+mj-ea"/>
                <a:ea typeface="+mj-ea"/>
              </a:rPr>
              <a:t> 배포한다</a:t>
            </a:r>
            <a:r>
              <a:rPr kumimoji="1" lang="en-US" altLang="ko-KR" sz="2000" dirty="0">
                <a:latin typeface="+mj-ea"/>
                <a:ea typeface="+mj-ea"/>
              </a:rPr>
              <a:t>. </a:t>
            </a:r>
            <a:r>
              <a:rPr kumimoji="1" lang="ko-KR" altLang="en-US" sz="2000" dirty="0">
                <a:latin typeface="+mj-ea"/>
                <a:ea typeface="+mj-ea"/>
              </a:rPr>
              <a:t>개인 별로 주어지는 </a:t>
            </a:r>
            <a:r>
              <a:rPr kumimoji="1"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프로젝트를 통해 스스로 임베디드 혹은 </a:t>
            </a:r>
            <a:r>
              <a:rPr kumimoji="1"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IoT </a:t>
            </a:r>
            <a:r>
              <a:rPr kumimoji="1"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시스템을 개발</a:t>
            </a:r>
            <a:r>
              <a:rPr kumimoji="1" lang="ko-KR" altLang="en-US" sz="2000" dirty="0">
                <a:latin typeface="+mj-ea"/>
                <a:ea typeface="+mj-ea"/>
              </a:rPr>
              <a:t>하는 능력을 학습한다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338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9D7EA-1F6E-5798-F342-B3A77D7C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2673D4E2-E5B8-EAB3-1E11-312CC7A2E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8B0B363-EC79-CCEE-68B2-9553AF0ABA1E}"/>
              </a:ext>
            </a:extLst>
          </p:cNvPr>
          <p:cNvSpPr txBox="1"/>
          <p:nvPr/>
        </p:nvSpPr>
        <p:spPr>
          <a:xfrm>
            <a:off x="484301" y="851300"/>
            <a:ext cx="6070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latin typeface="+mj-ea"/>
                <a:ea typeface="+mj-ea"/>
              </a:rPr>
              <a:t>학습 목표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99592F8-5069-3A8A-0F9A-AE33512054A5}"/>
              </a:ext>
            </a:extLst>
          </p:cNvPr>
          <p:cNvSpPr/>
          <p:nvPr/>
        </p:nvSpPr>
        <p:spPr>
          <a:xfrm>
            <a:off x="265486" y="835331"/>
            <a:ext cx="144000" cy="432048"/>
          </a:xfrm>
          <a:prstGeom prst="rect">
            <a:avLst/>
          </a:prstGeom>
          <a:solidFill>
            <a:srgbClr val="D3B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6DF4D1A-1EE7-13EE-A8D1-0BA2D331C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E250E0-EB7E-5418-30BD-0F713813415F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D6759820-3340-CB4E-9E07-3E6629C1E5ED}"/>
              </a:ext>
            </a:extLst>
          </p:cNvPr>
          <p:cNvCxnSpPr/>
          <p:nvPr/>
        </p:nvCxnSpPr>
        <p:spPr>
          <a:xfrm>
            <a:off x="0" y="6379029"/>
            <a:ext cx="5562600" cy="0"/>
          </a:xfrm>
          <a:prstGeom prst="line">
            <a:avLst/>
          </a:prstGeom>
          <a:ln w="19050">
            <a:solidFill>
              <a:srgbClr val="01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A1ED0BF-35EA-3632-A785-65789AED156E}"/>
              </a:ext>
            </a:extLst>
          </p:cNvPr>
          <p:cNvSpPr txBox="1"/>
          <p:nvPr/>
        </p:nvSpPr>
        <p:spPr>
          <a:xfrm>
            <a:off x="733976" y="1510210"/>
            <a:ext cx="103754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latin typeface="+mj-ea"/>
                <a:ea typeface="+mj-ea"/>
              </a:rPr>
              <a:t>-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라즈베리파이에서</a:t>
            </a:r>
            <a:r>
              <a:rPr kumimoji="1" lang="ko-KR" altLang="en-US" sz="2000" dirty="0">
                <a:latin typeface="+mj-ea"/>
                <a:ea typeface="+mj-ea"/>
              </a:rPr>
              <a:t> 리눅스를 활용할 수 있다</a:t>
            </a:r>
            <a:r>
              <a:rPr kumimoji="1" lang="en-US" altLang="ko-KR" sz="2000" dirty="0">
                <a:latin typeface="+mj-ea"/>
                <a:ea typeface="+mj-ea"/>
              </a:rPr>
              <a:t>. </a:t>
            </a: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 </a:t>
            </a:r>
            <a:r>
              <a:rPr kumimoji="1" lang="ko-KR" altLang="en-US" sz="2000" dirty="0">
                <a:latin typeface="+mj-ea"/>
                <a:ea typeface="+mj-ea"/>
              </a:rPr>
              <a:t>헤드리스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라즈베리파이를</a:t>
            </a:r>
            <a:r>
              <a:rPr kumimoji="1" lang="ko-KR" altLang="en-US" sz="2000" dirty="0">
                <a:latin typeface="+mj-ea"/>
                <a:ea typeface="+mj-ea"/>
              </a:rPr>
              <a:t> 만들고 원격에서 제어할 수 있다</a:t>
            </a:r>
            <a:r>
              <a:rPr kumimoji="1" lang="en-US" altLang="ko-KR" sz="2000" dirty="0">
                <a:latin typeface="+mj-ea"/>
                <a:ea typeface="+mj-ea"/>
              </a:rPr>
              <a:t>.</a:t>
            </a: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 </a:t>
            </a:r>
            <a:r>
              <a:rPr kumimoji="1" lang="ko-KR" altLang="en-US" sz="2000" dirty="0">
                <a:latin typeface="+mj-ea"/>
                <a:ea typeface="+mj-ea"/>
              </a:rPr>
              <a:t>리눅스 상에서 간단한 수준의 파이썬 프로그래밍을 할 수 있다</a:t>
            </a:r>
            <a:r>
              <a:rPr kumimoji="1" lang="en-US" altLang="ko-KR" sz="2000" dirty="0">
                <a:latin typeface="+mj-ea"/>
                <a:ea typeface="+mj-ea"/>
              </a:rPr>
              <a:t>. </a:t>
            </a: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라즈베리파이를</a:t>
            </a:r>
            <a:r>
              <a:rPr kumimoji="1" lang="ko-KR" altLang="en-US" sz="2000" dirty="0">
                <a:latin typeface="+mj-ea"/>
                <a:ea typeface="+mj-ea"/>
              </a:rPr>
              <a:t> 사용하여 간단한 </a:t>
            </a:r>
            <a:r>
              <a:rPr kumimoji="1" lang="en-US" altLang="ko-KR" sz="2000" dirty="0">
                <a:latin typeface="+mj-ea"/>
                <a:ea typeface="+mj-ea"/>
              </a:rPr>
              <a:t>IoT </a:t>
            </a:r>
            <a:r>
              <a:rPr kumimoji="1" lang="ko-KR" altLang="en-US" sz="2000" dirty="0">
                <a:latin typeface="+mj-ea"/>
                <a:ea typeface="+mj-ea"/>
              </a:rPr>
              <a:t>서비스를 설계 및 구현할 수 있다</a:t>
            </a:r>
            <a:r>
              <a:rPr kumimoji="1" lang="en-US" altLang="ko-KR" sz="2000" dirty="0">
                <a:latin typeface="+mj-ea"/>
                <a:ea typeface="+mj-ea"/>
              </a:rPr>
              <a:t>. </a:t>
            </a: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라즈베리파이에서</a:t>
            </a:r>
            <a:r>
              <a:rPr kumimoji="1" lang="ko-KR" altLang="en-US" sz="2000" dirty="0">
                <a:latin typeface="+mj-ea"/>
                <a:ea typeface="+mj-ea"/>
              </a:rPr>
              <a:t> 웹 서버를 구현하여 외부에서 장치들을 제어할 수 있다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6413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A76E-1107-C908-FB0D-55692484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BAC46DC2-F128-E8B4-1E7E-38053EC57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40798E5-0E02-C5B8-8682-582D2710F21E}"/>
              </a:ext>
            </a:extLst>
          </p:cNvPr>
          <p:cNvSpPr txBox="1"/>
          <p:nvPr/>
        </p:nvSpPr>
        <p:spPr>
          <a:xfrm>
            <a:off x="484301" y="851300"/>
            <a:ext cx="6070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 err="1">
                <a:latin typeface="+mj-ea"/>
                <a:ea typeface="+mj-ea"/>
              </a:rPr>
              <a:t>주차별</a:t>
            </a:r>
            <a:r>
              <a:rPr kumimoji="1" lang="ko-KR" altLang="en-US" sz="2000" dirty="0">
                <a:latin typeface="+mj-ea"/>
                <a:ea typeface="+mj-ea"/>
              </a:rPr>
              <a:t> 계획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2AF018F-0C13-73A7-53A8-24EE9F20D0AE}"/>
              </a:ext>
            </a:extLst>
          </p:cNvPr>
          <p:cNvSpPr/>
          <p:nvPr/>
        </p:nvSpPr>
        <p:spPr>
          <a:xfrm>
            <a:off x="265486" y="835331"/>
            <a:ext cx="144000" cy="432048"/>
          </a:xfrm>
          <a:prstGeom prst="rect">
            <a:avLst/>
          </a:prstGeom>
          <a:solidFill>
            <a:srgbClr val="D3B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FE5D4B7-A616-7FC2-0985-869E56E08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906D1C-4659-E6EC-B82A-AA5B0E3C7500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25650539-74F9-8B8B-0CBC-2502FC16C45E}"/>
              </a:ext>
            </a:extLst>
          </p:cNvPr>
          <p:cNvCxnSpPr/>
          <p:nvPr/>
        </p:nvCxnSpPr>
        <p:spPr>
          <a:xfrm>
            <a:off x="0" y="6379029"/>
            <a:ext cx="5562600" cy="0"/>
          </a:xfrm>
          <a:prstGeom prst="line">
            <a:avLst/>
          </a:prstGeom>
          <a:ln w="19050">
            <a:solidFill>
              <a:srgbClr val="01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AAE660-30AF-BD94-5C66-BE1F344E2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49682"/>
              </p:ext>
            </p:extLst>
          </p:nvPr>
        </p:nvGraphicFramePr>
        <p:xfrm>
          <a:off x="1693545" y="1425423"/>
          <a:ext cx="8804910" cy="4875423"/>
        </p:xfrm>
        <a:graphic>
          <a:graphicData uri="http://schemas.openxmlformats.org/drawingml/2006/table">
            <a:tbl>
              <a:tblPr/>
              <a:tblGrid>
                <a:gridCol w="1160067">
                  <a:extLst>
                    <a:ext uri="{9D8B030D-6E8A-4147-A177-3AD203B41FA5}">
                      <a16:colId xmlns:a16="http://schemas.microsoft.com/office/drawing/2014/main" val="2119664033"/>
                    </a:ext>
                  </a:extLst>
                </a:gridCol>
                <a:gridCol w="1160067">
                  <a:extLst>
                    <a:ext uri="{9D8B030D-6E8A-4147-A177-3AD203B41FA5}">
                      <a16:colId xmlns:a16="http://schemas.microsoft.com/office/drawing/2014/main" val="1475660007"/>
                    </a:ext>
                  </a:extLst>
                </a:gridCol>
                <a:gridCol w="6484776">
                  <a:extLst>
                    <a:ext uri="{9D8B030D-6E8A-4147-A177-3AD203B41FA5}">
                      <a16:colId xmlns:a16="http://schemas.microsoft.com/office/drawing/2014/main" val="79877626"/>
                    </a:ext>
                  </a:extLst>
                </a:gridCol>
              </a:tblGrid>
              <a:tr h="41545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dirty="0" err="1">
                          <a:effectLst/>
                        </a:rPr>
                        <a:t>주차별</a:t>
                      </a:r>
                      <a:r>
                        <a:rPr lang="ko-KR" altLang="en-US" sz="1100" b="1" dirty="0">
                          <a:effectLst/>
                        </a:rPr>
                        <a:t> 수업계획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dirty="0">
                          <a:effectLst/>
                        </a:rPr>
                        <a:t>날짜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dirty="0">
                          <a:effectLst/>
                        </a:rPr>
                        <a:t>강의주제 및 내용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183263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>
                          <a:effectLst/>
                        </a:rPr>
                        <a:t>1</a:t>
                      </a:r>
                      <a:r>
                        <a:rPr lang="ko-KR" altLang="en-US" sz="110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9/</a:t>
                      </a: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>
                          <a:effectLst/>
                        </a:rPr>
                        <a:t>오리엔테이션 및 </a:t>
                      </a:r>
                      <a:r>
                        <a:rPr lang="ko-KR" altLang="en-US" sz="1100" dirty="0" err="1">
                          <a:effectLst/>
                        </a:rPr>
                        <a:t>라즈베리파이</a:t>
                      </a:r>
                      <a:r>
                        <a:rPr lang="ko-KR" altLang="en-US" sz="1100" dirty="0">
                          <a:effectLst/>
                        </a:rPr>
                        <a:t> 소개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 err="1">
                          <a:effectLst/>
                        </a:rPr>
                        <a:t>라즈베리파이</a:t>
                      </a:r>
                      <a:r>
                        <a:rPr lang="ko-KR" altLang="en-US" sz="1100" dirty="0">
                          <a:effectLst/>
                        </a:rPr>
                        <a:t> 배포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67552"/>
                  </a:ext>
                </a:extLst>
              </a:tr>
              <a:tr h="8125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dirty="0">
                          <a:effectLst/>
                        </a:rPr>
                        <a:t>2</a:t>
                      </a:r>
                      <a:r>
                        <a:rPr lang="ko-KR" altLang="en-US" sz="1100" dirty="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9/</a:t>
                      </a:r>
                      <a:r>
                        <a:rPr lang="en-US" sz="1100" dirty="0">
                          <a:effectLst/>
                        </a:rPr>
                        <a:t>9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>
                          <a:effectLst/>
                        </a:rPr>
                        <a:t>무선 통신 가능한 </a:t>
                      </a:r>
                      <a:r>
                        <a:rPr lang="ko-KR" altLang="en-US" sz="1100" dirty="0" err="1">
                          <a:effectLst/>
                        </a:rPr>
                        <a:t>라즈베리파이</a:t>
                      </a:r>
                      <a:r>
                        <a:rPr lang="ko-KR" altLang="en-US" sz="1100" dirty="0">
                          <a:effectLst/>
                        </a:rPr>
                        <a:t> 만들기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 err="1">
                          <a:effectLst/>
                        </a:rPr>
                        <a:t>라즈베리파이에</a:t>
                      </a:r>
                      <a:r>
                        <a:rPr lang="ko-KR" altLang="en-US" sz="1100" dirty="0">
                          <a:effectLst/>
                        </a:rPr>
                        <a:t> 리눅스 설치 </a:t>
                      </a: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원격 접속 가능하도록 </a:t>
                      </a:r>
                      <a:r>
                        <a:rPr lang="ko-KR" altLang="en-US" sz="1100" dirty="0" err="1">
                          <a:effectLst/>
                        </a:rPr>
                        <a:t>라즈베리파이를</a:t>
                      </a:r>
                      <a:r>
                        <a:rPr lang="ko-KR" altLang="en-US" sz="1100" dirty="0">
                          <a:effectLst/>
                        </a:rPr>
                        <a:t> 와이파이 연결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en-US" sz="1100" dirty="0">
                          <a:effectLst/>
                        </a:rPr>
                        <a:t>PC</a:t>
                      </a:r>
                      <a:r>
                        <a:rPr lang="ko-KR" altLang="en-US" sz="1100" dirty="0">
                          <a:effectLst/>
                        </a:rPr>
                        <a:t>에서 </a:t>
                      </a:r>
                      <a:r>
                        <a:rPr lang="en-US" sz="1100" dirty="0">
                          <a:effectLst/>
                        </a:rPr>
                        <a:t>putty</a:t>
                      </a:r>
                      <a:r>
                        <a:rPr lang="ko-KR" altLang="en-US" sz="1100" dirty="0" err="1">
                          <a:effectLst/>
                        </a:rPr>
                        <a:t>를</a:t>
                      </a:r>
                      <a:r>
                        <a:rPr lang="ko-KR" altLang="en-US" sz="1100" dirty="0">
                          <a:effectLst/>
                        </a:rPr>
                        <a:t> 이용하여 </a:t>
                      </a:r>
                      <a:r>
                        <a:rPr lang="ko-KR" altLang="en-US" sz="1100" dirty="0" err="1">
                          <a:effectLst/>
                        </a:rPr>
                        <a:t>라즈베리파이에</a:t>
                      </a:r>
                      <a:r>
                        <a:rPr lang="ko-KR" altLang="en-US" sz="1100" dirty="0">
                          <a:effectLst/>
                        </a:rPr>
                        <a:t> 원격 접속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930075"/>
                  </a:ext>
                </a:extLst>
              </a:tr>
              <a:tr h="5478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dirty="0">
                          <a:effectLst/>
                        </a:rPr>
                        <a:t>3</a:t>
                      </a:r>
                      <a:r>
                        <a:rPr lang="ko-KR" altLang="en-US" sz="1100" dirty="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9/16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>
                          <a:effectLst/>
                        </a:rPr>
                        <a:t>리눅스 활용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 err="1">
                          <a:effectLst/>
                        </a:rPr>
                        <a:t>라즈베리파이에</a:t>
                      </a:r>
                      <a:r>
                        <a:rPr lang="ko-KR" altLang="en-US" sz="1100" dirty="0">
                          <a:effectLst/>
                        </a:rPr>
                        <a:t> 원격 접속한 상태로 리눅스를 활용하는 명령 연습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47811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>
                          <a:effectLst/>
                        </a:rPr>
                        <a:t>4</a:t>
                      </a:r>
                      <a:r>
                        <a:rPr lang="ko-KR" altLang="en-US" sz="110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9/23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>
                          <a:effectLst/>
                        </a:rPr>
                        <a:t>파이썬 프로그래밍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131351"/>
                  </a:ext>
                </a:extLst>
              </a:tr>
              <a:tr h="6801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>
                          <a:effectLst/>
                        </a:rPr>
                        <a:t>5</a:t>
                      </a:r>
                      <a:r>
                        <a:rPr lang="ko-KR" altLang="en-US" sz="110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dirty="0">
                          <a:effectLst/>
                        </a:rPr>
                        <a:t>9</a:t>
                      </a:r>
                      <a:r>
                        <a:rPr lang="en-KR" sz="1100" dirty="0">
                          <a:effectLst/>
                        </a:rPr>
                        <a:t>/</a:t>
                      </a:r>
                      <a:r>
                        <a:rPr lang="en-US" sz="1100" dirty="0">
                          <a:effectLst/>
                        </a:rPr>
                        <a:t>30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 err="1">
                          <a:effectLst/>
                        </a:rPr>
                        <a:t>라즈베리파이에</a:t>
                      </a:r>
                      <a:r>
                        <a:rPr lang="ko-KR" altLang="en-US" sz="1100" dirty="0">
                          <a:effectLst/>
                        </a:rPr>
                        <a:t> 카메라 활용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배포한 </a:t>
                      </a:r>
                      <a:r>
                        <a:rPr lang="en-US" sz="1100" dirty="0">
                          <a:effectLst/>
                        </a:rPr>
                        <a:t>USB </a:t>
                      </a:r>
                      <a:r>
                        <a:rPr lang="ko-KR" altLang="en-US" sz="1100" dirty="0">
                          <a:effectLst/>
                        </a:rPr>
                        <a:t>카메라를 </a:t>
                      </a:r>
                      <a:r>
                        <a:rPr lang="ko-KR" altLang="en-US" sz="1100" dirty="0" err="1">
                          <a:effectLst/>
                        </a:rPr>
                        <a:t>라즈베리파이에</a:t>
                      </a:r>
                      <a:r>
                        <a:rPr lang="ko-KR" altLang="en-US" sz="1100" dirty="0">
                          <a:effectLst/>
                        </a:rPr>
                        <a:t> 연결 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사진 촬영 및 얼굴 인식 등 다양한 활용 연습 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234836"/>
                  </a:ext>
                </a:extLst>
              </a:tr>
              <a:tr h="8125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dirty="0">
                          <a:effectLst/>
                        </a:rPr>
                        <a:t>6</a:t>
                      </a:r>
                      <a:r>
                        <a:rPr lang="ko-KR" altLang="en-US" sz="1100" dirty="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10/</a:t>
                      </a:r>
                      <a:r>
                        <a:rPr lang="en-US" sz="1100" dirty="0">
                          <a:effectLst/>
                        </a:rPr>
                        <a:t>7</a:t>
                      </a:r>
                      <a:endParaRPr lang="en-US" altLang="ko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 err="1">
                          <a:effectLst/>
                        </a:rPr>
                        <a:t>라즈베리파이로</a:t>
                      </a:r>
                      <a:r>
                        <a:rPr lang="ko-KR" altLang="en-US" sz="1100" dirty="0">
                          <a:effectLst/>
                        </a:rPr>
                        <a:t> 웹 서버 만들기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플라스크 웹 서버 다루기 학습 </a:t>
                      </a: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플라스크 설치 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간단한 웹 서버 구축 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en-US" sz="1100" dirty="0">
                          <a:effectLst/>
                        </a:rPr>
                        <a:t>PC</a:t>
                      </a:r>
                      <a:r>
                        <a:rPr lang="ko-KR" altLang="en-US" sz="1100" dirty="0">
                          <a:effectLst/>
                        </a:rPr>
                        <a:t>에서 웹 브라우저로 </a:t>
                      </a:r>
                      <a:r>
                        <a:rPr lang="ko-KR" altLang="en-US" sz="1100" dirty="0" err="1">
                          <a:effectLst/>
                        </a:rPr>
                        <a:t>라즈베리파이에</a:t>
                      </a:r>
                      <a:r>
                        <a:rPr lang="ko-KR" altLang="en-US" sz="1100" dirty="0">
                          <a:effectLst/>
                        </a:rPr>
                        <a:t> 접속 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728966"/>
                  </a:ext>
                </a:extLst>
              </a:tr>
              <a:tr h="94488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dirty="0">
                          <a:effectLst/>
                        </a:rPr>
                        <a:t>7</a:t>
                      </a:r>
                      <a:r>
                        <a:rPr lang="ko-KR" altLang="en-US" sz="1100" dirty="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10/1</a:t>
                      </a:r>
                      <a:r>
                        <a:rPr lang="en-US" sz="1100" dirty="0">
                          <a:effectLst/>
                        </a:rPr>
                        <a:t>4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en-US" sz="1100" dirty="0">
                          <a:effectLst/>
                        </a:rPr>
                        <a:t>MQTT</a:t>
                      </a:r>
                      <a:r>
                        <a:rPr lang="ko-KR" altLang="en-US" sz="1100" dirty="0" err="1">
                          <a:effectLst/>
                        </a:rPr>
                        <a:t>를</a:t>
                      </a:r>
                      <a:r>
                        <a:rPr lang="ko-KR" altLang="en-US" sz="1100" dirty="0">
                          <a:effectLst/>
                        </a:rPr>
                        <a:t> </a:t>
                      </a:r>
                      <a:r>
                        <a:rPr lang="ko-KR" altLang="en-US" sz="1100" dirty="0" err="1">
                          <a:effectLst/>
                        </a:rPr>
                        <a:t>이용항</a:t>
                      </a:r>
                      <a:r>
                        <a:rPr lang="ko-KR" altLang="en-US" sz="1100" dirty="0">
                          <a:effectLst/>
                        </a:rPr>
                        <a:t> 메시지 통신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en-US" sz="1100" dirty="0">
                          <a:effectLst/>
                        </a:rPr>
                        <a:t>MQTT </a:t>
                      </a:r>
                      <a:r>
                        <a:rPr lang="ko-KR" altLang="en-US" sz="1100" dirty="0">
                          <a:effectLst/>
                        </a:rPr>
                        <a:t>브로커인 </a:t>
                      </a:r>
                      <a:r>
                        <a:rPr lang="en-US" sz="1100" dirty="0" err="1">
                          <a:effectLst/>
                        </a:rPr>
                        <a:t>mosquitto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ko-KR" altLang="en-US" sz="1100" dirty="0">
                          <a:effectLst/>
                        </a:rPr>
                        <a:t>설치 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 err="1">
                          <a:effectLst/>
                        </a:rPr>
                        <a:t>파이썬으로</a:t>
                      </a:r>
                      <a:r>
                        <a:rPr lang="ko-KR" altLang="en-US" sz="1100" dirty="0">
                          <a:effectLst/>
                        </a:rPr>
                        <a:t> 메시지 전송 프로그램 작성 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en-US" sz="1100" dirty="0">
                          <a:effectLst/>
                        </a:rPr>
                        <a:t>PC</a:t>
                      </a:r>
                      <a:r>
                        <a:rPr lang="ko-KR" altLang="en-US" sz="1100" dirty="0">
                          <a:effectLst/>
                        </a:rPr>
                        <a:t>와 </a:t>
                      </a:r>
                      <a:r>
                        <a:rPr lang="ko-KR" altLang="en-US" sz="1100" dirty="0" err="1">
                          <a:effectLst/>
                        </a:rPr>
                        <a:t>라즈베리파이</a:t>
                      </a:r>
                      <a:r>
                        <a:rPr lang="ko-KR" altLang="en-US" sz="1100" dirty="0">
                          <a:effectLst/>
                        </a:rPr>
                        <a:t> 사이에 메시징 통신 프로그램 작성 및 실습 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0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108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6F37-8147-E8B4-C92E-973FF2A5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5BEC6EB8-6B60-69B5-6E4C-A678B7809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5D3389F-7D2F-663E-B8E1-2B3D23D2B332}"/>
              </a:ext>
            </a:extLst>
          </p:cNvPr>
          <p:cNvSpPr txBox="1"/>
          <p:nvPr/>
        </p:nvSpPr>
        <p:spPr>
          <a:xfrm>
            <a:off x="484301" y="851300"/>
            <a:ext cx="6070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 err="1">
                <a:latin typeface="+mj-ea"/>
                <a:ea typeface="+mj-ea"/>
              </a:rPr>
              <a:t>주차별</a:t>
            </a:r>
            <a:r>
              <a:rPr kumimoji="1" lang="ko-KR" altLang="en-US" sz="2000" dirty="0">
                <a:latin typeface="+mj-ea"/>
                <a:ea typeface="+mj-ea"/>
              </a:rPr>
              <a:t> 계획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592D18-F38B-C7CE-5DBA-8D8F02C505DE}"/>
              </a:ext>
            </a:extLst>
          </p:cNvPr>
          <p:cNvSpPr/>
          <p:nvPr/>
        </p:nvSpPr>
        <p:spPr>
          <a:xfrm>
            <a:off x="265486" y="835331"/>
            <a:ext cx="144000" cy="432048"/>
          </a:xfrm>
          <a:prstGeom prst="rect">
            <a:avLst/>
          </a:prstGeom>
          <a:solidFill>
            <a:srgbClr val="D3B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E9F093-D2E8-916A-D90C-46A9292D5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8FAA01-BCC7-EFD9-2491-3EE696E8D685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417DB29-3D70-ADC8-9C5C-7A2951233A2F}"/>
              </a:ext>
            </a:extLst>
          </p:cNvPr>
          <p:cNvCxnSpPr/>
          <p:nvPr/>
        </p:nvCxnSpPr>
        <p:spPr>
          <a:xfrm>
            <a:off x="0" y="6379029"/>
            <a:ext cx="5562600" cy="0"/>
          </a:xfrm>
          <a:prstGeom prst="line">
            <a:avLst/>
          </a:prstGeom>
          <a:ln w="19050">
            <a:solidFill>
              <a:srgbClr val="01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451FE2-C71B-2250-88D5-98F200D81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979740"/>
              </p:ext>
            </p:extLst>
          </p:nvPr>
        </p:nvGraphicFramePr>
        <p:xfrm>
          <a:off x="1401127" y="1366957"/>
          <a:ext cx="9389745" cy="4912494"/>
        </p:xfrm>
        <a:graphic>
          <a:graphicData uri="http://schemas.openxmlformats.org/drawingml/2006/table">
            <a:tbl>
              <a:tblPr/>
              <a:tblGrid>
                <a:gridCol w="1237120">
                  <a:extLst>
                    <a:ext uri="{9D8B030D-6E8A-4147-A177-3AD203B41FA5}">
                      <a16:colId xmlns:a16="http://schemas.microsoft.com/office/drawing/2014/main" val="2119664033"/>
                    </a:ext>
                  </a:extLst>
                </a:gridCol>
                <a:gridCol w="1237120">
                  <a:extLst>
                    <a:ext uri="{9D8B030D-6E8A-4147-A177-3AD203B41FA5}">
                      <a16:colId xmlns:a16="http://schemas.microsoft.com/office/drawing/2014/main" val="1475660007"/>
                    </a:ext>
                  </a:extLst>
                </a:gridCol>
                <a:gridCol w="6915505">
                  <a:extLst>
                    <a:ext uri="{9D8B030D-6E8A-4147-A177-3AD203B41FA5}">
                      <a16:colId xmlns:a16="http://schemas.microsoft.com/office/drawing/2014/main" val="79877626"/>
                    </a:ext>
                  </a:extLst>
                </a:gridCol>
              </a:tblGrid>
              <a:tr h="35313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dirty="0" err="1">
                          <a:effectLst/>
                        </a:rPr>
                        <a:t>주차별</a:t>
                      </a:r>
                      <a:r>
                        <a:rPr lang="ko-KR" altLang="en-US" sz="1100" b="1" dirty="0">
                          <a:effectLst/>
                        </a:rPr>
                        <a:t> 수업계획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dirty="0">
                          <a:effectLst/>
                        </a:rPr>
                        <a:t>날짜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dirty="0">
                          <a:effectLst/>
                        </a:rPr>
                        <a:t>강의주제 및 내용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183263"/>
                  </a:ext>
                </a:extLst>
              </a:tr>
              <a:tr h="2869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dirty="0">
                          <a:effectLst/>
                        </a:rPr>
                        <a:t>8</a:t>
                      </a:r>
                      <a:r>
                        <a:rPr lang="ko-KR" altLang="en-US" sz="1100" dirty="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10/2</a:t>
                      </a: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>
                          <a:effectLst/>
                        </a:rPr>
                        <a:t>중간 고사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67032"/>
                  </a:ext>
                </a:extLst>
              </a:tr>
              <a:tr h="121327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>
                          <a:effectLst/>
                        </a:rPr>
                        <a:t>9</a:t>
                      </a:r>
                      <a:r>
                        <a:rPr lang="ko-KR" altLang="en-US" sz="110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10/2</a:t>
                      </a:r>
                      <a:r>
                        <a:rPr lang="en-US" sz="1100" dirty="0">
                          <a:effectLst/>
                        </a:rPr>
                        <a:t>8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 err="1">
                          <a:effectLst/>
                        </a:rPr>
                        <a:t>라즈베리파이에</a:t>
                      </a:r>
                      <a:r>
                        <a:rPr lang="ko-KR" altLang="en-US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LED, </a:t>
                      </a:r>
                      <a:r>
                        <a:rPr lang="ko-KR" altLang="en-US" sz="1100" dirty="0">
                          <a:effectLst/>
                        </a:rPr>
                        <a:t>스위치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초음파 센서 연결하고 다루기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 err="1">
                          <a:effectLst/>
                        </a:rPr>
                        <a:t>라즈베리파이의</a:t>
                      </a:r>
                      <a:r>
                        <a:rPr lang="ko-KR" altLang="en-US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GPIO </a:t>
                      </a:r>
                      <a:r>
                        <a:rPr lang="ko-KR" altLang="en-US" sz="1100" dirty="0">
                          <a:effectLst/>
                        </a:rPr>
                        <a:t>핀 활용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배포한 </a:t>
                      </a:r>
                      <a:r>
                        <a:rPr lang="ko-KR" altLang="en-US" sz="1100" dirty="0" err="1">
                          <a:effectLst/>
                        </a:rPr>
                        <a:t>브레드보드에</a:t>
                      </a:r>
                      <a:r>
                        <a:rPr lang="ko-KR" altLang="en-US" sz="11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LED, </a:t>
                      </a:r>
                      <a:r>
                        <a:rPr lang="ko-KR" altLang="en-US" sz="1100" dirty="0">
                          <a:effectLst/>
                        </a:rPr>
                        <a:t>스위치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초음파 센서를 설치하는 회로 구성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파이썬 프로그램을 작성하여 이들 제어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기말 프로젝트 소개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320302"/>
                  </a:ext>
                </a:extLst>
              </a:tr>
              <a:tr h="6970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>
                          <a:effectLst/>
                        </a:rPr>
                        <a:t>10</a:t>
                      </a:r>
                      <a:r>
                        <a:rPr lang="ko-KR" altLang="en-US" sz="110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11/</a:t>
                      </a:r>
                      <a:r>
                        <a:rPr lang="en-US" sz="1100" dirty="0">
                          <a:effectLst/>
                        </a:rPr>
                        <a:t>4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>
                          <a:effectLst/>
                        </a:rPr>
                        <a:t>직렬통신으로 </a:t>
                      </a:r>
                      <a:r>
                        <a:rPr lang="ko-KR" altLang="en-US" sz="1100" dirty="0" err="1">
                          <a:effectLst/>
                        </a:rPr>
                        <a:t>온습도</a:t>
                      </a:r>
                      <a:r>
                        <a:rPr lang="ko-KR" altLang="en-US" sz="1100" dirty="0">
                          <a:effectLst/>
                        </a:rPr>
                        <a:t> 센서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조도 센서 다루기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 err="1">
                          <a:effectLst/>
                        </a:rPr>
                        <a:t>브레드보드에</a:t>
                      </a:r>
                      <a:r>
                        <a:rPr lang="ko-KR" altLang="en-US" sz="1100" dirty="0">
                          <a:effectLst/>
                        </a:rPr>
                        <a:t> </a:t>
                      </a:r>
                      <a:r>
                        <a:rPr lang="ko-KR" altLang="en-US" sz="1100" dirty="0" err="1">
                          <a:effectLst/>
                        </a:rPr>
                        <a:t>온습도</a:t>
                      </a:r>
                      <a:r>
                        <a:rPr lang="ko-KR" altLang="en-US" sz="1100" dirty="0">
                          <a:effectLst/>
                        </a:rPr>
                        <a:t> 센서와 조도 센서의 회로 구성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파이썬 프로그램을 작성하여 이들 제어 </a:t>
                      </a: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814845"/>
                  </a:ext>
                </a:extLst>
              </a:tr>
              <a:tr h="5250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>
                          <a:effectLst/>
                        </a:rPr>
                        <a:t>11</a:t>
                      </a:r>
                      <a:r>
                        <a:rPr lang="ko-KR" altLang="en-US" sz="110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11/1</a:t>
                      </a: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>
                          <a:effectLst/>
                        </a:rPr>
                        <a:t>플라스크와 </a:t>
                      </a:r>
                      <a:r>
                        <a:rPr lang="en-US" sz="1100" dirty="0">
                          <a:effectLst/>
                        </a:rPr>
                        <a:t>MQTT</a:t>
                      </a:r>
                      <a:r>
                        <a:rPr lang="ko-KR" altLang="en-US" sz="1100" dirty="0" err="1">
                          <a:effectLst/>
                        </a:rPr>
                        <a:t>를</a:t>
                      </a:r>
                      <a:r>
                        <a:rPr lang="ko-KR" altLang="en-US" sz="1100" dirty="0">
                          <a:effectLst/>
                        </a:rPr>
                        <a:t> 활용한 </a:t>
                      </a:r>
                      <a:r>
                        <a:rPr lang="en-US" sz="1100" dirty="0">
                          <a:effectLst/>
                        </a:rPr>
                        <a:t>IoT </a:t>
                      </a:r>
                      <a:r>
                        <a:rPr lang="ko-KR" altLang="en-US" sz="1100" dirty="0">
                          <a:effectLst/>
                        </a:rPr>
                        <a:t>응용 시스템 만들기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몇 가지 응용 시스템을 실제 구축하는 실습 </a:t>
                      </a: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032140"/>
                  </a:ext>
                </a:extLst>
              </a:tr>
              <a:tr h="8689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>
                          <a:effectLst/>
                        </a:rPr>
                        <a:t>12</a:t>
                      </a:r>
                      <a:r>
                        <a:rPr lang="ko-KR" altLang="en-US" sz="110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11/1</a:t>
                      </a:r>
                      <a:r>
                        <a:rPr lang="en-US" sz="1100" dirty="0">
                          <a:effectLst/>
                        </a:rPr>
                        <a:t>8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 err="1">
                          <a:effectLst/>
                        </a:rPr>
                        <a:t>라즈베리파이를</a:t>
                      </a:r>
                      <a:r>
                        <a:rPr lang="ko-KR" altLang="en-US" sz="1100" dirty="0">
                          <a:effectLst/>
                        </a:rPr>
                        <a:t> 실시간 모니터링하는 차트 만들기</a:t>
                      </a:r>
                      <a:br>
                        <a:rPr lang="en-US" altLang="ko-KR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en-US" sz="1100" dirty="0" err="1">
                          <a:effectLst/>
                        </a:rPr>
                        <a:t>JSChart</a:t>
                      </a:r>
                      <a:r>
                        <a:rPr lang="ko-KR" altLang="en-US" sz="1100" dirty="0" err="1">
                          <a:effectLst/>
                        </a:rPr>
                        <a:t>를</a:t>
                      </a:r>
                      <a:r>
                        <a:rPr lang="ko-KR" altLang="en-US" sz="1100" dirty="0">
                          <a:effectLst/>
                        </a:rPr>
                        <a:t> 활용하여 </a:t>
                      </a:r>
                      <a:r>
                        <a:rPr lang="ko-KR" altLang="en-US" sz="1100" dirty="0" err="1">
                          <a:effectLst/>
                        </a:rPr>
                        <a:t>웹브라우저에</a:t>
                      </a:r>
                      <a:r>
                        <a:rPr lang="ko-KR" altLang="en-US" sz="1100" dirty="0">
                          <a:effectLst/>
                        </a:rPr>
                        <a:t> 차트 그리기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en-US" sz="1100" dirty="0">
                          <a:effectLst/>
                        </a:rPr>
                        <a:t>PC</a:t>
                      </a:r>
                      <a:r>
                        <a:rPr lang="ko-KR" altLang="en-US" sz="1100" dirty="0">
                          <a:effectLst/>
                        </a:rPr>
                        <a:t>에서 </a:t>
                      </a:r>
                      <a:r>
                        <a:rPr lang="ko-KR" altLang="en-US" sz="1100" dirty="0" err="1">
                          <a:effectLst/>
                        </a:rPr>
                        <a:t>라즈베리파이의</a:t>
                      </a:r>
                      <a:r>
                        <a:rPr lang="ko-KR" altLang="en-US" sz="1100" dirty="0">
                          <a:effectLst/>
                        </a:rPr>
                        <a:t> 상태를 </a:t>
                      </a:r>
                      <a:r>
                        <a:rPr lang="ko-KR" altLang="en-US" sz="1100" dirty="0" err="1">
                          <a:effectLst/>
                        </a:rPr>
                        <a:t>모니러링하는</a:t>
                      </a:r>
                      <a:r>
                        <a:rPr lang="ko-KR" altLang="en-US" sz="1100" dirty="0">
                          <a:effectLst/>
                        </a:rPr>
                        <a:t> 웹 서비스 구축</a:t>
                      </a:r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실습 위주 수업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633336"/>
                  </a:ext>
                </a:extLst>
              </a:tr>
              <a:tr h="2617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dirty="0">
                          <a:effectLst/>
                        </a:rPr>
                        <a:t>13</a:t>
                      </a:r>
                      <a:r>
                        <a:rPr lang="ko-KR" altLang="en-US" sz="1100" dirty="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11/2</a:t>
                      </a:r>
                      <a:r>
                        <a:rPr lang="en-US" sz="1100" dirty="0">
                          <a:effectLst/>
                        </a:rPr>
                        <a:t>5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>
                          <a:effectLst/>
                        </a:rPr>
                        <a:t>- </a:t>
                      </a:r>
                      <a:r>
                        <a:rPr lang="ko-KR" altLang="en-US" sz="1100">
                          <a:effectLst/>
                        </a:rPr>
                        <a:t>일반수업활동 </a:t>
                      </a:r>
                      <a:r>
                        <a:rPr lang="en-US" altLang="ko-KR" sz="1100">
                          <a:effectLst/>
                        </a:rPr>
                        <a:t>: </a:t>
                      </a:r>
                      <a:r>
                        <a:rPr lang="ko-KR" altLang="en-US" sz="1100">
                          <a:effectLst/>
                        </a:rPr>
                        <a:t>프로젝트 제안서 발표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118695"/>
                  </a:ext>
                </a:extLst>
              </a:tr>
              <a:tr h="3531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dirty="0">
                          <a:effectLst/>
                        </a:rPr>
                        <a:t>14</a:t>
                      </a:r>
                      <a:r>
                        <a:rPr lang="ko-KR" altLang="en-US" sz="1100" dirty="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12/</a:t>
                      </a: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>
                          <a:effectLst/>
                        </a:rPr>
                        <a:t>프로젝트 데모 </a:t>
                      </a:r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프로젝트를 동영상으로 촬영하고 각 학생이 수업 시간에 발표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질의 응답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554735"/>
                  </a:ext>
                </a:extLst>
              </a:tr>
              <a:tr h="3531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dirty="0">
                          <a:effectLst/>
                        </a:rPr>
                        <a:t>15</a:t>
                      </a:r>
                      <a:r>
                        <a:rPr lang="ko-KR" altLang="en-US" sz="1100" dirty="0">
                          <a:effectLst/>
                        </a:rPr>
                        <a:t>주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1100" dirty="0">
                          <a:effectLst/>
                        </a:rPr>
                        <a:t>12/</a:t>
                      </a:r>
                      <a:r>
                        <a:rPr lang="en-US" sz="1100" dirty="0">
                          <a:effectLst/>
                        </a:rPr>
                        <a:t>9</a:t>
                      </a:r>
                      <a:endParaRPr lang="en-KR" sz="1100" dirty="0">
                        <a:effectLst/>
                      </a:endParaRP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100" dirty="0">
                          <a:effectLst/>
                        </a:rPr>
                        <a:t>- </a:t>
                      </a:r>
                      <a:r>
                        <a:rPr lang="ko-KR" altLang="en-US" sz="1100" dirty="0">
                          <a:effectLst/>
                        </a:rPr>
                        <a:t>일반수업활동 </a:t>
                      </a:r>
                      <a:r>
                        <a:rPr lang="en-US" altLang="ko-KR" sz="1100" dirty="0">
                          <a:effectLst/>
                        </a:rPr>
                        <a:t>: </a:t>
                      </a:r>
                      <a:r>
                        <a:rPr lang="ko-KR" altLang="en-US" sz="1100" dirty="0">
                          <a:effectLst/>
                        </a:rPr>
                        <a:t>수업 없음</a:t>
                      </a:r>
                      <a:r>
                        <a:rPr lang="en-US" altLang="ko-KR" sz="1100" dirty="0">
                          <a:effectLst/>
                        </a:rPr>
                        <a:t>(</a:t>
                      </a:r>
                      <a:r>
                        <a:rPr lang="ko-KR" altLang="en-US" sz="1100" dirty="0">
                          <a:effectLst/>
                        </a:rPr>
                        <a:t>각자 다른 과목 기말 시험</a:t>
                      </a:r>
                      <a:r>
                        <a:rPr lang="en-US" altLang="ko-KR" sz="1100" dirty="0">
                          <a:effectLst/>
                        </a:rPr>
                        <a:t>), 16</a:t>
                      </a:r>
                      <a:r>
                        <a:rPr lang="ko-KR" altLang="en-US" sz="1100" dirty="0">
                          <a:effectLst/>
                        </a:rPr>
                        <a:t>주차에 마무리 학습</a:t>
                      </a:r>
                    </a:p>
                  </a:txBody>
                  <a:tcPr marL="6743" marR="6743" marT="4495" marB="449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510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45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 descr="방이(가) 표시된 사진&#10;&#10;자동 생성된 설명">
            <a:extLst>
              <a:ext uri="{FF2B5EF4-FFF2-40B4-BE49-F238E27FC236}">
                <a16:creationId xmlns:a16="http://schemas.microsoft.com/office/drawing/2014/main" id="{F6214330-0D8C-0E4E-B56E-E192D0B9A6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 flipH="1">
            <a:off x="6700911" y="778262"/>
            <a:ext cx="6470431" cy="7037702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D84E60C1-7FCB-3A4F-8757-A7F07DFE7E5E}"/>
              </a:ext>
            </a:extLst>
          </p:cNvPr>
          <p:cNvSpPr/>
          <p:nvPr/>
        </p:nvSpPr>
        <p:spPr>
          <a:xfrm>
            <a:off x="0" y="778262"/>
            <a:ext cx="7202531" cy="1842869"/>
          </a:xfrm>
          <a:prstGeom prst="rect">
            <a:avLst/>
          </a:prstGeom>
          <a:solidFill>
            <a:srgbClr val="9ED6E8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B281054-C997-9949-9929-69FF27007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A7FDD720-F0CE-664A-8F81-4AACFE90C0D6}"/>
              </a:ext>
            </a:extLst>
          </p:cNvPr>
          <p:cNvSpPr/>
          <p:nvPr/>
        </p:nvSpPr>
        <p:spPr>
          <a:xfrm>
            <a:off x="0" y="778262"/>
            <a:ext cx="6700911" cy="1842868"/>
          </a:xfrm>
          <a:prstGeom prst="rect">
            <a:avLst/>
          </a:prstGeom>
          <a:solidFill>
            <a:srgbClr val="9ED6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v</a:t>
            </a:r>
            <a:endParaRPr kumimoji="1" lang="ko-Kore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F8A6FA-72A9-7247-AEE3-FA00B9280452}"/>
              </a:ext>
            </a:extLst>
          </p:cNvPr>
          <p:cNvSpPr txBox="1"/>
          <p:nvPr/>
        </p:nvSpPr>
        <p:spPr>
          <a:xfrm>
            <a:off x="230480" y="1375761"/>
            <a:ext cx="5073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 err="1"/>
              <a:t>라즈베리파이</a:t>
            </a:r>
            <a:r>
              <a:rPr kumimoji="1" lang="ko-KR" altLang="en-US" sz="2800" b="1" dirty="0"/>
              <a:t> 키트</a:t>
            </a:r>
            <a:endParaRPr kumimoji="1" lang="en-US" altLang="ko-KR" sz="28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1F374C-4A06-364E-A230-93F4D7DE5892}"/>
              </a:ext>
            </a:extLst>
          </p:cNvPr>
          <p:cNvSpPr/>
          <p:nvPr/>
        </p:nvSpPr>
        <p:spPr>
          <a:xfrm rot="5400000">
            <a:off x="453132" y="950474"/>
            <a:ext cx="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F2EE0F-1FA2-674B-8C28-053914F98A5A}"/>
              </a:ext>
            </a:extLst>
          </p:cNvPr>
          <p:cNvSpPr txBox="1"/>
          <p:nvPr/>
        </p:nvSpPr>
        <p:spPr>
          <a:xfrm>
            <a:off x="309108" y="3002555"/>
            <a:ext cx="561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kumimoji="1" lang="ko-KR" altLang="en-US" dirty="0" err="1"/>
              <a:t>라즈베리파이</a:t>
            </a:r>
            <a:r>
              <a:rPr kumimoji="1" lang="ko-KR" altLang="en-US" dirty="0"/>
              <a:t> 키트 지급 방법 및 주의사항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2694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2B281054-C997-9949-9929-69FF27007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96EFCE6-3026-814C-83E6-A3D4C1F21B46}"/>
              </a:ext>
            </a:extLst>
          </p:cNvPr>
          <p:cNvSpPr txBox="1"/>
          <p:nvPr/>
        </p:nvSpPr>
        <p:spPr>
          <a:xfrm>
            <a:off x="484301" y="851300"/>
            <a:ext cx="5699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 err="1">
                <a:latin typeface="+mj-ea"/>
                <a:ea typeface="+mj-ea"/>
              </a:rPr>
              <a:t>라즈베리파이</a:t>
            </a:r>
            <a:r>
              <a:rPr kumimoji="1" lang="ko-KR" altLang="en-US" sz="2000" dirty="0">
                <a:latin typeface="+mj-ea"/>
                <a:ea typeface="+mj-ea"/>
              </a:rPr>
              <a:t> 키트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E5E4FE-2996-9A4A-99D1-15E308086D72}"/>
              </a:ext>
            </a:extLst>
          </p:cNvPr>
          <p:cNvSpPr/>
          <p:nvPr/>
        </p:nvSpPr>
        <p:spPr>
          <a:xfrm>
            <a:off x="265486" y="835331"/>
            <a:ext cx="144000" cy="432048"/>
          </a:xfrm>
          <a:prstGeom prst="rect">
            <a:avLst/>
          </a:prstGeom>
          <a:solidFill>
            <a:srgbClr val="9ED6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16AECA-EEDD-714C-98C3-3318F711B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46D08B-83A8-674B-AE14-CB5236CB5D18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6BCCE-883D-900C-CD41-1A10C5048621}"/>
              </a:ext>
            </a:extLst>
          </p:cNvPr>
          <p:cNvSpPr txBox="1"/>
          <p:nvPr/>
        </p:nvSpPr>
        <p:spPr>
          <a:xfrm>
            <a:off x="733975" y="1331241"/>
            <a:ext cx="1125207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배포장소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공학관 </a:t>
            </a:r>
            <a:r>
              <a:rPr kumimoji="1" lang="en-US" altLang="ko-KR" sz="2000" dirty="0">
                <a:latin typeface="+mj-ea"/>
                <a:ea typeface="+mj-ea"/>
              </a:rPr>
              <a:t>B</a:t>
            </a:r>
            <a:r>
              <a:rPr kumimoji="1" lang="ko-KR" altLang="en-US" sz="2000" dirty="0">
                <a:latin typeface="+mj-ea"/>
                <a:ea typeface="+mj-ea"/>
              </a:rPr>
              <a:t>동 </a:t>
            </a:r>
            <a:r>
              <a:rPr kumimoji="1" lang="en-US" altLang="ko-KR" sz="2000" dirty="0">
                <a:latin typeface="+mj-ea"/>
                <a:ea typeface="+mj-ea"/>
              </a:rPr>
              <a:t>115</a:t>
            </a:r>
            <a:r>
              <a:rPr kumimoji="1" lang="ko-KR" altLang="en-US" sz="2000" dirty="0">
                <a:latin typeface="+mj-ea"/>
                <a:ea typeface="+mj-ea"/>
              </a:rPr>
              <a:t>호</a:t>
            </a:r>
            <a:endParaRPr kumimoji="1" lang="en-US" altLang="ko-KR" sz="2000" dirty="0">
              <a:latin typeface="+mj-ea"/>
              <a:ea typeface="+mj-ea"/>
            </a:endParaRP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배포시간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8/31(</a:t>
            </a:r>
            <a:r>
              <a:rPr kumimoji="1" lang="ko-KR" altLang="en-US" sz="2000" dirty="0">
                <a:latin typeface="+mj-ea"/>
                <a:ea typeface="+mj-ea"/>
              </a:rPr>
              <a:t>월</a:t>
            </a:r>
            <a:r>
              <a:rPr kumimoji="1" lang="en-US" altLang="ko-KR" sz="2000" dirty="0">
                <a:latin typeface="+mj-ea"/>
                <a:ea typeface="+mj-ea"/>
              </a:rPr>
              <a:t>)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~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9/4(</a:t>
            </a:r>
            <a:r>
              <a:rPr kumimoji="1" lang="ko-KR" altLang="en-US" sz="2000" dirty="0">
                <a:latin typeface="+mj-ea"/>
                <a:ea typeface="+mj-ea"/>
              </a:rPr>
              <a:t>금</a:t>
            </a:r>
            <a:r>
              <a:rPr kumimoji="1" lang="en-US" altLang="ko-KR" sz="2000" dirty="0">
                <a:latin typeface="+mj-ea"/>
                <a:ea typeface="+mj-ea"/>
              </a:rPr>
              <a:t>),</a:t>
            </a:r>
            <a:r>
              <a:rPr kumimoji="1" lang="ko-KR" altLang="en-US" sz="2000" dirty="0">
                <a:latin typeface="+mj-ea"/>
                <a:ea typeface="+mj-ea"/>
              </a:rPr>
              <a:t> 오전 </a:t>
            </a:r>
            <a:r>
              <a:rPr kumimoji="1" lang="en-US" altLang="ko-KR" sz="2000" dirty="0">
                <a:latin typeface="+mj-ea"/>
                <a:ea typeface="+mj-ea"/>
              </a:rPr>
              <a:t>9</a:t>
            </a:r>
            <a:r>
              <a:rPr kumimoji="1" lang="ko-KR" altLang="en-US" sz="2000" dirty="0">
                <a:latin typeface="+mj-ea"/>
                <a:ea typeface="+mj-ea"/>
              </a:rPr>
              <a:t>시</a:t>
            </a:r>
            <a:r>
              <a:rPr kumimoji="1" lang="en-US" altLang="ko-KR" sz="2000" dirty="0">
                <a:latin typeface="+mj-ea"/>
                <a:ea typeface="+mj-ea"/>
              </a:rPr>
              <a:t>~</a:t>
            </a:r>
            <a:r>
              <a:rPr kumimoji="1" lang="ko-KR" altLang="en-US" sz="2000" dirty="0">
                <a:latin typeface="+mj-ea"/>
                <a:ea typeface="+mj-ea"/>
              </a:rPr>
              <a:t>오후 </a:t>
            </a:r>
            <a:r>
              <a:rPr kumimoji="1" lang="en-US" altLang="ko-KR" sz="2000" dirty="0">
                <a:latin typeface="+mj-ea"/>
                <a:ea typeface="+mj-ea"/>
              </a:rPr>
              <a:t>7</a:t>
            </a:r>
            <a:r>
              <a:rPr kumimoji="1" lang="ko-KR" altLang="en-US" sz="2000" dirty="0">
                <a:latin typeface="+mj-ea"/>
                <a:ea typeface="+mj-ea"/>
              </a:rPr>
              <a:t>시</a:t>
            </a:r>
            <a:r>
              <a:rPr kumimoji="1" lang="en-US" altLang="ko-KR" sz="2000" dirty="0">
                <a:latin typeface="+mj-ea"/>
                <a:ea typeface="+mj-ea"/>
              </a:rPr>
              <a:t>(</a:t>
            </a:r>
            <a:r>
              <a:rPr kumimoji="1" lang="ko-KR" altLang="en-US" sz="2000" dirty="0">
                <a:latin typeface="+mj-ea"/>
                <a:ea typeface="+mj-ea"/>
              </a:rPr>
              <a:t>점심시간 </a:t>
            </a:r>
            <a:r>
              <a:rPr kumimoji="1" lang="en-US" altLang="ko-KR" sz="2000" dirty="0">
                <a:latin typeface="+mj-ea"/>
                <a:ea typeface="+mj-ea"/>
              </a:rPr>
              <a:t>12~13</a:t>
            </a:r>
            <a:r>
              <a:rPr kumimoji="1" lang="ko-KR" altLang="en-US" sz="2000" dirty="0">
                <a:latin typeface="+mj-ea"/>
                <a:ea typeface="+mj-ea"/>
              </a:rPr>
              <a:t>시 제외</a:t>
            </a:r>
            <a:r>
              <a:rPr kumimoji="1" lang="en-US" altLang="ko-KR" sz="2000" dirty="0">
                <a:latin typeface="+mj-ea"/>
                <a:ea typeface="+mj-ea"/>
              </a:rPr>
              <a:t>)</a:t>
            </a: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수령방법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박스에 들어 있는 부품을 누락된 것이 없는지 모두 확인하고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>
                <a:latin typeface="+mj-ea"/>
                <a:ea typeface="+mj-ea"/>
              </a:rPr>
              <a:t>서명</a:t>
            </a:r>
            <a:endParaRPr kumimoji="1" lang="en-US" altLang="ko-KR" sz="2000" dirty="0">
              <a:latin typeface="+mj-ea"/>
              <a:ea typeface="+mj-ea"/>
            </a:endParaRP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주의</a:t>
            </a:r>
            <a:r>
              <a:rPr kumimoji="1" lang="en-US" altLang="ko-KR" sz="2000" dirty="0">
                <a:latin typeface="+mj-ea"/>
                <a:ea typeface="+mj-ea"/>
              </a:rPr>
              <a:t>-1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라즈베리파이를</a:t>
            </a:r>
            <a:r>
              <a:rPr kumimoji="1" lang="ko-KR" altLang="en-US" sz="2000" dirty="0">
                <a:latin typeface="+mj-ea"/>
                <a:ea typeface="+mj-ea"/>
              </a:rPr>
              <a:t> 분실하거나 고장내는 경우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>
                <a:latin typeface="+mj-ea"/>
                <a:ea typeface="+mj-ea"/>
              </a:rPr>
              <a:t>학생이 스스로 구입하여야 함</a:t>
            </a:r>
            <a:endParaRPr kumimoji="1" lang="en-US" altLang="ko-KR" sz="2000" dirty="0">
              <a:latin typeface="+mj-ea"/>
              <a:ea typeface="+mj-ea"/>
            </a:endParaRP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주의</a:t>
            </a:r>
            <a:r>
              <a:rPr kumimoji="1" lang="en-US" altLang="ko-KR" sz="2000" dirty="0">
                <a:latin typeface="+mj-ea"/>
                <a:ea typeface="+mj-ea"/>
              </a:rPr>
              <a:t>-2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학기말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라즈베리파이와</a:t>
            </a:r>
            <a:r>
              <a:rPr kumimoji="1" lang="ko-KR" altLang="en-US" sz="2000" dirty="0">
                <a:latin typeface="+mj-ea"/>
                <a:ea typeface="+mj-ea"/>
              </a:rPr>
              <a:t> 박스를 반환하지 않는 경우</a:t>
            </a:r>
            <a:r>
              <a:rPr kumimoji="1" lang="en-US" altLang="ko-KR" sz="2000" dirty="0">
                <a:latin typeface="+mj-ea"/>
                <a:ea typeface="+mj-ea"/>
              </a:rPr>
              <a:t>, F </a:t>
            </a:r>
            <a:r>
              <a:rPr kumimoji="1" lang="ko-KR" altLang="en-US" sz="2000" dirty="0">
                <a:latin typeface="+mj-ea"/>
                <a:ea typeface="+mj-ea"/>
              </a:rPr>
              <a:t>학점으로 처리함</a:t>
            </a:r>
            <a:endParaRPr kumimoji="1" lang="en-US" altLang="ko-KR" sz="2000" dirty="0">
              <a:latin typeface="+mj-ea"/>
              <a:ea typeface="+mj-ea"/>
            </a:endParaRP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ko-KR" altLang="en-US" sz="2000" b="1" dirty="0">
                <a:latin typeface="+mj-ea"/>
                <a:ea typeface="+mj-ea"/>
              </a:rPr>
              <a:t>수업 준비물</a:t>
            </a:r>
            <a:endParaRPr kumimoji="1" lang="en-US" altLang="ko-KR" sz="2000" b="1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</a:t>
            </a:r>
            <a:r>
              <a:rPr kumimoji="1" lang="ko-KR" altLang="en-US" sz="2000" dirty="0">
                <a:latin typeface="+mj-ea"/>
                <a:ea typeface="+mj-ea"/>
              </a:rPr>
              <a:t> 키트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2</a:t>
            </a:r>
            <a:r>
              <a:rPr kumimoji="1" lang="ko-KR" altLang="en-US" sz="2000" dirty="0">
                <a:latin typeface="+mj-ea"/>
                <a:ea typeface="+mj-ea"/>
              </a:rPr>
              <a:t>주차 수업 시간부터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라즈베리파이를</a:t>
            </a:r>
            <a:r>
              <a:rPr kumimoji="1" lang="ko-KR" altLang="en-US" sz="2000" dirty="0">
                <a:latin typeface="+mj-ea"/>
                <a:ea typeface="+mj-ea"/>
              </a:rPr>
              <a:t> 가지고 수업시간에 </a:t>
            </a:r>
            <a:r>
              <a:rPr kumimoji="1" lang="ko-KR" altLang="en-US" sz="2000" dirty="0" err="1">
                <a:latin typeface="+mj-ea"/>
                <a:ea typeface="+mj-ea"/>
              </a:rPr>
              <a:t>와야함</a:t>
            </a:r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노트북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라즈베리파이에</a:t>
            </a:r>
            <a:r>
              <a:rPr kumimoji="1" lang="ko-KR" altLang="en-US" sz="2000" dirty="0">
                <a:latin typeface="+mj-ea"/>
                <a:ea typeface="+mj-ea"/>
              </a:rPr>
              <a:t> 연결할 때 학생의 노트북을 사용하므로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>
                <a:latin typeface="+mj-ea"/>
                <a:ea typeface="+mj-ea"/>
              </a:rPr>
              <a:t>수업시간에는 반드시 학생들은 노트북을 지참 </a:t>
            </a:r>
            <a:r>
              <a:rPr kumimoji="1" lang="en-US" altLang="ko-KR" sz="2000" dirty="0">
                <a:latin typeface="+mj-ea"/>
                <a:ea typeface="+mj-ea"/>
              </a:rPr>
              <a:t>(</a:t>
            </a:r>
            <a:r>
              <a:rPr kumimoji="1" lang="ko-KR" altLang="en-US" sz="2000" dirty="0">
                <a:latin typeface="+mj-ea"/>
                <a:ea typeface="+mj-ea"/>
              </a:rPr>
              <a:t>노트북이 없는 학생은 학과에서 장기대여 가능</a:t>
            </a:r>
            <a:r>
              <a:rPr kumimoji="1" lang="en-US" altLang="ko-KR" sz="2000" dirty="0">
                <a:latin typeface="+mj-ea"/>
                <a:ea typeface="+mj-ea"/>
              </a:rPr>
              <a:t>)</a:t>
            </a: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ko-KR" altLang="en-US" sz="2000" dirty="0" err="1">
                <a:latin typeface="+mj-ea"/>
                <a:ea typeface="+mj-ea"/>
              </a:rPr>
              <a:t>라즈베리파이</a:t>
            </a:r>
            <a:r>
              <a:rPr kumimoji="1" lang="ko-KR" altLang="en-US" sz="2000" dirty="0">
                <a:latin typeface="+mj-ea"/>
                <a:ea typeface="+mj-ea"/>
              </a:rPr>
              <a:t> 키트관련 문의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02-760-5894</a:t>
            </a:r>
          </a:p>
        </p:txBody>
      </p:sp>
    </p:spTree>
    <p:extLst>
      <p:ext uri="{BB962C8B-B14F-4D97-AF65-F5344CB8AC3E}">
        <p14:creationId xmlns:p14="http://schemas.microsoft.com/office/powerpoint/2010/main" val="1779027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 descr="방이(가) 표시된 사진&#10;&#10;자동 생성된 설명">
            <a:extLst>
              <a:ext uri="{FF2B5EF4-FFF2-40B4-BE49-F238E27FC236}">
                <a16:creationId xmlns:a16="http://schemas.microsoft.com/office/drawing/2014/main" id="{F6214330-0D8C-0E4E-B56E-E192D0B9A6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 flipH="1">
            <a:off x="6700911" y="778262"/>
            <a:ext cx="6470431" cy="7037702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D84E60C1-7FCB-3A4F-8757-A7F07DFE7E5E}"/>
              </a:ext>
            </a:extLst>
          </p:cNvPr>
          <p:cNvSpPr/>
          <p:nvPr/>
        </p:nvSpPr>
        <p:spPr>
          <a:xfrm>
            <a:off x="0" y="778262"/>
            <a:ext cx="7202531" cy="1842868"/>
          </a:xfrm>
          <a:prstGeom prst="rect">
            <a:avLst/>
          </a:prstGeom>
          <a:solidFill>
            <a:srgbClr val="E95A75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B281054-C997-9949-9929-69FF27007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A7FDD720-F0CE-664A-8F81-4AACFE90C0D6}"/>
              </a:ext>
            </a:extLst>
          </p:cNvPr>
          <p:cNvSpPr/>
          <p:nvPr/>
        </p:nvSpPr>
        <p:spPr>
          <a:xfrm>
            <a:off x="0" y="778262"/>
            <a:ext cx="6700911" cy="1842868"/>
          </a:xfrm>
          <a:prstGeom prst="rect">
            <a:avLst/>
          </a:prstGeom>
          <a:solidFill>
            <a:srgbClr val="E9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v</a:t>
            </a:r>
            <a:endParaRPr kumimoji="1" lang="ko-Kore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F8A6FA-72A9-7247-AEE3-FA00B9280452}"/>
              </a:ext>
            </a:extLst>
          </p:cNvPr>
          <p:cNvSpPr txBox="1"/>
          <p:nvPr/>
        </p:nvSpPr>
        <p:spPr>
          <a:xfrm>
            <a:off x="230480" y="1375761"/>
            <a:ext cx="5073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/>
              <a:t>성적 평가</a:t>
            </a:r>
            <a:endParaRPr kumimoji="1" lang="en-US" altLang="ko-KR" sz="28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1F374C-4A06-364E-A230-93F4D7DE5892}"/>
              </a:ext>
            </a:extLst>
          </p:cNvPr>
          <p:cNvSpPr/>
          <p:nvPr/>
        </p:nvSpPr>
        <p:spPr>
          <a:xfrm rot="5400000">
            <a:off x="453132" y="950474"/>
            <a:ext cx="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F2EE0F-1FA2-674B-8C28-053914F98A5A}"/>
              </a:ext>
            </a:extLst>
          </p:cNvPr>
          <p:cNvSpPr txBox="1"/>
          <p:nvPr/>
        </p:nvSpPr>
        <p:spPr>
          <a:xfrm>
            <a:off x="309108" y="3002555"/>
            <a:ext cx="5613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kumimoji="1" lang="ko-KR" altLang="en-US" dirty="0"/>
              <a:t>성적 평가 방법 및 비율</a:t>
            </a: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en-US" altLang="ko-Kore-KR" dirty="0"/>
          </a:p>
        </p:txBody>
      </p:sp>
    </p:spTree>
    <p:extLst>
      <p:ext uri="{BB962C8B-B14F-4D97-AF65-F5344CB8AC3E}">
        <p14:creationId xmlns:p14="http://schemas.microsoft.com/office/powerpoint/2010/main" val="3772065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2B281054-C997-9949-9929-69FF27007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96EFCE6-3026-814C-83E6-A3D4C1F21B46}"/>
              </a:ext>
            </a:extLst>
          </p:cNvPr>
          <p:cNvSpPr txBox="1"/>
          <p:nvPr/>
        </p:nvSpPr>
        <p:spPr>
          <a:xfrm>
            <a:off x="484301" y="851300"/>
            <a:ext cx="2885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>
                <a:latin typeface="+mj-ea"/>
                <a:ea typeface="+mj-ea"/>
              </a:rPr>
              <a:t>성적 평가 방법 및 비율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E5E4FE-2996-9A4A-99D1-15E308086D72}"/>
              </a:ext>
            </a:extLst>
          </p:cNvPr>
          <p:cNvSpPr/>
          <p:nvPr/>
        </p:nvSpPr>
        <p:spPr>
          <a:xfrm>
            <a:off x="265486" y="835331"/>
            <a:ext cx="144000" cy="432048"/>
          </a:xfrm>
          <a:prstGeom prst="rect">
            <a:avLst/>
          </a:prstGeom>
          <a:solidFill>
            <a:srgbClr val="E95A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16AECA-EEDD-714C-98C3-3318F711B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46D08B-83A8-674B-AE14-CB5236CB5D18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689C015A-25B2-BF43-8BB0-2F497583FB1A}"/>
              </a:ext>
            </a:extLst>
          </p:cNvPr>
          <p:cNvCxnSpPr/>
          <p:nvPr/>
        </p:nvCxnSpPr>
        <p:spPr>
          <a:xfrm>
            <a:off x="0" y="6379029"/>
            <a:ext cx="5562600" cy="0"/>
          </a:xfrm>
          <a:prstGeom prst="line">
            <a:avLst/>
          </a:prstGeom>
          <a:ln w="19050">
            <a:solidFill>
              <a:srgbClr val="01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464AEF2-DE33-A6FF-1650-D95655858CB3}"/>
              </a:ext>
            </a:extLst>
          </p:cNvPr>
          <p:cNvSpPr txBox="1"/>
          <p:nvPr/>
        </p:nvSpPr>
        <p:spPr>
          <a:xfrm>
            <a:off x="733975" y="1331241"/>
            <a:ext cx="112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성적은 출석 </a:t>
            </a:r>
            <a:r>
              <a:rPr kumimoji="1" lang="en-US" altLang="ko-KR" sz="2000" dirty="0">
                <a:latin typeface="+mj-ea"/>
                <a:ea typeface="+mj-ea"/>
              </a:rPr>
              <a:t>10%,</a:t>
            </a:r>
            <a:r>
              <a:rPr kumimoji="1" lang="ko-KR" altLang="en-US" sz="2000" dirty="0">
                <a:latin typeface="+mj-ea"/>
                <a:ea typeface="+mj-ea"/>
              </a:rPr>
              <a:t> 중간고사 </a:t>
            </a:r>
            <a:r>
              <a:rPr kumimoji="1" lang="en-US" altLang="ko-KR" sz="2000" dirty="0">
                <a:latin typeface="+mj-ea"/>
                <a:ea typeface="+mj-ea"/>
              </a:rPr>
              <a:t>35%,</a:t>
            </a:r>
            <a:r>
              <a:rPr kumimoji="1" lang="ko-KR" altLang="en-US" sz="2000" dirty="0">
                <a:latin typeface="+mj-ea"/>
                <a:ea typeface="+mj-ea"/>
              </a:rPr>
              <a:t> 기말고사 </a:t>
            </a:r>
            <a:r>
              <a:rPr kumimoji="1" lang="en-US" altLang="ko-KR" sz="2000" dirty="0">
                <a:latin typeface="+mj-ea"/>
                <a:ea typeface="+mj-ea"/>
              </a:rPr>
              <a:t>35%,</a:t>
            </a:r>
            <a:r>
              <a:rPr kumimoji="1" lang="ko-KR" altLang="en-US" sz="2000" dirty="0">
                <a:latin typeface="+mj-ea"/>
                <a:ea typeface="+mj-ea"/>
              </a:rPr>
              <a:t> 과제 </a:t>
            </a:r>
            <a:r>
              <a:rPr kumimoji="1" lang="en-US" altLang="ko-KR" sz="2000" dirty="0">
                <a:latin typeface="+mj-ea"/>
                <a:ea typeface="+mj-ea"/>
              </a:rPr>
              <a:t>15%,</a:t>
            </a:r>
            <a:r>
              <a:rPr kumimoji="1" lang="ko-KR" altLang="en-US" sz="2000" dirty="0">
                <a:latin typeface="+mj-ea"/>
                <a:ea typeface="+mj-ea"/>
              </a:rPr>
              <a:t> 태도 </a:t>
            </a:r>
            <a:r>
              <a:rPr kumimoji="1" lang="en-US" altLang="ko-KR" sz="2000" dirty="0">
                <a:latin typeface="+mj-ea"/>
                <a:ea typeface="+mj-ea"/>
              </a:rPr>
              <a:t>5%</a:t>
            </a:r>
            <a:r>
              <a:rPr kumimoji="1" lang="ko-KR" altLang="en-US" sz="2000" dirty="0">
                <a:latin typeface="+mj-ea"/>
                <a:ea typeface="+mj-ea"/>
              </a:rPr>
              <a:t>로 집계</a:t>
            </a:r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중간고사는 단답형과 </a:t>
            </a:r>
            <a:r>
              <a:rPr kumimoji="1" lang="en-US" altLang="ko-KR" sz="2000" dirty="0">
                <a:latin typeface="+mj-ea"/>
                <a:ea typeface="+mj-ea"/>
              </a:rPr>
              <a:t>4</a:t>
            </a:r>
            <a:r>
              <a:rPr kumimoji="1" lang="ko-KR" altLang="en-US" sz="2000" dirty="0" err="1">
                <a:latin typeface="+mj-ea"/>
                <a:ea typeface="+mj-ea"/>
              </a:rPr>
              <a:t>지선다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30</a:t>
            </a:r>
            <a:r>
              <a:rPr kumimoji="1" lang="ko-KR" altLang="en-US" sz="2000" dirty="0">
                <a:latin typeface="+mj-ea"/>
                <a:ea typeface="+mj-ea"/>
              </a:rPr>
              <a:t>문항으로 구성</a:t>
            </a:r>
            <a:r>
              <a:rPr kumimoji="1" lang="en-US" altLang="ko-KR" sz="2000" dirty="0">
                <a:latin typeface="+mj-ea"/>
                <a:ea typeface="+mj-ea"/>
              </a:rPr>
              <a:t>,</a:t>
            </a:r>
            <a:r>
              <a:rPr kumimoji="1" lang="ko-KR" altLang="en-US" sz="2000" dirty="0">
                <a:latin typeface="+mj-ea"/>
                <a:ea typeface="+mj-ea"/>
              </a:rPr>
              <a:t> 기말고사는 개인별 프로젝트 발표 점수</a:t>
            </a:r>
            <a:endParaRPr kumimoji="1" lang="en-US" altLang="ko-KR" sz="2000" dirty="0">
              <a:latin typeface="+mj-ea"/>
              <a:ea typeface="+mj-e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8448A7-FE87-D9F3-2120-7396E959F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437206"/>
              </p:ext>
            </p:extLst>
          </p:nvPr>
        </p:nvGraphicFramePr>
        <p:xfrm>
          <a:off x="1301141" y="2270272"/>
          <a:ext cx="3771900" cy="3574386"/>
        </p:xfrm>
        <a:graphic>
          <a:graphicData uri="http://schemas.openxmlformats.org/drawingml/2006/table">
            <a:tbl>
              <a:tblPr/>
              <a:tblGrid>
                <a:gridCol w="1686904">
                  <a:extLst>
                    <a:ext uri="{9D8B030D-6E8A-4147-A177-3AD203B41FA5}">
                      <a16:colId xmlns:a16="http://schemas.microsoft.com/office/drawing/2014/main" val="3231798843"/>
                    </a:ext>
                  </a:extLst>
                </a:gridCol>
                <a:gridCol w="2084996">
                  <a:extLst>
                    <a:ext uri="{9D8B030D-6E8A-4147-A177-3AD203B41FA5}">
                      <a16:colId xmlns:a16="http://schemas.microsoft.com/office/drawing/2014/main" val="3886119316"/>
                    </a:ext>
                  </a:extLst>
                </a:gridCol>
              </a:tblGrid>
              <a:tr h="59573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000" b="1" dirty="0">
                          <a:effectLst/>
                        </a:rPr>
                        <a:t>출석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2000" b="1">
                          <a:effectLst/>
                        </a:rPr>
                        <a:t>10%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103430"/>
                  </a:ext>
                </a:extLst>
              </a:tr>
              <a:tr h="59573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000" b="1">
                          <a:effectLst/>
                        </a:rPr>
                        <a:t>중간고사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2000" b="1" dirty="0">
                          <a:effectLst/>
                        </a:rPr>
                        <a:t>35%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110411"/>
                  </a:ext>
                </a:extLst>
              </a:tr>
              <a:tr h="59573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000" b="1">
                          <a:effectLst/>
                        </a:rPr>
                        <a:t>기말고사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2000" b="1" dirty="0">
                          <a:effectLst/>
                        </a:rPr>
                        <a:t>35%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268091"/>
                  </a:ext>
                </a:extLst>
              </a:tr>
              <a:tr h="59573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000" b="1">
                          <a:effectLst/>
                        </a:rPr>
                        <a:t>과제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KR" sz="2000" b="1" dirty="0">
                          <a:effectLst/>
                        </a:rPr>
                        <a:t>15%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151741"/>
                  </a:ext>
                </a:extLst>
              </a:tr>
              <a:tr h="5957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000" b="1" dirty="0">
                          <a:effectLst/>
                        </a:rPr>
                        <a:t> </a:t>
                      </a:r>
                      <a:r>
                        <a:rPr lang="ko-KR" altLang="en-US" sz="2000" b="1" dirty="0">
                          <a:effectLst/>
                        </a:rPr>
                        <a:t>태도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000" b="1" dirty="0">
                          <a:effectLst/>
                        </a:rPr>
                        <a:t>5%</a:t>
                      </a:r>
                      <a:endParaRPr lang="en-KR" sz="2000" b="1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6019"/>
                  </a:ext>
                </a:extLst>
              </a:tr>
              <a:tr h="59573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2000" b="1" dirty="0">
                          <a:effectLst/>
                        </a:rPr>
                        <a:t>합계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2000" b="1" dirty="0">
                          <a:effectLst/>
                        </a:rPr>
                        <a:t>100%</a:t>
                      </a:r>
                      <a:endParaRPr lang="en-KR" sz="2000" b="1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453397"/>
                  </a:ext>
                </a:extLst>
              </a:tr>
            </a:tbl>
          </a:graphicData>
        </a:graphic>
      </p:graphicFrame>
      <p:sp>
        <p:nvSpPr>
          <p:cNvPr id="5" name="Right Arrow 4">
            <a:extLst>
              <a:ext uri="{FF2B5EF4-FFF2-40B4-BE49-F238E27FC236}">
                <a16:creationId xmlns:a16="http://schemas.microsoft.com/office/drawing/2014/main" id="{C7AFFE12-C526-234F-66CF-FEAD472B30BB}"/>
              </a:ext>
            </a:extLst>
          </p:cNvPr>
          <p:cNvSpPr/>
          <p:nvPr/>
        </p:nvSpPr>
        <p:spPr>
          <a:xfrm>
            <a:off x="4825218" y="3025043"/>
            <a:ext cx="1072662" cy="240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39AA3-7923-BFD1-3318-07C4FD6B2E78}"/>
              </a:ext>
            </a:extLst>
          </p:cNvPr>
          <p:cNvSpPr txBox="1"/>
          <p:nvPr/>
        </p:nvSpPr>
        <p:spPr>
          <a:xfrm>
            <a:off x="6005451" y="2983475"/>
            <a:ext cx="24352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/>
              <a:t>단답형 </a:t>
            </a:r>
            <a:r>
              <a:rPr lang="en-US" altLang="ko-KR" sz="1500" b="1" dirty="0"/>
              <a:t>+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4</a:t>
            </a:r>
            <a:r>
              <a:rPr lang="ko-KR" altLang="en-US" sz="1500" b="1" dirty="0" err="1"/>
              <a:t>지선다형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30</a:t>
            </a:r>
            <a:r>
              <a:rPr lang="ko-KR" altLang="en-US" sz="1500" b="1" dirty="0"/>
              <a:t>문항</a:t>
            </a:r>
            <a:endParaRPr lang="en-US" sz="1500" b="1" dirty="0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C9E71ADB-8F56-1631-404B-3A76E871EBFC}"/>
              </a:ext>
            </a:extLst>
          </p:cNvPr>
          <p:cNvSpPr/>
          <p:nvPr/>
        </p:nvSpPr>
        <p:spPr>
          <a:xfrm>
            <a:off x="4825218" y="3649853"/>
            <a:ext cx="1072662" cy="240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8FE18D-CB29-05E5-F5C8-79FCA4BCB319}"/>
              </a:ext>
            </a:extLst>
          </p:cNvPr>
          <p:cNvSpPr txBox="1"/>
          <p:nvPr/>
        </p:nvSpPr>
        <p:spPr>
          <a:xfrm>
            <a:off x="6005451" y="3608285"/>
            <a:ext cx="369364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/>
              <a:t>개인별 프로젝트 발표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동영상 </a:t>
            </a:r>
            <a:r>
              <a:rPr lang="en-US" altLang="ko-KR" sz="1500" b="1" dirty="0"/>
              <a:t>+</a:t>
            </a:r>
            <a:r>
              <a:rPr lang="ko-KR" altLang="en-US" sz="1500" b="1" dirty="0"/>
              <a:t> 발표자료</a:t>
            </a:r>
            <a:r>
              <a:rPr lang="en-US" altLang="ko-KR" sz="1500" b="1" dirty="0"/>
              <a:t>)</a:t>
            </a:r>
            <a:endParaRPr lang="en-US" sz="1500" b="1" dirty="0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11CC63E7-6696-35E8-CC95-10C05C915F17}"/>
              </a:ext>
            </a:extLst>
          </p:cNvPr>
          <p:cNvSpPr/>
          <p:nvPr/>
        </p:nvSpPr>
        <p:spPr>
          <a:xfrm>
            <a:off x="4825218" y="4834231"/>
            <a:ext cx="1072662" cy="240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F4FDB-7239-1347-B33E-8DB38A6AAE93}"/>
              </a:ext>
            </a:extLst>
          </p:cNvPr>
          <p:cNvSpPr txBox="1"/>
          <p:nvPr/>
        </p:nvSpPr>
        <p:spPr>
          <a:xfrm>
            <a:off x="6005451" y="4792663"/>
            <a:ext cx="411522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 err="1"/>
              <a:t>이클래스</a:t>
            </a:r>
            <a:r>
              <a:rPr lang="ko-KR" altLang="en-US" sz="1500" b="1" dirty="0"/>
              <a:t> 질의</a:t>
            </a:r>
            <a:r>
              <a:rPr lang="en-US" altLang="ko-KR" sz="1500" b="1" dirty="0"/>
              <a:t>/</a:t>
            </a:r>
            <a:r>
              <a:rPr lang="ko-KR" altLang="en-US" sz="1500" b="1" dirty="0"/>
              <a:t>응답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출석</a:t>
            </a:r>
            <a:r>
              <a:rPr lang="en-US" altLang="ko-KR" sz="1500" b="1" dirty="0"/>
              <a:t>,</a:t>
            </a:r>
            <a:r>
              <a:rPr lang="ko-KR" altLang="en-US" sz="1500" b="1" dirty="0"/>
              <a:t> 일정 등 단순 문의 </a:t>
            </a:r>
            <a:r>
              <a:rPr lang="en-US" altLang="ko-KR" sz="1500" b="1" dirty="0"/>
              <a:t>X)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4036193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 descr="방이(가) 표시된 사진&#10;&#10;자동 생성된 설명">
            <a:extLst>
              <a:ext uri="{FF2B5EF4-FFF2-40B4-BE49-F238E27FC236}">
                <a16:creationId xmlns:a16="http://schemas.microsoft.com/office/drawing/2014/main" id="{F6214330-0D8C-0E4E-B56E-E192D0B9A6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 flipH="1">
            <a:off x="6700911" y="778262"/>
            <a:ext cx="6470431" cy="7037702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D84E60C1-7FCB-3A4F-8757-A7F07DFE7E5E}"/>
              </a:ext>
            </a:extLst>
          </p:cNvPr>
          <p:cNvSpPr/>
          <p:nvPr/>
        </p:nvSpPr>
        <p:spPr>
          <a:xfrm>
            <a:off x="0" y="778262"/>
            <a:ext cx="7202531" cy="1842868"/>
          </a:xfrm>
          <a:prstGeom prst="rect">
            <a:avLst/>
          </a:prstGeom>
          <a:solidFill>
            <a:srgbClr val="89C987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B281054-C997-9949-9929-69FF27007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A7FDD720-F0CE-664A-8F81-4AACFE90C0D6}"/>
              </a:ext>
            </a:extLst>
          </p:cNvPr>
          <p:cNvSpPr/>
          <p:nvPr/>
        </p:nvSpPr>
        <p:spPr>
          <a:xfrm>
            <a:off x="0" y="778262"/>
            <a:ext cx="6700911" cy="1842868"/>
          </a:xfrm>
          <a:prstGeom prst="rect">
            <a:avLst/>
          </a:prstGeom>
          <a:solidFill>
            <a:srgbClr val="89C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dirty="0"/>
              <a:t>v</a:t>
            </a:r>
            <a:endParaRPr kumimoji="1" lang="ko-Kore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F8A6FA-72A9-7247-AEE3-FA00B9280452}"/>
              </a:ext>
            </a:extLst>
          </p:cNvPr>
          <p:cNvSpPr txBox="1"/>
          <p:nvPr/>
        </p:nvSpPr>
        <p:spPr>
          <a:xfrm>
            <a:off x="230480" y="1375761"/>
            <a:ext cx="5073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b="1" dirty="0"/>
              <a:t>교재</a:t>
            </a:r>
            <a:endParaRPr kumimoji="1" lang="en-US" altLang="ko-KR" sz="28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1F374C-4A06-364E-A230-93F4D7DE5892}"/>
              </a:ext>
            </a:extLst>
          </p:cNvPr>
          <p:cNvSpPr/>
          <p:nvPr/>
        </p:nvSpPr>
        <p:spPr>
          <a:xfrm rot="5400000">
            <a:off x="453132" y="950474"/>
            <a:ext cx="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F2EE0F-1FA2-674B-8C28-053914F98A5A}"/>
              </a:ext>
            </a:extLst>
          </p:cNvPr>
          <p:cNvSpPr txBox="1"/>
          <p:nvPr/>
        </p:nvSpPr>
        <p:spPr>
          <a:xfrm>
            <a:off x="309108" y="3002555"/>
            <a:ext cx="5613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kumimoji="1" lang="ko-KR" altLang="en-US" dirty="0"/>
              <a:t>주 교재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00295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2B281054-C997-9949-9929-69FF27007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96EFCE6-3026-814C-83E6-A3D4C1F21B46}"/>
              </a:ext>
            </a:extLst>
          </p:cNvPr>
          <p:cNvSpPr txBox="1"/>
          <p:nvPr/>
        </p:nvSpPr>
        <p:spPr>
          <a:xfrm>
            <a:off x="484301" y="851300"/>
            <a:ext cx="3527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 err="1">
                <a:latin typeface="+mj-ea"/>
                <a:ea typeface="+mj-ea"/>
              </a:rPr>
              <a:t>주교재</a:t>
            </a:r>
            <a:endParaRPr kumimoji="1" lang="ko-Kore-KR" altLang="en-US" sz="20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E5E4FE-2996-9A4A-99D1-15E308086D72}"/>
              </a:ext>
            </a:extLst>
          </p:cNvPr>
          <p:cNvSpPr/>
          <p:nvPr/>
        </p:nvSpPr>
        <p:spPr>
          <a:xfrm>
            <a:off x="265486" y="835331"/>
            <a:ext cx="144000" cy="432048"/>
          </a:xfrm>
          <a:prstGeom prst="rect">
            <a:avLst/>
          </a:prstGeom>
          <a:solidFill>
            <a:srgbClr val="89C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16AECA-EEDD-714C-98C3-3318F711B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46D08B-83A8-674B-AE14-CB5236CB5D18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2E308181-B4B9-7D42-8DC3-198C65341CFD}"/>
              </a:ext>
            </a:extLst>
          </p:cNvPr>
          <p:cNvCxnSpPr/>
          <p:nvPr/>
        </p:nvCxnSpPr>
        <p:spPr>
          <a:xfrm>
            <a:off x="0" y="6379029"/>
            <a:ext cx="5562600" cy="0"/>
          </a:xfrm>
          <a:prstGeom prst="line">
            <a:avLst/>
          </a:prstGeom>
          <a:ln w="19050">
            <a:solidFill>
              <a:srgbClr val="01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C6EF667-604B-8BC0-E95C-31FE5D399A8B}"/>
              </a:ext>
            </a:extLst>
          </p:cNvPr>
          <p:cNvSpPr txBox="1"/>
          <p:nvPr/>
        </p:nvSpPr>
        <p:spPr>
          <a:xfrm>
            <a:off x="733975" y="1331241"/>
            <a:ext cx="11297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저자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ko-KR" altLang="en-US" sz="2000" dirty="0" err="1">
                <a:latin typeface="+mj-ea"/>
                <a:ea typeface="+mj-ea"/>
              </a:rPr>
              <a:t>황기태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>
                <a:latin typeface="+mj-ea"/>
                <a:ea typeface="+mj-ea"/>
              </a:rPr>
              <a:t>정인환</a:t>
            </a:r>
            <a:r>
              <a:rPr kumimoji="1" lang="en-US" altLang="ko-KR" sz="2000" dirty="0">
                <a:latin typeface="+mj-ea"/>
                <a:ea typeface="+mj-ea"/>
              </a:rPr>
              <a:t>, </a:t>
            </a:r>
            <a:r>
              <a:rPr kumimoji="1" lang="ko-KR" altLang="en-US" sz="2000" dirty="0" err="1">
                <a:latin typeface="+mj-ea"/>
                <a:ea typeface="+mj-ea"/>
              </a:rPr>
              <a:t>이재문</a:t>
            </a:r>
            <a:r>
              <a:rPr kumimoji="1" lang="ko-KR" altLang="en-US" sz="2000" dirty="0">
                <a:latin typeface="+mj-ea"/>
                <a:ea typeface="+mj-ea"/>
              </a:rPr>
              <a:t> 저</a:t>
            </a:r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en-US" altLang="ko-KR" sz="2000" dirty="0">
                <a:latin typeface="+mj-ea"/>
                <a:ea typeface="+mj-ea"/>
              </a:rPr>
              <a:t>-</a:t>
            </a:r>
            <a:r>
              <a:rPr kumimoji="1" lang="ko-KR" altLang="en-US" sz="2000" dirty="0">
                <a:latin typeface="+mj-ea"/>
                <a:ea typeface="+mj-ea"/>
              </a:rPr>
              <a:t> 출판사 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ko-KR" altLang="en-US" sz="2000" dirty="0" err="1">
                <a:latin typeface="+mj-ea"/>
                <a:ea typeface="+mj-ea"/>
              </a:rPr>
              <a:t>생능출판사</a:t>
            </a:r>
            <a:endParaRPr kumimoji="1" lang="en-US" altLang="ko-KR" sz="2000" dirty="0">
              <a:latin typeface="+mj-ea"/>
              <a:ea typeface="+mj-ea"/>
            </a:endParaRPr>
          </a:p>
        </p:txBody>
      </p:sp>
      <p:pic>
        <p:nvPicPr>
          <p:cNvPr id="1026" name="Picture 2" descr="명품 라즈베리파이">
            <a:extLst>
              <a:ext uri="{FF2B5EF4-FFF2-40B4-BE49-F238E27FC236}">
                <a16:creationId xmlns:a16="http://schemas.microsoft.com/office/drawing/2014/main" id="{07EC0FDF-D949-91D3-9194-18E23BC82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36" y="2103708"/>
            <a:ext cx="3245167" cy="412084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572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F430B0E-5E62-0448-A2CB-1345037AE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230832"/>
            <a:ext cx="1204090" cy="3616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FF7287B-2025-DD48-92AC-7A2AA3ECF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261" y="5980837"/>
            <a:ext cx="4326830" cy="646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155258-C016-6F4F-983B-4C583C709BDF}"/>
              </a:ext>
            </a:extLst>
          </p:cNvPr>
          <p:cNvSpPr txBox="1"/>
          <p:nvPr/>
        </p:nvSpPr>
        <p:spPr>
          <a:xfrm>
            <a:off x="4802117" y="4911730"/>
            <a:ext cx="48225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400" dirty="0" err="1">
                <a:solidFill>
                  <a:srgbClr val="0070C0"/>
                </a:solidFill>
              </a:rPr>
              <a:t>박필준</a:t>
            </a:r>
            <a:r>
              <a:rPr kumimoji="1" lang="en-US" altLang="ko-KR" sz="1400" dirty="0">
                <a:solidFill>
                  <a:srgbClr val="0070C0"/>
                </a:solidFill>
              </a:rPr>
              <a:t> </a:t>
            </a:r>
            <a:r>
              <a:rPr kumimoji="1" lang="ko-KR" altLang="en-US" sz="1400" dirty="0">
                <a:solidFill>
                  <a:srgbClr val="0070C0"/>
                </a:solidFill>
              </a:rPr>
              <a:t>교수</a:t>
            </a:r>
            <a:endParaRPr kumimoji="1" lang="en-US" altLang="ko-KR" sz="1400" dirty="0">
              <a:solidFill>
                <a:srgbClr val="0070C0"/>
              </a:solidFill>
            </a:endParaRPr>
          </a:p>
          <a:p>
            <a:pPr algn="r"/>
            <a:r>
              <a:rPr kumimoji="1" lang="en-US" altLang="ko-KR" sz="1400" dirty="0" err="1">
                <a:solidFill>
                  <a:srgbClr val="0070C0"/>
                </a:solidFill>
              </a:rPr>
              <a:t>yulian@hansung.kr</a:t>
            </a:r>
            <a:endParaRPr kumimoji="1" lang="en-US" altLang="ko-KR" sz="1400" dirty="0">
              <a:solidFill>
                <a:srgbClr val="0070C0"/>
              </a:solidFill>
            </a:endParaRPr>
          </a:p>
          <a:p>
            <a:pPr algn="r"/>
            <a:r>
              <a:rPr kumimoji="1" lang="en-US" altLang="ko-KR" sz="1400" dirty="0">
                <a:solidFill>
                  <a:srgbClr val="0070C0"/>
                </a:solidFill>
              </a:rPr>
              <a:t>010-9111-7133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BE491-B7E0-1849-A1BE-FF215FD67F60}"/>
              </a:ext>
            </a:extLst>
          </p:cNvPr>
          <p:cNvSpPr/>
          <p:nvPr/>
        </p:nvSpPr>
        <p:spPr>
          <a:xfrm>
            <a:off x="9673448" y="4911730"/>
            <a:ext cx="128962" cy="738664"/>
          </a:xfrm>
          <a:prstGeom prst="rect">
            <a:avLst/>
          </a:prstGeom>
          <a:solidFill>
            <a:srgbClr val="9ED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498E11-2ED3-B646-A855-2C8038B97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472"/>
            <a:ext cx="5073041" cy="577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12315D-D8F1-7746-9031-A89678CD6AC3}"/>
              </a:ext>
            </a:extLst>
          </p:cNvPr>
          <p:cNvSpPr txBox="1"/>
          <p:nvPr/>
        </p:nvSpPr>
        <p:spPr>
          <a:xfrm>
            <a:off x="110325" y="135215"/>
            <a:ext cx="4714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  <a:latin typeface="+mj-ea"/>
              </a:rPr>
              <a:t>모바일</a:t>
            </a:r>
            <a:r>
              <a:rPr kumimoji="1" lang="en-US" altLang="ko-KR" sz="1600" dirty="0">
                <a:solidFill>
                  <a:schemeClr val="bg1"/>
                </a:solidFill>
                <a:latin typeface="+mj-ea"/>
              </a:rPr>
              <a:t>&amp;</a:t>
            </a:r>
            <a:r>
              <a:rPr kumimoji="1" lang="ko-KR" altLang="en-US" sz="1600" dirty="0">
                <a:solidFill>
                  <a:schemeClr val="bg1"/>
                </a:solidFill>
                <a:latin typeface="+mj-ea"/>
              </a:rPr>
              <a:t>스마트시스템</a:t>
            </a:r>
            <a:endParaRPr kumimoji="1" lang="ko-Kore-KR" altLang="en-US" sz="1600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69466C8-DADD-0843-92C4-E520732B14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769" y="3624352"/>
            <a:ext cx="1755321" cy="2026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0E05D4-B1A5-D861-971D-A14129EB12E3}"/>
              </a:ext>
            </a:extLst>
          </p:cNvPr>
          <p:cNvSpPr txBox="1"/>
          <p:nvPr/>
        </p:nvSpPr>
        <p:spPr>
          <a:xfrm>
            <a:off x="2540478" y="2613392"/>
            <a:ext cx="79256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0" b="1" dirty="0">
                <a:latin typeface="+mj-ea"/>
                <a:ea typeface="+mj-ea"/>
              </a:rPr>
              <a:t>감사합니다</a:t>
            </a:r>
            <a:r>
              <a:rPr kumimoji="1" lang="en-US" altLang="ko-KR" sz="10000" b="1" dirty="0">
                <a:latin typeface="+mj-ea"/>
                <a:ea typeface="+mj-ea"/>
              </a:rPr>
              <a:t>.</a:t>
            </a:r>
            <a:endParaRPr kumimoji="1" lang="ko-Kore-KR" altLang="en-US" sz="10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68988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929</Words>
  <Application>Microsoft Macintosh PowerPoint</Application>
  <PresentationFormat>Widescreen</PresentationFormat>
  <Paragraphs>158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맑은 고딕</vt:lpstr>
      <vt:lpstr>나눔스퀘어 Bold</vt:lpstr>
      <vt:lpstr>Arial</vt:lpstr>
      <vt:lpstr>Calibri</vt:lpstr>
      <vt:lpstr>Calibri Light</vt:lpstr>
      <vt:lpstr>Office 테마</vt:lpstr>
      <vt:lpstr>교수 : 박필준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제목을 추가하려면  클릭하십시오.</dc:title>
  <dc:creator>강 지현</dc:creator>
  <cp:lastModifiedBy>필준 박</cp:lastModifiedBy>
  <cp:revision>615</cp:revision>
  <dcterms:created xsi:type="dcterms:W3CDTF">2020-09-10T01:33:27Z</dcterms:created>
  <dcterms:modified xsi:type="dcterms:W3CDTF">2026-09-01T10:56:53Z</dcterms:modified>
</cp:coreProperties>
</file>