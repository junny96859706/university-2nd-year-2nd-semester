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82"/>
  </p:notesMasterIdLst>
  <p:sldIdLst>
    <p:sldId id="256" r:id="rId2"/>
    <p:sldId id="484" r:id="rId3"/>
    <p:sldId id="493" r:id="rId4"/>
    <p:sldId id="494" r:id="rId5"/>
    <p:sldId id="375" r:id="rId6"/>
    <p:sldId id="498" r:id="rId7"/>
    <p:sldId id="499" r:id="rId8"/>
    <p:sldId id="501" r:id="rId9"/>
    <p:sldId id="502" r:id="rId10"/>
    <p:sldId id="503" r:id="rId11"/>
    <p:sldId id="500" r:id="rId12"/>
    <p:sldId id="504" r:id="rId13"/>
    <p:sldId id="505" r:id="rId14"/>
    <p:sldId id="506" r:id="rId15"/>
    <p:sldId id="507" r:id="rId16"/>
    <p:sldId id="386" r:id="rId17"/>
    <p:sldId id="389" r:id="rId18"/>
    <p:sldId id="388" r:id="rId19"/>
    <p:sldId id="485" r:id="rId20"/>
    <p:sldId id="508" r:id="rId21"/>
    <p:sldId id="509" r:id="rId22"/>
    <p:sldId id="510" r:id="rId23"/>
    <p:sldId id="511" r:id="rId24"/>
    <p:sldId id="257" r:id="rId25"/>
    <p:sldId id="512" r:id="rId26"/>
    <p:sldId id="513" r:id="rId27"/>
    <p:sldId id="514" r:id="rId28"/>
    <p:sldId id="515" r:id="rId29"/>
    <p:sldId id="259" r:id="rId30"/>
    <p:sldId id="516" r:id="rId31"/>
    <p:sldId id="517" r:id="rId32"/>
    <p:sldId id="461" r:id="rId33"/>
    <p:sldId id="462" r:id="rId34"/>
    <p:sldId id="395" r:id="rId35"/>
    <p:sldId id="518" r:id="rId36"/>
    <p:sldId id="391" r:id="rId37"/>
    <p:sldId id="392" r:id="rId38"/>
    <p:sldId id="519" r:id="rId39"/>
    <p:sldId id="520" r:id="rId40"/>
    <p:sldId id="521" r:id="rId41"/>
    <p:sldId id="554" r:id="rId42"/>
    <p:sldId id="523" r:id="rId43"/>
    <p:sldId id="524" r:id="rId44"/>
    <p:sldId id="526" r:id="rId45"/>
    <p:sldId id="527" r:id="rId46"/>
    <p:sldId id="525" r:id="rId47"/>
    <p:sldId id="528" r:id="rId48"/>
    <p:sldId id="529" r:id="rId49"/>
    <p:sldId id="530" r:id="rId50"/>
    <p:sldId id="531" r:id="rId51"/>
    <p:sldId id="532" r:id="rId52"/>
    <p:sldId id="399" r:id="rId53"/>
    <p:sldId id="425" r:id="rId54"/>
    <p:sldId id="438" r:id="rId55"/>
    <p:sldId id="533" r:id="rId56"/>
    <p:sldId id="534" r:id="rId57"/>
    <p:sldId id="541" r:id="rId58"/>
    <p:sldId id="539" r:id="rId59"/>
    <p:sldId id="469" r:id="rId60"/>
    <p:sldId id="540" r:id="rId61"/>
    <p:sldId id="432" r:id="rId62"/>
    <p:sldId id="403" r:id="rId63"/>
    <p:sldId id="542" r:id="rId64"/>
    <p:sldId id="543" r:id="rId65"/>
    <p:sldId id="544" r:id="rId66"/>
    <p:sldId id="545" r:id="rId67"/>
    <p:sldId id="546" r:id="rId68"/>
    <p:sldId id="547" r:id="rId69"/>
    <p:sldId id="548" r:id="rId70"/>
    <p:sldId id="549" r:id="rId71"/>
    <p:sldId id="550" r:id="rId72"/>
    <p:sldId id="555" r:id="rId73"/>
    <p:sldId id="552" r:id="rId74"/>
    <p:sldId id="553" r:id="rId75"/>
    <p:sldId id="490" r:id="rId76"/>
    <p:sldId id="491" r:id="rId77"/>
    <p:sldId id="483" r:id="rId78"/>
    <p:sldId id="446" r:id="rId79"/>
    <p:sldId id="459" r:id="rId80"/>
    <p:sldId id="489" r:id="rId8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CD9CAC2-4483-4841-AE40-094E9A7E9F08}">
          <p14:sldIdLst>
            <p14:sldId id="256"/>
            <p14:sldId id="484"/>
            <p14:sldId id="493"/>
            <p14:sldId id="494"/>
            <p14:sldId id="375"/>
            <p14:sldId id="498"/>
            <p14:sldId id="499"/>
            <p14:sldId id="501"/>
            <p14:sldId id="502"/>
            <p14:sldId id="503"/>
            <p14:sldId id="500"/>
            <p14:sldId id="504"/>
            <p14:sldId id="505"/>
            <p14:sldId id="506"/>
          </p14:sldIdLst>
        </p14:section>
        <p14:section name="제목 없는 구역" id="{106CFE04-2111-497A-B965-0112E02C5309}">
          <p14:sldIdLst>
            <p14:sldId id="507"/>
            <p14:sldId id="386"/>
            <p14:sldId id="389"/>
            <p14:sldId id="388"/>
            <p14:sldId id="485"/>
            <p14:sldId id="508"/>
            <p14:sldId id="509"/>
            <p14:sldId id="510"/>
            <p14:sldId id="511"/>
            <p14:sldId id="257"/>
            <p14:sldId id="512"/>
            <p14:sldId id="513"/>
            <p14:sldId id="514"/>
            <p14:sldId id="515"/>
            <p14:sldId id="259"/>
            <p14:sldId id="516"/>
            <p14:sldId id="517"/>
            <p14:sldId id="461"/>
            <p14:sldId id="462"/>
            <p14:sldId id="395"/>
            <p14:sldId id="518"/>
            <p14:sldId id="391"/>
            <p14:sldId id="392"/>
            <p14:sldId id="519"/>
            <p14:sldId id="520"/>
            <p14:sldId id="521"/>
            <p14:sldId id="554"/>
            <p14:sldId id="523"/>
            <p14:sldId id="524"/>
            <p14:sldId id="526"/>
            <p14:sldId id="527"/>
            <p14:sldId id="525"/>
            <p14:sldId id="528"/>
            <p14:sldId id="529"/>
            <p14:sldId id="530"/>
            <p14:sldId id="531"/>
            <p14:sldId id="532"/>
            <p14:sldId id="399"/>
            <p14:sldId id="425"/>
            <p14:sldId id="438"/>
            <p14:sldId id="533"/>
            <p14:sldId id="534"/>
            <p14:sldId id="541"/>
            <p14:sldId id="539"/>
            <p14:sldId id="469"/>
            <p14:sldId id="540"/>
            <p14:sldId id="432"/>
            <p14:sldId id="403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5"/>
            <p14:sldId id="552"/>
            <p14:sldId id="553"/>
            <p14:sldId id="490"/>
            <p14:sldId id="491"/>
            <p14:sldId id="483"/>
            <p14:sldId id="446"/>
            <p14:sldId id="459"/>
            <p14:sldId id="4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66" autoAdjust="0"/>
    <p:restoredTop sz="96496" autoAdjust="0"/>
  </p:normalViewPr>
  <p:slideViewPr>
    <p:cSldViewPr>
      <p:cViewPr varScale="1">
        <p:scale>
          <a:sx n="118" d="100"/>
          <a:sy n="118" d="100"/>
        </p:scale>
        <p:origin x="101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97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AADCE-4523-43FE-B0A8-90B87F2F6B6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3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lnSpc>
                <a:spcPct val="100000"/>
              </a:lnSpc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ft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장</a:t>
            </a:r>
            <a:r>
              <a:rPr lang="en-US" altLang="ko-KR"/>
              <a:t> </a:t>
            </a:r>
            <a:r>
              <a:rPr lang="ko-KR" altLang="en-US"/>
              <a:t>무선 통신 가능한 라즈베리파이 만들기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69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C29B96-1263-4C8E-B572-C6596743C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28460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sz="1400"/>
              <a:t>라즈베리파이 운영체제를 설치할 수 있다</a:t>
            </a:r>
            <a:r>
              <a:rPr lang="en-US" altLang="ko-KR" sz="14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400"/>
              <a:t>라즈베리파이를 데스크톱으로 활용하는 방법을 이해한다</a:t>
            </a:r>
            <a:r>
              <a:rPr lang="en-US" altLang="ko-KR" sz="14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400"/>
              <a:t>라즈베리파이를 헤드리스 라즈베리파이로 만드는 방법을 안다</a:t>
            </a:r>
            <a:r>
              <a:rPr lang="en-US" altLang="ko-KR" sz="14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sz="1400"/>
              <a:t>putty</a:t>
            </a:r>
            <a:r>
              <a:rPr lang="ko-KR" altLang="en-US" sz="1400"/>
              <a:t>를 이용하여 외부에서 라즈베리파이 원격 접속하고 사용하는 방법을 안다</a:t>
            </a:r>
            <a:r>
              <a:rPr lang="en-US" altLang="ko-KR" sz="140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z="1400"/>
              <a:t>라즈베리파이 운영체제에 한글을 설치할 수 있다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endParaRPr lang="ko-KR" altLang="en-US" sz="140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1EAC4988-23C1-42F0-A1AC-5A47E8A5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강의 목표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BA47C-00A2-4E11-AEC6-48574F5C44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7152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DBAC9A3-0215-440F-A33A-207E7F39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165451-7379-4CAA-BEB3-639AC801FD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장의 내용</a:t>
            </a:r>
            <a:endParaRPr lang="en-US" altLang="ko-KR"/>
          </a:p>
          <a:p>
            <a:pPr lvl="1"/>
            <a:r>
              <a:rPr lang="en-US" altLang="ko-KR"/>
              <a:t>SD </a:t>
            </a:r>
            <a:r>
              <a:rPr lang="ko-KR" altLang="en-US"/>
              <a:t>카드에 운영체제 설치</a:t>
            </a:r>
            <a:endParaRPr lang="en-US" altLang="ko-KR"/>
          </a:p>
          <a:p>
            <a:pPr lvl="1"/>
            <a:r>
              <a:rPr lang="ko-KR" altLang="en-US"/>
              <a:t>부팅 시 와이파이로 연결할 무선 인터넷 지정</a:t>
            </a:r>
            <a:endParaRPr lang="en-US" altLang="ko-KR"/>
          </a:p>
          <a:p>
            <a:pPr lvl="1"/>
            <a:r>
              <a:rPr lang="ko-KR" altLang="en-US"/>
              <a:t>디스플레이</a:t>
            </a:r>
            <a:r>
              <a:rPr lang="en-US" altLang="ko-KR"/>
              <a:t>/</a:t>
            </a:r>
            <a:r>
              <a:rPr lang="ko-KR" altLang="en-US"/>
              <a:t>키보드</a:t>
            </a:r>
            <a:r>
              <a:rPr lang="en-US" altLang="ko-KR"/>
              <a:t>/</a:t>
            </a:r>
            <a:r>
              <a:rPr lang="ko-KR" altLang="en-US"/>
              <a:t>마우스를 모두 연결한 상태로 부팅 및 활용</a:t>
            </a:r>
            <a:endParaRPr lang="en-US" altLang="ko-KR"/>
          </a:p>
          <a:p>
            <a:pPr lvl="1"/>
            <a:r>
              <a:rPr lang="ko-KR" altLang="en-US"/>
              <a:t>헤드리스 라즈베리파이 만들기 및 활용</a:t>
            </a:r>
            <a:endParaRPr lang="en-US" altLang="ko-KR"/>
          </a:p>
          <a:p>
            <a:r>
              <a:rPr lang="ko-KR" altLang="en-US"/>
              <a:t>이 책에서 설치하는 운영체제 버전</a:t>
            </a:r>
            <a:endParaRPr lang="en-US" altLang="ko-KR"/>
          </a:p>
          <a:p>
            <a:pPr lvl="1"/>
            <a:r>
              <a:rPr lang="en-US" altLang="ko-KR"/>
              <a:t>64</a:t>
            </a:r>
            <a:r>
              <a:rPr lang="ko-KR" altLang="en-US"/>
              <a:t>비트 라즈베리파이 운영체제 최신 버전 설치</a:t>
            </a:r>
            <a:endParaRPr lang="en-US" altLang="ko-KR"/>
          </a:p>
          <a:p>
            <a:pPr lvl="2"/>
            <a:r>
              <a:rPr lang="en-US" altLang="ko-KR"/>
              <a:t>2026</a:t>
            </a:r>
            <a:r>
              <a:rPr lang="ko-KR" altLang="en-US"/>
              <a:t>년 현재</a:t>
            </a:r>
            <a:r>
              <a:rPr lang="en-US" altLang="ko-KR"/>
              <a:t>, </a:t>
            </a:r>
            <a:r>
              <a:rPr lang="ko-KR" altLang="en-US" b="1"/>
              <a:t>최신 버전은 </a:t>
            </a:r>
            <a:r>
              <a:rPr lang="en-US" altLang="ko-KR" b="1"/>
              <a:t>Trixie </a:t>
            </a:r>
          </a:p>
          <a:p>
            <a:r>
              <a:rPr lang="ko-KR" altLang="en-US"/>
              <a:t>불편한 점</a:t>
            </a:r>
            <a:endParaRPr lang="en-US" altLang="ko-KR"/>
          </a:p>
          <a:p>
            <a:pPr lvl="1"/>
            <a:r>
              <a:rPr lang="en-US" altLang="ko-KR"/>
              <a:t>SD </a:t>
            </a:r>
            <a:r>
              <a:rPr lang="ko-KR" altLang="en-US"/>
              <a:t>카드에 운영체제를 설치할 때</a:t>
            </a:r>
            <a:r>
              <a:rPr lang="en-US" altLang="ko-KR"/>
              <a:t>, </a:t>
            </a:r>
            <a:r>
              <a:rPr lang="ko-KR" altLang="en-US"/>
              <a:t>부팅시 연결할 무선 인터넷을 지정해야 하는 부담 있음</a:t>
            </a:r>
            <a:endParaRPr lang="en-US" altLang="ko-KR"/>
          </a:p>
          <a:p>
            <a:pPr lvl="2"/>
            <a:r>
              <a:rPr lang="ko-KR" altLang="en-US" b="1"/>
              <a:t>해결</a:t>
            </a:r>
            <a:r>
              <a:rPr lang="ko-KR" altLang="en-US"/>
              <a:t> </a:t>
            </a:r>
            <a:r>
              <a:rPr lang="en-US" altLang="ko-KR"/>
              <a:t>-&gt; </a:t>
            </a:r>
            <a:r>
              <a:rPr lang="ko-KR" altLang="en-US"/>
              <a:t>라즈베리파이가 위치에 따라 다른 무선 인터넷에 연결할 수 있도록</a:t>
            </a:r>
            <a:r>
              <a:rPr lang="en-US" altLang="ko-KR"/>
              <a:t> </a:t>
            </a:r>
            <a:r>
              <a:rPr lang="ko-KR" altLang="en-US"/>
              <a:t>설정하는 방법 설명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4911A2-D067-4742-AA23-0E9C70CD5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07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6166DD-E3F9-4DD6-A3F4-7CCED9E8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6C56A9-B0F9-4226-B2A7-350765F4C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2.1 </a:t>
            </a:r>
            <a:r>
              <a:rPr lang="ko-KR" altLang="en-US"/>
              <a:t>무선 인터넷 준비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BBDF47-8B13-4D81-AD9B-E7E44AE0DF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213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라즈베리파이의 인터넷 사용 방법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/>
              <a:t>유선 인터넷</a:t>
            </a:r>
            <a:endParaRPr lang="en-US" altLang="ko-KR"/>
          </a:p>
          <a:p>
            <a:pPr lvl="1" fontAlgn="base"/>
            <a:r>
              <a:rPr lang="ko-KR" altLang="en-US"/>
              <a:t>라즈베리파이에 랜선 직접 연결</a:t>
            </a:r>
            <a:endParaRPr lang="en-US" altLang="ko-KR"/>
          </a:p>
          <a:p>
            <a:pPr lvl="1" fontAlgn="base"/>
            <a:r>
              <a:rPr lang="ko-KR" altLang="en-US"/>
              <a:t>라즈베리파이가 고정된 위치에 있는 경우에만 유용</a:t>
            </a:r>
            <a:endParaRPr lang="en-US" altLang="ko-KR"/>
          </a:p>
          <a:p>
            <a:pPr fontAlgn="base"/>
            <a:r>
              <a:rPr lang="ko-KR" altLang="en-US" b="1"/>
              <a:t>무선 인터넷</a:t>
            </a:r>
            <a:endParaRPr lang="en-US" altLang="ko-KR" b="1"/>
          </a:p>
          <a:p>
            <a:pPr lvl="1" fontAlgn="base"/>
            <a:r>
              <a:rPr lang="ko-KR" altLang="en-US"/>
              <a:t>라즈베리파이에 내장된 와이파이로 무선 인터넷 연결</a:t>
            </a:r>
            <a:endParaRPr lang="en-US" altLang="ko-KR"/>
          </a:p>
          <a:p>
            <a:pPr lvl="1" fontAlgn="base"/>
            <a:r>
              <a:rPr lang="ko-KR" altLang="en-US"/>
              <a:t>자율 자동차와 같이 유선 연결이 어려운 경우에 활용</a:t>
            </a:r>
            <a:endParaRPr lang="en-US" altLang="ko-KR"/>
          </a:p>
          <a:p>
            <a:pPr lvl="1" fontAlgn="base"/>
            <a:r>
              <a:rPr lang="ko-KR" altLang="en-US"/>
              <a:t>다양한 위치로 이동하면서 사용할 경우</a:t>
            </a:r>
            <a:endParaRPr lang="en-US" altLang="ko-KR"/>
          </a:p>
          <a:p>
            <a:pPr lvl="1" fontAlgn="base"/>
            <a:r>
              <a:rPr lang="ko-KR" altLang="en-US" b="1"/>
              <a:t>이 책에서는 무선 인터넷 사용 방법 설명</a:t>
            </a:r>
            <a:endParaRPr lang="en-US" altLang="ko-KR" b="1"/>
          </a:p>
          <a:p>
            <a:pPr fontAlgn="base"/>
            <a:endParaRPr lang="en-US" altLang="ko-KR"/>
          </a:p>
          <a:p>
            <a:pPr fontAlgn="base"/>
            <a:r>
              <a:rPr lang="ko-KR" altLang="en-US"/>
              <a:t>라즈베리파이가 활용 가능한 무선 인터넷</a:t>
            </a:r>
            <a:endParaRPr lang="en-US" altLang="ko-KR"/>
          </a:p>
          <a:p>
            <a:pPr lvl="1" fontAlgn="base"/>
            <a:r>
              <a:rPr lang="ko-KR" altLang="en-US"/>
              <a:t>무선 공유기</a:t>
            </a:r>
            <a:endParaRPr lang="en-US" altLang="ko-KR"/>
          </a:p>
          <a:p>
            <a:pPr lvl="1" fontAlgn="base"/>
            <a:r>
              <a:rPr lang="ko-KR" altLang="en-US" b="1"/>
              <a:t>노트북 핫스팟</a:t>
            </a:r>
            <a:r>
              <a:rPr lang="en-US" altLang="ko-KR" b="1"/>
              <a:t>(</a:t>
            </a:r>
            <a:r>
              <a:rPr lang="ko-KR" altLang="en-US" b="1"/>
              <a:t>강력히 추천</a:t>
            </a:r>
            <a:r>
              <a:rPr lang="en-US" altLang="ko-KR" b="1"/>
              <a:t>)</a:t>
            </a:r>
          </a:p>
          <a:p>
            <a:pPr lvl="1" fontAlgn="base"/>
            <a:r>
              <a:rPr lang="ko-KR" altLang="en-US"/>
              <a:t>스마트폰 핫스팟</a:t>
            </a:r>
            <a:endParaRPr lang="en-US" altLang="ko-KR"/>
          </a:p>
          <a:p>
            <a:pPr lvl="1" fontAlgn="base"/>
            <a:endParaRPr lang="en-US" altLang="ko-KR"/>
          </a:p>
          <a:p>
            <a:pPr fontAlgn="base"/>
            <a:r>
              <a:rPr lang="ko-KR" altLang="en-US"/>
              <a:t>무선 인터넷에 연결하기 위해 반드시 필요한 정보</a:t>
            </a:r>
            <a:endParaRPr lang="en-US" altLang="ko-KR"/>
          </a:p>
          <a:p>
            <a:pPr lvl="1" fontAlgn="base"/>
            <a:r>
              <a:rPr lang="ko-KR" altLang="en-US"/>
              <a:t>무선인터넷 장치의 </a:t>
            </a:r>
            <a:r>
              <a:rPr lang="en-US" altLang="ko-KR" b="1"/>
              <a:t>SSID</a:t>
            </a:r>
            <a:r>
              <a:rPr lang="en-US" altLang="ko-KR"/>
              <a:t>(</a:t>
            </a:r>
            <a:r>
              <a:rPr lang="ko-KR" altLang="en-US"/>
              <a:t>무선 인터넷 이름</a:t>
            </a:r>
            <a:r>
              <a:rPr lang="en-US" altLang="ko-KR"/>
              <a:t>)</a:t>
            </a:r>
            <a:r>
              <a:rPr lang="ko-KR" altLang="en-US"/>
              <a:t>과 </a:t>
            </a:r>
            <a:r>
              <a:rPr lang="ko-KR" altLang="en-US" b="1"/>
              <a:t>비밀번호</a:t>
            </a:r>
            <a:endParaRPr lang="en-US" altLang="ko-KR" b="1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046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979481-86B1-4176-A760-01DA5877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391199"/>
            <a:ext cx="7655577" cy="4066498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1. </a:t>
            </a:r>
            <a:r>
              <a:rPr lang="ko-KR" altLang="en-US"/>
              <a:t>무선 공유기 활용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57B334-A307-48FB-8191-21C58F91A4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064731"/>
          </a:xfrm>
        </p:spPr>
        <p:txBody>
          <a:bodyPr>
            <a:normAutofit fontScale="70000" lnSpcReduction="20000"/>
          </a:bodyPr>
          <a:lstStyle/>
          <a:p>
            <a:r>
              <a:rPr lang="ko-KR" altLang="en-US"/>
              <a:t>무선 공유기 특징</a:t>
            </a:r>
            <a:endParaRPr lang="en-US" altLang="ko-KR"/>
          </a:p>
          <a:p>
            <a:pPr lvl="1"/>
            <a:r>
              <a:rPr lang="en-US" altLang="ko-KR"/>
              <a:t>SSID</a:t>
            </a:r>
            <a:r>
              <a:rPr lang="ko-KR" altLang="en-US"/>
              <a:t>로 구분</a:t>
            </a:r>
            <a:endParaRPr lang="en-US" altLang="ko-KR"/>
          </a:p>
          <a:p>
            <a:pPr lvl="1"/>
            <a:r>
              <a:rPr lang="ko-KR" altLang="en-US"/>
              <a:t>컴퓨터에게 사설 </a:t>
            </a:r>
            <a:r>
              <a:rPr lang="en-US" altLang="ko-KR"/>
              <a:t>IP(</a:t>
            </a:r>
            <a:r>
              <a:rPr lang="ko-KR" altLang="en-US"/>
              <a:t>혹은 유동 </a:t>
            </a:r>
            <a:r>
              <a:rPr lang="en-US" altLang="ko-KR"/>
              <a:t>IP) </a:t>
            </a:r>
            <a:r>
              <a:rPr lang="ko-KR" altLang="en-US"/>
              <a:t>발급</a:t>
            </a:r>
            <a:endParaRPr lang="en-US" altLang="ko-KR"/>
          </a:p>
          <a:p>
            <a:pPr lvl="1"/>
            <a:r>
              <a:rPr lang="ko-KR" altLang="en-US"/>
              <a:t>사설 </a:t>
            </a:r>
            <a:r>
              <a:rPr lang="en-US" altLang="ko-KR"/>
              <a:t>IP</a:t>
            </a:r>
            <a:r>
              <a:rPr lang="ko-KR" altLang="en-US"/>
              <a:t>는 사설 네트워크에서만 인식</a:t>
            </a:r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27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6390D-FFDA-4AB2-9BD2-DB86F39C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노트북 핫스팟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49701-53BF-4C52-8CD4-D3D29BC624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노트북 모바일 핫스팟</a:t>
            </a:r>
            <a:endParaRPr lang="en-US" altLang="ko-KR"/>
          </a:p>
          <a:p>
            <a:pPr lvl="1"/>
            <a:r>
              <a:rPr lang="ko-KR" altLang="en-US"/>
              <a:t>노트북의 무선 공유기 역할</a:t>
            </a:r>
            <a:endParaRPr lang="en-US" altLang="ko-KR"/>
          </a:p>
          <a:p>
            <a:pPr lvl="1"/>
            <a:r>
              <a:rPr lang="ko-KR" altLang="en-US"/>
              <a:t>대부분의 노트북에 핫스팟 기능의 하드웨어 내장</a:t>
            </a:r>
            <a:endParaRPr lang="en-US" altLang="ko-KR"/>
          </a:p>
          <a:p>
            <a:pPr lvl="1"/>
            <a:r>
              <a:rPr lang="ko-KR" altLang="en-US"/>
              <a:t>라즈베리파이가 연결할 무선 네트워크를 확보하는 방법으로 강력 추천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5D1790-33BE-4325-B214-973D438C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6259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63B2F-7117-4D02-B0D1-A0F2FFDF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노트북 핫스팟 만들기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5E8484-4953-413C-8FF9-58B0EB0929B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sz="2000"/>
              <a:t>(1) </a:t>
            </a:r>
            <a:r>
              <a:rPr lang="ko-KR" altLang="en-US" sz="2000"/>
              <a:t>노트북에서 주변의 무선 공유기에 연결</a:t>
            </a:r>
            <a:endParaRPr lang="en-US" altLang="ko-KR" sz="2000"/>
          </a:p>
          <a:p>
            <a:r>
              <a:rPr lang="en-US" altLang="ko-KR" sz="2000"/>
              <a:t>(2) </a:t>
            </a:r>
            <a:r>
              <a:rPr lang="ko-KR" altLang="en-US" sz="2000"/>
              <a:t>‘설정 </a:t>
            </a:r>
            <a:r>
              <a:rPr lang="en-US" altLang="ko-KR" sz="2000"/>
              <a:t>&gt; </a:t>
            </a:r>
            <a:r>
              <a:rPr lang="ko-KR" altLang="en-US" sz="2000"/>
              <a:t>네트워크 및 인터넷 </a:t>
            </a:r>
            <a:r>
              <a:rPr lang="en-US" altLang="ko-KR" sz="2000"/>
              <a:t>&gt; </a:t>
            </a:r>
            <a:r>
              <a:rPr lang="ko-KR" altLang="en-US" sz="2000"/>
              <a:t>모바일 핫스팟’ 메뉴</a:t>
            </a:r>
          </a:p>
          <a:p>
            <a:endParaRPr lang="ko-KR" altLang="en-US" sz="2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133989-0C1E-47F6-8663-492A6BFD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F7167E8-2872-4E68-AB8E-EE75E4C9D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7704" y="2276872"/>
            <a:ext cx="5616624" cy="438885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9399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9FF77-8BD1-4AA8-BE77-17017327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노트북 핫스팟 만들기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2491D-E804-4B19-BC84-DD560226AD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(3) </a:t>
            </a:r>
            <a:r>
              <a:rPr lang="ko-KR" altLang="en-US"/>
              <a:t>속성 메뉴에서 ‘편집’ 버튼을 눌러 다음 정보 설정</a:t>
            </a:r>
            <a:r>
              <a:rPr lang="en-US" altLang="ko-KR"/>
              <a:t> </a:t>
            </a:r>
            <a:endParaRPr lang="ko-KR" altLang="en-US"/>
          </a:p>
          <a:p>
            <a:pPr lvl="1"/>
            <a:r>
              <a:rPr lang="ko-KR" altLang="en-US"/>
              <a:t>네트워크 이름</a:t>
            </a:r>
            <a:r>
              <a:rPr lang="en-US" altLang="ko-KR"/>
              <a:t>(SSID) : </a:t>
            </a:r>
            <a:r>
              <a:rPr lang="ko-KR" altLang="en-US"/>
              <a:t>독자의 학번 입력 </a:t>
            </a:r>
          </a:p>
          <a:p>
            <a:pPr lvl="1"/>
            <a:r>
              <a:rPr lang="ko-KR" altLang="en-US"/>
              <a:t>암호</a:t>
            </a:r>
            <a:r>
              <a:rPr lang="en-US" altLang="ko-KR"/>
              <a:t>: 11111111</a:t>
            </a:r>
            <a:endParaRPr lang="ko-KR" altLang="en-US"/>
          </a:p>
          <a:p>
            <a:pPr lvl="1"/>
            <a:r>
              <a:rPr lang="ko-KR" altLang="en-US"/>
              <a:t>네트워크 대역</a:t>
            </a:r>
            <a:r>
              <a:rPr lang="en-US" altLang="ko-KR"/>
              <a:t>: ‘</a:t>
            </a:r>
            <a:r>
              <a:rPr lang="ko-KR" altLang="en-US"/>
              <a:t>사용가능한 모두’나 ‘</a:t>
            </a:r>
            <a:r>
              <a:rPr lang="en-US" altLang="ko-KR"/>
              <a:t>2.4GHz’</a:t>
            </a:r>
            <a:r>
              <a:rPr lang="ko-KR" altLang="en-US"/>
              <a:t>로 선택</a:t>
            </a:r>
            <a:endParaRPr lang="en-US" altLang="ko-KR"/>
          </a:p>
          <a:p>
            <a:pPr lvl="1"/>
            <a:r>
              <a:rPr lang="ko-KR" altLang="en-US"/>
              <a:t>보안 종류</a:t>
            </a:r>
            <a:r>
              <a:rPr lang="en-US" altLang="ko-KR"/>
              <a:t>: ‘WPA2/WPA3’</a:t>
            </a:r>
            <a:r>
              <a:rPr lang="ko-KR" altLang="en-US"/>
              <a:t>모두 가능하지만</a:t>
            </a:r>
            <a:r>
              <a:rPr lang="en-US" altLang="ko-KR"/>
              <a:t>, WPA2 </a:t>
            </a:r>
            <a:r>
              <a:rPr lang="ko-KR" altLang="en-US"/>
              <a:t>추천</a:t>
            </a:r>
            <a:r>
              <a:rPr lang="en-US" altLang="ko-KR"/>
              <a:t> </a:t>
            </a:r>
          </a:p>
          <a:p>
            <a:pPr lvl="1"/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F5C743-14AC-4B1C-A592-925A4B50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013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0A164-8BAB-46A8-A3A4-07E5F52D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노트북 핫스팟 만들기</a:t>
            </a:r>
            <a:r>
              <a:rPr lang="en-US" altLang="ko-KR"/>
              <a:t>(3)</a:t>
            </a:r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7E52032-A47E-4FE5-80EC-3592AEF4423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(4) </a:t>
            </a:r>
            <a:r>
              <a:rPr lang="ko-KR" altLang="en-US"/>
              <a:t>속성 변경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917176-31E7-445F-8684-3194AEE1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90C6C704-7765-41C5-BB1D-9962F6CE2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19672" y="1772816"/>
            <a:ext cx="6336704" cy="495142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4A79317-6164-4B36-9D60-01BD5FFAA44E}"/>
              </a:ext>
            </a:extLst>
          </p:cNvPr>
          <p:cNvSpPr/>
          <p:nvPr/>
        </p:nvSpPr>
        <p:spPr>
          <a:xfrm>
            <a:off x="3347864" y="4725144"/>
            <a:ext cx="2304256" cy="108012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691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제목 34">
            <a:extLst>
              <a:ext uri="{FF2B5EF4-FFF2-40B4-BE49-F238E27FC236}">
                <a16:creationId xmlns:a16="http://schemas.microsoft.com/office/drawing/2014/main" id="{395FC43C-656C-4B9F-BB69-052AECF8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노트북 핫스팟을 이용하는경우 네트워크 구성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33E69CF-8EE2-4CB2-92B6-EDBA8063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512" y="871214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8B9A81-3DB0-48FD-A346-D66EE5CAC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556791"/>
            <a:ext cx="7344816" cy="469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40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A58F47-3049-42C6-962E-027FDE30F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스마트폰 핫스팟 활용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98B163-40C5-4820-AC23-F02E0B51CF8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(1) </a:t>
            </a:r>
            <a:r>
              <a:rPr lang="ko-KR" altLang="en-US"/>
              <a:t>스마트폰에 무선 공유기나 </a:t>
            </a:r>
            <a:r>
              <a:rPr lang="en-US" altLang="ko-KR"/>
              <a:t>LTE/5G</a:t>
            </a:r>
            <a:r>
              <a:rPr lang="ko-KR" altLang="en-US"/>
              <a:t>에 연결</a:t>
            </a:r>
            <a:endParaRPr lang="en-US" altLang="ko-KR"/>
          </a:p>
          <a:p>
            <a:r>
              <a:rPr lang="en-US" altLang="ko-KR"/>
              <a:t>(2) </a:t>
            </a:r>
            <a:r>
              <a:rPr lang="ko-KR" altLang="en-US"/>
              <a:t>스마트폰에 모바일 핫스팟 만들기</a:t>
            </a:r>
            <a:endParaRPr lang="en-US" altLang="ko-KR"/>
          </a:p>
          <a:p>
            <a:pPr lvl="1"/>
            <a:r>
              <a:rPr lang="ko-KR" altLang="en-US"/>
              <a:t>무선 공유기의 역할</a:t>
            </a:r>
            <a:endParaRPr lang="en-US" altLang="ko-KR"/>
          </a:p>
          <a:p>
            <a:r>
              <a:rPr lang="ko-KR" altLang="en-US"/>
              <a:t>삼성 갤럭시 핫스팟 만들기 사례</a:t>
            </a:r>
            <a:endParaRPr lang="en-US" altLang="ko-KR"/>
          </a:p>
          <a:p>
            <a:pPr lvl="1"/>
            <a:r>
              <a:rPr lang="ko-KR" altLang="en-US"/>
              <a:t>설정 </a:t>
            </a:r>
            <a:r>
              <a:rPr lang="en-US" altLang="ko-KR"/>
              <a:t>&gt; </a:t>
            </a:r>
            <a:r>
              <a:rPr lang="ko-KR" altLang="en-US"/>
              <a:t>연결 </a:t>
            </a:r>
            <a:r>
              <a:rPr lang="en-US" altLang="ko-KR"/>
              <a:t>&gt; </a:t>
            </a:r>
            <a:r>
              <a:rPr lang="ko-KR" altLang="en-US"/>
              <a:t>모바일 핫스팟 및 테더링‘ 메뉴</a:t>
            </a:r>
            <a:endParaRPr lang="en-US" altLang="ko-KR"/>
          </a:p>
          <a:p>
            <a:pPr lvl="1"/>
            <a:r>
              <a:rPr lang="ko-KR" altLang="en-US"/>
              <a:t>’모바일 핫스팟‘의 켜기</a:t>
            </a:r>
            <a:endParaRPr lang="en-US" altLang="ko-KR"/>
          </a:p>
          <a:p>
            <a:pPr lvl="1"/>
            <a:r>
              <a:rPr lang="ko-KR" altLang="en-US"/>
              <a:t>‘설정’ 버튼</a:t>
            </a:r>
          </a:p>
          <a:p>
            <a:pPr lvl="2"/>
            <a:r>
              <a:rPr lang="ko-KR" altLang="en-US"/>
              <a:t>네트워크 이름</a:t>
            </a:r>
            <a:r>
              <a:rPr lang="en-US" altLang="ko-KR"/>
              <a:t>(SSID) : ‘KitaeGalaxy’</a:t>
            </a:r>
            <a:endParaRPr lang="ko-KR" altLang="en-US"/>
          </a:p>
          <a:p>
            <a:pPr lvl="2"/>
            <a:r>
              <a:rPr lang="ko-KR" altLang="en-US"/>
              <a:t>암호</a:t>
            </a:r>
            <a:r>
              <a:rPr lang="en-US" altLang="ko-KR"/>
              <a:t>: ‘11111111‘</a:t>
            </a:r>
          </a:p>
          <a:p>
            <a:pPr lvl="2"/>
            <a:r>
              <a:rPr lang="ko-KR" altLang="en-US"/>
              <a:t>네트워크 대역</a:t>
            </a:r>
            <a:r>
              <a:rPr lang="en-US" altLang="ko-KR"/>
              <a:t>: ’</a:t>
            </a:r>
            <a:r>
              <a:rPr lang="ko-KR" altLang="en-US"/>
              <a:t>사용가능한 모두‘나 ’</a:t>
            </a:r>
            <a:r>
              <a:rPr lang="en-US" altLang="ko-KR"/>
              <a:t>2.4GHz‘</a:t>
            </a:r>
            <a:r>
              <a:rPr lang="ko-KR" altLang="en-US"/>
              <a:t>로 선택 </a:t>
            </a:r>
          </a:p>
          <a:p>
            <a:pPr lvl="2"/>
            <a:r>
              <a:rPr lang="ko-KR" altLang="en-US"/>
              <a:t>보안 종류</a:t>
            </a:r>
            <a:r>
              <a:rPr lang="en-US" altLang="ko-KR"/>
              <a:t>: ‘WPA2-Personal’</a:t>
            </a:r>
            <a:endParaRPr lang="ko-KR" altLang="en-US"/>
          </a:p>
          <a:p>
            <a:pPr lvl="2"/>
            <a:r>
              <a:rPr lang="ko-KR" altLang="en-US"/>
              <a:t>‘기기 연결이 없을 때 자동으로 기능 끄기’를 ‘항상 켜짐’으로 설정</a:t>
            </a:r>
            <a:r>
              <a:rPr lang="en-US" altLang="ko-KR"/>
              <a:t> </a:t>
            </a:r>
            <a:endParaRPr lang="ko-KR" altLang="en-US"/>
          </a:p>
          <a:p>
            <a:pPr lvl="1"/>
            <a:endParaRPr lang="ko-KR" altLang="en-US"/>
          </a:p>
          <a:p>
            <a:pPr lvl="1"/>
            <a:endParaRPr lang="ko-KR" altLang="en-US"/>
          </a:p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692E96-90A7-41CB-8696-BFD6F7AE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58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D537E-4879-4462-A0D4-B06D2BBF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C3753EC0-1469-4F33-BB5D-A60697365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5151" y="542906"/>
            <a:ext cx="2194282" cy="5978952"/>
          </a:xfrm>
          <a:prstGeom prst="rect">
            <a:avLst/>
          </a:prstGeom>
          <a:noFill/>
          <a:ln>
            <a:solidFill>
              <a:srgbClr val="00B0F0"/>
            </a:solidFill>
          </a:ln>
          <a:effectLst/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5453BB6-1C54-4679-A508-CDF4141D3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0" y="548680"/>
            <a:ext cx="2201679" cy="5999910"/>
          </a:xfrm>
          <a:prstGeom prst="rect">
            <a:avLst/>
          </a:prstGeom>
          <a:noFill/>
          <a:ln>
            <a:solidFill>
              <a:srgbClr val="00B0F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594880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1261DCE-E997-441B-B7E5-CF2BA505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스마트폰 핫스팟을 이용하는 경우 네트워크 구성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637B37-053B-43EB-B95A-469166A6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6095B8-D88E-4A11-9EF4-BFD5D97D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40" y="1484784"/>
            <a:ext cx="7963108" cy="472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09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CDF6027-DDDA-476A-B356-C1215044F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C865AF7-2DCA-45AC-9D82-3BA50C84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2.2 </a:t>
            </a:r>
            <a:r>
              <a:rPr lang="ko-KR" altLang="en-US"/>
              <a:t>라즈베리파이 운영체제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CBA15-4E6F-4134-B882-D16D3E65FA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392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SD </a:t>
            </a:r>
            <a:r>
              <a:rPr lang="ko-KR" altLang="en-US"/>
              <a:t>카드에 라즈베리파이 운영체제 설치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ko-KR" altLang="en-US"/>
              <a:t>설치 과정</a:t>
            </a:r>
            <a:endParaRPr lang="en-US" altLang="ko-KR"/>
          </a:p>
          <a:p>
            <a:pPr lvl="1"/>
            <a:r>
              <a:rPr lang="ko-KR" altLang="en-US"/>
              <a:t>마이크로 </a:t>
            </a:r>
            <a:r>
              <a:rPr lang="en-US" altLang="ko-KR"/>
              <a:t>SD </a:t>
            </a:r>
            <a:r>
              <a:rPr lang="ko-KR" altLang="en-US"/>
              <a:t>카드와 </a:t>
            </a:r>
            <a:r>
              <a:rPr lang="en-US" altLang="ko-KR"/>
              <a:t>SD </a:t>
            </a:r>
            <a:r>
              <a:rPr lang="ko-KR" altLang="en-US"/>
              <a:t>카드 리더기 준비</a:t>
            </a:r>
          </a:p>
          <a:p>
            <a:pPr lvl="1"/>
            <a:r>
              <a:rPr lang="en-US" altLang="ko-KR"/>
              <a:t>PC</a:t>
            </a:r>
            <a:r>
              <a:rPr lang="ko-KR" altLang="en-US"/>
              <a:t>에 </a:t>
            </a:r>
            <a:r>
              <a:rPr lang="en-US" altLang="ko-KR"/>
              <a:t>SD </a:t>
            </a:r>
            <a:r>
              <a:rPr lang="ko-KR" altLang="en-US"/>
              <a:t>카드 장착</a:t>
            </a:r>
          </a:p>
          <a:p>
            <a:pPr lvl="1"/>
            <a:r>
              <a:rPr lang="en-US" altLang="ko-KR"/>
              <a:t>Raspberry</a:t>
            </a:r>
            <a:r>
              <a:rPr lang="ko-KR" altLang="en-US"/>
              <a:t> </a:t>
            </a:r>
            <a:r>
              <a:rPr lang="en-US" altLang="ko-KR"/>
              <a:t>Pi</a:t>
            </a:r>
            <a:r>
              <a:rPr lang="ko-KR" altLang="en-US"/>
              <a:t> </a:t>
            </a:r>
            <a:r>
              <a:rPr lang="en-US" altLang="ko-KR"/>
              <a:t>Imager </a:t>
            </a:r>
            <a:r>
              <a:rPr lang="ko-KR" altLang="en-US"/>
              <a:t>프로그램 다운로드</a:t>
            </a:r>
          </a:p>
          <a:p>
            <a:pPr lvl="1"/>
            <a:r>
              <a:rPr lang="en-US" altLang="ko-KR"/>
              <a:t>Raspberry</a:t>
            </a:r>
            <a:r>
              <a:rPr lang="ko-KR" altLang="en-US"/>
              <a:t> </a:t>
            </a:r>
            <a:r>
              <a:rPr lang="en-US" altLang="ko-KR"/>
              <a:t>Pi</a:t>
            </a:r>
            <a:r>
              <a:rPr lang="ko-KR" altLang="en-US"/>
              <a:t> </a:t>
            </a:r>
            <a:r>
              <a:rPr lang="en-US" altLang="ko-KR"/>
              <a:t>Imager</a:t>
            </a:r>
            <a:r>
              <a:rPr lang="ko-KR" altLang="en-US"/>
              <a:t>로 </a:t>
            </a:r>
            <a:r>
              <a:rPr lang="en-US" altLang="ko-KR"/>
              <a:t>SD </a:t>
            </a:r>
            <a:r>
              <a:rPr lang="ko-KR" altLang="en-US"/>
              <a:t>카드에 라즈베리파이 운영체제 설치</a:t>
            </a:r>
          </a:p>
          <a:p>
            <a:pPr lvl="1"/>
            <a:r>
              <a:rPr lang="en-US" altLang="ko-KR"/>
              <a:t>SD </a:t>
            </a:r>
            <a:r>
              <a:rPr lang="ko-KR" altLang="en-US"/>
              <a:t>카드를 라즈베리파이에 삽입</a:t>
            </a:r>
          </a:p>
          <a:p>
            <a:pPr lvl="1"/>
            <a:r>
              <a:rPr lang="ko-KR" altLang="en-US"/>
              <a:t>전원 켜기</a:t>
            </a:r>
            <a:r>
              <a:rPr lang="en-US" altLang="ko-KR"/>
              <a:t>. </a:t>
            </a:r>
            <a:r>
              <a:rPr lang="ko-KR" altLang="en-US"/>
              <a:t>전원이 연결되면 즉각 </a:t>
            </a:r>
            <a:r>
              <a:rPr lang="en-US" altLang="ko-KR"/>
              <a:t>SD </a:t>
            </a:r>
            <a:r>
              <a:rPr lang="ko-KR" altLang="en-US"/>
              <a:t>카드로부터 부팅</a:t>
            </a:r>
          </a:p>
          <a:p>
            <a:pPr lvl="1"/>
            <a:endParaRPr lang="ko-KR" altLang="en-US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60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646978E-EB7A-435D-B1D9-F6CE9320EE4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51" r="18234" b="-969"/>
          <a:stretch/>
        </p:blipFill>
        <p:spPr>
          <a:xfrm rot="5400000">
            <a:off x="4838894" y="2817053"/>
            <a:ext cx="1440160" cy="226198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56919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/>
              <a:t>* </a:t>
            </a:r>
            <a:r>
              <a:rPr lang="ko-KR" altLang="en-US"/>
              <a:t>라즈베리파이는 마이크로</a:t>
            </a:r>
            <a:r>
              <a:rPr lang="en-US" altLang="ko-KR"/>
              <a:t> SD</a:t>
            </a:r>
            <a:r>
              <a:rPr lang="ko-KR" altLang="en-US"/>
              <a:t> 카드</a:t>
            </a:r>
            <a:r>
              <a:rPr lang="en-US" altLang="ko-KR"/>
              <a:t>(</a:t>
            </a:r>
            <a:r>
              <a:rPr lang="ko-KR" altLang="en-US"/>
              <a:t>이하 </a:t>
            </a:r>
            <a:r>
              <a:rPr lang="en-US" altLang="ko-KR"/>
              <a:t>SD </a:t>
            </a:r>
            <a:r>
              <a:rPr lang="ko-KR" altLang="en-US"/>
              <a:t>카드</a:t>
            </a:r>
            <a:r>
              <a:rPr lang="en-US" altLang="ko-KR"/>
              <a:t>)</a:t>
            </a:r>
            <a:r>
              <a:rPr lang="ko-KR" altLang="en-US"/>
              <a:t>에서 부팅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PC</a:t>
            </a:r>
            <a:r>
              <a:rPr lang="ko-KR" altLang="en-US"/>
              <a:t>의 </a:t>
            </a:r>
            <a:r>
              <a:rPr lang="en-US" altLang="ko-KR"/>
              <a:t>USB</a:t>
            </a:r>
            <a:r>
              <a:rPr lang="ko-KR" altLang="en-US"/>
              <a:t>에 마이크로</a:t>
            </a:r>
            <a:r>
              <a:rPr lang="en-US" altLang="ko-KR"/>
              <a:t> SD </a:t>
            </a:r>
            <a:r>
              <a:rPr lang="ko-KR" altLang="en-US"/>
              <a:t>카드 리더기를 연결</a:t>
            </a:r>
            <a:endParaRPr lang="en-US" altLang="ko-KR"/>
          </a:p>
          <a:p>
            <a:r>
              <a:rPr lang="en-US" altLang="ko-KR"/>
              <a:t>SD </a:t>
            </a:r>
            <a:r>
              <a:rPr lang="ko-KR" altLang="en-US"/>
              <a:t>카더 리더기에 </a:t>
            </a:r>
            <a:r>
              <a:rPr lang="en-US" altLang="ko-KR"/>
              <a:t>SD </a:t>
            </a:r>
            <a:r>
              <a:rPr lang="ko-KR" altLang="en-US"/>
              <a:t>카드</a:t>
            </a:r>
            <a:r>
              <a:rPr lang="en-US" altLang="ko-KR"/>
              <a:t> </a:t>
            </a:r>
            <a:r>
              <a:rPr lang="ko-KR" altLang="en-US"/>
              <a:t>삽입</a:t>
            </a:r>
            <a:endParaRPr lang="en-US" altLang="ko-KR"/>
          </a:p>
          <a:p>
            <a:pPr lvl="1"/>
            <a:r>
              <a:rPr lang="en-US" altLang="ko-KR"/>
              <a:t>16GB </a:t>
            </a:r>
            <a:r>
              <a:rPr lang="ko-KR" altLang="en-US"/>
              <a:t>이상 용량 필요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SD </a:t>
            </a:r>
            <a:r>
              <a:rPr lang="ko-KR" altLang="en-US"/>
              <a:t>카드 리더기에 </a:t>
            </a:r>
            <a:r>
              <a:rPr lang="en-US" altLang="ko-KR" dirty="0"/>
              <a:t>SC </a:t>
            </a:r>
            <a:r>
              <a:rPr lang="ko-KR" altLang="en-US"/>
              <a:t>카드 준비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3163597" y="5035804"/>
            <a:ext cx="14109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/>
              <a:t>마이크로</a:t>
            </a:r>
            <a:r>
              <a:rPr lang="en-US" altLang="ko-KR" sz="1200"/>
              <a:t> </a:t>
            </a:r>
            <a:r>
              <a:rPr lang="en-US" altLang="ko-KR" sz="1200" dirty="0"/>
              <a:t>SD </a:t>
            </a:r>
            <a:r>
              <a:rPr lang="ko-KR" altLang="en-US" sz="1200" dirty="0"/>
              <a:t>카드</a:t>
            </a:r>
          </a:p>
        </p:txBody>
      </p:sp>
      <p:cxnSp>
        <p:nvCxnSpPr>
          <p:cNvPr id="9" name="구부러진 연결선 8"/>
          <p:cNvCxnSpPr>
            <a:cxnSpLocks/>
            <a:stCxn id="7" idx="0"/>
          </p:cNvCxnSpPr>
          <p:nvPr/>
        </p:nvCxnSpPr>
        <p:spPr>
          <a:xfrm rot="5400000" flipH="1" flipV="1">
            <a:off x="3784674" y="4176471"/>
            <a:ext cx="943739" cy="77492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4678667" y="5035804"/>
            <a:ext cx="22894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/>
              <a:t>마이크로</a:t>
            </a:r>
            <a:r>
              <a:rPr lang="en-US" altLang="ko-KR" sz="1200"/>
              <a:t> </a:t>
            </a:r>
            <a:r>
              <a:rPr lang="en-US" altLang="ko-KR" sz="1200" dirty="0"/>
              <a:t>SD </a:t>
            </a:r>
            <a:r>
              <a:rPr lang="ko-KR" altLang="en-US" sz="1200" dirty="0"/>
              <a:t>카드를 읽기 위한</a:t>
            </a:r>
            <a:endParaRPr lang="en-US" altLang="ko-KR" sz="1200" dirty="0"/>
          </a:p>
          <a:p>
            <a:r>
              <a:rPr lang="en-US" altLang="ko-KR" sz="1200" dirty="0"/>
              <a:t>SD </a:t>
            </a:r>
            <a:r>
              <a:rPr lang="ko-KR" altLang="en-US" sz="1200" dirty="0"/>
              <a:t>카드 리더 장치</a:t>
            </a:r>
          </a:p>
        </p:txBody>
      </p:sp>
      <p:cxnSp>
        <p:nvCxnSpPr>
          <p:cNvPr id="15" name="구부러진 연결선 14"/>
          <p:cNvCxnSpPr>
            <a:cxnSpLocks/>
            <a:stCxn id="12" idx="0"/>
          </p:cNvCxnSpPr>
          <p:nvPr/>
        </p:nvCxnSpPr>
        <p:spPr>
          <a:xfrm rot="16200000" flipV="1">
            <a:off x="5019215" y="4231647"/>
            <a:ext cx="799730" cy="808584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구부러진 연결선 14">
            <a:extLst>
              <a:ext uri="{FF2B5EF4-FFF2-40B4-BE49-F238E27FC236}">
                <a16:creationId xmlns:a16="http://schemas.microsoft.com/office/drawing/2014/main" id="{6836DC2C-FB1D-4EDD-A151-51F8EF206DDD}"/>
              </a:ext>
            </a:extLst>
          </p:cNvPr>
          <p:cNvCxnSpPr>
            <a:cxnSpLocks/>
            <a:stCxn id="24" idx="0"/>
          </p:cNvCxnSpPr>
          <p:nvPr/>
        </p:nvCxnSpPr>
        <p:spPr>
          <a:xfrm rot="16200000" flipV="1">
            <a:off x="6659861" y="3554405"/>
            <a:ext cx="748593" cy="1967916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5C9F3E9-590B-4E82-B1C4-C61E52221793}"/>
              </a:ext>
            </a:extLst>
          </p:cNvPr>
          <p:cNvSpPr/>
          <p:nvPr/>
        </p:nvSpPr>
        <p:spPr>
          <a:xfrm>
            <a:off x="7072182" y="4912659"/>
            <a:ext cx="189186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PC</a:t>
            </a:r>
            <a:r>
              <a:rPr lang="ko-KR" altLang="en-US" sz="1200" dirty="0"/>
              <a:t>에 연결된 </a:t>
            </a:r>
            <a:r>
              <a:rPr lang="en-US" altLang="ko-KR" sz="1200" dirty="0"/>
              <a:t>USB </a:t>
            </a:r>
            <a:r>
              <a:rPr lang="ko-KR" altLang="en-US" sz="1200" dirty="0"/>
              <a:t>케이블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C57F85-D2B5-4E00-BDFA-30292DEAA6EF}"/>
              </a:ext>
            </a:extLst>
          </p:cNvPr>
          <p:cNvSpPr txBox="1"/>
          <p:nvPr/>
        </p:nvSpPr>
        <p:spPr>
          <a:xfrm>
            <a:off x="987285" y="4835750"/>
            <a:ext cx="18197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/>
              <a:t>마이크로</a:t>
            </a:r>
            <a:r>
              <a:rPr lang="en-US" altLang="ko-KR" sz="1600"/>
              <a:t> </a:t>
            </a:r>
            <a:r>
              <a:rPr lang="en-US" altLang="ko-KR" sz="1600" dirty="0"/>
              <a:t>SD </a:t>
            </a:r>
            <a:r>
              <a:rPr lang="ko-KR" altLang="en-US" sz="1600" dirty="0"/>
              <a:t>카드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C3FA6E9-7911-4C6B-B353-355C97DC4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755" y="3432480"/>
            <a:ext cx="1654845" cy="123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76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>
            <a:extLst>
              <a:ext uri="{FF2B5EF4-FFF2-40B4-BE49-F238E27FC236}">
                <a16:creationId xmlns:a16="http://schemas.microsoft.com/office/drawing/2014/main" id="{50E56DF5-3D9B-4F76-8A8C-9CE571DD8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1600" y="2564904"/>
            <a:ext cx="7082671" cy="389684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Raspberry PI </a:t>
            </a:r>
            <a:r>
              <a:rPr lang="en-US" altLang="ko-KR"/>
              <a:t>Imager </a:t>
            </a:r>
            <a:r>
              <a:rPr lang="ko-KR" altLang="en-US"/>
              <a:t>프로그램 다운로드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224136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Raspberry </a:t>
            </a:r>
            <a:r>
              <a:rPr lang="en-US" altLang="ko-KR"/>
              <a:t>Pi Imager</a:t>
            </a:r>
          </a:p>
          <a:p>
            <a:pPr lvl="1"/>
            <a:r>
              <a:rPr lang="ko-KR" altLang="en-US"/>
              <a:t>라즈베리파이 운영체제를 </a:t>
            </a:r>
            <a:r>
              <a:rPr lang="en-US" altLang="ko-KR"/>
              <a:t>SD </a:t>
            </a:r>
            <a:r>
              <a:rPr lang="ko-KR" altLang="en-US"/>
              <a:t>카드에 설치하는 소프트웨어</a:t>
            </a:r>
            <a:endParaRPr lang="en-US" altLang="ko-KR"/>
          </a:p>
          <a:p>
            <a:r>
              <a:rPr lang="en-US" altLang="ko-KR"/>
              <a:t>PC</a:t>
            </a:r>
            <a:r>
              <a:rPr lang="ko-KR" altLang="en-US"/>
              <a:t>에 </a:t>
            </a:r>
            <a:r>
              <a:rPr lang="en-US" altLang="ko-KR"/>
              <a:t>Raspberry </a:t>
            </a:r>
            <a:r>
              <a:rPr lang="en-US" altLang="ko-KR" dirty="0"/>
              <a:t>Pi </a:t>
            </a:r>
            <a:r>
              <a:rPr lang="en-US" altLang="ko-KR"/>
              <a:t>Imager </a:t>
            </a:r>
            <a:r>
              <a:rPr lang="ko-KR" altLang="en-US"/>
              <a:t>다운로드 및 설치</a:t>
            </a:r>
            <a:endParaRPr lang="en-US" altLang="ko-KR" dirty="0"/>
          </a:p>
          <a:p>
            <a:pPr lvl="1"/>
            <a:r>
              <a:rPr lang="ko-KR" altLang="en-US" dirty="0"/>
              <a:t>https://www.raspberrypi.com/software/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4657E51-DE07-453C-AFA6-AE28409FB583}"/>
              </a:ext>
            </a:extLst>
          </p:cNvPr>
          <p:cNvSpPr/>
          <p:nvPr/>
        </p:nvSpPr>
        <p:spPr>
          <a:xfrm>
            <a:off x="1208404" y="4900330"/>
            <a:ext cx="2304256" cy="50405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424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CB2BF-BD8D-4947-A89F-FF0E6F90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Imager </a:t>
            </a:r>
            <a:r>
              <a:rPr lang="ko-KR" altLang="en-US"/>
              <a:t>프로그램 실행 </a:t>
            </a:r>
            <a:r>
              <a:rPr lang="en-US" altLang="ko-KR"/>
              <a:t>- [</a:t>
            </a:r>
            <a:r>
              <a:rPr lang="ko-KR" altLang="en-US"/>
              <a:t>단계 </a:t>
            </a:r>
            <a:r>
              <a:rPr lang="en-US" altLang="ko-KR"/>
              <a:t>1] </a:t>
            </a:r>
            <a:r>
              <a:rPr lang="ko-KR" altLang="en-US"/>
              <a:t>장치 선택</a:t>
            </a:r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564C2E9E-412C-4F1A-A8A9-2F3A9351E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528" y="1700808"/>
            <a:ext cx="6097838" cy="403244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DC8FD7-9C70-4BE9-A691-27ED335BF60B}"/>
              </a:ext>
            </a:extLst>
          </p:cNvPr>
          <p:cNvSpPr txBox="1"/>
          <p:nvPr/>
        </p:nvSpPr>
        <p:spPr>
          <a:xfrm>
            <a:off x="6516216" y="1844824"/>
            <a:ext cx="230422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 책에서는</a:t>
            </a:r>
            <a:endParaRPr lang="en-US" altLang="ko-KR"/>
          </a:p>
          <a:p>
            <a:r>
              <a:rPr lang="en-US" altLang="ko-KR"/>
              <a:t>Raspberry Pi 4 </a:t>
            </a:r>
            <a:r>
              <a:rPr lang="ko-KR" altLang="en-US"/>
              <a:t>선택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독자들은 </a:t>
            </a:r>
            <a:endParaRPr lang="en-US" altLang="ko-KR"/>
          </a:p>
          <a:p>
            <a:r>
              <a:rPr lang="ko-KR" altLang="en-US"/>
              <a:t>자신이 가지고 있는 </a:t>
            </a:r>
            <a:endParaRPr lang="en-US" altLang="ko-KR"/>
          </a:p>
          <a:p>
            <a:r>
              <a:rPr lang="ko-KR" altLang="en-US"/>
              <a:t>모델 선택</a:t>
            </a:r>
          </a:p>
        </p:txBody>
      </p:sp>
    </p:spTree>
    <p:extLst>
      <p:ext uri="{BB962C8B-B14F-4D97-AF65-F5344CB8AC3E}">
        <p14:creationId xmlns:p14="http://schemas.microsoft.com/office/powerpoint/2010/main" val="276068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77538-D43B-4543-B8B0-3407A4AA3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2] </a:t>
            </a:r>
            <a:r>
              <a:rPr lang="ko-KR" altLang="en-US"/>
              <a:t>운영체제 선택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C38E182-002D-4D64-97CC-602CB8F2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E8678E70-5CD2-47CB-8B9E-694E9CAB8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" y="1700808"/>
            <a:ext cx="5880008" cy="388843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23726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6C083-6971-4113-B32B-5B96BBA9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3] </a:t>
            </a:r>
            <a:r>
              <a:rPr lang="ko-KR" altLang="en-US"/>
              <a:t>저장 장치 선택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212EF1-B4D4-456F-9B05-F5DCF3D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067EFD5F-E1C1-4837-90EC-87B740C06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4675" y="1556792"/>
            <a:ext cx="6097785" cy="40324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84007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29258E-0E54-40E1-842F-B6CB83D26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4] </a:t>
            </a:r>
            <a:r>
              <a:rPr lang="ko-KR" altLang="en-US"/>
              <a:t>호스트 이름 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E1598DB-E702-42C5-8111-8EC88AEA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EB44C4DA-A86B-4D7E-986D-C0FBED572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4675" y="1628800"/>
            <a:ext cx="5730195" cy="403244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F99C25-AD33-4968-82CF-DC09A1BDE1A0}"/>
              </a:ext>
            </a:extLst>
          </p:cNvPr>
          <p:cNvSpPr txBox="1"/>
          <p:nvPr/>
        </p:nvSpPr>
        <p:spPr>
          <a:xfrm>
            <a:off x="6372200" y="1844824"/>
            <a:ext cx="2425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다른 학생과 충돌하지</a:t>
            </a:r>
            <a:endParaRPr lang="en-US" altLang="ko-KR"/>
          </a:p>
          <a:p>
            <a:r>
              <a:rPr lang="ko-KR" altLang="en-US"/>
              <a:t>않도록</a:t>
            </a:r>
            <a:endParaRPr lang="en-US" altLang="ko-KR"/>
          </a:p>
          <a:p>
            <a:r>
              <a:rPr lang="en-US" altLang="ko-KR"/>
              <a:t>'h' + </a:t>
            </a:r>
            <a:r>
              <a:rPr lang="ko-KR" altLang="en-US"/>
              <a:t>학번으로 </a:t>
            </a:r>
            <a:endParaRPr lang="en-US" altLang="ko-KR"/>
          </a:p>
          <a:p>
            <a:r>
              <a:rPr lang="ko-KR" altLang="en-US"/>
              <a:t>호스트 이름 설정</a:t>
            </a:r>
          </a:p>
        </p:txBody>
      </p:sp>
    </p:spTree>
    <p:extLst>
      <p:ext uri="{BB962C8B-B14F-4D97-AF65-F5344CB8AC3E}">
        <p14:creationId xmlns:p14="http://schemas.microsoft.com/office/powerpoint/2010/main" val="4093822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1DB9E-D4A7-4733-9032-78409468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5] </a:t>
            </a:r>
            <a:r>
              <a:rPr lang="ko-KR" altLang="en-US"/>
              <a:t>지역화 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DC4BC8-CC0F-41CE-BA48-2F592CEEB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4" name="Picture 19">
            <a:extLst>
              <a:ext uri="{FF2B5EF4-FFF2-40B4-BE49-F238E27FC236}">
                <a16:creationId xmlns:a16="http://schemas.microsoft.com/office/drawing/2014/main" id="{8ADC2378-0207-4645-A7A8-047A2A501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6487" y="1628800"/>
            <a:ext cx="6083746" cy="402306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51862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4913C31-E0BA-4706-8CFA-BC563B66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6] </a:t>
            </a:r>
            <a:r>
              <a:rPr lang="ko-KR" altLang="en-US"/>
              <a:t>사용자 계정 만들기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DD2EF650-9F36-4204-A009-960FD4D19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0953" y="1556792"/>
            <a:ext cx="5719240" cy="378197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625811-BB13-42AB-BEC4-3434845B95FC}"/>
              </a:ext>
            </a:extLst>
          </p:cNvPr>
          <p:cNvSpPr txBox="1"/>
          <p:nvPr/>
        </p:nvSpPr>
        <p:spPr>
          <a:xfrm>
            <a:off x="6444208" y="1883043"/>
            <a:ext cx="26997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부팅 후</a:t>
            </a:r>
            <a:r>
              <a:rPr lang="en-US" altLang="ko-KR"/>
              <a:t>,</a:t>
            </a:r>
            <a:r>
              <a:rPr lang="ko-KR" altLang="en-US"/>
              <a:t> 로그인할 </a:t>
            </a:r>
            <a:r>
              <a:rPr lang="en-US" altLang="ko-KR"/>
              <a:t>ID</a:t>
            </a:r>
            <a:r>
              <a:rPr lang="ko-KR" altLang="en-US"/>
              <a:t>와 </a:t>
            </a:r>
            <a:endParaRPr lang="en-US" altLang="ko-KR"/>
          </a:p>
          <a:p>
            <a:r>
              <a:rPr lang="ko-KR" altLang="en-US"/>
              <a:t>비밀번호를 만드는 과정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기억하기 쉽게</a:t>
            </a:r>
            <a:endParaRPr lang="en-US" altLang="ko-KR"/>
          </a:p>
          <a:p>
            <a:r>
              <a:rPr lang="ko-KR" altLang="en-US"/>
              <a:t>사용자 이름 </a:t>
            </a:r>
            <a:r>
              <a:rPr lang="en-US" altLang="ko-KR"/>
              <a:t>: pi</a:t>
            </a:r>
          </a:p>
          <a:p>
            <a:r>
              <a:rPr lang="ko-KR" altLang="en-US"/>
              <a:t>비밀번호 </a:t>
            </a:r>
            <a:r>
              <a:rPr lang="en-US" altLang="ko-KR"/>
              <a:t>: pi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772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ED444-4BAD-4612-91C4-5A6A1552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7] Wi-Fi</a:t>
            </a:r>
            <a:r>
              <a:rPr lang="ko-KR" altLang="en-US"/>
              <a:t> 선택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7CA074-CC6C-44C4-9573-6BF5A09006C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부팅 후 자동 연결할 무선 네트워크 지정 </a:t>
            </a:r>
            <a:r>
              <a:rPr lang="en-US" altLang="ko-KR"/>
              <a:t>- </a:t>
            </a:r>
            <a:r>
              <a:rPr lang="ko-KR" altLang="en-US" b="1"/>
              <a:t>중요한 과정</a:t>
            </a:r>
            <a:endParaRPr lang="en-US" altLang="ko-KR" b="1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07A6EDD-34B6-4672-A4CA-3153784C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Picture 23">
            <a:extLst>
              <a:ext uri="{FF2B5EF4-FFF2-40B4-BE49-F238E27FC236}">
                <a16:creationId xmlns:a16="http://schemas.microsoft.com/office/drawing/2014/main" id="{AC519EE2-B550-4814-9798-B50F7F81A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6619" y="2060848"/>
            <a:ext cx="5573333" cy="381642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E226DDC-B1FC-41C4-80A8-5538093CAD72}"/>
              </a:ext>
            </a:extLst>
          </p:cNvPr>
          <p:cNvSpPr/>
          <p:nvPr/>
        </p:nvSpPr>
        <p:spPr>
          <a:xfrm>
            <a:off x="6339231" y="2564904"/>
            <a:ext cx="26972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이 책에서는</a:t>
            </a:r>
            <a:r>
              <a:rPr lang="en-US" altLang="ko-KR"/>
              <a:t>, </a:t>
            </a:r>
          </a:p>
          <a:p>
            <a:r>
              <a:rPr lang="ko-KR" altLang="en-US"/>
              <a:t>앞서 만든</a:t>
            </a:r>
            <a:endParaRPr lang="en-US" altLang="ko-KR"/>
          </a:p>
          <a:p>
            <a:r>
              <a:rPr lang="ko-KR" altLang="en-US"/>
              <a:t>노트북 핫스팟의 </a:t>
            </a:r>
            <a:r>
              <a:rPr lang="en-US" altLang="ko-KR"/>
              <a:t>SSID</a:t>
            </a:r>
            <a:r>
              <a:rPr lang="ko-KR" altLang="en-US"/>
              <a:t>와 </a:t>
            </a:r>
            <a:endParaRPr lang="en-US" altLang="ko-KR"/>
          </a:p>
          <a:p>
            <a:r>
              <a:rPr lang="ko-KR" altLang="en-US"/>
              <a:t>비밀번호 입력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SSID</a:t>
            </a:r>
            <a:r>
              <a:rPr lang="ko-KR" altLang="en-US"/>
              <a:t>는 학번</a:t>
            </a:r>
            <a:endParaRPr lang="en-US" altLang="ko-KR"/>
          </a:p>
          <a:p>
            <a:r>
              <a:rPr lang="ko-KR" altLang="en-US"/>
              <a:t>비밀번호는 </a:t>
            </a:r>
            <a:r>
              <a:rPr lang="en-US" altLang="ko-KR"/>
              <a:t>11111111</a:t>
            </a:r>
          </a:p>
          <a:p>
            <a:r>
              <a:rPr lang="ko-KR" altLang="en-US"/>
              <a:t>로 만들어 두었음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4119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D2A9B-42DC-4D4C-B99B-51602E96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8] SSH </a:t>
            </a:r>
            <a:r>
              <a:rPr lang="ko-KR" altLang="en-US"/>
              <a:t>인증 켜기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3DDD57-6A74-4773-9C0D-E9AE9279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 dirty="0"/>
          </a:p>
        </p:txBody>
      </p:sp>
      <p:pic>
        <p:nvPicPr>
          <p:cNvPr id="6" name="Picture 25">
            <a:extLst>
              <a:ext uri="{FF2B5EF4-FFF2-40B4-BE49-F238E27FC236}">
                <a16:creationId xmlns:a16="http://schemas.microsoft.com/office/drawing/2014/main" id="{CC39BAEA-D72E-4AC8-833E-2832DE944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648" y="1700808"/>
            <a:ext cx="5783572" cy="39604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6ED1C9-16C6-45DE-BB78-BD25367DCD5B}"/>
              </a:ext>
            </a:extLst>
          </p:cNvPr>
          <p:cNvSpPr txBox="1"/>
          <p:nvPr/>
        </p:nvSpPr>
        <p:spPr>
          <a:xfrm>
            <a:off x="6616100" y="2022629"/>
            <a:ext cx="2149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SSH</a:t>
            </a:r>
            <a:r>
              <a:rPr lang="ko-KR" altLang="en-US"/>
              <a:t>를 켜지 않으면</a:t>
            </a:r>
            <a:endParaRPr lang="en-US" altLang="ko-KR"/>
          </a:p>
          <a:p>
            <a:r>
              <a:rPr lang="ko-KR" altLang="en-US"/>
              <a:t>원격 접속이 안됨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C037A0F-4872-439E-9BFC-526FB41EACD7}"/>
              </a:ext>
            </a:extLst>
          </p:cNvPr>
          <p:cNvSpPr/>
          <p:nvPr/>
        </p:nvSpPr>
        <p:spPr>
          <a:xfrm>
            <a:off x="5436096" y="2645270"/>
            <a:ext cx="960124" cy="48559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A729854-DE95-4F15-83C3-9AE43177DD01}"/>
              </a:ext>
            </a:extLst>
          </p:cNvPr>
          <p:cNvSpPr/>
          <p:nvPr/>
        </p:nvSpPr>
        <p:spPr>
          <a:xfrm>
            <a:off x="3275856" y="3131670"/>
            <a:ext cx="1512168" cy="48559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550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CD4B3-07A5-484F-8C28-CA8EF8D30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9] </a:t>
            </a:r>
            <a:r>
              <a:rPr lang="ko-KR" altLang="en-US"/>
              <a:t>라즈베리파이 커넥트 비활성화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FDD574-F6F2-4BEC-9481-417323D1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 dirty="0"/>
          </a:p>
        </p:txBody>
      </p:sp>
      <p:pic>
        <p:nvPicPr>
          <p:cNvPr id="5" name="Picture 27">
            <a:extLst>
              <a:ext uri="{FF2B5EF4-FFF2-40B4-BE49-F238E27FC236}">
                <a16:creationId xmlns:a16="http://schemas.microsoft.com/office/drawing/2014/main" id="{B17AEE3D-CC93-4012-A031-8C3120E67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234" y="1772816"/>
            <a:ext cx="5257822" cy="36004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48322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28526-AFB1-4BE1-9C43-B9150054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10] </a:t>
            </a:r>
            <a:r>
              <a:rPr lang="ko-KR" altLang="en-US"/>
              <a:t>이미지</a:t>
            </a:r>
            <a:r>
              <a:rPr lang="en-US" altLang="ko-KR"/>
              <a:t>(</a:t>
            </a:r>
            <a:r>
              <a:rPr lang="ko-KR" altLang="en-US"/>
              <a:t>운영체제</a:t>
            </a:r>
            <a:r>
              <a:rPr lang="en-US" altLang="ko-KR"/>
              <a:t>)</a:t>
            </a:r>
            <a:r>
              <a:rPr lang="ko-KR" altLang="en-US"/>
              <a:t> 기록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E6F511-D433-4A17-A136-219C4E6B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 dirty="0"/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92720F58-F39D-4BFE-8083-C738D6DB5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5174" y="1772816"/>
            <a:ext cx="5324978" cy="364636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35060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0F8E0-6A1A-45B4-B54C-18364E523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11] </a:t>
            </a:r>
            <a:r>
              <a:rPr lang="ko-KR" altLang="en-US"/>
              <a:t>팝업</a:t>
            </a:r>
          </a:p>
        </p:txBody>
      </p:sp>
      <p:pic>
        <p:nvPicPr>
          <p:cNvPr id="6" name="Picture 31">
            <a:extLst>
              <a:ext uri="{FF2B5EF4-FFF2-40B4-BE49-F238E27FC236}">
                <a16:creationId xmlns:a16="http://schemas.microsoft.com/office/drawing/2014/main" id="{00E49E26-137C-4111-B52E-8BD52C99B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" y="1628800"/>
            <a:ext cx="5832648" cy="410443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90488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ADC3-9FE8-42C1-9AC5-D26074E3A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단계 </a:t>
            </a:r>
            <a:r>
              <a:rPr lang="en-US" altLang="ko-KR"/>
              <a:t>12] </a:t>
            </a:r>
            <a:r>
              <a:rPr lang="ko-KR" altLang="en-US"/>
              <a:t>운영체제 기록 진행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E4BA8D-4874-47CD-8B06-FFDBEAD18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4" name="Picture 33">
            <a:extLst>
              <a:ext uri="{FF2B5EF4-FFF2-40B4-BE49-F238E27FC236}">
                <a16:creationId xmlns:a16="http://schemas.microsoft.com/office/drawing/2014/main" id="{4843867E-9D5B-49DF-AA90-45FEAB535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4002" y="1772816"/>
            <a:ext cx="5218657" cy="367240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BB276A-C93F-4E11-8265-0833E7E5C71D}"/>
              </a:ext>
            </a:extLst>
          </p:cNvPr>
          <p:cNvSpPr txBox="1"/>
          <p:nvPr/>
        </p:nvSpPr>
        <p:spPr>
          <a:xfrm>
            <a:off x="6228184" y="2060848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약 </a:t>
            </a:r>
            <a:r>
              <a:rPr lang="en-US" altLang="ko-KR"/>
              <a:t>15</a:t>
            </a:r>
            <a:r>
              <a:rPr lang="ko-KR" altLang="en-US"/>
              <a:t>분 소요</a:t>
            </a:r>
          </a:p>
        </p:txBody>
      </p:sp>
    </p:spTree>
    <p:extLst>
      <p:ext uri="{BB962C8B-B14F-4D97-AF65-F5344CB8AC3E}">
        <p14:creationId xmlns:p14="http://schemas.microsoft.com/office/powerpoint/2010/main" val="153141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4F2962-EBF3-421E-9C9C-A1DE30D4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SD </a:t>
            </a:r>
            <a:r>
              <a:rPr lang="ko-KR" altLang="en-US"/>
              <a:t>카드에 설치된 운영체제 보기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2E618BC-AC3A-4B62-94BC-CCB8F1B3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4" name="Picture 35">
            <a:extLst>
              <a:ext uri="{FF2B5EF4-FFF2-40B4-BE49-F238E27FC236}">
                <a16:creationId xmlns:a16="http://schemas.microsoft.com/office/drawing/2014/main" id="{80518AEC-8936-465C-A14C-3BC58E8F4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599" y="1772816"/>
            <a:ext cx="6556629" cy="367240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96648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51367-016D-489E-AF8A-B598C514C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취소 버튼 무시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D24EC17-FA32-4C42-A95B-73415DBA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4F9CE5-1C60-444D-9E12-D87CAB73D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33" y="1659680"/>
            <a:ext cx="4170236" cy="1972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6AAEB2-6CB8-43A3-A992-3BDEAA5C7474}"/>
              </a:ext>
            </a:extLst>
          </p:cNvPr>
          <p:cNvSpPr txBox="1"/>
          <p:nvPr/>
        </p:nvSpPr>
        <p:spPr>
          <a:xfrm>
            <a:off x="5364088" y="3198167"/>
            <a:ext cx="2436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중간에 아래의 창이 출력되어도</a:t>
            </a:r>
            <a:endParaRPr lang="en-US" altLang="ko-KR" sz="1200" dirty="0"/>
          </a:p>
          <a:p>
            <a:r>
              <a:rPr lang="ko-KR" altLang="en-US" sz="1200" dirty="0"/>
              <a:t>취소 버튼을 눌러 무시하면 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04686DB-931F-4FEC-8E9F-AA2BD1BD0EA8}"/>
              </a:ext>
            </a:extLst>
          </p:cNvPr>
          <p:cNvSpPr/>
          <p:nvPr/>
        </p:nvSpPr>
        <p:spPr>
          <a:xfrm>
            <a:off x="4049718" y="3248980"/>
            <a:ext cx="882321" cy="36004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DE02D77-E417-439B-8CC2-8162EB2789BA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4932039" y="3429000"/>
            <a:ext cx="43204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13F3B0-D1AB-4A19-96D7-F41172ADC855}"/>
              </a:ext>
            </a:extLst>
          </p:cNvPr>
          <p:cNvSpPr txBox="1"/>
          <p:nvPr/>
        </p:nvSpPr>
        <p:spPr>
          <a:xfrm>
            <a:off x="872108" y="5665321"/>
            <a:ext cx="739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* </a:t>
            </a:r>
            <a:r>
              <a:rPr lang="ko-KR" altLang="en-US">
                <a:solidFill>
                  <a:srgbClr val="0070C0"/>
                </a:solidFill>
              </a:rPr>
              <a:t>이 상태에서 부팅하면 라즈베리파이는 노트북 핫스팟에 연결될 것임</a:t>
            </a:r>
          </a:p>
        </p:txBody>
      </p:sp>
    </p:spTree>
    <p:extLst>
      <p:ext uri="{BB962C8B-B14F-4D97-AF65-F5344CB8AC3E}">
        <p14:creationId xmlns:p14="http://schemas.microsoft.com/office/powerpoint/2010/main" val="3032382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13C8D8-8AD2-4EB6-A415-C44F4B9A4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E4F02B7-D9F6-4909-B04B-948BB8EF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2.3 </a:t>
            </a:r>
            <a:r>
              <a:rPr lang="ko-KR" altLang="en-US"/>
              <a:t>마우스</a:t>
            </a:r>
            <a:r>
              <a:rPr lang="en-US" altLang="ko-KR"/>
              <a:t>/</a:t>
            </a:r>
            <a:r>
              <a:rPr lang="ko-KR" altLang="en-US"/>
              <a:t>키보드</a:t>
            </a:r>
            <a:r>
              <a:rPr lang="en-US" altLang="ko-KR"/>
              <a:t>/</a:t>
            </a:r>
            <a:r>
              <a:rPr lang="ko-KR" altLang="en-US"/>
              <a:t>디스플레이를 연결하여 무선 인터넷 설정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C83E53F-F4F1-46E8-8503-1A1C428436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523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 절의 목적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두 가지 목적</a:t>
            </a:r>
            <a:endParaRPr lang="en-US" altLang="ko-KR"/>
          </a:p>
          <a:p>
            <a:pPr marL="365760" lvl="1" indent="0">
              <a:buNone/>
            </a:pPr>
            <a:r>
              <a:rPr lang="en-US" altLang="ko-KR"/>
              <a:t>1) </a:t>
            </a:r>
            <a:r>
              <a:rPr lang="ko-KR" altLang="en-US"/>
              <a:t>데스크톱으로 사용할 수 있음 확인</a:t>
            </a:r>
            <a:endParaRPr lang="en-US" altLang="ko-KR"/>
          </a:p>
          <a:p>
            <a:pPr lvl="2"/>
            <a:r>
              <a:rPr lang="en-US" altLang="ko-KR"/>
              <a:t>GUI</a:t>
            </a:r>
            <a:r>
              <a:rPr lang="ko-KR" altLang="en-US"/>
              <a:t>가 디스플레이에 보이고 </a:t>
            </a:r>
            <a:endParaRPr lang="en-US" altLang="ko-KR"/>
          </a:p>
          <a:p>
            <a:pPr lvl="2"/>
            <a:r>
              <a:rPr lang="ko-KR" altLang="en-US"/>
              <a:t>키보드와</a:t>
            </a:r>
            <a:r>
              <a:rPr lang="en-US" altLang="ko-KR"/>
              <a:t> </a:t>
            </a:r>
            <a:r>
              <a:rPr lang="ko-KR" altLang="en-US"/>
              <a:t>마우스로 쉽게 라즈베리파이 활용</a:t>
            </a:r>
            <a:endParaRPr lang="en-US" altLang="ko-KR"/>
          </a:p>
          <a:p>
            <a:pPr marL="365760" lvl="1" indent="0">
              <a:buNone/>
            </a:pPr>
            <a:r>
              <a:rPr lang="en-US" altLang="ko-KR"/>
              <a:t>2) </a:t>
            </a:r>
            <a:r>
              <a:rPr lang="ko-KR" altLang="en-US"/>
              <a:t>라즈베리파이가 무선 인터넷에 잘 연결되었는지 확인</a:t>
            </a:r>
            <a:endParaRPr lang="en-US" altLang="ko-KR"/>
          </a:p>
          <a:p>
            <a:pPr lvl="2"/>
            <a:r>
              <a:rPr lang="en-US" altLang="ko-KR"/>
              <a:t>GUI</a:t>
            </a:r>
            <a:r>
              <a:rPr lang="ko-KR" altLang="en-US"/>
              <a:t>에 출력된 것을 보면서</a:t>
            </a:r>
            <a:r>
              <a:rPr lang="en-US" altLang="ko-KR"/>
              <a:t>, </a:t>
            </a:r>
            <a:r>
              <a:rPr lang="ko-KR" altLang="en-US"/>
              <a:t>무선 인터넷 연결 확인</a:t>
            </a:r>
            <a:endParaRPr lang="en-US" altLang="ko-KR"/>
          </a:p>
          <a:p>
            <a:pPr lvl="2"/>
            <a:r>
              <a:rPr lang="ko-KR" altLang="en-US"/>
              <a:t>다양한 위치에서 무선 인터넷을 사용할 수 있도록 무선 인터넷을 추가하는 방법 설명</a:t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90514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07BD8F-2483-4E46-BA72-1C15E929A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라즈베리파이 연결 및 부팅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C9A5B1-643F-4D40-883F-07552509C3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(1) </a:t>
            </a:r>
            <a:r>
              <a:rPr lang="ko-KR" altLang="en-US"/>
              <a:t>라즈베리파이의 전원을 끈 상태로 시작</a:t>
            </a:r>
          </a:p>
          <a:p>
            <a:pPr marL="0" indent="0">
              <a:buNone/>
            </a:pPr>
            <a:r>
              <a:rPr lang="en-US" altLang="ko-KR"/>
              <a:t>(2) </a:t>
            </a:r>
            <a:r>
              <a:rPr lang="ko-KR" altLang="en-US"/>
              <a:t>운영체제가 설치된 </a:t>
            </a:r>
            <a:r>
              <a:rPr lang="en-US" altLang="ko-KR"/>
              <a:t>SD </a:t>
            </a:r>
            <a:r>
              <a:rPr lang="ko-KR" altLang="en-US"/>
              <a:t>카드를 </a:t>
            </a:r>
            <a:r>
              <a:rPr lang="en-US" altLang="ko-KR"/>
              <a:t>SD </a:t>
            </a:r>
            <a:r>
              <a:rPr lang="ko-KR" altLang="en-US"/>
              <a:t>카드 슬롯에 삽입</a:t>
            </a:r>
            <a:r>
              <a:rPr lang="en-US" altLang="ko-KR"/>
              <a:t> </a:t>
            </a:r>
            <a:endParaRPr lang="ko-KR" altLang="en-US"/>
          </a:p>
          <a:p>
            <a:pPr marL="0" indent="0">
              <a:buNone/>
            </a:pPr>
            <a:r>
              <a:rPr lang="en-US" altLang="ko-KR"/>
              <a:t>(3) </a:t>
            </a:r>
            <a:r>
              <a:rPr lang="ko-KR" altLang="en-US"/>
              <a:t>마우스와 키보드를 </a:t>
            </a:r>
            <a:r>
              <a:rPr lang="en-US" altLang="ko-KR"/>
              <a:t>USB </a:t>
            </a:r>
            <a:r>
              <a:rPr lang="ko-KR" altLang="en-US"/>
              <a:t>포트에 삽입</a:t>
            </a:r>
          </a:p>
          <a:p>
            <a:pPr marL="0" indent="0">
              <a:buNone/>
            </a:pPr>
            <a:r>
              <a:rPr lang="en-US" altLang="ko-KR"/>
              <a:t>(4) </a:t>
            </a:r>
            <a:r>
              <a:rPr lang="ko-KR" altLang="en-US"/>
              <a:t>디스플레이 연결</a:t>
            </a:r>
          </a:p>
          <a:p>
            <a:pPr marL="0" indent="0">
              <a:buNone/>
            </a:pPr>
            <a:r>
              <a:rPr lang="en-US" altLang="ko-KR"/>
              <a:t>(5) </a:t>
            </a:r>
            <a:r>
              <a:rPr lang="ko-KR" altLang="en-US"/>
              <a:t>전원 연결</a:t>
            </a:r>
            <a:endParaRPr lang="en-US" altLang="ko-KR"/>
          </a:p>
          <a:p>
            <a:pPr lvl="1"/>
            <a:r>
              <a:rPr lang="en-US" altLang="ko-KR"/>
              <a:t>SD </a:t>
            </a:r>
            <a:r>
              <a:rPr lang="ko-KR" altLang="en-US"/>
              <a:t>카드로부터 운영체제를 메모리에 적재하는 부팅 바로 시작</a:t>
            </a:r>
            <a:endParaRPr lang="en-US" altLang="ko-KR"/>
          </a:p>
          <a:p>
            <a:pPr lvl="1"/>
            <a:r>
              <a:rPr lang="ko-KR" altLang="en-US"/>
              <a:t>전원이 연결되면 빨간색 </a:t>
            </a:r>
            <a:r>
              <a:rPr lang="en-US" altLang="ko-KR"/>
              <a:t>LED</a:t>
            </a:r>
            <a:r>
              <a:rPr lang="ko-KR" altLang="en-US"/>
              <a:t>에 불이 들어오고</a:t>
            </a:r>
            <a:r>
              <a:rPr lang="en-US" altLang="ko-KR"/>
              <a:t>, </a:t>
            </a:r>
          </a:p>
          <a:p>
            <a:pPr lvl="1"/>
            <a:r>
              <a:rPr lang="ko-KR" altLang="en-US"/>
              <a:t>부팅이 진행되는 동안 간헐적으로 초록색 </a:t>
            </a:r>
            <a:r>
              <a:rPr lang="en-US" altLang="ko-KR"/>
              <a:t>LED</a:t>
            </a:r>
            <a:r>
              <a:rPr lang="ko-KR" altLang="en-US"/>
              <a:t>가 요동</a:t>
            </a:r>
            <a:endParaRPr lang="en-US" altLang="ko-KR"/>
          </a:p>
          <a:p>
            <a:pPr lvl="1"/>
            <a:r>
              <a:rPr lang="ko-KR" altLang="en-US"/>
              <a:t>부팅이 완료되면 초록색 </a:t>
            </a:r>
            <a:r>
              <a:rPr lang="en-US" altLang="ko-KR"/>
              <a:t>LED</a:t>
            </a:r>
            <a:r>
              <a:rPr lang="ko-KR" altLang="en-US"/>
              <a:t>는 가끔 깜박이는 상태</a:t>
            </a:r>
          </a:p>
          <a:p>
            <a:pPr marL="0" indent="0">
              <a:buNone/>
            </a:pPr>
            <a:r>
              <a:rPr lang="en-US" altLang="ko-KR"/>
              <a:t>(6) </a:t>
            </a:r>
            <a:r>
              <a:rPr lang="ko-KR" altLang="en-US"/>
              <a:t>부팅이 진행되는 동안</a:t>
            </a:r>
            <a:endParaRPr lang="en-US" altLang="ko-KR"/>
          </a:p>
          <a:p>
            <a:pPr lvl="1"/>
            <a:r>
              <a:rPr lang="ko-KR" altLang="en-US"/>
              <a:t>디스플레이에 </a:t>
            </a:r>
            <a:r>
              <a:rPr lang="en-US" altLang="ko-KR"/>
              <a:t>GUI</a:t>
            </a:r>
            <a:r>
              <a:rPr lang="ko-KR" altLang="en-US"/>
              <a:t>가 나타나고</a:t>
            </a:r>
            <a:r>
              <a:rPr lang="en-US" altLang="ko-KR"/>
              <a:t>, </a:t>
            </a:r>
          </a:p>
          <a:p>
            <a:pPr lvl="1"/>
            <a:r>
              <a:rPr lang="ko-KR" altLang="en-US"/>
              <a:t>부팅이 완료되면 최종적으로 </a:t>
            </a:r>
            <a:r>
              <a:rPr lang="en-US" altLang="ko-KR"/>
              <a:t>GUI</a:t>
            </a:r>
            <a:r>
              <a:rPr lang="ko-KR" altLang="en-US"/>
              <a:t> 출력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809AED-E6A2-4F06-9CC3-D0C58CF6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 구성 및 실제 연결 모습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36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D94F365-2EDF-4A70-8761-A067E79AA33E}"/>
              </a:ext>
            </a:extLst>
          </p:cNvPr>
          <p:cNvGrpSpPr/>
          <p:nvPr/>
        </p:nvGrpSpPr>
        <p:grpSpPr>
          <a:xfrm>
            <a:off x="107504" y="1772816"/>
            <a:ext cx="5001144" cy="4271440"/>
            <a:chOff x="3779912" y="2570301"/>
            <a:chExt cx="5001144" cy="427144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65D6607-8670-44CE-8DEC-BA1538B8B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9912" y="2570301"/>
              <a:ext cx="5001144" cy="427144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4E20EB8-939F-46FD-903C-BCECEEABE247}"/>
                </a:ext>
              </a:extLst>
            </p:cNvPr>
            <p:cNvSpPr/>
            <p:nvPr/>
          </p:nvSpPr>
          <p:spPr>
            <a:xfrm>
              <a:off x="5004048" y="4293096"/>
              <a:ext cx="1512168" cy="7920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6E556A1-437A-47C3-82F9-8CAFFA310ED8}"/>
                </a:ext>
              </a:extLst>
            </p:cNvPr>
            <p:cNvSpPr/>
            <p:nvPr/>
          </p:nvSpPr>
          <p:spPr>
            <a:xfrm>
              <a:off x="7452320" y="5494636"/>
              <a:ext cx="1328736" cy="1102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5F1FF50-7042-4CF7-8ACE-BF63D3F2DBFD}"/>
                </a:ext>
              </a:extLst>
            </p:cNvPr>
            <p:cNvSpPr/>
            <p:nvPr/>
          </p:nvSpPr>
          <p:spPr>
            <a:xfrm>
              <a:off x="7931312" y="5301208"/>
              <a:ext cx="757372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50471D-3113-4F5B-AE51-9EF89EFA811A}"/>
                </a:ext>
              </a:extLst>
            </p:cNvPr>
            <p:cNvSpPr/>
            <p:nvPr/>
          </p:nvSpPr>
          <p:spPr>
            <a:xfrm>
              <a:off x="5801278" y="4680796"/>
              <a:ext cx="757372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Picture 39">
            <a:extLst>
              <a:ext uri="{FF2B5EF4-FFF2-40B4-BE49-F238E27FC236}">
                <a16:creationId xmlns:a16="http://schemas.microsoft.com/office/drawing/2014/main" id="{3FEE522A-9D4B-466E-B4F7-87720F80D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2040" y="1412776"/>
            <a:ext cx="3958670" cy="528132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65250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E5299-0F25-4288-9541-D77993A7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부팅 후 모습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37</a:t>
            </a:fld>
            <a:endParaRPr lang="ko-KR" altLang="en-US" dirty="0"/>
          </a:p>
        </p:txBody>
      </p:sp>
      <p:pic>
        <p:nvPicPr>
          <p:cNvPr id="7" name="Picture 41">
            <a:extLst>
              <a:ext uri="{FF2B5EF4-FFF2-40B4-BE49-F238E27FC236}">
                <a16:creationId xmlns:a16="http://schemas.microsoft.com/office/drawing/2014/main" id="{1FB07533-8714-44AF-8A1D-2B485B919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7168" y="1484784"/>
            <a:ext cx="7801256" cy="4388849"/>
          </a:xfrm>
          <a:prstGeom prst="rect">
            <a:avLst/>
          </a:prstGeom>
          <a:noFill/>
          <a:ln w="0" cap="rnd">
            <a:solidFill>
              <a:srgbClr val="42C7F1"/>
            </a:solidFill>
            <a:prstDash val="solid"/>
            <a:round/>
          </a:ln>
          <a:effectLst/>
        </p:spPr>
      </p:pic>
    </p:spTree>
    <p:extLst>
      <p:ext uri="{BB962C8B-B14F-4D97-AF65-F5344CB8AC3E}">
        <p14:creationId xmlns:p14="http://schemas.microsoft.com/office/powerpoint/2010/main" val="2377298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EF266-64C3-45A8-894C-54F2C529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부팅 후 노트북 핫스팟 연결된 것 확인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57F426-ED1F-4BEB-9273-008FD254B5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ko-KR" altLang="en-US"/>
              <a:t>부팅 후 가장 먼저 확인할 일</a:t>
            </a:r>
            <a:endParaRPr lang="en-US" altLang="ko-KR"/>
          </a:p>
          <a:p>
            <a:pPr lvl="1"/>
            <a:r>
              <a:rPr lang="ko-KR" altLang="en-US"/>
              <a:t>라즈베리파이가 무선 인터넷에 연결된 상태 확인</a:t>
            </a:r>
            <a:endParaRPr lang="en-US" altLang="ko-KR"/>
          </a:p>
          <a:p>
            <a:pPr lvl="1"/>
            <a:r>
              <a:rPr lang="en-US" altLang="ko-KR"/>
              <a:t>GUI </a:t>
            </a:r>
            <a:r>
              <a:rPr lang="ko-KR" altLang="en-US"/>
              <a:t>스크린의 오른쪽 상단에서 확인 가능</a:t>
            </a:r>
            <a:endParaRPr lang="en-US" altLang="ko-KR"/>
          </a:p>
          <a:p>
            <a:pPr lvl="2"/>
            <a:r>
              <a:rPr lang="ko-KR" altLang="en-US"/>
              <a:t>와이파이 모양의 버튼에 마우스 올리면</a:t>
            </a:r>
            <a:endParaRPr lang="en-US" altLang="ko-KR"/>
          </a:p>
          <a:p>
            <a:pPr lvl="2"/>
            <a:r>
              <a:rPr lang="ko-KR" altLang="en-US"/>
              <a:t>연결한 무선 네트워크의 </a:t>
            </a:r>
            <a:r>
              <a:rPr lang="en-US" altLang="ko-KR"/>
              <a:t>SSID</a:t>
            </a:r>
            <a:r>
              <a:rPr lang="ko-KR" altLang="en-US"/>
              <a:t>와 할당받은 </a:t>
            </a:r>
            <a:r>
              <a:rPr lang="en-US" altLang="ko-KR"/>
              <a:t>IP </a:t>
            </a:r>
            <a:r>
              <a:rPr lang="ko-KR" altLang="en-US"/>
              <a:t>주소 확인 가능</a:t>
            </a:r>
            <a:endParaRPr lang="en-US" altLang="ko-KR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D81407-EAE6-478D-9EF2-1DE77979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5" name="Picture 43">
            <a:extLst>
              <a:ext uri="{FF2B5EF4-FFF2-40B4-BE49-F238E27FC236}">
                <a16:creationId xmlns:a16="http://schemas.microsoft.com/office/drawing/2014/main" id="{2DE653D1-1A69-4CCD-AB07-E3EA308EB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3608" y="3429000"/>
            <a:ext cx="7415506" cy="1656184"/>
          </a:xfrm>
          <a:prstGeom prst="rect">
            <a:avLst/>
          </a:prstGeom>
          <a:noFill/>
          <a:ln w="0" cap="rnd">
            <a:solidFill>
              <a:srgbClr val="42C7F1"/>
            </a:solidFill>
            <a:prstDash val="solid"/>
            <a:round/>
          </a:ln>
          <a:effectLst/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F4FB3C-31C6-4841-B9F4-A102C14E4945}"/>
              </a:ext>
            </a:extLst>
          </p:cNvPr>
          <p:cNvSpPr/>
          <p:nvPr/>
        </p:nvSpPr>
        <p:spPr>
          <a:xfrm>
            <a:off x="6707156" y="3392778"/>
            <a:ext cx="595107" cy="4645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F317651-4191-408C-9504-6FB34FE50621}"/>
              </a:ext>
            </a:extLst>
          </p:cNvPr>
          <p:cNvSpPr/>
          <p:nvPr/>
        </p:nvSpPr>
        <p:spPr>
          <a:xfrm>
            <a:off x="3897260" y="3917032"/>
            <a:ext cx="4419156" cy="48012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346BCEA-0863-45BE-9C15-27ED1BC99EAE}"/>
              </a:ext>
            </a:extLst>
          </p:cNvPr>
          <p:cNvSpPr/>
          <p:nvPr/>
        </p:nvSpPr>
        <p:spPr>
          <a:xfrm>
            <a:off x="1543257" y="4293096"/>
            <a:ext cx="2061568" cy="32792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8F2376-BD09-46AF-9712-AE7F0B858BF4}"/>
              </a:ext>
            </a:extLst>
          </p:cNvPr>
          <p:cNvSpPr txBox="1"/>
          <p:nvPr/>
        </p:nvSpPr>
        <p:spPr>
          <a:xfrm>
            <a:off x="1487679" y="4705399"/>
            <a:ext cx="2076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</a:rPr>
              <a:t>라즈베리파이의 </a:t>
            </a:r>
            <a:r>
              <a:rPr lang="en-US" altLang="ko-KR" sz="1400">
                <a:solidFill>
                  <a:srgbClr val="0070C0"/>
                </a:solidFill>
              </a:rPr>
              <a:t>IP </a:t>
            </a:r>
            <a:r>
              <a:rPr lang="ko-KR" altLang="en-US" sz="1400">
                <a:solidFill>
                  <a:srgbClr val="0070C0"/>
                </a:solidFill>
              </a:rPr>
              <a:t>주소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9E076-1A15-40BE-8BC3-C3AF5EA5DAE9}"/>
              </a:ext>
            </a:extLst>
          </p:cNvPr>
          <p:cNvSpPr txBox="1"/>
          <p:nvPr/>
        </p:nvSpPr>
        <p:spPr>
          <a:xfrm>
            <a:off x="4211960" y="4397152"/>
            <a:ext cx="3858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</a:rPr>
              <a:t>라즈베리파이가 연결한 무선 네트워크의 </a:t>
            </a:r>
            <a:r>
              <a:rPr lang="en-US" altLang="ko-KR" sz="1400">
                <a:solidFill>
                  <a:srgbClr val="0070C0"/>
                </a:solidFill>
              </a:rPr>
              <a:t>SSID</a:t>
            </a:r>
            <a:endParaRPr lang="ko-KR" altLang="en-US" sz="140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817C14-3B48-4903-91E4-8DBF58F7AD1E}"/>
              </a:ext>
            </a:extLst>
          </p:cNvPr>
          <p:cNvSpPr txBox="1"/>
          <p:nvPr/>
        </p:nvSpPr>
        <p:spPr>
          <a:xfrm>
            <a:off x="1259633" y="5385692"/>
            <a:ext cx="7056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0070C0"/>
                </a:solidFill>
              </a:rPr>
              <a:t>* </a:t>
            </a:r>
            <a:r>
              <a:rPr lang="ko-KR" altLang="en-US">
                <a:solidFill>
                  <a:srgbClr val="0070C0"/>
                </a:solidFill>
              </a:rPr>
              <a:t>라즈베리파이는</a:t>
            </a:r>
            <a:r>
              <a:rPr lang="en-US" altLang="ko-KR">
                <a:solidFill>
                  <a:srgbClr val="0070C0"/>
                </a:solidFill>
              </a:rPr>
              <a:t>,</a:t>
            </a:r>
            <a:r>
              <a:rPr lang="ko-KR" altLang="en-US">
                <a:solidFill>
                  <a:srgbClr val="0070C0"/>
                </a:solidFill>
              </a:rPr>
              <a:t> 운영체제 설치 시 지정한</a:t>
            </a:r>
            <a:endParaRPr lang="en-US" altLang="ko-KR">
              <a:solidFill>
                <a:srgbClr val="0070C0"/>
              </a:solidFill>
            </a:endParaRPr>
          </a:p>
          <a:p>
            <a:r>
              <a:rPr lang="en-US" altLang="ko-KR" b="1">
                <a:solidFill>
                  <a:srgbClr val="0070C0"/>
                </a:solidFill>
              </a:rPr>
              <a:t>2471290 </a:t>
            </a:r>
            <a:r>
              <a:rPr lang="ko-KR" altLang="en-US" b="1">
                <a:solidFill>
                  <a:srgbClr val="0070C0"/>
                </a:solidFill>
              </a:rPr>
              <a:t>이름의 노트북 핫스팟에 </a:t>
            </a:r>
            <a:r>
              <a:rPr lang="ko-KR" altLang="en-US">
                <a:solidFill>
                  <a:srgbClr val="0070C0"/>
                </a:solidFill>
              </a:rPr>
              <a:t>연결되었고</a:t>
            </a:r>
            <a:r>
              <a:rPr lang="en-US" altLang="ko-KR">
                <a:solidFill>
                  <a:srgbClr val="0070C0"/>
                </a:solidFill>
              </a:rPr>
              <a:t>,</a:t>
            </a:r>
          </a:p>
          <a:p>
            <a:r>
              <a:rPr lang="en-US" altLang="ko-KR">
                <a:solidFill>
                  <a:srgbClr val="0070C0"/>
                </a:solidFill>
              </a:rPr>
              <a:t>192.168.137.208</a:t>
            </a:r>
            <a:r>
              <a:rPr lang="ko-KR" altLang="en-US">
                <a:solidFill>
                  <a:srgbClr val="0070C0"/>
                </a:solidFill>
              </a:rPr>
              <a:t>의 </a:t>
            </a:r>
            <a:r>
              <a:rPr lang="en-US" altLang="ko-KR">
                <a:solidFill>
                  <a:srgbClr val="0070C0"/>
                </a:solidFill>
              </a:rPr>
              <a:t>IP</a:t>
            </a:r>
            <a:r>
              <a:rPr lang="ko-KR" altLang="en-US">
                <a:solidFill>
                  <a:srgbClr val="0070C0"/>
                </a:solidFill>
              </a:rPr>
              <a:t>를 할당받아 인터넷을 사용할 수 있게 됨</a:t>
            </a:r>
          </a:p>
        </p:txBody>
      </p:sp>
    </p:spTree>
    <p:extLst>
      <p:ext uri="{BB962C8B-B14F-4D97-AF65-F5344CB8AC3E}">
        <p14:creationId xmlns:p14="http://schemas.microsoft.com/office/powerpoint/2010/main" val="2705833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FFFA7-F26B-4FC5-9B16-25DA8154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 가능한 무선 인터넷 목록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6FE95-1BA2-4664-980F-9450200791B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무선 인터넷 목록이 필요한 이유</a:t>
            </a:r>
            <a:endParaRPr lang="en-US" altLang="ko-KR"/>
          </a:p>
          <a:p>
            <a:pPr lvl="1"/>
            <a:r>
              <a:rPr lang="ko-KR" altLang="en-US"/>
              <a:t>라즈베리파이가 부팅 시</a:t>
            </a:r>
            <a:r>
              <a:rPr lang="en-US" altLang="ko-KR"/>
              <a:t>, </a:t>
            </a:r>
            <a:r>
              <a:rPr lang="ko-KR" altLang="en-US"/>
              <a:t>상황에 따라 선택할 수 있도록 여러 무선 인터넷 목록 필요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ko-KR" altLang="en-US"/>
              <a:t>무선 인터넷 목록에 추가하는 방법 설명을 위해</a:t>
            </a:r>
            <a:r>
              <a:rPr lang="en-US" altLang="ko-KR"/>
              <a:t>,</a:t>
            </a:r>
          </a:p>
          <a:p>
            <a:pPr lvl="1"/>
            <a:r>
              <a:rPr lang="ko-KR" altLang="en-US"/>
              <a:t>현재</a:t>
            </a:r>
            <a:r>
              <a:rPr lang="en-US" altLang="ko-KR"/>
              <a:t>, </a:t>
            </a:r>
            <a:r>
              <a:rPr lang="ko-KR" altLang="en-US"/>
              <a:t>운영체제를 설치 시</a:t>
            </a:r>
            <a:r>
              <a:rPr lang="en-US" altLang="ko-KR"/>
              <a:t>, </a:t>
            </a:r>
            <a:r>
              <a:rPr lang="ko-KR" altLang="en-US"/>
              <a:t>다음 노트북 핫스팟에 연결하도록 이미 지정</a:t>
            </a:r>
            <a:endParaRPr lang="en-US" altLang="ko-KR"/>
          </a:p>
          <a:p>
            <a:pPr lvl="2"/>
            <a:r>
              <a:rPr lang="ko-KR" altLang="en-US"/>
              <a:t>노트북 핫스팟 </a:t>
            </a:r>
            <a:r>
              <a:rPr lang="en-US" altLang="ko-KR"/>
              <a:t>– </a:t>
            </a:r>
            <a:r>
              <a:rPr lang="ko-KR" altLang="en-US"/>
              <a:t>핫스팟 </a:t>
            </a:r>
            <a:r>
              <a:rPr lang="en-US" altLang="ko-KR"/>
              <a:t>ID(SSID)</a:t>
            </a:r>
            <a:r>
              <a:rPr lang="ko-KR" altLang="en-US"/>
              <a:t>를 ‘</a:t>
            </a:r>
            <a:r>
              <a:rPr lang="en-US" altLang="ko-KR"/>
              <a:t>2471290’, </a:t>
            </a:r>
            <a:r>
              <a:rPr lang="ko-KR" altLang="en-US"/>
              <a:t>비밀번호는 ‘</a:t>
            </a:r>
            <a:r>
              <a:rPr lang="en-US" altLang="ko-KR"/>
              <a:t>11111111</a:t>
            </a:r>
          </a:p>
          <a:p>
            <a:pPr lvl="1"/>
            <a:endParaRPr lang="en-US" altLang="ko-KR"/>
          </a:p>
          <a:p>
            <a:pPr lvl="1"/>
            <a:r>
              <a:rPr lang="en-US" altLang="ko-KR"/>
              <a:t>2</a:t>
            </a:r>
            <a:r>
              <a:rPr lang="ko-KR" altLang="en-US"/>
              <a:t>개의 무선 인터넷 추가 예정</a:t>
            </a:r>
            <a:endParaRPr lang="en-US" altLang="ko-KR"/>
          </a:p>
          <a:p>
            <a:pPr lvl="2"/>
            <a:r>
              <a:rPr lang="ko-KR" altLang="en-US"/>
              <a:t>무선 공유기 </a:t>
            </a:r>
            <a:r>
              <a:rPr lang="en-US" altLang="ko-KR"/>
              <a:t>1</a:t>
            </a:r>
            <a:r>
              <a:rPr lang="ko-KR" altLang="en-US"/>
              <a:t>대 </a:t>
            </a:r>
            <a:r>
              <a:rPr lang="en-US" altLang="ko-KR"/>
              <a:t>- SSID:</a:t>
            </a:r>
            <a:r>
              <a:rPr lang="ko-KR" altLang="en-US"/>
              <a:t> ‘</a:t>
            </a:r>
            <a:r>
              <a:rPr lang="en-US" altLang="ko-KR"/>
              <a:t>102’, </a:t>
            </a:r>
            <a:r>
              <a:rPr lang="ko-KR" altLang="en-US"/>
              <a:t>비밀번호</a:t>
            </a:r>
            <a:r>
              <a:rPr lang="en-US" altLang="ko-KR"/>
              <a:t>:</a:t>
            </a:r>
            <a:r>
              <a:rPr lang="ko-KR" altLang="en-US"/>
              <a:t> ‘</a:t>
            </a:r>
            <a:r>
              <a:rPr lang="en-US" altLang="ko-KR"/>
              <a:t>11111111</a:t>
            </a:r>
            <a:endParaRPr lang="ko-KR" altLang="en-US"/>
          </a:p>
          <a:p>
            <a:pPr lvl="2"/>
            <a:r>
              <a:rPr lang="ko-KR" altLang="en-US"/>
              <a:t>스마트폰 핫스팟 </a:t>
            </a:r>
            <a:r>
              <a:rPr lang="en-US" altLang="ko-KR"/>
              <a:t>- SSID:</a:t>
            </a:r>
            <a:r>
              <a:rPr lang="ko-KR" altLang="en-US"/>
              <a:t> ‘</a:t>
            </a:r>
            <a:r>
              <a:rPr lang="en-US" altLang="ko-KR"/>
              <a:t>KitaeGalaxy’, </a:t>
            </a:r>
            <a:r>
              <a:rPr lang="ko-KR" altLang="en-US"/>
              <a:t>비밀번호</a:t>
            </a:r>
            <a:r>
              <a:rPr lang="en-US" altLang="ko-KR"/>
              <a:t>:</a:t>
            </a:r>
            <a:r>
              <a:rPr lang="ko-KR" altLang="en-US"/>
              <a:t> ‘</a:t>
            </a:r>
            <a:r>
              <a:rPr lang="en-US" altLang="ko-KR"/>
              <a:t>11111111’</a:t>
            </a:r>
            <a:endParaRPr lang="ko-KR" altLang="en-US"/>
          </a:p>
          <a:p>
            <a:pPr lvl="4"/>
            <a:endParaRPr lang="ko-KR" altLang="en-US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89689-E74B-4FB4-AB51-F55DCDB2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4781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801D1-CE7E-41B5-8792-617D727D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터미널 실행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933FBF-80F1-40D5-BED2-DF263B38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40</a:t>
            </a:fld>
            <a:endParaRPr lang="ko-KR" altLang="en-US" dirty="0"/>
          </a:p>
        </p:txBody>
      </p:sp>
      <p:pic>
        <p:nvPicPr>
          <p:cNvPr id="5" name="Picture 45">
            <a:extLst>
              <a:ext uri="{FF2B5EF4-FFF2-40B4-BE49-F238E27FC236}">
                <a16:creationId xmlns:a16="http://schemas.microsoft.com/office/drawing/2014/main" id="{A2A38E55-D899-4BF8-8A8C-E42CC00A9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5985" y="1556792"/>
            <a:ext cx="8577440" cy="482453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43E646E-96A6-4A06-9808-37006B76D979}"/>
              </a:ext>
            </a:extLst>
          </p:cNvPr>
          <p:cNvSpPr/>
          <p:nvPr/>
        </p:nvSpPr>
        <p:spPr>
          <a:xfrm>
            <a:off x="1043608" y="1412776"/>
            <a:ext cx="432048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804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0A474-F3B3-4E3F-B681-FB8C201F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연결된 네트워크 정보 확인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A41B3-6C45-4DB6-B03F-156F292B3F5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라즈베리파이가 연결하고 있는 무선 네트워크 확인</a:t>
            </a:r>
            <a:endParaRPr lang="en-US" altLang="ko-KR"/>
          </a:p>
          <a:p>
            <a:pPr lvl="1"/>
            <a:r>
              <a:rPr lang="ko-KR" altLang="en-US"/>
              <a:t>현재</a:t>
            </a:r>
            <a:r>
              <a:rPr lang="en-US" altLang="ko-KR"/>
              <a:t>, </a:t>
            </a:r>
            <a:r>
              <a:rPr lang="ko-KR" altLang="en-US"/>
              <a:t>노트북 핫스팟에 연결된 상태</a:t>
            </a:r>
            <a:endParaRPr lang="en-US" altLang="ko-KR"/>
          </a:p>
          <a:p>
            <a:pPr lvl="2"/>
            <a:r>
              <a:rPr lang="en-US" altLang="ko-KR"/>
              <a:t>SSID=2471290, </a:t>
            </a:r>
            <a:r>
              <a:rPr lang="ko-KR" altLang="en-US"/>
              <a:t>비밀번호 </a:t>
            </a:r>
            <a:r>
              <a:rPr lang="en-US" altLang="ko-KR"/>
              <a:t>11111111</a:t>
            </a:r>
          </a:p>
          <a:p>
            <a:r>
              <a:rPr lang="en-US" altLang="ko-KR"/>
              <a:t>netplan </a:t>
            </a:r>
            <a:r>
              <a:rPr lang="ko-KR" altLang="en-US"/>
              <a:t>디렉터리로 이동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ls(</a:t>
            </a:r>
            <a:r>
              <a:rPr lang="ko-KR" altLang="en-US"/>
              <a:t>엘에스</a:t>
            </a:r>
            <a:r>
              <a:rPr lang="en-US" altLang="ko-KR"/>
              <a:t>) </a:t>
            </a:r>
            <a:r>
              <a:rPr lang="ko-KR" altLang="en-US"/>
              <a:t>명령으로 설정 파일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6FC8BD-6418-4291-9ECB-FBF8C60F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2D453-7222-471C-8839-E9312BDD13DE}"/>
              </a:ext>
            </a:extLst>
          </p:cNvPr>
          <p:cNvSpPr/>
          <p:nvPr/>
        </p:nvSpPr>
        <p:spPr>
          <a:xfrm>
            <a:off x="1115616" y="2996952"/>
            <a:ext cx="6048672" cy="74026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pi@h2471290:~ $ cd /etc/netplan</a:t>
            </a:r>
          </a:p>
          <a:p>
            <a:r>
              <a:rPr lang="en-US" altLang="ko-KR" sz="1400" b="1"/>
              <a:t>pi@h2471290:/etc/netplan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5D25C7-FCFF-4E91-A1D3-C7CC86AC1318}"/>
              </a:ext>
            </a:extLst>
          </p:cNvPr>
          <p:cNvSpPr/>
          <p:nvPr/>
        </p:nvSpPr>
        <p:spPr>
          <a:xfrm>
            <a:off x="1043608" y="4437112"/>
            <a:ext cx="6062170" cy="142968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pi@h2471290:/etc/netplan $ ls</a:t>
            </a:r>
          </a:p>
          <a:p>
            <a:r>
              <a:rPr lang="en-US" altLang="ko-KR" sz="1400"/>
              <a:t>90-NM-75a1216a-9d1a-30cd-8aca-ace5526ec021.yaml</a:t>
            </a:r>
          </a:p>
          <a:p>
            <a:r>
              <a:rPr lang="en-US" altLang="ko-KR" sz="1400"/>
              <a:t>90-NM-f12fbb3e-884f-3612-83b7-1543feeb6a9f.yaml</a:t>
            </a:r>
          </a:p>
          <a:p>
            <a:r>
              <a:rPr lang="en-US" altLang="ko-KR" sz="1400" b="1"/>
              <a:t>pi@h2471290:/etc/netplan $</a:t>
            </a:r>
          </a:p>
        </p:txBody>
      </p:sp>
    </p:spTree>
    <p:extLst>
      <p:ext uri="{BB962C8B-B14F-4D97-AF65-F5344CB8AC3E}">
        <p14:creationId xmlns:p14="http://schemas.microsoft.com/office/powerpoint/2010/main" val="1071043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87C4A-0643-4E80-BC13-4EAD832A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연결된 네트워크 정보 확인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6FADC2-880C-4304-B0FE-62E1AD7766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/>
          </a:bodyPr>
          <a:lstStyle/>
          <a:p>
            <a:r>
              <a:rPr lang="en-US" altLang="ko-KR" sz="2000"/>
              <a:t>netplan</a:t>
            </a:r>
            <a:r>
              <a:rPr lang="ko-KR" altLang="en-US" sz="2000"/>
              <a:t>이 다루는 </a:t>
            </a:r>
            <a:r>
              <a:rPr lang="en-US" altLang="ko-KR" sz="2000"/>
              <a:t>.yaml</a:t>
            </a:r>
            <a:r>
              <a:rPr lang="ko-KR" altLang="en-US" sz="2000"/>
              <a:t> 파일에는 연결 가능한 무선 네트워크 정보가 들어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7D03D-0BBB-468F-9CE5-FE7AE1AB6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1A1563-0263-4D08-AF61-06E40CE7D5B2}"/>
              </a:ext>
            </a:extLst>
          </p:cNvPr>
          <p:cNvGrpSpPr/>
          <p:nvPr/>
        </p:nvGrpSpPr>
        <p:grpSpPr>
          <a:xfrm>
            <a:off x="233854" y="2041678"/>
            <a:ext cx="8532194" cy="4339650"/>
            <a:chOff x="233854" y="1916832"/>
            <a:chExt cx="8532194" cy="433965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ECDBED-6223-40A9-991F-3D94FFD21598}"/>
                </a:ext>
              </a:extLst>
            </p:cNvPr>
            <p:cNvSpPr/>
            <p:nvPr/>
          </p:nvSpPr>
          <p:spPr>
            <a:xfrm>
              <a:off x="764136" y="1916832"/>
              <a:ext cx="8001912" cy="433965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 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sudo cat *.yaml</a:t>
              </a:r>
            </a:p>
            <a:p>
              <a:pPr marL="190500" defTabSz="180000" fontAlgn="base" latinLnBrk="0"/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network: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version: 2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ethernets: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eth0: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90500" defTabSz="180000" fontAlgn="base" latinLnBrk="0"/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network: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version: 2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wifis: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wlan0: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renderer: NetworkManager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match: {}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dhcp4: true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access-points: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"2471290":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auth: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key-management: "psk"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password: "aa2cf74d12dc8bb65a38930148b6c244474a2fbc47b93ce80ae24599795e4322"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networkmanager: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uuid: "f12fbb3e-884f-3612-83b7-1543feeb6a9f"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name: "netplan-wlan0-2471290"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</a:t>
              </a:r>
            </a:p>
          </p:txBody>
        </p:sp>
        <p:sp>
          <p:nvSpPr>
            <p:cNvPr id="6" name="오른쪽 중괄호 5">
              <a:extLst>
                <a:ext uri="{FF2B5EF4-FFF2-40B4-BE49-F238E27FC236}">
                  <a16:creationId xmlns:a16="http://schemas.microsoft.com/office/drawing/2014/main" id="{7DE0F34B-9961-4C63-ABA8-3225460BF4F7}"/>
                </a:ext>
              </a:extLst>
            </p:cNvPr>
            <p:cNvSpPr/>
            <p:nvPr/>
          </p:nvSpPr>
          <p:spPr>
            <a:xfrm>
              <a:off x="2445588" y="2204864"/>
              <a:ext cx="216024" cy="648072"/>
            </a:xfrm>
            <a:prstGeom prst="rightBrace">
              <a:avLst>
                <a:gd name="adj1" fmla="val 51623"/>
                <a:gd name="adj2" fmla="val 50000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38D1FE-10FF-49D3-8572-D48F7CD116BD}"/>
                </a:ext>
              </a:extLst>
            </p:cNvPr>
            <p:cNvSpPr txBox="1"/>
            <p:nvPr/>
          </p:nvSpPr>
          <p:spPr>
            <a:xfrm>
              <a:off x="2694502" y="2378764"/>
              <a:ext cx="785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rgbClr val="C00000"/>
                  </a:solidFill>
                </a:rPr>
                <a:t>유선 랜</a:t>
              </a:r>
            </a:p>
          </p:txBody>
        </p:sp>
        <p:sp>
          <p:nvSpPr>
            <p:cNvPr id="8" name="오른쪽 중괄호 7">
              <a:extLst>
                <a:ext uri="{FF2B5EF4-FFF2-40B4-BE49-F238E27FC236}">
                  <a16:creationId xmlns:a16="http://schemas.microsoft.com/office/drawing/2014/main" id="{46B42255-9BB2-4D5D-9B14-E947CF257F8B}"/>
                </a:ext>
              </a:extLst>
            </p:cNvPr>
            <p:cNvSpPr/>
            <p:nvPr/>
          </p:nvSpPr>
          <p:spPr>
            <a:xfrm flipH="1">
              <a:off x="755576" y="3140968"/>
              <a:ext cx="177844" cy="2880320"/>
            </a:xfrm>
            <a:prstGeom prst="rightBrace">
              <a:avLst>
                <a:gd name="adj1" fmla="val 51623"/>
                <a:gd name="adj2" fmla="val 49197"/>
              </a:avLst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1F9999-5D35-4FD4-AFD1-491360A78954}"/>
                </a:ext>
              </a:extLst>
            </p:cNvPr>
            <p:cNvSpPr txBox="1"/>
            <p:nvPr/>
          </p:nvSpPr>
          <p:spPr>
            <a:xfrm>
              <a:off x="233854" y="4221088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>
                  <a:solidFill>
                    <a:srgbClr val="C00000"/>
                  </a:solidFill>
                </a:rPr>
                <a:t>무선</a:t>
              </a:r>
              <a:endParaRPr lang="en-US" altLang="ko-KR" sz="1400">
                <a:solidFill>
                  <a:srgbClr val="C00000"/>
                </a:solidFill>
              </a:endParaRPr>
            </a:p>
            <a:p>
              <a:pPr algn="ctr"/>
              <a:r>
                <a:rPr lang="ko-KR" altLang="en-US" sz="1400">
                  <a:solidFill>
                    <a:srgbClr val="C00000"/>
                  </a:solidFill>
                </a:rPr>
                <a:t>랜</a:t>
              </a:r>
            </a:p>
          </p:txBody>
        </p:sp>
        <p:sp>
          <p:nvSpPr>
            <p:cNvPr id="10" name="말풍선: 모서리가 둥근 사각형 9">
              <a:extLst>
                <a:ext uri="{FF2B5EF4-FFF2-40B4-BE49-F238E27FC236}">
                  <a16:creationId xmlns:a16="http://schemas.microsoft.com/office/drawing/2014/main" id="{C7D7D2FF-8987-4272-9E8E-683AA3575DC4}"/>
                </a:ext>
              </a:extLst>
            </p:cNvPr>
            <p:cNvSpPr/>
            <p:nvPr/>
          </p:nvSpPr>
          <p:spPr>
            <a:xfrm>
              <a:off x="2915816" y="4206297"/>
              <a:ext cx="2249159" cy="259823"/>
            </a:xfrm>
            <a:prstGeom prst="wedgeRoundRectCallout">
              <a:avLst>
                <a:gd name="adj1" fmla="val -63260"/>
                <a:gd name="adj2" fmla="val 39426"/>
                <a:gd name="adj3" fmla="val 1666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연결 가능한 무선 네트워크들</a:t>
              </a:r>
            </a:p>
          </p:txBody>
        </p:sp>
        <p:sp>
          <p:nvSpPr>
            <p:cNvPr id="11" name="말풍선: 모서리가 둥근 사각형 10">
              <a:extLst>
                <a:ext uri="{FF2B5EF4-FFF2-40B4-BE49-F238E27FC236}">
                  <a16:creationId xmlns:a16="http://schemas.microsoft.com/office/drawing/2014/main" id="{B2E7AD06-AD05-49E2-820F-75871CDA9E72}"/>
                </a:ext>
              </a:extLst>
            </p:cNvPr>
            <p:cNvSpPr/>
            <p:nvPr/>
          </p:nvSpPr>
          <p:spPr>
            <a:xfrm>
              <a:off x="2915816" y="4509120"/>
              <a:ext cx="3780978" cy="259823"/>
            </a:xfrm>
            <a:prstGeom prst="wedgeRoundRectCallout">
              <a:avLst>
                <a:gd name="adj1" fmla="val -58952"/>
                <a:gd name="adj2" fmla="val -6565"/>
                <a:gd name="adj3" fmla="val 1666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운영체제 설치 시 지정한 노트북 핫스팟의 </a:t>
              </a:r>
              <a:r>
                <a:rPr lang="en-US" altLang="ko-KR" sz="1200">
                  <a:solidFill>
                    <a:srgbClr val="C00000"/>
                  </a:solidFill>
                </a:rPr>
                <a:t>SSID</a:t>
              </a:r>
              <a:endParaRPr lang="ko-KR" altLang="en-US" sz="1200">
                <a:solidFill>
                  <a:srgbClr val="C00000"/>
                </a:solidFill>
              </a:endParaRPr>
            </a:p>
          </p:txBody>
        </p:sp>
        <p:sp>
          <p:nvSpPr>
            <p:cNvPr id="12" name="말풍선: 모서리가 둥근 사각형 11">
              <a:extLst>
                <a:ext uri="{FF2B5EF4-FFF2-40B4-BE49-F238E27FC236}">
                  <a16:creationId xmlns:a16="http://schemas.microsoft.com/office/drawing/2014/main" id="{63BC09BE-6474-4E27-AA8C-AB93050334CE}"/>
                </a:ext>
              </a:extLst>
            </p:cNvPr>
            <p:cNvSpPr/>
            <p:nvPr/>
          </p:nvSpPr>
          <p:spPr>
            <a:xfrm>
              <a:off x="6876256" y="4437112"/>
              <a:ext cx="1224136" cy="576064"/>
            </a:xfrm>
            <a:prstGeom prst="wedgeRoundRectCallout">
              <a:avLst>
                <a:gd name="adj1" fmla="val -34483"/>
                <a:gd name="adj2" fmla="val 69889"/>
                <a:gd name="adj3" fmla="val 1666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비밀번호가 암호된 채 저장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DF0480-04E2-4F01-8F79-8DD4AC87AA61}"/>
              </a:ext>
            </a:extLst>
          </p:cNvPr>
          <p:cNvSpPr txBox="1"/>
          <p:nvPr/>
        </p:nvSpPr>
        <p:spPr>
          <a:xfrm>
            <a:off x="5285908" y="3009431"/>
            <a:ext cx="29899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1600" b="1">
                <a:solidFill>
                  <a:srgbClr val="0070C0"/>
                </a:solidFill>
              </a:rPr>
              <a:t>라즈베리파이는 초기 부팅 시</a:t>
            </a:r>
            <a:r>
              <a:rPr lang="en-US" altLang="ko-KR" sz="1600" b="1">
                <a:solidFill>
                  <a:srgbClr val="0070C0"/>
                </a:solidFill>
              </a:rPr>
              <a:t>, </a:t>
            </a:r>
          </a:p>
          <a:p>
            <a:pPr algn="just"/>
            <a:r>
              <a:rPr lang="ko-KR" altLang="en-US" sz="1600" b="1">
                <a:solidFill>
                  <a:srgbClr val="0070C0"/>
                </a:solidFill>
              </a:rPr>
              <a:t>이 파일을 참고하여</a:t>
            </a:r>
            <a:r>
              <a:rPr lang="en-US" altLang="ko-KR" sz="1600" b="1">
                <a:solidFill>
                  <a:srgbClr val="0070C0"/>
                </a:solidFill>
              </a:rPr>
              <a:t> </a:t>
            </a:r>
          </a:p>
          <a:p>
            <a:pPr algn="just"/>
            <a:r>
              <a:rPr lang="en-US" altLang="ko-KR" sz="1600" b="1">
                <a:solidFill>
                  <a:srgbClr val="0070C0"/>
                </a:solidFill>
              </a:rPr>
              <a:t>"2471290"</a:t>
            </a:r>
            <a:r>
              <a:rPr lang="ko-KR" altLang="en-US" sz="1600" b="1">
                <a:solidFill>
                  <a:srgbClr val="0070C0"/>
                </a:solidFill>
              </a:rPr>
              <a:t>의 </a:t>
            </a:r>
            <a:endParaRPr lang="en-US" altLang="ko-KR" sz="1600" b="1">
              <a:solidFill>
                <a:srgbClr val="0070C0"/>
              </a:solidFill>
            </a:endParaRPr>
          </a:p>
          <a:p>
            <a:pPr algn="just"/>
            <a:r>
              <a:rPr lang="ko-KR" altLang="en-US" sz="1600" b="1">
                <a:solidFill>
                  <a:srgbClr val="0070C0"/>
                </a:solidFill>
              </a:rPr>
              <a:t>노트북 핫스팟에 자동 연결</a:t>
            </a:r>
          </a:p>
        </p:txBody>
      </p:sp>
    </p:spTree>
    <p:extLst>
      <p:ext uri="{BB962C8B-B14F-4D97-AF65-F5344CB8AC3E}">
        <p14:creationId xmlns:p14="http://schemas.microsoft.com/office/powerpoint/2010/main" val="3166982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8E5EC-9148-4EFE-A6C8-059018D5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라즈베리파이에서 네트워크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C940A-F777-4CA6-9B97-3CF356BC50B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라즈베리파이 운영체제에서 </a:t>
            </a:r>
            <a:r>
              <a:rPr lang="en-US" altLang="ko-KR"/>
              <a:t>netplan</a:t>
            </a:r>
            <a:r>
              <a:rPr lang="ko-KR" altLang="en-US"/>
              <a:t>과 </a:t>
            </a:r>
            <a:r>
              <a:rPr lang="en-US" altLang="ko-KR"/>
              <a:t>NetworkManager</a:t>
            </a:r>
            <a:r>
              <a:rPr lang="ko-KR" altLang="en-US"/>
              <a:t> 서비스 차이</a:t>
            </a:r>
            <a:endParaRPr lang="en-US" altLang="ko-KR"/>
          </a:p>
          <a:p>
            <a:pPr lvl="1"/>
            <a:r>
              <a:rPr lang="en-US" altLang="ko-KR"/>
              <a:t>netplan</a:t>
            </a:r>
          </a:p>
          <a:p>
            <a:pPr lvl="2"/>
            <a:r>
              <a:rPr lang="ko-KR" altLang="en-US"/>
              <a:t>네트워크의 연결과 관련된 계획서를 다루는 서비스</a:t>
            </a:r>
            <a:endParaRPr lang="en-US" altLang="ko-KR"/>
          </a:p>
          <a:p>
            <a:pPr lvl="1"/>
            <a:r>
              <a:rPr lang="en-US" altLang="ko-KR"/>
              <a:t>NetworkManager</a:t>
            </a:r>
            <a:r>
              <a:rPr lang="ko-KR" altLang="en-US"/>
              <a:t> 서비스</a:t>
            </a:r>
            <a:endParaRPr lang="en-US" altLang="ko-KR"/>
          </a:p>
          <a:p>
            <a:pPr lvl="2"/>
            <a:r>
              <a:rPr lang="en-US" altLang="ko-KR"/>
              <a:t>netplan </a:t>
            </a:r>
            <a:r>
              <a:rPr lang="ko-KR" altLang="en-US"/>
              <a:t>서비스에 의해 생성된 계획서대로 실제 네트워킹을 실행하는 서비스</a:t>
            </a:r>
            <a:endParaRPr lang="en-US" altLang="ko-KR"/>
          </a:p>
          <a:p>
            <a:r>
              <a:rPr lang="en-US" altLang="ko-KR"/>
              <a:t>nmcli </a:t>
            </a:r>
            <a:r>
              <a:rPr lang="ko-KR" altLang="en-US"/>
              <a:t>명령</a:t>
            </a:r>
            <a:endParaRPr lang="en-US" altLang="ko-KR"/>
          </a:p>
          <a:p>
            <a:pPr lvl="1"/>
            <a:r>
              <a:rPr lang="en-US" altLang="ko-KR"/>
              <a:t>NetworkManager </a:t>
            </a:r>
            <a:r>
              <a:rPr lang="ko-KR" altLang="en-US"/>
              <a:t>서비스를 제어하는 명령</a:t>
            </a:r>
            <a:endParaRPr lang="en-US" altLang="ko-KR"/>
          </a:p>
          <a:p>
            <a:pPr lvl="2"/>
            <a:r>
              <a:rPr lang="en-US" altLang="ko-KR"/>
              <a:t>NetworkManager Command Line Interface</a:t>
            </a:r>
            <a:r>
              <a:rPr lang="ko-KR" altLang="en-US"/>
              <a:t>의 약어</a:t>
            </a:r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94EA4-0C8C-43CB-8C98-1A5F4D1F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191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589DD-BE7B-46EC-A263-7E8D37F3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nmcli </a:t>
            </a:r>
            <a:r>
              <a:rPr lang="ko-KR" altLang="en-US"/>
              <a:t>명령으로 현재 연결 가능한 네트워크 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651285-146C-4526-AAA5-3037177F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05DDE1-D41A-490C-BF23-8E11AB2EA380}"/>
              </a:ext>
            </a:extLst>
          </p:cNvPr>
          <p:cNvSpPr/>
          <p:nvPr/>
        </p:nvSpPr>
        <p:spPr>
          <a:xfrm>
            <a:off x="755576" y="1412776"/>
            <a:ext cx="7344816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pi@h2471290:/etc/netplan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nmcli connection show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NAME 								UUID 																	TYPE			DEVICE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netplan-wlan0-2471290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f12fbb3e-884f-3612-83b7-1543feeb6a9f	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			wlan0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 										3ec12fe4-107a-4bad-98d5-a82a7edc8d4f 	loopback 	lo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netplan-eth0 					75a1216a-9d1a-30cd-8aca-ace5526ec021	ethernet 	--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pi@h2471290:/etc/netplan $</a:t>
            </a:r>
          </a:p>
        </p:txBody>
      </p:sp>
    </p:spTree>
    <p:extLst>
      <p:ext uri="{BB962C8B-B14F-4D97-AF65-F5344CB8AC3E}">
        <p14:creationId xmlns:p14="http://schemas.microsoft.com/office/powerpoint/2010/main" val="1960913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E4CA9-6AFB-4C75-A6C0-6F365B32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nmcli</a:t>
            </a:r>
            <a:r>
              <a:rPr lang="ko-KR" altLang="en-US"/>
              <a:t> 명령으로 무선 네트워크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5D87AD-BEF3-4906-9500-658CD89125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1800"/>
              <a:t>라즈베리파이가 부팅할 때 여러 상황에 따라 선택적으로 연결할 수 있도록 여러 무선 네트워크 추가</a:t>
            </a:r>
            <a:endParaRPr lang="en-US" altLang="ko-KR" sz="1800"/>
          </a:p>
          <a:p>
            <a:pPr lvl="1"/>
            <a:r>
              <a:rPr lang="en-US" altLang="ko-KR" sz="1400"/>
              <a:t>nmcli connection add </a:t>
            </a:r>
            <a:r>
              <a:rPr lang="ko-KR" altLang="en-US" sz="1400"/>
              <a:t>명령 이용</a:t>
            </a:r>
            <a:endParaRPr lang="en-US" altLang="ko-KR" sz="1400"/>
          </a:p>
          <a:p>
            <a:endParaRPr lang="en-US" altLang="ko-KR" sz="1800"/>
          </a:p>
          <a:p>
            <a:r>
              <a:rPr lang="en-US" altLang="ko-KR" sz="1800" u="sng"/>
              <a:t>[</a:t>
            </a:r>
            <a:r>
              <a:rPr lang="ko-KR" altLang="en-US" sz="1800" u="sng"/>
              <a:t>무선 공유기</a:t>
            </a:r>
            <a:r>
              <a:rPr lang="en-US" altLang="ko-KR" sz="1800" u="sng"/>
              <a:t>(SSID=102, </a:t>
            </a:r>
            <a:r>
              <a:rPr lang="ko-KR" altLang="en-US" sz="1800" u="sng"/>
              <a:t>암호</a:t>
            </a:r>
            <a:r>
              <a:rPr lang="en-US" altLang="ko-KR" sz="1800" u="sng"/>
              <a:t>=11111111, </a:t>
            </a:r>
            <a:r>
              <a:rPr lang="ko-KR" altLang="en-US" sz="1800" u="sng"/>
              <a:t>우선순위</a:t>
            </a:r>
            <a:r>
              <a:rPr lang="en-US" altLang="ko-KR" sz="1800" u="sng"/>
              <a:t>=2) </a:t>
            </a:r>
            <a:r>
              <a:rPr lang="ko-KR" altLang="en-US" sz="1800" u="sng"/>
              <a:t>추가</a:t>
            </a:r>
            <a:r>
              <a:rPr lang="en-US" altLang="ko-KR" sz="1800" u="sng"/>
              <a:t>]</a:t>
            </a:r>
            <a:endParaRPr lang="ko-KR" altLang="en-US" sz="1800"/>
          </a:p>
          <a:p>
            <a:pPr lvl="1"/>
            <a:r>
              <a:rPr lang="ko-KR" altLang="en-US"/>
              <a:t>다음 명령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9D2E7-B720-4B2F-8085-0DAF9C0C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76D242-8617-4761-B6E8-2374101DA619}"/>
              </a:ext>
            </a:extLst>
          </p:cNvPr>
          <p:cNvSpPr/>
          <p:nvPr/>
        </p:nvSpPr>
        <p:spPr>
          <a:xfrm>
            <a:off x="539552" y="3429000"/>
            <a:ext cx="3456384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102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102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2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612DDB69-C17B-4AB0-BD56-C45D7589A828}"/>
              </a:ext>
            </a:extLst>
          </p:cNvPr>
          <p:cNvSpPr/>
          <p:nvPr/>
        </p:nvSpPr>
        <p:spPr>
          <a:xfrm>
            <a:off x="467544" y="5543366"/>
            <a:ext cx="3456384" cy="864096"/>
          </a:xfrm>
          <a:prstGeom prst="wedgeRoundRectCallout">
            <a:avLst>
              <a:gd name="adj1" fmla="val -25381"/>
              <a:gd name="adj2" fmla="val -47195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100">
                <a:solidFill>
                  <a:srgbClr val="C00000"/>
                </a:solidFill>
              </a:rPr>
              <a:t>1) </a:t>
            </a:r>
            <a:r>
              <a:rPr lang="ko-KR" altLang="en-US" sz="1100">
                <a:solidFill>
                  <a:srgbClr val="C00000"/>
                </a:solidFill>
              </a:rPr>
              <a:t>한 개의 명령을 여러 줄에 걸쳐 입력하기 위해 라인 끝에 </a:t>
            </a:r>
            <a:r>
              <a:rPr lang="en-US" altLang="ko-KR" sz="1100">
                <a:solidFill>
                  <a:srgbClr val="C00000"/>
                </a:solidFill>
              </a:rPr>
              <a:t>\(</a:t>
            </a:r>
            <a:r>
              <a:rPr lang="ko-KR" altLang="en-US" sz="1100">
                <a:solidFill>
                  <a:srgbClr val="C00000"/>
                </a:solidFill>
              </a:rPr>
              <a:t>백슬래시</a:t>
            </a:r>
            <a:r>
              <a:rPr lang="en-US" altLang="ko-KR" sz="1100">
                <a:solidFill>
                  <a:srgbClr val="C00000"/>
                </a:solidFill>
              </a:rPr>
              <a:t>) </a:t>
            </a:r>
            <a:r>
              <a:rPr lang="ko-KR" altLang="en-US" sz="1100">
                <a:solidFill>
                  <a:srgbClr val="C00000"/>
                </a:solidFill>
              </a:rPr>
              <a:t>문자 사용</a:t>
            </a:r>
            <a:endParaRPr lang="en-US" altLang="ko-KR" sz="1100">
              <a:solidFill>
                <a:srgbClr val="C00000"/>
              </a:solidFill>
            </a:endParaRPr>
          </a:p>
          <a:p>
            <a:pPr algn="just"/>
            <a:endParaRPr lang="en-US" altLang="ko-KR" sz="1100">
              <a:solidFill>
                <a:srgbClr val="C00000"/>
              </a:solidFill>
            </a:endParaRPr>
          </a:p>
          <a:p>
            <a:pPr algn="just"/>
            <a:r>
              <a:rPr lang="en-US" altLang="ko-KR" sz="1100">
                <a:solidFill>
                  <a:srgbClr val="C00000"/>
                </a:solidFill>
              </a:rPr>
              <a:t>2) </a:t>
            </a:r>
            <a:r>
              <a:rPr lang="ko-KR" altLang="en-US" sz="1100">
                <a:solidFill>
                  <a:srgbClr val="C00000"/>
                </a:solidFill>
              </a:rPr>
              <a:t>백슬래시 앞에 빈 칸이 한 개 있음에 주의</a:t>
            </a:r>
            <a:endParaRPr lang="en-US" altLang="ko-KR" sz="1100">
              <a:solidFill>
                <a:srgbClr val="C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CB3129-EF32-456A-A29F-A4AF6693ECD8}"/>
              </a:ext>
            </a:extLst>
          </p:cNvPr>
          <p:cNvSpPr/>
          <p:nvPr/>
        </p:nvSpPr>
        <p:spPr>
          <a:xfrm>
            <a:off x="4267144" y="3429000"/>
            <a:ext cx="45720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102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102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2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 '102' (b07bf829-1a40-4622-b695-6c0b8979a738) successfully added.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0EC2C-B045-426E-9FE9-6F42F471A370}"/>
              </a:ext>
            </a:extLst>
          </p:cNvPr>
          <p:cNvSpPr txBox="1"/>
          <p:nvPr/>
        </p:nvSpPr>
        <p:spPr>
          <a:xfrm>
            <a:off x="5508104" y="5790748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</a:rPr>
              <a:t>실제 명령을 입력한 상황</a:t>
            </a:r>
          </a:p>
        </p:txBody>
      </p:sp>
    </p:spTree>
    <p:extLst>
      <p:ext uri="{BB962C8B-B14F-4D97-AF65-F5344CB8AC3E}">
        <p14:creationId xmlns:p14="http://schemas.microsoft.com/office/powerpoint/2010/main" val="2201127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AD5D6-5ED0-48EC-82C8-06C9891C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EB4D1-3812-4124-A67D-51456A7A0C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1800" u="sng"/>
              <a:t>[</a:t>
            </a:r>
            <a:r>
              <a:rPr lang="ko-KR" altLang="en-US" sz="1800" u="sng"/>
              <a:t>스마트폰 핫스팟</a:t>
            </a:r>
            <a:r>
              <a:rPr lang="en-US" altLang="ko-KR" sz="1800" u="sng"/>
              <a:t>(SSID=KitaeGalaxy, </a:t>
            </a:r>
            <a:r>
              <a:rPr lang="ko-KR" altLang="en-US" sz="1800" u="sng"/>
              <a:t>암호</a:t>
            </a:r>
            <a:r>
              <a:rPr lang="en-US" altLang="ko-KR" sz="1800" u="sng"/>
              <a:t>=11111111, </a:t>
            </a:r>
            <a:r>
              <a:rPr lang="ko-KR" altLang="en-US" sz="1800" u="sng"/>
              <a:t>우선순위</a:t>
            </a:r>
            <a:r>
              <a:rPr lang="en-US" altLang="ko-KR" sz="1800" u="sng"/>
              <a:t>=1) </a:t>
            </a:r>
            <a:r>
              <a:rPr lang="ko-KR" altLang="en-US" sz="1800" u="sng"/>
              <a:t>추가</a:t>
            </a:r>
            <a:r>
              <a:rPr lang="en-US" altLang="ko-KR" sz="1800" u="sng"/>
              <a:t>]</a:t>
            </a:r>
            <a:endParaRPr lang="ko-KR" altLang="en-US" sz="1800"/>
          </a:p>
          <a:p>
            <a:pPr lvl="1"/>
            <a:r>
              <a:rPr lang="ko-KR" altLang="en-US" sz="1600"/>
              <a:t>다음 명령 사용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AC1A1-517C-4642-9599-DF5A6B37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B7A2E2-5DB5-4064-8E24-165A75B66EC8}"/>
              </a:ext>
            </a:extLst>
          </p:cNvPr>
          <p:cNvSpPr/>
          <p:nvPr/>
        </p:nvSpPr>
        <p:spPr>
          <a:xfrm>
            <a:off x="683568" y="2132856"/>
            <a:ext cx="2951240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KitaeGalaxy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KitaeGalaxy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1F2FBE-5937-4F31-9089-39A58ADADDD1}"/>
              </a:ext>
            </a:extLst>
          </p:cNvPr>
          <p:cNvSpPr/>
          <p:nvPr/>
        </p:nvSpPr>
        <p:spPr>
          <a:xfrm>
            <a:off x="3851920" y="2132856"/>
            <a:ext cx="5112568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KitaeGalaxy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KiraeGalaxy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2</a:t>
            </a:r>
          </a:p>
          <a:p>
            <a:pPr defTabSz="180000" fontAlgn="base" latinLnBrk="0"/>
            <a:r>
              <a:rPr lang="en-US" altLang="ko-KR" sz="1200"/>
              <a:t>Connection 'KitaeGalaxy' (7bf36a34-9930-4271-aa83-47240952cc3d) successfully added.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53488F4C-473E-4C77-AD6E-369154D988FD}"/>
              </a:ext>
            </a:extLst>
          </p:cNvPr>
          <p:cNvSpPr/>
          <p:nvPr/>
        </p:nvSpPr>
        <p:spPr>
          <a:xfrm>
            <a:off x="286803" y="3963355"/>
            <a:ext cx="3456384" cy="864096"/>
          </a:xfrm>
          <a:prstGeom prst="wedgeRoundRectCallout">
            <a:avLst>
              <a:gd name="adj1" fmla="val -25381"/>
              <a:gd name="adj2" fmla="val -47195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100">
                <a:solidFill>
                  <a:srgbClr val="C00000"/>
                </a:solidFill>
              </a:rPr>
              <a:t>1) </a:t>
            </a:r>
            <a:r>
              <a:rPr lang="ko-KR" altLang="en-US" sz="1100">
                <a:solidFill>
                  <a:srgbClr val="C00000"/>
                </a:solidFill>
              </a:rPr>
              <a:t>한 개의 명령을 여러 줄에 걸쳐 입력하기 위해 라인 끝에 </a:t>
            </a:r>
            <a:r>
              <a:rPr lang="en-US" altLang="ko-KR" sz="1100">
                <a:solidFill>
                  <a:srgbClr val="C00000"/>
                </a:solidFill>
              </a:rPr>
              <a:t>\(</a:t>
            </a:r>
            <a:r>
              <a:rPr lang="ko-KR" altLang="en-US" sz="1100">
                <a:solidFill>
                  <a:srgbClr val="C00000"/>
                </a:solidFill>
              </a:rPr>
              <a:t>백슬래시</a:t>
            </a:r>
            <a:r>
              <a:rPr lang="en-US" altLang="ko-KR" sz="1100">
                <a:solidFill>
                  <a:srgbClr val="C00000"/>
                </a:solidFill>
              </a:rPr>
              <a:t>) </a:t>
            </a:r>
            <a:r>
              <a:rPr lang="ko-KR" altLang="en-US" sz="1100">
                <a:solidFill>
                  <a:srgbClr val="C00000"/>
                </a:solidFill>
              </a:rPr>
              <a:t>문자 사용</a:t>
            </a:r>
            <a:r>
              <a:rPr lang="en-US" altLang="ko-KR" sz="1100">
                <a:solidFill>
                  <a:srgbClr val="C00000"/>
                </a:solidFill>
              </a:rPr>
              <a:t>.</a:t>
            </a:r>
          </a:p>
          <a:p>
            <a:pPr algn="just"/>
            <a:endParaRPr lang="en-US" altLang="ko-KR" sz="1100">
              <a:solidFill>
                <a:srgbClr val="C00000"/>
              </a:solidFill>
            </a:endParaRPr>
          </a:p>
          <a:p>
            <a:pPr algn="just"/>
            <a:r>
              <a:rPr lang="en-US" altLang="ko-KR" sz="1100">
                <a:solidFill>
                  <a:srgbClr val="C00000"/>
                </a:solidFill>
              </a:rPr>
              <a:t>2) </a:t>
            </a:r>
            <a:r>
              <a:rPr lang="ko-KR" altLang="en-US" sz="1100">
                <a:solidFill>
                  <a:srgbClr val="C00000"/>
                </a:solidFill>
              </a:rPr>
              <a:t>백슬래시 앞에 빈 칸이 한 개 있음에 주의</a:t>
            </a:r>
            <a:endParaRPr lang="en-US" altLang="ko-KR" sz="110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FA02C-D4E6-4B03-95C0-0A6F52485CFF}"/>
              </a:ext>
            </a:extLst>
          </p:cNvPr>
          <p:cNvSpPr txBox="1"/>
          <p:nvPr/>
        </p:nvSpPr>
        <p:spPr>
          <a:xfrm>
            <a:off x="5430919" y="4515352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</a:rPr>
              <a:t>실제 입력한 상황</a:t>
            </a:r>
          </a:p>
        </p:txBody>
      </p:sp>
    </p:spTree>
    <p:extLst>
      <p:ext uri="{BB962C8B-B14F-4D97-AF65-F5344CB8AC3E}">
        <p14:creationId xmlns:p14="http://schemas.microsoft.com/office/powerpoint/2010/main" val="41781009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13049-34E8-4ADE-88AE-EC79FA17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추가된 무선 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688D5A-98E2-4552-9C0F-9DB8489582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nmcli connection add </a:t>
            </a:r>
            <a:r>
              <a:rPr lang="ko-KR" altLang="en-US"/>
              <a:t>명령 실행</a:t>
            </a:r>
            <a:endParaRPr lang="en-US" altLang="ko-KR"/>
          </a:p>
          <a:p>
            <a:pPr lvl="1"/>
            <a:r>
              <a:rPr lang="ko-KR" altLang="en-US"/>
              <a:t>무선 네트워크 추가</a:t>
            </a:r>
            <a:endParaRPr lang="en-US" altLang="ko-KR"/>
          </a:p>
          <a:p>
            <a:pPr lvl="1"/>
            <a:r>
              <a:rPr lang="ko-KR" altLang="en-US"/>
              <a:t>무선 네트워크 정보마다 별도의 파일 생성</a:t>
            </a:r>
            <a:endParaRPr lang="en-US" altLang="ko-KR"/>
          </a:p>
          <a:p>
            <a:pPr lvl="2"/>
            <a:r>
              <a:rPr lang="en-US" altLang="ko-KR"/>
              <a:t>102.nmconnection </a:t>
            </a:r>
            <a:r>
              <a:rPr lang="ko-KR" altLang="en-US"/>
              <a:t>파일 생성</a:t>
            </a:r>
            <a:endParaRPr lang="en-US" altLang="ko-KR"/>
          </a:p>
          <a:p>
            <a:pPr lvl="2"/>
            <a:r>
              <a:rPr lang="en-US" altLang="ko-KR"/>
              <a:t>KitaeGalaxy.nmconnection </a:t>
            </a:r>
            <a:r>
              <a:rPr lang="ko-KR" altLang="en-US"/>
              <a:t>파일 생성</a:t>
            </a:r>
            <a:endParaRPr lang="en-US" altLang="ko-KR"/>
          </a:p>
          <a:p>
            <a:pPr lvl="1"/>
            <a:r>
              <a:rPr lang="ko-KR" altLang="en-US"/>
              <a:t>생성된 파일들은 다음 디렉터리에 저장</a:t>
            </a:r>
            <a:endParaRPr lang="en-US" altLang="ko-KR"/>
          </a:p>
          <a:p>
            <a:pPr lvl="2"/>
            <a:r>
              <a:rPr lang="en-US" altLang="ko-KR"/>
              <a:t>/etc/NetworkManager/system-connections</a:t>
            </a:r>
          </a:p>
          <a:p>
            <a:r>
              <a:rPr lang="ko-KR" altLang="en-US"/>
              <a:t>추가된 무선 네트워크 확인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0D5423-B56B-434E-AD00-C908076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2F4905-1B7C-437D-91FC-9B0A060B7A20}"/>
              </a:ext>
            </a:extLst>
          </p:cNvPr>
          <p:cNvSpPr/>
          <p:nvPr/>
        </p:nvSpPr>
        <p:spPr>
          <a:xfrm>
            <a:off x="1043608" y="4437112"/>
            <a:ext cx="6552728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cd /etc/NetworkManager/system-connections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102.nmconnection KitaeGalaxy.nmconnection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</a:t>
            </a:r>
          </a:p>
        </p:txBody>
      </p:sp>
    </p:spTree>
    <p:extLst>
      <p:ext uri="{BB962C8B-B14F-4D97-AF65-F5344CB8AC3E}">
        <p14:creationId xmlns:p14="http://schemas.microsoft.com/office/powerpoint/2010/main" val="27743350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C909D-E847-4799-9DEA-FC7F744D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추가된 무선네트워크 정보 파일 열어보기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3FED66-B701-4E4C-8916-0653DCC3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28AA2E-035F-4123-833F-AAB7115C7218}"/>
              </a:ext>
            </a:extLst>
          </p:cNvPr>
          <p:cNvSpPr/>
          <p:nvPr/>
        </p:nvSpPr>
        <p:spPr>
          <a:xfrm>
            <a:off x="728908" y="1412776"/>
            <a:ext cx="7920880" cy="47089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cat 102.nmconnection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[connection]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id=102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uuid=b07bf829-1a40-4622-b695-6c0b8979a738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type=wifi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autoconnect-priority=2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interface-name=wlan0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[wifi]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mode=infrastructure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ssid=102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[wifi-security]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key-mgmt=wpa-psk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psk=11111111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[ipv4]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method=auto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[ipv6]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addr-gen-mode=default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method=auto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[proxy]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</a:t>
            </a:r>
          </a:p>
        </p:txBody>
      </p:sp>
    </p:spTree>
    <p:extLst>
      <p:ext uri="{BB962C8B-B14F-4D97-AF65-F5344CB8AC3E}">
        <p14:creationId xmlns:p14="http://schemas.microsoft.com/office/powerpoint/2010/main" val="16313045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A43DC-1964-4254-90F7-71BAC6E9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추가된 무선 네트워크가 연결 가능한지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13C45-63A5-422A-934F-43FA0E14F9D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nmcli connection show </a:t>
            </a:r>
            <a:r>
              <a:rPr lang="ko-KR" altLang="en-US"/>
              <a:t>사용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0577FB-1CF1-4E44-93E5-6345F437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3F9046-3A8B-47B8-B39D-4285AFAFD498}"/>
              </a:ext>
            </a:extLst>
          </p:cNvPr>
          <p:cNvSpPr/>
          <p:nvPr/>
        </p:nvSpPr>
        <p:spPr>
          <a:xfrm>
            <a:off x="1115616" y="1916832"/>
            <a:ext cx="7416824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nmcli connection show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NAME 								UUID 																	TYPE 			DEVICE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netplan-wlan0-2471290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f12fbb3e-884f-3612-83b7-1543feeb6a9f	wifi 				wlan0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 										3ec12fe4-107a-4bad-98d5-a82a7edc8d4f	loopback	lo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102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								b07bf829-1a40-4622-b695-6c0b8979a738	wifi 				--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KitaeGalaxy 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			7bf36a34-9930-4271-aa83-47240952cc3d	wifi 				--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netplan-eth0 					75a1216a-9d1a-30cd-8aca-ace5526ec021	ethernet 	--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</a:t>
            </a:r>
          </a:p>
        </p:txBody>
      </p:sp>
      <p:sp>
        <p:nvSpPr>
          <p:cNvPr id="6" name="왼쪽 중괄호 5">
            <a:extLst>
              <a:ext uri="{FF2B5EF4-FFF2-40B4-BE49-F238E27FC236}">
                <a16:creationId xmlns:a16="http://schemas.microsoft.com/office/drawing/2014/main" id="{B074CCFB-6B26-433F-AE14-DD073D10F0F7}"/>
              </a:ext>
            </a:extLst>
          </p:cNvPr>
          <p:cNvSpPr/>
          <p:nvPr/>
        </p:nvSpPr>
        <p:spPr>
          <a:xfrm>
            <a:off x="755576" y="2492896"/>
            <a:ext cx="432048" cy="720080"/>
          </a:xfrm>
          <a:prstGeom prst="leftBrace">
            <a:avLst>
              <a:gd name="adj1" fmla="val 21561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0FA824-B55C-4979-8C8A-774A03696133}"/>
              </a:ext>
            </a:extLst>
          </p:cNvPr>
          <p:cNvSpPr/>
          <p:nvPr/>
        </p:nvSpPr>
        <p:spPr>
          <a:xfrm>
            <a:off x="1187624" y="4130462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ko-KR">
                <a:solidFill>
                  <a:srgbClr val="0070C0"/>
                </a:solidFill>
              </a:rPr>
              <a:t>3</a:t>
            </a:r>
            <a:r>
              <a:rPr lang="ko-KR" altLang="en-US">
                <a:solidFill>
                  <a:srgbClr val="0070C0"/>
                </a:solidFill>
              </a:rPr>
              <a:t>개의 무선 네트워크가 보임</a:t>
            </a:r>
            <a:endParaRPr lang="en-US" altLang="ko-KR">
              <a:solidFill>
                <a:srgbClr val="0070C0"/>
              </a:solidFill>
            </a:endParaRP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4AE0E8E6-34A1-410B-8F05-B9803A68EF73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rot="10800000">
            <a:off x="755576" y="2852936"/>
            <a:ext cx="432048" cy="1462192"/>
          </a:xfrm>
          <a:prstGeom prst="curvedConnector3">
            <a:avLst>
              <a:gd name="adj1" fmla="val 15291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9888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34111-A825-4262-B353-C6BDF6AF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라즈베리파이가 연결할 무선 네트워크 선택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4764D7-BAAC-4B43-8077-EBBB9D129E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000"/>
              <a:t>라즈베리파이는 부팅 후 다음 순서로 무선 네트워크에 자동 연결 시도</a:t>
            </a:r>
          </a:p>
          <a:p>
            <a:pPr lvl="1" fontAlgn="base"/>
            <a:r>
              <a:rPr lang="en-US" altLang="ko-KR" sz="1800"/>
              <a:t>(1) </a:t>
            </a:r>
            <a:r>
              <a:rPr lang="ko-KR" altLang="en-US" sz="1800"/>
              <a:t>무선 네트워크 목록의 각 무선 네트워크가 </a:t>
            </a:r>
            <a:r>
              <a:rPr lang="ko-KR" altLang="en-US" sz="1800" b="1"/>
              <a:t>켜져 있는지 </a:t>
            </a:r>
            <a:r>
              <a:rPr lang="ko-KR" altLang="en-US" sz="1800"/>
              <a:t>확인</a:t>
            </a:r>
            <a:endParaRPr lang="en-US" altLang="ko-KR" sz="1800"/>
          </a:p>
          <a:p>
            <a:pPr lvl="2" fontAlgn="base"/>
            <a:r>
              <a:rPr lang="ko-KR" altLang="en-US" sz="1600"/>
              <a:t>예를 들어</a:t>
            </a:r>
            <a:r>
              <a:rPr lang="en-US" altLang="ko-KR" sz="1600"/>
              <a:t>, </a:t>
            </a:r>
          </a:p>
          <a:p>
            <a:pPr lvl="2" fontAlgn="base"/>
            <a:r>
              <a:rPr lang="ko-KR" altLang="en-US" sz="1600"/>
              <a:t>노트북 핫스팟</a:t>
            </a:r>
            <a:r>
              <a:rPr lang="en-US" altLang="ko-KR" sz="1600"/>
              <a:t>(2471290), </a:t>
            </a:r>
            <a:r>
              <a:rPr lang="ko-KR" altLang="en-US" sz="1600"/>
              <a:t>무선 공유기</a:t>
            </a:r>
            <a:r>
              <a:rPr lang="en-US" altLang="ko-KR" sz="1600"/>
              <a:t>(102), </a:t>
            </a:r>
            <a:r>
              <a:rPr lang="ko-KR" altLang="en-US" sz="1600"/>
              <a:t>스마트폰 핫스팟</a:t>
            </a:r>
            <a:r>
              <a:rPr lang="en-US" altLang="ko-KR" sz="1600"/>
              <a:t>(KitaeGalaxy) </a:t>
            </a:r>
            <a:r>
              <a:rPr lang="ko-KR" altLang="en-US" sz="1600"/>
              <a:t>중에서 켜져 있는 것들 확인</a:t>
            </a:r>
          </a:p>
          <a:p>
            <a:pPr lvl="1" fontAlgn="base"/>
            <a:r>
              <a:rPr lang="en-US" altLang="ko-KR" sz="1800"/>
              <a:t>(2) </a:t>
            </a:r>
            <a:r>
              <a:rPr lang="ko-KR" altLang="en-US" sz="1800"/>
              <a:t>켜져 있는 것들 중 가장 </a:t>
            </a:r>
            <a:r>
              <a:rPr lang="ko-KR" altLang="en-US" sz="1800" b="1"/>
              <a:t>우선순위가 높은</a:t>
            </a:r>
            <a:r>
              <a:rPr lang="ko-KR" altLang="en-US" sz="1800"/>
              <a:t> 무선 네트워크에 연결</a:t>
            </a:r>
            <a:endParaRPr lang="en-US" altLang="ko-KR" sz="1800"/>
          </a:p>
          <a:p>
            <a:pPr lvl="2" fontAlgn="base"/>
            <a:r>
              <a:rPr lang="ko-KR" altLang="en-US" sz="1600"/>
              <a:t>우선순위 값이 클수록 우선순위가 높음</a:t>
            </a:r>
          </a:p>
          <a:p>
            <a:endParaRPr lang="ko-KR" altLang="en-US" sz="2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459759-BAFE-4091-82CF-910FD06A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04155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1C315-7F7E-4D59-8854-E576DC4C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우선순위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2548AE-62EF-4242-806E-312F3A5484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kern="0">
                <a:solidFill>
                  <a:srgbClr val="000000"/>
                </a:solidFill>
                <a:latin typeface="맑은 고딕" panose="020B0503020000020004" pitchFamily="50" charset="-127"/>
              </a:rPr>
              <a:t>sudo nmcli connection modify </a:t>
            </a:r>
            <a:r>
              <a:rPr lang="ko-KR" altLang="en-US" kern="0">
                <a:solidFill>
                  <a:srgbClr val="000000"/>
                </a:solidFill>
                <a:latin typeface="맑은 고딕" panose="020B0503020000020004" pitchFamily="50" charset="-127"/>
              </a:rPr>
              <a:t>명령 이용</a:t>
            </a:r>
            <a:endParaRPr lang="en-US" altLang="ko-KR" ker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lvl="1"/>
            <a:r>
              <a:rPr lang="ko-KR" altLang="en-US"/>
              <a:t>노트북 핫스팟의 우선순위를 </a:t>
            </a:r>
            <a:r>
              <a:rPr lang="en-US" altLang="ko-KR"/>
              <a:t>3</a:t>
            </a:r>
            <a:r>
              <a:rPr lang="ko-KR" altLang="en-US"/>
              <a:t>으로 변경하는 사례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변경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18329D-3CD6-413C-8D35-899AB310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60E103-DFB4-4109-9D7B-BFC953652CDD}"/>
              </a:ext>
            </a:extLst>
          </p:cNvPr>
          <p:cNvSpPr/>
          <p:nvPr/>
        </p:nvSpPr>
        <p:spPr>
          <a:xfrm>
            <a:off x="603148" y="2276872"/>
            <a:ext cx="8361340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modify "netplan-wlan0-2471290" connection.autoconnect-priority 3 </a:t>
            </a:r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0F82055-9066-47ED-904C-02451CCE03F7}"/>
              </a:ext>
            </a:extLst>
          </p:cNvPr>
          <p:cNvGrpSpPr/>
          <p:nvPr/>
        </p:nvGrpSpPr>
        <p:grpSpPr>
          <a:xfrm>
            <a:off x="1115616" y="3356992"/>
            <a:ext cx="7055696" cy="3416320"/>
            <a:chOff x="612648" y="3246922"/>
            <a:chExt cx="7055696" cy="3416320"/>
          </a:xfrm>
          <a:noFill/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039525E-B9C3-4DC3-A17E-A6F667992D12}"/>
                </a:ext>
              </a:extLst>
            </p:cNvPr>
            <p:cNvSpPr/>
            <p:nvPr/>
          </p:nvSpPr>
          <p:spPr>
            <a:xfrm>
              <a:off x="612648" y="3246922"/>
              <a:ext cx="7055696" cy="341632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 $ cd /etc/netplan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 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sudo cat *.yaml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network: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version: 2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wifis: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wlan0: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)</a:t>
              </a:r>
              <a:endPara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access-points: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"2471290":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auth: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key-management: "psk"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passthrough: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connection.autoconnect-priority: "3"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connection.timestamp: "1764859868"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 </a:t>
              </a:r>
            </a:p>
          </p:txBody>
        </p:sp>
        <p:sp>
          <p:nvSpPr>
            <p:cNvPr id="8" name="말풍선: 모서리가 둥근 사각형 7">
              <a:extLst>
                <a:ext uri="{FF2B5EF4-FFF2-40B4-BE49-F238E27FC236}">
                  <a16:creationId xmlns:a16="http://schemas.microsoft.com/office/drawing/2014/main" id="{42B7BACD-E667-448C-9685-AABFF0B84075}"/>
                </a:ext>
              </a:extLst>
            </p:cNvPr>
            <p:cNvSpPr/>
            <p:nvPr/>
          </p:nvSpPr>
          <p:spPr>
            <a:xfrm>
              <a:off x="4860032" y="5658189"/>
              <a:ext cx="1224136" cy="576064"/>
            </a:xfrm>
            <a:prstGeom prst="wedgeRoundRectCallout">
              <a:avLst>
                <a:gd name="adj1" fmla="val -61221"/>
                <a:gd name="adj2" fmla="val 1345"/>
                <a:gd name="adj3" fmla="val 16667"/>
              </a:avLst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우선순위가 </a:t>
              </a:r>
              <a:r>
                <a:rPr lang="en-US" altLang="ko-KR" sz="1200">
                  <a:solidFill>
                    <a:srgbClr val="C00000"/>
                  </a:solidFill>
                </a:rPr>
                <a:t>3</a:t>
              </a:r>
              <a:r>
                <a:rPr lang="ko-KR" altLang="en-US" sz="1200">
                  <a:solidFill>
                    <a:srgbClr val="C00000"/>
                  </a:solidFill>
                </a:rPr>
                <a:t>으로 변경됨</a:t>
              </a:r>
              <a:r>
                <a:rPr lang="en-US" altLang="ko-KR" sz="1200">
                  <a:solidFill>
                    <a:srgbClr val="C00000"/>
                  </a:solidFill>
                </a:rPr>
                <a:t>.</a:t>
              </a:r>
            </a:p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본래 </a:t>
              </a:r>
              <a:r>
                <a:rPr lang="en-US" altLang="ko-KR" sz="1200">
                  <a:solidFill>
                    <a:srgbClr val="C00000"/>
                  </a:solidFill>
                </a:rPr>
                <a:t>0</a:t>
              </a:r>
              <a:r>
                <a:rPr lang="ko-KR" altLang="en-US" sz="1200">
                  <a:solidFill>
                    <a:srgbClr val="C00000"/>
                  </a:solidFill>
                </a:rPr>
                <a:t>이었음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3209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2.4 </a:t>
            </a:r>
            <a:r>
              <a:rPr lang="ko-KR" altLang="en-US"/>
              <a:t>헤드리스 라즈베리파이 만들기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10807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헤드리스 라즈베리파이 조건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ko-KR" altLang="en-US"/>
              <a:t>헤드리스 라즈베리파이</a:t>
            </a:r>
          </a:p>
          <a:p>
            <a:pPr lvl="1"/>
            <a:r>
              <a:rPr lang="ko-KR" altLang="en-US"/>
              <a:t>디스플레이와 </a:t>
            </a:r>
            <a:r>
              <a:rPr lang="ko-KR" altLang="en-US" dirty="0"/>
              <a:t>키보드 </a:t>
            </a:r>
            <a:r>
              <a:rPr lang="ko-KR" altLang="en-US"/>
              <a:t>마우스 없이</a:t>
            </a:r>
            <a:r>
              <a:rPr lang="en-US" altLang="ko-KR"/>
              <a:t>, </a:t>
            </a:r>
            <a:r>
              <a:rPr lang="ko-KR" altLang="en-US" b="1"/>
              <a:t>네트워크를 통해 원격 접속으로만 </a:t>
            </a:r>
            <a:r>
              <a:rPr lang="ko-KR" altLang="en-US"/>
              <a:t>사용</a:t>
            </a:r>
            <a:endParaRPr lang="en-US" altLang="ko-KR" dirty="0"/>
          </a:p>
          <a:p>
            <a:r>
              <a:rPr lang="ko-KR" altLang="en-US"/>
              <a:t>헤드리스 라즈베리파이를 만들기 위한 조건</a:t>
            </a:r>
          </a:p>
          <a:p>
            <a:pPr lvl="1" fontAlgn="base"/>
            <a:r>
              <a:rPr lang="ko-KR" altLang="en-US"/>
              <a:t>라즈베리파이의 주변에 연결 가능한 </a:t>
            </a:r>
            <a:r>
              <a:rPr lang="en-US" altLang="ko-KR"/>
              <a:t>1</a:t>
            </a:r>
            <a:r>
              <a:rPr lang="ko-KR" altLang="en-US"/>
              <a:t>개 이상의 무선 네트워크 필요</a:t>
            </a:r>
            <a:endParaRPr lang="en-US" altLang="ko-KR"/>
          </a:p>
          <a:p>
            <a:pPr lvl="1" fontAlgn="base"/>
            <a:r>
              <a:rPr lang="ko-KR" altLang="en-US"/>
              <a:t>부팅 시</a:t>
            </a:r>
            <a:r>
              <a:rPr lang="en-US" altLang="ko-KR"/>
              <a:t>,</a:t>
            </a:r>
            <a:r>
              <a:rPr lang="ko-KR" altLang="en-US"/>
              <a:t> 무선 네트워크에 자동 연결하도록 설정</a:t>
            </a:r>
          </a:p>
          <a:p>
            <a:pPr lvl="1" fontAlgn="base"/>
            <a:r>
              <a:rPr lang="ko-KR" altLang="en-US"/>
              <a:t>부팅 후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PC(</a:t>
            </a:r>
            <a:r>
              <a:rPr lang="ko-KR" altLang="en-US"/>
              <a:t>노트북</a:t>
            </a:r>
            <a:r>
              <a:rPr lang="en-US" altLang="ko-KR"/>
              <a:t>)</a:t>
            </a:r>
            <a:r>
              <a:rPr lang="ko-KR" altLang="en-US"/>
              <a:t>에서 라즈베리파이의 </a:t>
            </a:r>
            <a:r>
              <a:rPr lang="en-US" altLang="ko-KR"/>
              <a:t>IP </a:t>
            </a:r>
            <a:r>
              <a:rPr lang="ko-KR" altLang="en-US"/>
              <a:t>주소 알아내기</a:t>
            </a:r>
            <a:endParaRPr lang="en-US" altLang="ko-KR"/>
          </a:p>
          <a:p>
            <a:pPr lvl="1" fontAlgn="base"/>
            <a:endParaRPr lang="en-US" altLang="ko-KR"/>
          </a:p>
          <a:p>
            <a:pPr fontAlgn="base"/>
            <a:r>
              <a:rPr lang="ko-KR" altLang="en-US"/>
              <a:t>무선 네트워크를 확보하는 </a:t>
            </a:r>
            <a:r>
              <a:rPr lang="en-US" altLang="ko-KR"/>
              <a:t>3 </a:t>
            </a:r>
            <a:r>
              <a:rPr lang="ko-KR" altLang="en-US"/>
              <a:t>방법</a:t>
            </a:r>
            <a:endParaRPr lang="en-US" altLang="ko-KR"/>
          </a:p>
          <a:p>
            <a:pPr lvl="1" fontAlgn="base"/>
            <a:r>
              <a:rPr lang="ko-KR" altLang="en-US"/>
              <a:t>노트북 핫스팟 활용</a:t>
            </a:r>
            <a:endParaRPr lang="en-US" altLang="ko-KR"/>
          </a:p>
          <a:p>
            <a:pPr lvl="1" fontAlgn="base"/>
            <a:r>
              <a:rPr lang="ko-KR" altLang="en-US"/>
              <a:t>무선 공유기 활용</a:t>
            </a:r>
            <a:endParaRPr lang="en-US" altLang="ko-KR"/>
          </a:p>
          <a:p>
            <a:pPr lvl="1" fontAlgn="base"/>
            <a:r>
              <a:rPr lang="ko-KR" altLang="en-US"/>
              <a:t>스마트폰 핫스팟 활용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095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헤드리스 라즈베리파이 부팅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/>
              <a:t>(1) </a:t>
            </a:r>
            <a:r>
              <a:rPr lang="ko-KR" altLang="en-US"/>
              <a:t>라즈베리파이의 전원을 끈 상태로 시작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/>
              <a:t>(2) SD</a:t>
            </a:r>
            <a:r>
              <a:rPr lang="ko-KR" altLang="en-US" dirty="0"/>
              <a:t>카드를 </a:t>
            </a:r>
            <a:r>
              <a:rPr lang="ko-KR" altLang="en-US" err="1"/>
              <a:t>라즈베리파이에</a:t>
            </a:r>
            <a:r>
              <a:rPr lang="ko-KR" altLang="en-US"/>
              <a:t> 장착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(3) </a:t>
            </a:r>
            <a:r>
              <a:rPr lang="ko-KR" altLang="en-US"/>
              <a:t>전원 </a:t>
            </a:r>
            <a:r>
              <a:rPr lang="ko-KR" altLang="en-US" dirty="0"/>
              <a:t>켜기 </a:t>
            </a:r>
            <a:endParaRPr lang="en-US" altLang="ko-KR" dirty="0"/>
          </a:p>
          <a:p>
            <a:pPr lvl="1"/>
            <a:r>
              <a:rPr lang="ko-KR" altLang="en-US"/>
              <a:t>부팅 진행</a:t>
            </a:r>
            <a:endParaRPr lang="en-US" altLang="ko-KR"/>
          </a:p>
          <a:p>
            <a:pPr lvl="1"/>
            <a:r>
              <a:rPr lang="ko-KR" altLang="en-US"/>
              <a:t>부팅이 </a:t>
            </a:r>
            <a:r>
              <a:rPr lang="ko-KR" altLang="en-US" dirty="0"/>
              <a:t>끝나면 </a:t>
            </a:r>
            <a:r>
              <a:rPr lang="ko-KR" altLang="en-US" err="1"/>
              <a:t>라즈베리파이는</a:t>
            </a:r>
            <a:r>
              <a:rPr lang="ko-KR" altLang="en-US"/>
              <a:t> 운영체제를 설치할 때 지정한 무선 네트워크로부터 사설 </a:t>
            </a:r>
            <a:r>
              <a:rPr lang="en-US" altLang="ko-KR"/>
              <a:t>IP</a:t>
            </a:r>
            <a:r>
              <a:rPr lang="ko-KR" altLang="en-US" dirty="0"/>
              <a:t>를 할당 받고 </a:t>
            </a:r>
            <a:r>
              <a:rPr lang="ko-KR" altLang="en-US"/>
              <a:t>정상 동작</a:t>
            </a:r>
            <a:endParaRPr lang="en-US" altLang="ko-KR"/>
          </a:p>
          <a:p>
            <a:pPr lvl="2"/>
            <a:r>
              <a:rPr lang="ko-KR" altLang="en-US"/>
              <a:t>운영체제를 설치할 때 노트북 핫스팟을 무선 네트워크로 지정</a:t>
            </a:r>
            <a:endParaRPr lang="en-US" altLang="ko-KR"/>
          </a:p>
          <a:p>
            <a:pPr lvl="2"/>
            <a:endParaRPr lang="en-US" altLang="ko-KR"/>
          </a:p>
          <a:p>
            <a:r>
              <a:rPr lang="ko-KR" altLang="en-US"/>
              <a:t>부팅 후 어려움</a:t>
            </a:r>
            <a:endParaRPr lang="en-US" altLang="ko-KR"/>
          </a:p>
          <a:p>
            <a:pPr lvl="1"/>
            <a:r>
              <a:rPr lang="ko-KR" altLang="en-US"/>
              <a:t>디스플레이가 없어 부팅이 완료되었는지 확인 어려움</a:t>
            </a:r>
            <a:endParaRPr lang="en-US" altLang="ko-KR"/>
          </a:p>
          <a:p>
            <a:pPr lvl="1"/>
            <a:r>
              <a:rPr lang="ko-KR" altLang="en-US"/>
              <a:t>지정된 무선 네트워크에 연결되었는 확인 어려움</a:t>
            </a:r>
            <a:endParaRPr lang="en-US" altLang="ko-KR"/>
          </a:p>
          <a:p>
            <a:pPr lvl="1"/>
            <a:r>
              <a:rPr lang="ko-KR" altLang="en-US"/>
              <a:t>무선 네트워크에 연결되었다면 라즈베리파이가 할당받은 </a:t>
            </a:r>
            <a:r>
              <a:rPr lang="en-US" altLang="ko-KR"/>
              <a:t>IP </a:t>
            </a:r>
            <a:r>
              <a:rPr lang="ko-KR" altLang="en-US"/>
              <a:t>주소가 무엇인지 확인 어려움</a:t>
            </a:r>
            <a:endParaRPr lang="en-US" altLang="ko-KR"/>
          </a:p>
          <a:p>
            <a:pPr marL="365760" lvl="1" indent="0">
              <a:buNone/>
            </a:pPr>
            <a:r>
              <a:rPr lang="en-US" altLang="ko-KR">
                <a:solidFill>
                  <a:srgbClr val="C00000"/>
                </a:solidFill>
              </a:rPr>
              <a:t>-&gt; </a:t>
            </a:r>
            <a:r>
              <a:rPr lang="ko-KR" altLang="en-US">
                <a:solidFill>
                  <a:srgbClr val="C00000"/>
                </a:solidFill>
              </a:rPr>
              <a:t>이 어려움을 해소해보자</a:t>
            </a:r>
            <a:r>
              <a:rPr lang="en-US" altLang="ko-KR">
                <a:solidFill>
                  <a:srgbClr val="C00000"/>
                </a:solidFill>
              </a:rPr>
              <a:t>.</a:t>
            </a:r>
            <a:endParaRPr lang="en-US" altLang="ko-KR" dirty="0">
              <a:solidFill>
                <a:srgbClr val="C0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49970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23144-9234-4317-B209-769C7439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(1) </a:t>
            </a:r>
            <a:r>
              <a:rPr lang="ko-KR" altLang="en-US"/>
              <a:t>노트북 핫스팟을 무선 네트워크로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83ED77-36FE-4D3D-BFFB-F6C95286346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1. </a:t>
            </a:r>
            <a:r>
              <a:rPr lang="ko-KR" altLang="en-US"/>
              <a:t>스마트폰을 무선 공유기나</a:t>
            </a:r>
            <a:r>
              <a:rPr lang="en-US" altLang="ko-KR"/>
              <a:t>, LTE </a:t>
            </a:r>
            <a:r>
              <a:rPr lang="ko-KR" altLang="en-US"/>
              <a:t>혹은 </a:t>
            </a:r>
            <a:r>
              <a:rPr lang="en-US" altLang="ko-KR"/>
              <a:t>5G</a:t>
            </a:r>
            <a:r>
              <a:rPr lang="ko-KR" altLang="en-US"/>
              <a:t>에 연결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2. </a:t>
            </a:r>
            <a:r>
              <a:rPr lang="ko-KR" altLang="en-US"/>
              <a:t>운영제체 설치 시</a:t>
            </a:r>
            <a:r>
              <a:rPr lang="en-US" altLang="ko-KR"/>
              <a:t>, </a:t>
            </a:r>
            <a:r>
              <a:rPr lang="ko-KR" altLang="en-US"/>
              <a:t>노트북 핫스팟의 </a:t>
            </a:r>
            <a:r>
              <a:rPr lang="en-US" altLang="ko-KR"/>
              <a:t>SSID</a:t>
            </a:r>
            <a:r>
              <a:rPr lang="ko-KR" altLang="en-US"/>
              <a:t>를 무선 네트워크로 지정</a:t>
            </a:r>
            <a:endParaRPr lang="en-US" altLang="ko-KR"/>
          </a:p>
          <a:p>
            <a:pPr lvl="1"/>
            <a:r>
              <a:rPr lang="en-US" altLang="ko-KR"/>
              <a:t>2.2</a:t>
            </a:r>
            <a:r>
              <a:rPr lang="ko-KR" altLang="en-US"/>
              <a:t>절 참조</a:t>
            </a:r>
            <a:endParaRPr lang="en-US" altLang="ko-KR"/>
          </a:p>
          <a:p>
            <a:pPr lvl="2"/>
            <a:r>
              <a:rPr lang="en-US" altLang="ko-KR"/>
              <a:t>2.2</a:t>
            </a:r>
            <a:r>
              <a:rPr lang="ko-KR" altLang="en-US"/>
              <a:t>절에서 운영체제를 설치할 때 노트북 핫스팟의 </a:t>
            </a:r>
            <a:r>
              <a:rPr lang="en-US" altLang="ko-KR"/>
              <a:t>SSID 2471290</a:t>
            </a:r>
            <a:r>
              <a:rPr lang="ko-KR" altLang="en-US"/>
              <a:t>과 비밀번호 </a:t>
            </a:r>
            <a:r>
              <a:rPr lang="en-US" altLang="ko-KR"/>
              <a:t>11111111</a:t>
            </a:r>
            <a:r>
              <a:rPr lang="ko-KR" altLang="en-US"/>
              <a:t>을 입력하여 무선 네트워크로 지정하였음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3. </a:t>
            </a:r>
            <a:r>
              <a:rPr lang="ko-KR" altLang="en-US"/>
              <a:t>라즈베리파이에 할당된 </a:t>
            </a:r>
            <a:r>
              <a:rPr lang="en-US" altLang="ko-KR"/>
              <a:t>IP</a:t>
            </a:r>
            <a:r>
              <a:rPr lang="ko-KR" altLang="en-US"/>
              <a:t> 주소 확인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4. putty</a:t>
            </a:r>
            <a:r>
              <a:rPr lang="ko-KR" altLang="en-US"/>
              <a:t>로 라즈베리파이에 접속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A80E86-0BC5-423A-B0C5-576A4BCD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949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23138-D457-4C3A-A28B-FA67D97F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노트북의 핫스팟 창에</a:t>
            </a:r>
            <a:r>
              <a:rPr lang="en-US" altLang="ko-KR"/>
              <a:t>, </a:t>
            </a:r>
            <a:r>
              <a:rPr lang="ko-KR" altLang="en-US"/>
              <a:t>핫스팟이 할당한 </a:t>
            </a:r>
            <a:r>
              <a:rPr lang="en-US" altLang="ko-KR"/>
              <a:t>IP </a:t>
            </a:r>
            <a:r>
              <a:rPr lang="ko-KR" altLang="en-US"/>
              <a:t>주소 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09D736-EBA0-40AA-BB64-9347808E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56</a:t>
            </a:fld>
            <a:endParaRPr lang="ko-KR" altLang="en-US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E53128A-976E-4072-B389-54BA79E19E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1600" y="1772816"/>
            <a:ext cx="5976664" cy="467080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679142A-8C17-4C98-ADA8-D03A3277C19F}"/>
              </a:ext>
            </a:extLst>
          </p:cNvPr>
          <p:cNvSpPr/>
          <p:nvPr/>
        </p:nvSpPr>
        <p:spPr>
          <a:xfrm>
            <a:off x="3059832" y="5338572"/>
            <a:ext cx="3600400" cy="72008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6542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9">
            <a:extLst>
              <a:ext uri="{FF2B5EF4-FFF2-40B4-BE49-F238E27FC236}">
                <a16:creationId xmlns:a16="http://schemas.microsoft.com/office/drawing/2014/main" id="{E6D73B50-E42D-4CAB-BE0B-47DAA5AFE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700" y="4173887"/>
            <a:ext cx="4261583" cy="25870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BC4B2E8-37FF-4BAB-9C3C-4391C37DF3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4189571"/>
            <a:ext cx="4120717" cy="1327813"/>
          </a:xfrm>
          <a:prstGeom prst="rect">
            <a:avLst/>
          </a:prstGeom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C0AF4EB3-69BF-4A8B-BC98-2B2DA2295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77535" y="761417"/>
            <a:ext cx="4151514" cy="29610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2B139FD6-484A-4161-9E58-E31885EA2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90730" y="750492"/>
            <a:ext cx="3474302" cy="325823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57</a:t>
            </a:fld>
            <a:endParaRPr lang="ko-KR" alt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5B445B96-56C9-44E4-9C53-76CCBC458BF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9049"/>
            <a:ext cx="8153400" cy="560388"/>
          </a:xfrm>
        </p:spPr>
        <p:txBody>
          <a:bodyPr>
            <a:normAutofit fontScale="90000"/>
          </a:bodyPr>
          <a:lstStyle/>
          <a:p>
            <a:r>
              <a:rPr lang="en-US" altLang="ko-KR"/>
              <a:t>putty</a:t>
            </a:r>
            <a:r>
              <a:rPr lang="ko-KR" altLang="en-US"/>
              <a:t>로 라즈베리파이에 접속</a:t>
            </a:r>
          </a:p>
        </p:txBody>
      </p:sp>
      <p:sp>
        <p:nvSpPr>
          <p:cNvPr id="22" name="타원 21"/>
          <p:cNvSpPr/>
          <p:nvPr/>
        </p:nvSpPr>
        <p:spPr>
          <a:xfrm>
            <a:off x="1411083" y="1437751"/>
            <a:ext cx="1080120" cy="27699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424380" y="611992"/>
            <a:ext cx="18191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ko-KR" altLang="en-US" sz="1200" dirty="0" err="1"/>
              <a:t>라즈베리파이</a:t>
            </a:r>
            <a:r>
              <a:rPr lang="ko-KR" altLang="en-US" sz="1200" dirty="0"/>
              <a:t> </a:t>
            </a:r>
            <a:r>
              <a:rPr lang="en-US" altLang="ko-KR" sz="1200" dirty="0"/>
              <a:t>IP </a:t>
            </a:r>
            <a:r>
              <a:rPr lang="ko-KR" altLang="en-US" sz="1200" dirty="0"/>
              <a:t>주소 </a:t>
            </a:r>
            <a:endParaRPr lang="en-US" altLang="ko-KR" sz="1200" dirty="0"/>
          </a:p>
        </p:txBody>
      </p:sp>
      <p:cxnSp>
        <p:nvCxnSpPr>
          <p:cNvPr id="51" name="구부러진 연결선 50"/>
          <p:cNvCxnSpPr>
            <a:cxnSpLocks/>
            <a:stCxn id="50" idx="2"/>
            <a:endCxn id="22" idx="0"/>
          </p:cNvCxnSpPr>
          <p:nvPr/>
        </p:nvCxnSpPr>
        <p:spPr>
          <a:xfrm rot="5400000">
            <a:off x="1868161" y="971973"/>
            <a:ext cx="548760" cy="382796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2271356" y="3675470"/>
            <a:ext cx="972142" cy="345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7270130" y="4867265"/>
            <a:ext cx="174438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</a:rPr>
              <a:t>암호 입력</a:t>
            </a:r>
            <a:r>
              <a:rPr lang="en-US" altLang="ko-KR" sz="1100" dirty="0">
                <a:solidFill>
                  <a:srgbClr val="C00000"/>
                </a:solidFill>
              </a:rPr>
              <a:t>. </a:t>
            </a:r>
            <a:r>
              <a:rPr lang="ko-KR" altLang="en-US" sz="1100" dirty="0">
                <a:solidFill>
                  <a:srgbClr val="C00000"/>
                </a:solidFill>
              </a:rPr>
              <a:t>입력 후 </a:t>
            </a:r>
            <a:r>
              <a:rPr lang="ko-KR" altLang="en-US" sz="1100" dirty="0" err="1">
                <a:solidFill>
                  <a:srgbClr val="C00000"/>
                </a:solidFill>
              </a:rPr>
              <a:t>엔터</a:t>
            </a:r>
            <a:endParaRPr lang="en-US" altLang="ko-KR" sz="1100" dirty="0">
              <a:solidFill>
                <a:srgbClr val="C00000"/>
              </a:solidFill>
            </a:endParaRPr>
          </a:p>
          <a:p>
            <a:r>
              <a:rPr lang="ko-KR" altLang="en-US" sz="1100" dirty="0">
                <a:solidFill>
                  <a:srgbClr val="C00000"/>
                </a:solidFill>
              </a:rPr>
              <a:t>보안의 </a:t>
            </a:r>
            <a:r>
              <a:rPr lang="ko-KR" altLang="en-US" sz="1100">
                <a:solidFill>
                  <a:srgbClr val="C00000"/>
                </a:solidFill>
              </a:rPr>
              <a:t>이유로 입력되는 </a:t>
            </a:r>
            <a:endParaRPr lang="en-US" altLang="ko-KR" sz="1100">
              <a:solidFill>
                <a:srgbClr val="C00000"/>
              </a:solidFill>
            </a:endParaRPr>
          </a:p>
          <a:p>
            <a:r>
              <a:rPr lang="ko-KR" altLang="en-US" sz="1100">
                <a:solidFill>
                  <a:srgbClr val="C00000"/>
                </a:solidFill>
              </a:rPr>
              <a:t>암호는 보이지 않음</a:t>
            </a:r>
            <a:r>
              <a:rPr lang="en-US" altLang="ko-KR" sz="1100">
                <a:solidFill>
                  <a:srgbClr val="C00000"/>
                </a:solidFill>
              </a:rPr>
              <a:t> </a:t>
            </a:r>
            <a:endParaRPr lang="ko-KR" altLang="en-US" sz="1100" dirty="0">
              <a:solidFill>
                <a:srgbClr val="C00000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E36096D-B7A3-4FBE-BEC3-2D4E5EB7DAFA}"/>
              </a:ext>
            </a:extLst>
          </p:cNvPr>
          <p:cNvSpPr/>
          <p:nvPr/>
        </p:nvSpPr>
        <p:spPr>
          <a:xfrm>
            <a:off x="6660232" y="3376074"/>
            <a:ext cx="592183" cy="32730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화살표 연결선 52"/>
          <p:cNvCxnSpPr>
            <a:cxnSpLocks/>
          </p:cNvCxnSpPr>
          <p:nvPr/>
        </p:nvCxnSpPr>
        <p:spPr>
          <a:xfrm flipH="1" flipV="1">
            <a:off x="6912091" y="4656444"/>
            <a:ext cx="400308" cy="2880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구부러진 연결선 50">
            <a:extLst>
              <a:ext uri="{FF2B5EF4-FFF2-40B4-BE49-F238E27FC236}">
                <a16:creationId xmlns:a16="http://schemas.microsoft.com/office/drawing/2014/main" id="{B93DD04B-9AB5-4024-9C4B-56E90FCC25EB}"/>
              </a:ext>
            </a:extLst>
          </p:cNvPr>
          <p:cNvCxnSpPr>
            <a:cxnSpLocks/>
            <a:stCxn id="54" idx="6"/>
          </p:cNvCxnSpPr>
          <p:nvPr/>
        </p:nvCxnSpPr>
        <p:spPr>
          <a:xfrm flipV="1">
            <a:off x="3243498" y="2104516"/>
            <a:ext cx="1434037" cy="1743788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D0EF9736-52DE-4F6E-83F8-A59E7C0C6C0A}"/>
              </a:ext>
            </a:extLst>
          </p:cNvPr>
          <p:cNvSpPr/>
          <p:nvPr/>
        </p:nvSpPr>
        <p:spPr>
          <a:xfrm>
            <a:off x="2792890" y="1411195"/>
            <a:ext cx="972142" cy="34566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1720964-93F3-44DC-8F16-0BD152C15767}"/>
              </a:ext>
            </a:extLst>
          </p:cNvPr>
          <p:cNvCxnSpPr>
            <a:cxnSpLocks/>
            <a:stCxn id="31" idx="4"/>
            <a:endCxn id="35" idx="0"/>
          </p:cNvCxnSpPr>
          <p:nvPr/>
        </p:nvCxnSpPr>
        <p:spPr>
          <a:xfrm flipH="1">
            <a:off x="6848383" y="3703383"/>
            <a:ext cx="107941" cy="4861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구부러진 연결선 50">
            <a:extLst>
              <a:ext uri="{FF2B5EF4-FFF2-40B4-BE49-F238E27FC236}">
                <a16:creationId xmlns:a16="http://schemas.microsoft.com/office/drawing/2014/main" id="{C3646BC3-9726-458F-9731-8257A2DD1695}"/>
              </a:ext>
            </a:extLst>
          </p:cNvPr>
          <p:cNvCxnSpPr>
            <a:cxnSpLocks/>
            <a:stCxn id="35" idx="1"/>
            <a:endCxn id="24" idx="3"/>
          </p:cNvCxnSpPr>
          <p:nvPr/>
        </p:nvCxnSpPr>
        <p:spPr>
          <a:xfrm rot="10800000" flipV="1">
            <a:off x="4528284" y="4853477"/>
            <a:ext cx="259741" cy="613951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70CE13C-5990-4F21-BD6F-BF4934699E44}"/>
              </a:ext>
            </a:extLst>
          </p:cNvPr>
          <p:cNvSpPr/>
          <p:nvPr/>
        </p:nvSpPr>
        <p:spPr>
          <a:xfrm>
            <a:off x="5220072" y="5535657"/>
            <a:ext cx="260520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>
                <a:latin typeface="YDVYGO12"/>
              </a:rPr>
              <a:t>putty </a:t>
            </a:r>
            <a:r>
              <a:rPr lang="ko-KR" altLang="en-US" sz="1100">
                <a:latin typeface="YDVYGO12"/>
              </a:rPr>
              <a:t>터미널에서 로그인 </a:t>
            </a:r>
            <a:r>
              <a:rPr lang="en-US" altLang="ko-KR" sz="1100">
                <a:latin typeface="YDVYGO12"/>
              </a:rPr>
              <a:t>ID</a:t>
            </a:r>
            <a:r>
              <a:rPr lang="ko-KR" altLang="en-US" sz="1100">
                <a:latin typeface="YDVYGO12"/>
              </a:rPr>
              <a:t>와 암호 입력</a:t>
            </a:r>
            <a:endParaRPr lang="ko-KR" altLang="en-US" sz="11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B71EC0-6F04-4B60-BD99-4F551B7714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4374" y="4286511"/>
            <a:ext cx="3091624" cy="600165"/>
          </a:xfrm>
          <a:prstGeom prst="rect">
            <a:avLst/>
          </a:prstGeom>
        </p:spPr>
      </p:pic>
      <p:sp>
        <p:nvSpPr>
          <p:cNvPr id="26" name="말풍선: 모서리가 둥근 사각형 25">
            <a:extLst>
              <a:ext uri="{FF2B5EF4-FFF2-40B4-BE49-F238E27FC236}">
                <a16:creationId xmlns:a16="http://schemas.microsoft.com/office/drawing/2014/main" id="{F52260AC-588E-4D14-B0E1-98BA5B29C4D2}"/>
              </a:ext>
            </a:extLst>
          </p:cNvPr>
          <p:cNvSpPr/>
          <p:nvPr/>
        </p:nvSpPr>
        <p:spPr>
          <a:xfrm>
            <a:off x="1849842" y="5954961"/>
            <a:ext cx="2448272" cy="288032"/>
          </a:xfrm>
          <a:prstGeom prst="wedgeRoundRectCallout">
            <a:avLst>
              <a:gd name="adj1" fmla="val -62495"/>
              <a:gd name="adj2" fmla="val 6757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C00000"/>
                </a:solidFill>
              </a:rPr>
              <a:t>테스트를 위해 </a:t>
            </a:r>
            <a:r>
              <a:rPr lang="en-US" altLang="ko-KR" sz="1200">
                <a:solidFill>
                  <a:srgbClr val="C00000"/>
                </a:solidFill>
              </a:rPr>
              <a:t>ls </a:t>
            </a:r>
            <a:r>
              <a:rPr lang="ko-KR" altLang="en-US" sz="1200">
                <a:solidFill>
                  <a:srgbClr val="C00000"/>
                </a:solidFill>
              </a:rPr>
              <a:t>명령 입력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F5A6AC2-37C5-4D35-8F3C-925C9AEA95EA}"/>
              </a:ext>
            </a:extLst>
          </p:cNvPr>
          <p:cNvSpPr/>
          <p:nvPr/>
        </p:nvSpPr>
        <p:spPr>
          <a:xfrm>
            <a:off x="1129762" y="5954961"/>
            <a:ext cx="360040" cy="34851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AB7C9E-7DCF-4EB0-BA16-312239119AD6}"/>
              </a:ext>
            </a:extLst>
          </p:cNvPr>
          <p:cNvSpPr/>
          <p:nvPr/>
        </p:nvSpPr>
        <p:spPr>
          <a:xfrm>
            <a:off x="4717590" y="5876226"/>
            <a:ext cx="4261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ko-KR" sz="1200">
                <a:solidFill>
                  <a:srgbClr val="0070C0"/>
                </a:solidFill>
              </a:rPr>
              <a:t>* </a:t>
            </a:r>
            <a:r>
              <a:rPr lang="ko-KR" altLang="en-US" sz="1200">
                <a:solidFill>
                  <a:srgbClr val="0070C0"/>
                </a:solidFill>
              </a:rPr>
              <a:t>로그인 </a:t>
            </a:r>
            <a:r>
              <a:rPr lang="en-US" altLang="ko-KR" sz="1200">
                <a:solidFill>
                  <a:srgbClr val="0070C0"/>
                </a:solidFill>
              </a:rPr>
              <a:t>ID</a:t>
            </a:r>
            <a:r>
              <a:rPr lang="ko-KR" altLang="en-US" sz="1200">
                <a:solidFill>
                  <a:srgbClr val="0070C0"/>
                </a:solidFill>
              </a:rPr>
              <a:t>와 비밀번호는 운영체제를 설치할 때 만든 사용자 계정과 동일</a:t>
            </a:r>
            <a:r>
              <a:rPr lang="en-US" altLang="ko-KR" sz="120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ko-KR" altLang="en-US" sz="1200">
                <a:solidFill>
                  <a:srgbClr val="0070C0"/>
                </a:solidFill>
              </a:rPr>
              <a:t>이 책에서는 로그인 </a:t>
            </a:r>
            <a:r>
              <a:rPr lang="en-US" altLang="ko-KR" sz="1200">
                <a:solidFill>
                  <a:srgbClr val="0070C0"/>
                </a:solidFill>
              </a:rPr>
              <a:t>ID</a:t>
            </a:r>
            <a:r>
              <a:rPr lang="ko-KR" altLang="en-US" sz="1200">
                <a:solidFill>
                  <a:srgbClr val="0070C0"/>
                </a:solidFill>
              </a:rPr>
              <a:t>와 비밀번호 모두 </a:t>
            </a:r>
            <a:r>
              <a:rPr lang="en-US" altLang="ko-KR" sz="1200">
                <a:solidFill>
                  <a:srgbClr val="0070C0"/>
                </a:solidFill>
              </a:rPr>
              <a:t>pi</a:t>
            </a:r>
            <a:endParaRPr lang="ko-KR" altLang="en-US" sz="12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3941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8F350-A94D-4CAE-A158-4532988BF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(2) </a:t>
            </a:r>
            <a:r>
              <a:rPr lang="ko-KR" altLang="en-US"/>
              <a:t>무선 공유기를 무선 네트워크로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8F0CB9-D2D9-4567-92CD-9AF1531234C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1. </a:t>
            </a:r>
            <a:r>
              <a:rPr lang="ko-KR" altLang="en-US"/>
              <a:t>운영제체 설치 시</a:t>
            </a:r>
            <a:r>
              <a:rPr lang="en-US" altLang="ko-KR"/>
              <a:t>, </a:t>
            </a:r>
            <a:r>
              <a:rPr lang="ko-KR" altLang="en-US"/>
              <a:t>무선 공유기의 무선 네트워크로 지정</a:t>
            </a:r>
            <a:endParaRPr lang="en-US" altLang="ko-KR"/>
          </a:p>
          <a:p>
            <a:pPr lvl="1"/>
            <a:r>
              <a:rPr lang="en-US" altLang="ko-KR"/>
              <a:t>2.2</a:t>
            </a:r>
            <a:r>
              <a:rPr lang="ko-KR" altLang="en-US"/>
              <a:t>절에서 운영체제를 설치할 때 </a:t>
            </a:r>
            <a:r>
              <a:rPr lang="en-US" altLang="ko-KR"/>
              <a:t>SSID</a:t>
            </a:r>
            <a:r>
              <a:rPr lang="ko-KR" altLang="en-US"/>
              <a:t>와 비밀번호를 입력해야 함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2. </a:t>
            </a:r>
            <a:r>
              <a:rPr lang="ko-KR" altLang="en-US"/>
              <a:t>라즈베리파이에게 할당된 </a:t>
            </a:r>
            <a:r>
              <a:rPr lang="en-US" altLang="ko-KR"/>
              <a:t>IP </a:t>
            </a:r>
            <a:r>
              <a:rPr lang="ko-KR" altLang="en-US"/>
              <a:t>주소 확인</a:t>
            </a:r>
            <a:endParaRPr lang="en-US" altLang="ko-KR"/>
          </a:p>
          <a:p>
            <a:pPr lvl="1"/>
            <a:r>
              <a:rPr lang="ko-KR" altLang="en-US"/>
              <a:t>부팅 동한</a:t>
            </a:r>
            <a:r>
              <a:rPr lang="en-US" altLang="ko-KR"/>
              <a:t>, </a:t>
            </a:r>
            <a:r>
              <a:rPr lang="ko-KR" altLang="en-US"/>
              <a:t>라즈베리파이가 무선 공유기에 연결</a:t>
            </a:r>
            <a:endParaRPr lang="en-US" altLang="ko-KR"/>
          </a:p>
          <a:p>
            <a:pPr lvl="1"/>
            <a:r>
              <a:rPr lang="ko-KR" altLang="en-US"/>
              <a:t>무선 공유기가 라즈베리파이에게 </a:t>
            </a:r>
            <a:r>
              <a:rPr lang="en-US" altLang="ko-KR"/>
              <a:t>IP </a:t>
            </a:r>
            <a:r>
              <a:rPr lang="ko-KR" altLang="en-US"/>
              <a:t>주소 할당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 b="1"/>
              <a:t>문제 </a:t>
            </a:r>
            <a:r>
              <a:rPr lang="en-US" altLang="ko-KR" b="1"/>
              <a:t>-&gt; </a:t>
            </a:r>
            <a:r>
              <a:rPr lang="ko-KR" altLang="en-US" b="1"/>
              <a:t>무선 공유기는 라즈베리파에게 할당한 </a:t>
            </a:r>
            <a:r>
              <a:rPr lang="en-US" altLang="ko-KR" b="1"/>
              <a:t>IP </a:t>
            </a:r>
            <a:r>
              <a:rPr lang="ko-KR" altLang="en-US" b="1"/>
              <a:t>주소를 출력하지 않음</a:t>
            </a:r>
            <a:endParaRPr lang="en-US" altLang="ko-KR" b="1"/>
          </a:p>
          <a:p>
            <a:pPr marL="0" indent="0">
              <a:buNone/>
            </a:pPr>
            <a:r>
              <a:rPr lang="en-US" altLang="ko-KR"/>
              <a:t>3. putty</a:t>
            </a:r>
            <a:r>
              <a:rPr lang="ko-KR" altLang="en-US"/>
              <a:t>로 라즈베리파이에 접속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E91FE-5FF1-417A-A630-04B9E7E6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42158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1FAB99-B7E5-4415-9831-2B643C2CA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17" y="2708920"/>
            <a:ext cx="6687565" cy="360457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D261E2-55E2-43E6-8F68-EA19CCB8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라즈베리파이의 </a:t>
            </a:r>
            <a:r>
              <a:rPr lang="en-US" altLang="ko-KR"/>
              <a:t>IP </a:t>
            </a:r>
            <a:r>
              <a:rPr lang="ko-KR" altLang="en-US"/>
              <a:t>주소를</a:t>
            </a:r>
            <a:r>
              <a:rPr lang="en-US" altLang="ko-KR"/>
              <a:t> </a:t>
            </a:r>
            <a:r>
              <a:rPr lang="ko-KR" altLang="en-US"/>
              <a:t>확인 방법 </a:t>
            </a:r>
            <a:r>
              <a:rPr lang="en-US" altLang="ko-KR"/>
              <a:t>- Advanced</a:t>
            </a:r>
            <a:r>
              <a:rPr lang="ko-KR" altLang="en-US"/>
              <a:t> </a:t>
            </a:r>
            <a:r>
              <a:rPr lang="en-US" altLang="ko-KR"/>
              <a:t>IP</a:t>
            </a:r>
            <a:r>
              <a:rPr lang="ko-KR" altLang="en-US"/>
              <a:t> </a:t>
            </a:r>
            <a:r>
              <a:rPr lang="en-US" altLang="ko-KR"/>
              <a:t>Scanner</a:t>
            </a:r>
            <a:r>
              <a:rPr lang="ko-KR" altLang="en-US"/>
              <a:t>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2A178A-805F-468D-93F6-37A96AEEFB5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윈도우에서 </a:t>
            </a:r>
            <a:r>
              <a:rPr lang="en-US" altLang="ko-KR"/>
              <a:t>Advanced IP Scanner </a:t>
            </a:r>
            <a:r>
              <a:rPr lang="ko-KR" altLang="en-US"/>
              <a:t>다운로드</a:t>
            </a:r>
            <a:endParaRPr lang="en-US" altLang="ko-KR"/>
          </a:p>
          <a:p>
            <a:pPr lvl="1"/>
            <a:r>
              <a:rPr lang="en-US" altLang="ko-KR"/>
              <a:t>https://www.advanced-ip-scanner.com/</a:t>
            </a:r>
          </a:p>
          <a:p>
            <a:pPr lvl="1"/>
            <a:r>
              <a:rPr lang="ko-KR" altLang="en-US"/>
              <a:t>무료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0AF05A-DC44-4E71-B3C4-183B3DAD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59</a:t>
            </a:fld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B71B866-E4F1-4FCD-BC6C-147CE5FD7F04}"/>
              </a:ext>
            </a:extLst>
          </p:cNvPr>
          <p:cNvSpPr/>
          <p:nvPr/>
        </p:nvSpPr>
        <p:spPr>
          <a:xfrm>
            <a:off x="1043608" y="3717032"/>
            <a:ext cx="1368152" cy="28803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0511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8BCE9-CA08-4D6E-928D-EF925591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putty</a:t>
            </a:r>
            <a:r>
              <a:rPr lang="ko-KR" altLang="en-US"/>
              <a:t>로 라즈베리파이에 원격 접속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D1AAD-3C61-443E-8D90-23D7A4177B1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putty</a:t>
            </a:r>
            <a:r>
              <a:rPr lang="ko-KR" altLang="en-US"/>
              <a:t> 다운로드 후</a:t>
            </a:r>
            <a:r>
              <a:rPr lang="en-US" altLang="ko-KR"/>
              <a:t>, </a:t>
            </a:r>
            <a:r>
              <a:rPr lang="ko-KR" altLang="en-US"/>
              <a:t>원격 접속</a:t>
            </a:r>
            <a:endParaRPr lang="en-US" altLang="ko-KR"/>
          </a:p>
          <a:p>
            <a:r>
              <a:rPr lang="ko-KR" altLang="en-US"/>
              <a:t>앞서 설명한 바와 같음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7AB0BB-20AA-451B-A1C6-6303E31F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5410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fontAlgn="base"/>
            <a:r>
              <a:rPr lang="en-US" altLang="ko-KR"/>
              <a:t>(3) </a:t>
            </a:r>
            <a:r>
              <a:rPr lang="ko-KR" altLang="en-US"/>
              <a:t>스마트폰 핫스팟을 무선 네트워크로 활용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0B618A8-817E-4B79-BFAE-D687ED0B0D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1. </a:t>
            </a:r>
            <a:r>
              <a:rPr lang="ko-KR" altLang="en-US"/>
              <a:t>스마트폰을 무선 공유기나</a:t>
            </a:r>
            <a:r>
              <a:rPr lang="en-US" altLang="ko-KR"/>
              <a:t>, LTE </a:t>
            </a:r>
            <a:r>
              <a:rPr lang="ko-KR" altLang="en-US"/>
              <a:t>혹은 </a:t>
            </a:r>
            <a:r>
              <a:rPr lang="en-US" altLang="ko-KR"/>
              <a:t>5G</a:t>
            </a:r>
            <a:r>
              <a:rPr lang="ko-KR" altLang="en-US"/>
              <a:t>에 연결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2. </a:t>
            </a:r>
            <a:r>
              <a:rPr lang="ko-KR" altLang="en-US"/>
              <a:t>무선 네트워크 실치 시 핫스팟의 </a:t>
            </a:r>
            <a:r>
              <a:rPr lang="en-US" altLang="ko-KR"/>
              <a:t>SSID</a:t>
            </a:r>
            <a:r>
              <a:rPr lang="ko-KR" altLang="en-US"/>
              <a:t>를 무선 네트워크로 지정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3. </a:t>
            </a:r>
            <a:r>
              <a:rPr lang="ko-KR" altLang="en-US"/>
              <a:t>라즈베리파이에게 할당된 </a:t>
            </a:r>
            <a:r>
              <a:rPr lang="en-US" altLang="ko-KR"/>
              <a:t>IP </a:t>
            </a:r>
            <a:r>
              <a:rPr lang="ko-KR" altLang="en-US"/>
              <a:t>주소 확인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4. putty</a:t>
            </a:r>
            <a:r>
              <a:rPr lang="ko-KR" altLang="en-US"/>
              <a:t>로 라즈베리파이에 접속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217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3">
            <a:extLst>
              <a:ext uri="{FF2B5EF4-FFF2-40B4-BE49-F238E27FC236}">
                <a16:creationId xmlns:a16="http://schemas.microsoft.com/office/drawing/2014/main" id="{44D02D84-39A6-4979-9585-9A088ACCD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3568" y="1412776"/>
            <a:ext cx="1852984" cy="504944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Picture 14">
            <a:extLst>
              <a:ext uri="{FF2B5EF4-FFF2-40B4-BE49-F238E27FC236}">
                <a16:creationId xmlns:a16="http://schemas.microsoft.com/office/drawing/2014/main" id="{C9053EA2-9B70-43D3-9591-A2E8FD6FC5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03848" y="1412776"/>
            <a:ext cx="1864371" cy="50805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8" name="Picture 15">
            <a:extLst>
              <a:ext uri="{FF2B5EF4-FFF2-40B4-BE49-F238E27FC236}">
                <a16:creationId xmlns:a16="http://schemas.microsoft.com/office/drawing/2014/main" id="{CC9F43CD-3382-4D26-BA7A-9778FCEF3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79269" y="1435998"/>
            <a:ext cx="1864332" cy="508058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04357DC-CA3A-492C-A05C-96020B58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라즈베리파이의 </a:t>
            </a:r>
            <a:r>
              <a:rPr lang="en-US" altLang="ko-KR"/>
              <a:t>IP </a:t>
            </a:r>
            <a:r>
              <a:rPr lang="ko-KR" altLang="en-US"/>
              <a:t>주소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62</a:t>
            </a:fld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3305084" y="3815771"/>
            <a:ext cx="1440160" cy="4320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cxnSpLocks/>
            <a:endCxn id="15" idx="2"/>
          </p:cNvCxnSpPr>
          <p:nvPr/>
        </p:nvCxnSpPr>
        <p:spPr>
          <a:xfrm>
            <a:off x="4745244" y="4046603"/>
            <a:ext cx="1022444" cy="1279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9CC1240D-1F49-4350-B2CC-456D7DDA7FE4}"/>
              </a:ext>
            </a:extLst>
          </p:cNvPr>
          <p:cNvSpPr/>
          <p:nvPr/>
        </p:nvSpPr>
        <p:spPr>
          <a:xfrm>
            <a:off x="5767688" y="3902587"/>
            <a:ext cx="1440160" cy="54390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56DEDC-2C74-4219-8AE9-D00AD2B1E489}"/>
              </a:ext>
            </a:extLst>
          </p:cNvPr>
          <p:cNvSpPr txBox="1"/>
          <p:nvPr/>
        </p:nvSpPr>
        <p:spPr>
          <a:xfrm>
            <a:off x="658563" y="6498595"/>
            <a:ext cx="19768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라즈베리파이가 연결된 상황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8F918C-3E9A-4B5C-9460-5F255A4F8010}"/>
              </a:ext>
            </a:extLst>
          </p:cNvPr>
          <p:cNvSpPr txBox="1"/>
          <p:nvPr/>
        </p:nvSpPr>
        <p:spPr>
          <a:xfrm>
            <a:off x="3555893" y="6498595"/>
            <a:ext cx="12715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연결된 기기 보임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990092-E885-45CB-8E5A-5E1858F2E743}"/>
              </a:ext>
            </a:extLst>
          </p:cNvPr>
          <p:cNvSpPr txBox="1"/>
          <p:nvPr/>
        </p:nvSpPr>
        <p:spPr>
          <a:xfrm>
            <a:off x="5436096" y="6516581"/>
            <a:ext cx="34692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연결된 기기 클릭 후</a:t>
            </a:r>
            <a:r>
              <a:rPr lang="en-US" altLang="ko-KR" sz="1100"/>
              <a:t>, </a:t>
            </a:r>
            <a:r>
              <a:rPr lang="ko-KR" altLang="en-US" sz="1100"/>
              <a:t>오른쪽 상단의 </a:t>
            </a:r>
            <a:r>
              <a:rPr lang="en-US" altLang="ko-KR" sz="1100"/>
              <a:t>i</a:t>
            </a:r>
            <a:r>
              <a:rPr lang="ko-KR" altLang="en-US" sz="1100"/>
              <a:t>를 클릭한 경우</a:t>
            </a:r>
          </a:p>
        </p:txBody>
      </p:sp>
    </p:spTree>
    <p:extLst>
      <p:ext uri="{BB962C8B-B14F-4D97-AF65-F5344CB8AC3E}">
        <p14:creationId xmlns:p14="http://schemas.microsoft.com/office/powerpoint/2010/main" val="26621082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98BCE9-CA08-4D6E-928D-EF9255912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putty</a:t>
            </a:r>
            <a:r>
              <a:rPr lang="ko-KR" altLang="en-US"/>
              <a:t>로 라즈베리파이에 원격 접속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D1AAD-3C61-443E-8D90-23D7A4177B1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putty</a:t>
            </a:r>
            <a:r>
              <a:rPr lang="ko-KR" altLang="en-US"/>
              <a:t> 다운로드 후</a:t>
            </a:r>
            <a:r>
              <a:rPr lang="en-US" altLang="ko-KR"/>
              <a:t>, </a:t>
            </a:r>
            <a:r>
              <a:rPr lang="ko-KR" altLang="en-US"/>
              <a:t>원격 접속</a:t>
            </a:r>
            <a:endParaRPr lang="en-US" altLang="ko-KR"/>
          </a:p>
          <a:p>
            <a:r>
              <a:rPr lang="ko-KR" altLang="en-US"/>
              <a:t>앞서 설명한 바와 같음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7AB0BB-20AA-451B-A1C6-6303E31F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9792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40A474-F3B3-4E3F-B681-FB8C201F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연결된 네트워크 정보 확인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A41B3-6C45-4DB6-B03F-156F292B3F5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라즈베리파이가 연결하고 있는 무선 네트워크 확인</a:t>
            </a:r>
            <a:endParaRPr lang="en-US" altLang="ko-KR"/>
          </a:p>
          <a:p>
            <a:pPr lvl="1"/>
            <a:r>
              <a:rPr lang="ko-KR" altLang="en-US"/>
              <a:t>현재</a:t>
            </a:r>
            <a:r>
              <a:rPr lang="en-US" altLang="ko-KR"/>
              <a:t>, </a:t>
            </a:r>
            <a:r>
              <a:rPr lang="ko-KR" altLang="en-US"/>
              <a:t>노트북 핫스팟에 연결된 상태</a:t>
            </a:r>
            <a:endParaRPr lang="en-US" altLang="ko-KR"/>
          </a:p>
          <a:p>
            <a:pPr lvl="2"/>
            <a:r>
              <a:rPr lang="en-US" altLang="ko-KR"/>
              <a:t>SSID=2471290, </a:t>
            </a:r>
            <a:r>
              <a:rPr lang="ko-KR" altLang="en-US"/>
              <a:t>비밀번호 </a:t>
            </a:r>
            <a:r>
              <a:rPr lang="en-US" altLang="ko-KR"/>
              <a:t>11111111</a:t>
            </a:r>
          </a:p>
          <a:p>
            <a:r>
              <a:rPr lang="en-US" altLang="ko-KR"/>
              <a:t>netplan </a:t>
            </a:r>
            <a:r>
              <a:rPr lang="ko-KR" altLang="en-US"/>
              <a:t>디렉터리로 이동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ls(</a:t>
            </a:r>
            <a:r>
              <a:rPr lang="ko-KR" altLang="en-US"/>
              <a:t>엘에스</a:t>
            </a:r>
            <a:r>
              <a:rPr lang="en-US" altLang="ko-KR"/>
              <a:t>) </a:t>
            </a:r>
            <a:r>
              <a:rPr lang="ko-KR" altLang="en-US"/>
              <a:t>명령으로 설정 파일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6FC8BD-6418-4291-9ECB-FBF8C60F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2D453-7222-471C-8839-E9312BDD13DE}"/>
              </a:ext>
            </a:extLst>
          </p:cNvPr>
          <p:cNvSpPr/>
          <p:nvPr/>
        </p:nvSpPr>
        <p:spPr>
          <a:xfrm>
            <a:off x="1115616" y="3058866"/>
            <a:ext cx="6048672" cy="74026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pi@h2471290:~ $ cd /etc/netplan</a:t>
            </a:r>
          </a:p>
          <a:p>
            <a:r>
              <a:rPr lang="en-US" altLang="ko-KR" sz="1400" b="1"/>
              <a:t>pi@h2471290:/etc/netplan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5D25C7-FCFF-4E91-A1D3-C7CC86AC1318}"/>
              </a:ext>
            </a:extLst>
          </p:cNvPr>
          <p:cNvSpPr/>
          <p:nvPr/>
        </p:nvSpPr>
        <p:spPr>
          <a:xfrm>
            <a:off x="1043608" y="4437112"/>
            <a:ext cx="6062170" cy="142968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pi@h2471290:/etc/netplan $ ls</a:t>
            </a:r>
          </a:p>
          <a:p>
            <a:r>
              <a:rPr lang="en-US" altLang="ko-KR" sz="1400"/>
              <a:t>90-NM-75a1216a-9d1a-30cd-8aca-ace5526ec021.yaml</a:t>
            </a:r>
          </a:p>
          <a:p>
            <a:r>
              <a:rPr lang="en-US" altLang="ko-KR" sz="1400"/>
              <a:t>90-NM-f12fbb3e-884f-3612-83b7-1543feeb6a9f.yaml</a:t>
            </a:r>
          </a:p>
          <a:p>
            <a:r>
              <a:rPr lang="en-US" altLang="ko-KR" sz="1400" b="1"/>
              <a:t>pi@h2471290:/etc/netplan $</a:t>
            </a:r>
          </a:p>
        </p:txBody>
      </p:sp>
    </p:spTree>
    <p:extLst>
      <p:ext uri="{BB962C8B-B14F-4D97-AF65-F5344CB8AC3E}">
        <p14:creationId xmlns:p14="http://schemas.microsoft.com/office/powerpoint/2010/main" val="2545711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C87C4A-0643-4E80-BC13-4EAD832A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연결된 네트워크 정보 확인</a:t>
            </a:r>
            <a:r>
              <a:rPr lang="en-US" altLang="ko-KR"/>
              <a:t>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6FADC2-880C-4304-B0FE-62E1AD77668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/>
          </a:bodyPr>
          <a:lstStyle/>
          <a:p>
            <a:r>
              <a:rPr lang="en-US" altLang="ko-KR" sz="2000"/>
              <a:t>netplan</a:t>
            </a:r>
            <a:r>
              <a:rPr lang="ko-KR" altLang="en-US" sz="2000"/>
              <a:t>이 다루는 </a:t>
            </a:r>
            <a:r>
              <a:rPr lang="en-US" altLang="ko-KR" sz="2000"/>
              <a:t>.yaml</a:t>
            </a:r>
            <a:r>
              <a:rPr lang="ko-KR" altLang="en-US" sz="2000"/>
              <a:t> 파일에는 연결 가능한 무선 네트워크 정보가 들어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7D03D-0BBB-468F-9CE5-FE7AE1AB6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65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41A1563-0263-4D08-AF61-06E40CE7D5B2}"/>
              </a:ext>
            </a:extLst>
          </p:cNvPr>
          <p:cNvGrpSpPr/>
          <p:nvPr/>
        </p:nvGrpSpPr>
        <p:grpSpPr>
          <a:xfrm>
            <a:off x="233854" y="2041678"/>
            <a:ext cx="8532194" cy="4339650"/>
            <a:chOff x="233854" y="1916832"/>
            <a:chExt cx="8532194" cy="4339650"/>
          </a:xfrm>
          <a:noFill/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ECDBED-6223-40A9-991F-3D94FFD21598}"/>
                </a:ext>
              </a:extLst>
            </p:cNvPr>
            <p:cNvSpPr/>
            <p:nvPr/>
          </p:nvSpPr>
          <p:spPr>
            <a:xfrm>
              <a:off x="764136" y="1916832"/>
              <a:ext cx="8001912" cy="433965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 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sudo cat *.yaml</a:t>
              </a:r>
            </a:p>
            <a:p>
              <a:pPr marL="190500" defTabSz="180000" fontAlgn="base" latinLnBrk="0"/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network: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version: 2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ethernets: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eth0: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90500" defTabSz="180000" fontAlgn="base" latinLnBrk="0"/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network: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version: 2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wifis: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wlan0: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renderer: NetworkManager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match: {}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dhcp4: true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access-points: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"2471290":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auth: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key-management: "psk"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password: "aa2cf74d12dc8bb65a38930148b6c244474a2fbc47b93ce80ae24599795e4322"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networkmanager: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uuid: "f12fbb3e-884f-3612-83b7-1543feeb6a9f"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name: "netplan-wlan0-2471290"</a:t>
              </a: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190500"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</a:t>
              </a:r>
            </a:p>
          </p:txBody>
        </p:sp>
        <p:sp>
          <p:nvSpPr>
            <p:cNvPr id="6" name="오른쪽 중괄호 5">
              <a:extLst>
                <a:ext uri="{FF2B5EF4-FFF2-40B4-BE49-F238E27FC236}">
                  <a16:creationId xmlns:a16="http://schemas.microsoft.com/office/drawing/2014/main" id="{7DE0F34B-9961-4C63-ABA8-3225460BF4F7}"/>
                </a:ext>
              </a:extLst>
            </p:cNvPr>
            <p:cNvSpPr/>
            <p:nvPr/>
          </p:nvSpPr>
          <p:spPr>
            <a:xfrm>
              <a:off x="2445588" y="2204864"/>
              <a:ext cx="216024" cy="648072"/>
            </a:xfrm>
            <a:prstGeom prst="rightBrace">
              <a:avLst>
                <a:gd name="adj1" fmla="val 51623"/>
                <a:gd name="adj2" fmla="val 5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38D1FE-10FF-49D3-8572-D48F7CD116BD}"/>
                </a:ext>
              </a:extLst>
            </p:cNvPr>
            <p:cNvSpPr txBox="1"/>
            <p:nvPr/>
          </p:nvSpPr>
          <p:spPr>
            <a:xfrm>
              <a:off x="2694502" y="2378764"/>
              <a:ext cx="785793" cy="307777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rgbClr val="C00000"/>
                  </a:solidFill>
                </a:rPr>
                <a:t>유선 랜</a:t>
              </a:r>
            </a:p>
          </p:txBody>
        </p:sp>
        <p:sp>
          <p:nvSpPr>
            <p:cNvPr id="8" name="오른쪽 중괄호 7">
              <a:extLst>
                <a:ext uri="{FF2B5EF4-FFF2-40B4-BE49-F238E27FC236}">
                  <a16:creationId xmlns:a16="http://schemas.microsoft.com/office/drawing/2014/main" id="{46B42255-9BB2-4D5D-9B14-E947CF257F8B}"/>
                </a:ext>
              </a:extLst>
            </p:cNvPr>
            <p:cNvSpPr/>
            <p:nvPr/>
          </p:nvSpPr>
          <p:spPr>
            <a:xfrm flipH="1">
              <a:off x="755576" y="3140968"/>
              <a:ext cx="177844" cy="2880320"/>
            </a:xfrm>
            <a:prstGeom prst="rightBrace">
              <a:avLst>
                <a:gd name="adj1" fmla="val 51623"/>
                <a:gd name="adj2" fmla="val 49197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1F9999-5D35-4FD4-AFD1-491360A78954}"/>
                </a:ext>
              </a:extLst>
            </p:cNvPr>
            <p:cNvSpPr txBox="1"/>
            <p:nvPr/>
          </p:nvSpPr>
          <p:spPr>
            <a:xfrm>
              <a:off x="233854" y="4221088"/>
              <a:ext cx="543739" cy="52322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400">
                  <a:solidFill>
                    <a:srgbClr val="C00000"/>
                  </a:solidFill>
                </a:rPr>
                <a:t>무선</a:t>
              </a:r>
              <a:endParaRPr lang="en-US" altLang="ko-KR" sz="1400">
                <a:solidFill>
                  <a:srgbClr val="C00000"/>
                </a:solidFill>
              </a:endParaRPr>
            </a:p>
            <a:p>
              <a:pPr algn="ctr"/>
              <a:r>
                <a:rPr lang="ko-KR" altLang="en-US" sz="1400">
                  <a:solidFill>
                    <a:srgbClr val="C00000"/>
                  </a:solidFill>
                </a:rPr>
                <a:t>랜</a:t>
              </a:r>
            </a:p>
          </p:txBody>
        </p:sp>
        <p:sp>
          <p:nvSpPr>
            <p:cNvPr id="10" name="말풍선: 모서리가 둥근 사각형 9">
              <a:extLst>
                <a:ext uri="{FF2B5EF4-FFF2-40B4-BE49-F238E27FC236}">
                  <a16:creationId xmlns:a16="http://schemas.microsoft.com/office/drawing/2014/main" id="{C7D7D2FF-8987-4272-9E8E-683AA3575DC4}"/>
                </a:ext>
              </a:extLst>
            </p:cNvPr>
            <p:cNvSpPr/>
            <p:nvPr/>
          </p:nvSpPr>
          <p:spPr>
            <a:xfrm>
              <a:off x="2915816" y="4206297"/>
              <a:ext cx="2249159" cy="259823"/>
            </a:xfrm>
            <a:prstGeom prst="wedgeRoundRectCallout">
              <a:avLst>
                <a:gd name="adj1" fmla="val -63260"/>
                <a:gd name="adj2" fmla="val 39426"/>
                <a:gd name="adj3" fmla="val 16667"/>
              </a:avLst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연결 가능한 무선 네트워크들</a:t>
              </a:r>
            </a:p>
          </p:txBody>
        </p:sp>
        <p:sp>
          <p:nvSpPr>
            <p:cNvPr id="11" name="말풍선: 모서리가 둥근 사각형 10">
              <a:extLst>
                <a:ext uri="{FF2B5EF4-FFF2-40B4-BE49-F238E27FC236}">
                  <a16:creationId xmlns:a16="http://schemas.microsoft.com/office/drawing/2014/main" id="{B2E7AD06-AD05-49E2-820F-75871CDA9E72}"/>
                </a:ext>
              </a:extLst>
            </p:cNvPr>
            <p:cNvSpPr/>
            <p:nvPr/>
          </p:nvSpPr>
          <p:spPr>
            <a:xfrm>
              <a:off x="2915816" y="4509120"/>
              <a:ext cx="3780978" cy="259823"/>
            </a:xfrm>
            <a:prstGeom prst="wedgeRoundRectCallout">
              <a:avLst>
                <a:gd name="adj1" fmla="val -58952"/>
                <a:gd name="adj2" fmla="val -6565"/>
                <a:gd name="adj3" fmla="val 16667"/>
              </a:avLst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운영체제 설치 시 지정한 노트북 핫스팟의 </a:t>
              </a:r>
              <a:r>
                <a:rPr lang="en-US" altLang="ko-KR" sz="1200">
                  <a:solidFill>
                    <a:srgbClr val="C00000"/>
                  </a:solidFill>
                </a:rPr>
                <a:t>SSID</a:t>
              </a:r>
              <a:endParaRPr lang="ko-KR" altLang="en-US" sz="1200">
                <a:solidFill>
                  <a:srgbClr val="C00000"/>
                </a:solidFill>
              </a:endParaRPr>
            </a:p>
          </p:txBody>
        </p:sp>
        <p:sp>
          <p:nvSpPr>
            <p:cNvPr id="12" name="말풍선: 모서리가 둥근 사각형 11">
              <a:extLst>
                <a:ext uri="{FF2B5EF4-FFF2-40B4-BE49-F238E27FC236}">
                  <a16:creationId xmlns:a16="http://schemas.microsoft.com/office/drawing/2014/main" id="{63BC09BE-6474-4E27-AA8C-AB93050334CE}"/>
                </a:ext>
              </a:extLst>
            </p:cNvPr>
            <p:cNvSpPr/>
            <p:nvPr/>
          </p:nvSpPr>
          <p:spPr>
            <a:xfrm>
              <a:off x="6876256" y="4437112"/>
              <a:ext cx="1224136" cy="576064"/>
            </a:xfrm>
            <a:prstGeom prst="wedgeRoundRectCallout">
              <a:avLst>
                <a:gd name="adj1" fmla="val -34483"/>
                <a:gd name="adj2" fmla="val 69889"/>
                <a:gd name="adj3" fmla="val 16667"/>
              </a:avLst>
            </a:prstGeom>
            <a:grp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비밀번호가 암호된 채 저정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DF0480-04E2-4F01-8F79-8DD4AC87AA61}"/>
              </a:ext>
            </a:extLst>
          </p:cNvPr>
          <p:cNvSpPr txBox="1"/>
          <p:nvPr/>
        </p:nvSpPr>
        <p:spPr>
          <a:xfrm>
            <a:off x="5285908" y="3009431"/>
            <a:ext cx="29899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ko-KR" altLang="en-US" sz="1600" b="1">
                <a:solidFill>
                  <a:srgbClr val="0070C0"/>
                </a:solidFill>
              </a:rPr>
              <a:t>라즈베리파이는 초기 부팅 시</a:t>
            </a:r>
            <a:r>
              <a:rPr lang="en-US" altLang="ko-KR" sz="1600" b="1">
                <a:solidFill>
                  <a:srgbClr val="0070C0"/>
                </a:solidFill>
              </a:rPr>
              <a:t>, </a:t>
            </a:r>
          </a:p>
          <a:p>
            <a:pPr algn="just"/>
            <a:r>
              <a:rPr lang="ko-KR" altLang="en-US" sz="1600" b="1">
                <a:solidFill>
                  <a:srgbClr val="0070C0"/>
                </a:solidFill>
              </a:rPr>
              <a:t>이 파일을 참고하여</a:t>
            </a:r>
            <a:r>
              <a:rPr lang="en-US" altLang="ko-KR" sz="1600" b="1">
                <a:solidFill>
                  <a:srgbClr val="0070C0"/>
                </a:solidFill>
              </a:rPr>
              <a:t> </a:t>
            </a:r>
          </a:p>
          <a:p>
            <a:pPr algn="just"/>
            <a:r>
              <a:rPr lang="en-US" altLang="ko-KR" sz="1600" b="1">
                <a:solidFill>
                  <a:srgbClr val="0070C0"/>
                </a:solidFill>
              </a:rPr>
              <a:t>"2471290"</a:t>
            </a:r>
            <a:r>
              <a:rPr lang="ko-KR" altLang="en-US" sz="1600" b="1">
                <a:solidFill>
                  <a:srgbClr val="0070C0"/>
                </a:solidFill>
              </a:rPr>
              <a:t>의 </a:t>
            </a:r>
            <a:endParaRPr lang="en-US" altLang="ko-KR" sz="1600" b="1">
              <a:solidFill>
                <a:srgbClr val="0070C0"/>
              </a:solidFill>
            </a:endParaRPr>
          </a:p>
          <a:p>
            <a:pPr algn="just"/>
            <a:r>
              <a:rPr lang="ko-KR" altLang="en-US" sz="1600" b="1">
                <a:solidFill>
                  <a:srgbClr val="0070C0"/>
                </a:solidFill>
              </a:rPr>
              <a:t>노트북 핫스팟에 자동 연결</a:t>
            </a:r>
          </a:p>
        </p:txBody>
      </p:sp>
    </p:spTree>
    <p:extLst>
      <p:ext uri="{BB962C8B-B14F-4D97-AF65-F5344CB8AC3E}">
        <p14:creationId xmlns:p14="http://schemas.microsoft.com/office/powerpoint/2010/main" val="31225999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8E5EC-9148-4EFE-A6C8-059018D52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라즈베리파이에서 네트워크 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EC940A-F777-4CA6-9B97-3CF356BC50B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라즈베리파이 운영체제에서 </a:t>
            </a:r>
            <a:r>
              <a:rPr lang="en-US" altLang="ko-KR"/>
              <a:t>netplan</a:t>
            </a:r>
            <a:r>
              <a:rPr lang="ko-KR" altLang="en-US"/>
              <a:t>과 </a:t>
            </a:r>
            <a:r>
              <a:rPr lang="en-US" altLang="ko-KR"/>
              <a:t>NetworkManager</a:t>
            </a:r>
            <a:r>
              <a:rPr lang="ko-KR" altLang="en-US"/>
              <a:t> 서비스 차이</a:t>
            </a:r>
            <a:endParaRPr lang="en-US" altLang="ko-KR"/>
          </a:p>
          <a:p>
            <a:pPr lvl="1"/>
            <a:r>
              <a:rPr lang="en-US" altLang="ko-KR"/>
              <a:t>netplan</a:t>
            </a:r>
          </a:p>
          <a:p>
            <a:pPr lvl="2"/>
            <a:r>
              <a:rPr lang="ko-KR" altLang="en-US"/>
              <a:t>네트워크의 연결과 관련된 계획서를 다루는 서비스</a:t>
            </a:r>
            <a:endParaRPr lang="en-US" altLang="ko-KR"/>
          </a:p>
          <a:p>
            <a:pPr lvl="1"/>
            <a:r>
              <a:rPr lang="en-US" altLang="ko-KR"/>
              <a:t>NetworkManager</a:t>
            </a:r>
            <a:r>
              <a:rPr lang="ko-KR" altLang="en-US"/>
              <a:t> 서비스</a:t>
            </a:r>
            <a:endParaRPr lang="en-US" altLang="ko-KR"/>
          </a:p>
          <a:p>
            <a:pPr lvl="2"/>
            <a:r>
              <a:rPr lang="en-US" altLang="ko-KR"/>
              <a:t>netplan </a:t>
            </a:r>
            <a:r>
              <a:rPr lang="ko-KR" altLang="en-US"/>
              <a:t>서비스에 의해 생성된 계획서대로 실제 네트워킹을 실행하는 서비스</a:t>
            </a:r>
            <a:endParaRPr lang="en-US" altLang="ko-KR"/>
          </a:p>
          <a:p>
            <a:r>
              <a:rPr lang="en-US" altLang="ko-KR"/>
              <a:t>nmcli </a:t>
            </a:r>
            <a:r>
              <a:rPr lang="ko-KR" altLang="en-US"/>
              <a:t>명령</a:t>
            </a:r>
            <a:endParaRPr lang="en-US" altLang="ko-KR"/>
          </a:p>
          <a:p>
            <a:pPr lvl="1"/>
            <a:r>
              <a:rPr lang="en-US" altLang="ko-KR"/>
              <a:t>NetworkManager </a:t>
            </a:r>
            <a:r>
              <a:rPr lang="ko-KR" altLang="en-US"/>
              <a:t>서비스를 제어하는 명령</a:t>
            </a:r>
            <a:endParaRPr lang="en-US" altLang="ko-KR"/>
          </a:p>
          <a:p>
            <a:pPr lvl="2"/>
            <a:r>
              <a:rPr lang="en-US" altLang="ko-KR"/>
              <a:t>NetworkManager Command Line Interface</a:t>
            </a:r>
            <a:r>
              <a:rPr lang="ko-KR" altLang="en-US"/>
              <a:t>의 약어</a:t>
            </a:r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94EA4-0C8C-43CB-8C98-1A5F4D1F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2005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589DD-BE7B-46EC-A263-7E8D37F3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nmcli </a:t>
            </a:r>
            <a:r>
              <a:rPr lang="ko-KR" altLang="en-US"/>
              <a:t>명령으로 현재 연결 가능한 네트워크 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651285-146C-4526-AAA5-3037177F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05DDE1-D41A-490C-BF23-8E11AB2EA380}"/>
              </a:ext>
            </a:extLst>
          </p:cNvPr>
          <p:cNvSpPr/>
          <p:nvPr/>
        </p:nvSpPr>
        <p:spPr>
          <a:xfrm>
            <a:off x="755576" y="1412776"/>
            <a:ext cx="7344816" cy="138499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pi@h2471290:/etc/netplan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nmcli connection show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NAME 								UUID 																	TYPE			DEVICE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netplan-wlan0-2471290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f12fbb3e-884f-3612-83b7-1543feeb6a9f	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			wlan0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 										3ec12fe4-107a-4bad-98d5-a82a7edc8d4f 	loopback 	lo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netplan-eth0 					75a1216a-9d1a-30cd-8aca-ace5526ec021	ethernet 	--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pi@h2471290:/etc/netplan $</a:t>
            </a:r>
          </a:p>
        </p:txBody>
      </p:sp>
    </p:spTree>
    <p:extLst>
      <p:ext uri="{BB962C8B-B14F-4D97-AF65-F5344CB8AC3E}">
        <p14:creationId xmlns:p14="http://schemas.microsoft.com/office/powerpoint/2010/main" val="36625997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E4CA9-6AFB-4C75-A6C0-6F365B32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nmcli</a:t>
            </a:r>
            <a:r>
              <a:rPr lang="ko-KR" altLang="en-US"/>
              <a:t> 명령으로 무선 네트워크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5D87AD-BEF3-4906-9500-658CD89125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sz="1800"/>
              <a:t>라즈베리파이가 부팅할 때 여러 상황에 따라 선택적으로 연결할 수 있도록 여러 무선 네트워크 추가</a:t>
            </a:r>
            <a:endParaRPr lang="en-US" altLang="ko-KR" sz="1800"/>
          </a:p>
          <a:p>
            <a:pPr lvl="1"/>
            <a:r>
              <a:rPr lang="en-US" altLang="ko-KR" sz="1400"/>
              <a:t>nmcli connection add </a:t>
            </a:r>
            <a:r>
              <a:rPr lang="ko-KR" altLang="en-US" sz="1400"/>
              <a:t>명령 이용</a:t>
            </a:r>
            <a:endParaRPr lang="en-US" altLang="ko-KR" sz="1400"/>
          </a:p>
          <a:p>
            <a:pPr marL="365760" lvl="1" indent="0">
              <a:buNone/>
            </a:pPr>
            <a:endParaRPr lang="ko-KR" altLang="en-US" sz="1400"/>
          </a:p>
          <a:p>
            <a:r>
              <a:rPr lang="en-US" altLang="ko-KR" sz="1800" u="sng"/>
              <a:t>[</a:t>
            </a:r>
            <a:r>
              <a:rPr lang="ko-KR" altLang="en-US" sz="1800" u="sng"/>
              <a:t>무선 공유기</a:t>
            </a:r>
            <a:r>
              <a:rPr lang="en-US" altLang="ko-KR" sz="1800" u="sng"/>
              <a:t>(SSID=102, </a:t>
            </a:r>
            <a:r>
              <a:rPr lang="ko-KR" altLang="en-US" sz="1800" u="sng"/>
              <a:t>암호</a:t>
            </a:r>
            <a:r>
              <a:rPr lang="en-US" altLang="ko-KR" sz="1800" u="sng"/>
              <a:t>=11111111, </a:t>
            </a:r>
            <a:r>
              <a:rPr lang="ko-KR" altLang="en-US" sz="1800" u="sng"/>
              <a:t>우선순위</a:t>
            </a:r>
            <a:r>
              <a:rPr lang="en-US" altLang="ko-KR" sz="1800" u="sng"/>
              <a:t>=2) </a:t>
            </a:r>
            <a:r>
              <a:rPr lang="ko-KR" altLang="en-US" sz="1800" u="sng"/>
              <a:t>추가</a:t>
            </a:r>
            <a:r>
              <a:rPr lang="en-US" altLang="ko-KR" sz="1800" u="sng"/>
              <a:t>]</a:t>
            </a:r>
            <a:endParaRPr lang="ko-KR" altLang="en-US" sz="1800"/>
          </a:p>
          <a:p>
            <a:pPr lvl="1"/>
            <a:r>
              <a:rPr lang="ko-KR" altLang="en-US"/>
              <a:t>다음 명령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A9D2E7-B720-4B2F-8085-0DAF9C0C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76D242-8617-4761-B6E8-2374101DA619}"/>
              </a:ext>
            </a:extLst>
          </p:cNvPr>
          <p:cNvSpPr/>
          <p:nvPr/>
        </p:nvSpPr>
        <p:spPr>
          <a:xfrm>
            <a:off x="539552" y="3356992"/>
            <a:ext cx="3456384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102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102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2</a:t>
            </a:r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612DDB69-C17B-4AB0-BD56-C45D7589A828}"/>
              </a:ext>
            </a:extLst>
          </p:cNvPr>
          <p:cNvSpPr/>
          <p:nvPr/>
        </p:nvSpPr>
        <p:spPr>
          <a:xfrm>
            <a:off x="467544" y="5471358"/>
            <a:ext cx="3456384" cy="864096"/>
          </a:xfrm>
          <a:prstGeom prst="wedgeRoundRectCallout">
            <a:avLst>
              <a:gd name="adj1" fmla="val -25381"/>
              <a:gd name="adj2" fmla="val -47195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100">
                <a:solidFill>
                  <a:srgbClr val="C00000"/>
                </a:solidFill>
              </a:rPr>
              <a:t>1) </a:t>
            </a:r>
            <a:r>
              <a:rPr lang="ko-KR" altLang="en-US" sz="1100">
                <a:solidFill>
                  <a:srgbClr val="C00000"/>
                </a:solidFill>
              </a:rPr>
              <a:t>한 개의 명령을 여러 줄에 걸쳐 입력하기 위해 라인 끝에 </a:t>
            </a:r>
            <a:r>
              <a:rPr lang="en-US" altLang="ko-KR" sz="1100">
                <a:solidFill>
                  <a:srgbClr val="C00000"/>
                </a:solidFill>
              </a:rPr>
              <a:t>\(</a:t>
            </a:r>
            <a:r>
              <a:rPr lang="ko-KR" altLang="en-US" sz="1100">
                <a:solidFill>
                  <a:srgbClr val="C00000"/>
                </a:solidFill>
              </a:rPr>
              <a:t>백슬래시</a:t>
            </a:r>
            <a:r>
              <a:rPr lang="en-US" altLang="ko-KR" sz="1100">
                <a:solidFill>
                  <a:srgbClr val="C00000"/>
                </a:solidFill>
              </a:rPr>
              <a:t>) </a:t>
            </a:r>
            <a:r>
              <a:rPr lang="ko-KR" altLang="en-US" sz="1100">
                <a:solidFill>
                  <a:srgbClr val="C00000"/>
                </a:solidFill>
              </a:rPr>
              <a:t>문자 사용</a:t>
            </a:r>
            <a:r>
              <a:rPr lang="en-US" altLang="ko-KR" sz="1100">
                <a:solidFill>
                  <a:srgbClr val="C00000"/>
                </a:solidFill>
              </a:rPr>
              <a:t>.</a:t>
            </a:r>
          </a:p>
          <a:p>
            <a:pPr algn="just"/>
            <a:endParaRPr lang="en-US" altLang="ko-KR" sz="1100">
              <a:solidFill>
                <a:srgbClr val="C00000"/>
              </a:solidFill>
            </a:endParaRPr>
          </a:p>
          <a:p>
            <a:pPr algn="just"/>
            <a:r>
              <a:rPr lang="en-US" altLang="ko-KR" sz="1100">
                <a:solidFill>
                  <a:srgbClr val="C00000"/>
                </a:solidFill>
              </a:rPr>
              <a:t>2) </a:t>
            </a:r>
            <a:r>
              <a:rPr lang="ko-KR" altLang="en-US" sz="1100">
                <a:solidFill>
                  <a:srgbClr val="C00000"/>
                </a:solidFill>
              </a:rPr>
              <a:t>백슬래시 앞에 빈 칸이 한 개 있음에 주의</a:t>
            </a:r>
            <a:endParaRPr lang="en-US" altLang="ko-KR" sz="1100">
              <a:solidFill>
                <a:srgbClr val="C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CB3129-EF32-456A-A29F-A4AF6693ECD8}"/>
              </a:ext>
            </a:extLst>
          </p:cNvPr>
          <p:cNvSpPr/>
          <p:nvPr/>
        </p:nvSpPr>
        <p:spPr>
          <a:xfrm>
            <a:off x="4267144" y="3356992"/>
            <a:ext cx="4572000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102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102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2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 '102' (b07bf829-1a40-4622-b695-6c0b8979a738) successfully added.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0EC2C-B045-426E-9FE9-6F42F471A370}"/>
              </a:ext>
            </a:extLst>
          </p:cNvPr>
          <p:cNvSpPr txBox="1"/>
          <p:nvPr/>
        </p:nvSpPr>
        <p:spPr>
          <a:xfrm>
            <a:off x="5508104" y="5718740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</a:rPr>
              <a:t>실제 입력한 상황</a:t>
            </a:r>
          </a:p>
        </p:txBody>
      </p:sp>
    </p:spTree>
    <p:extLst>
      <p:ext uri="{BB962C8B-B14F-4D97-AF65-F5344CB8AC3E}">
        <p14:creationId xmlns:p14="http://schemas.microsoft.com/office/powerpoint/2010/main" val="21347981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AD5D6-5ED0-48EC-82C8-06C9891C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EB4D1-3812-4124-A67D-51456A7A0C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1800" u="sng"/>
              <a:t>[</a:t>
            </a:r>
            <a:r>
              <a:rPr lang="ko-KR" altLang="en-US" sz="1800" u="sng"/>
              <a:t>스마트폰 핫스팟</a:t>
            </a:r>
            <a:r>
              <a:rPr lang="en-US" altLang="ko-KR" sz="1800" u="sng"/>
              <a:t>(SSID=KitaeGalaxy, </a:t>
            </a:r>
            <a:r>
              <a:rPr lang="ko-KR" altLang="en-US" sz="1800" u="sng"/>
              <a:t>암호</a:t>
            </a:r>
            <a:r>
              <a:rPr lang="en-US" altLang="ko-KR" sz="1800" u="sng"/>
              <a:t>=11111111, </a:t>
            </a:r>
            <a:r>
              <a:rPr lang="ko-KR" altLang="en-US" sz="1800" u="sng"/>
              <a:t>우선순위</a:t>
            </a:r>
            <a:r>
              <a:rPr lang="en-US" altLang="ko-KR" sz="1800" u="sng"/>
              <a:t>=1) </a:t>
            </a:r>
            <a:r>
              <a:rPr lang="ko-KR" altLang="en-US" sz="1800" u="sng"/>
              <a:t>추가</a:t>
            </a:r>
            <a:r>
              <a:rPr lang="en-US" altLang="ko-KR" sz="1800" u="sng"/>
              <a:t>]</a:t>
            </a:r>
            <a:endParaRPr lang="ko-KR" altLang="en-US" sz="1800"/>
          </a:p>
          <a:p>
            <a:pPr lvl="1"/>
            <a:r>
              <a:rPr lang="ko-KR" altLang="en-US" sz="1600"/>
              <a:t>다음 명령 사용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AC1A1-517C-4642-9599-DF5A6B37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B7A2E2-5DB5-4064-8E24-165A75B66EC8}"/>
              </a:ext>
            </a:extLst>
          </p:cNvPr>
          <p:cNvSpPr/>
          <p:nvPr/>
        </p:nvSpPr>
        <p:spPr>
          <a:xfrm>
            <a:off x="683568" y="2132856"/>
            <a:ext cx="2951240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KitaeGalaxy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KitaeGalaxy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1F2FBE-5937-4F31-9089-39A58ADADDD1}"/>
              </a:ext>
            </a:extLst>
          </p:cNvPr>
          <p:cNvSpPr/>
          <p:nvPr/>
        </p:nvSpPr>
        <p:spPr>
          <a:xfrm>
            <a:off x="3851920" y="2132856"/>
            <a:ext cx="5112568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add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 wifi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ifname wlan0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con-name KitaeGalaxy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 KiraeGalaxy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wifi-sec.key-mgmt wpa-psk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wifi-sec.psk "11111111"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 yes \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connection.autoconnect-priority 2</a:t>
            </a:r>
          </a:p>
          <a:p>
            <a:pPr defTabSz="180000" fontAlgn="base" latinLnBrk="0"/>
            <a:r>
              <a:rPr lang="en-US" altLang="ko-KR" sz="1200"/>
              <a:t>Connection 'KitaeGalaxy' (7bf36a34-9930-4271-aa83-47240952cc3d) successfully added.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53488F4C-473E-4C77-AD6E-369154D988FD}"/>
              </a:ext>
            </a:extLst>
          </p:cNvPr>
          <p:cNvSpPr/>
          <p:nvPr/>
        </p:nvSpPr>
        <p:spPr>
          <a:xfrm>
            <a:off x="286803" y="3963355"/>
            <a:ext cx="3456384" cy="864096"/>
          </a:xfrm>
          <a:prstGeom prst="wedgeRoundRectCallout">
            <a:avLst>
              <a:gd name="adj1" fmla="val -25381"/>
              <a:gd name="adj2" fmla="val -47195"/>
              <a:gd name="adj3" fmla="val 16667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100">
                <a:solidFill>
                  <a:srgbClr val="C00000"/>
                </a:solidFill>
              </a:rPr>
              <a:t>1) </a:t>
            </a:r>
            <a:r>
              <a:rPr lang="ko-KR" altLang="en-US" sz="1100">
                <a:solidFill>
                  <a:srgbClr val="C00000"/>
                </a:solidFill>
              </a:rPr>
              <a:t>한 개의 명령을 여러 줄에 걸쳐 입력하기 위해 라인 끝에 </a:t>
            </a:r>
            <a:r>
              <a:rPr lang="en-US" altLang="ko-KR" sz="1100">
                <a:solidFill>
                  <a:srgbClr val="C00000"/>
                </a:solidFill>
              </a:rPr>
              <a:t>\(</a:t>
            </a:r>
            <a:r>
              <a:rPr lang="ko-KR" altLang="en-US" sz="1100">
                <a:solidFill>
                  <a:srgbClr val="C00000"/>
                </a:solidFill>
              </a:rPr>
              <a:t>백슬래시</a:t>
            </a:r>
            <a:r>
              <a:rPr lang="en-US" altLang="ko-KR" sz="1100">
                <a:solidFill>
                  <a:srgbClr val="C00000"/>
                </a:solidFill>
              </a:rPr>
              <a:t>) </a:t>
            </a:r>
            <a:r>
              <a:rPr lang="ko-KR" altLang="en-US" sz="1100">
                <a:solidFill>
                  <a:srgbClr val="C00000"/>
                </a:solidFill>
              </a:rPr>
              <a:t>문자 사용</a:t>
            </a:r>
            <a:r>
              <a:rPr lang="en-US" altLang="ko-KR" sz="1100">
                <a:solidFill>
                  <a:srgbClr val="C00000"/>
                </a:solidFill>
              </a:rPr>
              <a:t>.</a:t>
            </a:r>
          </a:p>
          <a:p>
            <a:pPr algn="just"/>
            <a:endParaRPr lang="en-US" altLang="ko-KR" sz="1100">
              <a:solidFill>
                <a:srgbClr val="C00000"/>
              </a:solidFill>
            </a:endParaRPr>
          </a:p>
          <a:p>
            <a:pPr algn="just"/>
            <a:r>
              <a:rPr lang="en-US" altLang="ko-KR" sz="1100">
                <a:solidFill>
                  <a:srgbClr val="C00000"/>
                </a:solidFill>
              </a:rPr>
              <a:t>2) </a:t>
            </a:r>
            <a:r>
              <a:rPr lang="ko-KR" altLang="en-US" sz="1100">
                <a:solidFill>
                  <a:srgbClr val="C00000"/>
                </a:solidFill>
              </a:rPr>
              <a:t>백슬래시 앞에 빈 칸이 한 개 있음에 주의</a:t>
            </a:r>
            <a:endParaRPr lang="en-US" altLang="ko-KR" sz="110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FA02C-D4E6-4B03-95C0-0A6F52485CFF}"/>
              </a:ext>
            </a:extLst>
          </p:cNvPr>
          <p:cNvSpPr txBox="1"/>
          <p:nvPr/>
        </p:nvSpPr>
        <p:spPr>
          <a:xfrm>
            <a:off x="5430919" y="4515352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rgbClr val="0070C0"/>
                </a:solidFill>
              </a:rPr>
              <a:t>실제 입력한 상황</a:t>
            </a:r>
          </a:p>
        </p:txBody>
      </p:sp>
    </p:spTree>
    <p:extLst>
      <p:ext uri="{BB962C8B-B14F-4D97-AF65-F5344CB8AC3E}">
        <p14:creationId xmlns:p14="http://schemas.microsoft.com/office/powerpoint/2010/main" val="27246891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13049-34E8-4ADE-88AE-EC79FA17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추가된 무선 네트워크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688D5A-98E2-4552-9C0F-9DB8489582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nmcli connection add </a:t>
            </a:r>
            <a:r>
              <a:rPr lang="ko-KR" altLang="en-US"/>
              <a:t>명령 실행</a:t>
            </a:r>
            <a:endParaRPr lang="en-US" altLang="ko-KR"/>
          </a:p>
          <a:p>
            <a:pPr lvl="1"/>
            <a:r>
              <a:rPr lang="ko-KR" altLang="en-US"/>
              <a:t>무선 네트워크 추가</a:t>
            </a:r>
            <a:endParaRPr lang="en-US" altLang="ko-KR"/>
          </a:p>
          <a:p>
            <a:pPr lvl="1"/>
            <a:r>
              <a:rPr lang="ko-KR" altLang="en-US"/>
              <a:t>무선 네트워크 정보마다 별도의 파일 생성</a:t>
            </a:r>
            <a:endParaRPr lang="en-US" altLang="ko-KR"/>
          </a:p>
          <a:p>
            <a:pPr lvl="2"/>
            <a:r>
              <a:rPr lang="en-US" altLang="ko-KR"/>
              <a:t>102.nmconnection </a:t>
            </a:r>
            <a:r>
              <a:rPr lang="ko-KR" altLang="en-US"/>
              <a:t>파일 생성</a:t>
            </a:r>
            <a:endParaRPr lang="en-US" altLang="ko-KR"/>
          </a:p>
          <a:p>
            <a:pPr lvl="2"/>
            <a:r>
              <a:rPr lang="en-US" altLang="ko-KR"/>
              <a:t>KitaeGalaxy.nmconnection </a:t>
            </a:r>
            <a:r>
              <a:rPr lang="ko-KR" altLang="en-US"/>
              <a:t>파일 생성</a:t>
            </a:r>
            <a:endParaRPr lang="en-US" altLang="ko-KR"/>
          </a:p>
          <a:p>
            <a:pPr lvl="1"/>
            <a:r>
              <a:rPr lang="ko-KR" altLang="en-US"/>
              <a:t>생성된 파일들은 다음 디렉터리에 저장</a:t>
            </a:r>
            <a:endParaRPr lang="en-US" altLang="ko-KR"/>
          </a:p>
          <a:p>
            <a:pPr lvl="2"/>
            <a:r>
              <a:rPr lang="en-US" altLang="ko-KR"/>
              <a:t>/etc/NetworkManager/system-connections</a:t>
            </a:r>
          </a:p>
          <a:p>
            <a:r>
              <a:rPr lang="en-US" altLang="ko-KR"/>
              <a:t>add </a:t>
            </a:r>
            <a:r>
              <a:rPr lang="ko-KR" altLang="en-US"/>
              <a:t>명령으로 추가된 무선 네트워크 확인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0D5423-B56B-434E-AD00-C908076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2F4905-1B7C-437D-91FC-9B0A060B7A20}"/>
              </a:ext>
            </a:extLst>
          </p:cNvPr>
          <p:cNvSpPr/>
          <p:nvPr/>
        </p:nvSpPr>
        <p:spPr>
          <a:xfrm>
            <a:off x="1187624" y="4509120"/>
            <a:ext cx="6552728" cy="9541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cd /etc/NetworkManager/system-connections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102.nmconnection KitaeGalaxy.nmconnection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</a:t>
            </a:r>
          </a:p>
        </p:txBody>
      </p:sp>
    </p:spTree>
    <p:extLst>
      <p:ext uri="{BB962C8B-B14F-4D97-AF65-F5344CB8AC3E}">
        <p14:creationId xmlns:p14="http://schemas.microsoft.com/office/powerpoint/2010/main" val="36485782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C909D-E847-4799-9DEA-FC7F744D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생성된 무선네트워크 정보 파일 열어보기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3FED66-B701-4E4C-8916-0653DCC3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28AA2E-035F-4123-833F-AAB7115C7218}"/>
              </a:ext>
            </a:extLst>
          </p:cNvPr>
          <p:cNvSpPr/>
          <p:nvPr/>
        </p:nvSpPr>
        <p:spPr>
          <a:xfrm>
            <a:off x="728908" y="1412776"/>
            <a:ext cx="7920880" cy="470898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cat 102.nmconnection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[connection]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id=102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uuid=b07bf829-1a40-4622-b695-6c0b8979a738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type=wifi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autoconnect-priority=2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interface-name=wlan0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[wifi]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mode=infrastructure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ssid=102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[wifi-security]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key-mgmt=wpa-psk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psk=11111111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[ipv4]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method=auto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[ipv6]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addr-gen-mode=default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method=auto</a:t>
            </a:r>
          </a:p>
          <a:p>
            <a:pPr defTabSz="180000" fontAlgn="base" latinLnBrk="0"/>
            <a:endParaRPr lang="en-US" altLang="ko-KR" sz="1200" kern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[proxy]</a:t>
            </a:r>
          </a:p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</a:t>
            </a:r>
          </a:p>
        </p:txBody>
      </p:sp>
    </p:spTree>
    <p:extLst>
      <p:ext uri="{BB962C8B-B14F-4D97-AF65-F5344CB8AC3E}">
        <p14:creationId xmlns:p14="http://schemas.microsoft.com/office/powerpoint/2010/main" val="351750760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A43DC-1964-4254-90F7-71BAC6E9E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추가된 무선 네트워크가 연결 가능한지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13C45-63A5-422A-934F-43FA0E14F9D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nmcli connection show </a:t>
            </a:r>
            <a:r>
              <a:rPr lang="ko-KR" altLang="en-US"/>
              <a:t>사용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0577FB-1CF1-4E44-93E5-6345F437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3F9046-3A8B-47B8-B39D-4285AFAFD498}"/>
              </a:ext>
            </a:extLst>
          </p:cNvPr>
          <p:cNvSpPr/>
          <p:nvPr/>
        </p:nvSpPr>
        <p:spPr>
          <a:xfrm>
            <a:off x="1115616" y="1916832"/>
            <a:ext cx="7416824" cy="18158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 </a:t>
            </a:r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nmcli connection show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NAME 								UUID 																	TYPE 			DEVICE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netplan-wlan0-2471290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f12fbb3e-884f-3612-83b7-1543feeb6a9f	wifi 				wlan0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 										3ec12fe4-107a-4bad-98d5-a82a7edc8d4f	loopback	lo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102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									b07bf829-1a40-4622-b695-6c0b8979a738	wifi 				--</a:t>
            </a:r>
          </a:p>
          <a:p>
            <a:pPr defTabSz="180000" fontAlgn="base" latinLnBrk="0"/>
            <a:r>
              <a:rPr lang="en-US" altLang="ko-KR" sz="14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KitaeGalaxy </a:t>
            </a:r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					7bf36a34-9930-4271-aa83-47240952cc3d	wifi 				--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netplan-eth0 					75a1216a-9d1a-30cd-8aca-ace5526ec021	ethernet 	--</a:t>
            </a:r>
          </a:p>
          <a:p>
            <a:pPr defTabSz="180000" fontAlgn="base" latinLnBrk="0"/>
            <a:r>
              <a:rPr lang="en-US" altLang="ko-KR" sz="14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pi@h2471290:/etc/NetworkManager/system-connections $</a:t>
            </a:r>
          </a:p>
        </p:txBody>
      </p:sp>
      <p:sp>
        <p:nvSpPr>
          <p:cNvPr id="6" name="왼쪽 중괄호 5">
            <a:extLst>
              <a:ext uri="{FF2B5EF4-FFF2-40B4-BE49-F238E27FC236}">
                <a16:creationId xmlns:a16="http://schemas.microsoft.com/office/drawing/2014/main" id="{B074CCFB-6B26-433F-AE14-DD073D10F0F7}"/>
              </a:ext>
            </a:extLst>
          </p:cNvPr>
          <p:cNvSpPr/>
          <p:nvPr/>
        </p:nvSpPr>
        <p:spPr>
          <a:xfrm>
            <a:off x="755576" y="2492896"/>
            <a:ext cx="432048" cy="720080"/>
          </a:xfrm>
          <a:prstGeom prst="leftBrace">
            <a:avLst>
              <a:gd name="adj1" fmla="val 21561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0FA824-B55C-4979-8C8A-774A03696133}"/>
              </a:ext>
            </a:extLst>
          </p:cNvPr>
          <p:cNvSpPr/>
          <p:nvPr/>
        </p:nvSpPr>
        <p:spPr>
          <a:xfrm>
            <a:off x="1187624" y="4130462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ko-KR">
                <a:solidFill>
                  <a:srgbClr val="0070C0"/>
                </a:solidFill>
              </a:rPr>
              <a:t>3</a:t>
            </a:r>
            <a:r>
              <a:rPr lang="ko-KR" altLang="en-US">
                <a:solidFill>
                  <a:srgbClr val="0070C0"/>
                </a:solidFill>
              </a:rPr>
              <a:t>개의 무선 네트워크가 보임</a:t>
            </a:r>
            <a:endParaRPr lang="en-US" altLang="ko-KR">
              <a:solidFill>
                <a:srgbClr val="0070C0"/>
              </a:solidFill>
            </a:endParaRP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4AE0E8E6-34A1-410B-8F05-B9803A68EF73}"/>
              </a:ext>
            </a:extLst>
          </p:cNvPr>
          <p:cNvCxnSpPr>
            <a:cxnSpLocks/>
            <a:stCxn id="7" idx="1"/>
            <a:endCxn id="6" idx="1"/>
          </p:cNvCxnSpPr>
          <p:nvPr/>
        </p:nvCxnSpPr>
        <p:spPr>
          <a:xfrm rot="10800000">
            <a:off x="755576" y="2852936"/>
            <a:ext cx="432048" cy="1462192"/>
          </a:xfrm>
          <a:prstGeom prst="curvedConnector3">
            <a:avLst>
              <a:gd name="adj1" fmla="val 15291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2417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34111-A825-4262-B353-C6BDF6AF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라즈베리파이가 연결할 무선 네트워크 선택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4764D7-BAAC-4B43-8077-EBBB9D129EF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sz="2000"/>
              <a:t>라즈베리파이는 부팅 후 다음 순서로 무선 네트워크에 자동 연결 시도</a:t>
            </a:r>
          </a:p>
          <a:p>
            <a:pPr lvl="1" fontAlgn="base"/>
            <a:r>
              <a:rPr lang="en-US" altLang="ko-KR" sz="1800"/>
              <a:t>(1) </a:t>
            </a:r>
            <a:r>
              <a:rPr lang="ko-KR" altLang="en-US" sz="1800"/>
              <a:t>무선 네트워크 목록의 각 무선 네트워크가 켜져 있는지 확인</a:t>
            </a:r>
            <a:endParaRPr lang="en-US" altLang="ko-KR" sz="1800"/>
          </a:p>
          <a:p>
            <a:pPr lvl="2" fontAlgn="base"/>
            <a:r>
              <a:rPr lang="ko-KR" altLang="en-US" sz="1600"/>
              <a:t>예를 들어</a:t>
            </a:r>
            <a:r>
              <a:rPr lang="en-US" altLang="ko-KR" sz="1600"/>
              <a:t>, </a:t>
            </a:r>
          </a:p>
          <a:p>
            <a:pPr lvl="2" fontAlgn="base"/>
            <a:r>
              <a:rPr lang="ko-KR" altLang="en-US" sz="1600"/>
              <a:t>노트북 핫스팟</a:t>
            </a:r>
            <a:r>
              <a:rPr lang="en-US" altLang="ko-KR" sz="1600"/>
              <a:t>(2471290), </a:t>
            </a:r>
            <a:r>
              <a:rPr lang="ko-KR" altLang="en-US" sz="1600"/>
              <a:t>무선 공유기</a:t>
            </a:r>
            <a:r>
              <a:rPr lang="en-US" altLang="ko-KR" sz="1600"/>
              <a:t>(102), </a:t>
            </a:r>
            <a:r>
              <a:rPr lang="ko-KR" altLang="en-US" sz="1600"/>
              <a:t>스마트폰 핫스팟</a:t>
            </a:r>
            <a:r>
              <a:rPr lang="en-US" altLang="ko-KR" sz="1600"/>
              <a:t>(KitaeGalaxy) </a:t>
            </a:r>
            <a:r>
              <a:rPr lang="ko-KR" altLang="en-US" sz="1600"/>
              <a:t>중에서 켜져 있는 것들 확인</a:t>
            </a:r>
          </a:p>
          <a:p>
            <a:pPr lvl="1" fontAlgn="base"/>
            <a:r>
              <a:rPr lang="en-US" altLang="ko-KR" sz="1800"/>
              <a:t>(2) </a:t>
            </a:r>
            <a:r>
              <a:rPr lang="ko-KR" altLang="en-US" sz="1800"/>
              <a:t>켜져 있는 것들 중 가장 우선순위가 높은 무선 네트워크에 연결</a:t>
            </a:r>
            <a:endParaRPr lang="en-US" altLang="ko-KR" sz="1800"/>
          </a:p>
          <a:p>
            <a:pPr lvl="2" fontAlgn="base"/>
            <a:r>
              <a:rPr lang="ko-KR" altLang="en-US" sz="1600"/>
              <a:t>우선순위 값이 클수록 우선순위가 높음</a:t>
            </a:r>
          </a:p>
          <a:p>
            <a:endParaRPr lang="ko-KR" altLang="en-US" sz="2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459759-BAFE-4091-82CF-910FD06A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4140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1C315-7F7E-4D59-8854-E576DC4C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우선순위 변경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2548AE-62EF-4242-806E-312F3A5484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kern="0">
                <a:solidFill>
                  <a:srgbClr val="000000"/>
                </a:solidFill>
                <a:latin typeface="맑은 고딕" panose="020B0503020000020004" pitchFamily="50" charset="-127"/>
              </a:rPr>
              <a:t>sudo nmcli connection modify </a:t>
            </a:r>
            <a:r>
              <a:rPr lang="ko-KR" altLang="en-US" kern="0">
                <a:solidFill>
                  <a:srgbClr val="000000"/>
                </a:solidFill>
                <a:latin typeface="맑은 고딕" panose="020B0503020000020004" pitchFamily="50" charset="-127"/>
              </a:rPr>
              <a:t>명령 이용</a:t>
            </a:r>
            <a:endParaRPr lang="en-US" altLang="ko-KR" ker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pPr lvl="1"/>
            <a:r>
              <a:rPr lang="ko-KR" altLang="en-US"/>
              <a:t>노트북 핫스팟의 우선순위를 </a:t>
            </a:r>
            <a:r>
              <a:rPr lang="en-US" altLang="ko-KR"/>
              <a:t>3</a:t>
            </a:r>
            <a:r>
              <a:rPr lang="ko-KR" altLang="en-US"/>
              <a:t>으로 변경하는 사례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변경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18329D-3CD6-413C-8D35-899AB310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60E103-DFB4-4109-9D7B-BFC953652CDD}"/>
              </a:ext>
            </a:extLst>
          </p:cNvPr>
          <p:cNvSpPr/>
          <p:nvPr/>
        </p:nvSpPr>
        <p:spPr>
          <a:xfrm>
            <a:off x="603148" y="2276872"/>
            <a:ext cx="8361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 </a:t>
            </a:r>
            <a:r>
              <a:rPr lang="en-US" altLang="ko-KR" sz="1200" b="1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sudo nmcli connection modify "netplan-wlan0-2471290" connection.autoconnect-priority 3 </a:t>
            </a:r>
            <a:r>
              <a: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pi@h2471290:~ $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0F82055-9066-47ED-904C-02451CCE03F7}"/>
              </a:ext>
            </a:extLst>
          </p:cNvPr>
          <p:cNvGrpSpPr/>
          <p:nvPr/>
        </p:nvGrpSpPr>
        <p:grpSpPr>
          <a:xfrm>
            <a:off x="612648" y="3397056"/>
            <a:ext cx="8361340" cy="3416320"/>
            <a:chOff x="612648" y="3246922"/>
            <a:chExt cx="8361340" cy="3416320"/>
          </a:xfrm>
          <a:noFill/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039525E-B9C3-4DC3-A17E-A6F667992D12}"/>
                </a:ext>
              </a:extLst>
            </p:cNvPr>
            <p:cNvSpPr/>
            <p:nvPr/>
          </p:nvSpPr>
          <p:spPr>
            <a:xfrm>
              <a:off x="612648" y="3246922"/>
              <a:ext cx="8361340" cy="3416320"/>
            </a:xfrm>
            <a:prstGeom prst="rect">
              <a:avLst/>
            </a:prstGeom>
            <a:grpFill/>
            <a:ln>
              <a:solidFill>
                <a:srgbClr val="0070C0"/>
              </a:solidFill>
            </a:ln>
          </p:spPr>
          <p:txBody>
            <a:bodyPr wrap="square">
              <a:spAutoFit/>
            </a:bodyPr>
            <a:lstStyle/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 $ cd /etc/netplan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 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sudo cat *.yaml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network: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version: 2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wifis: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wlan0: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)</a:t>
              </a:r>
              <a:endParaRPr lang="en-US" altLang="ko-KR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access-points: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"2471290":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auth: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key-management: "psk"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</a:rPr>
                <a:t>)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passthrough: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</a:t>
              </a:r>
              <a:r>
                <a:rPr lang="en-US" altLang="ko-KR" sz="1200" b="1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connection.autoconnect-priority: "3"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				connection.timestamp: "1764859868"</a:t>
              </a: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	...........................(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생략</a:t>
              </a:r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200" ker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defTabSz="180000" fontAlgn="base" latinLnBrk="0"/>
              <a:r>
                <a:rPr lang="en-US" altLang="ko-KR" sz="1200" ker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pi@h2471290:/etc/netplan $ </a:t>
              </a:r>
            </a:p>
          </p:txBody>
        </p:sp>
        <p:sp>
          <p:nvSpPr>
            <p:cNvPr id="8" name="말풍선: 모서리가 둥근 사각형 7">
              <a:extLst>
                <a:ext uri="{FF2B5EF4-FFF2-40B4-BE49-F238E27FC236}">
                  <a16:creationId xmlns:a16="http://schemas.microsoft.com/office/drawing/2014/main" id="{42B7BACD-E667-448C-9685-AABFF0B84075}"/>
                </a:ext>
              </a:extLst>
            </p:cNvPr>
            <p:cNvSpPr/>
            <p:nvPr/>
          </p:nvSpPr>
          <p:spPr>
            <a:xfrm>
              <a:off x="4860032" y="5658189"/>
              <a:ext cx="1224136" cy="576064"/>
            </a:xfrm>
            <a:prstGeom prst="wedgeRoundRectCallout">
              <a:avLst>
                <a:gd name="adj1" fmla="val -61221"/>
                <a:gd name="adj2" fmla="val 1345"/>
                <a:gd name="adj3" fmla="val 16667"/>
              </a:avLst>
            </a:prstGeom>
            <a:grpFill/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우선순위가 </a:t>
              </a:r>
              <a:r>
                <a:rPr lang="en-US" altLang="ko-KR" sz="1200">
                  <a:solidFill>
                    <a:srgbClr val="C00000"/>
                  </a:solidFill>
                </a:rPr>
                <a:t>3</a:t>
              </a:r>
              <a:r>
                <a:rPr lang="ko-KR" altLang="en-US" sz="1200">
                  <a:solidFill>
                    <a:srgbClr val="C00000"/>
                  </a:solidFill>
                </a:rPr>
                <a:t>으로 변경됨</a:t>
              </a:r>
              <a:r>
                <a:rPr lang="en-US" altLang="ko-KR" sz="1200">
                  <a:solidFill>
                    <a:srgbClr val="C00000"/>
                  </a:solidFill>
                </a:rPr>
                <a:t>.</a:t>
              </a:r>
            </a:p>
            <a:p>
              <a:pPr algn="ctr"/>
              <a:r>
                <a:rPr lang="ko-KR" altLang="en-US" sz="1200">
                  <a:solidFill>
                    <a:srgbClr val="C00000"/>
                  </a:solidFill>
                </a:rPr>
                <a:t>본래 </a:t>
              </a:r>
              <a:r>
                <a:rPr lang="en-US" altLang="ko-KR" sz="1200">
                  <a:solidFill>
                    <a:srgbClr val="C00000"/>
                  </a:solidFill>
                </a:rPr>
                <a:t>0</a:t>
              </a:r>
              <a:r>
                <a:rPr lang="ko-KR" altLang="en-US" sz="1200">
                  <a:solidFill>
                    <a:srgbClr val="C00000"/>
                  </a:solidFill>
                </a:rPr>
                <a:t>이었음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90076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1CCF2F-E7D4-4CFC-A39B-75ADC8540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36DC61A-C8DC-44AB-9417-8EB42D24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2.5 </a:t>
            </a:r>
            <a:r>
              <a:rPr lang="ko-KR" altLang="en-US"/>
              <a:t>라즈베리파이 끄기 및 재부팅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BBBD7C-4424-456F-A19C-92E426D1CD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75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5935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라즈베리파이 끄기와 재부팅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라즈베리파이 끄기</a:t>
            </a:r>
            <a:endParaRPr lang="en-US" altLang="ko-KR"/>
          </a:p>
          <a:p>
            <a:pPr lvl="1"/>
            <a:r>
              <a:rPr lang="ko-KR" altLang="en-US"/>
              <a:t>바로 전원을 분리하면 라즈베리파에 설치된 프로그램이나 데이터의 손상 가능성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다음 명령 입력 약 </a:t>
            </a:r>
            <a:r>
              <a:rPr lang="en-US" altLang="ko-KR"/>
              <a:t>10</a:t>
            </a:r>
            <a:r>
              <a:rPr lang="ko-KR" altLang="en-US"/>
              <a:t>초 후 전원 분리</a:t>
            </a:r>
            <a:endParaRPr lang="en-US" altLang="ko-KR" dirty="0"/>
          </a:p>
          <a:p>
            <a:pPr lvl="2"/>
            <a:r>
              <a:rPr lang="en-US" altLang="ko-KR" b="1"/>
              <a:t>$ </a:t>
            </a:r>
            <a:r>
              <a:rPr kumimoji="1" lang="en-US" altLang="ko-KR" b="1"/>
              <a:t>sudo halt</a:t>
            </a:r>
            <a:endParaRPr kumimoji="1" lang="en-US" altLang="ko-KR" b="1" dirty="0"/>
          </a:p>
          <a:p>
            <a:endParaRPr kumimoji="1" lang="en-US" altLang="ko-KR"/>
          </a:p>
          <a:p>
            <a:r>
              <a:rPr kumimoji="1" lang="ko-KR" altLang="en-US"/>
              <a:t>라즈베리파이 재부팅</a:t>
            </a:r>
            <a:endParaRPr kumimoji="1" lang="en-US" altLang="ko-KR" dirty="0"/>
          </a:p>
          <a:p>
            <a:pPr lvl="1"/>
            <a:r>
              <a:rPr kumimoji="1" lang="ko-KR" altLang="en-US"/>
              <a:t>전원을 분리하고 다시 연결하는 불편함 해소</a:t>
            </a:r>
            <a:endParaRPr kumimoji="1" lang="en-US" altLang="ko-KR"/>
          </a:p>
          <a:p>
            <a:pPr lvl="1"/>
            <a:r>
              <a:rPr kumimoji="1" lang="ko-KR" altLang="en-US"/>
              <a:t>다음 명령을 간단히 해결</a:t>
            </a:r>
            <a:endParaRPr lang="en-US" altLang="ko-KR" dirty="0"/>
          </a:p>
          <a:p>
            <a:pPr lvl="2"/>
            <a:r>
              <a:rPr lang="en-US" altLang="ko-KR" b="1"/>
              <a:t>$ </a:t>
            </a:r>
            <a:r>
              <a:rPr kumimoji="1" lang="en-US" altLang="ko-KR" b="1"/>
              <a:t>sudo reboot</a:t>
            </a:r>
            <a:endParaRPr kumimoji="1" lang="en-US" altLang="ko-KR" b="1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97959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1CCF2F-E7D4-4CFC-A39B-75ADC8540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* </a:t>
            </a:r>
            <a:r>
              <a:rPr lang="ko-KR" altLang="en-US"/>
              <a:t>꼭 필요하지 않고 시간이 많이 걸리기 때문에</a:t>
            </a:r>
            <a:r>
              <a:rPr lang="en-US" altLang="ko-KR"/>
              <a:t>, </a:t>
            </a:r>
            <a:r>
              <a:rPr lang="ko-KR" altLang="en-US"/>
              <a:t>스킵해도 됨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336DC61A-C8DC-44AB-9417-8EB42D24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2.5 </a:t>
            </a:r>
            <a:r>
              <a:rPr lang="ko-KR" altLang="en-US"/>
              <a:t>시스템 업데이트 및 한글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BBBD7C-4424-456F-A19C-92E426D1CD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77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97559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업데이트 및 한글 설치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시스템 업데이트</a:t>
            </a:r>
            <a:endParaRPr lang="en-US" altLang="ko-KR" dirty="0"/>
          </a:p>
          <a:p>
            <a:pPr lvl="2"/>
            <a:r>
              <a:rPr lang="ko-KR" altLang="en-US"/>
              <a:t>라즈베리파이 운영체제를 </a:t>
            </a:r>
            <a:r>
              <a:rPr lang="ko-KR" altLang="en-US" dirty="0"/>
              <a:t>처음 설치 후 시스템 업데이트 필요</a:t>
            </a:r>
            <a:endParaRPr lang="en-US" altLang="ko-KR" dirty="0"/>
          </a:p>
          <a:p>
            <a:pPr lvl="1"/>
            <a:r>
              <a:rPr lang="en-US" altLang="ko-KR" dirty="0"/>
              <a:t>putty</a:t>
            </a:r>
            <a:r>
              <a:rPr lang="ko-KR" altLang="en-US" dirty="0"/>
              <a:t>로 로그인 한 후</a:t>
            </a:r>
            <a:r>
              <a:rPr lang="en-US" altLang="ko-KR" dirty="0"/>
              <a:t>, </a:t>
            </a:r>
            <a:r>
              <a:rPr lang="ko-KR" altLang="en-US" dirty="0"/>
              <a:t>터미널에서 다음 명령 입력</a:t>
            </a:r>
            <a:endParaRPr lang="en-US" altLang="ko-KR" dirty="0"/>
          </a:p>
          <a:p>
            <a:pPr lvl="2"/>
            <a:r>
              <a:rPr kumimoji="1" lang="en-US" altLang="ko-KR" b="1" dirty="0"/>
              <a:t>$ </a:t>
            </a:r>
            <a:r>
              <a:rPr kumimoji="1" lang="en-US" altLang="ko-KR" b="1" dirty="0" err="1"/>
              <a:t>sudo</a:t>
            </a:r>
            <a:r>
              <a:rPr kumimoji="1" lang="en-US" altLang="ko-KR" b="1" dirty="0"/>
              <a:t> apt-get update</a:t>
            </a:r>
          </a:p>
          <a:p>
            <a:pPr lvl="2"/>
            <a:r>
              <a:rPr kumimoji="1" lang="en-US" altLang="ko-KR" b="1" dirty="0"/>
              <a:t>$ </a:t>
            </a:r>
            <a:r>
              <a:rPr kumimoji="1" lang="en-US" altLang="ko-KR" b="1" dirty="0" err="1"/>
              <a:t>sudo</a:t>
            </a:r>
            <a:r>
              <a:rPr kumimoji="1" lang="en-US" altLang="ko-KR" b="1" dirty="0"/>
              <a:t> apt-get upgrade</a:t>
            </a:r>
          </a:p>
          <a:p>
            <a:r>
              <a:rPr kumimoji="1" lang="ko-KR" altLang="en-US" dirty="0"/>
              <a:t>한글 폰트</a:t>
            </a:r>
            <a:r>
              <a:rPr kumimoji="1" lang="en-US" altLang="ko-KR" dirty="0"/>
              <a:t> </a:t>
            </a:r>
            <a:r>
              <a:rPr kumimoji="1" lang="ko-KR" altLang="en-US" dirty="0"/>
              <a:t>설치</a:t>
            </a:r>
            <a:endParaRPr kumimoji="1" lang="en-US" altLang="ko-KR" dirty="0"/>
          </a:p>
          <a:p>
            <a:pPr lvl="2"/>
            <a:r>
              <a:rPr kumimoji="1" lang="en-US" altLang="ko-KR" b="1" dirty="0"/>
              <a:t>$ </a:t>
            </a:r>
            <a:r>
              <a:rPr kumimoji="1" lang="en-US" altLang="ko-KR" b="1" dirty="0" err="1"/>
              <a:t>sudo</a:t>
            </a:r>
            <a:r>
              <a:rPr kumimoji="1" lang="en-US" altLang="ko-KR" b="1" dirty="0"/>
              <a:t> </a:t>
            </a:r>
            <a:r>
              <a:rPr lang="en-US" altLang="ko-KR" b="1" dirty="0"/>
              <a:t>apt-get install </a:t>
            </a:r>
            <a:r>
              <a:rPr lang="en-US" altLang="ko-KR" b="1" dirty="0" err="1"/>
              <a:t>ibus</a:t>
            </a:r>
            <a:r>
              <a:rPr lang="en-US" altLang="ko-KR" b="1" dirty="0"/>
              <a:t> </a:t>
            </a:r>
            <a:r>
              <a:rPr lang="en-US" altLang="ko-KR" b="1" dirty="0" err="1"/>
              <a:t>ibus-hangul</a:t>
            </a:r>
            <a:r>
              <a:rPr lang="en-US" altLang="ko-KR" b="1" dirty="0"/>
              <a:t> fonts-</a:t>
            </a:r>
            <a:r>
              <a:rPr lang="en-US" altLang="ko-KR" b="1" dirty="0" err="1"/>
              <a:t>unfonts</a:t>
            </a:r>
            <a:r>
              <a:rPr lang="en-US" altLang="ko-KR" b="1" dirty="0"/>
              <a:t>-core</a:t>
            </a:r>
          </a:p>
          <a:p>
            <a:r>
              <a:rPr lang="ko-KR" altLang="en-US" dirty="0"/>
              <a:t>한글 설정</a:t>
            </a:r>
            <a:endParaRPr lang="en-US" altLang="ko-KR" dirty="0"/>
          </a:p>
          <a:p>
            <a:pPr lvl="1"/>
            <a:r>
              <a:rPr kumimoji="1" lang="en-US" altLang="ko-KR" b="1" dirty="0"/>
              <a:t>$</a:t>
            </a:r>
            <a:r>
              <a:rPr kumimoji="1" lang="ko-KR" altLang="en-US" b="1" dirty="0"/>
              <a:t> </a:t>
            </a:r>
            <a:r>
              <a:rPr kumimoji="1" lang="en-US" altLang="ko-KR" b="1" dirty="0" err="1"/>
              <a:t>sudo</a:t>
            </a:r>
            <a:r>
              <a:rPr kumimoji="1" lang="en-US" altLang="ko-KR" b="1" dirty="0"/>
              <a:t> </a:t>
            </a:r>
            <a:r>
              <a:rPr kumimoji="1" lang="en-US" altLang="ko-KR" b="1" dirty="0" err="1"/>
              <a:t>raspi-config</a:t>
            </a:r>
            <a:endParaRPr kumimoji="1" lang="en-US" altLang="ko-KR" b="1" dirty="0"/>
          </a:p>
          <a:p>
            <a:pPr lvl="2"/>
            <a:r>
              <a:rPr kumimoji="1" lang="ko-KR" altLang="en-US" dirty="0" err="1"/>
              <a:t>라즈베리파이</a:t>
            </a:r>
            <a:r>
              <a:rPr kumimoji="1" lang="ko-KR" altLang="en-US" dirty="0"/>
              <a:t> 설정 창이 출력되고 이곳에서 다음 순서로 선택하면 됨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”</a:t>
            </a:r>
            <a:r>
              <a:rPr kumimoji="1" lang="en-US" altLang="ko-KR" dirty="0" err="1"/>
              <a:t>Localisation</a:t>
            </a:r>
            <a:r>
              <a:rPr kumimoji="1" lang="en-US" altLang="ko-KR" dirty="0"/>
              <a:t> Options”-&gt;”</a:t>
            </a:r>
            <a:r>
              <a:rPr kumimoji="1" lang="en-US" altLang="ko-KR"/>
              <a:t>I1 Locale</a:t>
            </a:r>
            <a:r>
              <a:rPr kumimoji="1" lang="en-US" altLang="ko-KR" dirty="0"/>
              <a:t>”</a:t>
            </a:r>
          </a:p>
          <a:p>
            <a:pPr lvl="2"/>
            <a:r>
              <a:rPr kumimoji="1" lang="ko-KR" altLang="en-US" dirty="0"/>
              <a:t>리스트에서 </a:t>
            </a:r>
            <a:r>
              <a:rPr kumimoji="1" lang="en-US" altLang="ko-KR" dirty="0"/>
              <a:t>“ko_KR.UTF-8 UTF-8” </a:t>
            </a:r>
            <a:r>
              <a:rPr kumimoji="1" lang="ko-KR" altLang="en-US" dirty="0"/>
              <a:t>선택</a:t>
            </a:r>
            <a:endParaRPr kumimoji="1" lang="en-US" altLang="ko-KR" dirty="0"/>
          </a:p>
          <a:p>
            <a:pPr lvl="3"/>
            <a:r>
              <a:rPr kumimoji="1" lang="ko-KR" altLang="en-US" dirty="0"/>
              <a:t>스페이스바를 누르면 선택</a:t>
            </a:r>
            <a:r>
              <a:rPr kumimoji="1" lang="en-US" altLang="ko-KR" dirty="0"/>
              <a:t>/</a:t>
            </a:r>
            <a:r>
              <a:rPr kumimoji="1" lang="ko-KR" altLang="en-US" dirty="0"/>
              <a:t>해제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&lt;Enter</a:t>
            </a:r>
            <a:r>
              <a:rPr kumimoji="1" lang="en-US" altLang="ko-KR"/>
              <a:t>&gt;</a:t>
            </a:r>
            <a:r>
              <a:rPr kumimoji="1" lang="ko-KR" altLang="en-US"/>
              <a:t> 클릭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40558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8167F80-2094-4F22-80C7-901D69C1DE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75" y="1368526"/>
            <a:ext cx="5454423" cy="323001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F1DC3AE-6FDD-429F-B0CB-CAE511A0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한글 설정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3F5DDC-530E-42A9-A981-CFF0D23F9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79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7902E4-B254-4EAC-9CAF-5B0F87E40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158" y="179789"/>
            <a:ext cx="5115631" cy="306149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539511C-53C1-49E3-9DB2-EF77CF62BE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158" y="3717032"/>
            <a:ext cx="5115631" cy="306149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BE58F7E-B756-4E1B-8E06-04E036FD02A9}"/>
              </a:ext>
            </a:extLst>
          </p:cNvPr>
          <p:cNvSpPr/>
          <p:nvPr/>
        </p:nvSpPr>
        <p:spPr>
          <a:xfrm>
            <a:off x="257975" y="4625388"/>
            <a:ext cx="21146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1400"/>
              <a:t>(1) Localisation Options</a:t>
            </a:r>
            <a:endParaRPr lang="ko-KR" altLang="en-US" sz="1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8647FE-6B6E-4046-9992-D3A9BDB7862E}"/>
              </a:ext>
            </a:extLst>
          </p:cNvPr>
          <p:cNvSpPr/>
          <p:nvPr/>
        </p:nvSpPr>
        <p:spPr>
          <a:xfrm>
            <a:off x="6006705" y="3212976"/>
            <a:ext cx="9685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1400"/>
              <a:t>(2) Locale</a:t>
            </a:r>
            <a:endParaRPr lang="ko-KR" altLang="en-US" sz="14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E02F14-328B-405A-9031-351D005483C0}"/>
              </a:ext>
            </a:extLst>
          </p:cNvPr>
          <p:cNvSpPr/>
          <p:nvPr/>
        </p:nvSpPr>
        <p:spPr>
          <a:xfrm>
            <a:off x="973960" y="6327170"/>
            <a:ext cx="28594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sz="1400"/>
              <a:t>(3) </a:t>
            </a:r>
            <a:r>
              <a:rPr lang="en-US" altLang="ko-KR" sz="1400"/>
              <a:t>ko_KR.UTF-8 UTF-8 </a:t>
            </a:r>
            <a:r>
              <a:rPr lang="ko-KR" altLang="en-US" sz="1400"/>
              <a:t>추가 선택</a:t>
            </a:r>
          </a:p>
        </p:txBody>
      </p:sp>
    </p:spTree>
    <p:extLst>
      <p:ext uri="{BB962C8B-B14F-4D97-AF65-F5344CB8AC3E}">
        <p14:creationId xmlns:p14="http://schemas.microsoft.com/office/powerpoint/2010/main" val="16567697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A19C3F-5489-4DA5-B14A-00A6C262A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75" y="1340768"/>
            <a:ext cx="5414257" cy="324021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8AD90E0-2FCB-40CB-B679-F239ACDA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한글 설정</a:t>
            </a:r>
            <a:r>
              <a:rPr lang="en-US" altLang="ko-KR"/>
              <a:t>(2)</a:t>
            </a:r>
            <a:r>
              <a:rPr lang="ko-KR" altLang="en-US"/>
              <a:t>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68AC85-349F-48CF-96F8-30A0E599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80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018AA4-8712-4DEC-BBB1-780D72D98267}"/>
              </a:ext>
            </a:extLst>
          </p:cNvPr>
          <p:cNvSpPr/>
          <p:nvPr/>
        </p:nvSpPr>
        <p:spPr>
          <a:xfrm>
            <a:off x="214095" y="4599317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>
                <a:latin typeface="YDVYGO12"/>
              </a:rPr>
              <a:t>(1) </a:t>
            </a:r>
            <a:r>
              <a:rPr lang="ko-KR" altLang="en-US" sz="1400">
                <a:latin typeface="YDVYGO12"/>
              </a:rPr>
              <a:t>설치 목록 중 </a:t>
            </a:r>
            <a:r>
              <a:rPr lang="en-US" altLang="ko-KR" sz="1400">
                <a:latin typeface="YDVYGO12"/>
              </a:rPr>
              <a:t>ko_KR.UTF-8 UTF-8 </a:t>
            </a:r>
            <a:r>
              <a:rPr lang="ko-KR" altLang="en-US" sz="1400">
                <a:latin typeface="YDVYGO12"/>
              </a:rPr>
              <a:t>선택하고 </a:t>
            </a:r>
            <a:endParaRPr lang="en-US" altLang="ko-KR" sz="1400">
              <a:latin typeface="YDVYGO12"/>
            </a:endParaRPr>
          </a:p>
          <a:p>
            <a:r>
              <a:rPr lang="en-US" altLang="ko-KR" sz="1400">
                <a:latin typeface="YDVYGO12"/>
              </a:rPr>
              <a:t>&lt;ok&gt; </a:t>
            </a:r>
            <a:r>
              <a:rPr lang="ko-KR" altLang="en-US" sz="1400">
                <a:latin typeface="YDVYGO12"/>
              </a:rPr>
              <a:t>선택</a:t>
            </a:r>
            <a:endParaRPr lang="ko-KR" altLang="en-US" sz="1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303031-3D24-48DE-8495-BB7F915545D9}"/>
              </a:ext>
            </a:extLst>
          </p:cNvPr>
          <p:cNvSpPr/>
          <p:nvPr/>
        </p:nvSpPr>
        <p:spPr>
          <a:xfrm>
            <a:off x="3707904" y="5199849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>
                <a:latin typeface="YDVYGO12"/>
              </a:rPr>
              <a:t>(2) </a:t>
            </a:r>
            <a:r>
              <a:rPr lang="ko-KR" altLang="en-US" sz="1400">
                <a:latin typeface="YDVYGO12"/>
              </a:rPr>
              <a:t>최종 </a:t>
            </a:r>
            <a:r>
              <a:rPr lang="en-US" altLang="ko-KR" sz="1400">
                <a:latin typeface="YDVYGO12"/>
              </a:rPr>
              <a:t>&lt;finish&gt;</a:t>
            </a:r>
            <a:endParaRPr lang="ko-KR" altLang="en-US" sz="14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E6765C-AA2A-4152-B0B9-9FC4589C0D6C}"/>
              </a:ext>
            </a:extLst>
          </p:cNvPr>
          <p:cNvSpPr/>
          <p:nvPr/>
        </p:nvSpPr>
        <p:spPr>
          <a:xfrm>
            <a:off x="3707904" y="5937691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>
                <a:latin typeface="YDVYGO12"/>
              </a:rPr>
              <a:t>(3) </a:t>
            </a:r>
            <a:r>
              <a:rPr lang="ko-KR" altLang="en-US" sz="1400">
                <a:latin typeface="YDVYGO12"/>
              </a:rPr>
              <a:t>라즈베리파이 재부팅</a:t>
            </a:r>
            <a:endParaRPr lang="en-US" altLang="ko-KR" sz="1400">
              <a:latin typeface="YDVYGO12"/>
            </a:endParaRPr>
          </a:p>
          <a:p>
            <a:r>
              <a:rPr lang="en-US" altLang="ko-KR" sz="1400">
                <a:latin typeface="YDVYGO12"/>
              </a:rPr>
              <a:t>     $ sudo</a:t>
            </a:r>
            <a:r>
              <a:rPr lang="ko-KR" altLang="en-US" sz="1400">
                <a:latin typeface="YDVYGO12"/>
              </a:rPr>
              <a:t> </a:t>
            </a:r>
            <a:r>
              <a:rPr lang="en-US" altLang="ko-KR" sz="1400">
                <a:latin typeface="YDVYGO12"/>
              </a:rPr>
              <a:t>reboot</a:t>
            </a:r>
            <a:endParaRPr lang="ko-KR" altLang="en-US" sz="14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2E44D12-30C2-49DE-ADA5-E57D1024D2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899" y="2069508"/>
            <a:ext cx="5286105" cy="313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11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47783</TotalTime>
  <Words>4442</Words>
  <Application>Microsoft Office PowerPoint</Application>
  <PresentationFormat>화면 슬라이드 쇼(4:3)</PresentationFormat>
  <Paragraphs>806</Paragraphs>
  <Slides>80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80</vt:i4>
      </vt:variant>
    </vt:vector>
  </HeadingPairs>
  <TitlesOfParts>
    <vt:vector size="87" baseType="lpstr">
      <vt:lpstr>HY나무L</vt:lpstr>
      <vt:lpstr>YDVYGO12</vt:lpstr>
      <vt:lpstr>맑은 고딕</vt:lpstr>
      <vt:lpstr>휴먼편지체</vt:lpstr>
      <vt:lpstr>Wingdings</vt:lpstr>
      <vt:lpstr>Wingdings 2</vt:lpstr>
      <vt:lpstr>가을</vt:lpstr>
      <vt:lpstr>2장 무선 통신 가능한 라즈베리파이 만들기</vt:lpstr>
      <vt:lpstr>강의 목표</vt:lpstr>
      <vt:lpstr>들어가기 전에</vt:lpstr>
      <vt:lpstr>2.1 무선 인터넷 준비</vt:lpstr>
      <vt:lpstr>라즈베리파이의 인터넷 사용 방법</vt:lpstr>
      <vt:lpstr>1. 무선 공유기 활용</vt:lpstr>
      <vt:lpstr>2. 노트북 핫스팟 활용</vt:lpstr>
      <vt:lpstr>노트북 핫스팟 만들기(1)</vt:lpstr>
      <vt:lpstr>노트북 핫스팟 만들기(2)</vt:lpstr>
      <vt:lpstr>노트북 핫스팟 만들기(3)</vt:lpstr>
      <vt:lpstr>노트북 핫스팟을 이용하는경우 네트워크 구성</vt:lpstr>
      <vt:lpstr>3. 스마트폰 핫스팟 활용</vt:lpstr>
      <vt:lpstr>PowerPoint 프레젠테이션</vt:lpstr>
      <vt:lpstr>스마트폰 핫스팟을 이용하는 경우 네트워크 구성</vt:lpstr>
      <vt:lpstr>2.2 라즈베리파이 운영체제 설치</vt:lpstr>
      <vt:lpstr>SD 카드에 라즈베리파이 운영체제 설치</vt:lpstr>
      <vt:lpstr>1. SD 카드 리더기에 SC 카드 준비</vt:lpstr>
      <vt:lpstr>2. Raspberry PI Imager 프로그램 다운로드</vt:lpstr>
      <vt:lpstr>Imager 프로그램 실행 - [단계 1] 장치 선택</vt:lpstr>
      <vt:lpstr>[단계 2] 운영체제 선택</vt:lpstr>
      <vt:lpstr>[단계 3] 저장 장치 선택</vt:lpstr>
      <vt:lpstr>[단계 4] 호스트 이름 설정</vt:lpstr>
      <vt:lpstr>[단계 5] 지역화 설정</vt:lpstr>
      <vt:lpstr>[단계 6] 사용자 계정 만들기</vt:lpstr>
      <vt:lpstr>[단계 7] Wi-Fi 선택</vt:lpstr>
      <vt:lpstr>[단계 8] SSH 인증 켜기</vt:lpstr>
      <vt:lpstr>[단계 9] 라즈베리파이 커넥트 비활성화</vt:lpstr>
      <vt:lpstr>[단계 10] 이미지(운영체제) 기록</vt:lpstr>
      <vt:lpstr>[단계 11] 팝업</vt:lpstr>
      <vt:lpstr>[단계 12] 운영체제 기록 진행</vt:lpstr>
      <vt:lpstr>SD 카드에 설치된 운영체제 보기</vt:lpstr>
      <vt:lpstr>취소 버튼 무시</vt:lpstr>
      <vt:lpstr>2.3 마우스/키보드/디스플레이를 연결하여 무선 인터넷 설정</vt:lpstr>
      <vt:lpstr>이 절의 목적</vt:lpstr>
      <vt:lpstr>라즈베리파이 연결 및 부팅</vt:lpstr>
      <vt:lpstr>연결 구성 및 실제 연결 모습</vt:lpstr>
      <vt:lpstr>부팅 후 모습</vt:lpstr>
      <vt:lpstr>부팅 후 노트북 핫스팟 연결된 것 확인</vt:lpstr>
      <vt:lpstr>연결 가능한 무선 인터넷 목록 만들기</vt:lpstr>
      <vt:lpstr>터미널 실행</vt:lpstr>
      <vt:lpstr>연결된 네트워크 정보 확인(1)</vt:lpstr>
      <vt:lpstr>연결된 네트워크 정보 확인(2)</vt:lpstr>
      <vt:lpstr>라즈베리파이에서 네트워크 제어</vt:lpstr>
      <vt:lpstr>nmcli 명령으로 현재 연결 가능한 네트워크 보기</vt:lpstr>
      <vt:lpstr>nmcli 명령으로 무선 네트워크 추가</vt:lpstr>
      <vt:lpstr>PowerPoint 프레젠테이션</vt:lpstr>
      <vt:lpstr>추가된 무선 네트워크 확인</vt:lpstr>
      <vt:lpstr>추가된 무선네트워크 정보 파일 열어보기</vt:lpstr>
      <vt:lpstr>추가된 무선 네트워크가 연결 가능한지 확인</vt:lpstr>
      <vt:lpstr>라즈베리파이가 연결할 무선 네트워크 선택 방식</vt:lpstr>
      <vt:lpstr>우선순위 변경</vt:lpstr>
      <vt:lpstr>2.4 헤드리스 라즈베리파이 만들기</vt:lpstr>
      <vt:lpstr>헤드리스 라즈베리파이 조건</vt:lpstr>
      <vt:lpstr>헤드리스 라즈베리파이 부팅</vt:lpstr>
      <vt:lpstr>(1) 노트북 핫스팟을 무선 네트워크로 활용</vt:lpstr>
      <vt:lpstr>노트북의 핫스팟 창에, 핫스팟이 할당한 IP 주소 </vt:lpstr>
      <vt:lpstr>putty로 라즈베리파이에 접속</vt:lpstr>
      <vt:lpstr>(2) 무선 공유기를 무선 네트워크로 활용</vt:lpstr>
      <vt:lpstr>라즈베리파이의 IP 주소를 확인 방법 - Advanced IP Scanner 활용</vt:lpstr>
      <vt:lpstr>putty로 라즈베리파이에 원격 접속</vt:lpstr>
      <vt:lpstr>(3) 스마트폰 핫스팟을 무선 네트워크로 활용</vt:lpstr>
      <vt:lpstr>라즈베리파이의 IP 주소 확인</vt:lpstr>
      <vt:lpstr>putty로 라즈베리파이에 원격 접속</vt:lpstr>
      <vt:lpstr>연결된 네트워크 정보 확인(1)</vt:lpstr>
      <vt:lpstr>연결된 네트워크 정보 확인(2)</vt:lpstr>
      <vt:lpstr>라즈베리파이에서 네트워크 제어</vt:lpstr>
      <vt:lpstr>nmcli 명령으로 현재 연결 가능한 네트워크 보기</vt:lpstr>
      <vt:lpstr>nmcli 명령으로 무선 네트워크 추가</vt:lpstr>
      <vt:lpstr>PowerPoint 프레젠테이션</vt:lpstr>
      <vt:lpstr>추가된 무선 네트워크 확인</vt:lpstr>
      <vt:lpstr>생성된 무선네트워크 정보 파일 열어보기</vt:lpstr>
      <vt:lpstr>추가된 무선 네트워크가 연결 가능한지 확인</vt:lpstr>
      <vt:lpstr>라즈베리파이가 연결할 무선 네트워크 선택 방식</vt:lpstr>
      <vt:lpstr>우선순위 변경</vt:lpstr>
      <vt:lpstr>2.5 라즈베리파이 끄기 및 재부팅</vt:lpstr>
      <vt:lpstr>라즈베리파이 끄기와 재부팅</vt:lpstr>
      <vt:lpstr>2.5 시스템 업데이트 및 한글 설치</vt:lpstr>
      <vt:lpstr>시스템 업데이트 및 한글 설치</vt:lpstr>
      <vt:lpstr>한글 설정(1)</vt:lpstr>
      <vt:lpstr>한글 설정(2)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황기태</cp:lastModifiedBy>
  <cp:revision>649</cp:revision>
  <cp:lastPrinted>2013-07-12T10:01:15Z</cp:lastPrinted>
  <dcterms:created xsi:type="dcterms:W3CDTF">2011-08-27T14:53:28Z</dcterms:created>
  <dcterms:modified xsi:type="dcterms:W3CDTF">2026-07-23T06:26:06Z</dcterms:modified>
</cp:coreProperties>
</file>