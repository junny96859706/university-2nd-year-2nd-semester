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  <p:sldMasterId id="2147483865" r:id="rId2"/>
  </p:sldMasterIdLst>
  <p:notesMasterIdLst>
    <p:notesMasterId r:id="rId78"/>
  </p:notesMasterIdLst>
  <p:sldIdLst>
    <p:sldId id="256" r:id="rId3"/>
    <p:sldId id="441" r:id="rId4"/>
    <p:sldId id="620" r:id="rId5"/>
    <p:sldId id="518" r:id="rId6"/>
    <p:sldId id="519" r:id="rId7"/>
    <p:sldId id="520" r:id="rId8"/>
    <p:sldId id="522" r:id="rId9"/>
    <p:sldId id="521" r:id="rId10"/>
    <p:sldId id="523" r:id="rId11"/>
    <p:sldId id="524" r:id="rId12"/>
    <p:sldId id="525" r:id="rId13"/>
    <p:sldId id="527" r:id="rId14"/>
    <p:sldId id="529" r:id="rId15"/>
    <p:sldId id="530" r:id="rId16"/>
    <p:sldId id="531" r:id="rId17"/>
    <p:sldId id="532" r:id="rId18"/>
    <p:sldId id="533" r:id="rId19"/>
    <p:sldId id="534" r:id="rId20"/>
    <p:sldId id="535" r:id="rId21"/>
    <p:sldId id="618" r:id="rId22"/>
    <p:sldId id="538" r:id="rId23"/>
    <p:sldId id="608" r:id="rId24"/>
    <p:sldId id="539" r:id="rId25"/>
    <p:sldId id="540" r:id="rId26"/>
    <p:sldId id="541" r:id="rId27"/>
    <p:sldId id="542" r:id="rId28"/>
    <p:sldId id="543" r:id="rId29"/>
    <p:sldId id="544" r:id="rId30"/>
    <p:sldId id="545" r:id="rId31"/>
    <p:sldId id="546" r:id="rId32"/>
    <p:sldId id="547" r:id="rId33"/>
    <p:sldId id="548" r:id="rId34"/>
    <p:sldId id="617" r:id="rId35"/>
    <p:sldId id="550" r:id="rId36"/>
    <p:sldId id="551" r:id="rId37"/>
    <p:sldId id="552" r:id="rId38"/>
    <p:sldId id="553" r:id="rId39"/>
    <p:sldId id="555" r:id="rId40"/>
    <p:sldId id="557" r:id="rId41"/>
    <p:sldId id="556" r:id="rId42"/>
    <p:sldId id="561" r:id="rId43"/>
    <p:sldId id="562" r:id="rId44"/>
    <p:sldId id="563" r:id="rId45"/>
    <p:sldId id="565" r:id="rId46"/>
    <p:sldId id="566" r:id="rId47"/>
    <p:sldId id="605" r:id="rId48"/>
    <p:sldId id="606" r:id="rId49"/>
    <p:sldId id="567" r:id="rId50"/>
    <p:sldId id="569" r:id="rId51"/>
    <p:sldId id="570" r:id="rId52"/>
    <p:sldId id="577" r:id="rId53"/>
    <p:sldId id="578" r:id="rId54"/>
    <p:sldId id="579" r:id="rId55"/>
    <p:sldId id="580" r:id="rId56"/>
    <p:sldId id="581" r:id="rId57"/>
    <p:sldId id="582" r:id="rId58"/>
    <p:sldId id="604" r:id="rId59"/>
    <p:sldId id="584" r:id="rId60"/>
    <p:sldId id="585" r:id="rId61"/>
    <p:sldId id="586" r:id="rId62"/>
    <p:sldId id="588" r:id="rId63"/>
    <p:sldId id="589" r:id="rId64"/>
    <p:sldId id="590" r:id="rId65"/>
    <p:sldId id="592" r:id="rId66"/>
    <p:sldId id="593" r:id="rId67"/>
    <p:sldId id="594" r:id="rId68"/>
    <p:sldId id="595" r:id="rId69"/>
    <p:sldId id="596" r:id="rId70"/>
    <p:sldId id="619" r:id="rId71"/>
    <p:sldId id="598" r:id="rId72"/>
    <p:sldId id="599" r:id="rId73"/>
    <p:sldId id="600" r:id="rId74"/>
    <p:sldId id="601" r:id="rId75"/>
    <p:sldId id="602" r:id="rId76"/>
    <p:sldId id="603" r:id="rId77"/>
  </p:sldIdLst>
  <p:sldSz cx="9144000" cy="6858000" type="screen4x3"/>
  <p:notesSz cx="6797675" cy="987425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866375F2-88DD-437C-BAA4-1209B5C42EEB}">
          <p14:sldIdLst>
            <p14:sldId id="256"/>
            <p14:sldId id="441"/>
            <p14:sldId id="620"/>
            <p14:sldId id="518"/>
            <p14:sldId id="519"/>
            <p14:sldId id="520"/>
            <p14:sldId id="522"/>
            <p14:sldId id="521"/>
            <p14:sldId id="523"/>
            <p14:sldId id="524"/>
            <p14:sldId id="525"/>
            <p14:sldId id="527"/>
            <p14:sldId id="529"/>
            <p14:sldId id="530"/>
            <p14:sldId id="531"/>
            <p14:sldId id="532"/>
            <p14:sldId id="533"/>
            <p14:sldId id="534"/>
            <p14:sldId id="535"/>
            <p14:sldId id="618"/>
            <p14:sldId id="538"/>
            <p14:sldId id="608"/>
            <p14:sldId id="539"/>
            <p14:sldId id="540"/>
            <p14:sldId id="541"/>
            <p14:sldId id="542"/>
            <p14:sldId id="543"/>
            <p14:sldId id="544"/>
            <p14:sldId id="545"/>
            <p14:sldId id="546"/>
            <p14:sldId id="547"/>
            <p14:sldId id="548"/>
            <p14:sldId id="617"/>
            <p14:sldId id="550"/>
            <p14:sldId id="551"/>
            <p14:sldId id="552"/>
            <p14:sldId id="553"/>
            <p14:sldId id="555"/>
            <p14:sldId id="557"/>
            <p14:sldId id="556"/>
            <p14:sldId id="561"/>
            <p14:sldId id="562"/>
            <p14:sldId id="563"/>
            <p14:sldId id="565"/>
            <p14:sldId id="566"/>
            <p14:sldId id="605"/>
            <p14:sldId id="606"/>
            <p14:sldId id="567"/>
            <p14:sldId id="569"/>
            <p14:sldId id="570"/>
            <p14:sldId id="577"/>
            <p14:sldId id="578"/>
            <p14:sldId id="579"/>
            <p14:sldId id="580"/>
            <p14:sldId id="581"/>
            <p14:sldId id="582"/>
            <p14:sldId id="604"/>
            <p14:sldId id="584"/>
            <p14:sldId id="585"/>
            <p14:sldId id="586"/>
            <p14:sldId id="588"/>
            <p14:sldId id="589"/>
            <p14:sldId id="590"/>
            <p14:sldId id="592"/>
            <p14:sldId id="593"/>
            <p14:sldId id="594"/>
            <p14:sldId id="595"/>
            <p14:sldId id="596"/>
            <p14:sldId id="619"/>
            <p14:sldId id="598"/>
            <p14:sldId id="599"/>
            <p14:sldId id="600"/>
            <p14:sldId id="601"/>
            <p14:sldId id="602"/>
            <p14:sldId id="603"/>
          </p14:sldIdLst>
        </p14:section>
        <p14:section name="제목 없는 구역" id="{50618249-BD4B-4608-80C6-F69DDB80ECB6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이재문" initials="이" lastIdx="1" clrIdx="0">
    <p:extLst>
      <p:ext uri="{19B8F6BF-5375-455C-9EA6-DF929625EA0E}">
        <p15:presenceInfo xmlns:p15="http://schemas.microsoft.com/office/powerpoint/2012/main" userId="S::jmlee@hansung.edu::60dd5729-9113-4c1b-96fb-fbf1f72f30d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B5B"/>
    <a:srgbClr val="FF9900"/>
    <a:srgbClr val="8BB0CF"/>
    <a:srgbClr val="FFFF66"/>
    <a:srgbClr val="C9E7A7"/>
    <a:srgbClr val="669900"/>
    <a:srgbClr val="7AA5C8"/>
    <a:srgbClr val="42739C"/>
    <a:srgbClr val="FF3300"/>
    <a:srgbClr val="8FF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58" autoAdjust="0"/>
    <p:restoredTop sz="86478" autoAdjust="0"/>
  </p:normalViewPr>
  <p:slideViewPr>
    <p:cSldViewPr>
      <p:cViewPr varScale="1">
        <p:scale>
          <a:sx n="124" d="100"/>
          <a:sy n="124" d="100"/>
        </p:scale>
        <p:origin x="1128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1" d="100"/>
          <a:sy n="81" d="100"/>
        </p:scale>
        <p:origin x="-2040" y="-78"/>
      </p:cViewPr>
      <p:guideLst>
        <p:guide orient="horz" pos="3110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commentAuthors" Target="commentAuthor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theme" Target="theme/theme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notesMaster" Target="notesMasters/notesMaster1.xml"/><Relationship Id="rId8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D9897E-559B-4802-87FD-BDDBC21CBABC}" type="datetimeFigureOut">
              <a:rPr lang="ko-KR" altLang="en-US" smtClean="0"/>
              <a:t>2026. 9. 30.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41363"/>
            <a:ext cx="493395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690269"/>
            <a:ext cx="5438140" cy="44434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7AADCE-4523-43FE-B0A8-90B87F2F6B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5413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68012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kumimoji="0" lang="ko-KR" altLang="en-US" dirty="0"/>
              <a:t>마스터 제목 스타일 편집</a:t>
            </a:r>
            <a:endParaRPr kumimoji="0" lang="en-US" dirty="0"/>
          </a:p>
        </p:txBody>
      </p:sp>
      <p:sp>
        <p:nvSpPr>
          <p:cNvPr id="8" name="내용 개체 틀 7"/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50405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>
                <a:latin typeface="HY나무L" pitchFamily="18" charset="-127"/>
                <a:ea typeface="HY나무L" pitchFamily="18" charset="-127"/>
              </a:defRPr>
            </a:lvl3pPr>
            <a:lvl4pPr>
              <a:defRPr sz="1400">
                <a:latin typeface="휴먼편지체" pitchFamily="18" charset="-127"/>
                <a:ea typeface="휴먼편지체" pitchFamily="18" charset="-127"/>
              </a:defRPr>
            </a:lvl4pPr>
          </a:lstStyle>
          <a:p>
            <a:pPr lvl="0" eaLnBrk="1" latinLnBrk="0" hangingPunct="1"/>
            <a:r>
              <a:rPr lang="ko-KR" altLang="en-US" dirty="0"/>
              <a:t>마스터 텍스트 스타일을 편집합니다</a:t>
            </a:r>
          </a:p>
          <a:p>
            <a:pPr lvl="1" eaLnBrk="1" latinLnBrk="0" hangingPunct="1"/>
            <a:r>
              <a:rPr lang="ko-KR" altLang="en-US" dirty="0"/>
              <a:t>둘째 수준</a:t>
            </a:r>
          </a:p>
          <a:p>
            <a:pPr lvl="2" eaLnBrk="1" latinLnBrk="0" hangingPunct="1"/>
            <a:r>
              <a:rPr lang="ko-KR" altLang="en-US" dirty="0"/>
              <a:t>셋째 수준</a:t>
            </a:r>
          </a:p>
          <a:p>
            <a:pPr lvl="3" eaLnBrk="1" latinLnBrk="0" hangingPunct="1"/>
            <a:r>
              <a:rPr lang="ko-KR" altLang="en-US" dirty="0"/>
              <a:t>넷째 수준</a:t>
            </a:r>
          </a:p>
          <a:p>
            <a:pPr lvl="4" eaLnBrk="1" latinLnBrk="0" hangingPunct="1"/>
            <a:r>
              <a:rPr lang="ko-KR" altLang="en-US" dirty="0"/>
              <a:t>다섯째 수준</a:t>
            </a:r>
            <a:endParaRPr kumimoji="0" 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>
            <a:normAutofit/>
          </a:bodyPr>
          <a:lstStyle>
            <a:lvl1pPr marL="342900" indent="-342900">
              <a:buSzPct val="100000"/>
              <a:buFont typeface="+mj-lt"/>
              <a:buAutoNum type="arabicPeriod"/>
              <a:defRPr sz="15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 dirty="0"/>
              <a:t>마스터 텍스트 스타일을 편집합니다</a:t>
            </a:r>
          </a:p>
        </p:txBody>
      </p:sp>
      <p:sp>
        <p:nvSpPr>
          <p:cNvPr id="7" name="직사각형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5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endParaRPr lang="ko-KR" altLang="en-US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바닥글 개체 틀 11"/>
          <p:cNvSpPr>
            <a:spLocks noGrp="1"/>
          </p:cNvSpPr>
          <p:nvPr>
            <p:ph type="ftr" sz="quarter" idx="17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rtlCol="0"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3" name="내용 개체 틀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8" name="직사각형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직사각형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날짜 개체 틀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endParaRPr lang="ko-KR" altLang="en-US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  <a:prstGeom prst="rect">
            <a:avLst/>
          </a:prstGeom>
        </p:spPr>
        <p:txBody>
          <a:bodyPr rtlCol="0"/>
          <a:lstStyle/>
          <a:p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ko-KR" altLang="en-US"/>
              <a:t>그림을 추가하려면 아이콘을 클릭하십시오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제목 슬라이드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직사각형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제목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 algn="r">
              <a:defRPr cap="all" baseline="0"/>
            </a:lvl1pPr>
          </a:lstStyle>
          <a:p>
            <a:endParaRPr kumimoji="0" lang="en-US" dirty="0"/>
          </a:p>
        </p:txBody>
      </p:sp>
      <p:sp>
        <p:nvSpPr>
          <p:cNvPr id="9" name="부제목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endParaRPr kumimoji="0" lang="en-US" dirty="0"/>
          </a:p>
        </p:txBody>
      </p:sp>
      <p:sp>
        <p:nvSpPr>
          <p:cNvPr id="28" name="날짜 개체 틀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7" name="바닥글 개체 틀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  <a:prstGeom prst="rect">
            <a:avLst/>
          </a:prstGeom>
        </p:spPr>
        <p:txBody>
          <a:bodyPr/>
          <a:lstStyle>
            <a:lvl1pPr algn="r">
              <a:defRPr b="1">
                <a:solidFill>
                  <a:srgbClr val="FFC000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33837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B3786B-47DE-FF4B-934B-FFB0D423E0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7A554B1-FA79-E449-9326-C456B91917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B995C8-FAFC-784B-8BB3-2D88CCF2B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D21EF9-D997-DA4E-A4D3-66578E0B0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5762B3-B9D2-C042-960E-3F1A61B76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F3B46-7F67-C14F-8641-C209A70FFB1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989144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9D0FC1-8F78-D440-8A0A-30665563A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F9E63-BCC9-384A-8E61-B63137F1F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FC12AD-CA27-D444-99F0-0EB136025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900F06-F811-1844-A9B4-19C12CB05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A684BF-4551-4E4C-AA1D-CDE563D0D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F3B46-7F67-C14F-8641-C209A70FFB1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361025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888D1E-5925-1143-99A7-3873A3191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F89533-C867-5740-87D1-2661352FD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89DCAB-E7CB-8442-8710-861EB66DA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C02C5E-B133-B44F-A47D-F629A52A0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5CBB56-7D11-2C4C-82CD-A7FDA857D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F3B46-7F67-C14F-8641-C209A70FFB1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266879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FAF75C-394A-9048-9F86-EAC173EF0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1BDCA5-985F-3E45-9032-69676F437A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31E8BCF-ED01-C343-A33B-057A02DB2D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A054C4D-83DC-844A-920F-60CF36072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32715A-91C4-FF46-A182-3DF2E3DDB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5D0905-04EC-5241-962F-0C9C15216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F3B46-7F67-C14F-8641-C209A70FFB1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57148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22AD3A-E62B-FD49-B971-73B6D2D1D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38A4974-0E30-7A4F-86BF-0BA13B1BB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AF3E442-93B1-8D4D-95DC-C8C3014773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9F0BBE2-E227-594D-9C04-6E9E0D56D2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96CE8F2-A661-8541-A724-D28DA2F53B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261759A-B8D5-E446-A095-27948BE5C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08B36FE-681B-6343-9290-9438572FF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F11BD3D-985B-5747-941B-9D4E12F86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F3B46-7F67-C14F-8641-C209A70FFB1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946701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C7D700-8D3A-D34F-AAB4-7A30A5D35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6525F0B-37BC-7D47-BEEE-2831CBE48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E4A881C-5EF2-FF4C-82E1-023D51CC5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40797D3-0AD9-5340-966F-27CE25BA1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F3B46-7F67-C14F-8641-C209A70FFB1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201618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03F9593-BFE3-D144-886B-5F63B184D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6A6095D-03CB-5D45-B722-75768D5EA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EDFBF7-5DAF-9B4B-84A8-FD58EE7F2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F3B46-7F67-C14F-8641-C209A70FFB1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687767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E06EAC-9C83-8845-B35D-44AD572CD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300DC4-D39D-A34B-8F09-1F2DBD9B2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82A1118-7342-5D48-B6A1-C4F2246D35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8D2DDC7-13A9-944A-8591-9ADDD85AD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4890C4-4649-5046-83A1-2C7ECC931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94F510E-D49A-5948-B728-CDCD66F71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F3B46-7F67-C14F-8641-C209A70FFB1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626456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2478A2-A700-D049-BD1F-C98054BE8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14DDBD7-F5FA-5849-BBD8-61E3E0765E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638A68F-00FC-E648-A2BC-874891C6EE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B2157-3580-A142-8D82-41FD67909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5A7874-91CE-CF48-AC57-4F4303EFC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166DE3F-F23F-3541-A7DC-B1164C0B2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F3B46-7F67-C14F-8641-C209A70FFB1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483266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0EE8BE-A189-7243-AA2F-EC3A1FE9F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4293ED0-64BB-2241-B150-3E9877F91F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BC3FE2-217F-2349-AAA3-C705F9879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EF12AB-4205-4F4C-8120-4A8B5B2B1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871AD9-0DBC-BA48-B775-2B6F62D15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F3B46-7F67-C14F-8641-C209A70FFB1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451067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BBF2215-EC17-124F-8313-078AD60AFA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7E9B116-D2AB-1749-9837-0E0703B1AC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13C717-8059-AD42-AAFB-E4604971C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9BFCDB-7724-0944-8C82-051D4EFBF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A03586-D2E9-014E-8221-47F87A402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F3B46-7F67-C14F-8641-C209A70FFB1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45060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개체 틀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752128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ko-KR" altLang="en-US" dirty="0"/>
              <a:t>마스터 제목 스타일 편집</a:t>
            </a:r>
            <a:endParaRPr kumimoji="0" lang="en-US" dirty="0"/>
          </a:p>
        </p:txBody>
      </p:sp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590550" y="1394460"/>
            <a:ext cx="8153400" cy="5058876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 dirty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dirty="0"/>
              <a:t>둘째 수준</a:t>
            </a:r>
          </a:p>
          <a:p>
            <a:pPr lvl="2" eaLnBrk="1" latinLnBrk="0" hangingPunct="1"/>
            <a:r>
              <a:rPr kumimoji="0" lang="ko-KR" altLang="en-US" dirty="0"/>
              <a:t>셋째 수준</a:t>
            </a:r>
          </a:p>
          <a:p>
            <a:pPr lvl="3" eaLnBrk="1" latinLnBrk="0" hangingPunct="1"/>
            <a:r>
              <a:rPr kumimoji="0" lang="ko-KR" altLang="en-US" dirty="0"/>
              <a:t>넷째 수준</a:t>
            </a:r>
          </a:p>
          <a:p>
            <a:pPr lvl="4" eaLnBrk="1" latinLnBrk="0" hangingPunct="1"/>
            <a:r>
              <a:rPr kumimoji="0" lang="ko-KR" altLang="en-US" dirty="0"/>
              <a:t>다섯째 수준</a:t>
            </a:r>
            <a:endParaRPr kumimoji="0" lang="en-US" dirty="0"/>
          </a:p>
        </p:txBody>
      </p:sp>
      <p:sp>
        <p:nvSpPr>
          <p:cNvPr id="7" name="직사각형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-8725" y="1052736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590550" y="1052736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-8725" y="1036860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  <p:sldLayoutId id="2147483859" r:id="rId6"/>
    <p:sldLayoutId id="2147483860" r:id="rId7"/>
    <p:sldLayoutId id="2147483861" r:id="rId8"/>
    <p:sldLayoutId id="2147483862" r:id="rId9"/>
    <p:sldLayoutId id="2147483863" r:id="rId10"/>
    <p:sldLayoutId id="2147483864" r:id="rId11"/>
  </p:sldLayoutIdLst>
  <p:hf hdr="0" ftr="0" dt="0"/>
  <p:txStyles>
    <p:titleStyle>
      <a:lvl1pPr algn="l" rtl="0" eaLnBrk="1" latinLnBrk="1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1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1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1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1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1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1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1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1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1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162EE57-F337-A94A-A32C-AFBCDEBD4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3B02D4D-07E6-FF42-A5A9-7375E0DE6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D47E3B-5A58-1140-9D29-E10C38AE1E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46A949-ED97-9644-83B5-FD735BE96A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75AA41-EB5B-6740-A3D1-E5F1ABE202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FF3B46-7F67-C14F-8641-C209A70FFB1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1625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6" r:id="rId1"/>
    <p:sldLayoutId id="2147483867" r:id="rId2"/>
    <p:sldLayoutId id="2147483868" r:id="rId3"/>
    <p:sldLayoutId id="2147483869" r:id="rId4"/>
    <p:sldLayoutId id="2147483870" r:id="rId5"/>
    <p:sldLayoutId id="2147483871" r:id="rId6"/>
    <p:sldLayoutId id="2147483872" r:id="rId7"/>
    <p:sldLayoutId id="2147483873" r:id="rId8"/>
    <p:sldLayoutId id="2147483874" r:id="rId9"/>
    <p:sldLayoutId id="2147483875" r:id="rId10"/>
    <p:sldLayoutId id="2147483876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://223.194.131.27:808/static/image.jpg" TargetMode="Externa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835696" y="4038600"/>
            <a:ext cx="7003504" cy="1828800"/>
          </a:xfrm>
        </p:spPr>
        <p:txBody>
          <a:bodyPr/>
          <a:lstStyle/>
          <a:p>
            <a:r>
              <a:rPr lang="en-US" altLang="ko-KR" dirty="0"/>
              <a:t>6</a:t>
            </a:r>
            <a:r>
              <a:rPr lang="ko-KR" altLang="en-US" dirty="0"/>
              <a:t>장 </a:t>
            </a:r>
            <a:r>
              <a:rPr lang="ko-KR" altLang="en-US" dirty="0" err="1"/>
              <a:t>라즈베리파이로</a:t>
            </a:r>
            <a:r>
              <a:rPr lang="ko-KR" altLang="en-US" dirty="0"/>
              <a:t> 웹서버 만들기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070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296"/>
    </mc:Choice>
    <mc:Fallback xmlns="">
      <p:transition spd="slow" advTm="1029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21979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/>
              <a:t>1. </a:t>
            </a:r>
            <a:r>
              <a:rPr lang="ko-KR" altLang="en-US" dirty="0"/>
              <a:t>웹서버</a:t>
            </a:r>
            <a:r>
              <a:rPr lang="en-US" altLang="ko-KR" dirty="0"/>
              <a:t>, </a:t>
            </a:r>
            <a:r>
              <a:rPr lang="ko-KR" altLang="en-US" dirty="0"/>
              <a:t>웹 응용 서버 및 웹 서버 프레임워크를 이해한다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2. </a:t>
            </a:r>
            <a:r>
              <a:rPr lang="ko-KR" altLang="en-US" dirty="0"/>
              <a:t>플라스크를 설치할 수 있으며 기본적인 동작을 이해한다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3. URL</a:t>
            </a:r>
            <a:r>
              <a:rPr lang="ko-KR" altLang="en-US" dirty="0"/>
              <a:t>과 라우팅 테이블을 이해하고 활용할 수 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4. URL </a:t>
            </a:r>
            <a:r>
              <a:rPr lang="ko-KR" altLang="en-US" dirty="0"/>
              <a:t>일부를 </a:t>
            </a:r>
            <a:r>
              <a:rPr lang="en-US" altLang="ko-KR" dirty="0"/>
              <a:t>variable</a:t>
            </a:r>
            <a:r>
              <a:rPr lang="ko-KR" altLang="en-US" dirty="0"/>
              <a:t>로 사용할 수 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5. </a:t>
            </a:r>
            <a:r>
              <a:rPr lang="ko-KR" altLang="en-US" dirty="0"/>
              <a:t>템플릿 </a:t>
            </a:r>
            <a:r>
              <a:rPr lang="en-US" altLang="ko-KR" dirty="0"/>
              <a:t>HTML</a:t>
            </a:r>
            <a:r>
              <a:rPr lang="ko-KR" altLang="en-US" dirty="0"/>
              <a:t>과 </a:t>
            </a:r>
            <a:r>
              <a:rPr lang="ko-KR" altLang="en-US" dirty="0" err="1"/>
              <a:t>파이썬</a:t>
            </a:r>
            <a:r>
              <a:rPr lang="ko-KR" altLang="en-US" dirty="0"/>
              <a:t> 스크립트를 이용하여 동적 컨텐츠를 만들 수 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6. </a:t>
            </a:r>
            <a:r>
              <a:rPr lang="ko-KR" altLang="en-US" dirty="0"/>
              <a:t>플라스크에서 </a:t>
            </a:r>
            <a:r>
              <a:rPr lang="en-US" altLang="ko-KR" dirty="0"/>
              <a:t>GET</a:t>
            </a:r>
            <a:r>
              <a:rPr lang="ko-KR" altLang="en-US" dirty="0"/>
              <a:t>과 </a:t>
            </a:r>
            <a:r>
              <a:rPr lang="en-US" altLang="ko-KR" dirty="0"/>
              <a:t>POST</a:t>
            </a:r>
            <a:r>
              <a:rPr lang="ko-KR" altLang="en-US" dirty="0"/>
              <a:t>를 이용하여 데이터를 수신할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강의 목표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6481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B5E8A677-21D6-43AF-99AC-30CFE20CF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들어가기 전에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4B1BA24-DCC1-447A-8839-9A507DD01FB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복잡한 서버</a:t>
            </a:r>
            <a:r>
              <a:rPr lang="en-US" altLang="ko-KR" dirty="0"/>
              <a:t>-</a:t>
            </a:r>
            <a:r>
              <a:rPr lang="ko-KR" altLang="en-US" dirty="0"/>
              <a:t>클라이언트 시스템 이해</a:t>
            </a:r>
            <a:endParaRPr lang="en-US" altLang="ko-KR" dirty="0"/>
          </a:p>
          <a:p>
            <a:pPr lvl="1"/>
            <a:r>
              <a:rPr lang="ko-KR" altLang="en-US" dirty="0"/>
              <a:t>대부분 </a:t>
            </a:r>
            <a:r>
              <a:rPr lang="ko-KR" altLang="en-US"/>
              <a:t>처음으로 서버</a:t>
            </a:r>
            <a:r>
              <a:rPr lang="en-US" altLang="ko-KR" dirty="0"/>
              <a:t>-</a:t>
            </a:r>
            <a:r>
              <a:rPr lang="ko-KR" altLang="en-US" dirty="0"/>
              <a:t>클라이언트 시스템을 구축하기에 이 구조에 대해서 확실한 이해 필요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예제와 실습은 </a:t>
            </a:r>
            <a:r>
              <a:rPr lang="en-US" altLang="ko-KR" dirty="0" err="1"/>
              <a:t>myenv</a:t>
            </a:r>
            <a:r>
              <a:rPr lang="en-US" altLang="ko-KR" dirty="0"/>
              <a:t> </a:t>
            </a:r>
            <a:r>
              <a:rPr lang="ko-KR" altLang="en-US" dirty="0"/>
              <a:t>가상 환경에서 실행</a:t>
            </a:r>
            <a:endParaRPr lang="en-US" altLang="ko-KR" dirty="0"/>
          </a:p>
          <a:p>
            <a:pPr lvl="1"/>
            <a:r>
              <a:rPr lang="ko-KR" altLang="en-US" dirty="0" err="1"/>
              <a:t>파이썬</a:t>
            </a:r>
            <a:r>
              <a:rPr lang="ko-KR" altLang="en-US" dirty="0"/>
              <a:t> 코드 실행 전</a:t>
            </a:r>
            <a:r>
              <a:rPr lang="en-US" altLang="ko-KR" dirty="0"/>
              <a:t> </a:t>
            </a:r>
            <a:r>
              <a:rPr lang="ko-KR" altLang="en-US" dirty="0"/>
              <a:t>반드시 가상 환경 활성화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예제 </a:t>
            </a:r>
            <a:r>
              <a:rPr lang="ko-KR" altLang="en-US" dirty="0" err="1"/>
              <a:t>파이썬</a:t>
            </a:r>
            <a:r>
              <a:rPr lang="ko-KR" altLang="en-US" dirty="0"/>
              <a:t> 코드는 </a:t>
            </a:r>
            <a:r>
              <a:rPr lang="en-US" altLang="ko-KR" dirty="0"/>
              <a:t>ch06 </a:t>
            </a:r>
            <a:r>
              <a:rPr lang="ko-KR" altLang="en-US" dirty="0"/>
              <a:t>디렉터리에 저장하고 실행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7134A7-1647-4558-B85E-D57EF885A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FA5ABD5-64B8-445A-931D-B040DECAB7FD}"/>
              </a:ext>
            </a:extLst>
          </p:cNvPr>
          <p:cNvSpPr/>
          <p:nvPr/>
        </p:nvSpPr>
        <p:spPr>
          <a:xfrm>
            <a:off x="1043608" y="3861048"/>
            <a:ext cx="4572000" cy="5847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r>
              <a:rPr lang="en-US" altLang="ko-KR" sz="1600" b="1">
                <a:latin typeface="+mn-ea"/>
              </a:rPr>
              <a:t>pi@pi:~ $ source myenv/bin/activate</a:t>
            </a:r>
          </a:p>
          <a:p>
            <a:r>
              <a:rPr lang="en-US" altLang="ko-KR" sz="1600" b="1">
                <a:latin typeface="+mn-ea"/>
              </a:rPr>
              <a:t>(myenv) pi@pi:~ $</a:t>
            </a:r>
            <a:endParaRPr lang="ko-KR" altLang="en-US" sz="1600" b="1">
              <a:latin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D54256-F654-4A32-A5D1-0BB5771D1345}"/>
              </a:ext>
            </a:extLst>
          </p:cNvPr>
          <p:cNvSpPr/>
          <p:nvPr/>
        </p:nvSpPr>
        <p:spPr>
          <a:xfrm>
            <a:off x="1043608" y="5373216"/>
            <a:ext cx="4572000" cy="8309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r>
              <a:rPr lang="pt-BR" altLang="ko-KR" sz="1600" b="1" dirty="0">
                <a:latin typeface="+mn-ea"/>
              </a:rPr>
              <a:t>(myenv) pi@pi:~ $ mkdir ch0</a:t>
            </a:r>
            <a:r>
              <a:rPr lang="en-US" altLang="ko-KR" sz="1600" b="1" dirty="0">
                <a:latin typeface="+mn-ea"/>
              </a:rPr>
              <a:t>6</a:t>
            </a:r>
            <a:endParaRPr lang="pt-BR" altLang="ko-KR" sz="1600" b="1" dirty="0">
              <a:latin typeface="+mn-ea"/>
            </a:endParaRPr>
          </a:p>
          <a:p>
            <a:r>
              <a:rPr lang="nb-NO" altLang="ko-KR" sz="1600" b="1" dirty="0">
                <a:latin typeface="+mn-ea"/>
              </a:rPr>
              <a:t>(myenv) pi@pi:~ $ cd ch0</a:t>
            </a:r>
            <a:r>
              <a:rPr lang="en-US" altLang="ko-KR" sz="1600" b="1" dirty="0">
                <a:latin typeface="+mn-ea"/>
              </a:rPr>
              <a:t>6</a:t>
            </a:r>
            <a:endParaRPr lang="nb-NO" altLang="ko-KR" sz="1600" b="1" dirty="0">
              <a:latin typeface="+mn-ea"/>
            </a:endParaRPr>
          </a:p>
          <a:p>
            <a:r>
              <a:rPr lang="en-US" altLang="ko-KR" sz="1600" b="1" dirty="0">
                <a:latin typeface="+mn-ea"/>
              </a:rPr>
              <a:t>(</a:t>
            </a:r>
            <a:r>
              <a:rPr lang="en-US" altLang="ko-KR" sz="1600" b="1" dirty="0" err="1">
                <a:latin typeface="+mn-ea"/>
              </a:rPr>
              <a:t>myenv</a:t>
            </a:r>
            <a:r>
              <a:rPr lang="en-US" altLang="ko-KR" sz="1600" b="1" dirty="0">
                <a:latin typeface="+mn-ea"/>
              </a:rPr>
              <a:t>) </a:t>
            </a:r>
            <a:r>
              <a:rPr lang="en-US" altLang="ko-KR" sz="1600" b="1" dirty="0" err="1">
                <a:latin typeface="+mn-ea"/>
              </a:rPr>
              <a:t>pi@pi</a:t>
            </a:r>
            <a:r>
              <a:rPr lang="en-US" altLang="ko-KR" sz="1600" b="1" dirty="0">
                <a:latin typeface="+mn-ea"/>
              </a:rPr>
              <a:t>:~/ch06 $</a:t>
            </a:r>
            <a:endParaRPr lang="ko-KR" altLang="en-US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26082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DD9EFA0-4614-462F-995B-48B75FADDF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F38A769-70BA-4F89-B47C-1A0B9D0F3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6.1 </a:t>
            </a:r>
            <a:r>
              <a:rPr lang="ko-KR" altLang="en-US"/>
              <a:t>웹 </a:t>
            </a:r>
            <a:r>
              <a:rPr lang="ko-KR" altLang="en-US" dirty="0"/>
              <a:t>서비스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05BC2C-C8A9-4790-A282-320D4712492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3458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425D53-4E8D-40BE-A260-4492208DE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웹 서버와 웹 응용 서버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353285-EB16-44EB-A445-E8E7B9FA0FC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웹서버</a:t>
            </a:r>
            <a:endParaRPr lang="en-US" altLang="ko-KR" dirty="0"/>
          </a:p>
          <a:p>
            <a:pPr lvl="1"/>
            <a:r>
              <a:rPr lang="ko-KR" altLang="en-US" dirty="0"/>
              <a:t>웹  브라우저로부터 웹 문서에 대한 요청을 받고</a:t>
            </a:r>
            <a:r>
              <a:rPr lang="en-US" altLang="ko-KR" dirty="0"/>
              <a:t>, </a:t>
            </a:r>
            <a:r>
              <a:rPr lang="ko-KR" altLang="en-US" dirty="0"/>
              <a:t>웹 브라우저로 웹 문서를 전송해주는 소프트웨어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6A5CE5-453D-4668-B5CE-E7C1301C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5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5F7E714-38B3-4EC6-9BF3-4C4A590E4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2636912"/>
            <a:ext cx="7147552" cy="3843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466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631445-201B-4CE2-978A-487DC2E75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웹 서버와 웹 응용 서버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48810D-764C-4077-80D1-D977380D4E2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웹 서버</a:t>
            </a:r>
            <a:endParaRPr lang="en-US" altLang="ko-KR" dirty="0"/>
          </a:p>
          <a:p>
            <a:pPr lvl="1" fontAlgn="base"/>
            <a:r>
              <a:rPr lang="ko-KR" altLang="en-US" dirty="0"/>
              <a:t>정적 콘텐츠</a:t>
            </a:r>
            <a:endParaRPr lang="en-US" altLang="ko-KR" dirty="0"/>
          </a:p>
          <a:p>
            <a:pPr lvl="2" fontAlgn="base"/>
            <a:r>
              <a:rPr lang="ko-KR" altLang="en-US" dirty="0"/>
              <a:t>미리 만들어진 콘텐츠</a:t>
            </a:r>
            <a:r>
              <a:rPr lang="en-US" altLang="ko-KR" dirty="0"/>
              <a:t>. html </a:t>
            </a:r>
            <a:r>
              <a:rPr lang="ko-KR" altLang="en-US" dirty="0"/>
              <a:t>파일</a:t>
            </a:r>
            <a:r>
              <a:rPr lang="en-US" altLang="ko-KR" dirty="0"/>
              <a:t>, CSS </a:t>
            </a:r>
            <a:r>
              <a:rPr lang="ko-KR" altLang="en-US" dirty="0"/>
              <a:t>파일</a:t>
            </a:r>
            <a:r>
              <a:rPr lang="en-US" altLang="ko-KR" dirty="0"/>
              <a:t>, </a:t>
            </a:r>
            <a:r>
              <a:rPr lang="ko-KR" altLang="en-US" dirty="0"/>
              <a:t>자바스크립트 파일</a:t>
            </a:r>
            <a:r>
              <a:rPr lang="en-US" altLang="ko-KR" dirty="0"/>
              <a:t>, </a:t>
            </a:r>
            <a:r>
              <a:rPr lang="ko-KR" altLang="en-US" dirty="0"/>
              <a:t>이미지 파일 등</a:t>
            </a:r>
          </a:p>
          <a:p>
            <a:pPr lvl="1" fontAlgn="base"/>
            <a:r>
              <a:rPr lang="ko-KR" altLang="en-US" dirty="0"/>
              <a:t>동적 콘텐츠</a:t>
            </a:r>
            <a:endParaRPr lang="en-US" altLang="ko-KR" dirty="0"/>
          </a:p>
          <a:p>
            <a:pPr lvl="2" fontAlgn="base"/>
            <a:r>
              <a:rPr lang="ko-KR" altLang="en-US" dirty="0"/>
              <a:t>웹 브라우저로부터의 요청에 따라 가변적으로 만들어지는 콘텐츠(HTML 텍스트, 이미지 등)</a:t>
            </a:r>
            <a:endParaRPr lang="en-US" altLang="ko-KR" dirty="0"/>
          </a:p>
          <a:p>
            <a:pPr fontAlgn="base"/>
            <a:r>
              <a:rPr lang="ko-KR" altLang="en-US" dirty="0"/>
              <a:t>웹 응용 서버</a:t>
            </a:r>
          </a:p>
          <a:p>
            <a:pPr lvl="1"/>
            <a:r>
              <a:rPr lang="ko-KR" altLang="en-US" dirty="0"/>
              <a:t>동적 콘텐츠를 생성하는 서버</a:t>
            </a:r>
            <a:endParaRPr lang="en-US" altLang="ko-KR" dirty="0"/>
          </a:p>
          <a:p>
            <a:pPr lvl="1"/>
            <a:r>
              <a:rPr lang="en-US" altLang="ko-KR" dirty="0"/>
              <a:t>Tomcat, JBoss, </a:t>
            </a:r>
            <a:r>
              <a:rPr lang="en-US" altLang="ko-KR" dirty="0" err="1"/>
              <a:t>Jeus</a:t>
            </a:r>
            <a:r>
              <a:rPr lang="en-US" altLang="ko-KR" dirty="0"/>
              <a:t>, Web Sphere </a:t>
            </a:r>
            <a:r>
              <a:rPr lang="ko-KR" altLang="en-US" dirty="0"/>
              <a:t>등</a:t>
            </a:r>
            <a:endParaRPr lang="en-US" altLang="ko-KR" dirty="0"/>
          </a:p>
          <a:p>
            <a:pPr lvl="1"/>
            <a:r>
              <a:rPr lang="ko-KR" altLang="en-US" dirty="0"/>
              <a:t>동적 콘텐츠의 사례</a:t>
            </a:r>
            <a:endParaRPr lang="en-US" altLang="ko-KR" dirty="0"/>
          </a:p>
          <a:p>
            <a:pPr lvl="2" fontAlgn="base"/>
            <a:r>
              <a:rPr lang="ko-KR" altLang="en-US" dirty="0"/>
              <a:t>학점이 </a:t>
            </a:r>
            <a:r>
              <a:rPr lang="en-US" altLang="ko-KR" dirty="0"/>
              <a:t>4.0</a:t>
            </a:r>
            <a:r>
              <a:rPr lang="ko-KR" altLang="en-US" dirty="0"/>
              <a:t>을 넘는 </a:t>
            </a:r>
            <a:r>
              <a:rPr lang="en-US" altLang="ko-KR" dirty="0"/>
              <a:t>2</a:t>
            </a:r>
            <a:r>
              <a:rPr lang="ko-KR" altLang="en-US" dirty="0"/>
              <a:t>학년 학생들의 명단 요청</a:t>
            </a:r>
          </a:p>
          <a:p>
            <a:pPr lvl="2" fontAlgn="base"/>
            <a:r>
              <a:rPr lang="ko-KR" altLang="en-US" dirty="0"/>
              <a:t>지난 </a:t>
            </a:r>
            <a:r>
              <a:rPr lang="en-US" altLang="ko-KR" dirty="0"/>
              <a:t>10</a:t>
            </a:r>
            <a:r>
              <a:rPr lang="ko-KR" altLang="en-US" dirty="0"/>
              <a:t>년 동안 가장 많이 팔린 자동차</a:t>
            </a:r>
          </a:p>
          <a:p>
            <a:pPr lvl="2" fontAlgn="base"/>
            <a:r>
              <a:rPr lang="ko-KR" altLang="en-US" dirty="0"/>
              <a:t>사진 이미지를 보내고 이 이미지에 담긴 사람들의 이름</a:t>
            </a:r>
          </a:p>
          <a:p>
            <a:pPr lvl="4"/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A804EB-8D40-4C32-AB23-EA5910C11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0532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D331DB-869F-40A9-A28D-7B664E3AE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웹 서버 사용 현황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7BE5AD-BD5A-45E1-AF89-E992D006BCB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en-US" altLang="ko-KR"/>
              <a:t>W3Techs </a:t>
            </a:r>
            <a:r>
              <a:rPr lang="en-US" altLang="ko-KR" dirty="0"/>
              <a:t>Web Server Market Report </a:t>
            </a:r>
            <a:r>
              <a:rPr lang="ko-KR" altLang="en-US" dirty="0"/>
              <a:t>제공</a:t>
            </a:r>
            <a:r>
              <a:rPr lang="en-US" altLang="ko-KR" dirty="0"/>
              <a:t>(http://w3techs.com/technologies/overview/web_server)</a:t>
            </a:r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F3199E-E66F-4A58-B394-1E7DC0A55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7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8D7531A-3DE1-4CA2-8A6C-4EC49A2F9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2204864"/>
            <a:ext cx="7128792" cy="154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232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3D2686-819A-4AF3-86D2-FC8DE43EB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웹 서버 프레임워크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BF1FD2-7CC6-4049-A97D-EBAC859D34A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현대 웹서비스의 특징</a:t>
            </a:r>
            <a:endParaRPr lang="en-US" altLang="ko-KR" dirty="0"/>
          </a:p>
          <a:p>
            <a:pPr lvl="1"/>
            <a:r>
              <a:rPr lang="ko-KR" altLang="en-US" dirty="0"/>
              <a:t>동적 컨텐츠가 대부분임</a:t>
            </a:r>
            <a:endParaRPr lang="en-US" altLang="ko-KR" dirty="0"/>
          </a:p>
          <a:p>
            <a:pPr lvl="1"/>
            <a:r>
              <a:rPr lang="ko-KR" altLang="en-US" dirty="0"/>
              <a:t>웹 서버와 웹 응용 서버는 </a:t>
            </a:r>
            <a:r>
              <a:rPr lang="ko-KR" altLang="en-US"/>
              <a:t>함께 존재</a:t>
            </a:r>
            <a:endParaRPr lang="en-US" altLang="ko-KR"/>
          </a:p>
          <a:p>
            <a:pPr lvl="1"/>
            <a:endParaRPr lang="ko-KR" altLang="en-US" dirty="0"/>
          </a:p>
          <a:p>
            <a:r>
              <a:rPr lang="ko-KR" altLang="en-US" dirty="0"/>
              <a:t>웹 서버 프레임워크</a:t>
            </a:r>
            <a:endParaRPr lang="en-US" altLang="ko-KR" dirty="0"/>
          </a:p>
          <a:p>
            <a:pPr lvl="1"/>
            <a:r>
              <a:rPr lang="ko-KR" altLang="en-US" dirty="0"/>
              <a:t>웹 서버와 웹 응용 서버 플랫폼을 합친 소프트웨어</a:t>
            </a:r>
            <a:endParaRPr lang="en-US" altLang="ko-KR" dirty="0"/>
          </a:p>
          <a:p>
            <a:pPr lvl="1"/>
            <a:r>
              <a:rPr lang="ko-KR" altLang="en-US" dirty="0"/>
              <a:t>대표적인 웹 </a:t>
            </a:r>
            <a:r>
              <a:rPr lang="ko-KR" altLang="en-US"/>
              <a:t>서버 프레임워크</a:t>
            </a:r>
            <a:endParaRPr lang="en-US" altLang="ko-KR" dirty="0"/>
          </a:p>
          <a:p>
            <a:pPr lvl="2"/>
            <a:r>
              <a:rPr lang="en-US" altLang="ko-KR" dirty="0"/>
              <a:t>Spring: </a:t>
            </a:r>
            <a:r>
              <a:rPr lang="ko-KR" altLang="en-US" dirty="0"/>
              <a:t>자바 기반 프레임워크</a:t>
            </a:r>
          </a:p>
          <a:p>
            <a:pPr lvl="2"/>
            <a:r>
              <a:rPr lang="en-US" altLang="ko-KR" dirty="0"/>
              <a:t>Express.js: </a:t>
            </a:r>
            <a:r>
              <a:rPr lang="ko-KR" altLang="en-US" dirty="0"/>
              <a:t>자바스크립트 기반 프레임워크</a:t>
            </a:r>
            <a:endParaRPr lang="en-US" altLang="ko-KR" dirty="0"/>
          </a:p>
          <a:p>
            <a:pPr lvl="2"/>
            <a:r>
              <a:rPr lang="en-US" altLang="ko-KR" dirty="0"/>
              <a:t>Django, Flask: </a:t>
            </a:r>
            <a:r>
              <a:rPr lang="ko-KR" altLang="en-US" dirty="0" err="1"/>
              <a:t>파이썬</a:t>
            </a:r>
            <a:r>
              <a:rPr lang="ko-KR" altLang="en-US" dirty="0"/>
              <a:t> 기반 프레임워크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CB95C2-C1DF-4119-B2FA-FC7B8AEA9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0848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16EE817-FB77-43FF-83DE-20F227AE3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6.2 </a:t>
            </a:r>
            <a:r>
              <a:rPr lang="ko-KR" altLang="en-US"/>
              <a:t>플라스크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500C18-0343-4B08-8CA4-FEBB6BD719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071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E71A9B-773B-4B01-935A-A3DECCDAC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플라스크 개요와 기본 동작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7E1CED-A8BA-4432-8A29-57DDAF64CE6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플라스크</a:t>
            </a:r>
            <a:endParaRPr lang="en-US" altLang="ko-KR" dirty="0"/>
          </a:p>
          <a:p>
            <a:pPr lvl="1"/>
            <a:r>
              <a:rPr lang="ko-KR" altLang="en-US" dirty="0" err="1"/>
              <a:t>파이썬</a:t>
            </a:r>
            <a:r>
              <a:rPr lang="ko-KR" altLang="en-US" dirty="0"/>
              <a:t> 언어로 작성된 웹 서버 프레임워크</a:t>
            </a:r>
          </a:p>
          <a:p>
            <a:pPr lvl="1"/>
            <a:r>
              <a:rPr lang="ko-KR" altLang="en-US" dirty="0" err="1"/>
              <a:t>파이썬</a:t>
            </a:r>
            <a:r>
              <a:rPr lang="ko-KR" altLang="en-US" dirty="0"/>
              <a:t> 언어로 웹 서버를 쉽게 구축하고 웹 서버 응용프로그램 작성을 쉽게 하는 다양한 </a:t>
            </a:r>
            <a:r>
              <a:rPr lang="ko-KR" altLang="en-US" dirty="0" err="1"/>
              <a:t>파이썬</a:t>
            </a:r>
            <a:r>
              <a:rPr lang="ko-KR" altLang="en-US" dirty="0"/>
              <a:t> 라이브러리와 모듈을 제공</a:t>
            </a:r>
          </a:p>
          <a:p>
            <a:pPr lvl="1"/>
            <a:r>
              <a:rPr lang="ko-KR" altLang="en-US" dirty="0"/>
              <a:t>마이크로 웹 서버 </a:t>
            </a:r>
            <a:r>
              <a:rPr lang="ko-KR" altLang="en-US" dirty="0" err="1"/>
              <a:t>프레임워크라고</a:t>
            </a:r>
            <a:r>
              <a:rPr lang="ko-KR" altLang="en-US" dirty="0"/>
              <a:t> </a:t>
            </a:r>
            <a:r>
              <a:rPr lang="ko-KR" altLang="en-US"/>
              <a:t>부르기도 함</a:t>
            </a:r>
            <a:endParaRPr lang="en-US" altLang="ko-KR"/>
          </a:p>
          <a:p>
            <a:pPr lvl="2"/>
            <a:r>
              <a:rPr lang="ko-KR" altLang="en-US"/>
              <a:t>이름에서 </a:t>
            </a:r>
            <a:r>
              <a:rPr lang="ko-KR" altLang="en-US" dirty="0"/>
              <a:t>알 수 있듯이 소형 웹 서버를 구축하는데 매우 적합한 </a:t>
            </a:r>
            <a:r>
              <a:rPr lang="ko-KR" altLang="en-US" dirty="0" err="1"/>
              <a:t>파이썬</a:t>
            </a:r>
            <a:r>
              <a:rPr lang="ko-KR" altLang="en-US" dirty="0"/>
              <a:t> 전용 프레임워크</a:t>
            </a:r>
            <a:endParaRPr lang="en-US" altLang="ko-KR" dirty="0"/>
          </a:p>
          <a:p>
            <a:pPr lvl="1"/>
            <a:r>
              <a:rPr lang="en-US" altLang="ko-KR" dirty="0"/>
              <a:t>[URL, </a:t>
            </a:r>
            <a:r>
              <a:rPr lang="ko-KR" altLang="en-US" dirty="0"/>
              <a:t>함수</a:t>
            </a:r>
            <a:r>
              <a:rPr lang="en-US" altLang="ko-KR" dirty="0"/>
              <a:t>]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라우팅 테이블을 </a:t>
            </a:r>
            <a:r>
              <a:rPr lang="ko-KR" altLang="en-US"/>
              <a:t>가지고 있음</a:t>
            </a:r>
            <a:endParaRPr lang="en-US" altLang="ko-KR"/>
          </a:p>
          <a:p>
            <a:pPr lvl="2"/>
            <a:r>
              <a:rPr lang="ko-KR" altLang="en-US"/>
              <a:t>특정</a:t>
            </a:r>
            <a:r>
              <a:rPr lang="en-US" altLang="ko-KR"/>
              <a:t> </a:t>
            </a:r>
            <a:r>
              <a:rPr lang="en-US" altLang="ko-KR" dirty="0"/>
              <a:t>URL</a:t>
            </a:r>
            <a:r>
              <a:rPr lang="ko-KR" altLang="en-US" dirty="0"/>
              <a:t>에 대한 요청이 들어오면 대응하는 함수를 호출하여 동적 컨텐츠를 생성 및  전송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649D79-F812-4EEF-BEC7-3E663DD97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171300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E69010-12B1-45AF-802A-8DAF5CA27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플라스크 개요와 기본 동작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FC2262-C9B6-4D47-8D02-2926A5D5CC2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353503"/>
            <a:ext cx="8153400" cy="5040560"/>
          </a:xfrm>
        </p:spPr>
        <p:txBody>
          <a:bodyPr/>
          <a:lstStyle/>
          <a:p>
            <a:r>
              <a:rPr lang="ko-KR" altLang="en-US" dirty="0"/>
              <a:t>플라스크 동작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FE64DA-487A-40E0-84C8-8AD5438E4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11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EDE54ED-3FEE-4D30-A10D-C435562FE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844824"/>
            <a:ext cx="6812584" cy="461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2547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D368EB-A650-4908-8A22-BF3B51768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플라스크 설치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216CA6-560B-4709-BB53-7362DA6C263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ko-KR" altLang="en-US"/>
              <a:t>플라스크 설치</a:t>
            </a:r>
            <a:endParaRPr lang="en-US" altLang="ko-KR" dirty="0"/>
          </a:p>
          <a:p>
            <a:pPr lvl="1"/>
            <a:endParaRPr lang="en-US" altLang="ko-KR" dirty="0"/>
          </a:p>
          <a:p>
            <a:pPr lvl="2"/>
            <a:r>
              <a:rPr lang="en-US" altLang="ko-KR"/>
              <a:t>~/</a:t>
            </a:r>
            <a:r>
              <a:rPr lang="en-US" altLang="ko-KR" dirty="0" err="1"/>
              <a:t>myenv</a:t>
            </a:r>
            <a:r>
              <a:rPr lang="en-US" altLang="ko-KR" dirty="0"/>
              <a:t>/lib/python3.13/site-packages</a:t>
            </a:r>
            <a:r>
              <a:rPr lang="ko-KR" altLang="en-US"/>
              <a:t>에 라이브러리 설치</a:t>
            </a:r>
            <a:endParaRPr lang="en-US" altLang="ko-KR" dirty="0"/>
          </a:p>
          <a:p>
            <a:pPr lvl="1"/>
            <a:r>
              <a:rPr lang="ko-KR" altLang="en-US"/>
              <a:t>설치 여부 확인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r>
              <a:rPr lang="ko-KR" altLang="en-US"/>
              <a:t>설치된 파이썬 모듈 확인 </a:t>
            </a:r>
            <a:r>
              <a:rPr lang="en-US" altLang="ko-KR"/>
              <a:t>- flask</a:t>
            </a:r>
            <a:r>
              <a:rPr lang="ko-KR" altLang="en-US"/>
              <a:t> 디렉터리 방문</a:t>
            </a:r>
            <a:endParaRPr lang="en-US" altLang="ko-KR"/>
          </a:p>
          <a:p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EE0F27-DDAE-4C4D-8400-27379469E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12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5BE1B04-1FC2-4D4A-B262-D8ED446F204F}"/>
              </a:ext>
            </a:extLst>
          </p:cNvPr>
          <p:cNvSpPr/>
          <p:nvPr/>
        </p:nvSpPr>
        <p:spPr>
          <a:xfrm>
            <a:off x="1348424" y="1772816"/>
            <a:ext cx="6967992" cy="307777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nb-NO" altLang="ko-KR" sz="1400" b="1" dirty="0"/>
              <a:t>(myenv) pi@pi:~ $ pip install flask</a:t>
            </a:r>
            <a:endParaRPr lang="en-US" altLang="ko-KR" sz="14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34EF75C-F690-4097-AB47-F13BA8F13E47}"/>
              </a:ext>
            </a:extLst>
          </p:cNvPr>
          <p:cNvSpPr/>
          <p:nvPr/>
        </p:nvSpPr>
        <p:spPr>
          <a:xfrm>
            <a:off x="1370619" y="2844224"/>
            <a:ext cx="6967992" cy="1169551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b="1" dirty="0"/>
              <a:t>(</a:t>
            </a:r>
            <a:r>
              <a:rPr lang="en-US" altLang="ko-KR" sz="1400" b="1" dirty="0" err="1"/>
              <a:t>myenv</a:t>
            </a:r>
            <a:r>
              <a:rPr lang="en-US" altLang="ko-KR" sz="1400" b="1" dirty="0"/>
              <a:t>) </a:t>
            </a:r>
            <a:r>
              <a:rPr lang="en-US" altLang="ko-KR" sz="1400" b="1" dirty="0" err="1"/>
              <a:t>pi@pi</a:t>
            </a:r>
            <a:r>
              <a:rPr lang="en-US" altLang="ko-KR" sz="1400" b="1" dirty="0"/>
              <a:t>:~ $ cd ./</a:t>
            </a:r>
            <a:r>
              <a:rPr lang="en-US" altLang="ko-KR" sz="1400" b="1" dirty="0" err="1"/>
              <a:t>myenv</a:t>
            </a:r>
            <a:r>
              <a:rPr lang="en-US" altLang="ko-KR" sz="1400" b="1" dirty="0"/>
              <a:t>/lib/python3.13/site-packages</a:t>
            </a:r>
          </a:p>
          <a:p>
            <a:r>
              <a:rPr lang="nb-NO" altLang="ko-KR" sz="1400" dirty="0"/>
              <a:t>(myenv) pi@pi:~/myenv/lib/python3.13/site-packages $ </a:t>
            </a:r>
            <a:r>
              <a:rPr lang="nb-NO" altLang="ko-KR" sz="1400" b="1" dirty="0"/>
              <a:t>ls ┃ grep flask</a:t>
            </a:r>
          </a:p>
          <a:p>
            <a:r>
              <a:rPr lang="en-US" altLang="ko-KR" sz="1400" dirty="0"/>
              <a:t>flask</a:t>
            </a:r>
          </a:p>
          <a:p>
            <a:r>
              <a:rPr lang="en-US" altLang="ko-KR" sz="1400" dirty="0"/>
              <a:t>flask-3.1.3.dist-info</a:t>
            </a:r>
          </a:p>
          <a:p>
            <a:r>
              <a:rPr lang="nb-NO" altLang="ko-KR" sz="1400" b="1" dirty="0"/>
              <a:t>(myenv) pi@pi:~/myenv/lib/python3.13/site-packages $</a:t>
            </a:r>
            <a:endParaRPr lang="en-US" altLang="ko-KR" sz="14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794E32A-E475-4876-924A-26F2EDBC8F14}"/>
              </a:ext>
            </a:extLst>
          </p:cNvPr>
          <p:cNvSpPr/>
          <p:nvPr/>
        </p:nvSpPr>
        <p:spPr>
          <a:xfrm>
            <a:off x="1370618" y="4581128"/>
            <a:ext cx="7017805" cy="2075294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nb-NO" altLang="ko-KR" sz="1400" b="1" dirty="0"/>
              <a:t>(</a:t>
            </a:r>
            <a:r>
              <a:rPr lang="nb-NO" altLang="ko-KR" sz="1400" b="1" dirty="0" err="1"/>
              <a:t>myenv</a:t>
            </a:r>
            <a:r>
              <a:rPr lang="nb-NO" altLang="ko-KR" sz="1400" b="1" dirty="0"/>
              <a:t>) </a:t>
            </a:r>
            <a:r>
              <a:rPr lang="nb-NO" altLang="ko-KR" sz="1400" b="1" dirty="0" err="1"/>
              <a:t>pi@pi</a:t>
            </a:r>
            <a:r>
              <a:rPr lang="nb-NO" altLang="ko-KR" sz="1400" b="1" dirty="0"/>
              <a:t>:~/</a:t>
            </a:r>
            <a:r>
              <a:rPr lang="nb-NO" altLang="ko-KR" sz="1400" b="1" dirty="0" err="1"/>
              <a:t>myenv</a:t>
            </a:r>
            <a:r>
              <a:rPr lang="nb-NO" altLang="ko-KR" sz="1400" b="1" dirty="0"/>
              <a:t>/</a:t>
            </a:r>
            <a:r>
              <a:rPr lang="nb-NO" altLang="ko-KR" sz="1400" b="1" dirty="0" err="1"/>
              <a:t>lib</a:t>
            </a:r>
            <a:r>
              <a:rPr lang="nb-NO" altLang="ko-KR" sz="1400" b="1" dirty="0"/>
              <a:t>/python3.13/</a:t>
            </a:r>
            <a:r>
              <a:rPr lang="nb-NO" altLang="ko-KR" sz="1400" b="1" dirty="0" err="1"/>
              <a:t>site-packages</a:t>
            </a:r>
            <a:r>
              <a:rPr lang="nb-NO" altLang="ko-KR" sz="1400" b="1" dirty="0"/>
              <a:t> $ cd flask</a:t>
            </a:r>
          </a:p>
          <a:p>
            <a:r>
              <a:rPr lang="nb-NO" altLang="ko-KR" sz="1400" b="1" dirty="0"/>
              <a:t>(</a:t>
            </a:r>
            <a:r>
              <a:rPr lang="nb-NO" altLang="ko-KR" sz="1400" b="1" dirty="0" err="1"/>
              <a:t>myenv</a:t>
            </a:r>
            <a:r>
              <a:rPr lang="nb-NO" altLang="ko-KR" sz="1400" b="1" dirty="0"/>
              <a:t>) </a:t>
            </a:r>
            <a:r>
              <a:rPr lang="nb-NO" altLang="ko-KR" sz="1400" b="1" dirty="0" err="1"/>
              <a:t>pi@pi</a:t>
            </a:r>
            <a:r>
              <a:rPr lang="nb-NO" altLang="ko-KR" sz="1400" b="1" dirty="0"/>
              <a:t>:~/</a:t>
            </a:r>
            <a:r>
              <a:rPr lang="nb-NO" altLang="ko-KR" sz="1400" b="1" dirty="0" err="1"/>
              <a:t>myenv</a:t>
            </a:r>
            <a:r>
              <a:rPr lang="nb-NO" altLang="ko-KR" sz="1400" b="1" dirty="0"/>
              <a:t>/</a:t>
            </a:r>
            <a:r>
              <a:rPr lang="nb-NO" altLang="ko-KR" sz="1400" b="1" dirty="0" err="1"/>
              <a:t>lib</a:t>
            </a:r>
            <a:r>
              <a:rPr lang="nb-NO" altLang="ko-KR" sz="1400" b="1" dirty="0"/>
              <a:t>/python3.13/</a:t>
            </a:r>
            <a:r>
              <a:rPr lang="nb-NO" altLang="ko-KR" sz="1400" b="1" dirty="0" err="1"/>
              <a:t>site-packages</a:t>
            </a:r>
            <a:r>
              <a:rPr lang="nb-NO" altLang="ko-KR" sz="1400" b="1" dirty="0"/>
              <a:t>/flask $ </a:t>
            </a:r>
            <a:r>
              <a:rPr lang="nb-NO" altLang="ko-KR" sz="1400" b="1" dirty="0" err="1"/>
              <a:t>ls</a:t>
            </a:r>
            <a:endParaRPr lang="nb-NO" altLang="ko-KR" sz="1400" b="1" dirty="0"/>
          </a:p>
          <a:p>
            <a:r>
              <a:rPr lang="en-US" altLang="ko-KR" sz="1400" dirty="0" err="1">
                <a:solidFill>
                  <a:srgbClr val="C00000"/>
                </a:solidFill>
              </a:rPr>
              <a:t>app.py</a:t>
            </a:r>
            <a:r>
              <a:rPr lang="en-US" altLang="ko-KR" sz="1400" dirty="0">
                <a:solidFill>
                  <a:srgbClr val="C00000"/>
                </a:solidFill>
              </a:rPr>
              <a:t> </a:t>
            </a:r>
            <a:r>
              <a:rPr lang="en-US" altLang="ko-KR" sz="1400" dirty="0"/>
              <a:t>       </a:t>
            </a:r>
            <a:r>
              <a:rPr lang="en-US" altLang="ko-KR" sz="1400" dirty="0" err="1"/>
              <a:t>globals.py</a:t>
            </a:r>
            <a:r>
              <a:rPr lang="en-US" altLang="ko-KR" sz="1400" dirty="0"/>
              <a:t> __</a:t>
            </a:r>
            <a:r>
              <a:rPr lang="en-US" altLang="ko-KR" sz="1400" dirty="0" err="1"/>
              <a:t>pycache</a:t>
            </a:r>
            <a:r>
              <a:rPr lang="en-US" altLang="ko-KR" sz="1400" dirty="0"/>
              <a:t>__ </a:t>
            </a:r>
            <a:r>
              <a:rPr lang="en-US" altLang="ko-KR" sz="1400" dirty="0" err="1"/>
              <a:t>testing.py</a:t>
            </a:r>
            <a:endParaRPr lang="en-US" altLang="ko-KR" sz="1400" dirty="0"/>
          </a:p>
          <a:p>
            <a:r>
              <a:rPr lang="en-US" altLang="ko-KR" sz="1400" dirty="0" err="1"/>
              <a:t>blueprints.py</a:t>
            </a:r>
            <a:r>
              <a:rPr lang="en-US" altLang="ko-KR" sz="1400" dirty="0"/>
              <a:t> </a:t>
            </a:r>
            <a:r>
              <a:rPr lang="en-US" altLang="ko-KR" sz="1400" dirty="0" err="1"/>
              <a:t>helpers.py</a:t>
            </a:r>
            <a:r>
              <a:rPr lang="en-US" altLang="ko-KR" sz="1400" dirty="0"/>
              <a:t> </a:t>
            </a:r>
            <a:r>
              <a:rPr lang="en-US" altLang="ko-KR" sz="1400" dirty="0" err="1"/>
              <a:t>py.typed</a:t>
            </a:r>
            <a:r>
              <a:rPr lang="en-US" altLang="ko-KR" sz="1400" dirty="0"/>
              <a:t>       </a:t>
            </a:r>
            <a:r>
              <a:rPr lang="en-US" altLang="ko-KR" sz="1400" dirty="0" err="1"/>
              <a:t>typing.py</a:t>
            </a:r>
            <a:endParaRPr lang="en-US" altLang="ko-KR" sz="1400" dirty="0"/>
          </a:p>
          <a:p>
            <a:r>
              <a:rPr lang="en-US" altLang="ko-KR" sz="1400" dirty="0" err="1"/>
              <a:t>cli.py</a:t>
            </a:r>
            <a:r>
              <a:rPr lang="en-US" altLang="ko-KR" sz="1400" dirty="0"/>
              <a:t>        __</a:t>
            </a:r>
            <a:r>
              <a:rPr lang="en-US" altLang="ko-KR" sz="1400" dirty="0" err="1"/>
              <a:t>init</a:t>
            </a:r>
            <a:r>
              <a:rPr lang="en-US" altLang="ko-KR" sz="1400" dirty="0"/>
              <a:t>__.</a:t>
            </a:r>
            <a:r>
              <a:rPr lang="en-US" altLang="ko-KR" sz="1400" dirty="0" err="1"/>
              <a:t>py</a:t>
            </a:r>
            <a:r>
              <a:rPr lang="en-US" altLang="ko-KR" sz="1400" dirty="0"/>
              <a:t> </a:t>
            </a:r>
            <a:r>
              <a:rPr lang="en-US" altLang="ko-KR" sz="1400" dirty="0" err="1"/>
              <a:t>sansio</a:t>
            </a:r>
            <a:r>
              <a:rPr lang="en-US" altLang="ko-KR" sz="1400" dirty="0"/>
              <a:t>      </a:t>
            </a:r>
            <a:r>
              <a:rPr lang="en-US" altLang="ko-KR" sz="1400" dirty="0" err="1"/>
              <a:t>views.py</a:t>
            </a:r>
            <a:endParaRPr lang="en-US" altLang="ko-KR" sz="1400" dirty="0"/>
          </a:p>
          <a:p>
            <a:r>
              <a:rPr lang="en-US" altLang="ko-KR" sz="1400" dirty="0" err="1"/>
              <a:t>config.py</a:t>
            </a:r>
            <a:r>
              <a:rPr lang="en-US" altLang="ko-KR" sz="1400" dirty="0"/>
              <a:t>      </a:t>
            </a:r>
            <a:r>
              <a:rPr lang="en-US" altLang="ko-KR" sz="1400" dirty="0" err="1"/>
              <a:t>json</a:t>
            </a:r>
            <a:r>
              <a:rPr lang="en-US" altLang="ko-KR" sz="1400" dirty="0"/>
              <a:t>      </a:t>
            </a:r>
            <a:r>
              <a:rPr lang="en-US" altLang="ko-KR" sz="1400" dirty="0" err="1"/>
              <a:t>sessions.py</a:t>
            </a:r>
            <a:r>
              <a:rPr lang="en-US" altLang="ko-KR" sz="1400" dirty="0"/>
              <a:t> </a:t>
            </a:r>
            <a:r>
              <a:rPr lang="en-US" altLang="ko-KR" sz="1400" dirty="0" err="1"/>
              <a:t>wrappers.py</a:t>
            </a:r>
            <a:endParaRPr lang="en-US" altLang="ko-KR" sz="1400" dirty="0"/>
          </a:p>
          <a:p>
            <a:r>
              <a:rPr lang="en-US" altLang="ko-KR" sz="1400" dirty="0" err="1"/>
              <a:t>ctx.py</a:t>
            </a:r>
            <a:r>
              <a:rPr lang="en-US" altLang="ko-KR" sz="1400" dirty="0"/>
              <a:t>        </a:t>
            </a:r>
            <a:r>
              <a:rPr lang="en-US" altLang="ko-KR" sz="1400" dirty="0" err="1"/>
              <a:t>logging.py</a:t>
            </a:r>
            <a:r>
              <a:rPr lang="en-US" altLang="ko-KR" sz="1400" dirty="0"/>
              <a:t> </a:t>
            </a:r>
            <a:r>
              <a:rPr lang="en-US" altLang="ko-KR" sz="1400" dirty="0" err="1"/>
              <a:t>signals.py</a:t>
            </a:r>
            <a:endParaRPr lang="en-US" altLang="ko-KR" sz="1400" dirty="0"/>
          </a:p>
          <a:p>
            <a:r>
              <a:rPr lang="en-US" altLang="ko-KR" sz="1400" dirty="0" err="1"/>
              <a:t>debughelpers.py</a:t>
            </a:r>
            <a:r>
              <a:rPr lang="en-US" altLang="ko-KR" sz="1400" dirty="0"/>
              <a:t> __main__.</a:t>
            </a:r>
            <a:r>
              <a:rPr lang="en-US" altLang="ko-KR" sz="1400" dirty="0" err="1"/>
              <a:t>py</a:t>
            </a:r>
            <a:r>
              <a:rPr lang="en-US" altLang="ko-KR" sz="1400" dirty="0"/>
              <a:t> </a:t>
            </a:r>
            <a:r>
              <a:rPr lang="en-US" altLang="ko-KR" sz="1400" dirty="0" err="1"/>
              <a:t>templating.py</a:t>
            </a:r>
            <a:endParaRPr lang="en-US" altLang="ko-KR" sz="1400" dirty="0"/>
          </a:p>
          <a:p>
            <a:r>
              <a:rPr lang="nb-NO" altLang="ko-KR" sz="1400" b="1" dirty="0"/>
              <a:t>(</a:t>
            </a:r>
            <a:r>
              <a:rPr lang="nb-NO" altLang="ko-KR" sz="1400" b="1" dirty="0" err="1"/>
              <a:t>myenv</a:t>
            </a:r>
            <a:r>
              <a:rPr lang="nb-NO" altLang="ko-KR" sz="1400" b="1" dirty="0"/>
              <a:t>) </a:t>
            </a:r>
            <a:r>
              <a:rPr lang="nb-NO" altLang="ko-KR" sz="1400" b="1" dirty="0" err="1"/>
              <a:t>pi@pi</a:t>
            </a:r>
            <a:r>
              <a:rPr lang="nb-NO" altLang="ko-KR" sz="1400" b="1" dirty="0"/>
              <a:t>:~/</a:t>
            </a:r>
            <a:r>
              <a:rPr lang="nb-NO" altLang="ko-KR" sz="1400" b="1" dirty="0" err="1"/>
              <a:t>myenv</a:t>
            </a:r>
            <a:r>
              <a:rPr lang="nb-NO" altLang="ko-KR" sz="1400" b="1" dirty="0"/>
              <a:t>/</a:t>
            </a:r>
            <a:r>
              <a:rPr lang="nb-NO" altLang="ko-KR" sz="1400" b="1" dirty="0" err="1"/>
              <a:t>lib</a:t>
            </a:r>
            <a:r>
              <a:rPr lang="nb-NO" altLang="ko-KR" sz="1400" b="1" dirty="0"/>
              <a:t>/python3.13/</a:t>
            </a:r>
            <a:r>
              <a:rPr lang="nb-NO" altLang="ko-KR" sz="1400" b="1" dirty="0" err="1"/>
              <a:t>site-packages</a:t>
            </a:r>
            <a:r>
              <a:rPr lang="nb-NO" altLang="ko-KR" sz="1400" b="1" dirty="0"/>
              <a:t>/flask $</a:t>
            </a:r>
            <a:endParaRPr lang="en-US" altLang="ko-KR" sz="1400" b="1" dirty="0"/>
          </a:p>
        </p:txBody>
      </p:sp>
    </p:spTree>
    <p:extLst>
      <p:ext uri="{BB962C8B-B14F-4D97-AF65-F5344CB8AC3E}">
        <p14:creationId xmlns:p14="http://schemas.microsoft.com/office/powerpoint/2010/main" val="3852872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CABDB0-DB3C-46EA-AC90-D04407BF1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플라스크 활용 </a:t>
            </a:r>
            <a:r>
              <a:rPr lang="ko-KR" altLang="en-US"/>
              <a:t>기본 사례 </a:t>
            </a:r>
            <a:r>
              <a:rPr lang="en-US" altLang="ko-KR"/>
              <a:t>(1)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FD6EBE-924D-471E-8790-E9C376D2371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dirty="0"/>
              <a:t>플라스크를 이용한 간단한 웹 서버</a:t>
            </a:r>
            <a:endParaRPr lang="en-US" altLang="ko-KR" dirty="0"/>
          </a:p>
          <a:p>
            <a:pPr lvl="1"/>
            <a:r>
              <a:rPr lang="en-US" altLang="ko-KR" dirty="0"/>
              <a:t>~/ch06/hello_flask.py</a:t>
            </a:r>
            <a:r>
              <a:rPr lang="ko-KR" altLang="en-US" dirty="0"/>
              <a:t>에</a:t>
            </a:r>
            <a:r>
              <a:rPr lang="en-US" altLang="ko-KR" dirty="0"/>
              <a:t> </a:t>
            </a:r>
            <a:r>
              <a:rPr lang="ko-KR" altLang="en-US" dirty="0"/>
              <a:t>다음 파일 저장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/>
          </a:p>
          <a:p>
            <a:r>
              <a:rPr lang="en-US" altLang="ko-KR"/>
              <a:t>from </a:t>
            </a:r>
            <a:r>
              <a:rPr lang="en-US" altLang="ko-KR" dirty="0"/>
              <a:t>flask </a:t>
            </a:r>
            <a:r>
              <a:rPr lang="en-US" altLang="ko-KR"/>
              <a:t>import Flask </a:t>
            </a:r>
            <a:r>
              <a:rPr lang="ko-KR" altLang="en-US"/>
              <a:t>란</a:t>
            </a:r>
            <a:r>
              <a:rPr lang="en-US" altLang="ko-KR"/>
              <a:t>?</a:t>
            </a:r>
            <a:endParaRPr lang="en-US" altLang="ko-KR" dirty="0"/>
          </a:p>
          <a:p>
            <a:pPr lvl="1"/>
            <a:r>
              <a:rPr lang="ko-KR" altLang="en-US" dirty="0"/>
              <a:t>설치된 </a:t>
            </a:r>
            <a:r>
              <a:rPr lang="en-US" altLang="ko-KR" dirty="0"/>
              <a:t>flask </a:t>
            </a:r>
            <a:r>
              <a:rPr lang="ko-KR" altLang="en-US" dirty="0"/>
              <a:t>모듈에서 </a:t>
            </a:r>
            <a:r>
              <a:rPr lang="en-US" altLang="ko-KR" dirty="0"/>
              <a:t>Flask </a:t>
            </a:r>
            <a:r>
              <a:rPr lang="ko-KR" altLang="en-US" dirty="0"/>
              <a:t>클래스만 </a:t>
            </a:r>
            <a:r>
              <a:rPr lang="ko-KR" altLang="en-US" dirty="0" err="1"/>
              <a:t>임포트하도록</a:t>
            </a:r>
            <a:r>
              <a:rPr lang="ko-KR" altLang="en-US" dirty="0"/>
              <a:t> 지시</a:t>
            </a:r>
          </a:p>
          <a:p>
            <a:pPr lvl="1"/>
            <a:r>
              <a:rPr lang="en-US" altLang="ko-KR" dirty="0"/>
              <a:t>Flask </a:t>
            </a:r>
            <a:r>
              <a:rPr lang="ko-KR" altLang="en-US" dirty="0"/>
              <a:t>클래스 코드는 </a:t>
            </a:r>
            <a:r>
              <a:rPr lang="en-US" altLang="ko-KR" dirty="0"/>
              <a:t>app.py(~/</a:t>
            </a:r>
            <a:r>
              <a:rPr lang="en-US" altLang="ko-KR" dirty="0" err="1"/>
              <a:t>myenv</a:t>
            </a:r>
            <a:r>
              <a:rPr lang="en-US" altLang="ko-KR" dirty="0"/>
              <a:t>/lib/python3.13/</a:t>
            </a:r>
            <a:r>
              <a:rPr lang="en-US" altLang="ko-KR" dirty="0" err="1"/>
              <a:t>dist</a:t>
            </a:r>
            <a:r>
              <a:rPr lang="en-US" altLang="ko-KR" dirty="0"/>
              <a:t>-packages/flask/app.py)</a:t>
            </a:r>
            <a:r>
              <a:rPr lang="ko-KR" altLang="en-US" dirty="0"/>
              <a:t>에 작성되어 있음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797952-485C-4D4C-913F-2ACDD0AA6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13</a:t>
            </a:fld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31F5153-8839-4B89-8ABB-C443108E573F}"/>
              </a:ext>
            </a:extLst>
          </p:cNvPr>
          <p:cNvSpPr/>
          <p:nvPr/>
        </p:nvSpPr>
        <p:spPr>
          <a:xfrm>
            <a:off x="1115616" y="2266340"/>
            <a:ext cx="7272808" cy="224676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from flask import Flask</a:t>
            </a:r>
          </a:p>
          <a:p>
            <a:pPr defTabSz="180000"/>
            <a:endParaRPr lang="en-US" altLang="ko-KR" sz="1400" dirty="0"/>
          </a:p>
          <a:p>
            <a:pPr defTabSz="180000"/>
            <a:r>
              <a:rPr lang="en-US" altLang="ko-KR" sz="1400" dirty="0"/>
              <a:t>app = Flask(__name__) # Flask </a:t>
            </a:r>
            <a:r>
              <a:rPr lang="ko-KR" altLang="en-US" sz="1400" dirty="0"/>
              <a:t>객체 생성</a:t>
            </a:r>
            <a:endParaRPr lang="en-US" altLang="ko-KR" sz="1400" dirty="0"/>
          </a:p>
          <a:p>
            <a:pPr defTabSz="180000"/>
            <a:endParaRPr lang="ko-KR" altLang="en-US" sz="1400" dirty="0"/>
          </a:p>
          <a:p>
            <a:pPr defTabSz="180000"/>
            <a:r>
              <a:rPr lang="en-US" altLang="ko-KR" sz="1400" dirty="0"/>
              <a:t>@</a:t>
            </a:r>
            <a:r>
              <a:rPr lang="en-US" altLang="ko-KR" sz="1400" dirty="0" err="1"/>
              <a:t>app.route</a:t>
            </a:r>
            <a:r>
              <a:rPr lang="en-US" altLang="ko-KR" sz="1400" dirty="0"/>
              <a:t>('/') # </a:t>
            </a:r>
            <a:r>
              <a:rPr lang="ko-KR" altLang="en-US" sz="1400" dirty="0"/>
              <a:t>다음 </a:t>
            </a:r>
            <a:r>
              <a:rPr lang="en-US" altLang="ko-KR" sz="1400" dirty="0"/>
              <a:t>2</a:t>
            </a:r>
            <a:r>
              <a:rPr lang="ko-KR" altLang="en-US" sz="1400" dirty="0"/>
              <a:t>라인이 라우팅 테이블에 </a:t>
            </a:r>
            <a:r>
              <a:rPr lang="en-US" altLang="ko-KR" sz="1400" dirty="0"/>
              <a:t>['/':home]</a:t>
            </a:r>
            <a:r>
              <a:rPr lang="ko-KR" altLang="en-US" sz="1400" dirty="0"/>
              <a:t>를 저장하도록 함 </a:t>
            </a:r>
          </a:p>
          <a:p>
            <a:pPr defTabSz="180000"/>
            <a:r>
              <a:rPr lang="en-US" altLang="ko-KR" sz="1400" dirty="0"/>
              <a:t>def home(): </a:t>
            </a:r>
          </a:p>
          <a:p>
            <a:pPr defTabSz="180000"/>
            <a:r>
              <a:rPr lang="en-US" altLang="ko-KR" sz="1400" dirty="0"/>
              <a:t>	return '&lt;h2&gt;Hello, Flask&lt;/h2&gt;'</a:t>
            </a:r>
          </a:p>
          <a:p>
            <a:pPr defTabSz="180000"/>
            <a:endParaRPr lang="en-US" altLang="ko-KR" sz="1400" dirty="0"/>
          </a:p>
          <a:p>
            <a:pPr defTabSz="180000"/>
            <a:r>
              <a:rPr lang="en-US" altLang="ko-KR" sz="1400" dirty="0"/>
              <a:t>if __name__ == '__main__':	# </a:t>
            </a:r>
            <a:r>
              <a:rPr lang="ko-KR" altLang="en-US" sz="1400" dirty="0"/>
              <a:t>이 프로그램이 독립적으로 실행되는 경우</a:t>
            </a:r>
          </a:p>
          <a:p>
            <a:pPr defTabSz="180000"/>
            <a:r>
              <a:rPr lang="ko-KR" altLang="en-US" sz="1400" dirty="0"/>
              <a:t>	</a:t>
            </a:r>
            <a:r>
              <a:rPr lang="en-US" altLang="ko-KR" sz="1400" dirty="0" err="1"/>
              <a:t>app.run</a:t>
            </a:r>
            <a:r>
              <a:rPr lang="en-US" altLang="ko-KR" sz="1400" dirty="0"/>
              <a:t>(host='0.0.0.0', port=8080, debug=True) # </a:t>
            </a:r>
            <a:r>
              <a:rPr lang="en-US" altLang="ko-KR" sz="1400" dirty="0" err="1"/>
              <a:t>app.run</a:t>
            </a:r>
            <a:r>
              <a:rPr lang="en-US" altLang="ko-KR" sz="1400" dirty="0"/>
              <a:t>() </a:t>
            </a:r>
            <a:r>
              <a:rPr lang="ko-KR" altLang="en-US" sz="1400" dirty="0"/>
              <a:t>함수 실행</a:t>
            </a:r>
          </a:p>
        </p:txBody>
      </p:sp>
    </p:spTree>
    <p:extLst>
      <p:ext uri="{BB962C8B-B14F-4D97-AF65-F5344CB8AC3E}">
        <p14:creationId xmlns:p14="http://schemas.microsoft.com/office/powerpoint/2010/main" val="11619693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E398BE-164B-467E-B3BC-4E7C8D76C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플라스크 활용 </a:t>
            </a:r>
            <a:r>
              <a:rPr lang="ko-KR" altLang="en-US"/>
              <a:t>기본 사례 </a:t>
            </a:r>
            <a:r>
              <a:rPr lang="en-US" altLang="ko-KR"/>
              <a:t>(2)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F4D105-3A72-4F86-A3F6-1D6220D2CAC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app = Flask(__name__)</a:t>
            </a:r>
          </a:p>
          <a:p>
            <a:pPr lvl="1"/>
            <a:r>
              <a:rPr lang="en-US" altLang="ko-KR" dirty="0"/>
              <a:t>Flask </a:t>
            </a:r>
            <a:r>
              <a:rPr lang="ko-KR" altLang="en-US" dirty="0"/>
              <a:t>객체를 생성하고 </a:t>
            </a:r>
            <a:r>
              <a:rPr lang="en-US" altLang="ko-KR" dirty="0"/>
              <a:t>app</a:t>
            </a:r>
            <a:r>
              <a:rPr lang="ko-KR" altLang="en-US" dirty="0"/>
              <a:t>라고 명명함</a:t>
            </a:r>
            <a:endParaRPr lang="en-US" altLang="ko-KR" dirty="0"/>
          </a:p>
          <a:p>
            <a:r>
              <a:rPr lang="en-US" altLang="ko-KR" dirty="0"/>
              <a:t>@</a:t>
            </a:r>
            <a:r>
              <a:rPr lang="en-US" altLang="ko-KR" dirty="0" err="1"/>
              <a:t>app.route</a:t>
            </a:r>
            <a:r>
              <a:rPr lang="en-US" altLang="ko-KR" dirty="0"/>
              <a:t>('/')</a:t>
            </a:r>
          </a:p>
          <a:p>
            <a:pPr lvl="1"/>
            <a:r>
              <a:rPr lang="en-US" altLang="ko-KR" dirty="0"/>
              <a:t>@</a:t>
            </a:r>
            <a:r>
              <a:rPr lang="en-US" altLang="ko-KR" dirty="0" err="1"/>
              <a:t>app.route</a:t>
            </a:r>
            <a:r>
              <a:rPr lang="en-US" altLang="ko-KR" dirty="0"/>
              <a:t>('/')</a:t>
            </a:r>
            <a:r>
              <a:rPr lang="ko-KR" altLang="en-US" dirty="0"/>
              <a:t>는 </a:t>
            </a:r>
            <a:r>
              <a:rPr lang="ko-KR" altLang="en-US" dirty="0" err="1"/>
              <a:t>파이썬에서</a:t>
            </a:r>
            <a:r>
              <a:rPr lang="ko-KR" altLang="en-US" dirty="0"/>
              <a:t> </a:t>
            </a:r>
            <a:r>
              <a:rPr lang="ko-KR" altLang="en-US" dirty="0" err="1"/>
              <a:t>데코레이터</a:t>
            </a:r>
            <a:r>
              <a:rPr lang="en-US" altLang="ko-KR" dirty="0"/>
              <a:t>(decorator)</a:t>
            </a:r>
            <a:r>
              <a:rPr lang="ko-KR" altLang="en-US" dirty="0"/>
              <a:t>라고 부름</a:t>
            </a:r>
            <a:endParaRPr lang="en-US" altLang="ko-KR" dirty="0"/>
          </a:p>
          <a:p>
            <a:pPr lvl="1"/>
            <a:r>
              <a:rPr lang="en-US" altLang="ko-KR" dirty="0"/>
              <a:t>'/' URL</a:t>
            </a:r>
            <a:r>
              <a:rPr lang="ko-KR" altLang="en-US" dirty="0"/>
              <a:t>과 그 다음 라인에 선언된 함수를 한 쌍으로 하여 라우팅 테이블에 저장하도록 지시</a:t>
            </a:r>
          </a:p>
          <a:p>
            <a:pPr lvl="2"/>
            <a:r>
              <a:rPr lang="ko-KR" altLang="en-US" dirty="0"/>
              <a:t>라우팅 테이블에는 </a:t>
            </a:r>
            <a:r>
              <a:rPr lang="en-US" altLang="ko-KR" dirty="0"/>
              <a:t>['/': home] </a:t>
            </a:r>
            <a:r>
              <a:rPr lang="ko-KR" altLang="en-US" dirty="0"/>
              <a:t>항목이 저장</a:t>
            </a:r>
          </a:p>
          <a:p>
            <a:pPr lvl="2"/>
            <a:r>
              <a:rPr lang="en-US" altLang="ko-KR" dirty="0"/>
              <a:t>['/': home] </a:t>
            </a:r>
            <a:r>
              <a:rPr lang="ko-KR" altLang="en-US" dirty="0"/>
              <a:t>쌍이라는 것을 알리기 위해 </a:t>
            </a:r>
            <a:r>
              <a:rPr lang="en-US" altLang="ko-KR" dirty="0"/>
              <a:t>@</a:t>
            </a:r>
            <a:r>
              <a:rPr lang="en-US" altLang="ko-KR" dirty="0" err="1"/>
              <a:t>app.route</a:t>
            </a:r>
            <a:r>
              <a:rPr lang="en-US" altLang="ko-KR" dirty="0"/>
              <a:t>('/')</a:t>
            </a:r>
            <a:r>
              <a:rPr lang="ko-KR" altLang="en-US" dirty="0"/>
              <a:t>와 다음 라인의 </a:t>
            </a:r>
            <a:r>
              <a:rPr lang="en-US" altLang="ko-KR" dirty="0"/>
              <a:t>def home(): </a:t>
            </a:r>
            <a:r>
              <a:rPr lang="ko-KR" altLang="en-US" dirty="0"/>
              <a:t>사이에는 주석과 공백 외 어떤 것도 들어가면 안됨</a:t>
            </a:r>
            <a:endParaRPr lang="en-US" altLang="ko-KR" dirty="0"/>
          </a:p>
          <a:p>
            <a:r>
              <a:rPr lang="en-US" altLang="ko-KR" dirty="0"/>
              <a:t>def home():</a:t>
            </a:r>
          </a:p>
          <a:p>
            <a:pPr lvl="1"/>
            <a:r>
              <a:rPr lang="en-US" altLang="ko-KR" dirty="0"/>
              <a:t>'/' URL</a:t>
            </a:r>
            <a:r>
              <a:rPr lang="ko-KR" altLang="en-US" dirty="0"/>
              <a:t>로 접속할 때 실행되는 함수</a:t>
            </a:r>
            <a:endParaRPr lang="en-US" altLang="ko-KR" dirty="0"/>
          </a:p>
          <a:p>
            <a:pPr lvl="1"/>
            <a:r>
              <a:rPr lang="ko-KR" altLang="en-US" dirty="0"/>
              <a:t>단순히 </a:t>
            </a:r>
            <a:r>
              <a:rPr lang="en-US" altLang="ko-KR" dirty="0"/>
              <a:t>'&lt;h2&gt;Hello, Flask&lt;/h2&gt;'</a:t>
            </a:r>
            <a:r>
              <a:rPr lang="ko-KR" altLang="en-US" dirty="0"/>
              <a:t>을 리턴</a:t>
            </a:r>
            <a:endParaRPr lang="en-US" altLang="ko-KR" dirty="0"/>
          </a:p>
          <a:p>
            <a:pPr marL="365760" lvl="1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87AA1E-FB9D-43BC-88FC-1D61B691C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6256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6173DF-2018-4A68-BF08-2B33F3CC5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플라스크 활용 </a:t>
            </a:r>
            <a:r>
              <a:rPr lang="ko-KR" altLang="en-US"/>
              <a:t>기본 사례 </a:t>
            </a:r>
            <a:r>
              <a:rPr lang="en-US" altLang="ko-KR"/>
              <a:t>(3)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44FE2D-512F-48EC-8EE3-3CB53E61C24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if __name__ == '__main__':</a:t>
            </a:r>
          </a:p>
          <a:p>
            <a:pPr lvl="1"/>
            <a:r>
              <a:rPr lang="en-US" altLang="ko-KR" dirty="0"/>
              <a:t>hello_flask.py</a:t>
            </a:r>
            <a:r>
              <a:rPr lang="ko-KR" altLang="en-US" dirty="0"/>
              <a:t>이 독립적으로 실행되고 있다면 </a:t>
            </a:r>
            <a:r>
              <a:rPr lang="en-US" altLang="ko-KR" dirty="0"/>
              <a:t>__name__ </a:t>
            </a:r>
            <a:r>
              <a:rPr lang="ko-KR" altLang="en-US" dirty="0"/>
              <a:t>변수에 </a:t>
            </a:r>
            <a:r>
              <a:rPr lang="en-US" altLang="ko-KR" dirty="0"/>
              <a:t>'__main__'</a:t>
            </a:r>
            <a:r>
              <a:rPr lang="ko-KR" altLang="en-US" dirty="0"/>
              <a:t>이 저장된 채 실행</a:t>
            </a:r>
            <a:endParaRPr lang="en-US" altLang="ko-KR" dirty="0"/>
          </a:p>
          <a:p>
            <a:pPr lvl="1"/>
            <a:r>
              <a:rPr lang="ko-KR" altLang="en-US"/>
              <a:t>현재</a:t>
            </a:r>
            <a:r>
              <a:rPr lang="en-US" altLang="ko-KR"/>
              <a:t>, </a:t>
            </a:r>
            <a:r>
              <a:rPr lang="ko-KR" altLang="en-US"/>
              <a:t>독립적으로 </a:t>
            </a:r>
            <a:r>
              <a:rPr lang="ko-KR" altLang="en-US" dirty="0"/>
              <a:t>실행되므로 </a:t>
            </a:r>
            <a:r>
              <a:rPr lang="en-US" altLang="ko-KR" dirty="0"/>
              <a:t>if</a:t>
            </a:r>
            <a:r>
              <a:rPr lang="ko-KR" altLang="en-US" dirty="0"/>
              <a:t>문은 </a:t>
            </a:r>
            <a:r>
              <a:rPr lang="en-US" altLang="ko-KR" dirty="0"/>
              <a:t>True</a:t>
            </a:r>
          </a:p>
          <a:p>
            <a:r>
              <a:rPr lang="da-DK" altLang="ko-KR" dirty="0"/>
              <a:t>app.run(host='0.0.0.0', port=8080, debug=True)</a:t>
            </a:r>
          </a:p>
          <a:p>
            <a:pPr lvl="1"/>
            <a:r>
              <a:rPr lang="en-US" altLang="ko-KR" dirty="0"/>
              <a:t>app</a:t>
            </a:r>
            <a:r>
              <a:rPr lang="ko-KR" altLang="en-US" dirty="0"/>
              <a:t>는 </a:t>
            </a:r>
            <a:r>
              <a:rPr lang="en-US" altLang="ko-KR" dirty="0"/>
              <a:t>Flask </a:t>
            </a:r>
            <a:r>
              <a:rPr lang="ko-KR" altLang="en-US"/>
              <a:t>클래스의 객체이므로 </a:t>
            </a:r>
            <a:r>
              <a:rPr lang="en-US" altLang="ko-KR"/>
              <a:t>Flask </a:t>
            </a:r>
            <a:r>
              <a:rPr lang="ko-KR" altLang="en-US" dirty="0"/>
              <a:t>클래스의 </a:t>
            </a:r>
            <a:r>
              <a:rPr lang="en-US" altLang="ko-KR" dirty="0"/>
              <a:t>run() </a:t>
            </a:r>
            <a:r>
              <a:rPr lang="ko-KR" altLang="en-US"/>
              <a:t>함수가 실행됨</a:t>
            </a:r>
            <a:endParaRPr lang="ko-KR" altLang="en-US" dirty="0"/>
          </a:p>
          <a:p>
            <a:pPr lvl="1"/>
            <a:r>
              <a:rPr lang="en-US" altLang="ko-KR" dirty="0" err="1"/>
              <a:t>app.run</a:t>
            </a:r>
            <a:r>
              <a:rPr lang="en-US" altLang="ko-KR" dirty="0"/>
              <a:t>() </a:t>
            </a:r>
            <a:r>
              <a:rPr lang="ko-KR" altLang="en-US" dirty="0"/>
              <a:t>함수에는 </a:t>
            </a:r>
            <a:r>
              <a:rPr lang="en-US" altLang="ko-KR" dirty="0"/>
              <a:t>host, port, debug</a:t>
            </a:r>
            <a:r>
              <a:rPr lang="ko-KR" altLang="en-US" dirty="0"/>
              <a:t>의 매개변수가</a:t>
            </a:r>
            <a:r>
              <a:rPr lang="en-US" altLang="ko-KR" dirty="0"/>
              <a:t> </a:t>
            </a:r>
            <a:r>
              <a:rPr lang="ko-KR" altLang="en-US" dirty="0"/>
              <a:t>있음</a:t>
            </a:r>
          </a:p>
          <a:p>
            <a:pPr lvl="1"/>
            <a:endParaRPr lang="da-DK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761008-5AAE-412A-8C6E-BE6110192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601168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F408CD-89BF-49ED-B227-5AE376624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플라스크 활용 </a:t>
            </a:r>
            <a:r>
              <a:rPr lang="ko-KR" altLang="en-US"/>
              <a:t>기본 사례 </a:t>
            </a:r>
            <a:r>
              <a:rPr lang="en-US" altLang="ko-KR"/>
              <a:t>(4)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4EA3E2-09A2-4856-BB0C-B9161432A02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da-DK" altLang="ko-KR" dirty="0"/>
              <a:t>app.run(host='0.0.0.0', port=8080, debug=True)</a:t>
            </a:r>
          </a:p>
          <a:p>
            <a:pPr lvl="1"/>
            <a:r>
              <a:rPr lang="en-US" altLang="ko-KR" dirty="0"/>
              <a:t>host </a:t>
            </a:r>
            <a:r>
              <a:rPr lang="ko-KR" altLang="en-US" dirty="0"/>
              <a:t>매개변수</a:t>
            </a:r>
            <a:endParaRPr lang="en-US" altLang="ko-KR" dirty="0"/>
          </a:p>
          <a:p>
            <a:pPr lvl="2"/>
            <a:r>
              <a:rPr lang="en-US" altLang="ko-KR" dirty="0" err="1"/>
              <a:t>app.run</a:t>
            </a:r>
            <a:r>
              <a:rPr lang="en-US" altLang="ko-KR" dirty="0"/>
              <a:t>()</a:t>
            </a:r>
            <a:r>
              <a:rPr lang="ko-KR" altLang="en-US" dirty="0"/>
              <a:t>이 웹 브라우저로부터 연결을 받아 줄 </a:t>
            </a:r>
            <a:r>
              <a:rPr lang="en-US" altLang="ko-KR"/>
              <a:t>IP </a:t>
            </a:r>
            <a:r>
              <a:rPr lang="ko-KR" altLang="en-US"/>
              <a:t>주소 </a:t>
            </a:r>
            <a:r>
              <a:rPr lang="ko-KR" altLang="en-US" dirty="0"/>
              <a:t>지정</a:t>
            </a:r>
          </a:p>
          <a:p>
            <a:pPr lvl="2"/>
            <a:r>
              <a:rPr lang="ko-KR" altLang="en-US"/>
              <a:t>서버가 </a:t>
            </a:r>
            <a:r>
              <a:rPr lang="ko-KR" altLang="en-US" dirty="0"/>
              <a:t>여러 </a:t>
            </a:r>
            <a:r>
              <a:rPr lang="ko-KR" altLang="en-US"/>
              <a:t>개의 </a:t>
            </a:r>
            <a:r>
              <a:rPr lang="en-US" altLang="ko-KR"/>
              <a:t>LAN</a:t>
            </a:r>
            <a:r>
              <a:rPr lang="ko-KR" altLang="en-US"/>
              <a:t>에 연결된 경우</a:t>
            </a:r>
            <a:r>
              <a:rPr lang="en-US" altLang="ko-KR"/>
              <a:t>, </a:t>
            </a:r>
            <a:r>
              <a:rPr lang="ko-KR" altLang="en-US"/>
              <a:t>서버는 </a:t>
            </a:r>
            <a:r>
              <a:rPr lang="ko-KR" altLang="en-US" dirty="0"/>
              <a:t>여러 </a:t>
            </a:r>
            <a:r>
              <a:rPr lang="ko-KR" altLang="en-US"/>
              <a:t>개의 </a:t>
            </a:r>
            <a:r>
              <a:rPr lang="en-US" altLang="ko-KR"/>
              <a:t>IP</a:t>
            </a:r>
            <a:r>
              <a:rPr lang="ko-KR" altLang="en-US"/>
              <a:t> </a:t>
            </a:r>
            <a:r>
              <a:rPr lang="ko-KR" altLang="en-US" dirty="0"/>
              <a:t>가짐</a:t>
            </a:r>
            <a:endParaRPr lang="en-US" altLang="ko-KR" dirty="0"/>
          </a:p>
          <a:p>
            <a:pPr lvl="3"/>
            <a:r>
              <a:rPr lang="ko-KR" altLang="en-US" dirty="0"/>
              <a:t>특별한 </a:t>
            </a:r>
            <a:r>
              <a:rPr lang="en-US" altLang="ko-KR" dirty="0"/>
              <a:t>IP</a:t>
            </a:r>
            <a:r>
              <a:rPr lang="ko-KR" altLang="en-US" dirty="0"/>
              <a:t>로만 </a:t>
            </a:r>
            <a:r>
              <a:rPr lang="ko-KR" altLang="en-US"/>
              <a:t>연결하기 위해서는</a:t>
            </a:r>
            <a:r>
              <a:rPr lang="en-US" altLang="ko-KR"/>
              <a:t>, host</a:t>
            </a:r>
            <a:r>
              <a:rPr lang="en-US" altLang="ko-KR" dirty="0"/>
              <a:t>='192.168.0.5'</a:t>
            </a:r>
            <a:r>
              <a:rPr lang="ko-KR" altLang="en-US" dirty="0"/>
              <a:t>로 </a:t>
            </a:r>
            <a:r>
              <a:rPr lang="en-US" altLang="ko-KR" dirty="0"/>
              <a:t>IP</a:t>
            </a:r>
            <a:r>
              <a:rPr lang="ko-KR" altLang="en-US" dirty="0"/>
              <a:t>를 명시적으로 지정</a:t>
            </a:r>
            <a:endParaRPr lang="en-US" altLang="ko-KR" dirty="0"/>
          </a:p>
          <a:p>
            <a:pPr lvl="3"/>
            <a:r>
              <a:rPr lang="ko-KR" altLang="en-US" dirty="0"/>
              <a:t>여러 </a:t>
            </a:r>
            <a:r>
              <a:rPr lang="en-US" altLang="ko-KR" dirty="0"/>
              <a:t>IP</a:t>
            </a:r>
            <a:r>
              <a:rPr lang="ko-KR" altLang="en-US" dirty="0"/>
              <a:t>중 아무것이나 </a:t>
            </a:r>
            <a:r>
              <a:rPr lang="ko-KR" altLang="en-US"/>
              <a:t>연결하기 위해서는</a:t>
            </a:r>
            <a:r>
              <a:rPr lang="en-US" altLang="ko-KR"/>
              <a:t>, host</a:t>
            </a:r>
            <a:r>
              <a:rPr lang="en-US" altLang="ko-KR" dirty="0"/>
              <a:t>='0.0.0.0'</a:t>
            </a:r>
          </a:p>
          <a:p>
            <a:pPr lvl="3"/>
            <a:r>
              <a:rPr lang="ko-KR" altLang="en-US" dirty="0"/>
              <a:t>서버 자체내에서만 </a:t>
            </a:r>
            <a:r>
              <a:rPr lang="ko-KR" altLang="en-US"/>
              <a:t>연결하기 위해서는</a:t>
            </a:r>
            <a:r>
              <a:rPr lang="en-US" altLang="ko-KR"/>
              <a:t>, host</a:t>
            </a:r>
            <a:r>
              <a:rPr lang="en-US" altLang="ko-KR" dirty="0"/>
              <a:t>='127.0.0.1'</a:t>
            </a:r>
          </a:p>
          <a:p>
            <a:pPr lvl="1"/>
            <a:r>
              <a:rPr lang="en-US" altLang="ko-KR" dirty="0"/>
              <a:t>port </a:t>
            </a:r>
            <a:r>
              <a:rPr lang="ko-KR" altLang="en-US" dirty="0"/>
              <a:t>매개변수</a:t>
            </a:r>
            <a:endParaRPr lang="en-US" altLang="ko-KR" dirty="0"/>
          </a:p>
          <a:p>
            <a:pPr lvl="2"/>
            <a:r>
              <a:rPr lang="en-US" altLang="ko-KR" dirty="0" err="1"/>
              <a:t>app.run</a:t>
            </a:r>
            <a:r>
              <a:rPr lang="en-US" altLang="ko-KR" dirty="0"/>
              <a:t>()</a:t>
            </a:r>
            <a:r>
              <a:rPr lang="ko-KR" altLang="en-US" dirty="0"/>
              <a:t>이 웹 브라우저로부터 </a:t>
            </a:r>
            <a:r>
              <a:rPr lang="ko-KR" altLang="en-US"/>
              <a:t>접속을 기다리는 </a:t>
            </a:r>
            <a:r>
              <a:rPr lang="en-US" altLang="ko-KR" dirty="0"/>
              <a:t>TCP/IP </a:t>
            </a:r>
            <a:r>
              <a:rPr lang="ko-KR" altLang="en-US"/>
              <a:t>포트 번호를 </a:t>
            </a:r>
            <a:r>
              <a:rPr lang="ko-KR" altLang="en-US" dirty="0"/>
              <a:t>지정</a:t>
            </a:r>
          </a:p>
          <a:p>
            <a:pPr lvl="2"/>
            <a:r>
              <a:rPr lang="ko-KR" altLang="en-US"/>
              <a:t>여기서는 </a:t>
            </a:r>
            <a:r>
              <a:rPr lang="en-US" altLang="ko-KR"/>
              <a:t>8080 </a:t>
            </a:r>
            <a:r>
              <a:rPr lang="ko-KR" altLang="en-US"/>
              <a:t>포트에서 기다림</a:t>
            </a:r>
            <a:endParaRPr lang="en-US" altLang="ko-KR" dirty="0"/>
          </a:p>
          <a:p>
            <a:pPr lvl="3"/>
            <a:r>
              <a:rPr lang="ko-KR" altLang="en-US"/>
              <a:t>디폴트는 </a:t>
            </a:r>
            <a:r>
              <a:rPr lang="en-US" altLang="ko-KR"/>
              <a:t>5000</a:t>
            </a:r>
            <a:endParaRPr lang="en-US" altLang="ko-KR" dirty="0"/>
          </a:p>
          <a:p>
            <a:pPr lvl="3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5ADF34-645B-44B3-BB7A-EA7EA101B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213776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CC3983-4652-44CE-BA32-90B6D90A3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플라스크 활용 </a:t>
            </a:r>
            <a:r>
              <a:rPr lang="ko-KR" altLang="en-US"/>
              <a:t>기본 사례 </a:t>
            </a:r>
            <a:r>
              <a:rPr lang="en-US" altLang="ko-KR"/>
              <a:t>(5)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682D48-C9FF-40B7-8362-A2C1C44B332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da-DK" altLang="ko-KR" dirty="0"/>
              <a:t>app.run(host='0.0.0.0', port=8080, debug=True)</a:t>
            </a:r>
          </a:p>
          <a:p>
            <a:pPr lvl="1"/>
            <a:r>
              <a:rPr lang="en-US" altLang="ko-KR" dirty="0"/>
              <a:t>debug</a:t>
            </a:r>
            <a:r>
              <a:rPr lang="ko-KR" altLang="en-US" dirty="0"/>
              <a:t> 매개변수</a:t>
            </a:r>
            <a:endParaRPr lang="en-US" altLang="ko-KR" dirty="0"/>
          </a:p>
          <a:p>
            <a:pPr lvl="2"/>
            <a:r>
              <a:rPr lang="ko-KR" altLang="en-US"/>
              <a:t>웹 </a:t>
            </a:r>
            <a:r>
              <a:rPr lang="ko-KR" altLang="en-US" dirty="0"/>
              <a:t>서버 응용프로그램을 개발을 돕는 기능</a:t>
            </a:r>
          </a:p>
          <a:p>
            <a:pPr lvl="2"/>
            <a:r>
              <a:rPr lang="en-US" altLang="ko-KR" dirty="0"/>
              <a:t>debug</a:t>
            </a:r>
            <a:r>
              <a:rPr lang="en-US" altLang="ko-KR"/>
              <a:t>=True</a:t>
            </a:r>
          </a:p>
          <a:p>
            <a:pPr lvl="3"/>
            <a:r>
              <a:rPr lang="en-US" altLang="ko-KR"/>
              <a:t>app</a:t>
            </a:r>
            <a:r>
              <a:rPr lang="en-US" altLang="ko-KR" dirty="0" err="1"/>
              <a:t>.run</a:t>
            </a:r>
            <a:r>
              <a:rPr lang="en-US" altLang="ko-KR" dirty="0"/>
              <a:t>()</a:t>
            </a:r>
            <a:r>
              <a:rPr lang="ko-KR" altLang="en-US" dirty="0"/>
              <a:t>은 실행 과정을 계속 출력하여 진행되고 있는 작업 내용들을 보여줌</a:t>
            </a:r>
            <a:endParaRPr lang="en-US" altLang="ko-KR" dirty="0"/>
          </a:p>
          <a:p>
            <a:pPr lvl="3"/>
            <a:r>
              <a:rPr lang="ko-KR" altLang="en-US" dirty="0"/>
              <a:t>개발자는 이 출력을 보고</a:t>
            </a:r>
            <a:r>
              <a:rPr lang="en-US" altLang="ko-KR" dirty="0"/>
              <a:t>, </a:t>
            </a:r>
            <a:r>
              <a:rPr lang="ko-KR" altLang="en-US" dirty="0"/>
              <a:t>웹 브라우저가 어떤 </a:t>
            </a:r>
            <a:r>
              <a:rPr lang="en-US" altLang="ko-KR" dirty="0"/>
              <a:t>URL</a:t>
            </a:r>
            <a:r>
              <a:rPr lang="ko-KR" altLang="en-US" dirty="0"/>
              <a:t>로 접속해 왔는지</a:t>
            </a:r>
            <a:r>
              <a:rPr lang="en-US" altLang="ko-KR" dirty="0"/>
              <a:t>, </a:t>
            </a:r>
            <a:r>
              <a:rPr lang="ko-KR" altLang="en-US" dirty="0"/>
              <a:t>어떤 웹 콘텐트를 전송하였는지 등을 확인하면서</a:t>
            </a:r>
            <a:r>
              <a:rPr lang="en-US" altLang="ko-KR" dirty="0"/>
              <a:t>, </a:t>
            </a:r>
            <a:r>
              <a:rPr lang="ko-KR" altLang="en-US" dirty="0"/>
              <a:t>프로그램의 문제를 발견하거나 </a:t>
            </a:r>
            <a:r>
              <a:rPr lang="ko-KR" altLang="en-US" dirty="0" err="1"/>
              <a:t>디버깅할수</a:t>
            </a:r>
            <a:r>
              <a:rPr lang="ko-KR" altLang="en-US" dirty="0"/>
              <a:t> 있음</a:t>
            </a:r>
            <a:endParaRPr lang="en-US" altLang="ko-KR" dirty="0"/>
          </a:p>
          <a:p>
            <a:pPr lvl="2"/>
            <a:endParaRPr lang="en-US" altLang="ko-KR"/>
          </a:p>
          <a:p>
            <a:pPr lvl="2"/>
            <a:r>
              <a:rPr lang="ko-KR" altLang="en-US"/>
              <a:t>예</a:t>
            </a:r>
            <a:r>
              <a:rPr lang="en-US" altLang="ko-KR"/>
              <a:t>) hello</a:t>
            </a:r>
            <a:r>
              <a:rPr lang="en-US" altLang="ko-KR" dirty="0"/>
              <a:t>_flask.py </a:t>
            </a:r>
            <a:r>
              <a:rPr lang="ko-KR" altLang="en-US" dirty="0"/>
              <a:t>프로그램 실행 도중</a:t>
            </a:r>
            <a:r>
              <a:rPr lang="en-US" altLang="ko-KR" dirty="0"/>
              <a:t>, </a:t>
            </a:r>
            <a:r>
              <a:rPr lang="ko-KR" altLang="en-US" dirty="0"/>
              <a:t>개발자가 </a:t>
            </a:r>
            <a:r>
              <a:rPr lang="en-US" altLang="ko-KR" dirty="0"/>
              <a:t>hello_flask.py </a:t>
            </a:r>
            <a:r>
              <a:rPr lang="ko-KR" altLang="en-US" dirty="0"/>
              <a:t>소스 코드를 수정하면 재실행시키지 않아도 수정된 </a:t>
            </a:r>
            <a:r>
              <a:rPr lang="en-US" altLang="ko-KR" dirty="0"/>
              <a:t>hello_flask.py</a:t>
            </a:r>
            <a:r>
              <a:rPr lang="ko-KR" altLang="en-US" dirty="0"/>
              <a:t>를 자동으로 적재하고 재실행</a:t>
            </a:r>
            <a:endParaRPr lang="en-US" altLang="ko-KR" dirty="0"/>
          </a:p>
          <a:p>
            <a:pPr lvl="3"/>
            <a:r>
              <a:rPr lang="ko-KR" altLang="en-US" dirty="0"/>
              <a:t>반대로 </a:t>
            </a:r>
            <a:r>
              <a:rPr lang="en-US" altLang="ko-KR" dirty="0"/>
              <a:t>False</a:t>
            </a:r>
            <a:r>
              <a:rPr lang="ko-KR" altLang="en-US" dirty="0"/>
              <a:t>이면 반드시 재실행하여야 함</a:t>
            </a:r>
          </a:p>
          <a:p>
            <a:pPr lvl="2"/>
            <a:endParaRPr lang="ko-KR" altLang="en-US" dirty="0"/>
          </a:p>
          <a:p>
            <a:pPr lvl="3"/>
            <a:endParaRPr lang="ko-KR" altLang="en-US" dirty="0"/>
          </a:p>
          <a:p>
            <a:pPr lvl="2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1C44DE-35DC-424E-B695-3C11654A7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2748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BDF5FD-C689-4ABD-B37A-F3BF9095D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플라스크 활용 </a:t>
            </a:r>
            <a:r>
              <a:rPr lang="ko-KR" altLang="en-US"/>
              <a:t>기본 사례 </a:t>
            </a:r>
            <a:r>
              <a:rPr lang="en-US" altLang="ko-KR"/>
              <a:t>(6)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4913DA-039D-465A-AB9E-8A062742D6A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hello_flask.py </a:t>
            </a:r>
            <a:r>
              <a:rPr lang="ko-KR" altLang="en-US" dirty="0"/>
              <a:t>프로그램 실행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D3D464-1B97-437C-8F9E-917C463AF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18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CB30D91-73E6-4D27-8CAC-6E5F4060FF71}"/>
              </a:ext>
            </a:extLst>
          </p:cNvPr>
          <p:cNvSpPr/>
          <p:nvPr/>
        </p:nvSpPr>
        <p:spPr>
          <a:xfrm>
            <a:off x="971600" y="1844824"/>
            <a:ext cx="7308812" cy="273630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pPr fontAlgn="base"/>
            <a:r>
              <a:rPr lang="en-US" altLang="ko-KR" sz="1400" b="1" dirty="0"/>
              <a:t>(</a:t>
            </a:r>
            <a:r>
              <a:rPr lang="en-US" altLang="ko-KR" sz="1400" b="1" dirty="0" err="1"/>
              <a:t>myenv</a:t>
            </a:r>
            <a:r>
              <a:rPr lang="en-US" altLang="ko-KR" sz="1400" b="1" dirty="0"/>
              <a:t>) </a:t>
            </a:r>
            <a:r>
              <a:rPr lang="en-US" altLang="ko-KR" sz="1400" b="1" dirty="0" err="1"/>
              <a:t>pi@pi</a:t>
            </a:r>
            <a:r>
              <a:rPr lang="en-US" altLang="ko-KR" sz="1400" b="1" dirty="0"/>
              <a:t>:~/ $ cd ~/ch06</a:t>
            </a:r>
          </a:p>
          <a:p>
            <a:pPr fontAlgn="base"/>
            <a:r>
              <a:rPr lang="en-US" altLang="ko-KR" sz="1400" b="1" dirty="0"/>
              <a:t>(</a:t>
            </a:r>
            <a:r>
              <a:rPr lang="en-US" altLang="ko-KR" sz="1400" b="1" dirty="0" err="1"/>
              <a:t>myenv</a:t>
            </a:r>
            <a:r>
              <a:rPr lang="en-US" altLang="ko-KR" sz="1400" b="1" dirty="0"/>
              <a:t>) </a:t>
            </a:r>
            <a:r>
              <a:rPr lang="en-US" altLang="ko-KR" sz="1400" b="1" dirty="0" err="1"/>
              <a:t>pi@pi</a:t>
            </a:r>
            <a:r>
              <a:rPr lang="en-US" altLang="ko-KR" sz="1400" b="1" dirty="0"/>
              <a:t>:~/ch06 $ python hello_flask.py</a:t>
            </a:r>
          </a:p>
          <a:p>
            <a:pPr fontAlgn="base"/>
            <a:r>
              <a:rPr lang="nb-NO" altLang="ko-KR" sz="1400" dirty="0"/>
              <a:t>* Serving Flask app "hello_flask" (lazy loading)</a:t>
            </a:r>
          </a:p>
          <a:p>
            <a:pPr fontAlgn="base"/>
            <a:r>
              <a:rPr lang="en-US" altLang="ko-KR" sz="1400" dirty="0"/>
              <a:t>* Environment: production</a:t>
            </a:r>
          </a:p>
          <a:p>
            <a:pPr fontAlgn="base"/>
            <a:r>
              <a:rPr lang="en-US" altLang="ko-KR" sz="1400" dirty="0"/>
              <a:t>WARNING: This is a development server. Do not use it in a production deployment.</a:t>
            </a:r>
          </a:p>
          <a:p>
            <a:pPr fontAlgn="base"/>
            <a:r>
              <a:rPr lang="en-US" altLang="ko-KR" sz="1400" dirty="0"/>
              <a:t>Use a production WSGI server instead.</a:t>
            </a:r>
          </a:p>
          <a:p>
            <a:pPr fontAlgn="base"/>
            <a:r>
              <a:rPr lang="en-US" altLang="ko-KR" sz="1400" dirty="0"/>
              <a:t>* Debug mode: on</a:t>
            </a:r>
          </a:p>
          <a:p>
            <a:pPr fontAlgn="base"/>
            <a:r>
              <a:rPr lang="en-US" altLang="ko-KR" sz="1400" dirty="0"/>
              <a:t>* Running on http://0.0.0.0:8080/ (Press CTRL+C to quit)</a:t>
            </a:r>
          </a:p>
          <a:p>
            <a:pPr fontAlgn="base"/>
            <a:r>
              <a:rPr lang="en-US" altLang="ko-KR" sz="1400" dirty="0"/>
              <a:t>* Restarting with stat</a:t>
            </a:r>
          </a:p>
          <a:p>
            <a:pPr fontAlgn="base"/>
            <a:r>
              <a:rPr lang="en-US" altLang="ko-KR" sz="1400" dirty="0"/>
              <a:t>* Debugger is active!</a:t>
            </a:r>
          </a:p>
          <a:p>
            <a:pPr fontAlgn="base"/>
            <a:r>
              <a:rPr lang="en-US" altLang="ko-KR" sz="1400" dirty="0"/>
              <a:t>* Debugger PIN: 315-171-481</a:t>
            </a:r>
          </a:p>
          <a:p>
            <a:pPr fontAlgn="base"/>
            <a:r>
              <a:rPr lang="en-US" altLang="ko-KR" sz="1400" dirty="0"/>
              <a:t>[</a:t>
            </a:r>
            <a:r>
              <a:rPr lang="ko-KR" altLang="en-US" sz="1400" dirty="0"/>
              <a:t>지금 </a:t>
            </a:r>
            <a:r>
              <a:rPr lang="en-US" altLang="ko-KR" sz="1400" dirty="0" err="1"/>
              <a:t>app.run</a:t>
            </a:r>
            <a:r>
              <a:rPr lang="en-US" altLang="ko-KR" sz="1400" dirty="0"/>
              <a:t>( )</a:t>
            </a:r>
            <a:r>
              <a:rPr lang="ko-KR" altLang="en-US" sz="1400" dirty="0"/>
              <a:t>에서 웹 브라우저의 접속을 기다리고 있는 상태</a:t>
            </a:r>
            <a:r>
              <a:rPr lang="en-US" altLang="ko-KR" sz="1400" dirty="0"/>
              <a:t>]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8828321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461853-3290-472E-83EB-9B2A6BF09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플라스크 활용 </a:t>
            </a:r>
            <a:r>
              <a:rPr lang="ko-KR" altLang="en-US"/>
              <a:t>기본 사례 </a:t>
            </a:r>
            <a:r>
              <a:rPr lang="en-US" altLang="ko-KR"/>
              <a:t>(7)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896A41-A38A-42BD-9A8C-76A2BAF734D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웹 브라우저로 웹 서버에 접속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hello_flask.py</a:t>
            </a:r>
            <a:r>
              <a:rPr lang="ko-KR" altLang="en-US" dirty="0"/>
              <a:t>의 출력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462DFA-D928-4EF3-A487-AE7D122DF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19</a:t>
            </a:fld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D21B43C-2524-4336-8F65-1299FD5DBA34}"/>
              </a:ext>
            </a:extLst>
          </p:cNvPr>
          <p:cNvSpPr/>
          <p:nvPr/>
        </p:nvSpPr>
        <p:spPr>
          <a:xfrm>
            <a:off x="971600" y="4221088"/>
            <a:ext cx="6840760" cy="151216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pPr fontAlgn="base"/>
            <a:r>
              <a:rPr lang="en-US" altLang="ko-KR" sz="1400" b="1" dirty="0"/>
              <a:t>(</a:t>
            </a:r>
            <a:r>
              <a:rPr lang="en-US" altLang="ko-KR" sz="1400" b="1" dirty="0" err="1"/>
              <a:t>myenv</a:t>
            </a:r>
            <a:r>
              <a:rPr lang="en-US" altLang="ko-KR" sz="1400" b="1" dirty="0"/>
              <a:t>) </a:t>
            </a:r>
            <a:r>
              <a:rPr lang="en-US" altLang="ko-KR" sz="1400" b="1" dirty="0" err="1"/>
              <a:t>pi@pi</a:t>
            </a:r>
            <a:r>
              <a:rPr lang="en-US" altLang="ko-KR" sz="1400" b="1" dirty="0"/>
              <a:t>:~/ch06 $ python hello_flask.py</a:t>
            </a:r>
          </a:p>
          <a:p>
            <a:pPr fontAlgn="base"/>
            <a:r>
              <a:rPr lang="nb-NO" altLang="ko-KR" sz="1400" dirty="0"/>
              <a:t>* Serving Flask app "hello_flask" (lazy loading)</a:t>
            </a:r>
          </a:p>
          <a:p>
            <a:pPr fontAlgn="base"/>
            <a:r>
              <a:rPr lang="en-US" altLang="ko-KR" sz="1400" dirty="0"/>
              <a:t>...(</a:t>
            </a:r>
            <a:r>
              <a:rPr lang="ko-KR" altLang="en-US" sz="1400" dirty="0"/>
              <a:t>생략</a:t>
            </a:r>
            <a:r>
              <a:rPr lang="en-US" altLang="ko-KR" sz="1400" dirty="0"/>
              <a:t>)</a:t>
            </a:r>
          </a:p>
          <a:p>
            <a:pPr fontAlgn="base"/>
            <a:r>
              <a:rPr lang="en-US" altLang="ko-KR" sz="1400" dirty="0"/>
              <a:t>* Debugger PIN: 315-171-481</a:t>
            </a:r>
          </a:p>
          <a:p>
            <a:pPr fontAlgn="base"/>
            <a:r>
              <a:rPr lang="en-US" altLang="ko-KR" sz="1400" dirty="0">
                <a:solidFill>
                  <a:srgbClr val="C00000"/>
                </a:solidFill>
              </a:rPr>
              <a:t>192.168.0.50 - - [09/May/2023 13:53:23] "GET / HTTP/1.1" 200 -</a:t>
            </a:r>
          </a:p>
          <a:p>
            <a:pPr fontAlgn="base"/>
            <a:r>
              <a:rPr lang="en-US" altLang="ko-KR" sz="1400" dirty="0">
                <a:solidFill>
                  <a:srgbClr val="C00000"/>
                </a:solidFill>
              </a:rPr>
              <a:t>192.168.0.50 - - [09/May/2023 13:53:23] "GET /favicon.ico HTTP/1.1" 404 -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B334A09-BEBC-07A4-5758-D50A4C022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772816"/>
            <a:ext cx="4752528" cy="1374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6872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7C451A4-BC4B-4AAF-ACCE-3288F279C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20</a:t>
            </a:fld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67C5042-6545-4B45-9C93-C84430C7E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951" y="239402"/>
            <a:ext cx="7582098" cy="6379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1832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77F036-F175-4116-937C-E6B48C37C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ko-KR" altLang="en-US"/>
              <a:t>예제 </a:t>
            </a:r>
            <a:r>
              <a:rPr lang="en-US" altLang="ko-KR"/>
              <a:t>6-1 </a:t>
            </a:r>
            <a:r>
              <a:rPr lang="ko-KR" altLang="en-US" dirty="0"/>
              <a:t>플라스크 웹 서버 만들기 연습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9FF9B6-77A3-41B6-996E-0ACD9407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21</a:t>
            </a:fld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253CDA2-A0DD-47EE-8E2D-BF64A389B7ED}"/>
              </a:ext>
            </a:extLst>
          </p:cNvPr>
          <p:cNvSpPr/>
          <p:nvPr/>
        </p:nvSpPr>
        <p:spPr>
          <a:xfrm>
            <a:off x="524675" y="1366210"/>
            <a:ext cx="81793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웹 브라우저에서 ‘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192.168.0.5:8080/hello/’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라는 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URL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을 입력하면 다음과 같은 웹 페이지가 출력되도록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플라스크를 이용하여 웹 서버를 구축하라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.</a:t>
            </a:r>
            <a:endParaRPr lang="ko-KR" altLang="en-US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39C56B0-09E9-4930-9320-10594433DC41}"/>
              </a:ext>
            </a:extLst>
          </p:cNvPr>
          <p:cNvSpPr/>
          <p:nvPr/>
        </p:nvSpPr>
        <p:spPr>
          <a:xfrm>
            <a:off x="612647" y="2430755"/>
            <a:ext cx="7179035" cy="375487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from flask import Flask</a:t>
            </a:r>
          </a:p>
          <a:p>
            <a:pPr defTabSz="180000"/>
            <a:endParaRPr lang="en-US" altLang="ko-KR" sz="1400" dirty="0"/>
          </a:p>
          <a:p>
            <a:pPr defTabSz="180000"/>
            <a:r>
              <a:rPr lang="en-US" altLang="ko-KR" sz="1400" dirty="0"/>
              <a:t>app = Flask(__name__)</a:t>
            </a:r>
          </a:p>
          <a:p>
            <a:pPr defTabSz="180000"/>
            <a:endParaRPr lang="en-US" altLang="ko-KR" sz="1400" dirty="0"/>
          </a:p>
          <a:p>
            <a:pPr defTabSz="180000"/>
            <a:r>
              <a:rPr lang="en-US" altLang="ko-KR" sz="1400" dirty="0"/>
              <a:t>@</a:t>
            </a:r>
            <a:r>
              <a:rPr lang="en-US" altLang="ko-KR" sz="1400" dirty="0" err="1"/>
              <a:t>app.route</a:t>
            </a:r>
            <a:r>
              <a:rPr lang="en-US" altLang="ko-KR" sz="1400" dirty="0"/>
              <a:t>('/hello/')</a:t>
            </a:r>
          </a:p>
          <a:p>
            <a:pPr defTabSz="180000"/>
            <a:r>
              <a:rPr lang="en-US" altLang="ko-KR" sz="1400" dirty="0"/>
              <a:t>def hello( ):</a:t>
            </a:r>
          </a:p>
          <a:p>
            <a:pPr defTabSz="180000"/>
            <a:r>
              <a:rPr lang="en-US" altLang="ko-KR" sz="1400" dirty="0"/>
              <a:t>	return """</a:t>
            </a:r>
          </a:p>
          <a:p>
            <a:pPr defTabSz="180000"/>
            <a:r>
              <a:rPr lang="en-US" altLang="ko-KR" sz="1400" dirty="0"/>
              <a:t>		&lt;!DOCTYPE html&gt;</a:t>
            </a:r>
          </a:p>
          <a:p>
            <a:pPr defTabSz="180000"/>
            <a:r>
              <a:rPr lang="en-US" altLang="ko-KR" sz="1400" dirty="0"/>
              <a:t>		&lt;html&gt;</a:t>
            </a:r>
          </a:p>
          <a:p>
            <a:pPr defTabSz="180000"/>
            <a:r>
              <a:rPr lang="en-US" altLang="ko-KR" sz="1400" dirty="0"/>
              <a:t>			&lt;body&gt;</a:t>
            </a:r>
          </a:p>
          <a:p>
            <a:pPr defTabSz="180000"/>
            <a:r>
              <a:rPr lang="en-US" altLang="ko-KR" sz="1400" dirty="0"/>
              <a:t>				&lt;h2&gt;Hello, Raspberry Pi&lt;/h2&gt;</a:t>
            </a:r>
          </a:p>
          <a:p>
            <a:pPr defTabSz="180000"/>
            <a:r>
              <a:rPr lang="en-US" altLang="ko-KR" sz="1400" dirty="0"/>
              <a:t>			&lt;/body&gt;</a:t>
            </a:r>
          </a:p>
          <a:p>
            <a:pPr defTabSz="180000"/>
            <a:r>
              <a:rPr lang="en-US" altLang="ko-KR" sz="1400" dirty="0"/>
              <a:t>		&lt;/html&gt;</a:t>
            </a:r>
          </a:p>
          <a:p>
            <a:pPr defTabSz="180000"/>
            <a:r>
              <a:rPr lang="en-US" altLang="ko-KR" sz="1400" dirty="0"/>
              <a:t>		"""</a:t>
            </a:r>
          </a:p>
          <a:p>
            <a:pPr defTabSz="180000"/>
            <a:endParaRPr lang="en-US" altLang="ko-KR" sz="1400" dirty="0"/>
          </a:p>
          <a:p>
            <a:pPr defTabSz="180000"/>
            <a:r>
              <a:rPr lang="en-US" altLang="ko-KR" sz="1400" dirty="0"/>
              <a:t>if __name__ == '__main__':</a:t>
            </a:r>
          </a:p>
          <a:p>
            <a:pPr defTabSz="180000"/>
            <a:r>
              <a:rPr lang="en-US" altLang="ko-KR" sz="1400" dirty="0"/>
              <a:t>	</a:t>
            </a:r>
            <a:r>
              <a:rPr lang="en-US" altLang="ko-KR" sz="1400" dirty="0" err="1"/>
              <a:t>app.run</a:t>
            </a:r>
            <a:r>
              <a:rPr lang="en-US" altLang="ko-KR" sz="1400" dirty="0"/>
              <a:t>(host='0.0.0.0', port=8080, debug=True)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B9ABA0-8683-4D17-B12B-58C4C384E537}"/>
              </a:ext>
            </a:extLst>
          </p:cNvPr>
          <p:cNvSpPr txBox="1"/>
          <p:nvPr/>
        </p:nvSpPr>
        <p:spPr>
          <a:xfrm>
            <a:off x="524675" y="2092201"/>
            <a:ext cx="7665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6-1.py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5866586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4A6399-F8FB-4DC1-995A-9DE29A184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예제 </a:t>
            </a:r>
            <a:r>
              <a:rPr lang="en-US" altLang="ko-KR"/>
              <a:t>6-1 (</a:t>
            </a:r>
            <a:r>
              <a:rPr lang="ko-KR" altLang="en-US"/>
              <a:t>계속</a:t>
            </a:r>
            <a:r>
              <a:rPr lang="en-US" altLang="ko-KR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4FAFE1-9BC0-4DE1-A04E-EE3A3F054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22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7BCDEF5-4027-4A66-BE07-2CE00AD4AA30}"/>
              </a:ext>
            </a:extLst>
          </p:cNvPr>
          <p:cNvSpPr/>
          <p:nvPr/>
        </p:nvSpPr>
        <p:spPr>
          <a:xfrm>
            <a:off x="656145" y="1556792"/>
            <a:ext cx="6292119" cy="129614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pPr fontAlgn="base"/>
            <a:r>
              <a:rPr lang="fi-FI" altLang="ko-KR" sz="1400" b="1" dirty="0"/>
              <a:t>(myenv) pi@pi:~/ch06 $ python 6-1.py</a:t>
            </a:r>
          </a:p>
          <a:p>
            <a:pPr fontAlgn="base"/>
            <a:r>
              <a:rPr lang="en-US" altLang="ko-KR" sz="1400" dirty="0"/>
              <a:t>* Serving Flask app "6-1" (lazy loading)</a:t>
            </a:r>
          </a:p>
          <a:p>
            <a:pPr fontAlgn="base"/>
            <a:r>
              <a:rPr lang="en-US" altLang="ko-KR" sz="1400" dirty="0"/>
              <a:t>....(</a:t>
            </a:r>
            <a:r>
              <a:rPr lang="ko-KR" altLang="en-US" sz="1400" dirty="0"/>
              <a:t>생략</a:t>
            </a:r>
            <a:r>
              <a:rPr lang="en-US" altLang="ko-KR" sz="1400" dirty="0"/>
              <a:t>)</a:t>
            </a:r>
          </a:p>
          <a:p>
            <a:pPr fontAlgn="base"/>
            <a:r>
              <a:rPr lang="en-US" altLang="ko-KR" sz="1400" dirty="0"/>
              <a:t>* Debugger PIN: 235-625-251</a:t>
            </a:r>
          </a:p>
          <a:p>
            <a:pPr fontAlgn="base"/>
            <a:r>
              <a:rPr lang="en-US" altLang="ko-KR" sz="1400" dirty="0"/>
              <a:t>192.168.0.50 - - [13/May/2023 08:46:01] "GET /hello/ HTTP/1.1" 200 -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114434D-F404-0B9C-2FBC-8CF724423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145" y="3068960"/>
            <a:ext cx="4949462" cy="1445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1780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F8E27FE-B5AD-43CA-8953-D695DFAC9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6.3 URL</a:t>
            </a:r>
            <a:r>
              <a:rPr lang="ko-KR" altLang="en-US"/>
              <a:t> 라우팅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E4514A-DA07-4BA5-9494-3CD53A6DA0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34850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FE4727-B256-4F95-B671-12507B951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680120"/>
          </a:xfrm>
        </p:spPr>
        <p:txBody>
          <a:bodyPr>
            <a:normAutofit/>
          </a:bodyPr>
          <a:lstStyle/>
          <a:p>
            <a:r>
              <a:rPr lang="en-US" altLang="ko-KR" dirty="0"/>
              <a:t>URL</a:t>
            </a:r>
            <a:r>
              <a:rPr lang="ko-KR" altLang="en-US" dirty="0"/>
              <a:t>과 라우팅 테이블 리뷰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9BAA49-25CC-4AF0-833D-9DF7F82AF36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동적 컨텐츠의 요청</a:t>
            </a:r>
            <a:endParaRPr lang="en-US" altLang="ko-KR" dirty="0"/>
          </a:p>
          <a:p>
            <a:pPr lvl="1"/>
            <a:r>
              <a:rPr lang="en-US" altLang="ko-KR" dirty="0"/>
              <a:t>URL</a:t>
            </a:r>
            <a:r>
              <a:rPr lang="ko-KR" altLang="en-US" dirty="0"/>
              <a:t>의 요청이 동적 콘텐츠에 대한 </a:t>
            </a:r>
            <a:r>
              <a:rPr lang="ko-KR" altLang="en-US"/>
              <a:t>요청인 경우</a:t>
            </a:r>
            <a:endParaRPr lang="en-US" altLang="ko-KR"/>
          </a:p>
          <a:p>
            <a:pPr lvl="2"/>
            <a:r>
              <a:rPr lang="ko-KR" altLang="en-US"/>
              <a:t>웹 </a:t>
            </a:r>
            <a:r>
              <a:rPr lang="ko-KR" altLang="en-US" dirty="0"/>
              <a:t>서버는 동적 콘텐츠를 만들어내는 작업을 수행</a:t>
            </a:r>
            <a:endParaRPr lang="en-US" altLang="ko-KR" dirty="0"/>
          </a:p>
          <a:p>
            <a:pPr lvl="2"/>
            <a:r>
              <a:rPr lang="ko-KR" altLang="en-US" dirty="0"/>
              <a:t>플라스크는 웹 서버에서 요청 </a:t>
            </a:r>
            <a:r>
              <a:rPr lang="en-US" altLang="ko-KR" dirty="0"/>
              <a:t>URL</a:t>
            </a:r>
            <a:r>
              <a:rPr lang="ko-KR" altLang="en-US" dirty="0"/>
              <a:t>에 대해 동적 콘텐츠를 생성하는 함수가 실행되도록</a:t>
            </a:r>
            <a:r>
              <a:rPr lang="en-US" altLang="ko-KR" dirty="0"/>
              <a:t>, URL </a:t>
            </a:r>
            <a:r>
              <a:rPr lang="ko-KR" altLang="en-US" dirty="0"/>
              <a:t>라우팅 테이블이라고 불리는 곳에 </a:t>
            </a:r>
            <a:r>
              <a:rPr lang="en-US" altLang="ko-KR" dirty="0"/>
              <a:t>[URL: </a:t>
            </a:r>
            <a:r>
              <a:rPr lang="ko-KR" altLang="en-US" dirty="0"/>
              <a:t>함수</a:t>
            </a:r>
            <a:r>
              <a:rPr lang="en-US" altLang="ko-KR" dirty="0"/>
              <a:t>]</a:t>
            </a:r>
            <a:r>
              <a:rPr lang="ko-KR" altLang="en-US" dirty="0"/>
              <a:t>의 형태로 저장</a:t>
            </a:r>
          </a:p>
          <a:p>
            <a:pPr lvl="1"/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2C7360-25A4-4E0F-B799-A7CD9D159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24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B15703B-C773-4941-8A5B-BDD97B0BB8AB}"/>
              </a:ext>
            </a:extLst>
          </p:cNvPr>
          <p:cNvSpPr/>
          <p:nvPr/>
        </p:nvSpPr>
        <p:spPr>
          <a:xfrm>
            <a:off x="1259632" y="3573016"/>
            <a:ext cx="7344816" cy="7386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/>
              <a:t>@app.route</a:t>
            </a:r>
            <a:r>
              <a:rPr lang="en-US" altLang="ko-KR" sz="1400" dirty="0"/>
              <a:t>('/')		# </a:t>
            </a:r>
            <a:r>
              <a:rPr lang="ko-KR" altLang="en-US" sz="1400" dirty="0"/>
              <a:t>라우팅 </a:t>
            </a:r>
            <a:r>
              <a:rPr lang="ko-KR" altLang="en-US" sz="1400"/>
              <a:t>테이블에 </a:t>
            </a:r>
            <a:r>
              <a:rPr lang="en-US" altLang="ko-KR" sz="1400" dirty="0"/>
              <a:t>['/':home] </a:t>
            </a:r>
            <a:r>
              <a:rPr lang="ko-KR" altLang="en-US" sz="1400" dirty="0"/>
              <a:t>항목 저장</a:t>
            </a:r>
          </a:p>
          <a:p>
            <a:pPr defTabSz="180000"/>
            <a:r>
              <a:rPr lang="en-US" altLang="ko-KR" sz="1400" dirty="0"/>
              <a:t>def home():</a:t>
            </a:r>
          </a:p>
          <a:p>
            <a:pPr defTabSz="180000"/>
            <a:r>
              <a:rPr lang="en-US" altLang="ko-KR" sz="1400" dirty="0"/>
              <a:t>	return '&lt;h2&gt;Hello, Flask&lt;/h2&gt;'</a:t>
            </a:r>
          </a:p>
        </p:txBody>
      </p:sp>
    </p:spTree>
    <p:extLst>
      <p:ext uri="{BB962C8B-B14F-4D97-AF65-F5344CB8AC3E}">
        <p14:creationId xmlns:p14="http://schemas.microsoft.com/office/powerpoint/2010/main" val="23401447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767FC8-DFD5-4DED-9FE5-614B6F47D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base"/>
            <a:r>
              <a:rPr lang="ko-KR" altLang="en-US" dirty="0"/>
              <a:t>예제 </a:t>
            </a:r>
            <a:r>
              <a:rPr lang="en-US" altLang="ko-KR" dirty="0"/>
              <a:t>6-2 URL </a:t>
            </a:r>
            <a:r>
              <a:rPr lang="ko-KR" altLang="en-US" dirty="0"/>
              <a:t>라우팅으로 동적 콘텐츠를 만들어 응답하기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B88488-2CC1-4B2E-8B87-9C8CCA457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25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6D82733-360F-482E-BB03-5ECD3F42B740}"/>
              </a:ext>
            </a:extLst>
          </p:cNvPr>
          <p:cNvSpPr/>
          <p:nvPr/>
        </p:nvSpPr>
        <p:spPr>
          <a:xfrm>
            <a:off x="612648" y="2512055"/>
            <a:ext cx="6767664" cy="31085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from flask import Flask</a:t>
            </a:r>
          </a:p>
          <a:p>
            <a:pPr defTabSz="180000"/>
            <a:endParaRPr lang="en-US" altLang="ko-KR" sz="1400" dirty="0"/>
          </a:p>
          <a:p>
            <a:pPr defTabSz="180000"/>
            <a:r>
              <a:rPr lang="en-US" altLang="ko-KR" sz="1400" dirty="0"/>
              <a:t>app = Flask(__name__)</a:t>
            </a:r>
          </a:p>
          <a:p>
            <a:pPr defTabSz="180000"/>
            <a:endParaRPr lang="en-US" altLang="ko-KR" sz="1400" dirty="0"/>
          </a:p>
          <a:p>
            <a:pPr defTabSz="180000"/>
            <a:r>
              <a:rPr lang="en-US" altLang="ko-KR" sz="1400" dirty="0"/>
              <a:t>@</a:t>
            </a:r>
            <a:r>
              <a:rPr lang="en-US" altLang="ko-KR" sz="1400" dirty="0" err="1"/>
              <a:t>app.route</a:t>
            </a:r>
            <a:r>
              <a:rPr lang="en-US" altLang="ko-KR" sz="1400" dirty="0"/>
              <a:t>('/</a:t>
            </a:r>
            <a:r>
              <a:rPr lang="en-US" altLang="ko-KR" sz="1400" dirty="0" err="1"/>
              <a:t>kitae</a:t>
            </a:r>
            <a:r>
              <a:rPr lang="en-US" altLang="ko-KR" sz="1400" dirty="0"/>
              <a:t>/')</a:t>
            </a:r>
          </a:p>
          <a:p>
            <a:pPr defTabSz="180000"/>
            <a:r>
              <a:rPr lang="en-US" altLang="ko-KR" sz="1400" dirty="0"/>
              <a:t>def </a:t>
            </a:r>
            <a:r>
              <a:rPr lang="en-US" altLang="ko-KR" sz="1400" dirty="0" err="1"/>
              <a:t>doKitae</a:t>
            </a:r>
            <a:r>
              <a:rPr lang="en-US" altLang="ko-KR" sz="1400" dirty="0"/>
              <a:t>( ):</a:t>
            </a:r>
          </a:p>
          <a:p>
            <a:pPr defTabSz="180000"/>
            <a:r>
              <a:rPr lang="en-US" altLang="ko-KR" sz="1400" dirty="0"/>
              <a:t>	return "&lt;h2&gt;Hello, </a:t>
            </a:r>
            <a:r>
              <a:rPr lang="en-US" altLang="ko-KR" sz="1400" dirty="0" err="1"/>
              <a:t>Kitae</a:t>
            </a:r>
            <a:r>
              <a:rPr lang="en-US" altLang="ko-KR" sz="1400" dirty="0"/>
              <a:t>&lt;/h2&gt;"</a:t>
            </a:r>
          </a:p>
          <a:p>
            <a:pPr defTabSz="180000"/>
            <a:endParaRPr lang="en-US" altLang="ko-KR" sz="1400" dirty="0"/>
          </a:p>
          <a:p>
            <a:pPr defTabSz="180000"/>
            <a:r>
              <a:rPr lang="en-US" altLang="ko-KR" sz="1400" dirty="0"/>
              <a:t>@</a:t>
            </a:r>
            <a:r>
              <a:rPr lang="en-US" altLang="ko-KR" sz="1400" dirty="0" err="1"/>
              <a:t>app.route</a:t>
            </a:r>
            <a:r>
              <a:rPr lang="en-US" altLang="ko-KR" sz="1400" dirty="0"/>
              <a:t>('/</a:t>
            </a:r>
            <a:r>
              <a:rPr lang="en-US" altLang="ko-KR" sz="1400" dirty="0" err="1"/>
              <a:t>jmlee</a:t>
            </a:r>
            <a:r>
              <a:rPr lang="en-US" altLang="ko-KR" sz="1400" dirty="0"/>
              <a:t>/')</a:t>
            </a:r>
          </a:p>
          <a:p>
            <a:pPr defTabSz="180000"/>
            <a:r>
              <a:rPr lang="en-US" altLang="ko-KR" sz="1400" dirty="0"/>
              <a:t>def </a:t>
            </a:r>
            <a:r>
              <a:rPr lang="en-US" altLang="ko-KR" sz="1400" dirty="0" err="1"/>
              <a:t>doJmlee</a:t>
            </a:r>
            <a:r>
              <a:rPr lang="en-US" altLang="ko-KR" sz="1400" dirty="0"/>
              <a:t>( ):</a:t>
            </a:r>
          </a:p>
          <a:p>
            <a:pPr defTabSz="180000"/>
            <a:r>
              <a:rPr lang="en-US" altLang="ko-KR" sz="1400" dirty="0"/>
              <a:t>	return "&lt;h2&gt;Hello, </a:t>
            </a:r>
            <a:r>
              <a:rPr lang="en-US" altLang="ko-KR" sz="1400" dirty="0" err="1"/>
              <a:t>Jmlee</a:t>
            </a:r>
            <a:r>
              <a:rPr lang="en-US" altLang="ko-KR" sz="1400" dirty="0"/>
              <a:t>&lt;/h2&gt;"</a:t>
            </a:r>
          </a:p>
          <a:p>
            <a:pPr defTabSz="180000"/>
            <a:endParaRPr lang="en-US" altLang="ko-KR" sz="1400" dirty="0"/>
          </a:p>
          <a:p>
            <a:pPr defTabSz="180000"/>
            <a:r>
              <a:rPr lang="en-US" altLang="ko-KR" sz="1400" dirty="0"/>
              <a:t>if __name__ == '__main__':</a:t>
            </a:r>
          </a:p>
          <a:p>
            <a:pPr defTabSz="180000"/>
            <a:r>
              <a:rPr lang="en-US" altLang="ko-KR" sz="1400" dirty="0"/>
              <a:t>	</a:t>
            </a:r>
            <a:r>
              <a:rPr lang="en-US" altLang="ko-KR" sz="1400" dirty="0" err="1"/>
              <a:t>app.run</a:t>
            </a:r>
            <a:r>
              <a:rPr lang="en-US" altLang="ko-KR" sz="1400" dirty="0"/>
              <a:t>(host='0.0.0.0', port=8080, debug=True)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6F9D0EA-D298-4B13-AA80-3196ED6F8CA2}"/>
              </a:ext>
            </a:extLst>
          </p:cNvPr>
          <p:cNvSpPr/>
          <p:nvPr/>
        </p:nvSpPr>
        <p:spPr>
          <a:xfrm>
            <a:off x="529137" y="1423337"/>
            <a:ext cx="85080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웹 브라우저에서 ‘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/</a:t>
            </a:r>
            <a:r>
              <a:rPr lang="en-US" altLang="ko-KR" sz="1600" dirty="0" err="1">
                <a:solidFill>
                  <a:schemeClr val="accent2">
                    <a:lumMod val="75000"/>
                  </a:schemeClr>
                </a:solidFill>
              </a:rPr>
              <a:t>kitae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/ ’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의 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URL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로 요청하는 경우와 ‘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/</a:t>
            </a:r>
            <a:r>
              <a:rPr lang="en-US" altLang="ko-KR" sz="1600" dirty="0" err="1">
                <a:solidFill>
                  <a:schemeClr val="accent2">
                    <a:lumMod val="75000"/>
                  </a:schemeClr>
                </a:solidFill>
              </a:rPr>
              <a:t>jmlee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/ ’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의 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URL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로 요청하는 경우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각각 다음과 같이 출력되도록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플라스크를 활용하여 웹 서버 프로그램을 작성하라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.</a:t>
            </a:r>
            <a:endParaRPr lang="ko-KR" altLang="en-US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07F09E-48C4-4557-AEFE-0D9C4B8C4547}"/>
              </a:ext>
            </a:extLst>
          </p:cNvPr>
          <p:cNvSpPr txBox="1"/>
          <p:nvPr/>
        </p:nvSpPr>
        <p:spPr>
          <a:xfrm>
            <a:off x="524675" y="2173501"/>
            <a:ext cx="7665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6-2.py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7257672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43FD27-F335-43F2-974F-3BCB561B6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예제 </a:t>
            </a:r>
            <a:r>
              <a:rPr lang="en-US" altLang="ko-KR"/>
              <a:t>6-2 (</a:t>
            </a:r>
            <a:r>
              <a:rPr lang="ko-KR" altLang="en-US"/>
              <a:t>계속</a:t>
            </a:r>
            <a:r>
              <a:rPr lang="en-US" altLang="ko-KR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19FE96-0E7E-4C48-83B6-390FC39AC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26</a:t>
            </a:fld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3E510C3-5A34-449C-9A84-46F943020185}"/>
              </a:ext>
            </a:extLst>
          </p:cNvPr>
          <p:cNvSpPr/>
          <p:nvPr/>
        </p:nvSpPr>
        <p:spPr>
          <a:xfrm>
            <a:off x="612648" y="1523126"/>
            <a:ext cx="7847784" cy="156966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pPr fontAlgn="base"/>
            <a:r>
              <a:rPr lang="fi-FI" altLang="ko-KR" sz="1400" b="1" dirty="0"/>
              <a:t>(myenv) pi@pi:~/ch06 $ python 6-2.py</a:t>
            </a:r>
          </a:p>
          <a:p>
            <a:pPr fontAlgn="base"/>
            <a:r>
              <a:rPr lang="en-US" altLang="ko-KR" sz="1400" dirty="0"/>
              <a:t>* Serving Flask app "6-2" (lazy loading)</a:t>
            </a:r>
          </a:p>
          <a:p>
            <a:pPr fontAlgn="base"/>
            <a:r>
              <a:rPr lang="en-US" altLang="ko-KR" sz="1400" dirty="0"/>
              <a:t>....(</a:t>
            </a:r>
            <a:r>
              <a:rPr lang="ko-KR" altLang="en-US" sz="1400" dirty="0"/>
              <a:t>생략</a:t>
            </a:r>
            <a:r>
              <a:rPr lang="en-US" altLang="ko-KR" sz="1400" dirty="0"/>
              <a:t>)</a:t>
            </a:r>
          </a:p>
          <a:p>
            <a:pPr fontAlgn="base"/>
            <a:r>
              <a:rPr lang="en-US" altLang="ko-KR" sz="1400" dirty="0"/>
              <a:t>* Debugger PIN: 235-625-251</a:t>
            </a:r>
          </a:p>
          <a:p>
            <a:pPr fontAlgn="base"/>
            <a:r>
              <a:rPr lang="en-US" altLang="ko-KR" sz="1400" dirty="0"/>
              <a:t>192.168.0.50 - - [13/May/2023 08:55:19] "GET /</a:t>
            </a:r>
            <a:r>
              <a:rPr lang="en-US" altLang="ko-KR" sz="1400" dirty="0" err="1"/>
              <a:t>kitae</a:t>
            </a:r>
            <a:r>
              <a:rPr lang="en-US" altLang="ko-KR" sz="1400" dirty="0"/>
              <a:t>/ HTTP/1.1" 200 -</a:t>
            </a:r>
          </a:p>
          <a:p>
            <a:pPr fontAlgn="base"/>
            <a:r>
              <a:rPr lang="en-US" altLang="ko-KR" sz="1400" dirty="0"/>
              <a:t>192.168.0.50 - - [13/May/2023 08:56:21] "GET /</a:t>
            </a:r>
            <a:r>
              <a:rPr lang="en-US" altLang="ko-KR" sz="1400" dirty="0" err="1"/>
              <a:t>jmlee</a:t>
            </a:r>
            <a:r>
              <a:rPr lang="en-US" altLang="ko-KR" sz="1400" dirty="0"/>
              <a:t>/ HTTP/1.1" 200 -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4FAD3C0-695D-F870-DA73-BB3135BB4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8202" y="4808220"/>
            <a:ext cx="5213673" cy="139031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01E3F62-E701-3FB7-B08E-D3A3E7EA56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7" y="3255346"/>
            <a:ext cx="5213673" cy="139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0113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D8D729-F253-470C-AD6A-D892D2EDC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URL </a:t>
            </a:r>
            <a:r>
              <a:rPr lang="ko-KR" altLang="en-US" dirty="0"/>
              <a:t>끝에 </a:t>
            </a:r>
            <a:r>
              <a:rPr lang="en-US" altLang="ko-KR" dirty="0"/>
              <a:t>/</a:t>
            </a:r>
            <a:r>
              <a:rPr lang="ko-KR" altLang="en-US" dirty="0"/>
              <a:t>가 있는 경우와 없는 경우 차이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2B3C45-17B2-4E91-B2B2-27116A03851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다음 </a:t>
            </a:r>
            <a:r>
              <a:rPr lang="en-US" altLang="ko-KR" dirty="0"/>
              <a:t>2 URL</a:t>
            </a:r>
            <a:r>
              <a:rPr lang="ko-KR" altLang="en-US" dirty="0"/>
              <a:t>은 서로 다른 것으로 다룸</a:t>
            </a:r>
          </a:p>
          <a:p>
            <a:pPr lvl="1" fontAlgn="base"/>
            <a:r>
              <a:rPr lang="en-US" altLang="ko-KR" dirty="0"/>
              <a:t>/</a:t>
            </a:r>
            <a:r>
              <a:rPr lang="en-US" altLang="ko-KR" dirty="0" err="1"/>
              <a:t>kitae</a:t>
            </a:r>
            <a:endParaRPr lang="en-US" altLang="ko-KR" dirty="0"/>
          </a:p>
          <a:p>
            <a:pPr lvl="1" fontAlgn="base"/>
            <a:r>
              <a:rPr lang="en-US" altLang="ko-KR" dirty="0"/>
              <a:t>/</a:t>
            </a:r>
            <a:r>
              <a:rPr lang="en-US" altLang="ko-KR" dirty="0" err="1"/>
              <a:t>kitae</a:t>
            </a:r>
            <a:r>
              <a:rPr lang="en-US" altLang="ko-KR" b="1" dirty="0">
                <a:solidFill>
                  <a:srgbClr val="FF0000"/>
                </a:solidFill>
              </a:rPr>
              <a:t>/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FC9F4A-3A7C-4C84-A88D-147D58664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27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CFC5B87-F6CF-4E1D-BB78-45729B8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2854330"/>
            <a:ext cx="7740352" cy="2662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2654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1AE1F5-B2B5-4E95-8A80-7DAA0ED49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/>
              <a:t>예제 </a:t>
            </a:r>
            <a:r>
              <a:rPr lang="en-US" altLang="ko-KR"/>
              <a:t>6-3 </a:t>
            </a:r>
            <a:r>
              <a:rPr lang="en-US" altLang="ko-KR" dirty="0"/>
              <a:t>URL </a:t>
            </a:r>
            <a:r>
              <a:rPr lang="ko-KR" altLang="en-US" dirty="0"/>
              <a:t>끝에 </a:t>
            </a:r>
            <a:r>
              <a:rPr lang="en-US" altLang="ko-KR" dirty="0"/>
              <a:t>/</a:t>
            </a:r>
            <a:r>
              <a:rPr lang="ko-KR" altLang="en-US" dirty="0"/>
              <a:t>가 있는 경우와 없는 경우 웹 서버 처리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AE25F9-9351-4CF3-9966-4C3E206CD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28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DA15B66-7BAF-4CB3-ABC1-F3C32D6927F9}"/>
              </a:ext>
            </a:extLst>
          </p:cNvPr>
          <p:cNvSpPr/>
          <p:nvPr/>
        </p:nvSpPr>
        <p:spPr>
          <a:xfrm>
            <a:off x="620770" y="2686268"/>
            <a:ext cx="7902460" cy="31085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from flask import Flask</a:t>
            </a:r>
          </a:p>
          <a:p>
            <a:pPr defTabSz="180000"/>
            <a:endParaRPr lang="en-US" altLang="ko-KR" sz="1400" dirty="0"/>
          </a:p>
          <a:p>
            <a:pPr defTabSz="180000"/>
            <a:r>
              <a:rPr lang="en-US" altLang="ko-KR" sz="1400" dirty="0"/>
              <a:t>app = Flask(__name__)</a:t>
            </a:r>
          </a:p>
          <a:p>
            <a:pPr defTabSz="180000"/>
            <a:endParaRPr lang="en-US" altLang="ko-KR" sz="1400" dirty="0"/>
          </a:p>
          <a:p>
            <a:pPr defTabSz="180000"/>
            <a:r>
              <a:rPr lang="en-US" altLang="ko-KR" sz="1400" dirty="0"/>
              <a:t>@</a:t>
            </a:r>
            <a:r>
              <a:rPr lang="en-US" altLang="ko-KR" sz="1400" dirty="0" err="1"/>
              <a:t>app.route</a:t>
            </a:r>
            <a:r>
              <a:rPr lang="en-US" altLang="ko-KR" sz="1400" dirty="0"/>
              <a:t>('/</a:t>
            </a:r>
            <a:r>
              <a:rPr lang="en-US" altLang="ko-KR" sz="1400" dirty="0" err="1"/>
              <a:t>kitae</a:t>
            </a:r>
            <a:r>
              <a:rPr lang="en-US" altLang="ko-KR" sz="1400" dirty="0"/>
              <a:t>') # URL </a:t>
            </a:r>
            <a:r>
              <a:rPr lang="ko-KR" altLang="en-US" sz="1400" dirty="0"/>
              <a:t>끝에 </a:t>
            </a:r>
            <a:r>
              <a:rPr lang="en-US" altLang="ko-KR" sz="1400" dirty="0"/>
              <a:t>/</a:t>
            </a:r>
            <a:r>
              <a:rPr lang="ko-KR" altLang="en-US" sz="1400" dirty="0"/>
              <a:t>가 없는 경우이다</a:t>
            </a:r>
            <a:r>
              <a:rPr lang="en-US" altLang="ko-KR" sz="1400" dirty="0"/>
              <a:t>.</a:t>
            </a:r>
          </a:p>
          <a:p>
            <a:pPr defTabSz="180000"/>
            <a:r>
              <a:rPr lang="en-US" altLang="ko-KR" sz="1400" dirty="0"/>
              <a:t>def </a:t>
            </a:r>
            <a:r>
              <a:rPr lang="en-US" altLang="ko-KR" sz="1400" dirty="0" err="1"/>
              <a:t>doKitae</a:t>
            </a:r>
            <a:r>
              <a:rPr lang="en-US" altLang="ko-KR" sz="1400" dirty="0"/>
              <a:t>( ):</a:t>
            </a:r>
          </a:p>
          <a:p>
            <a:pPr defTabSz="180000"/>
            <a:r>
              <a:rPr lang="en-US" altLang="ko-KR" sz="1400" dirty="0"/>
              <a:t>	return "&lt;h2&gt;Hello, </a:t>
            </a:r>
            <a:r>
              <a:rPr lang="en-US" altLang="ko-KR" sz="1400" dirty="0" err="1"/>
              <a:t>Kitae</a:t>
            </a:r>
            <a:r>
              <a:rPr lang="en-US" altLang="ko-KR" sz="1400" dirty="0"/>
              <a:t>&lt;/h2&gt;"</a:t>
            </a:r>
          </a:p>
          <a:p>
            <a:pPr defTabSz="180000"/>
            <a:endParaRPr lang="en-US" altLang="ko-KR" sz="1400" dirty="0"/>
          </a:p>
          <a:p>
            <a:pPr defTabSz="180000"/>
            <a:r>
              <a:rPr lang="en-US" altLang="ko-KR" sz="1400" dirty="0"/>
              <a:t>@</a:t>
            </a:r>
            <a:r>
              <a:rPr lang="en-US" altLang="ko-KR" sz="1400" dirty="0" err="1"/>
              <a:t>app.route</a:t>
            </a:r>
            <a:r>
              <a:rPr lang="en-US" altLang="ko-KR" sz="1400" dirty="0"/>
              <a:t>('/</a:t>
            </a:r>
            <a:r>
              <a:rPr lang="en-US" altLang="ko-KR" sz="1400" dirty="0" err="1"/>
              <a:t>jmlee</a:t>
            </a:r>
            <a:r>
              <a:rPr lang="en-US" altLang="ko-KR" sz="1400" dirty="0"/>
              <a:t>/') # URL </a:t>
            </a:r>
            <a:r>
              <a:rPr lang="ko-KR" altLang="en-US" sz="1400" dirty="0"/>
              <a:t>끝에 </a:t>
            </a:r>
            <a:r>
              <a:rPr lang="en-US" altLang="ko-KR" sz="1400" dirty="0"/>
              <a:t>/</a:t>
            </a:r>
            <a:r>
              <a:rPr lang="ko-KR" altLang="en-US" sz="1400" dirty="0"/>
              <a:t>가 있는 경우이다</a:t>
            </a:r>
            <a:r>
              <a:rPr lang="en-US" altLang="ko-KR" sz="1400" dirty="0"/>
              <a:t>.</a:t>
            </a:r>
          </a:p>
          <a:p>
            <a:pPr defTabSz="180000"/>
            <a:r>
              <a:rPr lang="en-US" altLang="ko-KR" sz="1400" dirty="0"/>
              <a:t>def </a:t>
            </a:r>
            <a:r>
              <a:rPr lang="en-US" altLang="ko-KR" sz="1400" dirty="0" err="1"/>
              <a:t>doJmlee</a:t>
            </a:r>
            <a:r>
              <a:rPr lang="en-US" altLang="ko-KR" sz="1400" dirty="0"/>
              <a:t>( ):</a:t>
            </a:r>
          </a:p>
          <a:p>
            <a:pPr defTabSz="180000"/>
            <a:r>
              <a:rPr lang="pt-BR" altLang="ko-KR" sz="1400" dirty="0"/>
              <a:t>	return "&lt;h2&gt;Hello, Jmlee&lt;/h2&gt;"</a:t>
            </a:r>
          </a:p>
          <a:p>
            <a:pPr defTabSz="180000"/>
            <a:endParaRPr lang="pt-BR" altLang="ko-KR" sz="1400" dirty="0"/>
          </a:p>
          <a:p>
            <a:pPr defTabSz="180000"/>
            <a:r>
              <a:rPr lang="en-US" altLang="ko-KR" sz="1400" dirty="0"/>
              <a:t>if __name__ == '__main__':</a:t>
            </a:r>
          </a:p>
          <a:p>
            <a:pPr defTabSz="180000"/>
            <a:r>
              <a:rPr lang="da-DK" altLang="ko-KR" sz="1400" dirty="0"/>
              <a:t>	app.run(host='0.0.0.0', port=8080, debug=True)</a:t>
            </a:r>
            <a:endParaRPr lang="en-US" altLang="ko-KR" sz="14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FF505A0-884C-48BC-A7FD-78E658FC1448}"/>
              </a:ext>
            </a:extLst>
          </p:cNvPr>
          <p:cNvSpPr/>
          <p:nvPr/>
        </p:nvSpPr>
        <p:spPr>
          <a:xfrm>
            <a:off x="524675" y="1340768"/>
            <a:ext cx="83868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예제 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6-2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의 코드에서 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@</a:t>
            </a:r>
            <a:r>
              <a:rPr lang="en-US" altLang="ko-KR" sz="1600" dirty="0" err="1">
                <a:solidFill>
                  <a:schemeClr val="accent2">
                    <a:lumMod val="75000"/>
                  </a:schemeClr>
                </a:solidFill>
              </a:rPr>
              <a:t>app.route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 ('/</a:t>
            </a:r>
            <a:r>
              <a:rPr lang="en-US" altLang="ko-KR" sz="1600" dirty="0" err="1">
                <a:solidFill>
                  <a:schemeClr val="accent2">
                    <a:lumMod val="75000"/>
                  </a:schemeClr>
                </a:solidFill>
              </a:rPr>
              <a:t>kitae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/ ')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를 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@</a:t>
            </a:r>
            <a:r>
              <a:rPr lang="en-US" altLang="ko-KR" sz="1600" dirty="0" err="1">
                <a:solidFill>
                  <a:schemeClr val="accent2">
                    <a:lumMod val="75000"/>
                  </a:schemeClr>
                </a:solidFill>
              </a:rPr>
              <a:t>app.route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 ('/</a:t>
            </a:r>
            <a:r>
              <a:rPr lang="en-US" altLang="ko-KR" sz="1600" dirty="0" err="1">
                <a:solidFill>
                  <a:schemeClr val="accent2">
                    <a:lumMod val="75000"/>
                  </a:schemeClr>
                </a:solidFill>
              </a:rPr>
              <a:t>kitae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')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로 수정하여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예제 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6-2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에서 웹 브라우저 사용자가 입력한 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URL 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그대로 접속하면 그 결과가 어떻게 될 것인지 예측하여 보라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.</a:t>
            </a:r>
            <a:endParaRPr lang="ko-KR" altLang="en-US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F29F03-8A64-4F8B-A331-4CD5CCBBA097}"/>
              </a:ext>
            </a:extLst>
          </p:cNvPr>
          <p:cNvSpPr txBox="1"/>
          <p:nvPr/>
        </p:nvSpPr>
        <p:spPr>
          <a:xfrm>
            <a:off x="524675" y="2355132"/>
            <a:ext cx="7665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6-3.py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2518209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9AFB52-ADCD-487F-A851-5D305FFB1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예제 </a:t>
            </a:r>
            <a:r>
              <a:rPr lang="en-US" altLang="ko-KR"/>
              <a:t>6-3 (</a:t>
            </a:r>
            <a:r>
              <a:rPr lang="ko-KR" altLang="en-US"/>
              <a:t>계속</a:t>
            </a:r>
            <a:r>
              <a:rPr lang="en-US" altLang="ko-KR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482340-82AB-4AC6-809D-737237957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29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24E3755-EE0E-4975-A05E-CF44ABEBB176}"/>
              </a:ext>
            </a:extLst>
          </p:cNvPr>
          <p:cNvSpPr/>
          <p:nvPr/>
        </p:nvSpPr>
        <p:spPr>
          <a:xfrm>
            <a:off x="612648" y="1559266"/>
            <a:ext cx="8125926" cy="156966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pPr fontAlgn="base"/>
            <a:r>
              <a:rPr lang="fi-FI" altLang="ko-KR" sz="1400" b="1" dirty="0"/>
              <a:t>(myenv) pi@pi:~/ch06 $ python 6-3.py</a:t>
            </a:r>
          </a:p>
          <a:p>
            <a:pPr fontAlgn="base"/>
            <a:r>
              <a:rPr lang="en-US" altLang="ko-KR" sz="1400" dirty="0"/>
              <a:t>* Serving Flask app "6-3" (lazy loading)</a:t>
            </a:r>
          </a:p>
          <a:p>
            <a:pPr fontAlgn="base"/>
            <a:r>
              <a:rPr lang="en-US" altLang="ko-KR" sz="1400" dirty="0"/>
              <a:t>....(</a:t>
            </a:r>
            <a:r>
              <a:rPr lang="ko-KR" altLang="en-US" sz="1400" dirty="0"/>
              <a:t>생략</a:t>
            </a:r>
            <a:r>
              <a:rPr lang="en-US" altLang="ko-KR" sz="1400" dirty="0"/>
              <a:t>)</a:t>
            </a:r>
          </a:p>
          <a:p>
            <a:pPr fontAlgn="base"/>
            <a:r>
              <a:rPr lang="en-US" altLang="ko-KR" sz="1400" dirty="0"/>
              <a:t>* Debugger PIN: 235-625-251</a:t>
            </a:r>
          </a:p>
          <a:p>
            <a:pPr fontAlgn="base"/>
            <a:r>
              <a:rPr lang="en-US" altLang="ko-KR" sz="1400" dirty="0"/>
              <a:t>192.168.0.50 - - [12/May/2023 12:43:13] "GET /</a:t>
            </a:r>
            <a:r>
              <a:rPr lang="en-US" altLang="ko-KR" sz="1400" dirty="0" err="1"/>
              <a:t>kitae</a:t>
            </a:r>
            <a:r>
              <a:rPr lang="en-US" altLang="ko-KR" sz="1400" dirty="0"/>
              <a:t>/ HTTP/1.1" 404 -</a:t>
            </a:r>
          </a:p>
          <a:p>
            <a:pPr fontAlgn="base"/>
            <a:r>
              <a:rPr lang="en-US" altLang="ko-KR" sz="1400" dirty="0"/>
              <a:t>192.168.0.50 - - [12/May/2023 12:43:23] "GET /</a:t>
            </a:r>
            <a:r>
              <a:rPr lang="en-US" altLang="ko-KR" sz="1400" dirty="0" err="1"/>
              <a:t>jmlee</a:t>
            </a:r>
            <a:r>
              <a:rPr lang="en-US" altLang="ko-KR" sz="1400" dirty="0"/>
              <a:t>/ HTTP/1.1" 200 -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605F01C-4929-054B-9465-07E356E6D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3233769"/>
            <a:ext cx="5359868" cy="204218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85E19A0-CBFA-40C7-1D02-27B0D21BC5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7810" y="5380798"/>
            <a:ext cx="5359868" cy="128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9388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0D7E2B-6B31-4982-AABA-4D98E0A53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ko-KR" altLang="en-US" dirty="0"/>
              <a:t>정적 콘텐츠 다루기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0EB3FB-B288-44D2-9235-90038F98D06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dirty="0"/>
              <a:t>정적 콘텐츠의 종류</a:t>
            </a:r>
          </a:p>
          <a:p>
            <a:pPr lvl="1"/>
            <a:r>
              <a:rPr lang="en-US" altLang="ko-KR" dirty="0"/>
              <a:t>HTML </a:t>
            </a:r>
            <a:r>
              <a:rPr lang="ko-KR" altLang="en-US" dirty="0"/>
              <a:t>파일이나 </a:t>
            </a:r>
            <a:r>
              <a:rPr lang="en-US" altLang="ko-KR" dirty="0"/>
              <a:t>CSS </a:t>
            </a:r>
            <a:r>
              <a:rPr lang="ko-KR" altLang="en-US" dirty="0"/>
              <a:t>파일</a:t>
            </a:r>
            <a:r>
              <a:rPr lang="en-US" altLang="ko-KR" dirty="0"/>
              <a:t>, </a:t>
            </a:r>
            <a:r>
              <a:rPr lang="ko-KR" altLang="en-US" dirty="0"/>
              <a:t>자바스크립트 파일</a:t>
            </a:r>
            <a:r>
              <a:rPr lang="en-US" altLang="ko-KR" dirty="0"/>
              <a:t>, </a:t>
            </a:r>
            <a:r>
              <a:rPr lang="ko-KR" altLang="en-US" dirty="0"/>
              <a:t>이미지 파일</a:t>
            </a:r>
            <a:r>
              <a:rPr lang="en-US" altLang="ko-KR" dirty="0"/>
              <a:t>, </a:t>
            </a:r>
            <a:r>
              <a:rPr lang="ko-KR" altLang="en-US" dirty="0"/>
              <a:t>오디오 파일</a:t>
            </a:r>
            <a:r>
              <a:rPr lang="en-US" altLang="ko-KR" dirty="0"/>
              <a:t>, </a:t>
            </a:r>
            <a:r>
              <a:rPr lang="ko-KR" altLang="en-US" dirty="0"/>
              <a:t>동영상 파일 등 파일 형태로 만들어져서 변환이 안 되는 형태의 콘텐츠</a:t>
            </a:r>
          </a:p>
          <a:p>
            <a:r>
              <a:rPr lang="ko-KR" altLang="en-US" dirty="0"/>
              <a:t>정적 콘텐츠를 저장해두는 디렉터리</a:t>
            </a:r>
          </a:p>
          <a:p>
            <a:pPr lvl="1"/>
            <a:r>
              <a:rPr lang="ko-KR" altLang="en-US" dirty="0"/>
              <a:t>플라스크는 정적 콘텐츠를 저장해두는 디렉터리 명을 </a:t>
            </a:r>
            <a:r>
              <a:rPr lang="en-US" altLang="ko-KR" dirty="0"/>
              <a:t>static</a:t>
            </a:r>
            <a:r>
              <a:rPr lang="ko-KR" altLang="en-US" dirty="0"/>
              <a:t>으로 정해 놓음</a:t>
            </a:r>
            <a:r>
              <a:rPr lang="en-US" altLang="ko-KR" dirty="0"/>
              <a:t>, </a:t>
            </a:r>
            <a:r>
              <a:rPr lang="ko-KR" altLang="en-US" dirty="0"/>
              <a:t>물론 별도의 설정을 통하여 변경 가능</a:t>
            </a:r>
            <a:endParaRPr lang="en-US" altLang="ko-KR" dirty="0"/>
          </a:p>
          <a:p>
            <a:r>
              <a:rPr lang="ko-KR" altLang="en-US" dirty="0"/>
              <a:t>정적 콘텐츠에 대한 라우팅 테이블 만들지 않음</a:t>
            </a:r>
            <a:endParaRPr lang="en-US" altLang="ko-KR" dirty="0"/>
          </a:p>
          <a:p>
            <a:pPr lvl="1"/>
            <a:r>
              <a:rPr lang="ko-KR" altLang="en-US" dirty="0"/>
              <a:t>디렉터리가 정해져 있으므로 라우팅 테이블에 포함되지 않음</a:t>
            </a:r>
            <a:endParaRPr lang="en-US" altLang="ko-KR" dirty="0"/>
          </a:p>
          <a:p>
            <a:r>
              <a:rPr lang="ko-KR" altLang="en-US" dirty="0"/>
              <a:t>정적 콘텐츠에 대한 라우팅</a:t>
            </a:r>
          </a:p>
          <a:p>
            <a:pPr lvl="1"/>
            <a:r>
              <a:rPr lang="ko-KR" altLang="en-US" dirty="0"/>
              <a:t>플라스크는 라우팅 테이블에 자동으로 </a:t>
            </a:r>
            <a:r>
              <a:rPr lang="en-US" altLang="ko-KR" dirty="0"/>
              <a:t>['/static/</a:t>
            </a:r>
            <a:r>
              <a:rPr lang="ko-KR" altLang="en-US" dirty="0"/>
              <a:t>파일이름</a:t>
            </a:r>
            <a:r>
              <a:rPr lang="en-US" altLang="ko-KR" dirty="0"/>
              <a:t>', static()]</a:t>
            </a:r>
            <a:r>
              <a:rPr lang="ko-KR" altLang="en-US" dirty="0"/>
              <a:t>의 항목을 저장</a:t>
            </a:r>
          </a:p>
          <a:p>
            <a:pPr lvl="1"/>
            <a:r>
              <a:rPr lang="en-US" altLang="ko-KR" dirty="0"/>
              <a:t>'/static/</a:t>
            </a:r>
            <a:r>
              <a:rPr lang="ko-KR" altLang="en-US" dirty="0"/>
              <a:t>파일이름</a:t>
            </a:r>
            <a:r>
              <a:rPr lang="en-US" altLang="ko-KR" dirty="0"/>
              <a:t>'</a:t>
            </a:r>
            <a:r>
              <a:rPr lang="ko-KR" altLang="en-US" dirty="0"/>
              <a:t>의 형식으로 요청된 </a:t>
            </a:r>
            <a:r>
              <a:rPr lang="en-US" altLang="ko-KR" dirty="0"/>
              <a:t>URL</a:t>
            </a:r>
            <a:r>
              <a:rPr lang="ko-KR" altLang="en-US" dirty="0"/>
              <a:t>에 대해서는 자동으로 </a:t>
            </a:r>
            <a:r>
              <a:rPr lang="en-US" altLang="ko-KR" dirty="0"/>
              <a:t>static() </a:t>
            </a:r>
            <a:r>
              <a:rPr lang="ko-KR" altLang="en-US" dirty="0"/>
              <a:t>함수가 실행</a:t>
            </a:r>
          </a:p>
          <a:p>
            <a:pPr lvl="1"/>
            <a:r>
              <a:rPr lang="ko-KR" altLang="en-US" dirty="0"/>
              <a:t>함수는 단순히 </a:t>
            </a:r>
            <a:r>
              <a:rPr lang="ko-KR" altLang="en-US" dirty="0" err="1"/>
              <a:t>요청받은</a:t>
            </a:r>
            <a:r>
              <a:rPr lang="ko-KR" altLang="en-US" dirty="0"/>
              <a:t> 파일을 읽어 웹 브라우저로 전송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86CE8E-B6D9-4EA3-99A7-8CEA523F2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893692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A1E127-6F46-4C49-AB9E-866CE7864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6-4. </a:t>
            </a:r>
            <a:r>
              <a:rPr lang="ko-KR" altLang="en-US" dirty="0"/>
              <a:t>정적 콘텐츠 중 이미지 처리 </a:t>
            </a:r>
            <a:r>
              <a:rPr lang="en-US" altLang="ko-KR" dirty="0"/>
              <a:t>- /static/image.jpg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F2DB8D-7EC8-491F-9403-9F70CC3C1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31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4782E41-D0D0-4B8A-9FB2-F49F3678B13C}"/>
              </a:ext>
            </a:extLst>
          </p:cNvPr>
          <p:cNvSpPr/>
          <p:nvPr/>
        </p:nvSpPr>
        <p:spPr>
          <a:xfrm>
            <a:off x="612648" y="3308101"/>
            <a:ext cx="7902460" cy="13849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from flask import Flask</a:t>
            </a:r>
          </a:p>
          <a:p>
            <a:pPr defTabSz="180000"/>
            <a:endParaRPr lang="en-US" altLang="ko-KR" sz="1400" dirty="0"/>
          </a:p>
          <a:p>
            <a:pPr defTabSz="180000"/>
            <a:r>
              <a:rPr lang="en-US" altLang="ko-KR" sz="1400" dirty="0"/>
              <a:t>app = Flask(__name__)</a:t>
            </a:r>
          </a:p>
          <a:p>
            <a:pPr defTabSz="180000"/>
            <a:endParaRPr lang="en-US" altLang="ko-KR" sz="1400" dirty="0"/>
          </a:p>
          <a:p>
            <a:pPr defTabSz="180000"/>
            <a:r>
              <a:rPr lang="en-US" altLang="ko-KR" sz="1400" dirty="0"/>
              <a:t>if __name__ == '__main__':</a:t>
            </a:r>
          </a:p>
          <a:p>
            <a:pPr defTabSz="180000"/>
            <a:r>
              <a:rPr lang="da-DK" altLang="ko-KR" sz="1400" dirty="0"/>
              <a:t>	app.run(host='0.0.0.0', port=8080, debug=True)</a:t>
            </a:r>
            <a:endParaRPr lang="en-US" altLang="ko-KR" sz="14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707B47E-5E63-4192-BFB3-0E16482FD8A3}"/>
              </a:ext>
            </a:extLst>
          </p:cNvPr>
          <p:cNvSpPr/>
          <p:nvPr/>
        </p:nvSpPr>
        <p:spPr>
          <a:xfrm>
            <a:off x="612648" y="4925486"/>
            <a:ext cx="7902460" cy="181588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pPr fontAlgn="base"/>
            <a:r>
              <a:rPr lang="fi-FI" altLang="ko-KR" sz="1400" b="1" dirty="0"/>
              <a:t>(myenv) pi@pi:~/ch06 $ python 6-4.py</a:t>
            </a:r>
          </a:p>
          <a:p>
            <a:pPr fontAlgn="base"/>
            <a:r>
              <a:rPr lang="en-US" altLang="ko-KR" sz="1400" dirty="0"/>
              <a:t>* Serving Flask app '6-4'</a:t>
            </a:r>
          </a:p>
          <a:p>
            <a:pPr fontAlgn="base"/>
            <a:r>
              <a:rPr lang="en-US" altLang="ko-KR" sz="1400" dirty="0"/>
              <a:t>...</a:t>
            </a:r>
          </a:p>
          <a:p>
            <a:pPr fontAlgn="base"/>
            <a:r>
              <a:rPr lang="en-US" altLang="ko-KR" sz="1400" dirty="0"/>
              <a:t>* Debugger PIN: 119-627-469</a:t>
            </a:r>
          </a:p>
          <a:p>
            <a:pPr fontAlgn="base"/>
            <a:r>
              <a:rPr lang="en-US" altLang="ko-KR" sz="1400" dirty="0"/>
              <a:t>192.168.0.50 - - [23/Dec/2023 14:02:59] "GET /static/image.jpg HTTP/1.1" 200 -</a:t>
            </a:r>
          </a:p>
          <a:p>
            <a:pPr fontAlgn="base"/>
            <a:r>
              <a:rPr lang="en-US" altLang="ko-KR" sz="1400" dirty="0"/>
              <a:t>192.168.0.50 - - [23/Dec/2023 14:03:08] "GET /static/image.jpg HTTP/1.1" 304 -</a:t>
            </a:r>
          </a:p>
          <a:p>
            <a:pPr fontAlgn="base"/>
            <a:r>
              <a:rPr lang="en-US" altLang="ko-KR" sz="1400" dirty="0"/>
              <a:t>192.168.0.50 - - [23/Dec/2023 14:03:16] "GET /static/image.jpg HTTP/1.1" 304 -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E5773A6-7D81-4353-951A-5AFD71A5D239}"/>
              </a:ext>
            </a:extLst>
          </p:cNvPr>
          <p:cNvSpPr/>
          <p:nvPr/>
        </p:nvSpPr>
        <p:spPr>
          <a:xfrm>
            <a:off x="524674" y="1370425"/>
            <a:ext cx="84923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~/06/static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디렉터리에 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image.jpg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파일이 있고 이를 웹 브라우저에서 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IP:8080/static/image.jpg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로 입력하면 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image.jpg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를 전송하는 웹 서버 프로그램을 작성하라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.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이 예제는 웹 서버 개발자가 정적 콘텐츠를 저장해두고 웹 브라우저의 요청을 받아 정적 콘텐츠를 전송하는 사례이다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.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웹 서버 프로그램에 정적 콘텐츠 처리를 위한 코드를 작성할 필요는 없다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.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단지 다음과 같이 플라스크만 실행하면 된다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.</a:t>
            </a:r>
            <a:endParaRPr lang="ko-KR" altLang="en-US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58BAD66-5A1F-4919-88F1-8D674390BCED}"/>
              </a:ext>
            </a:extLst>
          </p:cNvPr>
          <p:cNvSpPr/>
          <p:nvPr/>
        </p:nvSpPr>
        <p:spPr>
          <a:xfrm>
            <a:off x="4871962" y="2619575"/>
            <a:ext cx="4295973" cy="3857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90500" fontAlgn="base" latinLnBrk="0">
              <a:lnSpc>
                <a:spcPct val="140000"/>
              </a:lnSpc>
            </a:pPr>
            <a:r>
              <a:rPr lang="en-US" altLang="ko-KR" sz="1600" kern="0" dirty="0">
                <a:solidFill>
                  <a:schemeClr val="accent2">
                    <a:lumMod val="75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http://192.168.0.5:8080/static/image.jpg</a:t>
            </a:r>
            <a:endParaRPr lang="en-US" altLang="ko-KR" sz="1600" kern="0" dirty="0">
              <a:solidFill>
                <a:schemeClr val="accent2">
                  <a:lumMod val="75000"/>
                </a:schemeClr>
              </a:solidFill>
              <a:latin typeface="굴림" panose="020B060000010101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909BE3-B01B-40F1-AC00-40465FA8543C}"/>
              </a:ext>
            </a:extLst>
          </p:cNvPr>
          <p:cNvSpPr txBox="1"/>
          <p:nvPr/>
        </p:nvSpPr>
        <p:spPr>
          <a:xfrm>
            <a:off x="547188" y="3018438"/>
            <a:ext cx="7665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6-4.py</a:t>
            </a:r>
            <a:endParaRPr lang="ko-KR" altLang="en-US" sz="160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8FDC5FA-D0CF-2207-342D-39DA5FB7A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236" y="3145117"/>
            <a:ext cx="3651751" cy="2444123"/>
          </a:xfrm>
          <a:prstGeom prst="rect">
            <a:avLst/>
          </a:prstGeom>
        </p:spPr>
      </p:pic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7A0B085D-3877-D834-E4AD-CEDE7D1591BC}"/>
              </a:ext>
            </a:extLst>
          </p:cNvPr>
          <p:cNvCxnSpPr>
            <a:cxnSpLocks/>
          </p:cNvCxnSpPr>
          <p:nvPr/>
        </p:nvCxnSpPr>
        <p:spPr>
          <a:xfrm>
            <a:off x="7678033" y="3380775"/>
            <a:ext cx="0" cy="57606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ED95D68-07B5-4645-8F78-FAE5D6CC9D17}"/>
              </a:ext>
            </a:extLst>
          </p:cNvPr>
          <p:cNvSpPr txBox="1"/>
          <p:nvPr/>
        </p:nvSpPr>
        <p:spPr>
          <a:xfrm>
            <a:off x="534962" y="2338770"/>
            <a:ext cx="4394152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/>
              <a:t>* </a:t>
            </a:r>
            <a:r>
              <a:rPr lang="ko-KR" altLang="en-US" sz="1050"/>
              <a:t>이 예제를 실행시키기 전에 </a:t>
            </a:r>
            <a:r>
              <a:rPr lang="en-US" altLang="ko-KR" sz="1050"/>
              <a:t>~/ch06 </a:t>
            </a:r>
            <a:r>
              <a:rPr lang="ko-KR" altLang="en-US" sz="1050"/>
              <a:t>디렉터리에</a:t>
            </a:r>
            <a:endParaRPr lang="en-US" altLang="ko-KR" sz="1050"/>
          </a:p>
          <a:p>
            <a:r>
              <a:rPr lang="en-US" altLang="ko-KR" sz="1050"/>
              <a:t>  static </a:t>
            </a:r>
            <a:r>
              <a:rPr lang="ko-KR" altLang="en-US" sz="1050"/>
              <a:t>디렉터리를 만들고 </a:t>
            </a:r>
            <a:r>
              <a:rPr lang="en-US" altLang="ko-KR" sz="1050"/>
              <a:t>image.jpg </a:t>
            </a:r>
            <a:r>
              <a:rPr lang="ko-KR" altLang="en-US" sz="1050"/>
              <a:t>파일을 하나 저장해두어야 한다</a:t>
            </a:r>
            <a:r>
              <a:rPr lang="en-US" altLang="ko-KR" sz="1050"/>
              <a:t>.</a:t>
            </a:r>
          </a:p>
          <a:p>
            <a:r>
              <a:rPr lang="en-US" altLang="ko-KR" sz="1050"/>
              <a:t>  5</a:t>
            </a:r>
            <a:r>
              <a:rPr lang="ko-KR" altLang="en-US" sz="1050"/>
              <a:t>장에서 만든 이미지 파일을 저장하면 좋을 듯 하다</a:t>
            </a:r>
            <a:r>
              <a:rPr lang="en-US" altLang="ko-KR" sz="1050"/>
              <a:t>.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28405346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EAD272-B8C0-48DD-B317-98A01A851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z="2400" dirty="0"/>
              <a:t>variable </a:t>
            </a:r>
            <a:r>
              <a:rPr lang="ko-KR" altLang="en-US" sz="2400" dirty="0"/>
              <a:t>사용 </a:t>
            </a:r>
            <a:r>
              <a:rPr lang="en-US" altLang="ko-KR" sz="2400" dirty="0"/>
              <a:t>- URL</a:t>
            </a:r>
            <a:r>
              <a:rPr lang="ko-KR" altLang="en-US" sz="2400" dirty="0"/>
              <a:t>의 일부를 </a:t>
            </a:r>
            <a:r>
              <a:rPr lang="ko-KR" altLang="en-US" sz="2400"/>
              <a:t>함수의 매개 변수로 활용</a:t>
            </a:r>
            <a:r>
              <a:rPr lang="en-US" altLang="ko-KR" sz="2400"/>
              <a:t>(1)</a:t>
            </a:r>
            <a:endParaRPr lang="ko-KR" altLang="en-US" sz="24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01AA3D-695A-4DCC-BCE7-337921E2B5A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/>
              <a:t>variable</a:t>
            </a:r>
            <a:r>
              <a:rPr lang="ko-KR" altLang="en-US"/>
              <a:t> 사용</a:t>
            </a:r>
            <a:endParaRPr lang="en-US" altLang="ko-KR" dirty="0"/>
          </a:p>
          <a:p>
            <a:pPr lvl="1"/>
            <a:r>
              <a:rPr lang="en-US" altLang="ko-KR" dirty="0"/>
              <a:t>URL </a:t>
            </a:r>
            <a:r>
              <a:rPr lang="ko-KR" altLang="en-US" dirty="0"/>
              <a:t>문자열의 일부를 함수의 매개 </a:t>
            </a:r>
            <a:r>
              <a:rPr lang="ko-KR" altLang="en-US"/>
              <a:t>변수에 전달하여</a:t>
            </a:r>
            <a:r>
              <a:rPr lang="en-US" altLang="ko-KR" dirty="0"/>
              <a:t>, </a:t>
            </a:r>
            <a:r>
              <a:rPr lang="ko-KR" altLang="en-US" dirty="0"/>
              <a:t>함수가 처리할 작업을 </a:t>
            </a:r>
            <a:r>
              <a:rPr lang="ko-KR" altLang="en-US"/>
              <a:t>구체적으로 지시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/>
              <a:t>[</a:t>
            </a:r>
            <a:r>
              <a:rPr lang="en-US" altLang="ko-KR" dirty="0"/>
              <a:t>convert:]</a:t>
            </a:r>
            <a:r>
              <a:rPr lang="ko-KR" altLang="en-US" dirty="0"/>
              <a:t>는 생략 가능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528C0C-8C4A-44CF-AA68-86BB8625E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32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96D83C3-75CB-409C-A632-9A3E82F97091}"/>
              </a:ext>
            </a:extLst>
          </p:cNvPr>
          <p:cNvSpPr/>
          <p:nvPr/>
        </p:nvSpPr>
        <p:spPr>
          <a:xfrm>
            <a:off x="1169204" y="2492896"/>
            <a:ext cx="7506416" cy="7386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/>
              <a:t>@</a:t>
            </a:r>
            <a:r>
              <a:rPr lang="en-US" altLang="ko-KR" sz="1400" dirty="0" err="1"/>
              <a:t>app</a:t>
            </a:r>
            <a:r>
              <a:rPr lang="en-US" altLang="ko-KR" sz="1400" err="1"/>
              <a:t>.</a:t>
            </a:r>
            <a:r>
              <a:rPr lang="en-US" altLang="ko-KR" sz="1400"/>
              <a:t>route</a:t>
            </a:r>
            <a:r>
              <a:rPr lang="en-US" altLang="ko-KR" sz="1400" dirty="0"/>
              <a:t>('/…/&lt;[</a:t>
            </a:r>
            <a:r>
              <a:rPr lang="en-US" altLang="ko-KR" sz="1400"/>
              <a:t>converter:]</a:t>
            </a:r>
            <a:r>
              <a:rPr lang="en-US" altLang="ko-KR" sz="1400" dirty="0" err="1"/>
              <a:t>variable</a:t>
            </a:r>
            <a:r>
              <a:rPr lang="en-US" altLang="ko-KR" sz="1400" err="1"/>
              <a:t>_</a:t>
            </a:r>
            <a:r>
              <a:rPr lang="en-US" altLang="ko-KR" sz="1400"/>
              <a:t>name</a:t>
            </a:r>
            <a:r>
              <a:rPr lang="en-US" altLang="ko-KR" sz="1400" dirty="0"/>
              <a:t>&gt;/…/')</a:t>
            </a:r>
            <a:endParaRPr lang="ko-KR" altLang="en-US" sz="1400" dirty="0"/>
          </a:p>
          <a:p>
            <a:pPr defTabSz="180000"/>
            <a:r>
              <a:rPr lang="en-US" altLang="ko-KR" sz="1400"/>
              <a:t>def func(</a:t>
            </a:r>
            <a:r>
              <a:rPr lang="en-US" altLang="ko-KR" sz="1400" dirty="0" err="1"/>
              <a:t>variable</a:t>
            </a:r>
            <a:r>
              <a:rPr lang="en-US" altLang="ko-KR" sz="1400" err="1"/>
              <a:t>_</a:t>
            </a:r>
            <a:r>
              <a:rPr lang="en-US" altLang="ko-KR" sz="1400"/>
              <a:t>name</a:t>
            </a:r>
            <a:r>
              <a:rPr lang="en-US" altLang="ko-KR" sz="1400" dirty="0"/>
              <a:t>): # URL </a:t>
            </a:r>
            <a:r>
              <a:rPr lang="ko-KR" altLang="en-US" sz="1400" dirty="0"/>
              <a:t>문자열 </a:t>
            </a:r>
            <a:r>
              <a:rPr lang="ko-KR" altLang="en-US" sz="1400"/>
              <a:t>내 </a:t>
            </a:r>
            <a:r>
              <a:rPr lang="en-US" altLang="ko-KR" sz="1400" dirty="0" err="1"/>
              <a:t>variable</a:t>
            </a:r>
            <a:r>
              <a:rPr lang="en-US" altLang="ko-KR" sz="1400" err="1"/>
              <a:t>_</a:t>
            </a:r>
            <a:r>
              <a:rPr lang="en-US" altLang="ko-KR" sz="1400"/>
              <a:t>name</a:t>
            </a:r>
            <a:r>
              <a:rPr lang="en-US" altLang="ko-KR" sz="1400" dirty="0"/>
              <a:t> </a:t>
            </a:r>
            <a:r>
              <a:rPr lang="ko-KR" altLang="en-US" sz="1400" dirty="0"/>
              <a:t>부분의 값이 매개변수에 전달</a:t>
            </a:r>
          </a:p>
          <a:p>
            <a:pPr defTabSz="180000"/>
            <a:r>
              <a:rPr lang="ko-KR" altLang="en-US" sz="1400"/>
              <a:t>	</a:t>
            </a:r>
            <a:r>
              <a:rPr lang="en-US" altLang="ko-KR" sz="1400" dirty="0"/>
              <a:t>...</a:t>
            </a:r>
            <a:endParaRPr lang="ko-KR" altLang="en-US" sz="14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D9513CA-1F17-45FF-9A53-B3EF529D0340}"/>
              </a:ext>
            </a:extLst>
          </p:cNvPr>
          <p:cNvSpPr/>
          <p:nvPr/>
        </p:nvSpPr>
        <p:spPr>
          <a:xfrm>
            <a:off x="1169204" y="4091300"/>
            <a:ext cx="7596844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/>
              <a:t>@app.route</a:t>
            </a:r>
            <a:r>
              <a:rPr lang="en-US" altLang="ko-KR" sz="1400" dirty="0"/>
              <a:t>('/&lt;name&gt;/')</a:t>
            </a:r>
          </a:p>
          <a:p>
            <a:pPr defTabSz="180000"/>
            <a:r>
              <a:rPr lang="en-US" altLang="ko-KR" sz="1400" dirty="0"/>
              <a:t>def hello(name):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451D1B3-D068-4889-BA13-1ED0D75D56E7}"/>
              </a:ext>
            </a:extLst>
          </p:cNvPr>
          <p:cNvSpPr/>
          <p:nvPr/>
        </p:nvSpPr>
        <p:spPr>
          <a:xfrm>
            <a:off x="1169204" y="4778568"/>
            <a:ext cx="7596844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/>
              <a:t>192.168.0.5:8080/jmlee</a:t>
            </a:r>
            <a:r>
              <a:rPr lang="en-US" altLang="ko-KR" sz="1400" dirty="0"/>
              <a:t>/ -&gt; </a:t>
            </a:r>
            <a:r>
              <a:rPr lang="ko-KR" altLang="en-US" sz="1400"/>
              <a:t>문자열 </a:t>
            </a:r>
            <a:r>
              <a:rPr lang="en-US" altLang="ko-KR" sz="1400"/>
              <a:t>"jmlee</a:t>
            </a:r>
            <a:r>
              <a:rPr lang="en-US" altLang="ko-KR" sz="1400" dirty="0"/>
              <a:t>"</a:t>
            </a:r>
            <a:r>
              <a:rPr lang="ko-KR" altLang="en-US" sz="1400"/>
              <a:t>을 </a:t>
            </a:r>
            <a:r>
              <a:rPr lang="en-US" altLang="ko-KR" sz="1400" dirty="0"/>
              <a:t>hello() </a:t>
            </a:r>
            <a:r>
              <a:rPr lang="ko-KR" altLang="en-US" sz="1400" dirty="0"/>
              <a:t>함수의 매개변수에 전달</a:t>
            </a:r>
          </a:p>
          <a:p>
            <a:pPr defTabSz="180000"/>
            <a:r>
              <a:rPr lang="en-US" altLang="ko-KR" sz="1400"/>
              <a:t>192.168.0.5:8080/kitae</a:t>
            </a:r>
            <a:r>
              <a:rPr lang="en-US" altLang="ko-KR" sz="1400" dirty="0"/>
              <a:t>/ -&gt; </a:t>
            </a:r>
            <a:r>
              <a:rPr lang="ko-KR" altLang="en-US" sz="1400"/>
              <a:t>문자열 </a:t>
            </a:r>
            <a:r>
              <a:rPr lang="en-US" altLang="ko-KR" sz="1400"/>
              <a:t>"kitae</a:t>
            </a:r>
            <a:r>
              <a:rPr lang="en-US" altLang="ko-KR" sz="1400" dirty="0"/>
              <a:t>"</a:t>
            </a:r>
            <a:r>
              <a:rPr lang="ko-KR" altLang="en-US" sz="1400"/>
              <a:t>을 </a:t>
            </a:r>
            <a:r>
              <a:rPr lang="en-US" altLang="ko-KR" sz="1400" dirty="0"/>
              <a:t>hello() </a:t>
            </a:r>
            <a:r>
              <a:rPr lang="ko-KR" altLang="en-US" sz="1400" dirty="0"/>
              <a:t>함수의 매개변수에 전달</a:t>
            </a:r>
          </a:p>
        </p:txBody>
      </p:sp>
    </p:spTree>
    <p:extLst>
      <p:ext uri="{BB962C8B-B14F-4D97-AF65-F5344CB8AC3E}">
        <p14:creationId xmlns:p14="http://schemas.microsoft.com/office/powerpoint/2010/main" val="32059955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>
            <a:extLst>
              <a:ext uri="{FF2B5EF4-FFF2-40B4-BE49-F238E27FC236}">
                <a16:creationId xmlns:a16="http://schemas.microsoft.com/office/drawing/2014/main" id="{A71AAEEB-8533-B568-90F5-BC69B84B1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904" y="4146593"/>
            <a:ext cx="5147188" cy="1370639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89EA7275-64EC-9C66-BC5D-ECF242370E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904" y="2039997"/>
            <a:ext cx="5147188" cy="1377930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EFC540B-AFF0-4D94-8FC1-3C13165DC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z="2400"/>
              <a:t>variable </a:t>
            </a:r>
            <a:r>
              <a:rPr lang="ko-KR" altLang="en-US" sz="2400"/>
              <a:t>사용 </a:t>
            </a:r>
            <a:r>
              <a:rPr lang="en-US" altLang="ko-KR" sz="2400"/>
              <a:t>- URL</a:t>
            </a:r>
            <a:r>
              <a:rPr lang="ko-KR" altLang="en-US" sz="2400"/>
              <a:t>의 일부를 함수의 매개 변수로 활용</a:t>
            </a:r>
            <a:r>
              <a:rPr lang="en-US" altLang="ko-KR" sz="2400"/>
              <a:t>(2)</a:t>
            </a:r>
            <a:endParaRPr lang="ko-KR" altLang="en-US" sz="24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B8EE98-29C7-4AEB-BDDF-F3302AFA94E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/>
              <a:t>variable</a:t>
            </a:r>
            <a:r>
              <a:rPr lang="ko-KR" altLang="en-US"/>
              <a:t> </a:t>
            </a:r>
            <a:r>
              <a:rPr lang="ko-KR" altLang="en-US" dirty="0"/>
              <a:t>사용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520072-4812-4CAD-BBEF-11AA56720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33</a:t>
            </a:fld>
            <a:endParaRPr lang="ko-KR" altLang="en-US" dirty="0"/>
          </a:p>
        </p:txBody>
      </p:sp>
      <p:sp>
        <p:nvSpPr>
          <p:cNvPr id="7" name="모서리가 둥근 직사각형 2">
            <a:extLst>
              <a:ext uri="{FF2B5EF4-FFF2-40B4-BE49-F238E27FC236}">
                <a16:creationId xmlns:a16="http://schemas.microsoft.com/office/drawing/2014/main" id="{D50C5536-8DCB-40F0-A811-B0F947E4BB15}"/>
              </a:ext>
            </a:extLst>
          </p:cNvPr>
          <p:cNvSpPr/>
          <p:nvPr/>
        </p:nvSpPr>
        <p:spPr>
          <a:xfrm>
            <a:off x="6661168" y="2492397"/>
            <a:ext cx="357065" cy="288032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02CF780-BD2B-4530-A2BA-A8A6943D1D7A}"/>
              </a:ext>
            </a:extLst>
          </p:cNvPr>
          <p:cNvSpPr/>
          <p:nvPr/>
        </p:nvSpPr>
        <p:spPr>
          <a:xfrm>
            <a:off x="503785" y="2636380"/>
            <a:ext cx="34563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ko-KR">
                <a:solidFill>
                  <a:srgbClr val="000000"/>
                </a:solidFill>
              </a:rPr>
              <a:t>@app.route('/&lt;name&gt;/')</a:t>
            </a:r>
          </a:p>
          <a:p>
            <a:r>
              <a:rPr lang="en" altLang="ko-KR">
                <a:solidFill>
                  <a:srgbClr val="000000"/>
                </a:solidFill>
              </a:rPr>
              <a:t>def </a:t>
            </a:r>
            <a:r>
              <a:rPr lang="en-US" altLang="ko-KR">
                <a:solidFill>
                  <a:srgbClr val="000000"/>
                </a:solidFill>
              </a:rPr>
              <a:t>hello</a:t>
            </a:r>
            <a:r>
              <a:rPr lang="en" altLang="ko-KR">
                <a:solidFill>
                  <a:srgbClr val="000000"/>
                </a:solidFill>
              </a:rPr>
              <a:t>(name):</a:t>
            </a:r>
            <a:endParaRPr lang="en" altLang="ko-KR" dirty="0">
              <a:solidFill>
                <a:srgbClr val="000000"/>
              </a:solidFill>
            </a:endParaRPr>
          </a:p>
        </p:txBody>
      </p:sp>
      <p:sp>
        <p:nvSpPr>
          <p:cNvPr id="9" name="모서리가 둥근 직사각형 2">
            <a:extLst>
              <a:ext uri="{FF2B5EF4-FFF2-40B4-BE49-F238E27FC236}">
                <a16:creationId xmlns:a16="http://schemas.microsoft.com/office/drawing/2014/main" id="{936F573A-B41F-4919-8763-456AAE1CE4E1}"/>
              </a:ext>
            </a:extLst>
          </p:cNvPr>
          <p:cNvSpPr/>
          <p:nvPr/>
        </p:nvSpPr>
        <p:spPr>
          <a:xfrm>
            <a:off x="2147637" y="2702142"/>
            <a:ext cx="648072" cy="270978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연결선: 구부러짐 9">
            <a:extLst>
              <a:ext uri="{FF2B5EF4-FFF2-40B4-BE49-F238E27FC236}">
                <a16:creationId xmlns:a16="http://schemas.microsoft.com/office/drawing/2014/main" id="{52C026A8-5FC0-4963-B591-728349BD2747}"/>
              </a:ext>
            </a:extLst>
          </p:cNvPr>
          <p:cNvCxnSpPr>
            <a:stCxn id="7" idx="0"/>
            <a:endCxn id="9" idx="0"/>
          </p:cNvCxnSpPr>
          <p:nvPr/>
        </p:nvCxnSpPr>
        <p:spPr>
          <a:xfrm rot="16200000" flipH="1" flipV="1">
            <a:off x="4550814" y="413255"/>
            <a:ext cx="209745" cy="4368028"/>
          </a:xfrm>
          <a:prstGeom prst="curvedConnector3">
            <a:avLst>
              <a:gd name="adj1" fmla="val -273221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AA9DAAF-57B0-4D3C-9509-1EA1AD288C8D}"/>
              </a:ext>
            </a:extLst>
          </p:cNvPr>
          <p:cNvSpPr txBox="1"/>
          <p:nvPr/>
        </p:nvSpPr>
        <p:spPr>
          <a:xfrm>
            <a:off x="1957732" y="2184587"/>
            <a:ext cx="7038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>
                <a:solidFill>
                  <a:srgbClr val="C00000"/>
                </a:solidFill>
              </a:rPr>
              <a:t>"kitae"</a:t>
            </a:r>
            <a:endParaRPr lang="ko-KR" altLang="en-US" sz="1400">
              <a:solidFill>
                <a:srgbClr val="C00000"/>
              </a:solidFill>
            </a:endParaRPr>
          </a:p>
        </p:txBody>
      </p:sp>
      <p:sp>
        <p:nvSpPr>
          <p:cNvPr id="12" name="모서리가 둥근 직사각형 2">
            <a:extLst>
              <a:ext uri="{FF2B5EF4-FFF2-40B4-BE49-F238E27FC236}">
                <a16:creationId xmlns:a16="http://schemas.microsoft.com/office/drawing/2014/main" id="{5CD4319D-00C9-427F-AD11-EE768E80FBA6}"/>
              </a:ext>
            </a:extLst>
          </p:cNvPr>
          <p:cNvSpPr/>
          <p:nvPr/>
        </p:nvSpPr>
        <p:spPr>
          <a:xfrm>
            <a:off x="1523201" y="3011733"/>
            <a:ext cx="648072" cy="270978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연결선: 구부러짐 12">
            <a:extLst>
              <a:ext uri="{FF2B5EF4-FFF2-40B4-BE49-F238E27FC236}">
                <a16:creationId xmlns:a16="http://schemas.microsoft.com/office/drawing/2014/main" id="{59E0118E-9C09-4FB6-A679-80D5347ACA59}"/>
              </a:ext>
            </a:extLst>
          </p:cNvPr>
          <p:cNvCxnSpPr>
            <a:cxnSpLocks/>
            <a:stCxn id="9" idx="3"/>
            <a:endCxn id="12" idx="3"/>
          </p:cNvCxnSpPr>
          <p:nvPr/>
        </p:nvCxnSpPr>
        <p:spPr>
          <a:xfrm flipH="1">
            <a:off x="2171273" y="2837631"/>
            <a:ext cx="624436" cy="309591"/>
          </a:xfrm>
          <a:prstGeom prst="curvedConnector3">
            <a:avLst>
              <a:gd name="adj1" fmla="val -36609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C5C913D-31B3-47FC-BDA8-D32AB0B19461}"/>
              </a:ext>
            </a:extLst>
          </p:cNvPr>
          <p:cNvSpPr txBox="1"/>
          <p:nvPr/>
        </p:nvSpPr>
        <p:spPr>
          <a:xfrm>
            <a:off x="2602204" y="3100350"/>
            <a:ext cx="7038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>
                <a:solidFill>
                  <a:srgbClr val="C00000"/>
                </a:solidFill>
              </a:rPr>
              <a:t>"kitae"</a:t>
            </a:r>
            <a:endParaRPr lang="ko-KR" altLang="en-US" sz="1400">
              <a:solidFill>
                <a:srgbClr val="C00000"/>
              </a:solidFill>
            </a:endParaRPr>
          </a:p>
        </p:txBody>
      </p:sp>
      <p:sp>
        <p:nvSpPr>
          <p:cNvPr id="15" name="모서리가 둥근 직사각형 13">
            <a:extLst>
              <a:ext uri="{FF2B5EF4-FFF2-40B4-BE49-F238E27FC236}">
                <a16:creationId xmlns:a16="http://schemas.microsoft.com/office/drawing/2014/main" id="{7E7F5F71-7762-4AC8-9C2E-C928D50ABA27}"/>
              </a:ext>
            </a:extLst>
          </p:cNvPr>
          <p:cNvSpPr/>
          <p:nvPr/>
        </p:nvSpPr>
        <p:spPr>
          <a:xfrm>
            <a:off x="6673017" y="4562690"/>
            <a:ext cx="357065" cy="288032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602BF71-7E0A-47A9-83FD-B76B5C6768D1}"/>
              </a:ext>
            </a:extLst>
          </p:cNvPr>
          <p:cNvSpPr/>
          <p:nvPr/>
        </p:nvSpPr>
        <p:spPr>
          <a:xfrm>
            <a:off x="373616" y="4712257"/>
            <a:ext cx="34563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ko-KR">
                <a:solidFill>
                  <a:srgbClr val="000000"/>
                </a:solidFill>
              </a:rPr>
              <a:t>@app.route('/&lt;name&gt;/')</a:t>
            </a:r>
          </a:p>
          <a:p>
            <a:r>
              <a:rPr lang="en" altLang="ko-KR">
                <a:solidFill>
                  <a:srgbClr val="000000"/>
                </a:solidFill>
              </a:rPr>
              <a:t>def </a:t>
            </a:r>
            <a:r>
              <a:rPr lang="en-US" altLang="ko-KR">
                <a:solidFill>
                  <a:srgbClr val="000000"/>
                </a:solidFill>
              </a:rPr>
              <a:t>hello</a:t>
            </a:r>
            <a:r>
              <a:rPr lang="en" altLang="ko-KR">
                <a:solidFill>
                  <a:srgbClr val="000000"/>
                </a:solidFill>
              </a:rPr>
              <a:t>(name):</a:t>
            </a:r>
            <a:endParaRPr lang="en" altLang="ko-KR" dirty="0">
              <a:solidFill>
                <a:srgbClr val="000000"/>
              </a:solidFill>
            </a:endParaRPr>
          </a:p>
        </p:txBody>
      </p:sp>
      <p:sp>
        <p:nvSpPr>
          <p:cNvPr id="17" name="모서리가 둥근 직사각형 2">
            <a:extLst>
              <a:ext uri="{FF2B5EF4-FFF2-40B4-BE49-F238E27FC236}">
                <a16:creationId xmlns:a16="http://schemas.microsoft.com/office/drawing/2014/main" id="{B4470FA4-379A-4AC2-B92E-66A3E2956CC2}"/>
              </a:ext>
            </a:extLst>
          </p:cNvPr>
          <p:cNvSpPr/>
          <p:nvPr/>
        </p:nvSpPr>
        <p:spPr>
          <a:xfrm>
            <a:off x="2017468" y="4778019"/>
            <a:ext cx="648072" cy="270978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2BDA4A-CD0C-4DBA-9096-08670E8911E8}"/>
              </a:ext>
            </a:extLst>
          </p:cNvPr>
          <p:cNvSpPr txBox="1"/>
          <p:nvPr/>
        </p:nvSpPr>
        <p:spPr>
          <a:xfrm>
            <a:off x="1827563" y="4260464"/>
            <a:ext cx="7567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>
                <a:solidFill>
                  <a:srgbClr val="C00000"/>
                </a:solidFill>
              </a:rPr>
              <a:t>"jmlee"</a:t>
            </a:r>
            <a:endParaRPr lang="ko-KR" altLang="en-US" sz="1400">
              <a:solidFill>
                <a:srgbClr val="C00000"/>
              </a:solidFill>
            </a:endParaRPr>
          </a:p>
        </p:txBody>
      </p:sp>
      <p:sp>
        <p:nvSpPr>
          <p:cNvPr id="19" name="모서리가 둥근 직사각형 2">
            <a:extLst>
              <a:ext uri="{FF2B5EF4-FFF2-40B4-BE49-F238E27FC236}">
                <a16:creationId xmlns:a16="http://schemas.microsoft.com/office/drawing/2014/main" id="{27B0EA8C-0356-45FC-AAF6-542D55C0327E}"/>
              </a:ext>
            </a:extLst>
          </p:cNvPr>
          <p:cNvSpPr/>
          <p:nvPr/>
        </p:nvSpPr>
        <p:spPr>
          <a:xfrm>
            <a:off x="1403648" y="5059359"/>
            <a:ext cx="648072" cy="270978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연결선: 구부러짐 19">
            <a:extLst>
              <a:ext uri="{FF2B5EF4-FFF2-40B4-BE49-F238E27FC236}">
                <a16:creationId xmlns:a16="http://schemas.microsoft.com/office/drawing/2014/main" id="{AEA43A0D-8ECB-440F-A07C-FFB6F7EA222C}"/>
              </a:ext>
            </a:extLst>
          </p:cNvPr>
          <p:cNvCxnSpPr>
            <a:cxnSpLocks/>
            <a:stCxn id="17" idx="3"/>
            <a:endCxn id="19" idx="3"/>
          </p:cNvCxnSpPr>
          <p:nvPr/>
        </p:nvCxnSpPr>
        <p:spPr>
          <a:xfrm flipH="1">
            <a:off x="2051720" y="4913508"/>
            <a:ext cx="613820" cy="281340"/>
          </a:xfrm>
          <a:prstGeom prst="curvedConnector3">
            <a:avLst>
              <a:gd name="adj1" fmla="val -37242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00E1729-C5F2-47FC-AA58-7E57E7BD79D7}"/>
              </a:ext>
            </a:extLst>
          </p:cNvPr>
          <p:cNvSpPr txBox="1"/>
          <p:nvPr/>
        </p:nvSpPr>
        <p:spPr>
          <a:xfrm>
            <a:off x="2472092" y="5161676"/>
            <a:ext cx="7567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>
                <a:solidFill>
                  <a:srgbClr val="C00000"/>
                </a:solidFill>
              </a:rPr>
              <a:t>"jmlee"</a:t>
            </a:r>
            <a:endParaRPr lang="ko-KR" altLang="en-US" sz="1400">
              <a:solidFill>
                <a:srgbClr val="C00000"/>
              </a:solidFill>
            </a:endParaRPr>
          </a:p>
        </p:txBody>
      </p:sp>
      <p:cxnSp>
        <p:nvCxnSpPr>
          <p:cNvPr id="22" name="연결선: 구부러짐 21">
            <a:extLst>
              <a:ext uri="{FF2B5EF4-FFF2-40B4-BE49-F238E27FC236}">
                <a16:creationId xmlns:a16="http://schemas.microsoft.com/office/drawing/2014/main" id="{A8BBEC96-6DA2-4553-A6DC-8A29F4A53EBA}"/>
              </a:ext>
            </a:extLst>
          </p:cNvPr>
          <p:cNvCxnSpPr>
            <a:cxnSpLocks/>
            <a:stCxn id="15" idx="0"/>
            <a:endCxn id="17" idx="0"/>
          </p:cNvCxnSpPr>
          <p:nvPr/>
        </p:nvCxnSpPr>
        <p:spPr>
          <a:xfrm rot="16200000" flipH="1" flipV="1">
            <a:off x="4488862" y="2415331"/>
            <a:ext cx="215329" cy="4510046"/>
          </a:xfrm>
          <a:prstGeom prst="curvedConnector3">
            <a:avLst>
              <a:gd name="adj1" fmla="val -260317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50801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79DEFE-F7B1-4430-B859-5EED76B74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z="2400" dirty="0"/>
              <a:t>variable </a:t>
            </a:r>
            <a:r>
              <a:rPr lang="ko-KR" altLang="en-US" sz="2400" dirty="0"/>
              <a:t>사용 </a:t>
            </a:r>
            <a:r>
              <a:rPr lang="en-US" altLang="ko-KR" sz="2400" dirty="0"/>
              <a:t>- URL</a:t>
            </a:r>
            <a:r>
              <a:rPr lang="ko-KR" altLang="en-US" sz="2400" dirty="0"/>
              <a:t>의 일부를 </a:t>
            </a:r>
            <a:r>
              <a:rPr lang="ko-KR" altLang="en-US" sz="2400"/>
              <a:t>함수의 매개 변수로 활용</a:t>
            </a:r>
            <a:r>
              <a:rPr lang="en-US" altLang="ko-KR" sz="2400"/>
              <a:t>(3)</a:t>
            </a:r>
            <a:endParaRPr lang="ko-KR" altLang="en-US" sz="24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0594E2-ECFF-4EF6-9CAB-37AC3EB3A61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convert</a:t>
            </a:r>
          </a:p>
          <a:p>
            <a:pPr lvl="1"/>
            <a:r>
              <a:rPr lang="en-US" altLang="ko-KR" dirty="0"/>
              <a:t>URL</a:t>
            </a:r>
            <a:r>
              <a:rPr lang="ko-KR" altLang="en-US"/>
              <a:t>은 문자열</a:t>
            </a:r>
            <a:endParaRPr lang="en-US" altLang="ko-KR"/>
          </a:p>
          <a:p>
            <a:pPr lvl="1"/>
            <a:r>
              <a:rPr lang="en-US" altLang="ko-KR"/>
              <a:t>variable </a:t>
            </a:r>
            <a:r>
              <a:rPr lang="ko-KR" altLang="en-US" dirty="0"/>
              <a:t>기법의 의해 </a:t>
            </a:r>
            <a:r>
              <a:rPr lang="en-US" altLang="ko-KR" dirty="0"/>
              <a:t>URL</a:t>
            </a:r>
            <a:r>
              <a:rPr lang="ko-KR" altLang="en-US" dirty="0"/>
              <a:t>의 일부를 함수의 매개변수로 전달할 때</a:t>
            </a:r>
            <a:r>
              <a:rPr lang="en-US" altLang="ko-KR" dirty="0"/>
              <a:t>, </a:t>
            </a:r>
            <a:r>
              <a:rPr lang="ko-KR" altLang="en-US" dirty="0"/>
              <a:t>함수에 따라서는 문자열 대신에 정수나 실수 등 다른 타입의 값으로 전달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converter</a:t>
            </a:r>
            <a:r>
              <a:rPr lang="ko-KR" altLang="en-US" dirty="0"/>
              <a:t>에 사용가능한 타입</a:t>
            </a:r>
          </a:p>
          <a:p>
            <a:pPr lvl="1"/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4F71FE-9B17-4A22-BCA9-9470418B1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34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B59A996-EF47-4B44-91EB-F6D6B9B68DAF}"/>
              </a:ext>
            </a:extLst>
          </p:cNvPr>
          <p:cNvSpPr/>
          <p:nvPr/>
        </p:nvSpPr>
        <p:spPr>
          <a:xfrm>
            <a:off x="1259632" y="3215534"/>
            <a:ext cx="7200800" cy="3385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600"/>
              <a:t>@</a:t>
            </a:r>
            <a:r>
              <a:rPr lang="en-US" altLang="ko-KR" sz="1600" dirty="0" err="1"/>
              <a:t>app</a:t>
            </a:r>
            <a:r>
              <a:rPr lang="en-US" altLang="ko-KR" sz="1600" err="1"/>
              <a:t>.</a:t>
            </a:r>
            <a:r>
              <a:rPr lang="en-US" altLang="ko-KR" sz="1600"/>
              <a:t>route</a:t>
            </a:r>
            <a:r>
              <a:rPr lang="en-US" altLang="ko-KR" sz="1600" dirty="0"/>
              <a:t>('/…/&lt;[</a:t>
            </a:r>
            <a:r>
              <a:rPr lang="en-US" altLang="ko-KR" sz="1600"/>
              <a:t>int:]</a:t>
            </a:r>
            <a:r>
              <a:rPr lang="en-US" altLang="ko-KR" sz="1600" dirty="0" err="1"/>
              <a:t>variable</a:t>
            </a:r>
            <a:r>
              <a:rPr lang="en-US" altLang="ko-KR" sz="1600" err="1"/>
              <a:t>_</a:t>
            </a:r>
            <a:r>
              <a:rPr lang="en-US" altLang="ko-KR" sz="1600"/>
              <a:t>name</a:t>
            </a:r>
            <a:r>
              <a:rPr lang="en-US" altLang="ko-KR" sz="1600" dirty="0"/>
              <a:t>&gt;/…/')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702D567-606D-4094-B553-2498FBDD1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080" y="4378813"/>
            <a:ext cx="7228352" cy="1615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5943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8FF1D1-6FBC-4F4C-AD10-5C68D069A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/>
              <a:t>예제 </a:t>
            </a:r>
            <a:r>
              <a:rPr lang="en-US" altLang="ko-KR"/>
              <a:t>6-5 </a:t>
            </a:r>
            <a:r>
              <a:rPr lang="en-US" altLang="ko-KR" dirty="0"/>
              <a:t>variable</a:t>
            </a:r>
            <a:r>
              <a:rPr lang="ko-KR" altLang="en-US" dirty="0"/>
              <a:t>을 사용하여 예제 </a:t>
            </a:r>
            <a:r>
              <a:rPr lang="en-US" altLang="ko-KR" dirty="0"/>
              <a:t>6-4</a:t>
            </a:r>
            <a:r>
              <a:rPr lang="ko-KR" altLang="en-US" dirty="0"/>
              <a:t>를 하나의 </a:t>
            </a:r>
            <a:r>
              <a:rPr lang="en-US" altLang="ko-KR" dirty="0"/>
              <a:t>URL</a:t>
            </a:r>
            <a:r>
              <a:rPr lang="ko-KR" altLang="en-US" dirty="0"/>
              <a:t>로 매핑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7F0328-68BE-42EF-A1B1-1E69BCB81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35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398D554-C5E1-4346-A69D-C24A22A03AB8}"/>
              </a:ext>
            </a:extLst>
          </p:cNvPr>
          <p:cNvSpPr/>
          <p:nvPr/>
        </p:nvSpPr>
        <p:spPr>
          <a:xfrm>
            <a:off x="605142" y="2697882"/>
            <a:ext cx="8160906" cy="35394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from flask import Flask</a:t>
            </a:r>
          </a:p>
          <a:p>
            <a:pPr defTabSz="180000"/>
            <a:endParaRPr lang="en-US" altLang="ko-KR" sz="1400" dirty="0"/>
          </a:p>
          <a:p>
            <a:pPr defTabSz="180000"/>
            <a:r>
              <a:rPr lang="en-US" altLang="ko-KR" sz="1400" dirty="0"/>
              <a:t>app = Flask(__name__)</a:t>
            </a:r>
          </a:p>
          <a:p>
            <a:pPr defTabSz="180000"/>
            <a:endParaRPr lang="en-US" altLang="ko-KR" sz="1400" dirty="0"/>
          </a:p>
          <a:p>
            <a:pPr defTabSz="180000"/>
            <a:r>
              <a:rPr lang="en-US" altLang="ko-KR" sz="1400" dirty="0"/>
              <a:t>@</a:t>
            </a:r>
            <a:r>
              <a:rPr lang="en-US" altLang="ko-KR" sz="1400" dirty="0" err="1"/>
              <a:t>app.route</a:t>
            </a:r>
            <a:r>
              <a:rPr lang="en-US" altLang="ko-KR" sz="1400" dirty="0"/>
              <a:t>('/&lt;name&gt;/')</a:t>
            </a:r>
          </a:p>
          <a:p>
            <a:pPr defTabSz="180000"/>
            <a:r>
              <a:rPr lang="en-US" altLang="ko-KR" sz="1400" dirty="0"/>
              <a:t>def hello(name):</a:t>
            </a:r>
          </a:p>
          <a:p>
            <a:pPr defTabSz="180000"/>
            <a:r>
              <a:rPr lang="en-US" altLang="ko-KR" sz="1400" dirty="0"/>
              <a:t>	if name == '</a:t>
            </a:r>
            <a:r>
              <a:rPr lang="en-US" altLang="ko-KR" sz="1400" dirty="0" err="1"/>
              <a:t>kitae</a:t>
            </a:r>
            <a:r>
              <a:rPr lang="en-US" altLang="ko-KR" sz="1400" dirty="0"/>
              <a:t>':</a:t>
            </a:r>
          </a:p>
          <a:p>
            <a:pPr defTabSz="180000"/>
            <a:r>
              <a:rPr lang="en-US" altLang="ko-KR" sz="1400" dirty="0"/>
              <a:t>		str = "&lt;h2&gt;Hello, </a:t>
            </a:r>
            <a:r>
              <a:rPr lang="en-US" altLang="ko-KR" sz="1400" dirty="0" err="1"/>
              <a:t>Kitae</a:t>
            </a:r>
            <a:r>
              <a:rPr lang="en-US" altLang="ko-KR" sz="1400" dirty="0"/>
              <a:t>&lt;/h2&gt;"</a:t>
            </a:r>
          </a:p>
          <a:p>
            <a:pPr defTabSz="180000"/>
            <a:r>
              <a:rPr lang="en-US" altLang="ko-KR" sz="1400" dirty="0"/>
              <a:t>	</a:t>
            </a:r>
            <a:r>
              <a:rPr lang="en-US" altLang="ko-KR" sz="1400" dirty="0" err="1"/>
              <a:t>elif</a:t>
            </a:r>
            <a:r>
              <a:rPr lang="en-US" altLang="ko-KR" sz="1400" dirty="0"/>
              <a:t> name == '</a:t>
            </a:r>
            <a:r>
              <a:rPr lang="en-US" altLang="ko-KR" sz="1400" dirty="0" err="1"/>
              <a:t>jmlee</a:t>
            </a:r>
            <a:r>
              <a:rPr lang="en-US" altLang="ko-KR" sz="1400" dirty="0"/>
              <a:t>':</a:t>
            </a:r>
          </a:p>
          <a:p>
            <a:pPr defTabSz="180000"/>
            <a:r>
              <a:rPr lang="pt-BR" altLang="ko-KR" sz="1400" dirty="0"/>
              <a:t>		str = "&lt;h2&gt;Hello, Jmlee&lt;/h2&gt;"</a:t>
            </a:r>
          </a:p>
          <a:p>
            <a:pPr defTabSz="180000"/>
            <a:r>
              <a:rPr lang="en-US" altLang="ko-KR" sz="1400" dirty="0"/>
              <a:t>	else:</a:t>
            </a:r>
          </a:p>
          <a:p>
            <a:pPr defTabSz="180000"/>
            <a:r>
              <a:rPr lang="en-US" altLang="ko-KR" sz="1400" dirty="0"/>
              <a:t>		str = "" # </a:t>
            </a:r>
            <a:r>
              <a:rPr lang="ko-KR" altLang="en-US" sz="1400" dirty="0"/>
              <a:t>빈 내용을 </a:t>
            </a:r>
            <a:r>
              <a:rPr lang="ko-KR" altLang="en-US" sz="1400" dirty="0" err="1"/>
              <a:t>리턴한다</a:t>
            </a:r>
            <a:r>
              <a:rPr lang="en-US" altLang="ko-KR" sz="1400" dirty="0"/>
              <a:t>.</a:t>
            </a:r>
          </a:p>
          <a:p>
            <a:pPr defTabSz="180000"/>
            <a:r>
              <a:rPr lang="en-US" altLang="ko-KR" sz="1400" dirty="0"/>
              <a:t>	return str</a:t>
            </a:r>
          </a:p>
          <a:p>
            <a:pPr defTabSz="180000"/>
            <a:endParaRPr lang="en-US" altLang="ko-KR" sz="1400" dirty="0"/>
          </a:p>
          <a:p>
            <a:pPr defTabSz="180000"/>
            <a:r>
              <a:rPr lang="en-US" altLang="ko-KR" sz="1400" dirty="0"/>
              <a:t>if __name__ == '__main__':</a:t>
            </a:r>
          </a:p>
          <a:p>
            <a:pPr defTabSz="180000"/>
            <a:r>
              <a:rPr lang="da-DK" altLang="ko-KR" sz="1400" dirty="0"/>
              <a:t>	app.run(host='0.0.0.0', port=8080, debug=True)</a:t>
            </a:r>
            <a:endParaRPr lang="en-US" altLang="ko-KR" sz="14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3662F9D-9ADA-4DA8-A019-03087AB429EB}"/>
              </a:ext>
            </a:extLst>
          </p:cNvPr>
          <p:cNvSpPr/>
          <p:nvPr/>
        </p:nvSpPr>
        <p:spPr>
          <a:xfrm>
            <a:off x="524674" y="1373867"/>
            <a:ext cx="83678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예제 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6-3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에서 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@</a:t>
            </a:r>
            <a:r>
              <a:rPr lang="en-US" altLang="ko-KR" sz="1600" dirty="0" err="1">
                <a:solidFill>
                  <a:schemeClr val="accent2">
                    <a:lumMod val="75000"/>
                  </a:schemeClr>
                </a:solidFill>
              </a:rPr>
              <a:t>app.route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 ('/</a:t>
            </a:r>
            <a:r>
              <a:rPr lang="en-US" altLang="ko-KR" sz="1600" dirty="0" err="1">
                <a:solidFill>
                  <a:schemeClr val="accent2">
                    <a:lumMod val="75000"/>
                  </a:schemeClr>
                </a:solidFill>
              </a:rPr>
              <a:t>kitae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/ ')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와 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@</a:t>
            </a:r>
            <a:r>
              <a:rPr lang="en-US" altLang="ko-KR" sz="1600" dirty="0" err="1">
                <a:solidFill>
                  <a:schemeClr val="accent2">
                    <a:lumMod val="75000"/>
                  </a:schemeClr>
                </a:solidFill>
              </a:rPr>
              <a:t>app.route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 ('/</a:t>
            </a:r>
            <a:r>
              <a:rPr lang="en-US" altLang="ko-KR" sz="1600" dirty="0" err="1">
                <a:solidFill>
                  <a:schemeClr val="accent2">
                    <a:lumMod val="75000"/>
                  </a:schemeClr>
                </a:solidFill>
              </a:rPr>
              <a:t>jmlee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/ ') URL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에 대하여 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2 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함수를 사용하였다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. variable 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기능을 사용하여 예제 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6-3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을 하나의 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URL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과 하나의 함수를 사용하도록 수정하라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.</a:t>
            </a:r>
            <a:endParaRPr lang="ko-KR" altLang="en-US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6C32C8-8004-42B6-89FB-56434DF0C9E1}"/>
              </a:ext>
            </a:extLst>
          </p:cNvPr>
          <p:cNvSpPr txBox="1"/>
          <p:nvPr/>
        </p:nvSpPr>
        <p:spPr>
          <a:xfrm>
            <a:off x="539552" y="2359328"/>
            <a:ext cx="7665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6-5.py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344472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003CD5-8030-43E7-A343-C48A4518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예제 </a:t>
            </a:r>
            <a:r>
              <a:rPr lang="en-US" altLang="ko-KR"/>
              <a:t>6-5 (</a:t>
            </a:r>
            <a:r>
              <a:rPr lang="ko-KR" altLang="en-US"/>
              <a:t>계속</a:t>
            </a:r>
            <a:r>
              <a:rPr lang="en-US" altLang="ko-KR"/>
              <a:t>)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8E04C7-4C13-4CF1-954F-23DF4EB6F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36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77CF255-F73B-4EC1-B432-9259247AD3BD}"/>
              </a:ext>
            </a:extLst>
          </p:cNvPr>
          <p:cNvSpPr/>
          <p:nvPr/>
        </p:nvSpPr>
        <p:spPr>
          <a:xfrm>
            <a:off x="647056" y="1461514"/>
            <a:ext cx="7093296" cy="1444763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pPr fontAlgn="base"/>
            <a:r>
              <a:rPr lang="fi-FI" altLang="ko-KR" sz="1400" b="1" dirty="0"/>
              <a:t>(myenv) pi@pi:~/ch06 $ python 6-5.py</a:t>
            </a:r>
          </a:p>
          <a:p>
            <a:pPr fontAlgn="base"/>
            <a:r>
              <a:rPr lang="en-US" altLang="ko-KR" sz="1400" dirty="0"/>
              <a:t>* Serving Flask app "6-5" (lazy loading)</a:t>
            </a:r>
          </a:p>
          <a:p>
            <a:pPr fontAlgn="base"/>
            <a:r>
              <a:rPr lang="en-US" altLang="ko-KR" sz="1400" dirty="0"/>
              <a:t>....(</a:t>
            </a:r>
            <a:r>
              <a:rPr lang="ko-KR" altLang="en-US" sz="1400" dirty="0"/>
              <a:t>생략</a:t>
            </a:r>
            <a:r>
              <a:rPr lang="en-US" altLang="ko-KR" sz="1400" dirty="0"/>
              <a:t>)</a:t>
            </a:r>
          </a:p>
          <a:p>
            <a:pPr fontAlgn="base"/>
            <a:r>
              <a:rPr lang="en-US" altLang="ko-KR" sz="1400" dirty="0"/>
              <a:t>* Debugger PIN: 235-625-251</a:t>
            </a:r>
          </a:p>
          <a:p>
            <a:pPr fontAlgn="base"/>
            <a:r>
              <a:rPr lang="en-US" altLang="ko-KR" sz="1400" dirty="0"/>
              <a:t>192.168.0.50 - - [13/May/2023 09:12:43] "GET /</a:t>
            </a:r>
            <a:r>
              <a:rPr lang="en-US" altLang="ko-KR" sz="1400" dirty="0" err="1"/>
              <a:t>kitae</a:t>
            </a:r>
            <a:r>
              <a:rPr lang="en-US" altLang="ko-KR" sz="1400" dirty="0"/>
              <a:t>/ HTTP/1.1" 200 -</a:t>
            </a:r>
          </a:p>
          <a:p>
            <a:pPr fontAlgn="base"/>
            <a:r>
              <a:rPr lang="en-US" altLang="ko-KR" sz="1400" dirty="0"/>
              <a:t>192.168.0.50 - - [13/May/2023 09:17:31] "GET /</a:t>
            </a:r>
            <a:r>
              <a:rPr lang="en-US" altLang="ko-KR" sz="1400" dirty="0" err="1"/>
              <a:t>jmlee</a:t>
            </a:r>
            <a:r>
              <a:rPr lang="en-US" altLang="ko-KR" sz="1400" dirty="0"/>
              <a:t>/ HTTP/1.1" 200 -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E20099BA-F883-4267-B267-9C7A8318C0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함초롬바탕" panose="02030604000101010101" pitchFamily="18" charset="-127"/>
              </a:rPr>
              <a:t>  </a:t>
            </a:r>
            <a:endParaRPr kumimoji="0" lang="ko-KR" altLang="ko-KR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ACC9E6F8-5796-4367-A03B-76FB16F53B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282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06D4D75-0134-30B5-E3D0-C9B5B32D5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3196898"/>
            <a:ext cx="4695397" cy="137116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1C4C800-01E4-163E-A13E-59AAEBB529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904" y="4731902"/>
            <a:ext cx="4695397" cy="1371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5006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2BC664-FBDD-4F71-B134-66AB2EA33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/>
              <a:t>예제 </a:t>
            </a:r>
            <a:r>
              <a:rPr lang="en-US" altLang="ko-KR"/>
              <a:t>6-6 variable</a:t>
            </a:r>
            <a:r>
              <a:rPr lang="ko-KR" altLang="en-US"/>
              <a:t> </a:t>
            </a:r>
            <a:r>
              <a:rPr lang="ko-KR" altLang="en-US" dirty="0"/>
              <a:t>이용 실습 </a:t>
            </a:r>
            <a:r>
              <a:rPr lang="en-US" altLang="ko-KR" dirty="0"/>
              <a:t>– </a:t>
            </a:r>
            <a:r>
              <a:rPr lang="ko-KR" altLang="en-US"/>
              <a:t>은행 계좌에 </a:t>
            </a:r>
            <a:r>
              <a:rPr lang="ko-KR" altLang="en-US" dirty="0"/>
              <a:t>입</a:t>
            </a:r>
            <a:r>
              <a:rPr lang="ko-KR" altLang="en-US"/>
              <a:t>금</a:t>
            </a:r>
            <a:r>
              <a:rPr lang="en-US" altLang="ko-KR" dirty="0"/>
              <a:t>, </a:t>
            </a:r>
            <a:r>
              <a:rPr lang="ko-KR" altLang="en-US" dirty="0"/>
              <a:t>출금</a:t>
            </a:r>
            <a:r>
              <a:rPr lang="en-US" altLang="ko-KR" dirty="0"/>
              <a:t>, </a:t>
            </a:r>
            <a:r>
              <a:rPr lang="ko-KR" altLang="en-US" dirty="0"/>
              <a:t>조회 가능한 웹 서버 구축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40368C-9821-41EC-8EBB-4A9048296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37</a:t>
            </a:fld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68E0E46-68C5-4F7C-873A-CD52A857ECD6}"/>
              </a:ext>
            </a:extLst>
          </p:cNvPr>
          <p:cNvSpPr/>
          <p:nvPr/>
        </p:nvSpPr>
        <p:spPr>
          <a:xfrm>
            <a:off x="521968" y="1308154"/>
            <a:ext cx="844252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URL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에 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variable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을 활용하여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은행 계좌에 입금하고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출금하고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조회가 가능한 웹 서버를 간단히 구축하라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.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초기 잔액은 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0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원으로 하고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웹 브라우저에서는 다음 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3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가지 형태의 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URL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을 입력한다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.</a:t>
            </a:r>
          </a:p>
          <a:p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• http://192.168.0.5:8080/deposit/20000 - 20000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원 입금</a:t>
            </a:r>
          </a:p>
          <a:p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• http://192.168.0.5:8080/withdraw/13000 - 13000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원 출금</a:t>
            </a:r>
          </a:p>
          <a:p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• http://192.168.0.5:8080/inquiry/ -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잔액 조회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E379203-DD42-45B0-BD4A-CDD72EE083D1}"/>
              </a:ext>
            </a:extLst>
          </p:cNvPr>
          <p:cNvSpPr/>
          <p:nvPr/>
        </p:nvSpPr>
        <p:spPr>
          <a:xfrm>
            <a:off x="629482" y="2780928"/>
            <a:ext cx="8153400" cy="397031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200" dirty="0"/>
              <a:t>from flask import Flask</a:t>
            </a:r>
          </a:p>
          <a:p>
            <a:pPr defTabSz="180000"/>
            <a:r>
              <a:rPr lang="en-US" altLang="ko-KR" sz="1200" dirty="0"/>
              <a:t>app = Flask(__name__)</a:t>
            </a:r>
          </a:p>
          <a:p>
            <a:pPr defTabSz="180000"/>
            <a:r>
              <a:rPr lang="en-US" altLang="ko-KR" sz="1200" dirty="0"/>
              <a:t>balance = 0 # </a:t>
            </a:r>
            <a:r>
              <a:rPr lang="ko-KR" altLang="en-US" sz="1200" dirty="0"/>
              <a:t>잔액</a:t>
            </a:r>
            <a:r>
              <a:rPr lang="en-US" altLang="ko-KR" sz="1200" dirty="0"/>
              <a:t>. </a:t>
            </a:r>
            <a:r>
              <a:rPr lang="ko-KR" altLang="en-US" sz="1200" dirty="0"/>
              <a:t>초기에는 </a:t>
            </a:r>
            <a:r>
              <a:rPr lang="en-US" altLang="ko-KR" sz="1200" dirty="0"/>
              <a:t>0</a:t>
            </a:r>
            <a:r>
              <a:rPr lang="ko-KR" altLang="en-US" sz="1200" dirty="0"/>
              <a:t>원</a:t>
            </a:r>
          </a:p>
          <a:p>
            <a:pPr defTabSz="180000"/>
            <a:r>
              <a:rPr lang="en-US" altLang="ko-KR" sz="1200" dirty="0"/>
              <a:t>@</a:t>
            </a:r>
            <a:r>
              <a:rPr lang="en-US" altLang="ko-KR" sz="1200" dirty="0" err="1"/>
              <a:t>app.route</a:t>
            </a:r>
            <a:r>
              <a:rPr lang="en-US" altLang="ko-KR" sz="1200" dirty="0"/>
              <a:t>('/&lt;op&gt;/&lt;</a:t>
            </a:r>
            <a:r>
              <a:rPr lang="en-US" altLang="ko-KR" sz="1200" dirty="0" err="1"/>
              <a:t>int:money</a:t>
            </a:r>
            <a:r>
              <a:rPr lang="en-US" altLang="ko-KR" sz="1200" dirty="0"/>
              <a:t>&gt;/') # 2</a:t>
            </a:r>
            <a:r>
              <a:rPr lang="ko-KR" altLang="en-US" sz="1200" dirty="0"/>
              <a:t>개의 </a:t>
            </a:r>
            <a:r>
              <a:rPr lang="en-US" altLang="ko-KR" sz="1200" dirty="0"/>
              <a:t>variable: op</a:t>
            </a:r>
            <a:r>
              <a:rPr lang="ko-KR" altLang="en-US" sz="1200" dirty="0"/>
              <a:t>와 </a:t>
            </a:r>
            <a:r>
              <a:rPr lang="en-US" altLang="ko-KR" sz="1200" dirty="0"/>
              <a:t>money</a:t>
            </a:r>
          </a:p>
          <a:p>
            <a:pPr defTabSz="180000"/>
            <a:r>
              <a:rPr lang="en-US" altLang="ko-KR" sz="1200" dirty="0"/>
              <a:t>def bank(op, money):</a:t>
            </a:r>
          </a:p>
          <a:p>
            <a:pPr defTabSz="180000"/>
            <a:r>
              <a:rPr lang="en-US" altLang="ko-KR" sz="1200" dirty="0"/>
              <a:t>	global balance # </a:t>
            </a:r>
            <a:r>
              <a:rPr lang="ko-KR" altLang="en-US" sz="1200" dirty="0"/>
              <a:t>전역 변수 활용</a:t>
            </a:r>
          </a:p>
          <a:p>
            <a:pPr defTabSz="180000"/>
            <a:r>
              <a:rPr lang="en-US" altLang="ko-KR" sz="1200" dirty="0"/>
              <a:t>	if op == 'deposit': # </a:t>
            </a:r>
            <a:r>
              <a:rPr lang="ko-KR" altLang="en-US" sz="1200" dirty="0"/>
              <a:t>입금</a:t>
            </a:r>
          </a:p>
          <a:p>
            <a:pPr defTabSz="180000"/>
            <a:r>
              <a:rPr lang="en-US" altLang="ko-KR" sz="1200" dirty="0"/>
              <a:t>		balance += money # </a:t>
            </a:r>
            <a:r>
              <a:rPr lang="ko-KR" altLang="en-US" sz="1200" dirty="0"/>
              <a:t>잔액에 더하기</a:t>
            </a:r>
          </a:p>
          <a:p>
            <a:pPr defTabSz="180000"/>
            <a:r>
              <a:rPr lang="en-US" altLang="ko-KR" sz="1200" dirty="0"/>
              <a:t>		return "&lt;h2&gt;</a:t>
            </a:r>
            <a:r>
              <a:rPr lang="ko-KR" altLang="en-US" sz="1200" dirty="0"/>
              <a:t>입금 </a:t>
            </a:r>
            <a:r>
              <a:rPr lang="en-US" altLang="ko-KR" sz="1200" dirty="0"/>
              <a:t>%d </a:t>
            </a:r>
            <a:r>
              <a:rPr lang="ko-KR" altLang="en-US" sz="1200" dirty="0"/>
              <a:t>원</a:t>
            </a:r>
            <a:r>
              <a:rPr lang="en-US" altLang="ko-KR" sz="1200" dirty="0"/>
              <a:t>, </a:t>
            </a:r>
            <a:r>
              <a:rPr lang="ko-KR" altLang="en-US" sz="1200" dirty="0"/>
              <a:t>잔액 </a:t>
            </a:r>
            <a:r>
              <a:rPr lang="en-US" altLang="ko-KR" sz="1200" dirty="0"/>
              <a:t>%d&lt;/h2&gt;" % (money, balance)</a:t>
            </a:r>
          </a:p>
          <a:p>
            <a:pPr defTabSz="180000"/>
            <a:r>
              <a:rPr lang="en-US" altLang="ko-KR" sz="1200" dirty="0"/>
              <a:t>	</a:t>
            </a:r>
            <a:r>
              <a:rPr lang="en-US" altLang="ko-KR" sz="1200" dirty="0" err="1"/>
              <a:t>elif</a:t>
            </a:r>
            <a:r>
              <a:rPr lang="en-US" altLang="ko-KR" sz="1200" dirty="0"/>
              <a:t> op == 'withdraw':</a:t>
            </a:r>
          </a:p>
          <a:p>
            <a:pPr defTabSz="180000"/>
            <a:r>
              <a:rPr lang="en-US" altLang="ko-KR" sz="1200" dirty="0"/>
              <a:t>		# </a:t>
            </a:r>
            <a:r>
              <a:rPr lang="ko-KR" altLang="en-US" sz="1200" dirty="0"/>
              <a:t>인출금액이 잔액보다 많으면</a:t>
            </a:r>
            <a:r>
              <a:rPr lang="en-US" altLang="ko-KR" sz="1200" dirty="0"/>
              <a:t>, </a:t>
            </a:r>
            <a:r>
              <a:rPr lang="ko-KR" altLang="en-US" sz="1200" dirty="0"/>
              <a:t>잔액만큼만 인출</a:t>
            </a:r>
          </a:p>
          <a:p>
            <a:pPr defTabSz="180000"/>
            <a:r>
              <a:rPr lang="en-US" altLang="ko-KR" sz="1200" dirty="0"/>
              <a:t>		withdraw = balance if balance &lt; money else money</a:t>
            </a:r>
          </a:p>
          <a:p>
            <a:pPr defTabSz="180000"/>
            <a:r>
              <a:rPr lang="en-US" altLang="ko-KR" sz="1200" dirty="0"/>
              <a:t>		balance -= withdraw</a:t>
            </a:r>
          </a:p>
          <a:p>
            <a:pPr defTabSz="180000"/>
            <a:r>
              <a:rPr lang="en-US" altLang="ko-KR" sz="1200" dirty="0"/>
              <a:t>		return "&lt;h2&gt;</a:t>
            </a:r>
            <a:r>
              <a:rPr lang="ko-KR" altLang="en-US" sz="1200" dirty="0"/>
              <a:t>출금 </a:t>
            </a:r>
            <a:r>
              <a:rPr lang="en-US" altLang="ko-KR" sz="1200" dirty="0"/>
              <a:t>%d </a:t>
            </a:r>
            <a:r>
              <a:rPr lang="ko-KR" altLang="en-US" sz="1200" dirty="0"/>
              <a:t>원</a:t>
            </a:r>
            <a:r>
              <a:rPr lang="en-US" altLang="ko-KR" sz="1200" dirty="0"/>
              <a:t>, </a:t>
            </a:r>
            <a:r>
              <a:rPr lang="ko-KR" altLang="en-US" sz="1200" dirty="0"/>
              <a:t>잔액 </a:t>
            </a:r>
            <a:r>
              <a:rPr lang="en-US" altLang="ko-KR" sz="1200" dirty="0"/>
              <a:t>%d&lt;/h2&gt;" % (withdraw, balance)</a:t>
            </a:r>
          </a:p>
          <a:p>
            <a:pPr defTabSz="180000"/>
            <a:r>
              <a:rPr lang="en-US" altLang="ko-KR" sz="1200" dirty="0"/>
              <a:t>	else:</a:t>
            </a:r>
          </a:p>
          <a:p>
            <a:pPr defTabSz="180000"/>
            <a:r>
              <a:rPr lang="en-US" altLang="ko-KR" sz="1200" dirty="0"/>
              <a:t>		return "deposit </a:t>
            </a:r>
            <a:r>
              <a:rPr lang="ko-KR" altLang="en-US" sz="1200" dirty="0"/>
              <a:t>또는 </a:t>
            </a:r>
            <a:r>
              <a:rPr lang="en-US" altLang="ko-KR" sz="1200" dirty="0"/>
              <a:t>withdraw </a:t>
            </a:r>
            <a:r>
              <a:rPr lang="ko-KR" altLang="en-US" sz="1200" dirty="0"/>
              <a:t>중 하나를 입력하세요</a:t>
            </a:r>
            <a:r>
              <a:rPr lang="en-US" altLang="ko-KR" sz="1200" dirty="0"/>
              <a:t>"</a:t>
            </a:r>
            <a:endParaRPr lang="ko-KR" altLang="en-US" sz="1200" dirty="0"/>
          </a:p>
          <a:p>
            <a:pPr defTabSz="180000"/>
            <a:r>
              <a:rPr lang="en-US" altLang="ko-KR" sz="1200" dirty="0"/>
              <a:t>@</a:t>
            </a:r>
            <a:r>
              <a:rPr lang="en-US" altLang="ko-KR" sz="1200" dirty="0" err="1"/>
              <a:t>app.route</a:t>
            </a:r>
            <a:r>
              <a:rPr lang="en-US" altLang="ko-KR" sz="1200" dirty="0"/>
              <a:t>('/inquiry/')</a:t>
            </a:r>
          </a:p>
          <a:p>
            <a:pPr defTabSz="180000"/>
            <a:r>
              <a:rPr lang="en-US" altLang="ko-KR" sz="1200" dirty="0"/>
              <a:t>def inquiry( ):</a:t>
            </a:r>
          </a:p>
          <a:p>
            <a:pPr defTabSz="180000"/>
            <a:r>
              <a:rPr lang="en-US" altLang="ko-KR" sz="1200" dirty="0"/>
              <a:t>	return "&lt;h2&gt;</a:t>
            </a:r>
            <a:r>
              <a:rPr lang="ko-KR" altLang="en-US" sz="1200" dirty="0"/>
              <a:t>잔액 </a:t>
            </a:r>
            <a:r>
              <a:rPr lang="en-US" altLang="ko-KR" sz="1200" dirty="0"/>
              <a:t>%d &lt;/h2&gt;" % (balance)</a:t>
            </a:r>
          </a:p>
          <a:p>
            <a:pPr defTabSz="180000"/>
            <a:r>
              <a:rPr lang="en-US" altLang="ko-KR" sz="1200" dirty="0"/>
              <a:t>if __name__ == '__main__':</a:t>
            </a:r>
          </a:p>
          <a:p>
            <a:pPr defTabSz="180000"/>
            <a:r>
              <a:rPr lang="da-DK" altLang="ko-KR" sz="1200" dirty="0"/>
              <a:t>	app.run(host='0.0.0.0', port=8080, debug=True)</a:t>
            </a:r>
            <a:endParaRPr lang="en-US" altLang="ko-KR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3A4895-BDF1-4D0B-A6F5-FE63372799BF}"/>
              </a:ext>
            </a:extLst>
          </p:cNvPr>
          <p:cNvSpPr txBox="1"/>
          <p:nvPr/>
        </p:nvSpPr>
        <p:spPr>
          <a:xfrm>
            <a:off x="7956376" y="2442374"/>
            <a:ext cx="7665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6-6.py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6483770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CD729B-1AF4-429B-81AF-E42591597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6-6. variable</a:t>
            </a:r>
            <a:r>
              <a:rPr lang="ko-KR" altLang="en-US" dirty="0"/>
              <a:t>을 이용 실습 </a:t>
            </a:r>
            <a:r>
              <a:rPr lang="en-US" altLang="ko-KR" dirty="0"/>
              <a:t>– </a:t>
            </a:r>
            <a:r>
              <a:rPr lang="ko-KR" altLang="en-US" dirty="0"/>
              <a:t>은행 구좌에 저금</a:t>
            </a:r>
            <a:r>
              <a:rPr lang="en-US" altLang="ko-KR" dirty="0"/>
              <a:t>, </a:t>
            </a:r>
            <a:r>
              <a:rPr lang="ko-KR" altLang="en-US" dirty="0"/>
              <a:t>출금</a:t>
            </a:r>
            <a:r>
              <a:rPr lang="en-US" altLang="ko-KR" dirty="0"/>
              <a:t>, </a:t>
            </a:r>
            <a:r>
              <a:rPr lang="ko-KR" altLang="en-US" dirty="0"/>
              <a:t>조회 가능한 웹 서버 구축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381764-C7E1-4462-A392-AA9297109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38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A0B730-8E42-44B3-999C-D6515DC9E1DB}"/>
              </a:ext>
            </a:extLst>
          </p:cNvPr>
          <p:cNvSpPr/>
          <p:nvPr/>
        </p:nvSpPr>
        <p:spPr>
          <a:xfrm>
            <a:off x="524674" y="1408885"/>
            <a:ext cx="8282062" cy="166007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pPr fontAlgn="base"/>
            <a:r>
              <a:rPr lang="fi-FI" altLang="ko-KR" sz="1200" b="1" dirty="0"/>
              <a:t>(myenv) pi@pi:~/ch06 $ python 6-6.py</a:t>
            </a:r>
          </a:p>
          <a:p>
            <a:pPr fontAlgn="base"/>
            <a:r>
              <a:rPr lang="en-US" altLang="ko-KR" sz="1200" dirty="0"/>
              <a:t>* Serving Flask app "6-6" (lazy loading)</a:t>
            </a:r>
          </a:p>
          <a:p>
            <a:pPr fontAlgn="base"/>
            <a:r>
              <a:rPr lang="en-US" altLang="ko-KR" sz="1200" dirty="0"/>
              <a:t>....(</a:t>
            </a:r>
            <a:r>
              <a:rPr lang="ko-KR" altLang="en-US" sz="1200" dirty="0"/>
              <a:t>생략</a:t>
            </a:r>
            <a:r>
              <a:rPr lang="en-US" altLang="ko-KR" sz="1200" dirty="0"/>
              <a:t>)</a:t>
            </a:r>
          </a:p>
          <a:p>
            <a:pPr fontAlgn="base"/>
            <a:r>
              <a:rPr lang="en-US" altLang="ko-KR" sz="1200" dirty="0"/>
              <a:t>* Debugger PIN: 235-625-251</a:t>
            </a:r>
          </a:p>
          <a:p>
            <a:pPr fontAlgn="base"/>
            <a:r>
              <a:rPr lang="en-US" altLang="ko-KR" sz="1200" dirty="0"/>
              <a:t>192.168.0.50 - - [13/May/2023 00:22:17] "GET /deposit/20000/ HTTP/1.1" 200 -</a:t>
            </a:r>
          </a:p>
          <a:p>
            <a:pPr fontAlgn="base"/>
            <a:r>
              <a:rPr lang="en-US" altLang="ko-KR" sz="1200" dirty="0"/>
              <a:t>192.168.0.50 - - [13/May/2023 00:22:55] "GET /deposit/53700/ HTTP/1.1" 200 -</a:t>
            </a:r>
          </a:p>
          <a:p>
            <a:pPr fontAlgn="base"/>
            <a:r>
              <a:rPr lang="en-US" altLang="ko-KR" sz="1200" dirty="0"/>
              <a:t>192.168.0.50 - - [13/May/2023 00:23:31] "GET /withdraw/13000/ HTTP/1.1" 200 -</a:t>
            </a:r>
          </a:p>
          <a:p>
            <a:pPr fontAlgn="base"/>
            <a:r>
              <a:rPr lang="en-US" altLang="ko-KR" sz="1200" dirty="0"/>
              <a:t>192.168.0.50 - - [13/May/2023 00:24:00] "GET /inquiry/ HTTP/1.1" 200 -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DF7D050-AF33-6E34-D3B2-AE5A53D11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154" y="3338785"/>
            <a:ext cx="4643117" cy="112218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6742156-77F8-3E4C-6C58-9414D437B5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153" y="5260047"/>
            <a:ext cx="4643117" cy="112218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074629B-AFE9-C430-66AC-AB587D97EC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3619" y="5619181"/>
            <a:ext cx="4643121" cy="112218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2BA84D2-8D91-68B1-D005-5820D5A012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3619" y="4060483"/>
            <a:ext cx="4643117" cy="1122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1625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1C49315-F9BF-46CC-BD95-56151EE7F2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3FDB26C-B2CB-449C-9B96-BED52B4B9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6.4</a:t>
            </a:r>
            <a:r>
              <a:rPr lang="ko-KR" altLang="en-US"/>
              <a:t>템플릿 </a:t>
            </a:r>
            <a:r>
              <a:rPr lang="en-US" altLang="ko-KR" dirty="0"/>
              <a:t>HTML </a:t>
            </a:r>
            <a:r>
              <a:rPr lang="ko-KR" altLang="en-US" dirty="0"/>
              <a:t>파일의 동적 변경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25AA9D-0468-440F-9A0D-23D4D228AF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99658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35721E-8B74-46B0-9F37-DAE2CF243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플라스크의 디렉터리 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16655D-9261-48F0-94FB-64B4893374D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5040560"/>
          </a:xfrm>
        </p:spPr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가지 디렉터리</a:t>
            </a:r>
            <a:endParaRPr lang="en-US" altLang="ko-KR" dirty="0"/>
          </a:p>
          <a:p>
            <a:pPr lvl="1" fontAlgn="base"/>
            <a:r>
              <a:rPr lang="en-US" altLang="ko-KR"/>
              <a:t>static </a:t>
            </a:r>
            <a:r>
              <a:rPr lang="ko-KR" altLang="en-US"/>
              <a:t>디렉터리</a:t>
            </a:r>
            <a:endParaRPr lang="en-US" altLang="ko-KR"/>
          </a:p>
          <a:p>
            <a:pPr lvl="2" fontAlgn="base"/>
            <a:r>
              <a:rPr lang="ko-KR" altLang="en-US"/>
              <a:t>정적 </a:t>
            </a:r>
            <a:r>
              <a:rPr lang="ko-KR" altLang="en-US" dirty="0"/>
              <a:t>콘텐츠를 두는 디렉터리</a:t>
            </a:r>
          </a:p>
          <a:p>
            <a:pPr lvl="1" fontAlgn="base"/>
            <a:r>
              <a:rPr lang="en-US" altLang="ko-KR"/>
              <a:t>templates </a:t>
            </a:r>
            <a:r>
              <a:rPr lang="ko-KR" altLang="en-US"/>
              <a:t>디렉터리</a:t>
            </a:r>
            <a:endParaRPr lang="en-US" altLang="ko-KR"/>
          </a:p>
          <a:p>
            <a:pPr lvl="2" fontAlgn="base"/>
            <a:r>
              <a:rPr lang="ko-KR" altLang="en-US"/>
              <a:t>동적 </a:t>
            </a:r>
            <a:r>
              <a:rPr lang="ko-KR" altLang="en-US" dirty="0"/>
              <a:t>콘텐츠를 생성하기 위해 템플릿을 두는 디렉터리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5BFB24-DAD4-43A8-A544-F122FF1EE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40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9BC6F7C-8DC0-4C88-822F-F2F1FB37A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3356992"/>
            <a:ext cx="7206531" cy="3358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6437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5F22BD-74D5-4A09-BF94-D1FDCCEAD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템플릿 </a:t>
            </a:r>
            <a:r>
              <a:rPr lang="en-US" altLang="ko-KR" dirty="0"/>
              <a:t>HTML</a:t>
            </a:r>
            <a:r>
              <a:rPr lang="ko-KR" altLang="en-US" dirty="0"/>
              <a:t>과 </a:t>
            </a:r>
            <a:r>
              <a:rPr lang="en-US" altLang="ko-KR" dirty="0"/>
              <a:t>render-template() </a:t>
            </a:r>
            <a:r>
              <a:rPr lang="ko-KR" altLang="en-US" dirty="0"/>
              <a:t>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2C4F9D-8086-4AA2-93BD-8608D7EAA75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템플릿 </a:t>
            </a:r>
            <a:r>
              <a:rPr lang="en-US" altLang="ko-KR" dirty="0"/>
              <a:t>HTML</a:t>
            </a:r>
          </a:p>
          <a:p>
            <a:pPr lvl="1"/>
            <a:r>
              <a:rPr lang="ko-KR" altLang="en-US" dirty="0"/>
              <a:t>웹 서버를 구축하다 보면 많은 동적 콘텐츠들이 동일한 </a:t>
            </a:r>
            <a:r>
              <a:rPr lang="en-US" altLang="ko-KR" dirty="0"/>
              <a:t>HTML </a:t>
            </a:r>
            <a:r>
              <a:rPr lang="ko-KR" altLang="en-US" dirty="0"/>
              <a:t>텍스트를 기반으로 조금씩 변경되는 형태가 대부분</a:t>
            </a:r>
            <a:endParaRPr lang="en-US" altLang="ko-KR" dirty="0"/>
          </a:p>
          <a:p>
            <a:pPr lvl="1"/>
            <a:r>
              <a:rPr lang="ko-KR" altLang="en-US" dirty="0"/>
              <a:t>웹 브라우저로부터 모든 요청에 대해 </a:t>
            </a:r>
            <a:r>
              <a:rPr lang="en-US" altLang="ko-KR" dirty="0"/>
              <a:t>HTML </a:t>
            </a:r>
            <a:r>
              <a:rPr lang="ko-KR" altLang="en-US" dirty="0"/>
              <a:t>문서를 동적으로 생성하는 것은 매우 힘든 작업</a:t>
            </a:r>
            <a:endParaRPr lang="en-US" altLang="ko-KR" dirty="0"/>
          </a:p>
          <a:p>
            <a:pPr lvl="1"/>
            <a:r>
              <a:rPr lang="ko-KR" altLang="en-US" dirty="0"/>
              <a:t>플라스크는 웹 서버에서 </a:t>
            </a:r>
            <a:r>
              <a:rPr lang="en-US" altLang="ko-KR" dirty="0"/>
              <a:t>HTML </a:t>
            </a:r>
            <a:r>
              <a:rPr lang="ko-KR" altLang="en-US" dirty="0"/>
              <a:t>문서를 동적으로 생성하기 쉽도록 템플릿 기능을 제공</a:t>
            </a:r>
            <a:endParaRPr lang="en-US" altLang="ko-KR" dirty="0"/>
          </a:p>
          <a:p>
            <a:pPr lvl="1"/>
            <a:endParaRPr lang="en-US" altLang="ko-KR" dirty="0"/>
          </a:p>
          <a:p>
            <a:pPr lvl="2" fontAlgn="base"/>
            <a:r>
              <a:rPr lang="ko-KR" altLang="en-US" dirty="0"/>
              <a:t>템플릿 </a:t>
            </a:r>
            <a:r>
              <a:rPr lang="en-US" altLang="ko-KR" dirty="0"/>
              <a:t>HTML </a:t>
            </a:r>
            <a:r>
              <a:rPr lang="ko-KR" altLang="en-US" dirty="0"/>
              <a:t>파일을 작성하여 </a:t>
            </a:r>
            <a:r>
              <a:rPr lang="en-US" altLang="ko-KR" dirty="0"/>
              <a:t>templates </a:t>
            </a:r>
            <a:r>
              <a:rPr lang="ko-KR" altLang="en-US" dirty="0"/>
              <a:t>디렉터리에 저장</a:t>
            </a:r>
          </a:p>
          <a:p>
            <a:pPr lvl="2" fontAlgn="base"/>
            <a:r>
              <a:rPr lang="en-US" altLang="ko-KR" dirty="0" err="1"/>
              <a:t>render_template</a:t>
            </a:r>
            <a:r>
              <a:rPr lang="en-US" altLang="ko-KR" dirty="0"/>
              <a:t>() </a:t>
            </a:r>
            <a:r>
              <a:rPr lang="ko-KR" altLang="en-US" dirty="0"/>
              <a:t>함수를 사용하여 템플릿 </a:t>
            </a:r>
            <a:r>
              <a:rPr lang="en-US" altLang="ko-KR" dirty="0"/>
              <a:t>HTML </a:t>
            </a:r>
            <a:r>
              <a:rPr lang="ko-KR" altLang="en-US" dirty="0"/>
              <a:t>파일에 약간의 수정을 가해 동적 </a:t>
            </a:r>
            <a:r>
              <a:rPr lang="en-US" altLang="ko-KR" dirty="0"/>
              <a:t>HTML </a:t>
            </a:r>
            <a:r>
              <a:rPr lang="ko-KR" altLang="en-US" dirty="0"/>
              <a:t>파일 생성 </a:t>
            </a:r>
            <a:r>
              <a:rPr lang="en-US" altLang="ko-KR" dirty="0"/>
              <a:t>- </a:t>
            </a:r>
            <a:r>
              <a:rPr lang="en-US" altLang="ko-KR" dirty="0" err="1"/>
              <a:t>render_template</a:t>
            </a:r>
            <a:r>
              <a:rPr lang="en-US" altLang="ko-KR" dirty="0"/>
              <a:t>() </a:t>
            </a:r>
            <a:r>
              <a:rPr lang="ko-KR" altLang="en-US" dirty="0"/>
              <a:t>함수가 템플릿 </a:t>
            </a:r>
            <a:r>
              <a:rPr lang="en-US" altLang="ko-KR" dirty="0"/>
              <a:t>HTML </a:t>
            </a:r>
            <a:r>
              <a:rPr lang="ko-KR" altLang="en-US" dirty="0"/>
              <a:t>파일을 수정하는 작업을 렌더링</a:t>
            </a:r>
            <a:r>
              <a:rPr lang="en-US" altLang="ko-KR" dirty="0"/>
              <a:t>(rendering)</a:t>
            </a:r>
            <a:r>
              <a:rPr lang="ko-KR" altLang="en-US" dirty="0"/>
              <a:t>이라고 부름</a:t>
            </a:r>
          </a:p>
          <a:p>
            <a:pPr lvl="1"/>
            <a:endParaRPr lang="ko-KR" altLang="en-US" dirty="0"/>
          </a:p>
          <a:p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4BBEED-C8FB-4DE2-B892-EF25FC6BB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375731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BB5FAE-41BA-4628-8A3C-311AAAE55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템플릿 </a:t>
            </a:r>
            <a:r>
              <a:rPr lang="en-US" altLang="ko-KR" dirty="0"/>
              <a:t>HTML</a:t>
            </a:r>
            <a:r>
              <a:rPr lang="ko-KR" altLang="en-US" dirty="0"/>
              <a:t>과 </a:t>
            </a:r>
            <a:r>
              <a:rPr lang="en-US" altLang="ko-KR" dirty="0"/>
              <a:t>render-template() </a:t>
            </a:r>
            <a:r>
              <a:rPr lang="ko-KR" altLang="en-US" dirty="0"/>
              <a:t>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F46518-E4B1-4A1E-AA14-49CD9B3CD2F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5040560"/>
          </a:xfrm>
        </p:spPr>
        <p:txBody>
          <a:bodyPr/>
          <a:lstStyle/>
          <a:p>
            <a:r>
              <a:rPr lang="en-US" altLang="ko-KR" dirty="0" err="1"/>
              <a:t>render_template</a:t>
            </a:r>
            <a:r>
              <a:rPr lang="en-US" altLang="ko-KR" dirty="0"/>
              <a:t>() </a:t>
            </a:r>
            <a:r>
              <a:rPr lang="ko-KR" altLang="en-US" dirty="0"/>
              <a:t>함수 활용</a:t>
            </a:r>
          </a:p>
          <a:p>
            <a:pPr lvl="1"/>
            <a:r>
              <a:rPr lang="ko-KR" altLang="en-US" dirty="0"/>
              <a:t>템플릿 </a:t>
            </a:r>
            <a:r>
              <a:rPr lang="en-US" altLang="ko-KR" dirty="0"/>
              <a:t>HTML </a:t>
            </a:r>
            <a:r>
              <a:rPr lang="ko-KR" altLang="en-US" dirty="0"/>
              <a:t>파일을 작성하고 </a:t>
            </a:r>
            <a:r>
              <a:rPr lang="en-US" altLang="ko-KR" dirty="0" err="1"/>
              <a:t>render_template</a:t>
            </a:r>
            <a:r>
              <a:rPr lang="en-US" altLang="ko-KR" dirty="0"/>
              <a:t>() </a:t>
            </a:r>
            <a:r>
              <a:rPr lang="ko-KR" altLang="en-US" dirty="0"/>
              <a:t>함수를 사용하여 동적으로 </a:t>
            </a:r>
            <a:r>
              <a:rPr lang="en-US" altLang="ko-KR" dirty="0"/>
              <a:t>HTML </a:t>
            </a:r>
            <a:r>
              <a:rPr lang="ko-KR" altLang="en-US" dirty="0"/>
              <a:t>문서를 생성하는 방법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0A3222-C80B-4CD6-8DA2-5B312087F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42</a:t>
            </a:fld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08E8D43-A7BF-4963-8959-DDFF261EFC97}"/>
              </a:ext>
            </a:extLst>
          </p:cNvPr>
          <p:cNvSpPr/>
          <p:nvPr/>
        </p:nvSpPr>
        <p:spPr>
          <a:xfrm>
            <a:off x="1331640" y="2624829"/>
            <a:ext cx="5040560" cy="3385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600" dirty="0"/>
              <a:t>from flask import </a:t>
            </a:r>
            <a:r>
              <a:rPr lang="en-US" altLang="ko-KR" sz="1600" dirty="0" err="1"/>
              <a:t>render_template</a:t>
            </a:r>
            <a:endParaRPr lang="en-US" altLang="ko-KR" sz="16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A8CDBBB-9192-438F-BED1-669907FBF6F4}"/>
              </a:ext>
            </a:extLst>
          </p:cNvPr>
          <p:cNvSpPr/>
          <p:nvPr/>
        </p:nvSpPr>
        <p:spPr>
          <a:xfrm>
            <a:off x="1331640" y="3056877"/>
            <a:ext cx="5040560" cy="3385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600" dirty="0" err="1"/>
              <a:t>render</a:t>
            </a:r>
            <a:r>
              <a:rPr lang="en-US" altLang="ko-KR" sz="1600" err="1"/>
              <a:t>_</a:t>
            </a:r>
            <a:r>
              <a:rPr lang="en-US" altLang="ko-KR" sz="1600"/>
              <a:t>template</a:t>
            </a:r>
            <a:r>
              <a:rPr lang="en-US" altLang="ko-KR" sz="1600" dirty="0"/>
              <a:t>('hello.html')</a:t>
            </a:r>
          </a:p>
        </p:txBody>
      </p:sp>
    </p:spTree>
    <p:extLst>
      <p:ext uri="{BB962C8B-B14F-4D97-AF65-F5344CB8AC3E}">
        <p14:creationId xmlns:p14="http://schemas.microsoft.com/office/powerpoint/2010/main" val="41767768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ACB3A0-14C4-489B-8E7F-9FA4D71F5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680120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6-7 </a:t>
            </a:r>
            <a:r>
              <a:rPr lang="ko-KR" altLang="en-US" dirty="0"/>
              <a:t>템플릿 </a:t>
            </a:r>
            <a:r>
              <a:rPr lang="en-US" altLang="ko-KR" dirty="0"/>
              <a:t>HTML </a:t>
            </a:r>
            <a:r>
              <a:rPr lang="ko-KR" altLang="en-US" dirty="0"/>
              <a:t>파일을 </a:t>
            </a:r>
            <a:r>
              <a:rPr lang="en-US" altLang="ko-KR" dirty="0" err="1"/>
              <a:t>render_template</a:t>
            </a:r>
            <a:r>
              <a:rPr lang="en-US" altLang="ko-KR" dirty="0"/>
              <a:t>() </a:t>
            </a:r>
            <a:r>
              <a:rPr lang="ko-KR" altLang="en-US" dirty="0"/>
              <a:t>함수로 수정 없이 그대로 전송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91B25D-3B52-4D25-B89F-048F6E231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43</a:t>
            </a:fld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462F29A-41D6-47E4-A689-0330FF46056B}"/>
              </a:ext>
            </a:extLst>
          </p:cNvPr>
          <p:cNvSpPr/>
          <p:nvPr/>
        </p:nvSpPr>
        <p:spPr>
          <a:xfrm>
            <a:off x="524674" y="1402956"/>
            <a:ext cx="836780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이 예제는 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hello.html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을 템플릿 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HTML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파일로 작성하여 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templates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디렉터리에 </a:t>
            </a:r>
            <a:r>
              <a:rPr lang="ko-KR" altLang="en-US" sz="1400" dirty="0" err="1">
                <a:solidFill>
                  <a:schemeClr val="accent2">
                    <a:lumMod val="75000"/>
                  </a:schemeClr>
                </a:solidFill>
              </a:rPr>
              <a:t>저장해놓고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웹 브라우저의 요청 시에 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hello.html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을 수정 없이 그대로 전송하는 매우 간단한 사례이다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.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디렉터리 구조는 다음과 같다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.</a:t>
            </a:r>
            <a:endParaRPr lang="ko-KR" altLang="en-US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1928D11-68C7-4FAB-9FDF-A926F71CD646}"/>
              </a:ext>
            </a:extLst>
          </p:cNvPr>
          <p:cNvSpPr/>
          <p:nvPr/>
        </p:nvSpPr>
        <p:spPr>
          <a:xfrm>
            <a:off x="612649" y="2624398"/>
            <a:ext cx="3108706" cy="212365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200" dirty="0"/>
              <a:t>&lt;!doctype html&gt;</a:t>
            </a:r>
          </a:p>
          <a:p>
            <a:pPr defTabSz="180000"/>
            <a:r>
              <a:rPr lang="en-US" altLang="ko-KR" sz="1200" dirty="0"/>
              <a:t>&lt;html&gt;</a:t>
            </a:r>
          </a:p>
          <a:p>
            <a:pPr defTabSz="180000"/>
            <a:r>
              <a:rPr lang="en-US" altLang="ko-KR" sz="1200" dirty="0"/>
              <a:t>&lt;head&gt;</a:t>
            </a:r>
          </a:p>
          <a:p>
            <a:pPr defTabSz="180000"/>
            <a:r>
              <a:rPr lang="en-US" altLang="ko-KR" sz="1200" dirty="0"/>
              <a:t>	&lt;title&gt;Template </a:t>
            </a:r>
            <a:r>
              <a:rPr lang="ko-KR" altLang="en-US" sz="1200" dirty="0"/>
              <a:t>사용하기</a:t>
            </a:r>
            <a:r>
              <a:rPr lang="en-US" altLang="ko-KR" sz="1200" dirty="0"/>
              <a:t>&lt;/title&gt;</a:t>
            </a:r>
          </a:p>
          <a:p>
            <a:pPr defTabSz="180000"/>
            <a:r>
              <a:rPr lang="en-US" altLang="ko-KR" sz="1200" dirty="0"/>
              <a:t>&lt;/head&gt;</a:t>
            </a:r>
          </a:p>
          <a:p>
            <a:pPr defTabSz="180000"/>
            <a:r>
              <a:rPr lang="en-US" altLang="ko-KR" sz="1200" dirty="0"/>
              <a:t>&lt;body&gt;</a:t>
            </a:r>
          </a:p>
          <a:p>
            <a:pPr defTabSz="180000"/>
            <a:r>
              <a:rPr lang="en-US" altLang="ko-KR" sz="1200" dirty="0"/>
              <a:t>	&lt;h2&gt;Template </a:t>
            </a:r>
            <a:r>
              <a:rPr lang="ko-KR" altLang="en-US" sz="1200" dirty="0"/>
              <a:t>사용하기</a:t>
            </a:r>
            <a:r>
              <a:rPr lang="en-US" altLang="ko-KR" sz="1200" dirty="0"/>
              <a:t>&lt;/h2&gt;</a:t>
            </a:r>
          </a:p>
          <a:p>
            <a:pPr defTabSz="180000"/>
            <a:r>
              <a:rPr lang="en-US" altLang="ko-KR" sz="1200" dirty="0"/>
              <a:t>	&lt;</a:t>
            </a:r>
            <a:r>
              <a:rPr lang="en-US" altLang="ko-KR" sz="1200" dirty="0" err="1"/>
              <a:t>hr</a:t>
            </a:r>
            <a:r>
              <a:rPr lang="en-US" altLang="ko-KR" sz="1200" dirty="0"/>
              <a:t>&gt;</a:t>
            </a:r>
          </a:p>
          <a:p>
            <a:pPr defTabSz="180000"/>
            <a:r>
              <a:rPr lang="en-US" altLang="ko-KR" sz="1200" dirty="0"/>
              <a:t>	&lt;h2&gt;Hello, Flask!&lt;/h2&gt;</a:t>
            </a:r>
          </a:p>
          <a:p>
            <a:pPr defTabSz="180000"/>
            <a:r>
              <a:rPr lang="en-US" altLang="ko-KR" sz="1200" dirty="0"/>
              <a:t>&lt;/body&gt;</a:t>
            </a:r>
          </a:p>
          <a:p>
            <a:pPr defTabSz="180000"/>
            <a:r>
              <a:rPr lang="en-US" altLang="ko-KR" sz="1200" dirty="0"/>
              <a:t>&lt;/html&gt;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9B7BE8C-D235-4BED-8536-D6A093736910}"/>
              </a:ext>
            </a:extLst>
          </p:cNvPr>
          <p:cNvSpPr/>
          <p:nvPr/>
        </p:nvSpPr>
        <p:spPr>
          <a:xfrm>
            <a:off x="621775" y="4924325"/>
            <a:ext cx="5411275" cy="175432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200" dirty="0"/>
              <a:t>from flask import Flask, </a:t>
            </a:r>
            <a:r>
              <a:rPr lang="en-US" altLang="ko-KR" sz="1200" dirty="0" err="1"/>
              <a:t>render_template</a:t>
            </a:r>
            <a:endParaRPr lang="en-US" altLang="ko-KR" sz="1200" dirty="0"/>
          </a:p>
          <a:p>
            <a:pPr defTabSz="180000"/>
            <a:r>
              <a:rPr lang="en-US" altLang="ko-KR" sz="1200" dirty="0"/>
              <a:t>app = Flask(__name__)</a:t>
            </a:r>
          </a:p>
          <a:p>
            <a:pPr defTabSz="180000"/>
            <a:endParaRPr lang="en-US" altLang="ko-KR" sz="1200" dirty="0"/>
          </a:p>
          <a:p>
            <a:pPr defTabSz="180000"/>
            <a:r>
              <a:rPr lang="en-US" altLang="ko-KR" sz="1200" dirty="0"/>
              <a:t>@</a:t>
            </a:r>
            <a:r>
              <a:rPr lang="en-US" altLang="ko-KR" sz="1200" dirty="0" err="1"/>
              <a:t>app.route</a:t>
            </a:r>
            <a:r>
              <a:rPr lang="en-US" altLang="ko-KR" sz="1200" dirty="0"/>
              <a:t>('/hello/')</a:t>
            </a:r>
          </a:p>
          <a:p>
            <a:pPr defTabSz="180000"/>
            <a:r>
              <a:rPr lang="en-US" altLang="ko-KR" sz="1200" dirty="0"/>
              <a:t>def hello( ):</a:t>
            </a:r>
          </a:p>
          <a:p>
            <a:pPr defTabSz="180000"/>
            <a:r>
              <a:rPr lang="en-US" altLang="ko-KR" sz="1200" dirty="0"/>
              <a:t>	return </a:t>
            </a:r>
            <a:r>
              <a:rPr lang="en-US" altLang="ko-KR" sz="1200" dirty="0" err="1"/>
              <a:t>render_template</a:t>
            </a:r>
            <a:r>
              <a:rPr lang="en-US" altLang="ko-KR" sz="1200" dirty="0"/>
              <a:t>('hello.html')</a:t>
            </a:r>
          </a:p>
          <a:p>
            <a:pPr defTabSz="180000"/>
            <a:endParaRPr lang="en-US" altLang="ko-KR" sz="1200" dirty="0"/>
          </a:p>
          <a:p>
            <a:pPr defTabSz="180000"/>
            <a:r>
              <a:rPr lang="en-US" altLang="ko-KR" sz="1200" dirty="0"/>
              <a:t>if __name__ == '__main__':</a:t>
            </a:r>
          </a:p>
          <a:p>
            <a:pPr defTabSz="180000"/>
            <a:r>
              <a:rPr lang="da-DK" altLang="ko-KR" sz="1200" dirty="0"/>
              <a:t>	app.run(host='0.0.0.0', port=8080, debug=True</a:t>
            </a:r>
            <a:r>
              <a:rPr lang="en-US" altLang="ko-KR" sz="1200" dirty="0"/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CBB73F-6DDC-4B55-AE28-B9053A89D904}"/>
              </a:ext>
            </a:extLst>
          </p:cNvPr>
          <p:cNvSpPr txBox="1"/>
          <p:nvPr/>
        </p:nvSpPr>
        <p:spPr>
          <a:xfrm>
            <a:off x="5290834" y="4594052"/>
            <a:ext cx="7665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6-7.py</a:t>
            </a:r>
            <a:endParaRPr lang="ko-KR" alt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453E48-7AB0-41B1-84E5-97E1781DC8E8}"/>
              </a:ext>
            </a:extLst>
          </p:cNvPr>
          <p:cNvSpPr txBox="1"/>
          <p:nvPr/>
        </p:nvSpPr>
        <p:spPr>
          <a:xfrm>
            <a:off x="524674" y="2315106"/>
            <a:ext cx="11063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hello.html</a:t>
            </a:r>
            <a:endParaRPr lang="ko-KR" altLang="en-US" sz="16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9D24FA2-26E7-4B8F-9366-E58E450C2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6679" y="2150461"/>
            <a:ext cx="4819369" cy="2390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9244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D4882B-25EA-4FC4-8024-2306BB413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6-7 </a:t>
            </a:r>
            <a:r>
              <a:rPr lang="ko-KR" altLang="en-US" dirty="0"/>
              <a:t>템플릿 </a:t>
            </a:r>
            <a:r>
              <a:rPr lang="en-US" altLang="ko-KR" dirty="0"/>
              <a:t>HTML </a:t>
            </a:r>
            <a:r>
              <a:rPr lang="ko-KR" altLang="en-US" dirty="0"/>
              <a:t>파일을 </a:t>
            </a:r>
            <a:r>
              <a:rPr lang="en-US" altLang="ko-KR" dirty="0" err="1"/>
              <a:t>render_template</a:t>
            </a:r>
            <a:r>
              <a:rPr lang="en-US" altLang="ko-KR" dirty="0"/>
              <a:t>() </a:t>
            </a:r>
            <a:r>
              <a:rPr lang="ko-KR" altLang="en-US" dirty="0"/>
              <a:t>함수로 수정 없이 그대로 전송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376F97-C0EF-4831-86AE-AA9A1FC23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44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CB97C09-452D-4243-8032-F5834982AD28}"/>
              </a:ext>
            </a:extLst>
          </p:cNvPr>
          <p:cNvSpPr/>
          <p:nvPr/>
        </p:nvSpPr>
        <p:spPr>
          <a:xfrm>
            <a:off x="612647" y="1551451"/>
            <a:ext cx="6983689" cy="122947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pPr fontAlgn="base"/>
            <a:r>
              <a:rPr lang="fi-FI" altLang="ko-KR" sz="1400" b="1" dirty="0"/>
              <a:t>(myenv) pi@pi:~/ch06 </a:t>
            </a:r>
            <a:r>
              <a:rPr lang="fi-FI" altLang="ko-KR" sz="1400" dirty="0"/>
              <a:t>$ </a:t>
            </a:r>
            <a:r>
              <a:rPr lang="fi-FI" altLang="ko-KR" sz="1400" b="1" dirty="0"/>
              <a:t>python 6-7.py</a:t>
            </a:r>
          </a:p>
          <a:p>
            <a:pPr fontAlgn="base"/>
            <a:r>
              <a:rPr lang="en-US" altLang="ko-KR" sz="1400" dirty="0"/>
              <a:t>* Serving Flask app "6-7" (lazy loading)</a:t>
            </a:r>
          </a:p>
          <a:p>
            <a:pPr fontAlgn="base"/>
            <a:r>
              <a:rPr lang="en-US" altLang="ko-KR" sz="1400" dirty="0"/>
              <a:t>...(</a:t>
            </a:r>
            <a:r>
              <a:rPr lang="ko-KR" altLang="en-US" sz="1400" dirty="0"/>
              <a:t>생략</a:t>
            </a:r>
            <a:r>
              <a:rPr lang="en-US" altLang="ko-KR" sz="1400" dirty="0"/>
              <a:t>)</a:t>
            </a:r>
          </a:p>
          <a:p>
            <a:pPr fontAlgn="base"/>
            <a:r>
              <a:rPr lang="en-US" altLang="ko-KR" sz="1400" dirty="0"/>
              <a:t>* Debugger PIN: 235-625-251</a:t>
            </a:r>
          </a:p>
          <a:p>
            <a:pPr fontAlgn="base"/>
            <a:r>
              <a:rPr lang="en-US" altLang="ko-KR" sz="1400" dirty="0"/>
              <a:t>192.168.0.50 - - [15/May/2023 23:37:54] "GET /hello/ HTTP/1.1" 200 -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B9F1F20-D5B9-B69F-E551-473AF5264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7" y="3046288"/>
            <a:ext cx="5974598" cy="2225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98693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AFEEA4-A8E9-4C35-BCDA-809ABCEAB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템플릿 </a:t>
            </a:r>
            <a:r>
              <a:rPr lang="en-US" altLang="ko-KR" dirty="0"/>
              <a:t>HTML </a:t>
            </a:r>
            <a:r>
              <a:rPr lang="ko-KR" altLang="en-US" dirty="0"/>
              <a:t>파일에 스크립트 사용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48BE4C-A243-44B8-9FC9-610C7CDEA35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 err="1"/>
              <a:t>render_template</a:t>
            </a:r>
            <a:r>
              <a:rPr lang="en-US" altLang="ko-KR" dirty="0"/>
              <a:t>() </a:t>
            </a:r>
            <a:r>
              <a:rPr lang="ko-KR" altLang="en-US" dirty="0"/>
              <a:t>함수</a:t>
            </a:r>
          </a:p>
          <a:p>
            <a:pPr lvl="1"/>
            <a:r>
              <a:rPr lang="ko-KR" altLang="en-US" dirty="0"/>
              <a:t>템플릿 </a:t>
            </a:r>
            <a:r>
              <a:rPr lang="en-US" altLang="ko-KR" dirty="0"/>
              <a:t>HTML </a:t>
            </a:r>
            <a:r>
              <a:rPr lang="ko-KR" altLang="en-US" dirty="0"/>
              <a:t>문서를 렌더링할 때</a:t>
            </a:r>
            <a:r>
              <a:rPr lang="en-US" altLang="ko-KR" dirty="0"/>
              <a:t>, HTML </a:t>
            </a:r>
            <a:r>
              <a:rPr lang="ko-KR" altLang="en-US" dirty="0"/>
              <a:t>파일 내에 작성된 플라스크 스크립트</a:t>
            </a:r>
            <a:r>
              <a:rPr lang="en-US" altLang="ko-KR" dirty="0"/>
              <a:t>(script) </a:t>
            </a:r>
            <a:r>
              <a:rPr lang="ko-KR" altLang="en-US" dirty="0"/>
              <a:t>코드를 실행하여 </a:t>
            </a:r>
            <a:r>
              <a:rPr lang="en-US" altLang="ko-KR" dirty="0"/>
              <a:t>HTML </a:t>
            </a:r>
            <a:r>
              <a:rPr lang="ko-KR" altLang="en-US" dirty="0"/>
              <a:t>파일을 변형</a:t>
            </a:r>
          </a:p>
          <a:p>
            <a:r>
              <a:rPr lang="ko-KR" altLang="en-US" dirty="0"/>
              <a:t>템플릿 </a:t>
            </a:r>
            <a:r>
              <a:rPr lang="en-US" altLang="ko-KR" dirty="0"/>
              <a:t>HTML </a:t>
            </a:r>
            <a:r>
              <a:rPr lang="ko-KR" altLang="en-US" dirty="0"/>
              <a:t>파일 내에 스크립트 삽입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36DBE8-45A2-40BE-A3E2-1DF2FA09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45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10FBAD1-023E-4F8B-A9AC-6578C38EB4A5}"/>
              </a:ext>
            </a:extLst>
          </p:cNvPr>
          <p:cNvSpPr/>
          <p:nvPr/>
        </p:nvSpPr>
        <p:spPr>
          <a:xfrm>
            <a:off x="1043608" y="2996952"/>
            <a:ext cx="6192688" cy="7386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{{</a:t>
            </a:r>
            <a:r>
              <a:rPr lang="ko-KR" altLang="en-US" sz="1400" dirty="0"/>
              <a:t>변수 </a:t>
            </a:r>
            <a:r>
              <a:rPr lang="ko-KR" altLang="en-US" sz="1400"/>
              <a:t>또는 수식</a:t>
            </a:r>
            <a:r>
              <a:rPr lang="en-US" altLang="ko-KR" sz="1400" dirty="0"/>
              <a:t>}} # </a:t>
            </a:r>
            <a:r>
              <a:rPr lang="ko-KR" altLang="en-US" sz="1400" dirty="0"/>
              <a:t>변수나 수식을 계산한 값을 </a:t>
            </a:r>
            <a:r>
              <a:rPr lang="ko-KR" altLang="en-US" sz="1400"/>
              <a:t>문자열로 출력</a:t>
            </a:r>
            <a:endParaRPr lang="en-US" altLang="ko-KR" sz="1400" dirty="0"/>
          </a:p>
          <a:p>
            <a:pPr defTabSz="180000"/>
            <a:r>
              <a:rPr lang="en-US" altLang="ko-KR" sz="1400" dirty="0"/>
              <a:t>{% </a:t>
            </a:r>
            <a:r>
              <a:rPr lang="ko-KR" altLang="en-US" sz="1400"/>
              <a:t>스크립트 </a:t>
            </a:r>
            <a:r>
              <a:rPr lang="en-US" altLang="ko-KR" sz="1400" dirty="0"/>
              <a:t>%} # </a:t>
            </a:r>
            <a:r>
              <a:rPr lang="ko-KR" altLang="en-US" sz="1400" dirty="0"/>
              <a:t>한 라인의 스크립트만 </a:t>
            </a:r>
            <a:r>
              <a:rPr lang="ko-KR" altLang="en-US" sz="1400"/>
              <a:t>작성 가능</a:t>
            </a:r>
            <a:endParaRPr lang="en-US" altLang="ko-KR" sz="1400" dirty="0"/>
          </a:p>
          <a:p>
            <a:pPr defTabSz="180000"/>
            <a:r>
              <a:rPr lang="en-US" altLang="ko-KR" sz="1400" dirty="0"/>
              <a:t>{% endif %} </a:t>
            </a:r>
            <a:r>
              <a:rPr lang="ko-KR" altLang="en-US" sz="1400"/>
              <a:t>와 </a:t>
            </a:r>
            <a:r>
              <a:rPr lang="en-US" altLang="ko-KR" sz="1400"/>
              <a:t>{% endfor</a:t>
            </a:r>
            <a:r>
              <a:rPr lang="en-US" altLang="ko-KR" sz="1400" dirty="0"/>
              <a:t> %} # if</a:t>
            </a:r>
            <a:r>
              <a:rPr lang="ko-KR" altLang="en-US" sz="1400"/>
              <a:t>문이나 </a:t>
            </a:r>
            <a:r>
              <a:rPr lang="en-US" altLang="ko-KR" sz="1400" dirty="0"/>
              <a:t>for</a:t>
            </a:r>
            <a:r>
              <a:rPr lang="ko-KR" altLang="en-US" sz="1400" dirty="0"/>
              <a:t>문의 </a:t>
            </a:r>
            <a:r>
              <a:rPr lang="ko-KR" altLang="en-US" sz="1400"/>
              <a:t>블록 종료</a:t>
            </a:r>
            <a:endParaRPr lang="en-US" altLang="ko-KR" sz="14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3BD1617-656F-4AF7-8637-6FE2F75C3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782" y="4005064"/>
            <a:ext cx="3031144" cy="194813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BF78EA9-2032-462E-963F-40DD3B3146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968" y="3989662"/>
            <a:ext cx="2952328" cy="194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7284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234BD9-8BA0-4DF1-ABAA-B967726E1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템플릿 </a:t>
            </a:r>
            <a:r>
              <a:rPr lang="en-US" altLang="ko-KR" dirty="0"/>
              <a:t>HTML </a:t>
            </a:r>
            <a:r>
              <a:rPr lang="ko-KR" altLang="en-US" dirty="0"/>
              <a:t>파일에 스크립트 사용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21E60D-5FBA-4207-97E2-ED469F87CC9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스크립트 코드의 변수에 값 전달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D38B47-B11E-4DA7-A022-225E3F8E3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46</a:t>
            </a:fld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D437963-3E8E-4980-A8D0-09021F3613A9}"/>
              </a:ext>
            </a:extLst>
          </p:cNvPr>
          <p:cNvSpPr/>
          <p:nvPr/>
        </p:nvSpPr>
        <p:spPr>
          <a:xfrm>
            <a:off x="1055641" y="1829142"/>
            <a:ext cx="7722440" cy="18158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 err="1"/>
              <a:t>render</a:t>
            </a:r>
            <a:r>
              <a:rPr lang="en-US" altLang="ko-KR" sz="1400" err="1"/>
              <a:t>_</a:t>
            </a:r>
            <a:r>
              <a:rPr lang="en-US" altLang="ko-KR" sz="1400"/>
              <a:t>template</a:t>
            </a:r>
            <a:r>
              <a:rPr lang="en-US" altLang="ko-KR" sz="1400" dirty="0"/>
              <a:t>(</a:t>
            </a:r>
          </a:p>
          <a:p>
            <a:pPr defTabSz="180000"/>
            <a:r>
              <a:rPr lang="en-US" altLang="ko-KR" sz="1400" dirty="0"/>
              <a:t>	target, 	# </a:t>
            </a:r>
            <a:r>
              <a:rPr lang="ko-KR" altLang="en-US" sz="1400"/>
              <a:t>템플릿 </a:t>
            </a:r>
            <a:r>
              <a:rPr lang="en-US" altLang="ko-KR" sz="1400" dirty="0"/>
              <a:t>HTML </a:t>
            </a:r>
            <a:r>
              <a:rPr lang="ko-KR" altLang="en-US" sz="1400" dirty="0"/>
              <a:t>파일명</a:t>
            </a:r>
          </a:p>
          <a:p>
            <a:pPr defTabSz="180000"/>
            <a:r>
              <a:rPr lang="ko-KR" altLang="en-US" sz="1400"/>
              <a:t>	</a:t>
            </a:r>
            <a:r>
              <a:rPr lang="en-US" altLang="ko-KR" sz="1400" dirty="0"/>
              <a:t>name1 = value1,  # target </a:t>
            </a:r>
            <a:r>
              <a:rPr lang="ko-KR" altLang="en-US" sz="1400" dirty="0"/>
              <a:t>스크립트 코드의 변수에 </a:t>
            </a:r>
            <a:r>
              <a:rPr lang="ko-KR" altLang="en-US" sz="1400"/>
              <a:t>값 전달</a:t>
            </a:r>
            <a:endParaRPr lang="en-US" altLang="ko-KR" sz="1400" dirty="0"/>
          </a:p>
          <a:p>
            <a:pPr defTabSz="180000"/>
            <a:r>
              <a:rPr lang="en-US" altLang="ko-KR" sz="1400" dirty="0"/>
              <a:t>	name2 = value2, ,  # target </a:t>
            </a:r>
            <a:r>
              <a:rPr lang="ko-KR" altLang="en-US" sz="1400" dirty="0"/>
              <a:t>스크립트 코드의 변수에 </a:t>
            </a:r>
            <a:r>
              <a:rPr lang="ko-KR" altLang="en-US" sz="1400"/>
              <a:t>값 전달</a:t>
            </a:r>
            <a:endParaRPr lang="en-US" altLang="ko-KR" sz="1400" dirty="0"/>
          </a:p>
          <a:p>
            <a:pPr defTabSz="180000"/>
            <a:r>
              <a:rPr lang="en-US" altLang="ko-KR" sz="1400" dirty="0"/>
              <a:t>	...</a:t>
            </a:r>
          </a:p>
          <a:p>
            <a:pPr defTabSz="180000"/>
            <a:r>
              <a:rPr lang="en-US" altLang="ko-KR" sz="1400"/>
              <a:t>	nameN</a:t>
            </a:r>
            <a:r>
              <a:rPr lang="en-US" altLang="ko-KR" sz="1400" dirty="0"/>
              <a:t> </a:t>
            </a:r>
            <a:r>
              <a:rPr lang="en-US" altLang="ko-KR" sz="1400"/>
              <a:t>= valueN</a:t>
            </a:r>
            <a:r>
              <a:rPr lang="en-US" altLang="ko-KR" sz="1400" dirty="0"/>
              <a:t> , target </a:t>
            </a:r>
            <a:r>
              <a:rPr lang="ko-KR" altLang="en-US" sz="1400" dirty="0"/>
              <a:t>스크립트 코드의 변수에 </a:t>
            </a:r>
            <a:r>
              <a:rPr lang="ko-KR" altLang="en-US" sz="1400"/>
              <a:t>값 전달</a:t>
            </a:r>
            <a:endParaRPr lang="en-US" altLang="ko-KR" sz="1400" dirty="0"/>
          </a:p>
          <a:p>
            <a:pPr defTabSz="180000"/>
            <a:r>
              <a:rPr lang="en-US" altLang="ko-KR" sz="1400" dirty="0"/>
              <a:t>) </a:t>
            </a:r>
          </a:p>
          <a:p>
            <a:pPr defTabSz="180000"/>
            <a:r>
              <a:rPr lang="ko-KR" altLang="en-US" sz="1400"/>
              <a:t>리턴값</a:t>
            </a:r>
            <a:r>
              <a:rPr lang="en-US" altLang="ko-KR" sz="1400" dirty="0"/>
              <a:t>: </a:t>
            </a:r>
            <a:r>
              <a:rPr lang="ko-KR" altLang="en-US" sz="1400"/>
              <a:t>템플릿 </a:t>
            </a:r>
            <a:r>
              <a:rPr lang="en-US" altLang="ko-KR" sz="1400" dirty="0"/>
              <a:t>HTML </a:t>
            </a:r>
            <a:r>
              <a:rPr lang="ko-KR" altLang="en-US" sz="1400" dirty="0"/>
              <a:t>파일을 </a:t>
            </a:r>
            <a:r>
              <a:rPr lang="ko-KR" altLang="en-US" sz="1400"/>
              <a:t>수정한 </a:t>
            </a:r>
            <a:r>
              <a:rPr lang="en-US" altLang="ko-KR" sz="1400" dirty="0"/>
              <a:t>HTML </a:t>
            </a:r>
            <a:r>
              <a:rPr lang="ko-KR" altLang="en-US" sz="1400" dirty="0"/>
              <a:t>문서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1AA4C1D-3E1C-4A74-B65A-7370A0A21556}"/>
              </a:ext>
            </a:extLst>
          </p:cNvPr>
          <p:cNvSpPr/>
          <p:nvPr/>
        </p:nvSpPr>
        <p:spPr>
          <a:xfrm>
            <a:off x="1055641" y="3933056"/>
            <a:ext cx="7722440" cy="181588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(1) </a:t>
            </a:r>
            <a:r>
              <a:rPr lang="ko-KR" altLang="en-US" sz="1400" dirty="0" err="1"/>
              <a:t>리턴할</a:t>
            </a:r>
            <a:r>
              <a:rPr lang="ko-KR" altLang="en-US" sz="1400" dirty="0"/>
              <a:t> 빈 </a:t>
            </a:r>
            <a:r>
              <a:rPr lang="ko-KR" altLang="en-US" sz="1400"/>
              <a:t>문자열을 만든다</a:t>
            </a:r>
            <a:r>
              <a:rPr lang="en-US" altLang="ko-KR" sz="1400" dirty="0"/>
              <a:t>.</a:t>
            </a:r>
            <a:endParaRPr lang="ko-KR" altLang="en-US" sz="1400" dirty="0"/>
          </a:p>
          <a:p>
            <a:pPr defTabSz="180000"/>
            <a:r>
              <a:rPr lang="en-US" altLang="ko-KR" sz="1400" dirty="0"/>
              <a:t>(2) target HTML </a:t>
            </a:r>
            <a:r>
              <a:rPr lang="ko-KR" altLang="en-US" sz="1400" dirty="0"/>
              <a:t>파일을 라인 </a:t>
            </a:r>
            <a:r>
              <a:rPr lang="ko-KR" altLang="en-US" sz="1400"/>
              <a:t>별로 읽는다</a:t>
            </a:r>
            <a:r>
              <a:rPr lang="en-US" altLang="ko-KR" sz="1400" dirty="0"/>
              <a:t>.</a:t>
            </a:r>
            <a:endParaRPr lang="ko-KR" altLang="en-US" sz="1400" dirty="0"/>
          </a:p>
          <a:p>
            <a:pPr defTabSz="180000"/>
            <a:r>
              <a:rPr lang="en-US" altLang="ko-KR" sz="1400" dirty="0"/>
              <a:t>(3) </a:t>
            </a:r>
            <a:r>
              <a:rPr lang="ko-KR" altLang="en-US" sz="1400" dirty="0"/>
              <a:t>읽은 라인에 </a:t>
            </a:r>
            <a:r>
              <a:rPr lang="ko-KR" altLang="en-US" sz="1400" dirty="0" err="1"/>
              <a:t>파이썬</a:t>
            </a:r>
            <a:r>
              <a:rPr lang="ko-KR" altLang="en-US" sz="1400" dirty="0"/>
              <a:t> </a:t>
            </a:r>
            <a:r>
              <a:rPr lang="ko-KR" altLang="en-US" sz="1400"/>
              <a:t>스크립트가 없으면</a:t>
            </a:r>
            <a:r>
              <a:rPr lang="en-US" altLang="ko-KR" sz="1400" dirty="0"/>
              <a:t>, </a:t>
            </a:r>
            <a:r>
              <a:rPr lang="ko-KR" altLang="en-US" sz="1400" dirty="0"/>
              <a:t>라인을 </a:t>
            </a:r>
            <a:r>
              <a:rPr lang="ko-KR" altLang="en-US" sz="1400" dirty="0" err="1"/>
              <a:t>리턴할</a:t>
            </a:r>
            <a:r>
              <a:rPr lang="ko-KR" altLang="en-US" sz="1400" dirty="0"/>
              <a:t> </a:t>
            </a:r>
            <a:r>
              <a:rPr lang="ko-KR" altLang="en-US" sz="1400"/>
              <a:t>문자열에 연결한다</a:t>
            </a:r>
            <a:r>
              <a:rPr lang="en-US" altLang="ko-KR" sz="1400" dirty="0"/>
              <a:t>.</a:t>
            </a:r>
            <a:endParaRPr lang="ko-KR" altLang="en-US" sz="1400" dirty="0"/>
          </a:p>
          <a:p>
            <a:pPr defTabSz="180000"/>
            <a:r>
              <a:rPr lang="en-US" altLang="ko-KR" sz="1400" dirty="0"/>
              <a:t>(4</a:t>
            </a:r>
            <a:r>
              <a:rPr lang="en-US" altLang="ko-KR" sz="1400"/>
              <a:t>) </a:t>
            </a:r>
            <a:r>
              <a:rPr lang="ko-KR" altLang="en-US" sz="1400"/>
              <a:t>만일</a:t>
            </a:r>
            <a:r>
              <a:rPr lang="en-US" altLang="ko-KR" sz="1400" dirty="0"/>
              <a:t>, </a:t>
            </a:r>
            <a:r>
              <a:rPr lang="ko-KR" altLang="en-US" sz="1400" dirty="0"/>
              <a:t>라인에 </a:t>
            </a:r>
            <a:r>
              <a:rPr lang="ko-KR" altLang="en-US" sz="1400" dirty="0" err="1"/>
              <a:t>파이썬</a:t>
            </a:r>
            <a:r>
              <a:rPr lang="ko-KR" altLang="en-US" sz="1400" dirty="0"/>
              <a:t> </a:t>
            </a:r>
            <a:r>
              <a:rPr lang="ko-KR" altLang="en-US" sz="1400"/>
              <a:t>스크립트가 있으면</a:t>
            </a:r>
            <a:r>
              <a:rPr lang="en-US" altLang="ko-KR" sz="1400"/>
              <a:t>, </a:t>
            </a:r>
            <a:r>
              <a:rPr lang="en-US" altLang="ko-KR" sz="1400" dirty="0" err="1"/>
              <a:t>render</a:t>
            </a:r>
            <a:r>
              <a:rPr lang="en-US" altLang="ko-KR" sz="1400" err="1"/>
              <a:t>_</a:t>
            </a:r>
            <a:r>
              <a:rPr lang="en-US" altLang="ko-KR" sz="1400"/>
              <a:t>template</a:t>
            </a:r>
            <a:r>
              <a:rPr lang="en-US" altLang="ko-KR" sz="1400" dirty="0"/>
              <a:t>()</a:t>
            </a:r>
            <a:r>
              <a:rPr lang="ko-KR" altLang="en-US" sz="1400" dirty="0"/>
              <a:t>의 매개변수로 전달받은 변수와 동일한 이름의 변수가 스크립트 코드에 있으면 변수에 해당 </a:t>
            </a:r>
            <a:r>
              <a:rPr lang="ko-KR" altLang="en-US" sz="1400"/>
              <a:t>값을 저장한다</a:t>
            </a:r>
            <a:r>
              <a:rPr lang="en-US" altLang="ko-KR" sz="1400" dirty="0"/>
              <a:t>. </a:t>
            </a:r>
            <a:r>
              <a:rPr lang="ko-KR" altLang="en-US" sz="1400" dirty="0"/>
              <a:t>그리고 스크립트 </a:t>
            </a:r>
            <a:r>
              <a:rPr lang="ko-KR" altLang="en-US" sz="1400"/>
              <a:t>코드를 실행한다</a:t>
            </a:r>
            <a:r>
              <a:rPr lang="en-US" altLang="ko-KR" sz="1400" dirty="0"/>
              <a:t>. </a:t>
            </a:r>
            <a:r>
              <a:rPr lang="ko-KR" altLang="en-US" sz="1400"/>
              <a:t>이때 </a:t>
            </a:r>
            <a:r>
              <a:rPr lang="en-US" altLang="ko-KR" sz="1400" dirty="0"/>
              <a:t>print() </a:t>
            </a:r>
            <a:r>
              <a:rPr lang="ko-KR" altLang="en-US" sz="1400" dirty="0"/>
              <a:t>문에 의한 실행 결과가 있으면 실행 결과를 </a:t>
            </a:r>
            <a:r>
              <a:rPr lang="ko-KR" altLang="en-US" sz="1400" dirty="0" err="1"/>
              <a:t>리턴할</a:t>
            </a:r>
            <a:r>
              <a:rPr lang="ko-KR" altLang="en-US" sz="1400" dirty="0"/>
              <a:t> </a:t>
            </a:r>
            <a:r>
              <a:rPr lang="ko-KR" altLang="en-US" sz="1400"/>
              <a:t>문자열에 연결한다</a:t>
            </a:r>
            <a:r>
              <a:rPr lang="en-US" altLang="ko-KR" sz="1400" dirty="0"/>
              <a:t>. </a:t>
            </a:r>
            <a:endParaRPr lang="ko-KR" altLang="en-US" sz="1400" dirty="0"/>
          </a:p>
          <a:p>
            <a:pPr defTabSz="180000"/>
            <a:r>
              <a:rPr lang="en-US" altLang="ko-KR" sz="1400" dirty="0"/>
              <a:t>(5) </a:t>
            </a:r>
            <a:r>
              <a:rPr lang="ko-KR" altLang="en-US" sz="1400" dirty="0" err="1"/>
              <a:t>리턴하기</a:t>
            </a:r>
            <a:r>
              <a:rPr lang="ko-KR" altLang="en-US" sz="1400" dirty="0"/>
              <a:t> 위해 만들어진 </a:t>
            </a:r>
            <a:r>
              <a:rPr lang="ko-KR" altLang="en-US" sz="1400"/>
              <a:t>문자열을 리턴한다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2104861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362B51-621A-474D-9CDC-F62546E59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템플릿 </a:t>
            </a:r>
            <a:r>
              <a:rPr lang="en-US" altLang="ko-KR" dirty="0"/>
              <a:t>HTML </a:t>
            </a:r>
            <a:r>
              <a:rPr lang="ko-KR" altLang="en-US" dirty="0"/>
              <a:t>파일에 스크립트 사용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6A14AE-0EA2-4469-8E19-905F465FE2A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스크립트 코드의 변수에 값 전달</a:t>
            </a:r>
          </a:p>
          <a:p>
            <a:pPr lvl="1"/>
            <a:r>
              <a:rPr lang="ko-KR" altLang="en-US" dirty="0"/>
              <a:t>예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7E338C-FB63-4026-958E-6A54A62FE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47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726DEF6-BCF5-4B49-9B1F-FE6E777935CA}"/>
              </a:ext>
            </a:extLst>
          </p:cNvPr>
          <p:cNvSpPr/>
          <p:nvPr/>
        </p:nvSpPr>
        <p:spPr>
          <a:xfrm>
            <a:off x="1115616" y="2276872"/>
            <a:ext cx="7434952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 err="1"/>
              <a:t>render</a:t>
            </a:r>
            <a:r>
              <a:rPr lang="en-US" altLang="ko-KR" sz="1400" err="1"/>
              <a:t>_</a:t>
            </a:r>
            <a:r>
              <a:rPr lang="en-US" altLang="ko-KR" sz="1400"/>
              <a:t>template</a:t>
            </a:r>
            <a:r>
              <a:rPr lang="en-US" altLang="ko-KR" sz="1400" dirty="0"/>
              <a:t>('helloWithScript.html', name</a:t>
            </a:r>
            <a:r>
              <a:rPr lang="en-US" altLang="ko-KR" sz="1400"/>
              <a:t>='jmlee</a:t>
            </a:r>
            <a:r>
              <a:rPr lang="en-US" altLang="ko-KR" sz="1400" dirty="0"/>
              <a:t>', dept='Mobile Software')</a:t>
            </a:r>
          </a:p>
        </p:txBody>
      </p:sp>
    </p:spTree>
    <p:extLst>
      <p:ext uri="{BB962C8B-B14F-4D97-AF65-F5344CB8AC3E}">
        <p14:creationId xmlns:p14="http://schemas.microsoft.com/office/powerpoint/2010/main" val="33038183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직사각형 60">
            <a:extLst>
              <a:ext uri="{FF2B5EF4-FFF2-40B4-BE49-F238E27FC236}">
                <a16:creationId xmlns:a16="http://schemas.microsoft.com/office/drawing/2014/main" id="{9009D561-3E8C-4650-B453-F1EDA13AAD9A}"/>
              </a:ext>
            </a:extLst>
          </p:cNvPr>
          <p:cNvSpPr/>
          <p:nvPr/>
        </p:nvSpPr>
        <p:spPr>
          <a:xfrm>
            <a:off x="4716016" y="4889457"/>
            <a:ext cx="3805056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200" dirty="0"/>
              <a:t>&lt;h2&gt;Hello,</a:t>
            </a:r>
          </a:p>
          <a:p>
            <a:pPr defTabSz="180000"/>
            <a:r>
              <a:rPr lang="en-US" altLang="ko-KR" sz="1200" dirty="0"/>
              <a:t>Jae Moon Lee!</a:t>
            </a:r>
          </a:p>
          <a:p>
            <a:pPr defTabSz="180000"/>
            <a:r>
              <a:rPr lang="en-US" altLang="ko-KR" sz="1200" dirty="0"/>
              <a:t>&lt;/h2&gt;</a:t>
            </a:r>
          </a:p>
          <a:p>
            <a:pPr defTabSz="180000"/>
            <a:r>
              <a:rPr lang="en-US" altLang="ko-KR" sz="1200" dirty="0"/>
              <a:t>&lt;h2&gt;</a:t>
            </a:r>
            <a:r>
              <a:rPr lang="ko-KR" altLang="en-US" sz="1200" dirty="0"/>
              <a:t>당신의 소속은 </a:t>
            </a:r>
            <a:r>
              <a:rPr lang="en-US" altLang="ko-KR" sz="1200" dirty="0"/>
              <a:t>Mobile Software</a:t>
            </a:r>
            <a:r>
              <a:rPr lang="ko-KR" altLang="en-US" sz="1200" dirty="0"/>
              <a:t>입니다</a:t>
            </a:r>
            <a:r>
              <a:rPr lang="en-US" altLang="ko-KR" sz="1200" dirty="0"/>
              <a:t>.&lt;/h2&gt;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C2A958C-4D37-462E-ADB6-43B23414F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6–8 </a:t>
            </a:r>
            <a:r>
              <a:rPr lang="ko-KR" altLang="en-US" dirty="0"/>
              <a:t>스크립트를 가진 템플릿 </a:t>
            </a:r>
            <a:r>
              <a:rPr lang="en-US" altLang="ko-KR" dirty="0"/>
              <a:t>HTML</a:t>
            </a:r>
            <a:r>
              <a:rPr lang="ko-KR" altLang="en-US" dirty="0"/>
              <a:t>과 </a:t>
            </a:r>
            <a:r>
              <a:rPr lang="en-US" altLang="ko-KR" dirty="0" err="1"/>
              <a:t>render_template</a:t>
            </a:r>
            <a:r>
              <a:rPr lang="en-US" altLang="ko-KR" dirty="0"/>
              <a:t>() </a:t>
            </a:r>
            <a:r>
              <a:rPr lang="ko-KR" altLang="en-US" dirty="0"/>
              <a:t>활용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B65F78-10D4-40AA-A2E7-0AFBF6BF2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48</a:t>
            </a:fld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260C528-6113-430C-8615-8492E11D441B}"/>
              </a:ext>
            </a:extLst>
          </p:cNvPr>
          <p:cNvSpPr/>
          <p:nvPr/>
        </p:nvSpPr>
        <p:spPr>
          <a:xfrm>
            <a:off x="524675" y="1404235"/>
            <a:ext cx="820942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이 예제를 통해 스크립트를 가진 템플릿 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HTML, helloWithScript.html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을 작성하고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en-US" altLang="ko-KR" sz="1400" dirty="0" err="1">
                <a:solidFill>
                  <a:schemeClr val="accent2">
                    <a:lumMod val="75000"/>
                  </a:schemeClr>
                </a:solidFill>
              </a:rPr>
              <a:t>render_template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 ( )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함수로 렌더링하여 동적 콘텐츠를 생성하는 사례를 알아본다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.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이 예제를 위한 디렉터리 구조는 다음과 같다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.</a:t>
            </a:r>
            <a:endParaRPr lang="ko-KR" altLang="en-US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FD8F0F9-2FFA-4C03-B7A3-9680FF532C88}"/>
              </a:ext>
            </a:extLst>
          </p:cNvPr>
          <p:cNvSpPr/>
          <p:nvPr/>
        </p:nvSpPr>
        <p:spPr>
          <a:xfrm>
            <a:off x="225954" y="2175303"/>
            <a:ext cx="230425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ko-KR" sz="1600" dirty="0"/>
              <a:t>helloWithScript.html</a:t>
            </a:r>
            <a:endParaRPr lang="ko-KR" altLang="en-US" sz="1600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25B73EE-92DD-4928-9604-7AA0087C7165}"/>
              </a:ext>
            </a:extLst>
          </p:cNvPr>
          <p:cNvSpPr/>
          <p:nvPr/>
        </p:nvSpPr>
        <p:spPr>
          <a:xfrm>
            <a:off x="269441" y="2511749"/>
            <a:ext cx="3942519" cy="40010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200" dirty="0"/>
              <a:t>&lt;!doctype html&gt;</a:t>
            </a:r>
          </a:p>
          <a:p>
            <a:pPr defTabSz="180000"/>
            <a:r>
              <a:rPr lang="en-US" altLang="ko-KR" sz="1200" dirty="0"/>
              <a:t>&lt;html&gt;</a:t>
            </a:r>
          </a:p>
          <a:p>
            <a:pPr defTabSz="180000"/>
            <a:r>
              <a:rPr lang="en-US" altLang="ko-KR" sz="1200" dirty="0"/>
              <a:t>&lt;head&gt;</a:t>
            </a:r>
          </a:p>
          <a:p>
            <a:pPr defTabSz="180000"/>
            <a:r>
              <a:rPr lang="en-US" altLang="ko-KR" sz="1200" dirty="0"/>
              <a:t>	&lt;title&gt;Script </a:t>
            </a:r>
            <a:r>
              <a:rPr lang="ko-KR" altLang="en-US" sz="1200" dirty="0"/>
              <a:t>사용하기</a:t>
            </a:r>
            <a:r>
              <a:rPr lang="en-US" altLang="ko-KR" sz="1200" dirty="0"/>
              <a:t>&lt;/title&gt;</a:t>
            </a:r>
          </a:p>
          <a:p>
            <a:pPr defTabSz="180000"/>
            <a:r>
              <a:rPr lang="en-US" altLang="ko-KR" sz="1200" dirty="0"/>
              <a:t>&lt;/head&gt;</a:t>
            </a:r>
          </a:p>
          <a:p>
            <a:pPr defTabSz="180000"/>
            <a:r>
              <a:rPr lang="en-US" altLang="ko-KR" sz="1200" dirty="0"/>
              <a:t>&lt;body&gt;</a:t>
            </a:r>
          </a:p>
          <a:p>
            <a:pPr defTabSz="180000"/>
            <a:r>
              <a:rPr lang="en-US" altLang="ko-KR" sz="1200" dirty="0"/>
              <a:t>     &lt;h2&gt;Script </a:t>
            </a:r>
            <a:r>
              <a:rPr lang="ko-KR" altLang="en-US" sz="1200" dirty="0"/>
              <a:t>사용하기</a:t>
            </a:r>
            <a:r>
              <a:rPr lang="en-US" altLang="ko-KR" sz="1200" dirty="0"/>
              <a:t>&lt;/h2&gt;</a:t>
            </a:r>
          </a:p>
          <a:p>
            <a:pPr defTabSz="180000"/>
            <a:r>
              <a:rPr lang="en-US" altLang="ko-KR" sz="1200" dirty="0"/>
              <a:t> &lt;</a:t>
            </a:r>
            <a:r>
              <a:rPr lang="en-US" altLang="ko-KR" sz="1200" dirty="0" err="1"/>
              <a:t>hr</a:t>
            </a:r>
            <a:r>
              <a:rPr lang="en-US" altLang="ko-KR" sz="1200" dirty="0"/>
              <a:t>&gt;</a:t>
            </a:r>
          </a:p>
          <a:p>
            <a:pPr defTabSz="180000"/>
            <a:r>
              <a:rPr lang="en-US" altLang="ko-KR" sz="1200" dirty="0"/>
              <a:t> &lt;h2&gt;Hello,</a:t>
            </a:r>
          </a:p>
          <a:p>
            <a:pPr defTabSz="180000"/>
            <a:r>
              <a:rPr lang="en-US" altLang="ko-KR" sz="1200" dirty="0"/>
              <a:t>	</a:t>
            </a:r>
            <a:r>
              <a:rPr lang="en-US" altLang="ko-KR" sz="1400" dirty="0"/>
              <a:t>{% if(name == '</a:t>
            </a:r>
            <a:r>
              <a:rPr lang="en-US" altLang="ko-KR" sz="1400" dirty="0" err="1"/>
              <a:t>jmlee</a:t>
            </a:r>
            <a:r>
              <a:rPr lang="en-US" altLang="ko-KR" sz="1400" dirty="0"/>
              <a:t>'): %}</a:t>
            </a:r>
          </a:p>
          <a:p>
            <a:pPr defTabSz="180000"/>
            <a:r>
              <a:rPr lang="en-US" altLang="ko-KR" sz="1400" dirty="0"/>
              <a:t>	{% print('Jae Moon Lee!') %}</a:t>
            </a:r>
          </a:p>
          <a:p>
            <a:pPr defTabSz="180000"/>
            <a:r>
              <a:rPr lang="en-US" altLang="ko-KR" sz="1400" dirty="0"/>
              <a:t>	{% </a:t>
            </a:r>
            <a:r>
              <a:rPr lang="en-US" altLang="ko-KR" sz="1400" dirty="0" err="1"/>
              <a:t>elif</a:t>
            </a:r>
            <a:r>
              <a:rPr lang="en-US" altLang="ko-KR" sz="1400" dirty="0"/>
              <a:t>(name == '</a:t>
            </a:r>
            <a:r>
              <a:rPr lang="en-US" altLang="ko-KR" sz="1400" dirty="0" err="1"/>
              <a:t>kitae</a:t>
            </a:r>
            <a:r>
              <a:rPr lang="en-US" altLang="ko-KR" sz="1400" dirty="0"/>
              <a:t>'): %}</a:t>
            </a:r>
          </a:p>
          <a:p>
            <a:pPr defTabSz="180000"/>
            <a:r>
              <a:rPr lang="en-US" altLang="ko-KR" sz="1400" dirty="0"/>
              <a:t>	{% print('Ki Tae Hwang!') %}</a:t>
            </a:r>
          </a:p>
          <a:p>
            <a:pPr defTabSz="180000"/>
            <a:r>
              <a:rPr lang="en-US" altLang="ko-KR" sz="1400" dirty="0"/>
              <a:t>	{% else: %}</a:t>
            </a:r>
          </a:p>
          <a:p>
            <a:pPr defTabSz="180000"/>
            <a:r>
              <a:rPr lang="en-US" altLang="ko-KR" sz="1400" dirty="0"/>
              <a:t>	{% print('Unknown') %}</a:t>
            </a:r>
          </a:p>
          <a:p>
            <a:pPr defTabSz="180000"/>
            <a:r>
              <a:rPr lang="en-US" altLang="ko-KR" sz="1400" dirty="0"/>
              <a:t>	{% endif %}</a:t>
            </a:r>
          </a:p>
          <a:p>
            <a:pPr defTabSz="180000"/>
            <a:r>
              <a:rPr lang="en-US" altLang="ko-KR" sz="1200" dirty="0"/>
              <a:t> &lt;/h2&gt;</a:t>
            </a:r>
          </a:p>
          <a:p>
            <a:pPr defTabSz="180000"/>
            <a:r>
              <a:rPr lang="en-US" altLang="ko-KR" sz="1200" dirty="0"/>
              <a:t> &lt;h2&gt;</a:t>
            </a:r>
            <a:r>
              <a:rPr lang="ko-KR" altLang="en-US" sz="1200" dirty="0"/>
              <a:t>당신의 소속은 </a:t>
            </a:r>
            <a:r>
              <a:rPr lang="en-US" altLang="ko-KR" sz="1200" dirty="0"/>
              <a:t>{% print(dept) %}</a:t>
            </a:r>
            <a:r>
              <a:rPr lang="ko-KR" altLang="en-US" sz="1200" dirty="0"/>
              <a:t>입니다</a:t>
            </a:r>
            <a:r>
              <a:rPr lang="en-US" altLang="ko-KR" sz="1200" dirty="0"/>
              <a:t>.&lt;/h2&gt;</a:t>
            </a:r>
          </a:p>
          <a:p>
            <a:pPr defTabSz="180000"/>
            <a:r>
              <a:rPr lang="en-US" altLang="ko-KR" sz="1200" dirty="0"/>
              <a:t>&lt;/body&gt;</a:t>
            </a:r>
          </a:p>
          <a:p>
            <a:pPr defTabSz="180000"/>
            <a:r>
              <a:rPr lang="en-US" altLang="ko-KR" sz="1200" dirty="0"/>
              <a:t>&lt;/html&gt;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67E904C3-E68B-4DA1-A515-5C0817EBE3F1}"/>
              </a:ext>
            </a:extLst>
          </p:cNvPr>
          <p:cNvSpPr/>
          <p:nvPr/>
        </p:nvSpPr>
        <p:spPr>
          <a:xfrm>
            <a:off x="225954" y="4049212"/>
            <a:ext cx="3841990" cy="2116092"/>
          </a:xfrm>
          <a:prstGeom prst="roundRect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6860C2CB-C739-4FA1-B2F3-FF66F550CBD6}"/>
              </a:ext>
            </a:extLst>
          </p:cNvPr>
          <p:cNvCxnSpPr>
            <a:cxnSpLocks/>
            <a:stCxn id="3" idx="3"/>
            <a:endCxn id="61" idx="1"/>
          </p:cNvCxnSpPr>
          <p:nvPr/>
        </p:nvCxnSpPr>
        <p:spPr>
          <a:xfrm>
            <a:off x="4067944" y="5107258"/>
            <a:ext cx="648072" cy="197698"/>
          </a:xfrm>
          <a:prstGeom prst="bentConnector3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051BBD2D-D485-49CC-9C18-FB77B166B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2398" y="2313884"/>
            <a:ext cx="4680520" cy="2232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00566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4F0309-F4EC-4DC5-9766-D525A9C5D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예제 </a:t>
            </a:r>
            <a:r>
              <a:rPr lang="en-US" altLang="ko-KR"/>
              <a:t>6–8 (</a:t>
            </a:r>
            <a:r>
              <a:rPr lang="ko-KR" altLang="en-US"/>
              <a:t>계속</a:t>
            </a:r>
            <a:r>
              <a:rPr lang="en-US" altLang="ko-KR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F2ADDD-1B2A-4D9C-BBB2-689727AC0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49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89E18FA-67E3-45EF-A02D-246EF21F40BE}"/>
              </a:ext>
            </a:extLst>
          </p:cNvPr>
          <p:cNvSpPr/>
          <p:nvPr/>
        </p:nvSpPr>
        <p:spPr>
          <a:xfrm>
            <a:off x="612646" y="1724773"/>
            <a:ext cx="8153401" cy="2031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from flask import Flask, </a:t>
            </a:r>
            <a:r>
              <a:rPr lang="en-US" altLang="ko-KR" sz="1400" dirty="0" err="1"/>
              <a:t>render_template</a:t>
            </a:r>
            <a:endParaRPr lang="en-US" altLang="ko-KR" sz="1400" dirty="0"/>
          </a:p>
          <a:p>
            <a:pPr defTabSz="180000"/>
            <a:r>
              <a:rPr lang="en-US" altLang="ko-KR" sz="1400" dirty="0"/>
              <a:t>app = Flask(__name__)</a:t>
            </a:r>
          </a:p>
          <a:p>
            <a:pPr defTabSz="180000"/>
            <a:endParaRPr lang="en-US" altLang="ko-KR" sz="1400" dirty="0"/>
          </a:p>
          <a:p>
            <a:pPr defTabSz="180000"/>
            <a:r>
              <a:rPr lang="en-US" altLang="ko-KR" sz="1400" dirty="0"/>
              <a:t>@</a:t>
            </a:r>
            <a:r>
              <a:rPr lang="en-US" altLang="ko-KR" sz="1400" dirty="0" err="1"/>
              <a:t>app.route</a:t>
            </a:r>
            <a:r>
              <a:rPr lang="en-US" altLang="ko-KR" sz="1400" dirty="0"/>
              <a:t>('/hello/&lt;</a:t>
            </a:r>
            <a:r>
              <a:rPr lang="en-US" altLang="ko-KR" sz="1400" dirty="0" err="1"/>
              <a:t>myname</a:t>
            </a:r>
            <a:r>
              <a:rPr lang="en-US" altLang="ko-KR" sz="1400" dirty="0"/>
              <a:t>&gt;/') # </a:t>
            </a:r>
            <a:r>
              <a:rPr lang="en-US" altLang="ko-KR" sz="1400" dirty="0" err="1"/>
              <a:t>myname</a:t>
            </a:r>
            <a:r>
              <a:rPr lang="ko-KR" altLang="en-US" sz="1400" dirty="0"/>
              <a:t>은 </a:t>
            </a:r>
            <a:r>
              <a:rPr lang="en-US" altLang="ko-KR" sz="1400" dirty="0"/>
              <a:t>variable</a:t>
            </a:r>
          </a:p>
          <a:p>
            <a:pPr defTabSz="180000"/>
            <a:r>
              <a:rPr lang="en-US" altLang="ko-KR" sz="1400" dirty="0"/>
              <a:t>def hello(</a:t>
            </a:r>
            <a:r>
              <a:rPr lang="en-US" altLang="ko-KR" sz="1400" dirty="0" err="1"/>
              <a:t>myname</a:t>
            </a:r>
            <a:r>
              <a:rPr lang="en-US" altLang="ko-KR" sz="1400" dirty="0"/>
              <a:t>):</a:t>
            </a:r>
          </a:p>
          <a:p>
            <a:pPr defTabSz="180000"/>
            <a:r>
              <a:rPr lang="en-US" altLang="ko-KR" sz="1400" dirty="0"/>
              <a:t>	return </a:t>
            </a:r>
            <a:r>
              <a:rPr lang="en-US" altLang="ko-KR" sz="1400" dirty="0" err="1"/>
              <a:t>render_template</a:t>
            </a:r>
            <a:r>
              <a:rPr lang="en-US" altLang="ko-KR" sz="1400" dirty="0"/>
              <a:t>('helloWithScript.html', name=</a:t>
            </a:r>
            <a:r>
              <a:rPr lang="en-US" altLang="ko-KR" sz="1400" dirty="0" err="1"/>
              <a:t>myname</a:t>
            </a:r>
            <a:r>
              <a:rPr lang="en-US" altLang="ko-KR" sz="1400" dirty="0"/>
              <a:t>, dept='Mobile Software')</a:t>
            </a:r>
          </a:p>
          <a:p>
            <a:pPr defTabSz="180000"/>
            <a:endParaRPr lang="en-US" altLang="ko-KR" sz="1400" dirty="0"/>
          </a:p>
          <a:p>
            <a:pPr defTabSz="180000"/>
            <a:r>
              <a:rPr lang="en-US" altLang="ko-KR" sz="1400" dirty="0"/>
              <a:t>if __name__ == '__main__':</a:t>
            </a:r>
          </a:p>
          <a:p>
            <a:pPr defTabSz="180000"/>
            <a:r>
              <a:rPr lang="da-DK" altLang="ko-KR" sz="1400" dirty="0"/>
              <a:t>	app.run(host='0.0.0.0', port=8080, debug=True)</a:t>
            </a:r>
            <a:endParaRPr lang="en-US" altLang="ko-KR" sz="14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B5C2C94-8F7A-48B7-A23F-7A49CCF73E1F}"/>
              </a:ext>
            </a:extLst>
          </p:cNvPr>
          <p:cNvSpPr/>
          <p:nvPr/>
        </p:nvSpPr>
        <p:spPr>
          <a:xfrm>
            <a:off x="539552" y="1386219"/>
            <a:ext cx="76655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altLang="ko-KR" sz="1600" dirty="0"/>
              <a:t>6-8.py</a:t>
            </a:r>
            <a:endParaRPr lang="ko-KR" altLang="en-US" sz="16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F2A54E3-AFC3-4DCD-B9E2-FAA354BF37C8}"/>
              </a:ext>
            </a:extLst>
          </p:cNvPr>
          <p:cNvSpPr/>
          <p:nvPr/>
        </p:nvSpPr>
        <p:spPr>
          <a:xfrm>
            <a:off x="612645" y="4216932"/>
            <a:ext cx="8153402" cy="144431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pPr fontAlgn="base"/>
            <a:r>
              <a:rPr lang="fi-FI" altLang="ko-KR" sz="1400" b="1" dirty="0"/>
              <a:t>(myenv) pi@pi:~/ch06 $ python 6-8.py</a:t>
            </a:r>
          </a:p>
          <a:p>
            <a:pPr fontAlgn="base"/>
            <a:r>
              <a:rPr lang="en-US" altLang="ko-KR" sz="1400" dirty="0"/>
              <a:t>* Serving Flask app "6-8" (lazy loading)</a:t>
            </a:r>
          </a:p>
          <a:p>
            <a:pPr fontAlgn="base"/>
            <a:r>
              <a:rPr lang="en-US" altLang="ko-KR" sz="1400" dirty="0"/>
              <a:t>...(</a:t>
            </a:r>
            <a:r>
              <a:rPr lang="ko-KR" altLang="en-US" sz="1400" dirty="0"/>
              <a:t>생략</a:t>
            </a:r>
            <a:r>
              <a:rPr lang="en-US" altLang="ko-KR" sz="1400" dirty="0"/>
              <a:t>)</a:t>
            </a:r>
          </a:p>
          <a:p>
            <a:pPr fontAlgn="base"/>
            <a:r>
              <a:rPr lang="en-US" altLang="ko-KR" sz="1400" dirty="0"/>
              <a:t>* Debugger PIN: 235-625-251</a:t>
            </a:r>
          </a:p>
          <a:p>
            <a:pPr fontAlgn="base"/>
            <a:r>
              <a:rPr lang="en-US" altLang="ko-KR" sz="1400" dirty="0"/>
              <a:t>192.168.0.50 - - [16/May/2023 00:34:54] "GET /hello/</a:t>
            </a:r>
            <a:r>
              <a:rPr lang="en-US" altLang="ko-KR" sz="1400" dirty="0" err="1"/>
              <a:t>jmlee</a:t>
            </a:r>
            <a:r>
              <a:rPr lang="en-US" altLang="ko-KR" sz="1400" dirty="0"/>
              <a:t>/ HTTP/1.1" 200 -</a:t>
            </a:r>
          </a:p>
          <a:p>
            <a:pPr fontAlgn="base"/>
            <a:r>
              <a:rPr lang="en-US" altLang="ko-KR" sz="1400" dirty="0"/>
              <a:t>192.168.0.50 - - [16/May/2023 00:37:23] "GET /hello/</a:t>
            </a:r>
            <a:r>
              <a:rPr lang="en-US" altLang="ko-KR" sz="1400" dirty="0" err="1"/>
              <a:t>kitae</a:t>
            </a:r>
            <a:r>
              <a:rPr lang="en-US" altLang="ko-KR" sz="1400" dirty="0"/>
              <a:t>/ HTTP/1.1" 200 -</a:t>
            </a:r>
          </a:p>
        </p:txBody>
      </p:sp>
    </p:spTree>
    <p:extLst>
      <p:ext uri="{BB962C8B-B14F-4D97-AF65-F5344CB8AC3E}">
        <p14:creationId xmlns:p14="http://schemas.microsoft.com/office/powerpoint/2010/main" val="119416712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605E1C-C62F-4C9C-914E-B945843C8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예제 </a:t>
            </a:r>
            <a:r>
              <a:rPr lang="en-US" altLang="ko-KR"/>
              <a:t>6-8 (</a:t>
            </a:r>
            <a:r>
              <a:rPr lang="ko-KR" altLang="en-US"/>
              <a:t>계속</a:t>
            </a:r>
            <a:r>
              <a:rPr lang="en-US" altLang="ko-KR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14FA5F-3F12-4660-9D27-42AD6F783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50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30F4A94-1EDA-2B62-C658-566A9608B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435611"/>
            <a:ext cx="5662151" cy="256816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5AC95730-00AE-65BE-5E8E-BD0258496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0345" y="3789040"/>
            <a:ext cx="5662151" cy="256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63907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E569077-758E-4E45-972E-1AB799A78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74DDCFC-43C1-4D55-B942-494ECFDD0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6.5 </a:t>
            </a:r>
            <a:r>
              <a:rPr lang="ko-KR" altLang="en-US"/>
              <a:t>웹브라우저와 플라스크 사이의 데이터 전송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B40EDD-B7B1-4BBC-889B-CE519C41E0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pPr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226215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1B4808-0B22-4671-9067-CCBDD3880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GET</a:t>
            </a:r>
            <a:r>
              <a:rPr lang="ko-KR" altLang="en-US" dirty="0"/>
              <a:t>과 </a:t>
            </a:r>
            <a:r>
              <a:rPr lang="en-US" altLang="ko-KR" dirty="0"/>
              <a:t>POST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8A6CA5-E24E-4B92-BFA5-8085472CBBF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/>
              <a:t>웹 </a:t>
            </a:r>
            <a:r>
              <a:rPr lang="ko-KR" altLang="en-US" dirty="0"/>
              <a:t>데이터 </a:t>
            </a:r>
            <a:r>
              <a:rPr lang="ko-KR" altLang="en-US"/>
              <a:t>전송 프로토콜 중 대표적인 </a:t>
            </a:r>
            <a:r>
              <a:rPr lang="en-US" altLang="ko-KR"/>
              <a:t>2</a:t>
            </a:r>
            <a:r>
              <a:rPr lang="ko-KR" altLang="en-US"/>
              <a:t>가지</a:t>
            </a:r>
            <a:endParaRPr lang="ko-KR" altLang="en-US" dirty="0"/>
          </a:p>
          <a:p>
            <a:pPr lvl="1" fontAlgn="base"/>
            <a:r>
              <a:rPr lang="en-US" altLang="ko-KR" dirty="0"/>
              <a:t>GET </a:t>
            </a:r>
            <a:r>
              <a:rPr lang="ko-KR" altLang="en-US" dirty="0"/>
              <a:t>방식 </a:t>
            </a:r>
            <a:r>
              <a:rPr lang="en-US" altLang="ko-KR" dirty="0"/>
              <a:t>– </a:t>
            </a:r>
            <a:r>
              <a:rPr lang="ko-KR" altLang="en-US" dirty="0"/>
              <a:t>데이터를 헤드 부분에 포함</a:t>
            </a:r>
          </a:p>
          <a:p>
            <a:pPr lvl="1" fontAlgn="base"/>
            <a:r>
              <a:rPr lang="en-US" altLang="ko-KR" dirty="0"/>
              <a:t>POST </a:t>
            </a:r>
            <a:r>
              <a:rPr lang="ko-KR" altLang="en-US" dirty="0"/>
              <a:t>방식 </a:t>
            </a:r>
            <a:r>
              <a:rPr lang="en-US" altLang="ko-KR" dirty="0"/>
              <a:t>- </a:t>
            </a:r>
            <a:r>
              <a:rPr lang="ko-KR" altLang="en-US" dirty="0"/>
              <a:t>데이터를 바디에 포함</a:t>
            </a:r>
          </a:p>
          <a:p>
            <a:r>
              <a:rPr lang="en-US" altLang="ko-KR" dirty="0"/>
              <a:t> GET</a:t>
            </a:r>
            <a:r>
              <a:rPr lang="ko-KR" altLang="en-US" dirty="0"/>
              <a:t> 방식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POST</a:t>
            </a:r>
            <a:r>
              <a:rPr lang="ko-KR" altLang="en-US" dirty="0"/>
              <a:t> 방식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278D43-5C9B-4027-B844-BD5A7A74F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52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FD40561-5E1D-446F-8406-9EBE6FAEB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8826" y="2681126"/>
            <a:ext cx="6106444" cy="158417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30010F3-22DD-492B-A79A-2ACB1AF765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818" y="4533768"/>
            <a:ext cx="6305662" cy="2116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95046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58F620-E17C-4D7C-84B1-3A430DCBB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플라스크의 </a:t>
            </a:r>
            <a:r>
              <a:rPr lang="en-US" altLang="ko-KR" dirty="0"/>
              <a:t>request </a:t>
            </a:r>
            <a:r>
              <a:rPr lang="ko-KR" altLang="en-US" dirty="0"/>
              <a:t>객체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BC1BB2-BBD2-4C7C-9DBF-77A6C704FC7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request </a:t>
            </a:r>
            <a:r>
              <a:rPr lang="ko-KR" altLang="en-US" dirty="0"/>
              <a:t>객체</a:t>
            </a:r>
            <a:endParaRPr lang="en-US" altLang="ko-KR" dirty="0"/>
          </a:p>
          <a:p>
            <a:pPr lvl="1"/>
            <a:r>
              <a:rPr lang="ko-KR" altLang="en-US" dirty="0"/>
              <a:t>웹 브라우저로부터 받은 </a:t>
            </a:r>
            <a:r>
              <a:rPr lang="en-US" altLang="ko-KR" dirty="0"/>
              <a:t>HTTP </a:t>
            </a:r>
            <a:r>
              <a:rPr lang="ko-KR" altLang="en-US" dirty="0"/>
              <a:t>요청 </a:t>
            </a:r>
            <a:r>
              <a:rPr lang="ko-KR" altLang="en-US"/>
              <a:t>패킷을 분석</a:t>
            </a:r>
            <a:endParaRPr lang="en-US" altLang="ko-KR"/>
          </a:p>
          <a:p>
            <a:pPr lvl="1"/>
            <a:r>
              <a:rPr lang="ko-KR" altLang="en-US"/>
              <a:t>요청 </a:t>
            </a:r>
            <a:r>
              <a:rPr lang="ko-KR" altLang="en-US" dirty="0"/>
              <a:t>내용을 </a:t>
            </a:r>
            <a:r>
              <a:rPr lang="en-US" altLang="ko-KR" dirty="0"/>
              <a:t>request</a:t>
            </a:r>
            <a:r>
              <a:rPr lang="ko-KR" altLang="en-US" dirty="0"/>
              <a:t>라는 이름의 </a:t>
            </a:r>
            <a:r>
              <a:rPr lang="ko-KR" altLang="en-US"/>
              <a:t>객체에 저장</a:t>
            </a:r>
            <a:endParaRPr lang="en-US" altLang="ko-KR"/>
          </a:p>
          <a:p>
            <a:pPr lvl="1"/>
            <a:r>
              <a:rPr lang="ko-KR" altLang="en-US"/>
              <a:t>웹 </a:t>
            </a:r>
            <a:r>
              <a:rPr lang="ko-KR" altLang="en-US" dirty="0"/>
              <a:t>서버 응용프로그램이 활용할 수 있도록 제공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/>
              <a:t>request </a:t>
            </a:r>
            <a:r>
              <a:rPr lang="ko-KR" altLang="en-US" dirty="0"/>
              <a:t>객체 사용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63B0F6-E9E8-4BC1-BB31-816E0F14C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53</a:t>
            </a:fld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E831AE3-C458-47F5-97A3-6F10EC41FE7C}"/>
              </a:ext>
            </a:extLst>
          </p:cNvPr>
          <p:cNvSpPr/>
          <p:nvPr/>
        </p:nvSpPr>
        <p:spPr>
          <a:xfrm>
            <a:off x="1331640" y="6033576"/>
            <a:ext cx="6552728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/>
              <a:t>from flask import request</a:t>
            </a:r>
            <a:endParaRPr lang="en-US" altLang="ko-KR" sz="1400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66D7F1EA-461F-42B3-9A9E-66F3827A5F81}"/>
              </a:ext>
            </a:extLst>
          </p:cNvPr>
          <p:cNvGrpSpPr/>
          <p:nvPr/>
        </p:nvGrpSpPr>
        <p:grpSpPr>
          <a:xfrm>
            <a:off x="1286428" y="3003871"/>
            <a:ext cx="6805839" cy="2513361"/>
            <a:chOff x="1117207" y="2780928"/>
            <a:chExt cx="7596336" cy="3017417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6C69350-849C-4726-A807-18661EAF90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7207" y="2780928"/>
              <a:ext cx="7596336" cy="2364532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D016D6C2-713B-477D-AA4F-9C59CADE48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17207" y="5174064"/>
              <a:ext cx="7596336" cy="6242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2380500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CDF831-2F99-4071-B350-5803E58D6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6-9 GET </a:t>
            </a:r>
            <a:r>
              <a:rPr lang="ko-KR" altLang="en-US" dirty="0"/>
              <a:t>방식의 </a:t>
            </a:r>
            <a:r>
              <a:rPr lang="en-US" altLang="ko-KR" dirty="0"/>
              <a:t>request </a:t>
            </a:r>
            <a:r>
              <a:rPr lang="ko-KR" altLang="en-US" dirty="0"/>
              <a:t>객체의 속성 검사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DEC6DF-EEAC-4F6C-BB40-24DEECDBA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54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9BAD83B-CE84-4C50-8592-26D72D3819DB}"/>
              </a:ext>
            </a:extLst>
          </p:cNvPr>
          <p:cNvSpPr/>
          <p:nvPr/>
        </p:nvSpPr>
        <p:spPr>
          <a:xfrm>
            <a:off x="612648" y="2196147"/>
            <a:ext cx="7956376" cy="44012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from flask import Flask, request</a:t>
            </a:r>
          </a:p>
          <a:p>
            <a:pPr defTabSz="180000"/>
            <a:r>
              <a:rPr lang="en-US" altLang="ko-KR" sz="1400" dirty="0"/>
              <a:t>app = Flask(__name__)</a:t>
            </a:r>
          </a:p>
          <a:p>
            <a:pPr defTabSz="180000"/>
            <a:endParaRPr lang="en-US" altLang="ko-KR" sz="1400" dirty="0"/>
          </a:p>
          <a:p>
            <a:pPr defTabSz="180000"/>
            <a:r>
              <a:rPr lang="en-US" altLang="ko-KR" sz="1400" dirty="0"/>
              <a:t>@</a:t>
            </a:r>
            <a:r>
              <a:rPr lang="en-US" altLang="ko-KR" sz="1400" dirty="0" err="1"/>
              <a:t>app.route</a:t>
            </a:r>
            <a:r>
              <a:rPr lang="en-US" altLang="ko-KR" sz="1400" dirty="0"/>
              <a:t>('/search')</a:t>
            </a:r>
          </a:p>
          <a:p>
            <a:pPr defTabSz="180000"/>
            <a:r>
              <a:rPr lang="en-US" altLang="ko-KR" sz="1400" dirty="0"/>
              <a:t>def </a:t>
            </a:r>
            <a:r>
              <a:rPr lang="en-US" altLang="ko-KR" sz="1400" dirty="0" err="1"/>
              <a:t>echo_request</a:t>
            </a:r>
            <a:r>
              <a:rPr lang="en-US" altLang="ko-KR" sz="1400" dirty="0"/>
              <a:t>( ):</a:t>
            </a:r>
          </a:p>
          <a:p>
            <a:pPr defTabSz="180000"/>
            <a:r>
              <a:rPr lang="pt-BR" altLang="ko-KR" sz="1400" dirty="0"/>
              <a:t>	str = "&lt;h4&gt;request.url=" + request.url + "&lt;/h4&gt;"</a:t>
            </a:r>
          </a:p>
          <a:p>
            <a:pPr defTabSz="180000"/>
            <a:r>
              <a:rPr lang="en-US" altLang="ko-KR" sz="1400" dirty="0"/>
              <a:t>	str += "&lt;h4&gt;</a:t>
            </a:r>
            <a:r>
              <a:rPr lang="en-US" altLang="ko-KR" sz="1400" dirty="0" err="1"/>
              <a:t>request.full_path</a:t>
            </a:r>
            <a:r>
              <a:rPr lang="en-US" altLang="ko-KR" sz="1400" dirty="0"/>
              <a:t>=" + </a:t>
            </a:r>
            <a:r>
              <a:rPr lang="en-US" altLang="ko-KR" sz="1400" dirty="0" err="1"/>
              <a:t>request.full_path</a:t>
            </a:r>
            <a:r>
              <a:rPr lang="en-US" altLang="ko-KR" sz="1400" dirty="0"/>
              <a:t> + "&lt;/h4&gt;"</a:t>
            </a:r>
          </a:p>
          <a:p>
            <a:pPr defTabSz="180000"/>
            <a:r>
              <a:rPr lang="en-US" altLang="ko-KR" sz="1400" dirty="0"/>
              <a:t>	str += "&lt;h4&gt;</a:t>
            </a:r>
            <a:r>
              <a:rPr lang="en-US" altLang="ko-KR" sz="1400" dirty="0" err="1"/>
              <a:t>request.path</a:t>
            </a:r>
            <a:r>
              <a:rPr lang="en-US" altLang="ko-KR" sz="1400" dirty="0"/>
              <a:t>=" + </a:t>
            </a:r>
            <a:r>
              <a:rPr lang="en-US" altLang="ko-KR" sz="1400" dirty="0" err="1"/>
              <a:t>request.path</a:t>
            </a:r>
            <a:r>
              <a:rPr lang="en-US" altLang="ko-KR" sz="1400" dirty="0"/>
              <a:t> + "&lt;/h4&gt;"</a:t>
            </a:r>
          </a:p>
          <a:p>
            <a:pPr defTabSz="180000"/>
            <a:r>
              <a:rPr lang="en-US" altLang="ko-KR" sz="1400" dirty="0"/>
              <a:t>	str += "&lt;h4&gt;</a:t>
            </a:r>
            <a:r>
              <a:rPr lang="en-US" altLang="ko-KR" sz="1400" dirty="0" err="1"/>
              <a:t>request.method</a:t>
            </a:r>
            <a:r>
              <a:rPr lang="en-US" altLang="ko-KR" sz="1400" dirty="0"/>
              <a:t>=" + </a:t>
            </a:r>
            <a:r>
              <a:rPr lang="en-US" altLang="ko-KR" sz="1400" dirty="0" err="1"/>
              <a:t>request.method</a:t>
            </a:r>
            <a:r>
              <a:rPr lang="en-US" altLang="ko-KR" sz="1400" dirty="0"/>
              <a:t> + "&lt;/h4&gt;"</a:t>
            </a:r>
          </a:p>
          <a:p>
            <a:pPr defTabSz="180000"/>
            <a:r>
              <a:rPr lang="en-US" altLang="ko-KR" sz="1400" dirty="0"/>
              <a:t>	if </a:t>
            </a:r>
            <a:r>
              <a:rPr lang="en-US" altLang="ko-KR" sz="1400" dirty="0" err="1"/>
              <a:t>request.method</a:t>
            </a:r>
            <a:r>
              <a:rPr lang="en-US" altLang="ko-KR" sz="1400" dirty="0"/>
              <a:t> == 'GET':</a:t>
            </a:r>
          </a:p>
          <a:p>
            <a:pPr defTabSz="180000"/>
            <a:r>
              <a:rPr lang="en-US" altLang="ko-KR" sz="1400" dirty="0"/>
              <a:t>		str += "&lt;h4&gt;city=" + </a:t>
            </a:r>
            <a:r>
              <a:rPr lang="en-US" altLang="ko-KR" sz="1400" dirty="0" err="1"/>
              <a:t>request.args</a:t>
            </a:r>
            <a:r>
              <a:rPr lang="en-US" altLang="ko-KR" sz="1400" dirty="0"/>
              <a:t>['city'] + "&lt;/h4&gt;"</a:t>
            </a:r>
          </a:p>
          <a:p>
            <a:pPr defTabSz="180000"/>
            <a:r>
              <a:rPr lang="pt-BR" altLang="ko-KR" sz="1400" dirty="0"/>
              <a:t>		str += "&lt;h4&gt;name=" + request.args['name'] + "&lt;/h4&gt;"</a:t>
            </a:r>
          </a:p>
          <a:p>
            <a:pPr defTabSz="180000"/>
            <a:r>
              <a:rPr lang="en-US" altLang="ko-KR" sz="1400" dirty="0"/>
              <a:t>	</a:t>
            </a:r>
            <a:r>
              <a:rPr lang="en-US" altLang="ko-KR" sz="1400" dirty="0" err="1"/>
              <a:t>elif</a:t>
            </a:r>
            <a:r>
              <a:rPr lang="en-US" altLang="ko-KR" sz="1400" dirty="0"/>
              <a:t> </a:t>
            </a:r>
            <a:r>
              <a:rPr lang="en-US" altLang="ko-KR" sz="1400" dirty="0" err="1"/>
              <a:t>request.method</a:t>
            </a:r>
            <a:r>
              <a:rPr lang="en-US" altLang="ko-KR" sz="1400" dirty="0"/>
              <a:t> == 'POST':</a:t>
            </a:r>
          </a:p>
          <a:p>
            <a:pPr defTabSz="180000"/>
            <a:r>
              <a:rPr lang="en-US" altLang="ko-KR" sz="1400" dirty="0"/>
              <a:t>		str += "&lt;h4&gt;city=" + </a:t>
            </a:r>
            <a:r>
              <a:rPr lang="en-US" altLang="ko-KR" sz="1400" dirty="0" err="1"/>
              <a:t>request.form</a:t>
            </a:r>
            <a:r>
              <a:rPr lang="en-US" altLang="ko-KR" sz="1400" dirty="0"/>
              <a:t>['city'] + "&lt;/h4&gt;"</a:t>
            </a:r>
          </a:p>
          <a:p>
            <a:pPr defTabSz="180000"/>
            <a:r>
              <a:rPr lang="pt-BR" altLang="ko-KR" sz="1400" dirty="0"/>
              <a:t>		str += "&lt;h4&gt;name=" + request.form['name'] + "&lt;/h4&gt;"</a:t>
            </a:r>
          </a:p>
          <a:p>
            <a:pPr defTabSz="180000"/>
            <a:r>
              <a:rPr lang="en-US" altLang="ko-KR" sz="1400" dirty="0"/>
              <a:t>		str += "&lt;/h4&gt;"</a:t>
            </a:r>
          </a:p>
          <a:p>
            <a:pPr defTabSz="180000"/>
            <a:r>
              <a:rPr lang="en-US" altLang="ko-KR" sz="1400" dirty="0"/>
              <a:t>	return str;</a:t>
            </a:r>
          </a:p>
          <a:p>
            <a:pPr defTabSz="180000"/>
            <a:endParaRPr lang="en-US" altLang="ko-KR" sz="1400" dirty="0"/>
          </a:p>
          <a:p>
            <a:pPr defTabSz="180000"/>
            <a:r>
              <a:rPr lang="en-US" altLang="ko-KR" sz="1400" dirty="0"/>
              <a:t>if __name__ == '__main__':</a:t>
            </a:r>
          </a:p>
          <a:p>
            <a:pPr defTabSz="180000"/>
            <a:r>
              <a:rPr lang="da-DK" altLang="ko-KR" sz="1400" dirty="0"/>
              <a:t>	app.run(host='0.0.0.0', port=8080, debug=True)</a:t>
            </a:r>
            <a:endParaRPr lang="en-US" altLang="ko-KR" sz="14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5650BE7-52D7-44AF-B6C4-178EB78C4DF1}"/>
              </a:ext>
            </a:extLst>
          </p:cNvPr>
          <p:cNvSpPr/>
          <p:nvPr/>
        </p:nvSpPr>
        <p:spPr>
          <a:xfrm>
            <a:off x="524675" y="1349300"/>
            <a:ext cx="86084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request 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객체를 활용하여 웹 브라우저에서 보내온 요청 패킷의 정보를 출력하는 프로그램을 작성하라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.</a:t>
            </a:r>
            <a:endParaRPr lang="ko-KR" altLang="en-US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3E3A96-A640-4C8E-B6C1-88165D305DAB}"/>
              </a:ext>
            </a:extLst>
          </p:cNvPr>
          <p:cNvSpPr txBox="1"/>
          <p:nvPr/>
        </p:nvSpPr>
        <p:spPr>
          <a:xfrm>
            <a:off x="524675" y="1870784"/>
            <a:ext cx="7665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6-9.py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81257573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15789F-4A93-4B4A-B92A-E5BA8EF52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예제 </a:t>
            </a:r>
            <a:r>
              <a:rPr lang="en-US" altLang="ko-KR"/>
              <a:t>6-9 (</a:t>
            </a:r>
            <a:r>
              <a:rPr lang="ko-KR" altLang="en-US"/>
              <a:t>계속</a:t>
            </a:r>
            <a:r>
              <a:rPr lang="en-US" altLang="ko-KR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628EB9-5119-4CE8-83C6-9E82B5C7F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55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6269F7E-AEF3-4377-9017-81D0A4806B26}"/>
              </a:ext>
            </a:extLst>
          </p:cNvPr>
          <p:cNvSpPr/>
          <p:nvPr/>
        </p:nvSpPr>
        <p:spPr>
          <a:xfrm>
            <a:off x="612646" y="1484784"/>
            <a:ext cx="8153401" cy="115212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pPr fontAlgn="base"/>
            <a:r>
              <a:rPr lang="fi-FI" altLang="ko-KR" sz="1400" b="1" dirty="0"/>
              <a:t>(myenv) pi@pi:~/ch06 $ python 6-9.py</a:t>
            </a:r>
          </a:p>
          <a:p>
            <a:pPr fontAlgn="base"/>
            <a:r>
              <a:rPr lang="en-US" altLang="ko-KR" sz="1400" dirty="0"/>
              <a:t>* Serving Flask app "6-9" (lazy loading)</a:t>
            </a:r>
          </a:p>
          <a:p>
            <a:pPr fontAlgn="base"/>
            <a:r>
              <a:rPr lang="en-US" altLang="ko-KR" sz="1400" dirty="0"/>
              <a:t>...(</a:t>
            </a:r>
            <a:r>
              <a:rPr lang="ko-KR" altLang="en-US" sz="1400" dirty="0"/>
              <a:t>생략</a:t>
            </a:r>
            <a:r>
              <a:rPr lang="en-US" altLang="ko-KR" sz="1400" dirty="0"/>
              <a:t>)</a:t>
            </a:r>
          </a:p>
          <a:p>
            <a:pPr fontAlgn="base"/>
            <a:r>
              <a:rPr lang="en-US" altLang="ko-KR" sz="1400" dirty="0"/>
              <a:t>* Debugger PIN: 235-625-251</a:t>
            </a:r>
          </a:p>
          <a:p>
            <a:pPr fontAlgn="base"/>
            <a:r>
              <a:rPr lang="en-US" altLang="ko-KR" sz="1400" dirty="0"/>
              <a:t>192.168.0.50 - - [15/May/2023 15:40:51] "GET /</a:t>
            </a:r>
            <a:r>
              <a:rPr lang="en-US" altLang="ko-KR" sz="1400" dirty="0" err="1"/>
              <a:t>search?city</a:t>
            </a:r>
            <a:r>
              <a:rPr lang="en-US" altLang="ko-KR" sz="1400" dirty="0"/>
              <a:t>=</a:t>
            </a:r>
            <a:r>
              <a:rPr lang="en-US" altLang="ko-KR" sz="1400" dirty="0" err="1"/>
              <a:t>seoul&amp;name</a:t>
            </a:r>
            <a:r>
              <a:rPr lang="en-US" altLang="ko-KR" sz="1400" dirty="0"/>
              <a:t>=</a:t>
            </a:r>
            <a:r>
              <a:rPr lang="en-US" altLang="ko-KR" sz="1400" dirty="0" err="1"/>
              <a:t>elvis</a:t>
            </a:r>
            <a:r>
              <a:rPr lang="en-US" altLang="ko-KR" sz="1400" dirty="0"/>
              <a:t> HTTP/1.1" 200 -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D6EB1A0-8819-DB0F-86EF-329A5EF46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6" y="2924944"/>
            <a:ext cx="7361558" cy="3375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68517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3CB6CD-CC6D-4DEB-9838-E972FED60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웹 브라우저로부터 </a:t>
            </a:r>
            <a:r>
              <a:rPr lang="en-US" altLang="ko-KR" dirty="0"/>
              <a:t>GET </a:t>
            </a:r>
            <a:r>
              <a:rPr lang="ko-KR" altLang="en-US" dirty="0"/>
              <a:t>방식의 데이터 수신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CB6F40-1B9F-4A22-985E-FF6ECE641F7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웹 브라우저에 직접 입력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lvl="1"/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6DCA21-0E01-4016-95D7-33F9E1D59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56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09BBB09-89EF-4275-96E3-3194CC9E4D04}"/>
              </a:ext>
            </a:extLst>
          </p:cNvPr>
          <p:cNvSpPr/>
          <p:nvPr/>
        </p:nvSpPr>
        <p:spPr>
          <a:xfrm>
            <a:off x="971600" y="1844824"/>
            <a:ext cx="7794448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IP:8080/.../?name1=value1&amp;</a:t>
            </a:r>
            <a:r>
              <a:rPr lang="en-US" altLang="ko-KR" sz="1400"/>
              <a:t>name2=value2&amp;...&amp;name3=valuen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25811714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39B821-78BF-4139-A7D7-C6C398CD4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6-10 GET </a:t>
            </a:r>
            <a:r>
              <a:rPr lang="ko-KR" altLang="en-US" dirty="0"/>
              <a:t>방식으로 사칙 연산하기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49EDF45-B9F4-4906-890A-CEB58CBBF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57</a:t>
            </a:fld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41605CE-9977-41EB-ACD2-496CAA459AF9}"/>
              </a:ext>
            </a:extLst>
          </p:cNvPr>
          <p:cNvSpPr/>
          <p:nvPr/>
        </p:nvSpPr>
        <p:spPr>
          <a:xfrm>
            <a:off x="524675" y="1363173"/>
            <a:ext cx="7603363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다음 사례와 같은 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URL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을 이용하여 사칙 연산을 수행하는 웹 서버 프로그램을 작성하라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.</a:t>
            </a:r>
          </a:p>
          <a:p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• /calc?op1=100&amp;op=plus&amp;op2=200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－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&gt; 100 + 200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를 수행하고 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300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를 응답으로 리턴</a:t>
            </a:r>
          </a:p>
          <a:p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• /calc?op1=100&amp;op=minus&amp;op2=200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－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&gt; 100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－ 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200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를 수행하고 －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100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를 응답으로 리턴</a:t>
            </a:r>
          </a:p>
          <a:p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• /calc?op1=100&amp;op=mul&amp;op2=200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－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&gt; 100 * 200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를 수행하고 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20000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을 응답으로 리턴</a:t>
            </a:r>
          </a:p>
          <a:p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• /calc?op1=100&amp;op=div&amp;op2=200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－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&gt; 100 / 200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을 수행하고 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0.500000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을 응답으로 리턴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A36E0D8-4402-44F3-8863-995B52CCA5F4}"/>
              </a:ext>
            </a:extLst>
          </p:cNvPr>
          <p:cNvSpPr/>
          <p:nvPr/>
        </p:nvSpPr>
        <p:spPr>
          <a:xfrm>
            <a:off x="524675" y="2614561"/>
            <a:ext cx="8367464" cy="41319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050" dirty="0"/>
              <a:t>from flask import Flask, request</a:t>
            </a:r>
          </a:p>
          <a:p>
            <a:pPr defTabSz="180000"/>
            <a:r>
              <a:rPr lang="en-US" altLang="ko-KR" sz="1050" dirty="0"/>
              <a:t>app = Flask(__name__)</a:t>
            </a:r>
          </a:p>
          <a:p>
            <a:pPr defTabSz="180000"/>
            <a:r>
              <a:rPr lang="en-US" altLang="ko-KR" sz="1050" dirty="0"/>
              <a:t>@</a:t>
            </a:r>
            <a:r>
              <a:rPr lang="en-US" altLang="ko-KR" sz="1050" dirty="0" err="1"/>
              <a:t>app.route</a:t>
            </a:r>
            <a:r>
              <a:rPr lang="en-US" altLang="ko-KR" sz="1050" dirty="0"/>
              <a:t>('/calc')</a:t>
            </a:r>
          </a:p>
          <a:p>
            <a:pPr defTabSz="180000"/>
            <a:r>
              <a:rPr lang="en-US" altLang="ko-KR" sz="1050" dirty="0"/>
              <a:t>def calc( ):</a:t>
            </a:r>
          </a:p>
          <a:p>
            <a:pPr defTabSz="180000"/>
            <a:r>
              <a:rPr lang="en-US" altLang="ko-KR" sz="1050" dirty="0"/>
              <a:t>	if </a:t>
            </a:r>
            <a:r>
              <a:rPr lang="en-US" altLang="ko-KR" sz="1050" dirty="0" err="1"/>
              <a:t>request.method</a:t>
            </a:r>
            <a:r>
              <a:rPr lang="en-US" altLang="ko-KR" sz="1050" dirty="0"/>
              <a:t> != 'GET':</a:t>
            </a:r>
          </a:p>
          <a:p>
            <a:pPr defTabSz="180000"/>
            <a:r>
              <a:rPr lang="en-US" altLang="ko-KR" sz="1050" dirty="0"/>
              <a:t>		return ""</a:t>
            </a:r>
          </a:p>
          <a:p>
            <a:pPr defTabSz="180000"/>
            <a:r>
              <a:rPr lang="en-US" altLang="ko-KR" sz="1050" dirty="0"/>
              <a:t>	op1 = </a:t>
            </a:r>
            <a:r>
              <a:rPr lang="en-US" altLang="ko-KR" sz="1050" dirty="0" err="1"/>
              <a:t>request.args</a:t>
            </a:r>
            <a:r>
              <a:rPr lang="en-US" altLang="ko-KR" sz="1050" dirty="0"/>
              <a:t>['op1'] # 'op1' </a:t>
            </a:r>
            <a:r>
              <a:rPr lang="ko-KR" altLang="en-US" sz="1050" dirty="0"/>
              <a:t>키에 대한 값 데이터</a:t>
            </a:r>
          </a:p>
          <a:p>
            <a:pPr defTabSz="180000"/>
            <a:r>
              <a:rPr lang="en-US" altLang="ko-KR" sz="1050" dirty="0"/>
              <a:t>	op2 = </a:t>
            </a:r>
            <a:r>
              <a:rPr lang="en-US" altLang="ko-KR" sz="1050" dirty="0" err="1"/>
              <a:t>request.args</a:t>
            </a:r>
            <a:r>
              <a:rPr lang="en-US" altLang="ko-KR" sz="1050" dirty="0"/>
              <a:t>['op2'] # 'op2' </a:t>
            </a:r>
            <a:r>
              <a:rPr lang="ko-KR" altLang="en-US" sz="1050" dirty="0"/>
              <a:t>키에 대한 값 데이터</a:t>
            </a:r>
          </a:p>
          <a:p>
            <a:pPr defTabSz="180000"/>
            <a:r>
              <a:rPr lang="en-US" altLang="ko-KR" sz="1050" dirty="0"/>
              <a:t>	op = </a:t>
            </a:r>
            <a:r>
              <a:rPr lang="en-US" altLang="ko-KR" sz="1050" dirty="0" err="1"/>
              <a:t>request.args</a:t>
            </a:r>
            <a:r>
              <a:rPr lang="en-US" altLang="ko-KR" sz="1050" dirty="0"/>
              <a:t>['op'] # 'op' </a:t>
            </a:r>
            <a:r>
              <a:rPr lang="ko-KR" altLang="en-US" sz="1050" dirty="0"/>
              <a:t>키에 대한 값</a:t>
            </a:r>
            <a:r>
              <a:rPr lang="en-US" altLang="ko-KR" sz="1050" dirty="0"/>
              <a:t>(</a:t>
            </a:r>
            <a:r>
              <a:rPr lang="ko-KR" altLang="en-US" sz="1050" dirty="0"/>
              <a:t>연산자</a:t>
            </a:r>
            <a:r>
              <a:rPr lang="en-US" altLang="ko-KR" sz="1050" dirty="0"/>
              <a:t>) </a:t>
            </a:r>
            <a:r>
              <a:rPr lang="ko-KR" altLang="en-US" sz="1050" dirty="0"/>
              <a:t>데이터</a:t>
            </a:r>
          </a:p>
          <a:p>
            <a:pPr defTabSz="180000"/>
            <a:r>
              <a:rPr lang="en-US" altLang="ko-KR" sz="1050" dirty="0"/>
              <a:t>	num1 = int(op1) # </a:t>
            </a:r>
            <a:r>
              <a:rPr lang="ko-KR" altLang="en-US" sz="1050" dirty="0"/>
              <a:t>정수로 변환</a:t>
            </a:r>
          </a:p>
          <a:p>
            <a:pPr defTabSz="180000"/>
            <a:r>
              <a:rPr lang="en-US" altLang="ko-KR" sz="1050" dirty="0"/>
              <a:t>	num2 = int(op2) # </a:t>
            </a:r>
            <a:r>
              <a:rPr lang="ko-KR" altLang="en-US" sz="1050" dirty="0"/>
              <a:t>정수로 변환</a:t>
            </a:r>
          </a:p>
          <a:p>
            <a:pPr defTabSz="180000"/>
            <a:r>
              <a:rPr lang="en-US" altLang="ko-KR" sz="1050" dirty="0"/>
              <a:t>	if op == 'plus':</a:t>
            </a:r>
          </a:p>
          <a:p>
            <a:pPr defTabSz="180000"/>
            <a:r>
              <a:rPr lang="pt-BR" altLang="ko-KR" sz="1050" dirty="0"/>
              <a:t>		return "&lt;h2&gt;%d + %d= %d&lt;/h2&gt;" % (num1, num2, num1+num2)</a:t>
            </a:r>
          </a:p>
          <a:p>
            <a:pPr defTabSz="180000"/>
            <a:r>
              <a:rPr lang="en-US" altLang="ko-KR" sz="1050" dirty="0"/>
              <a:t>	</a:t>
            </a:r>
            <a:r>
              <a:rPr lang="en-US" altLang="ko-KR" sz="1050" dirty="0" err="1"/>
              <a:t>elif</a:t>
            </a:r>
            <a:r>
              <a:rPr lang="en-US" altLang="ko-KR" sz="1050" dirty="0"/>
              <a:t> op == 'minus':</a:t>
            </a:r>
          </a:p>
          <a:p>
            <a:pPr defTabSz="180000"/>
            <a:r>
              <a:rPr lang="pt-BR" altLang="ko-KR" sz="1050" dirty="0"/>
              <a:t>		return "&lt;h2&gt;%d - %d= %d&lt;/h2&gt;" % (num1, num2, num1-num2)</a:t>
            </a:r>
          </a:p>
          <a:p>
            <a:pPr defTabSz="180000"/>
            <a:r>
              <a:rPr lang="en-US" altLang="ko-KR" sz="1050" dirty="0"/>
              <a:t>	</a:t>
            </a:r>
            <a:r>
              <a:rPr lang="en-US" altLang="ko-KR" sz="1050" dirty="0" err="1"/>
              <a:t>elif</a:t>
            </a:r>
            <a:r>
              <a:rPr lang="en-US" altLang="ko-KR" sz="1050" dirty="0"/>
              <a:t> op == '</a:t>
            </a:r>
            <a:r>
              <a:rPr lang="en-US" altLang="ko-KR" sz="1050" dirty="0" err="1"/>
              <a:t>mul</a:t>
            </a:r>
            <a:r>
              <a:rPr lang="en-US" altLang="ko-KR" sz="1050" dirty="0"/>
              <a:t>':</a:t>
            </a:r>
          </a:p>
          <a:p>
            <a:pPr defTabSz="180000"/>
            <a:r>
              <a:rPr lang="pt-BR" altLang="ko-KR" sz="1050" dirty="0"/>
              <a:t>		return "&lt;h2&gt;%d * %d= %d&lt;/h2&gt;" % (num1, num2, num1*num2)</a:t>
            </a:r>
          </a:p>
          <a:p>
            <a:pPr defTabSz="180000"/>
            <a:r>
              <a:rPr lang="en-US" altLang="ko-KR" sz="1050" dirty="0"/>
              <a:t>	</a:t>
            </a:r>
            <a:r>
              <a:rPr lang="en-US" altLang="ko-KR" sz="1050" dirty="0" err="1"/>
              <a:t>elif</a:t>
            </a:r>
            <a:r>
              <a:rPr lang="en-US" altLang="ko-KR" sz="1050" dirty="0"/>
              <a:t> op == 'div':</a:t>
            </a:r>
          </a:p>
          <a:p>
            <a:pPr defTabSz="180000"/>
            <a:r>
              <a:rPr lang="en-US" altLang="ko-KR" sz="1050" dirty="0"/>
              <a:t>		if num2 == 0:</a:t>
            </a:r>
          </a:p>
          <a:p>
            <a:pPr defTabSz="180000"/>
            <a:r>
              <a:rPr lang="en-US" altLang="ko-KR" sz="1050" dirty="0"/>
              <a:t>			return "&lt;h2&gt;0</a:t>
            </a:r>
            <a:r>
              <a:rPr lang="ko-KR" altLang="en-US" sz="1050" dirty="0"/>
              <a:t>으로 나눌 수 없습니다</a:t>
            </a:r>
            <a:r>
              <a:rPr lang="en-US" altLang="ko-KR" sz="1050" dirty="0"/>
              <a:t>.&lt;/h2&gt;"</a:t>
            </a:r>
          </a:p>
          <a:p>
            <a:pPr defTabSz="180000"/>
            <a:r>
              <a:rPr lang="pt-BR" altLang="ko-KR" sz="1050" dirty="0"/>
              <a:t>		return "&lt;h2&gt;%d / %d= %f&lt;/h2&gt;" % (num1, num2, num1/num2)</a:t>
            </a:r>
          </a:p>
          <a:p>
            <a:pPr defTabSz="180000"/>
            <a:r>
              <a:rPr lang="en-US" altLang="ko-KR" sz="1050" dirty="0"/>
              <a:t>	else:</a:t>
            </a:r>
          </a:p>
          <a:p>
            <a:pPr defTabSz="180000"/>
            <a:r>
              <a:rPr lang="en-US" altLang="ko-KR" sz="1050" dirty="0"/>
              <a:t>		return "&lt;h2&gt;</a:t>
            </a:r>
            <a:r>
              <a:rPr lang="ko-KR" altLang="en-US" sz="1050" dirty="0"/>
              <a:t>잘못된 연산자입니다</a:t>
            </a:r>
            <a:r>
              <a:rPr lang="en-US" altLang="ko-KR" sz="1050" dirty="0"/>
              <a:t>.&lt;/h2&gt;"</a:t>
            </a:r>
          </a:p>
          <a:p>
            <a:pPr defTabSz="180000"/>
            <a:r>
              <a:rPr lang="en-US" altLang="ko-KR" sz="1050" dirty="0"/>
              <a:t>if __name__ == '__main__':</a:t>
            </a:r>
          </a:p>
          <a:p>
            <a:pPr defTabSz="180000"/>
            <a:r>
              <a:rPr lang="da-DK" altLang="ko-KR" sz="1050" dirty="0"/>
              <a:t>	app.run(host='0.0.0.0', port=8080, debug=True)</a:t>
            </a:r>
            <a:endParaRPr lang="en-US" altLang="ko-KR" sz="10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BF3063-EDE8-4313-A522-9133150CB229}"/>
              </a:ext>
            </a:extLst>
          </p:cNvPr>
          <p:cNvSpPr txBox="1"/>
          <p:nvPr/>
        </p:nvSpPr>
        <p:spPr>
          <a:xfrm>
            <a:off x="8084119" y="2276872"/>
            <a:ext cx="8803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6-10.py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12307688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3DCD8F-2E24-473D-8B79-25544B285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예제 </a:t>
            </a:r>
            <a:r>
              <a:rPr lang="en-US" altLang="ko-KR"/>
              <a:t>6-10 (</a:t>
            </a:r>
            <a:r>
              <a:rPr lang="ko-KR" altLang="en-US"/>
              <a:t>계속</a:t>
            </a:r>
            <a:r>
              <a:rPr lang="en-US" altLang="ko-KR"/>
              <a:t>)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525BC9-F05B-44C3-BA4B-1815AE5DA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58</a:t>
            </a:fld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848EF5F9-3690-1322-37BE-C02A0AD06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517253"/>
            <a:ext cx="6113561" cy="136073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56353D09-D27E-F7E9-6462-8BA0E2E68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2665503"/>
            <a:ext cx="6120072" cy="136073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C90AEC91-86D2-9F87-98CD-0F296E55EA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9561" y="3918054"/>
            <a:ext cx="6120072" cy="1360739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1BC3683-582D-0674-C303-1066B2D6D5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8019" y="5066304"/>
            <a:ext cx="6120072" cy="1357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47265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1B1FC9-482B-4C21-B946-3D7407A57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6-11 </a:t>
            </a:r>
            <a:r>
              <a:rPr lang="ko-KR" altLang="en-US" dirty="0"/>
              <a:t>폼 태그</a:t>
            </a:r>
            <a:r>
              <a:rPr lang="en-US" altLang="ko-KR" dirty="0"/>
              <a:t>(&lt;form&gt;)</a:t>
            </a:r>
            <a:r>
              <a:rPr lang="ko-KR" altLang="en-US" dirty="0"/>
              <a:t>를 이용하여 </a:t>
            </a:r>
            <a:r>
              <a:rPr lang="en-US" altLang="ko-KR" dirty="0"/>
              <a:t>GET </a:t>
            </a:r>
            <a:r>
              <a:rPr lang="ko-KR" altLang="en-US" dirty="0"/>
              <a:t>방식으로 웹 서버에 데이터 전송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7CB31B-55F0-44BC-86B9-C4E50B381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59</a:t>
            </a:fld>
            <a:endParaRPr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D9E5BD7-5132-4F0B-8EBE-D58346A632DA}"/>
              </a:ext>
            </a:extLst>
          </p:cNvPr>
          <p:cNvSpPr/>
          <p:nvPr/>
        </p:nvSpPr>
        <p:spPr>
          <a:xfrm>
            <a:off x="505445" y="1323395"/>
            <a:ext cx="836780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예제 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6-10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은 사용자가 웹 브라우저에서 직접 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URL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을 입력하여 요청하는 사례였다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.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이 예제에서는 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&lt;form&gt;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태그를 이용하여 더욱 자연스럽게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웹 페이지에서 웹 서버로 요청을 보내는 형태로 만들어본다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.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이 예제를 위한 웹 서버의 디렉터리 구조는 다음과 같다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.</a:t>
            </a:r>
            <a:endParaRPr lang="ko-KR" altLang="en-US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EA1D940-EB8C-40D3-A45A-A2886EB26B14}"/>
              </a:ext>
            </a:extLst>
          </p:cNvPr>
          <p:cNvSpPr/>
          <p:nvPr/>
        </p:nvSpPr>
        <p:spPr>
          <a:xfrm>
            <a:off x="492587" y="2060848"/>
            <a:ext cx="130708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dirty="0"/>
              <a:t>getcalc.html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839D666-1315-4CC2-9AF5-D8ADCC17AD9C}"/>
              </a:ext>
            </a:extLst>
          </p:cNvPr>
          <p:cNvSpPr/>
          <p:nvPr/>
        </p:nvSpPr>
        <p:spPr>
          <a:xfrm>
            <a:off x="492587" y="2433464"/>
            <a:ext cx="4002113" cy="30469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200" dirty="0"/>
              <a:t>&lt;!doctype html&gt;</a:t>
            </a:r>
          </a:p>
          <a:p>
            <a:pPr defTabSz="180000"/>
            <a:r>
              <a:rPr lang="en-US" altLang="ko-KR" sz="1200" dirty="0"/>
              <a:t>&lt;html&gt;</a:t>
            </a:r>
          </a:p>
          <a:p>
            <a:pPr defTabSz="180000"/>
            <a:r>
              <a:rPr lang="en-US" altLang="ko-KR" sz="1200" dirty="0"/>
              <a:t>	&lt;head&gt;</a:t>
            </a:r>
          </a:p>
          <a:p>
            <a:pPr defTabSz="180000"/>
            <a:r>
              <a:rPr lang="en-US" altLang="ko-KR" sz="1200" dirty="0"/>
              <a:t>    &lt;title&gt;GET </a:t>
            </a:r>
            <a:r>
              <a:rPr lang="ko-KR" altLang="en-US" sz="1200" dirty="0"/>
              <a:t>방식으로 데이터 전송</a:t>
            </a:r>
            <a:r>
              <a:rPr lang="en-US" altLang="ko-KR" sz="1200" dirty="0"/>
              <a:t>&lt;/title&gt;</a:t>
            </a:r>
          </a:p>
          <a:p>
            <a:pPr defTabSz="180000"/>
            <a:r>
              <a:rPr lang="en-US" altLang="ko-KR" sz="1200" dirty="0"/>
              <a:t>  &lt;/head&gt;</a:t>
            </a:r>
          </a:p>
          <a:p>
            <a:pPr defTabSz="180000"/>
            <a:r>
              <a:rPr lang="en-US" altLang="ko-KR" sz="1200" dirty="0"/>
              <a:t>&lt;body&gt;</a:t>
            </a:r>
          </a:p>
          <a:p>
            <a:pPr defTabSz="180000"/>
            <a:r>
              <a:rPr lang="en-US" altLang="ko-KR" sz="1200" dirty="0"/>
              <a:t>	&lt;h3&gt;GET </a:t>
            </a:r>
            <a:r>
              <a:rPr lang="ko-KR" altLang="en-US" sz="1200" dirty="0"/>
              <a:t>방식으로 사칙연산 처리</a:t>
            </a:r>
            <a:r>
              <a:rPr lang="en-US" altLang="ko-KR" sz="1200" dirty="0"/>
              <a:t>&lt;/h3&gt;</a:t>
            </a:r>
          </a:p>
          <a:p>
            <a:pPr defTabSz="180000"/>
            <a:r>
              <a:rPr lang="en-US" altLang="ko-KR" sz="1200" dirty="0"/>
              <a:t>	&lt;</a:t>
            </a:r>
            <a:r>
              <a:rPr lang="en-US" altLang="ko-KR" sz="1200" dirty="0" err="1"/>
              <a:t>hr</a:t>
            </a:r>
            <a:r>
              <a:rPr lang="en-US" altLang="ko-KR" sz="1200" dirty="0"/>
              <a:t>&gt;</a:t>
            </a:r>
          </a:p>
          <a:p>
            <a:pPr defTabSz="180000"/>
            <a:r>
              <a:rPr lang="en-US" altLang="ko-KR" sz="1200" dirty="0"/>
              <a:t>	&lt;form action="/calc" method="get"&gt;</a:t>
            </a:r>
          </a:p>
          <a:p>
            <a:pPr defTabSz="180000"/>
            <a:r>
              <a:rPr lang="en-US" altLang="ko-KR" sz="1200" dirty="0"/>
              <a:t>		&lt;input name="op1" value="100" type="text" /&gt;</a:t>
            </a:r>
          </a:p>
          <a:p>
            <a:pPr defTabSz="180000"/>
            <a:r>
              <a:rPr lang="en-US" altLang="ko-KR" sz="1200" dirty="0"/>
              <a:t>		&lt;input name="op" value="plus" type="text" /&gt;</a:t>
            </a:r>
          </a:p>
          <a:p>
            <a:pPr defTabSz="180000"/>
            <a:r>
              <a:rPr lang="en-US" altLang="ko-KR" sz="1200" dirty="0"/>
              <a:t>		&lt;input name="op2" value="200" type="text" /&gt;</a:t>
            </a:r>
          </a:p>
          <a:p>
            <a:pPr defTabSz="180000"/>
            <a:r>
              <a:rPr lang="en-US" altLang="ko-KR" sz="1200" dirty="0"/>
              <a:t>		&lt;input value="</a:t>
            </a:r>
            <a:r>
              <a:rPr lang="ko-KR" altLang="en-US" sz="1200" dirty="0"/>
              <a:t>계산</a:t>
            </a:r>
            <a:r>
              <a:rPr lang="en-US" altLang="ko-KR" sz="1200" dirty="0"/>
              <a:t>" type="submit" /&gt;</a:t>
            </a:r>
          </a:p>
          <a:p>
            <a:pPr defTabSz="180000"/>
            <a:r>
              <a:rPr lang="en-US" altLang="ko-KR" sz="1200" dirty="0"/>
              <a:t>	&lt;/form&gt;</a:t>
            </a:r>
          </a:p>
          <a:p>
            <a:pPr defTabSz="180000"/>
            <a:r>
              <a:rPr lang="en-US" altLang="ko-KR" sz="1200" dirty="0"/>
              <a:t>&lt;/body&gt;</a:t>
            </a:r>
          </a:p>
          <a:p>
            <a:pPr defTabSz="180000"/>
            <a:r>
              <a:rPr lang="en-US" altLang="ko-KR" sz="1200" dirty="0"/>
              <a:t>&lt;/html&gt;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193BB2F-583A-4548-95E9-FEED1B3E0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8355" y="2433464"/>
            <a:ext cx="4361405" cy="210289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6BB0299-E63B-42E9-AD8E-F17C0913C0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5534605"/>
            <a:ext cx="6917626" cy="1105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07312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ADEDFA-FDE2-4AC1-AAAA-3CF7FF91C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예제 </a:t>
            </a:r>
            <a:r>
              <a:rPr lang="en-US" altLang="ko-KR"/>
              <a:t>6-11 (</a:t>
            </a:r>
            <a:r>
              <a:rPr lang="ko-KR" altLang="en-US"/>
              <a:t>계속</a:t>
            </a:r>
            <a:r>
              <a:rPr lang="en-US" altLang="ko-KR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847A19-4F65-4CA9-B42A-EE5500321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60</a:t>
            </a:fld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9A88938-FA32-46B3-97C3-B4DF1C341C03}"/>
              </a:ext>
            </a:extLst>
          </p:cNvPr>
          <p:cNvSpPr/>
          <p:nvPr/>
        </p:nvSpPr>
        <p:spPr>
          <a:xfrm>
            <a:off x="524675" y="1268760"/>
            <a:ext cx="843981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웹 브라우저는 이(</a:t>
            </a:r>
            <a:r>
              <a:rPr lang="ko-KR" altLang="en-US" sz="1400" dirty="0" err="1">
                <a:solidFill>
                  <a:schemeClr val="accent2">
                    <a:lumMod val="75000"/>
                  </a:schemeClr>
                </a:solidFill>
              </a:rPr>
              <a:t>getcalc.html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)</a:t>
            </a:r>
            <a:r>
              <a:rPr lang="ko-KR" altLang="en-US" sz="1400" dirty="0" err="1">
                <a:solidFill>
                  <a:schemeClr val="accent2">
                    <a:lumMod val="75000"/>
                  </a:schemeClr>
                </a:solidFill>
              </a:rPr>
              <a:t>를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 받아 출력하고 사용자 입력을 받은 후 &lt;</a:t>
            </a:r>
            <a:r>
              <a:rPr lang="ko-KR" altLang="en-US" sz="1400" dirty="0" err="1">
                <a:solidFill>
                  <a:schemeClr val="accent2">
                    <a:lumMod val="75000"/>
                  </a:schemeClr>
                </a:solidFill>
              </a:rPr>
              <a:t>form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&gt; 태그의 </a:t>
            </a:r>
            <a:r>
              <a:rPr lang="ko-KR" altLang="en-US" sz="1400" dirty="0" err="1">
                <a:solidFill>
                  <a:schemeClr val="accent2">
                    <a:lumMod val="75000"/>
                  </a:schemeClr>
                </a:solidFill>
              </a:rPr>
              <a:t>action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 속성에 지정된 문자열을 </a:t>
            </a:r>
            <a:r>
              <a:rPr lang="ko-KR" altLang="en-US" sz="1400" dirty="0" err="1">
                <a:solidFill>
                  <a:schemeClr val="accent2">
                    <a:lumMod val="75000"/>
                  </a:schemeClr>
                </a:solidFill>
              </a:rPr>
              <a:t>URL로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 하고 그 뒤에 ?</a:t>
            </a:r>
            <a:r>
              <a:rPr lang="ko-KR" altLang="en-US" sz="1400" dirty="0" err="1">
                <a:solidFill>
                  <a:schemeClr val="accent2">
                    <a:lumMod val="75000"/>
                  </a:schemeClr>
                </a:solidFill>
              </a:rPr>
              <a:t>를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 붙인다. 그리고 &lt;</a:t>
            </a:r>
            <a:r>
              <a:rPr lang="ko-KR" altLang="en-US" sz="1400" dirty="0" err="1">
                <a:solidFill>
                  <a:schemeClr val="accent2">
                    <a:lumMod val="75000"/>
                  </a:schemeClr>
                </a:solidFill>
              </a:rPr>
              <a:t>form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&gt; 태그 내 모든 &lt;</a:t>
            </a:r>
            <a:r>
              <a:rPr lang="ko-KR" altLang="en-US" sz="1400" dirty="0" err="1">
                <a:solidFill>
                  <a:schemeClr val="accent2">
                    <a:lumMod val="75000"/>
                  </a:schemeClr>
                </a:solidFill>
              </a:rPr>
              <a:t>input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&gt; 태그의 </a:t>
            </a:r>
            <a:r>
              <a:rPr lang="ko-KR" altLang="en-US" sz="1400" dirty="0" err="1">
                <a:solidFill>
                  <a:schemeClr val="accent2">
                    <a:lumMod val="75000"/>
                  </a:schemeClr>
                </a:solidFill>
              </a:rPr>
              <a:t>name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 속성과 </a:t>
            </a:r>
            <a:r>
              <a:rPr lang="ko-KR" altLang="en-US" sz="1400" dirty="0" err="1">
                <a:solidFill>
                  <a:schemeClr val="accent2">
                    <a:lumMod val="75000"/>
                  </a:schemeClr>
                </a:solidFill>
              </a:rPr>
              <a:t>value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 속성을 </a:t>
            </a:r>
            <a:r>
              <a:rPr lang="ko-KR" altLang="en-US" sz="1400" dirty="0" err="1">
                <a:solidFill>
                  <a:schemeClr val="accent2">
                    <a:lumMod val="75000"/>
                  </a:schemeClr>
                </a:solidFill>
              </a:rPr>
              <a:t>name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=</a:t>
            </a:r>
            <a:r>
              <a:rPr lang="ko-KR" altLang="en-US" sz="1400" dirty="0" err="1">
                <a:solidFill>
                  <a:schemeClr val="accent2">
                    <a:lumMod val="75000"/>
                  </a:schemeClr>
                </a:solidFill>
              </a:rPr>
              <a:t>value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&amp;..의 모양으로 연결하여 ? 문자 뒤에 덧붙인다. 그런 후 GET 방식으로 웹 서버에 전송한다.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ABC32D1-3E29-4A1F-BA06-BCF08FB7375E}"/>
              </a:ext>
            </a:extLst>
          </p:cNvPr>
          <p:cNvSpPr/>
          <p:nvPr/>
        </p:nvSpPr>
        <p:spPr>
          <a:xfrm>
            <a:off x="8100392" y="1988840"/>
            <a:ext cx="88036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dirty="0"/>
              <a:t>6-11</a:t>
            </a:r>
            <a:r>
              <a:rPr lang="ko-KR" altLang="en-US" sz="1600" dirty="0"/>
              <a:t>.py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65CBF52-1BB1-4942-B678-86EAEF9EB1B9}"/>
              </a:ext>
            </a:extLst>
          </p:cNvPr>
          <p:cNvSpPr/>
          <p:nvPr/>
        </p:nvSpPr>
        <p:spPr>
          <a:xfrm>
            <a:off x="612648" y="2276872"/>
            <a:ext cx="8351839" cy="44012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000" dirty="0"/>
              <a:t>from flask import Flask, request, </a:t>
            </a:r>
            <a:r>
              <a:rPr lang="en-US" altLang="ko-KR" sz="1000" dirty="0" err="1"/>
              <a:t>render_template</a:t>
            </a:r>
            <a:endParaRPr lang="en-US" altLang="ko-KR" sz="1000" dirty="0"/>
          </a:p>
          <a:p>
            <a:pPr defTabSz="180000"/>
            <a:r>
              <a:rPr lang="en-US" altLang="ko-KR" sz="1000" dirty="0"/>
              <a:t>app = Flask(__name__)</a:t>
            </a:r>
          </a:p>
          <a:p>
            <a:pPr defTabSz="180000"/>
            <a:r>
              <a:rPr lang="en-US" altLang="ko-KR" sz="1000" dirty="0"/>
              <a:t>@</a:t>
            </a:r>
            <a:r>
              <a:rPr lang="en-US" altLang="ko-KR" sz="1000" dirty="0" err="1"/>
              <a:t>app.route</a:t>
            </a:r>
            <a:r>
              <a:rPr lang="en-US" altLang="ko-KR" sz="1000" dirty="0"/>
              <a:t>('/')</a:t>
            </a:r>
          </a:p>
          <a:p>
            <a:pPr defTabSz="180000"/>
            <a:r>
              <a:rPr lang="en-US" altLang="ko-KR" sz="1000" dirty="0"/>
              <a:t>def </a:t>
            </a:r>
            <a:r>
              <a:rPr lang="en-US" altLang="ko-KR" sz="1000" dirty="0" err="1"/>
              <a:t>init</a:t>
            </a:r>
            <a:r>
              <a:rPr lang="en-US" altLang="ko-KR" sz="1000" dirty="0"/>
              <a:t>( ):</a:t>
            </a:r>
          </a:p>
          <a:p>
            <a:pPr defTabSz="180000"/>
            <a:r>
              <a:rPr lang="en-US" altLang="ko-KR" sz="1000" dirty="0"/>
              <a:t>	return </a:t>
            </a:r>
            <a:r>
              <a:rPr lang="en-US" altLang="ko-KR" sz="1000" dirty="0" err="1"/>
              <a:t>render_template</a:t>
            </a:r>
            <a:r>
              <a:rPr lang="en-US" altLang="ko-KR" sz="1000" dirty="0"/>
              <a:t>("getcalc.html")</a:t>
            </a:r>
          </a:p>
          <a:p>
            <a:pPr defTabSz="180000"/>
            <a:r>
              <a:rPr lang="en-US" altLang="ko-KR" sz="1000" dirty="0"/>
              <a:t>@</a:t>
            </a:r>
            <a:r>
              <a:rPr lang="en-US" altLang="ko-KR" sz="1000" dirty="0" err="1"/>
              <a:t>app.route</a:t>
            </a:r>
            <a:r>
              <a:rPr lang="en-US" altLang="ko-KR" sz="1000" dirty="0"/>
              <a:t>('/calc')</a:t>
            </a:r>
          </a:p>
          <a:p>
            <a:pPr defTabSz="180000"/>
            <a:r>
              <a:rPr lang="en-US" altLang="ko-KR" sz="1000" dirty="0"/>
              <a:t>def calc( ):</a:t>
            </a:r>
          </a:p>
          <a:p>
            <a:pPr defTabSz="180000"/>
            <a:r>
              <a:rPr lang="en-US" altLang="ko-KR" sz="1000" dirty="0"/>
              <a:t>	if </a:t>
            </a:r>
            <a:r>
              <a:rPr lang="en-US" altLang="ko-KR" sz="1000" dirty="0" err="1"/>
              <a:t>request.method</a:t>
            </a:r>
            <a:r>
              <a:rPr lang="en-US" altLang="ko-KR" sz="1000" dirty="0"/>
              <a:t> != 'GET':</a:t>
            </a:r>
          </a:p>
          <a:p>
            <a:pPr defTabSz="180000"/>
            <a:r>
              <a:rPr lang="en-US" altLang="ko-KR" sz="1000" dirty="0"/>
              <a:t>		return ""</a:t>
            </a:r>
          </a:p>
          <a:p>
            <a:pPr defTabSz="180000"/>
            <a:r>
              <a:rPr lang="en-US" altLang="ko-KR" sz="1000" dirty="0"/>
              <a:t>	op1 = </a:t>
            </a:r>
            <a:r>
              <a:rPr lang="en-US" altLang="ko-KR" sz="1000" dirty="0" err="1"/>
              <a:t>request.args</a:t>
            </a:r>
            <a:r>
              <a:rPr lang="en-US" altLang="ko-KR" sz="1000" dirty="0"/>
              <a:t>['op1'] # 'op1' </a:t>
            </a:r>
            <a:r>
              <a:rPr lang="ko-KR" altLang="en-US" sz="1000" dirty="0"/>
              <a:t>키에 대한 값 데이터</a:t>
            </a:r>
          </a:p>
          <a:p>
            <a:pPr defTabSz="180000"/>
            <a:r>
              <a:rPr lang="en-US" altLang="ko-KR" sz="1000" dirty="0"/>
              <a:t>	op2 = </a:t>
            </a:r>
            <a:r>
              <a:rPr lang="en-US" altLang="ko-KR" sz="1000" dirty="0" err="1"/>
              <a:t>request.args</a:t>
            </a:r>
            <a:r>
              <a:rPr lang="en-US" altLang="ko-KR" sz="1000" dirty="0"/>
              <a:t>['op2'] # 'op2' </a:t>
            </a:r>
            <a:r>
              <a:rPr lang="ko-KR" altLang="en-US" sz="1000" dirty="0"/>
              <a:t>키에 대한 값 데이터</a:t>
            </a:r>
          </a:p>
          <a:p>
            <a:pPr defTabSz="180000"/>
            <a:r>
              <a:rPr lang="en-US" altLang="ko-KR" sz="1000" dirty="0"/>
              <a:t>	op = </a:t>
            </a:r>
            <a:r>
              <a:rPr lang="en-US" altLang="ko-KR" sz="1000" dirty="0" err="1"/>
              <a:t>request.args</a:t>
            </a:r>
            <a:r>
              <a:rPr lang="en-US" altLang="ko-KR" sz="1000" dirty="0"/>
              <a:t>['op'] # 'op' </a:t>
            </a:r>
            <a:r>
              <a:rPr lang="ko-KR" altLang="en-US" sz="1000" dirty="0"/>
              <a:t>키에 대한 값</a:t>
            </a:r>
            <a:r>
              <a:rPr lang="en-US" altLang="ko-KR" sz="1000" dirty="0"/>
              <a:t>(</a:t>
            </a:r>
            <a:r>
              <a:rPr lang="ko-KR" altLang="en-US" sz="1000" dirty="0"/>
              <a:t>연산자</a:t>
            </a:r>
            <a:r>
              <a:rPr lang="en-US" altLang="ko-KR" sz="1000" dirty="0"/>
              <a:t>) </a:t>
            </a:r>
            <a:r>
              <a:rPr lang="ko-KR" altLang="en-US" sz="1000" dirty="0"/>
              <a:t>데이터</a:t>
            </a:r>
          </a:p>
          <a:p>
            <a:pPr defTabSz="180000"/>
            <a:r>
              <a:rPr lang="en-US" altLang="ko-KR" sz="1000" dirty="0"/>
              <a:t>	num1 = int(op1) # </a:t>
            </a:r>
            <a:r>
              <a:rPr lang="ko-KR" altLang="en-US" sz="1000" dirty="0"/>
              <a:t>정수로 변환</a:t>
            </a:r>
          </a:p>
          <a:p>
            <a:pPr defTabSz="180000"/>
            <a:r>
              <a:rPr lang="en-US" altLang="ko-KR" sz="1000" dirty="0"/>
              <a:t>	num2 = int(op2) # </a:t>
            </a:r>
            <a:r>
              <a:rPr lang="ko-KR" altLang="en-US" sz="1000" dirty="0"/>
              <a:t>정수로 변환</a:t>
            </a:r>
          </a:p>
          <a:p>
            <a:pPr defTabSz="180000"/>
            <a:r>
              <a:rPr lang="en-US" altLang="ko-KR" sz="1000" dirty="0"/>
              <a:t>	if op == 'plus':</a:t>
            </a:r>
          </a:p>
          <a:p>
            <a:pPr defTabSz="180000"/>
            <a:r>
              <a:rPr lang="pt-BR" altLang="ko-KR" sz="1000" dirty="0"/>
              <a:t>		return "&lt;h2&gt;%d + %d= %d&lt;/h2&gt;" % (num1, num2, num1+num2)</a:t>
            </a:r>
          </a:p>
          <a:p>
            <a:pPr defTabSz="180000"/>
            <a:r>
              <a:rPr lang="en-US" altLang="ko-KR" sz="1000" dirty="0"/>
              <a:t>	</a:t>
            </a:r>
            <a:r>
              <a:rPr lang="en-US" altLang="ko-KR" sz="1000" dirty="0" err="1"/>
              <a:t>elif</a:t>
            </a:r>
            <a:r>
              <a:rPr lang="en-US" altLang="ko-KR" sz="1000" dirty="0"/>
              <a:t> op == 'minus':</a:t>
            </a:r>
          </a:p>
          <a:p>
            <a:pPr defTabSz="180000"/>
            <a:r>
              <a:rPr lang="pt-BR" altLang="ko-KR" sz="1000" dirty="0"/>
              <a:t>		return "&lt;h2&gt;%d - %d= %d&lt;/h2&gt;" % (num1, num2, num1-num2)</a:t>
            </a:r>
          </a:p>
          <a:p>
            <a:pPr defTabSz="180000"/>
            <a:r>
              <a:rPr lang="en-US" altLang="ko-KR" sz="1000" dirty="0"/>
              <a:t>	</a:t>
            </a:r>
            <a:r>
              <a:rPr lang="en-US" altLang="ko-KR" sz="1000" dirty="0" err="1"/>
              <a:t>elif</a:t>
            </a:r>
            <a:r>
              <a:rPr lang="en-US" altLang="ko-KR" sz="1000" dirty="0"/>
              <a:t> op == '</a:t>
            </a:r>
            <a:r>
              <a:rPr lang="en-US" altLang="ko-KR" sz="1000" dirty="0" err="1"/>
              <a:t>mul</a:t>
            </a:r>
            <a:r>
              <a:rPr lang="en-US" altLang="ko-KR" sz="1000" dirty="0"/>
              <a:t>':</a:t>
            </a:r>
          </a:p>
          <a:p>
            <a:pPr defTabSz="180000"/>
            <a:r>
              <a:rPr lang="pt-BR" altLang="ko-KR" sz="1000" dirty="0"/>
              <a:t>		return "&lt;h2&gt;%d * %d= %d&lt;/h2&gt;" % (num1, num2, num1*num2)</a:t>
            </a:r>
          </a:p>
          <a:p>
            <a:pPr defTabSz="180000"/>
            <a:r>
              <a:rPr lang="en-US" altLang="ko-KR" sz="1000" dirty="0"/>
              <a:t>	</a:t>
            </a:r>
            <a:r>
              <a:rPr lang="en-US" altLang="ko-KR" sz="1000" dirty="0" err="1"/>
              <a:t>elif</a:t>
            </a:r>
            <a:r>
              <a:rPr lang="en-US" altLang="ko-KR" sz="1000" dirty="0"/>
              <a:t> op == 'div':</a:t>
            </a:r>
          </a:p>
          <a:p>
            <a:pPr defTabSz="180000"/>
            <a:r>
              <a:rPr lang="en-US" altLang="ko-KR" sz="1000" dirty="0"/>
              <a:t>		if num2 == 0:</a:t>
            </a:r>
          </a:p>
          <a:p>
            <a:pPr defTabSz="180000"/>
            <a:r>
              <a:rPr lang="en-US" altLang="ko-KR" sz="1000" dirty="0"/>
              <a:t>			return "&lt;h2&gt;0</a:t>
            </a:r>
            <a:r>
              <a:rPr lang="ko-KR" altLang="en-US" sz="1000" dirty="0"/>
              <a:t>으로 나눌 수 없습니다</a:t>
            </a:r>
            <a:r>
              <a:rPr lang="en-US" altLang="ko-KR" sz="1000" dirty="0"/>
              <a:t>.&lt;/h2&gt;"</a:t>
            </a:r>
          </a:p>
          <a:p>
            <a:pPr defTabSz="180000"/>
            <a:r>
              <a:rPr lang="pt-BR" altLang="ko-KR" sz="1000" dirty="0"/>
              <a:t>		return "&lt;h2&gt;%d / %d= %f&lt;/h2&gt;" % (num1, num2, num1/num2)</a:t>
            </a:r>
          </a:p>
          <a:p>
            <a:pPr defTabSz="180000"/>
            <a:r>
              <a:rPr lang="en-US" altLang="ko-KR" sz="1000" dirty="0"/>
              <a:t>	else:</a:t>
            </a:r>
          </a:p>
          <a:p>
            <a:pPr defTabSz="180000"/>
            <a:r>
              <a:rPr lang="en-US" altLang="ko-KR" sz="1000" dirty="0"/>
              <a:t>		return "&lt;h2&gt;</a:t>
            </a:r>
            <a:r>
              <a:rPr lang="ko-KR" altLang="en-US" sz="1000" dirty="0"/>
              <a:t>잘못된 연산자입니다</a:t>
            </a:r>
            <a:r>
              <a:rPr lang="en-US" altLang="ko-KR" sz="1000" dirty="0"/>
              <a:t>.&lt;/h2&gt;"</a:t>
            </a:r>
          </a:p>
          <a:p>
            <a:pPr defTabSz="180000"/>
            <a:r>
              <a:rPr lang="en-US" altLang="ko-KR" sz="1000" dirty="0"/>
              <a:t>if __name__ == '__main__':</a:t>
            </a:r>
          </a:p>
          <a:p>
            <a:pPr defTabSz="180000"/>
            <a:r>
              <a:rPr lang="da-DK" altLang="ko-KR" sz="1000" dirty="0"/>
              <a:t>	app.run(host='0.0.0.0', port=8080, debug=True)</a:t>
            </a:r>
            <a:endParaRPr lang="en-US" altLang="ko-KR" sz="1000" dirty="0"/>
          </a:p>
        </p:txBody>
      </p:sp>
    </p:spTree>
    <p:extLst>
      <p:ext uri="{BB962C8B-B14F-4D97-AF65-F5344CB8AC3E}">
        <p14:creationId xmlns:p14="http://schemas.microsoft.com/office/powerpoint/2010/main" val="393823042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525017-D065-42B1-9E37-315F38695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예제 </a:t>
            </a:r>
            <a:r>
              <a:rPr lang="en-US" altLang="ko-KR"/>
              <a:t>6-11 (</a:t>
            </a:r>
            <a:r>
              <a:rPr lang="ko-KR" altLang="en-US"/>
              <a:t>계속</a:t>
            </a:r>
            <a:r>
              <a:rPr lang="en-US" altLang="ko-KR"/>
              <a:t>)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B714E5-5FBF-45F2-A82D-FEA00BFF3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61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E10C68B-C6A0-4F80-8D09-A87CFE1F912A}"/>
              </a:ext>
            </a:extLst>
          </p:cNvPr>
          <p:cNvSpPr/>
          <p:nvPr/>
        </p:nvSpPr>
        <p:spPr>
          <a:xfrm>
            <a:off x="612648" y="1465989"/>
            <a:ext cx="8153400" cy="142732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pPr fontAlgn="base"/>
            <a:r>
              <a:rPr lang="fi-FI" altLang="ko-KR" sz="1400" b="1" dirty="0"/>
              <a:t>(myenv) pi@pi:~/ch06 $ python 6-11.py</a:t>
            </a:r>
          </a:p>
          <a:p>
            <a:pPr fontAlgn="base"/>
            <a:r>
              <a:rPr lang="en-US" altLang="ko-KR" sz="1400" dirty="0"/>
              <a:t>* Serving Flask app "6-11" (lazy loading)</a:t>
            </a:r>
          </a:p>
          <a:p>
            <a:pPr fontAlgn="base"/>
            <a:r>
              <a:rPr lang="en-US" altLang="ko-KR" sz="1400" dirty="0"/>
              <a:t>...(</a:t>
            </a:r>
            <a:r>
              <a:rPr lang="ko-KR" altLang="en-US" sz="1400" dirty="0"/>
              <a:t>생략</a:t>
            </a:r>
            <a:r>
              <a:rPr lang="en-US" altLang="ko-KR" sz="1400" dirty="0"/>
              <a:t>)</a:t>
            </a:r>
          </a:p>
          <a:p>
            <a:pPr fontAlgn="base"/>
            <a:r>
              <a:rPr lang="en-US" altLang="ko-KR" sz="1400" dirty="0"/>
              <a:t>* Debugger PIN: 156-042-313</a:t>
            </a:r>
          </a:p>
          <a:p>
            <a:pPr fontAlgn="base"/>
            <a:r>
              <a:rPr lang="en-US" altLang="ko-KR" sz="1400" dirty="0"/>
              <a:t>192.168.0.50 - - [19/May/2023 10:26:23] "GET / HTTP/1.1" 200 -</a:t>
            </a:r>
          </a:p>
          <a:p>
            <a:pPr fontAlgn="base"/>
            <a:r>
              <a:rPr lang="nl-NL" altLang="ko-KR" sz="1400" dirty="0"/>
              <a:t>192.168.0.50 - - [19/May/2023 10:26:59] "GET /calc?op1=20&amp;op=mul&amp;op2=30 HTTP/1.1" 200 -</a:t>
            </a:r>
            <a:endParaRPr lang="en-US" altLang="ko-KR" sz="14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A1640F4-B1AA-3CF9-182F-FD01B079A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19" y="3027075"/>
            <a:ext cx="5035806" cy="150746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53613BF-C9E9-DE45-3A66-00E6E58452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744" y="4293096"/>
            <a:ext cx="4768090" cy="142732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6ED57D2-BDF5-E6AE-E235-46E52461F27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3936"/>
          <a:stretch/>
        </p:blipFill>
        <p:spPr>
          <a:xfrm>
            <a:off x="3997958" y="5588611"/>
            <a:ext cx="4768090" cy="1152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31797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A25ECC-03A0-468B-BE13-1338AD6B9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680120"/>
          </a:xfrm>
        </p:spPr>
        <p:txBody>
          <a:bodyPr>
            <a:normAutofit/>
          </a:bodyPr>
          <a:lstStyle/>
          <a:p>
            <a:r>
              <a:rPr lang="en-US" altLang="ko-KR" dirty="0"/>
              <a:t>POST </a:t>
            </a:r>
            <a:r>
              <a:rPr lang="ko-KR" altLang="en-US" dirty="0"/>
              <a:t>방식으로 데이터 전송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56661D-0E7F-466F-9726-0DD86DA3AE1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/>
              <a:t>전송할 </a:t>
            </a:r>
            <a:r>
              <a:rPr lang="ko-KR" altLang="en-US" dirty="0"/>
              <a:t>데이터는 </a:t>
            </a:r>
            <a:r>
              <a:rPr lang="en-US" altLang="ko-KR" dirty="0"/>
              <a:t>URL</a:t>
            </a:r>
            <a:r>
              <a:rPr lang="ko-KR" altLang="en-US" dirty="0"/>
              <a:t>에 직접 입력할 수 없음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/>
              <a:t>웹 </a:t>
            </a:r>
            <a:r>
              <a:rPr lang="ko-KR" altLang="en-US" dirty="0"/>
              <a:t>서버로 </a:t>
            </a:r>
            <a:r>
              <a:rPr lang="ko-KR" altLang="en-US"/>
              <a:t>전송할 데이터</a:t>
            </a:r>
            <a:endParaRPr lang="en-US" altLang="ko-KR"/>
          </a:p>
          <a:p>
            <a:pPr lvl="1"/>
            <a:r>
              <a:rPr lang="ko-KR" altLang="en-US"/>
              <a:t>요청 </a:t>
            </a:r>
            <a:r>
              <a:rPr lang="ko-KR" altLang="en-US" dirty="0"/>
              <a:t>패킷의 </a:t>
            </a:r>
            <a:r>
              <a:rPr lang="ko-KR" altLang="en-US"/>
              <a:t>바디 부분에 전달</a:t>
            </a:r>
            <a:endParaRPr lang="en-US" altLang="ko-KR"/>
          </a:p>
          <a:p>
            <a:pPr lvl="1"/>
            <a:r>
              <a:rPr lang="ko-KR" altLang="en-US"/>
              <a:t>데이터의 </a:t>
            </a:r>
            <a:r>
              <a:rPr lang="ko-KR" altLang="en-US" dirty="0"/>
              <a:t>구성은 </a:t>
            </a:r>
            <a:r>
              <a:rPr lang="en-US" altLang="ko-KR" dirty="0"/>
              <a:t>name=</a:t>
            </a:r>
            <a:r>
              <a:rPr lang="en-US" altLang="ko-KR" dirty="0" err="1"/>
              <a:t>value&amp;name</a:t>
            </a:r>
            <a:r>
              <a:rPr lang="en-US" altLang="ko-KR" dirty="0"/>
              <a:t>=value</a:t>
            </a:r>
            <a:r>
              <a:rPr lang="en-US" altLang="ko-KR"/>
              <a:t>... </a:t>
            </a:r>
            <a:r>
              <a:rPr lang="ko-KR" altLang="en-US"/>
              <a:t>모양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en-US" altLang="ko-KR" dirty="0"/>
              <a:t>GET </a:t>
            </a:r>
            <a:r>
              <a:rPr lang="ko-KR" altLang="en-US" dirty="0"/>
              <a:t>방식과 동일</a:t>
            </a:r>
          </a:p>
          <a:p>
            <a:r>
              <a:rPr lang="ko-KR" altLang="en-US"/>
              <a:t>플라스크는 수신 패킷의 바디 부분 분석</a:t>
            </a:r>
            <a:endParaRPr lang="en-US" altLang="ko-KR"/>
          </a:p>
          <a:p>
            <a:pPr lvl="1"/>
            <a:r>
              <a:rPr lang="en-US" altLang="ko-KR"/>
              <a:t>request</a:t>
            </a:r>
            <a:r>
              <a:rPr lang="en-US" altLang="ko-KR" dirty="0" err="1"/>
              <a:t>.form</a:t>
            </a:r>
            <a:r>
              <a:rPr lang="ko-KR" altLang="en-US" dirty="0"/>
              <a:t>에 </a:t>
            </a:r>
            <a:r>
              <a:rPr lang="en-US" altLang="ko-KR" dirty="0"/>
              <a:t>{'num1': '100, 'op': 'plus', 'num2': '200'} </a:t>
            </a:r>
            <a:r>
              <a:rPr lang="ko-KR" altLang="en-US" dirty="0"/>
              <a:t>모양으로 저장</a:t>
            </a:r>
          </a:p>
          <a:p>
            <a:pPr lvl="1"/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2C8E4F-1CA1-4401-B022-56E9DD93D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62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6650A1C-4F69-4108-9BCF-CEA0AB39F128}"/>
              </a:ext>
            </a:extLst>
          </p:cNvPr>
          <p:cNvSpPr/>
          <p:nvPr/>
        </p:nvSpPr>
        <p:spPr>
          <a:xfrm>
            <a:off x="1023771" y="1844824"/>
            <a:ext cx="7364653" cy="107721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600" dirty="0"/>
              <a:t>&lt;form action="/calc" method="post"&gt;</a:t>
            </a:r>
          </a:p>
          <a:p>
            <a:pPr defTabSz="180000"/>
            <a:r>
              <a:rPr lang="en-US" altLang="ko-KR" sz="1600" dirty="0"/>
              <a:t>	...</a:t>
            </a:r>
          </a:p>
          <a:p>
            <a:pPr defTabSz="180000"/>
            <a:r>
              <a:rPr lang="en-US" altLang="ko-KR" sz="1600" dirty="0"/>
              <a:t>	&lt;</a:t>
            </a:r>
            <a:r>
              <a:rPr lang="en-US" altLang="ko-KR" sz="1600"/>
              <a:t>input value="</a:t>
            </a:r>
            <a:r>
              <a:rPr lang="ko-KR" altLang="en-US" sz="1600"/>
              <a:t>계산</a:t>
            </a:r>
            <a:r>
              <a:rPr lang="en-US" altLang="ko-KR" sz="1600" dirty="0"/>
              <a:t>" type="submit" /&gt;</a:t>
            </a:r>
          </a:p>
          <a:p>
            <a:pPr defTabSz="180000"/>
            <a:r>
              <a:rPr lang="en-US" altLang="ko-KR" sz="1600" dirty="0"/>
              <a:t>&lt;/form&gt;</a:t>
            </a:r>
          </a:p>
        </p:txBody>
      </p:sp>
    </p:spTree>
    <p:extLst>
      <p:ext uri="{BB962C8B-B14F-4D97-AF65-F5344CB8AC3E}">
        <p14:creationId xmlns:p14="http://schemas.microsoft.com/office/powerpoint/2010/main" val="412760313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14D9CB-9F07-42F4-9A0D-4D1F27B25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6-12 </a:t>
            </a:r>
            <a:r>
              <a:rPr lang="ko-KR" altLang="en-US" dirty="0"/>
              <a:t>폼 태그</a:t>
            </a:r>
            <a:r>
              <a:rPr lang="en-US" altLang="ko-KR" dirty="0"/>
              <a:t>(&lt;form&gt;)</a:t>
            </a:r>
            <a:r>
              <a:rPr lang="ko-KR" altLang="en-US" dirty="0"/>
              <a:t>를 이용하여 </a:t>
            </a:r>
            <a:r>
              <a:rPr lang="en-US" altLang="ko-KR" dirty="0"/>
              <a:t>POST </a:t>
            </a:r>
            <a:r>
              <a:rPr lang="ko-KR" altLang="en-US" dirty="0"/>
              <a:t>방식으로 웹 서버에 데이터 전송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9CFF11-C116-4467-A59C-A54EF253B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63</a:t>
            </a:fld>
            <a:endParaRPr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AA41FAA-21C7-4B6B-B287-44502CE14A0C}"/>
              </a:ext>
            </a:extLst>
          </p:cNvPr>
          <p:cNvSpPr/>
          <p:nvPr/>
        </p:nvSpPr>
        <p:spPr>
          <a:xfrm>
            <a:off x="524674" y="1404065"/>
            <a:ext cx="86629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이 예제에서는 예제 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6-11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의 상황을 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POST 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방식으로 구현한다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. 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예제를 실행하기 위한 웹 서버의 구성은 다음과 같다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.</a:t>
            </a:r>
            <a:endParaRPr lang="ko-KR" altLang="en-US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A2BB8BD-2C21-4683-B708-3926D620A832}"/>
              </a:ext>
            </a:extLst>
          </p:cNvPr>
          <p:cNvSpPr/>
          <p:nvPr/>
        </p:nvSpPr>
        <p:spPr>
          <a:xfrm>
            <a:off x="395536" y="2168043"/>
            <a:ext cx="140807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dirty="0"/>
              <a:t>postcalc.html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3BF5C74-2900-4E21-B531-95097A70ECE2}"/>
              </a:ext>
            </a:extLst>
          </p:cNvPr>
          <p:cNvSpPr/>
          <p:nvPr/>
        </p:nvSpPr>
        <p:spPr>
          <a:xfrm>
            <a:off x="530088" y="2541499"/>
            <a:ext cx="4203742" cy="30469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200" dirty="0"/>
              <a:t>&lt;!doctype html&gt;</a:t>
            </a:r>
          </a:p>
          <a:p>
            <a:pPr defTabSz="180000"/>
            <a:r>
              <a:rPr lang="en-US" altLang="ko-KR" sz="1200" dirty="0"/>
              <a:t>&lt;html&gt;</a:t>
            </a:r>
          </a:p>
          <a:p>
            <a:pPr defTabSz="180000"/>
            <a:r>
              <a:rPr lang="en-US" altLang="ko-KR" sz="1200" dirty="0"/>
              <a:t>	&lt;head&gt;</a:t>
            </a:r>
          </a:p>
          <a:p>
            <a:pPr defTabSz="180000"/>
            <a:r>
              <a:rPr lang="en-US" altLang="ko-KR" sz="1200" dirty="0"/>
              <a:t>		&lt;title&gt;POST </a:t>
            </a:r>
            <a:r>
              <a:rPr lang="ko-KR" altLang="en-US" sz="1200" dirty="0"/>
              <a:t>방식으로 데이터 전송</a:t>
            </a:r>
            <a:r>
              <a:rPr lang="en-US" altLang="ko-KR" sz="1200" dirty="0"/>
              <a:t>&lt;/title&gt;</a:t>
            </a:r>
          </a:p>
          <a:p>
            <a:pPr defTabSz="180000"/>
            <a:r>
              <a:rPr lang="en-US" altLang="ko-KR" sz="1200" dirty="0"/>
              <a:t>	&lt;/head&gt;</a:t>
            </a:r>
          </a:p>
          <a:p>
            <a:pPr defTabSz="180000"/>
            <a:r>
              <a:rPr lang="en-US" altLang="ko-KR" sz="1200" dirty="0"/>
              <a:t>&lt;body&gt;</a:t>
            </a:r>
          </a:p>
          <a:p>
            <a:pPr defTabSz="180000"/>
            <a:r>
              <a:rPr lang="en-US" altLang="ko-KR" sz="1200" dirty="0"/>
              <a:t>	&lt;h3&gt;POST </a:t>
            </a:r>
            <a:r>
              <a:rPr lang="ko-KR" altLang="en-US" sz="1200" dirty="0"/>
              <a:t>방식으로 사칙연산 처리</a:t>
            </a:r>
            <a:r>
              <a:rPr lang="en-US" altLang="ko-KR" sz="1200" dirty="0"/>
              <a:t>&lt;/h3&gt;</a:t>
            </a:r>
          </a:p>
          <a:p>
            <a:pPr defTabSz="180000"/>
            <a:r>
              <a:rPr lang="en-US" altLang="ko-KR" sz="1200" dirty="0"/>
              <a:t>	&lt;</a:t>
            </a:r>
            <a:r>
              <a:rPr lang="en-US" altLang="ko-KR" sz="1200" dirty="0" err="1"/>
              <a:t>hr</a:t>
            </a:r>
            <a:r>
              <a:rPr lang="en-US" altLang="ko-KR" sz="1200" dirty="0"/>
              <a:t>&gt;</a:t>
            </a:r>
          </a:p>
          <a:p>
            <a:pPr defTabSz="180000"/>
            <a:r>
              <a:rPr lang="en-US" altLang="ko-KR" sz="1200" dirty="0"/>
              <a:t>	&lt;form action="/calc" method="post"&gt;</a:t>
            </a:r>
          </a:p>
          <a:p>
            <a:pPr defTabSz="180000"/>
            <a:r>
              <a:rPr lang="en-US" altLang="ko-KR" sz="1200" dirty="0"/>
              <a:t>		&lt;input name="op1" value="100" type="text" /&gt;</a:t>
            </a:r>
          </a:p>
          <a:p>
            <a:pPr defTabSz="180000"/>
            <a:r>
              <a:rPr lang="en-US" altLang="ko-KR" sz="1200" dirty="0"/>
              <a:t>		&lt;input name="op" value="plus" type="text" /&gt;</a:t>
            </a:r>
          </a:p>
          <a:p>
            <a:pPr defTabSz="180000"/>
            <a:r>
              <a:rPr lang="en-US" altLang="ko-KR" sz="1200" dirty="0"/>
              <a:t>		&lt;input name="op2" value="200" type="text" /&gt;</a:t>
            </a:r>
          </a:p>
          <a:p>
            <a:pPr defTabSz="180000"/>
            <a:r>
              <a:rPr lang="en-US" altLang="ko-KR" sz="1200" dirty="0"/>
              <a:t>		&lt;input value="</a:t>
            </a:r>
            <a:r>
              <a:rPr lang="ko-KR" altLang="en-US" sz="1200" dirty="0"/>
              <a:t>계산</a:t>
            </a:r>
            <a:r>
              <a:rPr lang="en-US" altLang="ko-KR" sz="1200" dirty="0"/>
              <a:t>" type="submit" /&gt;</a:t>
            </a:r>
          </a:p>
          <a:p>
            <a:pPr defTabSz="180000"/>
            <a:r>
              <a:rPr lang="en-US" altLang="ko-KR" sz="1200" dirty="0"/>
              <a:t>	&lt;/form&gt;</a:t>
            </a:r>
          </a:p>
          <a:p>
            <a:pPr defTabSz="180000"/>
            <a:r>
              <a:rPr lang="en-US" altLang="ko-KR" sz="1200" dirty="0"/>
              <a:t>&lt;/body&gt;</a:t>
            </a:r>
          </a:p>
          <a:p>
            <a:pPr defTabSz="180000"/>
            <a:r>
              <a:rPr lang="en-US" altLang="ko-KR" sz="1200" dirty="0"/>
              <a:t>&lt;/html&gt;</a:t>
            </a:r>
          </a:p>
        </p:txBody>
      </p:sp>
      <p:pic>
        <p:nvPicPr>
          <p:cNvPr id="59" name="Picture 3">
            <a:extLst>
              <a:ext uri="{FF2B5EF4-FFF2-40B4-BE49-F238E27FC236}">
                <a16:creationId xmlns:a16="http://schemas.microsoft.com/office/drawing/2014/main" id="{BD32AD66-1800-48CF-AC20-552A8FF01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359" y="5720966"/>
            <a:ext cx="6444482" cy="948394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  <a:effectLst/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FCF62776-7FE8-4978-A05A-70B226BD4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025" y="2541499"/>
            <a:ext cx="4320480" cy="2061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27168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091B6E-3C14-41CD-AE17-6F2EF7223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예제 </a:t>
            </a:r>
            <a:r>
              <a:rPr lang="en-US" altLang="ko-KR"/>
              <a:t>6-12 (</a:t>
            </a:r>
            <a:r>
              <a:rPr lang="ko-KR" altLang="en-US"/>
              <a:t>계속</a:t>
            </a:r>
            <a:r>
              <a:rPr lang="en-US" altLang="ko-KR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77F894-7206-4558-A7A0-A90690D80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64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AF93718-52D3-47F4-83D9-462C1CCD2048}"/>
              </a:ext>
            </a:extLst>
          </p:cNvPr>
          <p:cNvSpPr/>
          <p:nvPr/>
        </p:nvSpPr>
        <p:spPr>
          <a:xfrm>
            <a:off x="612648" y="1772816"/>
            <a:ext cx="8010472" cy="44935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100" dirty="0"/>
              <a:t>from flask import Flask, request, </a:t>
            </a:r>
            <a:r>
              <a:rPr lang="en-US" altLang="ko-KR" sz="1100" dirty="0" err="1"/>
              <a:t>render_template</a:t>
            </a:r>
            <a:endParaRPr lang="en-US" altLang="ko-KR" sz="1100" dirty="0"/>
          </a:p>
          <a:p>
            <a:pPr defTabSz="180000"/>
            <a:r>
              <a:rPr lang="en-US" altLang="ko-KR" sz="1100" dirty="0"/>
              <a:t>app = Flask(__name__)</a:t>
            </a:r>
          </a:p>
          <a:p>
            <a:pPr defTabSz="180000"/>
            <a:r>
              <a:rPr lang="en-US" altLang="ko-KR" sz="1100" dirty="0"/>
              <a:t>@</a:t>
            </a:r>
            <a:r>
              <a:rPr lang="en-US" altLang="ko-KR" sz="1100" dirty="0" err="1"/>
              <a:t>app.route</a:t>
            </a:r>
            <a:r>
              <a:rPr lang="en-US" altLang="ko-KR" sz="1100" dirty="0"/>
              <a:t>('/')</a:t>
            </a:r>
          </a:p>
          <a:p>
            <a:pPr defTabSz="180000"/>
            <a:r>
              <a:rPr lang="en-US" altLang="ko-KR" sz="1100" dirty="0"/>
              <a:t>def </a:t>
            </a:r>
            <a:r>
              <a:rPr lang="en-US" altLang="ko-KR" sz="1100" dirty="0" err="1"/>
              <a:t>init</a:t>
            </a:r>
            <a:r>
              <a:rPr lang="en-US" altLang="ko-KR" sz="1100" dirty="0"/>
              <a:t>( ):</a:t>
            </a:r>
          </a:p>
          <a:p>
            <a:pPr defTabSz="180000"/>
            <a:r>
              <a:rPr lang="en-US" altLang="ko-KR" sz="1100" dirty="0"/>
              <a:t>	return </a:t>
            </a:r>
            <a:r>
              <a:rPr lang="en-US" altLang="ko-KR" sz="1100" dirty="0" err="1"/>
              <a:t>render_template</a:t>
            </a:r>
            <a:r>
              <a:rPr lang="en-US" altLang="ko-KR" sz="1100" dirty="0"/>
              <a:t>("postcalc.html")</a:t>
            </a:r>
          </a:p>
          <a:p>
            <a:pPr defTabSz="180000"/>
            <a:r>
              <a:rPr lang="en-US" altLang="ko-KR" sz="1100" dirty="0"/>
              <a:t>@</a:t>
            </a:r>
            <a:r>
              <a:rPr lang="en-US" altLang="ko-KR" sz="1100" dirty="0" err="1"/>
              <a:t>app.route</a:t>
            </a:r>
            <a:r>
              <a:rPr lang="en-US" altLang="ko-KR" sz="1100" dirty="0"/>
              <a:t>('/calc', methods=['POST']) # method</a:t>
            </a:r>
            <a:r>
              <a:rPr lang="ko-KR" altLang="en-US" sz="1100" dirty="0"/>
              <a:t>가 </a:t>
            </a:r>
            <a:r>
              <a:rPr lang="en-US" altLang="ko-KR" sz="1100" dirty="0"/>
              <a:t>POST </a:t>
            </a:r>
            <a:r>
              <a:rPr lang="ko-KR" altLang="en-US" sz="1100" dirty="0"/>
              <a:t>인 경우만 라우팅</a:t>
            </a:r>
          </a:p>
          <a:p>
            <a:pPr defTabSz="180000"/>
            <a:r>
              <a:rPr lang="en-US" altLang="ko-KR" sz="1100" dirty="0"/>
              <a:t>def calc( ):</a:t>
            </a:r>
          </a:p>
          <a:p>
            <a:pPr defTabSz="180000"/>
            <a:r>
              <a:rPr lang="en-US" altLang="ko-KR" sz="1100" dirty="0"/>
              <a:t>	op1 = </a:t>
            </a:r>
            <a:r>
              <a:rPr lang="en-US" altLang="ko-KR" sz="1100" dirty="0" err="1"/>
              <a:t>request.form</a:t>
            </a:r>
            <a:r>
              <a:rPr lang="en-US" altLang="ko-KR" sz="1100" dirty="0"/>
              <a:t>['op1'] # 'op1' </a:t>
            </a:r>
            <a:r>
              <a:rPr lang="ko-KR" altLang="en-US" sz="1100" dirty="0"/>
              <a:t>키에 대한 데이터</a:t>
            </a:r>
          </a:p>
          <a:p>
            <a:pPr defTabSz="180000"/>
            <a:r>
              <a:rPr lang="en-US" altLang="ko-KR" sz="1100" dirty="0"/>
              <a:t>	op2 = </a:t>
            </a:r>
            <a:r>
              <a:rPr lang="en-US" altLang="ko-KR" sz="1100" dirty="0" err="1"/>
              <a:t>request.form</a:t>
            </a:r>
            <a:r>
              <a:rPr lang="en-US" altLang="ko-KR" sz="1100" dirty="0"/>
              <a:t>['op2'] # 'op2' </a:t>
            </a:r>
            <a:r>
              <a:rPr lang="ko-KR" altLang="en-US" sz="1100" dirty="0"/>
              <a:t>키에 대한 데이터</a:t>
            </a:r>
          </a:p>
          <a:p>
            <a:pPr defTabSz="180000"/>
            <a:r>
              <a:rPr lang="en-US" altLang="ko-KR" sz="1100" dirty="0"/>
              <a:t>	op = </a:t>
            </a:r>
            <a:r>
              <a:rPr lang="en-US" altLang="ko-KR" sz="1100" dirty="0" err="1"/>
              <a:t>request.form</a:t>
            </a:r>
            <a:r>
              <a:rPr lang="en-US" altLang="ko-KR" sz="1100" dirty="0"/>
              <a:t>['op'] # 'op' </a:t>
            </a:r>
            <a:r>
              <a:rPr lang="ko-KR" altLang="en-US" sz="1100" dirty="0"/>
              <a:t>키에 대한 데이터</a:t>
            </a:r>
          </a:p>
          <a:p>
            <a:pPr defTabSz="180000"/>
            <a:r>
              <a:rPr lang="en-US" altLang="ko-KR" sz="1100" dirty="0"/>
              <a:t>	num1 = int(op1) # </a:t>
            </a:r>
            <a:r>
              <a:rPr lang="ko-KR" altLang="en-US" sz="1100" dirty="0"/>
              <a:t>정수로 변환</a:t>
            </a:r>
          </a:p>
          <a:p>
            <a:pPr defTabSz="180000"/>
            <a:r>
              <a:rPr lang="en-US" altLang="ko-KR" sz="1100" dirty="0"/>
              <a:t>	num2 = int(op2) # </a:t>
            </a:r>
            <a:r>
              <a:rPr lang="ko-KR" altLang="en-US" sz="1100" dirty="0"/>
              <a:t>정수로 변환</a:t>
            </a:r>
          </a:p>
          <a:p>
            <a:pPr defTabSz="180000"/>
            <a:r>
              <a:rPr lang="en-US" altLang="ko-KR" sz="1100" dirty="0"/>
              <a:t>	if op == 'plus':</a:t>
            </a:r>
          </a:p>
          <a:p>
            <a:pPr defTabSz="180000"/>
            <a:r>
              <a:rPr lang="pt-BR" altLang="ko-KR" sz="1100" dirty="0"/>
              <a:t>		return "&lt;h2&gt;%d + %d= %d&lt;/h2&gt;" % (num1, num2, num1+num2)</a:t>
            </a:r>
          </a:p>
          <a:p>
            <a:pPr defTabSz="180000"/>
            <a:r>
              <a:rPr lang="en-US" altLang="ko-KR" sz="1100" dirty="0"/>
              <a:t>	</a:t>
            </a:r>
            <a:r>
              <a:rPr lang="en-US" altLang="ko-KR" sz="1100" dirty="0" err="1"/>
              <a:t>elif</a:t>
            </a:r>
            <a:r>
              <a:rPr lang="en-US" altLang="ko-KR" sz="1100" dirty="0"/>
              <a:t> op == 'minus':</a:t>
            </a:r>
          </a:p>
          <a:p>
            <a:pPr defTabSz="180000"/>
            <a:r>
              <a:rPr lang="pt-BR" altLang="ko-KR" sz="1100" dirty="0"/>
              <a:t>		return "&lt;h2&gt;%d - %d= %d&lt;/h2&gt;" % (num1, num2, num1-num2)</a:t>
            </a:r>
          </a:p>
          <a:p>
            <a:pPr defTabSz="180000"/>
            <a:r>
              <a:rPr lang="en-US" altLang="ko-KR" sz="1100" dirty="0"/>
              <a:t>	</a:t>
            </a:r>
            <a:r>
              <a:rPr lang="en-US" altLang="ko-KR" sz="1100" dirty="0" err="1"/>
              <a:t>elif</a:t>
            </a:r>
            <a:r>
              <a:rPr lang="en-US" altLang="ko-KR" sz="1100" dirty="0"/>
              <a:t> op == '</a:t>
            </a:r>
            <a:r>
              <a:rPr lang="en-US" altLang="ko-KR" sz="1100" dirty="0" err="1"/>
              <a:t>mul</a:t>
            </a:r>
            <a:r>
              <a:rPr lang="en-US" altLang="ko-KR" sz="1100" dirty="0"/>
              <a:t>':</a:t>
            </a:r>
          </a:p>
          <a:p>
            <a:pPr defTabSz="180000"/>
            <a:r>
              <a:rPr lang="pt-BR" altLang="ko-KR" sz="1100" dirty="0"/>
              <a:t>		return "&lt;h2&gt;%d * %d= %d&lt;/h2&gt;" % (num1, num2, num1*num2)</a:t>
            </a:r>
          </a:p>
          <a:p>
            <a:pPr defTabSz="180000"/>
            <a:r>
              <a:rPr lang="en-US" altLang="ko-KR" sz="1100" dirty="0"/>
              <a:t>	</a:t>
            </a:r>
            <a:r>
              <a:rPr lang="en-US" altLang="ko-KR" sz="1100" dirty="0" err="1"/>
              <a:t>elif</a:t>
            </a:r>
            <a:r>
              <a:rPr lang="en-US" altLang="ko-KR" sz="1100" dirty="0"/>
              <a:t> op == 'div':</a:t>
            </a:r>
          </a:p>
          <a:p>
            <a:pPr defTabSz="180000"/>
            <a:r>
              <a:rPr lang="en-US" altLang="ko-KR" sz="1100" dirty="0"/>
              <a:t>		if num2 == 0:</a:t>
            </a:r>
          </a:p>
          <a:p>
            <a:pPr defTabSz="180000"/>
            <a:r>
              <a:rPr lang="en-US" altLang="ko-KR" sz="1100" dirty="0"/>
              <a:t>			return "&lt;h2&gt;0</a:t>
            </a:r>
            <a:r>
              <a:rPr lang="ko-KR" altLang="en-US" sz="1100" dirty="0"/>
              <a:t>으로 나눌 수 없습니다</a:t>
            </a:r>
            <a:r>
              <a:rPr lang="en-US" altLang="ko-KR" sz="1100" dirty="0"/>
              <a:t>.&lt;/h2&gt;"</a:t>
            </a:r>
          </a:p>
          <a:p>
            <a:pPr defTabSz="180000"/>
            <a:r>
              <a:rPr lang="pt-BR" altLang="ko-KR" sz="1100" dirty="0"/>
              <a:t>		return "&lt;h2&gt;%d / %d= %f&lt;/h2&gt;" % (num1, num2, num1/num2)</a:t>
            </a:r>
          </a:p>
          <a:p>
            <a:pPr defTabSz="180000"/>
            <a:r>
              <a:rPr lang="en-US" altLang="ko-KR" sz="1100" dirty="0"/>
              <a:t>	else:</a:t>
            </a:r>
          </a:p>
          <a:p>
            <a:pPr defTabSz="180000"/>
            <a:r>
              <a:rPr lang="en-US" altLang="ko-KR" sz="1100" dirty="0"/>
              <a:t>		return "&lt;h2&gt;</a:t>
            </a:r>
            <a:r>
              <a:rPr lang="ko-KR" altLang="en-US" sz="1100" dirty="0"/>
              <a:t>잘못된 연산자입니다</a:t>
            </a:r>
            <a:r>
              <a:rPr lang="en-US" altLang="ko-KR" sz="1100" dirty="0"/>
              <a:t>.&lt;/h2&gt;"</a:t>
            </a:r>
          </a:p>
          <a:p>
            <a:pPr defTabSz="180000"/>
            <a:r>
              <a:rPr lang="en-US" altLang="ko-KR" sz="1100" dirty="0"/>
              <a:t>if __name__ == '__main__':</a:t>
            </a:r>
          </a:p>
          <a:p>
            <a:pPr defTabSz="180000"/>
            <a:r>
              <a:rPr lang="da-DK" altLang="ko-KR" sz="1100" dirty="0"/>
              <a:t>	app.run(host='0.0.0.0', port=8080, debug=True)</a:t>
            </a:r>
            <a:endParaRPr lang="en-US" altLang="ko-KR" sz="11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1374CDB-4AA6-4EDF-B393-4C20705F083F}"/>
              </a:ext>
            </a:extLst>
          </p:cNvPr>
          <p:cNvSpPr/>
          <p:nvPr/>
        </p:nvSpPr>
        <p:spPr>
          <a:xfrm>
            <a:off x="520497" y="1412776"/>
            <a:ext cx="88036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altLang="ko-KR" sz="1600" dirty="0"/>
              <a:t>6-12.py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03347677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25AF50-0F53-4A3F-97EE-9DCCB11FB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예제 </a:t>
            </a:r>
            <a:r>
              <a:rPr lang="en-US" altLang="ko-KR"/>
              <a:t>6-12 (</a:t>
            </a:r>
            <a:r>
              <a:rPr lang="ko-KR" altLang="en-US"/>
              <a:t>계속</a:t>
            </a:r>
            <a:r>
              <a:rPr lang="en-US" altLang="ko-KR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612710-EE65-4B45-BB40-3B9F06E66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65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65F498-F775-4668-AE8E-5DBCF0B1308A}"/>
              </a:ext>
            </a:extLst>
          </p:cNvPr>
          <p:cNvSpPr/>
          <p:nvPr/>
        </p:nvSpPr>
        <p:spPr>
          <a:xfrm>
            <a:off x="622209" y="1423520"/>
            <a:ext cx="8153401" cy="142941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pPr fontAlgn="base"/>
            <a:r>
              <a:rPr lang="fi-FI" altLang="ko-KR" sz="1400" b="1" dirty="0"/>
              <a:t>(myenv) pi@pi:~/ch06 $ python 6-12.py</a:t>
            </a:r>
          </a:p>
          <a:p>
            <a:pPr fontAlgn="base"/>
            <a:r>
              <a:rPr lang="en-US" altLang="ko-KR" sz="1400" dirty="0"/>
              <a:t>* Serving Flask app "6-12" (lazy loading)</a:t>
            </a:r>
          </a:p>
          <a:p>
            <a:pPr fontAlgn="base"/>
            <a:r>
              <a:rPr lang="en-US" altLang="ko-KR" sz="1400" dirty="0"/>
              <a:t>...(</a:t>
            </a:r>
            <a:r>
              <a:rPr lang="ko-KR" altLang="en-US" sz="1400" dirty="0"/>
              <a:t>생략</a:t>
            </a:r>
            <a:r>
              <a:rPr lang="en-US" altLang="ko-KR" sz="1400" dirty="0"/>
              <a:t>)</a:t>
            </a:r>
          </a:p>
          <a:p>
            <a:pPr fontAlgn="base"/>
            <a:r>
              <a:rPr lang="en-US" altLang="ko-KR" sz="1400" dirty="0"/>
              <a:t>* Debugger PIN: 156-042-313</a:t>
            </a:r>
          </a:p>
          <a:p>
            <a:pPr fontAlgn="base"/>
            <a:r>
              <a:rPr lang="en-US" altLang="ko-KR" sz="1400" dirty="0"/>
              <a:t>192.168.0.50 - - [19/May/2023 11:52:34] "GET / HTTP/1.1" 200 -</a:t>
            </a:r>
          </a:p>
          <a:p>
            <a:pPr fontAlgn="base"/>
            <a:r>
              <a:rPr lang="en-US" altLang="ko-KR" sz="1400" dirty="0"/>
              <a:t>192.168.0.50 - - [19/May/2023 11:52:36] "POST /calc HTTP/1.1" 200 -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9D9F6AD-4F7F-7448-8D22-1D6693145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209" y="2961477"/>
            <a:ext cx="4358280" cy="138604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7591BE8-08ED-8BA4-FB33-446BB790FF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752" y="4230310"/>
            <a:ext cx="4358280" cy="139264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4B644C5-6CAA-5692-096A-A33AF2D6DB5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1888"/>
          <a:stretch/>
        </p:blipFill>
        <p:spPr>
          <a:xfrm>
            <a:off x="4417331" y="5569974"/>
            <a:ext cx="4358280" cy="1087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41116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446007C-B8D5-45FB-A229-2DC48626E4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48BA99D-0E81-40F2-8FC8-6A7E4B284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z="2800"/>
              <a:t>6.6 </a:t>
            </a:r>
            <a:r>
              <a:rPr lang="ko-KR" altLang="en-US" sz="2800"/>
              <a:t>플라스크 종합 응용</a:t>
            </a:r>
            <a:r>
              <a:rPr lang="en-US" altLang="ko-KR" sz="2800"/>
              <a:t> – </a:t>
            </a:r>
            <a:r>
              <a:rPr lang="ko-KR" altLang="en-US" sz="2800"/>
              <a:t>원격 카메라 촬영 및 </a:t>
            </a:r>
            <a:r>
              <a:rPr lang="en-US" altLang="ko-KR" sz="2800"/>
              <a:t>CCTV </a:t>
            </a:r>
            <a:r>
              <a:rPr lang="ko-KR" altLang="en-US" sz="2800"/>
              <a:t>웹 서버 만들기</a:t>
            </a:r>
            <a:endParaRPr lang="ko-KR" altLang="en-US" sz="28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F3F4FD-02E4-4DA6-8B7A-21270EB2A17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pPr/>
              <a:t>66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938969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D6A68B-E615-4CF4-BC3E-08E0C8D34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프로그램 구조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C079DF-1ED3-4885-AAF1-3CBA5C8F64D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/>
              <a:t>웹서버 </a:t>
            </a:r>
            <a:r>
              <a:rPr lang="ko-KR" altLang="en-US" dirty="0"/>
              <a:t>구조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 fontAlgn="base"/>
            <a:r>
              <a:rPr lang="en-US" altLang="ko-KR"/>
              <a:t>camera.py</a:t>
            </a:r>
          </a:p>
          <a:p>
            <a:pPr lvl="2" fontAlgn="base"/>
            <a:r>
              <a:rPr lang="ko-KR" altLang="en-US"/>
              <a:t>사진을 </a:t>
            </a:r>
            <a:r>
              <a:rPr lang="ko-KR" altLang="en-US" dirty="0"/>
              <a:t>촬영하는 </a:t>
            </a:r>
            <a:r>
              <a:rPr lang="ko-KR" altLang="en-US" dirty="0" err="1"/>
              <a:t>파이썬</a:t>
            </a:r>
            <a:r>
              <a:rPr lang="ko-KR" altLang="en-US" dirty="0"/>
              <a:t> 코드 부분</a:t>
            </a:r>
          </a:p>
          <a:p>
            <a:pPr lvl="1" fontAlgn="base"/>
            <a:r>
              <a:rPr lang="en-US" altLang="ko-KR" dirty="0"/>
              <a:t>cctvapp.</a:t>
            </a:r>
            <a:r>
              <a:rPr lang="en-US" altLang="ko-KR"/>
              <a:t>py </a:t>
            </a:r>
          </a:p>
          <a:p>
            <a:pPr lvl="2" fontAlgn="base"/>
            <a:r>
              <a:rPr lang="ko-KR" altLang="en-US"/>
              <a:t>플라스크를 </a:t>
            </a:r>
            <a:r>
              <a:rPr lang="ko-KR" altLang="en-US" dirty="0"/>
              <a:t>활용한 웹 서버 응용프로그램</a:t>
            </a:r>
            <a:r>
              <a:rPr lang="en-US" altLang="ko-KR" dirty="0"/>
              <a:t>. camera.py</a:t>
            </a:r>
            <a:r>
              <a:rPr lang="ko-KR" altLang="en-US" dirty="0"/>
              <a:t>를 </a:t>
            </a:r>
            <a:r>
              <a:rPr lang="ko-KR" altLang="en-US" dirty="0" err="1"/>
              <a:t>임포트하여</a:t>
            </a:r>
            <a:r>
              <a:rPr lang="ko-KR" altLang="en-US" dirty="0"/>
              <a:t> 사진 촬영</a:t>
            </a:r>
          </a:p>
          <a:p>
            <a:pPr lvl="1" fontAlgn="base"/>
            <a:r>
              <a:rPr lang="en-US" altLang="ko-KR" dirty="0"/>
              <a:t>cctv.</a:t>
            </a:r>
            <a:r>
              <a:rPr lang="en-US" altLang="ko-KR"/>
              <a:t>html </a:t>
            </a:r>
          </a:p>
          <a:p>
            <a:pPr lvl="2" fontAlgn="base"/>
            <a:r>
              <a:rPr lang="ko-KR" altLang="en-US"/>
              <a:t>템플릿 </a:t>
            </a:r>
            <a:r>
              <a:rPr lang="en-US" altLang="ko-KR" dirty="0"/>
              <a:t>HTML </a:t>
            </a:r>
            <a:r>
              <a:rPr lang="ko-KR" altLang="en-US" dirty="0"/>
              <a:t>파일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4E6D37-658B-47AC-831C-1F65556D4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67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81FC715-790A-4852-A108-151B907D0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5816" y="1628800"/>
            <a:ext cx="5312368" cy="2579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5174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48BC4A-0B24-4765-8602-ECC80B0C3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동작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2745C2-9E79-4DC9-9CB8-0B713029A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68</a:t>
            </a:fld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CF0963B-62D4-4E92-B6BD-4AAEA0365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675" y="1916832"/>
            <a:ext cx="7876020" cy="4038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38502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7105B1-E219-41BD-8416-CC6EADC2F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동작 과정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65B310-046D-4162-AA87-9005D8ACB7F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55000" lnSpcReduction="20000"/>
          </a:bodyPr>
          <a:lstStyle/>
          <a:p>
            <a:pPr lvl="1" fontAlgn="base">
              <a:lnSpc>
                <a:spcPct val="120000"/>
              </a:lnSpc>
            </a:pPr>
            <a:r>
              <a:rPr lang="en-US" altLang="ko-KR" sz="2600"/>
              <a:t>(</a:t>
            </a:r>
            <a:r>
              <a:rPr lang="en-US" altLang="ko-KR" sz="2600" dirty="0"/>
              <a:t>1) </a:t>
            </a:r>
            <a:r>
              <a:rPr lang="ko-KR" altLang="en-US" sz="2600" dirty="0"/>
              <a:t>웹 브라우저에서 </a:t>
            </a:r>
            <a:r>
              <a:rPr lang="ko-KR" altLang="en-US" sz="2600" dirty="0" err="1"/>
              <a:t>라즈베리파이의</a:t>
            </a:r>
            <a:r>
              <a:rPr lang="ko-KR" altLang="en-US" sz="2600" dirty="0"/>
              <a:t> </a:t>
            </a:r>
            <a:r>
              <a:rPr lang="en-US" altLang="ko-KR" sz="2600" dirty="0"/>
              <a:t>8080 </a:t>
            </a:r>
            <a:r>
              <a:rPr lang="ko-KR" altLang="en-US" sz="2600" dirty="0"/>
              <a:t>포트에 접속하고 사진 촬영을 </a:t>
            </a:r>
            <a:r>
              <a:rPr lang="ko-KR" altLang="en-US" sz="2600"/>
              <a:t>요청하는 </a:t>
            </a:r>
            <a:r>
              <a:rPr lang="en-US" altLang="ko-KR" sz="2600"/>
              <a:t>URL</a:t>
            </a:r>
            <a:r>
              <a:rPr lang="ko-KR" altLang="en-US" sz="2600"/>
              <a:t> 전송</a:t>
            </a:r>
            <a:endParaRPr lang="ko-KR" altLang="en-US" sz="2600" dirty="0"/>
          </a:p>
          <a:p>
            <a:pPr lvl="1" fontAlgn="base">
              <a:lnSpc>
                <a:spcPct val="120000"/>
              </a:lnSpc>
            </a:pPr>
            <a:r>
              <a:rPr lang="en-US" altLang="ko-KR" sz="2600" dirty="0"/>
              <a:t>(2) cctvapp.py</a:t>
            </a:r>
            <a:r>
              <a:rPr lang="ko-KR" altLang="en-US" sz="2600" dirty="0"/>
              <a:t>의 </a:t>
            </a:r>
            <a:r>
              <a:rPr lang="en-US" altLang="ko-KR" sz="2600" dirty="0" err="1"/>
              <a:t>cctv</a:t>
            </a:r>
            <a:r>
              <a:rPr lang="en-US" altLang="ko-KR" sz="2600" dirty="0"/>
              <a:t>() </a:t>
            </a:r>
            <a:r>
              <a:rPr lang="ko-KR" altLang="en-US" sz="2600" dirty="0"/>
              <a:t>함수가 실행되고</a:t>
            </a:r>
            <a:r>
              <a:rPr lang="en-US" altLang="ko-KR" sz="2600" dirty="0"/>
              <a:t>, </a:t>
            </a:r>
            <a:r>
              <a:rPr lang="en-US" altLang="ko-KR" sz="2600" dirty="0" err="1"/>
              <a:t>cctv</a:t>
            </a:r>
            <a:r>
              <a:rPr lang="en-US" altLang="ko-KR" sz="2600" dirty="0"/>
              <a:t>() </a:t>
            </a:r>
            <a:r>
              <a:rPr lang="ko-KR" altLang="en-US" sz="2600" dirty="0"/>
              <a:t>함수는 카메라 사진을 </a:t>
            </a:r>
            <a:r>
              <a:rPr lang="ko-KR" altLang="en-US" sz="2600" dirty="0" err="1"/>
              <a:t>찰영하기</a:t>
            </a:r>
            <a:r>
              <a:rPr lang="ko-KR" altLang="en-US" sz="2600" dirty="0"/>
              <a:t> 위해 </a:t>
            </a:r>
            <a:r>
              <a:rPr lang="en-US" altLang="ko-KR" sz="2600" dirty="0"/>
              <a:t>camera.py</a:t>
            </a:r>
            <a:r>
              <a:rPr lang="ko-KR" altLang="en-US" sz="2600" dirty="0"/>
              <a:t>에 작성된 </a:t>
            </a:r>
            <a:r>
              <a:rPr lang="en-US" altLang="ko-KR" sz="2600" dirty="0" err="1"/>
              <a:t>take_picture</a:t>
            </a:r>
            <a:r>
              <a:rPr lang="en-US" altLang="ko-KR" sz="2600" dirty="0"/>
              <a:t>() </a:t>
            </a:r>
            <a:r>
              <a:rPr lang="ko-KR" altLang="en-US" sz="2600" dirty="0"/>
              <a:t>함수를 호출하여 </a:t>
            </a:r>
            <a:r>
              <a:rPr lang="ko-KR" altLang="en-US" sz="2600"/>
              <a:t>카메라로 사진 촬영</a:t>
            </a:r>
            <a:endParaRPr lang="ko-KR" altLang="en-US" sz="2600" dirty="0"/>
          </a:p>
          <a:p>
            <a:pPr lvl="1" fontAlgn="base">
              <a:lnSpc>
                <a:spcPct val="120000"/>
              </a:lnSpc>
            </a:pPr>
            <a:r>
              <a:rPr lang="en-US" altLang="ko-KR" sz="2600" dirty="0"/>
              <a:t>(3) </a:t>
            </a:r>
            <a:r>
              <a:rPr lang="en-US" altLang="ko-KR" sz="2600" dirty="0" err="1"/>
              <a:t>take_picture</a:t>
            </a:r>
            <a:r>
              <a:rPr lang="en-US" altLang="ko-KR" sz="2600" dirty="0"/>
              <a:t>() </a:t>
            </a:r>
            <a:r>
              <a:rPr lang="ko-KR" altLang="en-US" sz="2600" dirty="0"/>
              <a:t>함수는 사진 촬영 후 사진의 </a:t>
            </a:r>
            <a:r>
              <a:rPr lang="ko-KR" altLang="en-US" sz="2600"/>
              <a:t>이미지 데이터 리턴</a:t>
            </a:r>
            <a:endParaRPr lang="ko-KR" altLang="en-US" sz="2600" dirty="0"/>
          </a:p>
          <a:p>
            <a:pPr lvl="1" fontAlgn="base">
              <a:lnSpc>
                <a:spcPct val="120000"/>
              </a:lnSpc>
            </a:pPr>
            <a:r>
              <a:rPr lang="en-US" altLang="ko-KR" sz="2600" dirty="0"/>
              <a:t>(4) </a:t>
            </a:r>
            <a:r>
              <a:rPr lang="en-US" altLang="ko-KR" sz="2600" dirty="0" err="1"/>
              <a:t>cctv</a:t>
            </a:r>
            <a:r>
              <a:rPr lang="en-US" altLang="ko-KR" sz="2600" dirty="0"/>
              <a:t>() </a:t>
            </a:r>
            <a:r>
              <a:rPr lang="ko-KR" altLang="en-US" sz="2600" dirty="0"/>
              <a:t>함수는 </a:t>
            </a:r>
            <a:r>
              <a:rPr lang="ko-KR" altLang="en-US" sz="2600" dirty="0" err="1"/>
              <a:t>리턴받은</a:t>
            </a:r>
            <a:r>
              <a:rPr lang="ko-KR" altLang="en-US" sz="2600" dirty="0"/>
              <a:t> 이미지 데이터를 </a:t>
            </a:r>
            <a:r>
              <a:rPr lang="en-US" altLang="ko-KR" sz="2600" dirty="0"/>
              <a:t>./static </a:t>
            </a:r>
            <a:r>
              <a:rPr lang="ko-KR" altLang="en-US" sz="2600" dirty="0"/>
              <a:t>디렉터리에 </a:t>
            </a:r>
            <a:r>
              <a:rPr lang="en-US" altLang="ko-KR" sz="2600" dirty="0"/>
              <a:t>jpg </a:t>
            </a:r>
            <a:r>
              <a:rPr lang="ko-KR" altLang="en-US" sz="2600"/>
              <a:t>파일로 저장</a:t>
            </a:r>
            <a:r>
              <a:rPr lang="en-US" altLang="ko-KR" sz="2600"/>
              <a:t>. </a:t>
            </a:r>
            <a:r>
              <a:rPr lang="en-US" altLang="ko-KR" sz="2600" dirty="0"/>
              <a:t>jpg </a:t>
            </a:r>
            <a:r>
              <a:rPr lang="ko-KR" altLang="en-US" sz="2600" dirty="0"/>
              <a:t>파일의 이름은 현재 시간 </a:t>
            </a:r>
            <a:r>
              <a:rPr lang="ko-KR" altLang="en-US" sz="2600"/>
              <a:t>값으로 붙임</a:t>
            </a:r>
            <a:endParaRPr lang="ko-KR" altLang="en-US" sz="2600" dirty="0"/>
          </a:p>
          <a:p>
            <a:pPr lvl="1" fontAlgn="base">
              <a:lnSpc>
                <a:spcPct val="120000"/>
              </a:lnSpc>
            </a:pPr>
            <a:r>
              <a:rPr lang="en-US" altLang="ko-KR" sz="2600" dirty="0"/>
              <a:t>(5) </a:t>
            </a:r>
            <a:r>
              <a:rPr lang="en-US" altLang="ko-KR" sz="2600" dirty="0" err="1"/>
              <a:t>cctv</a:t>
            </a:r>
            <a:r>
              <a:rPr lang="en-US" altLang="ko-KR" sz="2600" dirty="0"/>
              <a:t>() </a:t>
            </a:r>
            <a:r>
              <a:rPr lang="ko-KR" altLang="en-US" sz="2600"/>
              <a:t>함수는 </a:t>
            </a:r>
            <a:r>
              <a:rPr lang="en-US" altLang="ko-KR" sz="2600"/>
              <a:t>cctv.jpg </a:t>
            </a:r>
            <a:r>
              <a:rPr lang="ko-KR" altLang="en-US" sz="2600" dirty="0"/>
              <a:t>사진 파일의 이름을 매개변수로 하여 플라스크의 </a:t>
            </a:r>
            <a:r>
              <a:rPr lang="en-US" altLang="ko-KR" sz="2600" dirty="0" err="1"/>
              <a:t>render_template</a:t>
            </a:r>
            <a:r>
              <a:rPr lang="en-US" altLang="ko-KR" sz="2600"/>
              <a:t>() </a:t>
            </a:r>
            <a:r>
              <a:rPr lang="ko-KR" altLang="en-US" sz="2600"/>
              <a:t>함수 호출</a:t>
            </a:r>
            <a:endParaRPr lang="ko-KR" altLang="en-US" sz="2600" dirty="0"/>
          </a:p>
          <a:p>
            <a:pPr lvl="1" fontAlgn="base">
              <a:lnSpc>
                <a:spcPct val="120000"/>
              </a:lnSpc>
            </a:pPr>
            <a:r>
              <a:rPr lang="en-US" altLang="ko-KR" sz="2600" dirty="0"/>
              <a:t>(6) </a:t>
            </a:r>
            <a:r>
              <a:rPr lang="en-US" altLang="ko-KR" sz="2600" dirty="0" err="1"/>
              <a:t>render_template</a:t>
            </a:r>
            <a:r>
              <a:rPr lang="en-US" altLang="ko-KR" sz="2600" dirty="0"/>
              <a:t>() </a:t>
            </a:r>
            <a:r>
              <a:rPr lang="ko-KR" altLang="en-US" sz="2600" dirty="0"/>
              <a:t>함수는 템플릿 파일 </a:t>
            </a:r>
            <a:r>
              <a:rPr lang="en-US" altLang="ko-KR" sz="2600" dirty="0"/>
              <a:t>cctv</a:t>
            </a:r>
            <a:r>
              <a:rPr lang="en-US" altLang="ko-KR" sz="2600"/>
              <a:t>.html </a:t>
            </a:r>
            <a:r>
              <a:rPr lang="ko-KR" altLang="en-US" sz="2600"/>
              <a:t>내 스크립를 실행</a:t>
            </a:r>
            <a:r>
              <a:rPr lang="en-US" altLang="ko-KR" sz="2600"/>
              <a:t>, &lt;</a:t>
            </a:r>
            <a:r>
              <a:rPr lang="en-US" altLang="ko-KR" sz="2600" dirty="0" err="1"/>
              <a:t>img</a:t>
            </a:r>
            <a:r>
              <a:rPr lang="en-US" altLang="ko-KR" sz="2600" dirty="0"/>
              <a:t>&gt; </a:t>
            </a:r>
            <a:r>
              <a:rPr lang="ko-KR" altLang="en-US" sz="2600" dirty="0"/>
              <a:t>태그의 </a:t>
            </a:r>
            <a:r>
              <a:rPr lang="en-US" altLang="ko-KR" sz="2600" dirty="0" err="1"/>
              <a:t>src</a:t>
            </a:r>
            <a:r>
              <a:rPr lang="en-US" altLang="ko-KR" sz="2600" dirty="0"/>
              <a:t> </a:t>
            </a:r>
            <a:r>
              <a:rPr lang="ko-KR" altLang="en-US" sz="2600"/>
              <a:t>속성에 </a:t>
            </a:r>
            <a:r>
              <a:rPr lang="en-US" altLang="ko-KR" sz="2600"/>
              <a:t>cctv.jpg </a:t>
            </a:r>
            <a:r>
              <a:rPr lang="ko-KR" altLang="en-US" sz="2600"/>
              <a:t>파일 이름을 지정한 </a:t>
            </a:r>
            <a:r>
              <a:rPr lang="ko-KR" altLang="en-US" sz="2600" dirty="0"/>
              <a:t>후</a:t>
            </a:r>
            <a:r>
              <a:rPr lang="en-US" altLang="ko-KR" sz="2600" dirty="0"/>
              <a:t>, </a:t>
            </a:r>
            <a:r>
              <a:rPr lang="ko-KR" altLang="en-US" sz="2600" dirty="0"/>
              <a:t>수정된 </a:t>
            </a:r>
            <a:r>
              <a:rPr lang="en-US" altLang="ko-KR" sz="2600" dirty="0"/>
              <a:t>cctv.html </a:t>
            </a:r>
            <a:r>
              <a:rPr lang="ko-KR" altLang="en-US" sz="2600" dirty="0"/>
              <a:t>파일의 텍스트를 문자열 </a:t>
            </a:r>
            <a:r>
              <a:rPr lang="ko-KR" altLang="en-US" sz="2600"/>
              <a:t>형태로 리턴</a:t>
            </a:r>
            <a:endParaRPr lang="ko-KR" altLang="en-US" sz="2600" dirty="0"/>
          </a:p>
          <a:p>
            <a:pPr lvl="1" fontAlgn="base">
              <a:lnSpc>
                <a:spcPct val="120000"/>
              </a:lnSpc>
            </a:pPr>
            <a:r>
              <a:rPr lang="en-US" altLang="ko-KR" sz="2600" dirty="0"/>
              <a:t>(7) </a:t>
            </a:r>
            <a:r>
              <a:rPr lang="en-US" altLang="ko-KR" sz="2600" dirty="0" err="1"/>
              <a:t>ccvt</a:t>
            </a:r>
            <a:r>
              <a:rPr lang="en-US" altLang="ko-KR" sz="2600"/>
              <a:t>() </a:t>
            </a:r>
            <a:r>
              <a:rPr lang="ko-KR" altLang="en-US" sz="2600"/>
              <a:t>함수는</a:t>
            </a:r>
            <a:r>
              <a:rPr lang="en-US" altLang="ko-KR" sz="2600"/>
              <a:t>,</a:t>
            </a:r>
            <a:r>
              <a:rPr lang="ko-KR" altLang="en-US" sz="2600"/>
              <a:t> </a:t>
            </a:r>
            <a:r>
              <a:rPr lang="en-US" altLang="ko-KR" sz="2600" dirty="0" err="1"/>
              <a:t>render_template</a:t>
            </a:r>
            <a:r>
              <a:rPr lang="en-US" altLang="ko-KR" sz="2600" dirty="0"/>
              <a:t>() </a:t>
            </a:r>
            <a:r>
              <a:rPr lang="ko-KR" altLang="en-US" sz="2600" dirty="0"/>
              <a:t>함수가 </a:t>
            </a:r>
            <a:r>
              <a:rPr lang="ko-KR" altLang="en-US" sz="2600" dirty="0" err="1"/>
              <a:t>리턴한</a:t>
            </a:r>
            <a:r>
              <a:rPr lang="ko-KR" altLang="en-US" sz="2600" dirty="0"/>
              <a:t> 텍스트를 웹 </a:t>
            </a:r>
            <a:r>
              <a:rPr lang="ko-KR" altLang="en-US" sz="2600"/>
              <a:t>브라우저로 전송</a:t>
            </a:r>
            <a:endParaRPr lang="ko-KR" altLang="en-US" sz="2600" dirty="0"/>
          </a:p>
          <a:p>
            <a:pPr lvl="1" fontAlgn="base">
              <a:lnSpc>
                <a:spcPct val="120000"/>
              </a:lnSpc>
            </a:pPr>
            <a:r>
              <a:rPr lang="en-US" altLang="ko-KR" sz="2600" dirty="0"/>
              <a:t>(8) </a:t>
            </a:r>
            <a:r>
              <a:rPr lang="ko-KR" altLang="en-US" sz="2600" dirty="0"/>
              <a:t>웹 브라우저는 수신한 </a:t>
            </a:r>
            <a:r>
              <a:rPr lang="en-US" altLang="ko-KR" sz="2600"/>
              <a:t>HTML </a:t>
            </a:r>
            <a:r>
              <a:rPr lang="ko-KR" altLang="en-US" sz="2600"/>
              <a:t>텍스트 해석</a:t>
            </a:r>
            <a:r>
              <a:rPr lang="en-US" altLang="ko-KR" sz="2600"/>
              <a:t>. </a:t>
            </a:r>
            <a:r>
              <a:rPr lang="en-US" altLang="ko-KR" sz="2600" dirty="0"/>
              <a:t>HTML </a:t>
            </a:r>
            <a:r>
              <a:rPr lang="ko-KR" altLang="en-US" sz="2600" dirty="0"/>
              <a:t>텍스트에 포함된 </a:t>
            </a:r>
            <a:r>
              <a:rPr lang="en-US" altLang="ko-KR" sz="2600" dirty="0"/>
              <a:t>&lt;</a:t>
            </a:r>
            <a:r>
              <a:rPr lang="en-US" altLang="ko-KR" sz="2600" dirty="0" err="1"/>
              <a:t>img</a:t>
            </a:r>
            <a:r>
              <a:rPr lang="en-US" altLang="ko-KR" sz="2600" dirty="0"/>
              <a:t>&gt; </a:t>
            </a:r>
            <a:r>
              <a:rPr lang="ko-KR" altLang="en-US" sz="2600" dirty="0"/>
              <a:t>태그를 발견하고</a:t>
            </a:r>
            <a:r>
              <a:rPr lang="en-US" altLang="ko-KR" sz="2600" dirty="0"/>
              <a:t>, &lt;</a:t>
            </a:r>
            <a:r>
              <a:rPr lang="en-US" altLang="ko-KR" sz="2600" dirty="0" err="1"/>
              <a:t>img</a:t>
            </a:r>
            <a:r>
              <a:rPr lang="en-US" altLang="ko-KR" sz="2600" dirty="0"/>
              <a:t>&gt;</a:t>
            </a:r>
            <a:r>
              <a:rPr lang="ko-KR" altLang="en-US" sz="2600" dirty="0"/>
              <a:t>의 </a:t>
            </a:r>
            <a:r>
              <a:rPr lang="en-US" altLang="ko-KR" sz="2600" dirty="0" err="1"/>
              <a:t>src</a:t>
            </a:r>
            <a:r>
              <a:rPr lang="en-US" altLang="ko-KR" sz="2600" dirty="0"/>
              <a:t> </a:t>
            </a:r>
            <a:r>
              <a:rPr lang="ko-KR" altLang="en-US" sz="2600" dirty="0"/>
              <a:t>속성에 </a:t>
            </a:r>
            <a:r>
              <a:rPr lang="ko-KR" altLang="en-US" sz="2600"/>
              <a:t>지정된 </a:t>
            </a:r>
            <a:r>
              <a:rPr lang="en-US" altLang="ko-KR" sz="2600"/>
              <a:t>cctv.jpg </a:t>
            </a:r>
            <a:r>
              <a:rPr lang="ko-KR" altLang="en-US" sz="2600" dirty="0"/>
              <a:t>파일을 수신하기 위해</a:t>
            </a:r>
            <a:r>
              <a:rPr lang="en-US" altLang="ko-KR" sz="2600" dirty="0"/>
              <a:t>, </a:t>
            </a:r>
            <a:r>
              <a:rPr lang="ko-KR" altLang="en-US" sz="2600" dirty="0"/>
              <a:t>다시 </a:t>
            </a:r>
            <a:r>
              <a:rPr lang="en-US" altLang="ko-KR" sz="2600" dirty="0"/>
              <a:t>jpg </a:t>
            </a:r>
            <a:r>
              <a:rPr lang="ko-KR" altLang="en-US" sz="2600" dirty="0"/>
              <a:t>파일을 웹 </a:t>
            </a:r>
            <a:r>
              <a:rPr lang="ko-KR" altLang="en-US" sz="2600"/>
              <a:t>서버에 요청</a:t>
            </a:r>
            <a:endParaRPr lang="ko-KR" altLang="en-US" sz="2600" dirty="0"/>
          </a:p>
          <a:p>
            <a:pPr lvl="1" fontAlgn="base">
              <a:lnSpc>
                <a:spcPct val="120000"/>
              </a:lnSpc>
            </a:pPr>
            <a:r>
              <a:rPr lang="en-US" altLang="ko-KR" sz="2600" dirty="0"/>
              <a:t>(9) </a:t>
            </a:r>
            <a:r>
              <a:rPr lang="ko-KR" altLang="en-US" sz="2600" dirty="0"/>
              <a:t>다시 </a:t>
            </a:r>
            <a:r>
              <a:rPr lang="en-US" altLang="ko-KR" sz="2600" dirty="0"/>
              <a:t>cctvapp.py</a:t>
            </a:r>
            <a:r>
              <a:rPr lang="ko-KR" altLang="en-US" sz="2600" dirty="0"/>
              <a:t>의 </a:t>
            </a:r>
            <a:r>
              <a:rPr lang="en-US" altLang="ko-KR" sz="2600" dirty="0" err="1"/>
              <a:t>cctv</a:t>
            </a:r>
            <a:r>
              <a:rPr lang="en-US" altLang="ko-KR" sz="2600" dirty="0"/>
              <a:t>() </a:t>
            </a:r>
            <a:r>
              <a:rPr lang="ko-KR" altLang="en-US" sz="2600" dirty="0"/>
              <a:t>함수가 실행되어</a:t>
            </a:r>
            <a:r>
              <a:rPr lang="en-US" altLang="ko-KR" sz="2600" dirty="0"/>
              <a:t>, </a:t>
            </a:r>
            <a:r>
              <a:rPr lang="ko-KR" altLang="en-US" sz="2600" dirty="0" err="1"/>
              <a:t>요청받은</a:t>
            </a:r>
            <a:r>
              <a:rPr lang="ko-KR" altLang="en-US" sz="2600" dirty="0"/>
              <a:t> </a:t>
            </a:r>
            <a:r>
              <a:rPr lang="en-US" altLang="ko-KR" sz="2600" dirty="0"/>
              <a:t>jpg </a:t>
            </a:r>
            <a:r>
              <a:rPr lang="ko-KR" altLang="en-US" sz="2600" dirty="0"/>
              <a:t>파일을 </a:t>
            </a:r>
            <a:r>
              <a:rPr lang="ko-KR" altLang="en-US" sz="2600"/>
              <a:t>읽어 전송</a:t>
            </a:r>
            <a:endParaRPr lang="ko-KR" altLang="en-US" sz="2600" dirty="0"/>
          </a:p>
          <a:p>
            <a:pPr lvl="1" fontAlgn="base">
              <a:lnSpc>
                <a:spcPct val="120000"/>
              </a:lnSpc>
            </a:pPr>
            <a:r>
              <a:rPr lang="en-US" altLang="ko-KR" sz="2600" dirty="0"/>
              <a:t>(10) </a:t>
            </a:r>
            <a:r>
              <a:rPr lang="ko-KR" altLang="en-US" sz="2600" dirty="0"/>
              <a:t>웹 브라우저는 이미지와 함께 </a:t>
            </a:r>
            <a:r>
              <a:rPr lang="en-US" altLang="ko-KR" sz="2600"/>
              <a:t>HTML </a:t>
            </a:r>
            <a:r>
              <a:rPr lang="ko-KR" altLang="en-US" sz="2600"/>
              <a:t>텍스트 출력</a:t>
            </a:r>
            <a:endParaRPr lang="ko-KR" altLang="en-US" sz="26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8BE134-3F25-460A-A7C0-22D9DD2D1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69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8799608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2A4B13-95B7-44BF-BCDE-239F1633D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camara.py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569DF7-2FC9-44DD-83F8-AE3F02A0048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ko-KR" altLang="en-US" sz="2000"/>
              <a:t>다음 </a:t>
            </a:r>
            <a:r>
              <a:rPr lang="en-US" altLang="ko-KR" sz="2000" dirty="0"/>
              <a:t>3</a:t>
            </a:r>
            <a:r>
              <a:rPr lang="ko-KR" altLang="en-US" sz="2000" dirty="0"/>
              <a:t>개의 함수로 구성</a:t>
            </a:r>
          </a:p>
          <a:p>
            <a:pPr lvl="1" fontAlgn="base"/>
            <a:r>
              <a:rPr lang="en-US" altLang="ko-KR" sz="1800" dirty="0" err="1"/>
              <a:t>init</a:t>
            </a:r>
            <a:r>
              <a:rPr lang="en-US" altLang="ko-KR" sz="1800" dirty="0"/>
              <a:t>() - </a:t>
            </a:r>
            <a:r>
              <a:rPr lang="en-US" altLang="ko-KR" sz="1800" dirty="0" err="1"/>
              <a:t>OpevCV</a:t>
            </a:r>
            <a:r>
              <a:rPr lang="ko-KR" altLang="en-US" sz="1800" dirty="0"/>
              <a:t>의 </a:t>
            </a:r>
            <a:r>
              <a:rPr lang="en-US" altLang="ko-KR" sz="1800" dirty="0" err="1"/>
              <a:t>VideoCapture</a:t>
            </a:r>
            <a:r>
              <a:rPr lang="en-US" altLang="ko-KR" sz="1800" dirty="0"/>
              <a:t> </a:t>
            </a:r>
            <a:r>
              <a:rPr lang="ko-KR" altLang="en-US" sz="1800" dirty="0"/>
              <a:t>객체 초기화</a:t>
            </a:r>
          </a:p>
          <a:p>
            <a:pPr lvl="1" fontAlgn="base"/>
            <a:r>
              <a:rPr lang="en-US" altLang="ko-KR" sz="1800" dirty="0" err="1"/>
              <a:t>take_picture</a:t>
            </a:r>
            <a:r>
              <a:rPr lang="en-US" altLang="ko-KR" sz="1800" dirty="0"/>
              <a:t>() - </a:t>
            </a:r>
            <a:r>
              <a:rPr lang="ko-KR" altLang="en-US" sz="1800" dirty="0"/>
              <a:t>사진을 촬영하고 이미지 데이터 리턴</a:t>
            </a:r>
          </a:p>
          <a:p>
            <a:pPr lvl="1" fontAlgn="base"/>
            <a:r>
              <a:rPr lang="en-US" altLang="ko-KR" sz="1800" dirty="0"/>
              <a:t>final() - </a:t>
            </a:r>
            <a:r>
              <a:rPr lang="ko-KR" altLang="en-US" sz="1800" dirty="0"/>
              <a:t>카메라 사용이 끝났을 때 </a:t>
            </a:r>
            <a:r>
              <a:rPr lang="en-US" altLang="ko-KR" sz="1800" dirty="0" err="1"/>
              <a:t>VideoCapture</a:t>
            </a:r>
            <a:r>
              <a:rPr lang="en-US" altLang="ko-KR" sz="1800" dirty="0"/>
              <a:t> </a:t>
            </a:r>
            <a:r>
              <a:rPr lang="ko-KR" altLang="en-US" sz="1800" dirty="0"/>
              <a:t>객체 해제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5DAD3D-89EF-4CD6-8636-975F50FF5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70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EDC3EA0-7EC7-4A03-A943-799DFA540F16}"/>
              </a:ext>
            </a:extLst>
          </p:cNvPr>
          <p:cNvSpPr/>
          <p:nvPr/>
        </p:nvSpPr>
        <p:spPr>
          <a:xfrm>
            <a:off x="1101697" y="3181613"/>
            <a:ext cx="7650432" cy="36317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000" dirty="0"/>
              <a:t>import cv2</a:t>
            </a:r>
          </a:p>
          <a:p>
            <a:pPr defTabSz="180000"/>
            <a:r>
              <a:rPr lang="en-US" altLang="ko-KR" sz="1000" dirty="0"/>
              <a:t>camera = None</a:t>
            </a:r>
          </a:p>
          <a:p>
            <a:pPr defTabSz="180000"/>
            <a:r>
              <a:rPr lang="en-US" altLang="ko-KR" sz="1000" dirty="0"/>
              <a:t>def </a:t>
            </a:r>
            <a:r>
              <a:rPr lang="en-US" altLang="ko-KR" sz="1000" dirty="0" err="1"/>
              <a:t>init</a:t>
            </a:r>
            <a:r>
              <a:rPr lang="en-US" altLang="ko-KR" sz="1000" dirty="0"/>
              <a:t>(</a:t>
            </a:r>
            <a:r>
              <a:rPr lang="en-US" altLang="ko-KR" sz="1000" dirty="0" err="1"/>
              <a:t>camera_id</a:t>
            </a:r>
            <a:r>
              <a:rPr lang="en-US" altLang="ko-KR" sz="1000" dirty="0"/>
              <a:t>=0, width=640, height=480, </a:t>
            </a:r>
            <a:r>
              <a:rPr lang="en-US" altLang="ko-KR" sz="1000" dirty="0" err="1"/>
              <a:t>buffer_size</a:t>
            </a:r>
            <a:r>
              <a:rPr lang="en-US" altLang="ko-KR" sz="1000" dirty="0"/>
              <a:t>=1):</a:t>
            </a:r>
          </a:p>
          <a:p>
            <a:pPr defTabSz="180000"/>
            <a:r>
              <a:rPr lang="en-US" altLang="ko-KR" sz="1000" dirty="0"/>
              <a:t>	global camera</a:t>
            </a:r>
          </a:p>
          <a:p>
            <a:pPr defTabSz="180000"/>
            <a:r>
              <a:rPr lang="en-US" altLang="ko-KR" sz="1000" dirty="0"/>
              <a:t>	camera = cv2.VideoCapture(</a:t>
            </a:r>
            <a:r>
              <a:rPr lang="en-US" altLang="ko-KR" sz="1000" dirty="0" err="1"/>
              <a:t>camera_id</a:t>
            </a:r>
            <a:r>
              <a:rPr lang="en-US" altLang="ko-KR" sz="1000" dirty="0"/>
              <a:t>, cv2.CAP_V4L)</a:t>
            </a:r>
          </a:p>
          <a:p>
            <a:pPr defTabSz="180000"/>
            <a:r>
              <a:rPr lang="en-US" altLang="ko-KR" sz="1000" dirty="0"/>
              <a:t>	</a:t>
            </a:r>
            <a:r>
              <a:rPr lang="en-US" altLang="ko-KR" sz="1000" dirty="0" err="1"/>
              <a:t>camera.set</a:t>
            </a:r>
            <a:r>
              <a:rPr lang="en-US" altLang="ko-KR" sz="1000" dirty="0"/>
              <a:t>(cv2.CAP_PROP_FRAME_WIDTH, width)</a:t>
            </a:r>
          </a:p>
          <a:p>
            <a:pPr defTabSz="180000"/>
            <a:r>
              <a:rPr lang="en-US" altLang="ko-KR" sz="1000" dirty="0"/>
              <a:t>	</a:t>
            </a:r>
            <a:r>
              <a:rPr lang="en-US" altLang="ko-KR" sz="1000" dirty="0" err="1"/>
              <a:t>camera.set</a:t>
            </a:r>
            <a:r>
              <a:rPr lang="en-US" altLang="ko-KR" sz="1000" dirty="0"/>
              <a:t>(cv2.CAP_PROP_FRAME_HEIGHT, height)</a:t>
            </a:r>
          </a:p>
          <a:p>
            <a:pPr defTabSz="180000"/>
            <a:r>
              <a:rPr lang="en-US" altLang="ko-KR" sz="1000" dirty="0"/>
              <a:t>	</a:t>
            </a:r>
            <a:r>
              <a:rPr lang="en-US" altLang="ko-KR" sz="1000" dirty="0" err="1"/>
              <a:t>camera.set</a:t>
            </a:r>
            <a:r>
              <a:rPr lang="en-US" altLang="ko-KR" sz="1000" dirty="0"/>
              <a:t>(cv2.CAP_PROP_BUFFERSIZE, </a:t>
            </a:r>
            <a:r>
              <a:rPr lang="en-US" altLang="ko-KR" sz="1000" dirty="0" err="1"/>
              <a:t>buffer_size</a:t>
            </a:r>
            <a:r>
              <a:rPr lang="en-US" altLang="ko-KR" sz="1000" dirty="0"/>
              <a:t>)</a:t>
            </a:r>
          </a:p>
          <a:p>
            <a:pPr defTabSz="180000"/>
            <a:r>
              <a:rPr lang="en-US" altLang="ko-KR" sz="1000" dirty="0"/>
              <a:t>def </a:t>
            </a:r>
            <a:r>
              <a:rPr lang="en-US" altLang="ko-KR" sz="1000" dirty="0" err="1"/>
              <a:t>take_picture</a:t>
            </a:r>
            <a:r>
              <a:rPr lang="en-US" altLang="ko-KR" sz="1000" dirty="0"/>
              <a:t>(</a:t>
            </a:r>
            <a:r>
              <a:rPr lang="en-US" altLang="ko-KR" sz="1000" dirty="0" err="1"/>
              <a:t>most_recent</a:t>
            </a:r>
            <a:r>
              <a:rPr lang="en-US" altLang="ko-KR" sz="1000" dirty="0"/>
              <a:t>=False):</a:t>
            </a:r>
          </a:p>
          <a:p>
            <a:pPr defTabSz="180000"/>
            <a:r>
              <a:rPr lang="en-US" altLang="ko-KR" sz="1000" dirty="0"/>
              <a:t>	global camera</a:t>
            </a:r>
          </a:p>
          <a:p>
            <a:pPr defTabSz="180000"/>
            <a:r>
              <a:rPr lang="en-US" altLang="ko-KR" sz="1000" dirty="0"/>
              <a:t>	# </a:t>
            </a:r>
            <a:r>
              <a:rPr lang="en-US" altLang="ko-KR" sz="1000" dirty="0" err="1"/>
              <a:t>most_recent</a:t>
            </a:r>
            <a:r>
              <a:rPr lang="ko-KR" altLang="en-US" sz="1000" dirty="0"/>
              <a:t>가 </a:t>
            </a:r>
            <a:r>
              <a:rPr lang="en-US" altLang="ko-KR" sz="1000" dirty="0"/>
              <a:t>True</a:t>
            </a:r>
            <a:r>
              <a:rPr lang="ko-KR" altLang="en-US" sz="1000" dirty="0"/>
              <a:t>이면 버퍼에 저장되어 있는 프레임을 전부 버리도록 한다</a:t>
            </a:r>
            <a:r>
              <a:rPr lang="en-US" altLang="ko-KR" sz="1000" dirty="0"/>
              <a:t>.</a:t>
            </a:r>
          </a:p>
          <a:p>
            <a:pPr defTabSz="180000"/>
            <a:r>
              <a:rPr lang="en-US" altLang="ko-KR" sz="1000" dirty="0"/>
              <a:t>	</a:t>
            </a:r>
            <a:r>
              <a:rPr lang="en-US" altLang="ko-KR" sz="1000" dirty="0" err="1"/>
              <a:t>len</a:t>
            </a:r>
            <a:r>
              <a:rPr lang="en-US" altLang="ko-KR" sz="1000" dirty="0"/>
              <a:t> = 0 if </a:t>
            </a:r>
            <a:r>
              <a:rPr lang="en-US" altLang="ko-KR" sz="1000" dirty="0" err="1"/>
              <a:t>most_recent</a:t>
            </a:r>
            <a:r>
              <a:rPr lang="en-US" altLang="ko-KR" sz="1000" dirty="0"/>
              <a:t> == False else </a:t>
            </a:r>
            <a:r>
              <a:rPr lang="en-US" altLang="ko-KR" sz="1000" dirty="0" err="1"/>
              <a:t>camera.get</a:t>
            </a:r>
            <a:r>
              <a:rPr lang="en-US" altLang="ko-KR" sz="1000" dirty="0"/>
              <a:t>(cv2.CAP_PROP_BUFFERSIZE)</a:t>
            </a:r>
          </a:p>
          <a:p>
            <a:pPr defTabSz="180000"/>
            <a:r>
              <a:rPr lang="en-US" altLang="ko-KR" sz="1000" dirty="0"/>
              <a:t>	while(</a:t>
            </a:r>
            <a:r>
              <a:rPr lang="en-US" altLang="ko-KR" sz="1000" dirty="0" err="1"/>
              <a:t>len</a:t>
            </a:r>
            <a:r>
              <a:rPr lang="en-US" altLang="ko-KR" sz="1000" dirty="0"/>
              <a:t> &gt; 0):</a:t>
            </a:r>
          </a:p>
          <a:p>
            <a:pPr defTabSz="180000"/>
            <a:r>
              <a:rPr lang="en-US" altLang="ko-KR" sz="1000" dirty="0"/>
              <a:t>		</a:t>
            </a:r>
            <a:r>
              <a:rPr lang="en-US" altLang="ko-KR" sz="1000" dirty="0" err="1"/>
              <a:t>camera.grab</a:t>
            </a:r>
            <a:r>
              <a:rPr lang="en-US" altLang="ko-KR" sz="1000" dirty="0"/>
              <a:t>( ) # </a:t>
            </a:r>
            <a:r>
              <a:rPr lang="ko-KR" altLang="en-US" sz="1000" dirty="0"/>
              <a:t>버퍼에 저장되어 있는 프레임을 버린다</a:t>
            </a:r>
            <a:r>
              <a:rPr lang="en-US" altLang="ko-KR" sz="1000" dirty="0"/>
              <a:t>.</a:t>
            </a:r>
          </a:p>
          <a:p>
            <a:pPr defTabSz="180000"/>
            <a:r>
              <a:rPr lang="en-US" altLang="ko-KR" sz="1000" dirty="0"/>
              <a:t>		</a:t>
            </a:r>
            <a:r>
              <a:rPr lang="en-US" altLang="ko-KR" sz="1000" dirty="0" err="1"/>
              <a:t>len</a:t>
            </a:r>
            <a:r>
              <a:rPr lang="en-US" altLang="ko-KR" sz="1000" dirty="0"/>
              <a:t> -= 1</a:t>
            </a:r>
          </a:p>
          <a:p>
            <a:pPr defTabSz="180000"/>
            <a:r>
              <a:rPr lang="en-US" altLang="ko-KR" sz="1000" dirty="0"/>
              <a:t>		success, image = </a:t>
            </a:r>
            <a:r>
              <a:rPr lang="en-US" altLang="ko-KR" sz="1000" dirty="0" err="1"/>
              <a:t>camera.read</a:t>
            </a:r>
            <a:r>
              <a:rPr lang="en-US" altLang="ko-KR" sz="1000" dirty="0"/>
              <a:t>( )</a:t>
            </a:r>
          </a:p>
          <a:p>
            <a:pPr defTabSz="180000"/>
            <a:r>
              <a:rPr lang="en-US" altLang="ko-KR" sz="1000" dirty="0"/>
              <a:t>		if not success:</a:t>
            </a:r>
          </a:p>
          <a:p>
            <a:pPr defTabSz="180000"/>
            <a:r>
              <a:rPr lang="en-US" altLang="ko-KR" sz="1000" dirty="0"/>
              <a:t>			return None</a:t>
            </a:r>
          </a:p>
          <a:p>
            <a:pPr defTabSz="180000"/>
            <a:r>
              <a:rPr lang="en-US" altLang="ko-KR" sz="1000" dirty="0"/>
              <a:t>		return image</a:t>
            </a:r>
          </a:p>
          <a:p>
            <a:pPr defTabSz="180000"/>
            <a:r>
              <a:rPr lang="en-US" altLang="ko-KR" sz="1000" dirty="0"/>
              <a:t>def final( ):</a:t>
            </a:r>
          </a:p>
          <a:p>
            <a:pPr defTabSz="180000"/>
            <a:r>
              <a:rPr lang="en-US" altLang="ko-KR" sz="1000" dirty="0"/>
              <a:t>	if camera != None:</a:t>
            </a:r>
          </a:p>
          <a:p>
            <a:pPr defTabSz="180000"/>
            <a:r>
              <a:rPr lang="en-US" altLang="ko-KR" sz="1000" dirty="0"/>
              <a:t>		</a:t>
            </a:r>
            <a:r>
              <a:rPr lang="en-US" altLang="ko-KR" sz="1000" dirty="0" err="1"/>
              <a:t>camera.release</a:t>
            </a:r>
            <a:r>
              <a:rPr lang="en-US" altLang="ko-KR" sz="1000" dirty="0"/>
              <a:t>( )</a:t>
            </a:r>
          </a:p>
          <a:p>
            <a:pPr defTabSz="180000"/>
            <a:r>
              <a:rPr lang="en-US" altLang="ko-KR" sz="1000" dirty="0"/>
              <a:t>	camera = None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538FD37-87CC-4AE7-824E-E2A940C07B66}"/>
              </a:ext>
            </a:extLst>
          </p:cNvPr>
          <p:cNvSpPr/>
          <p:nvPr/>
        </p:nvSpPr>
        <p:spPr>
          <a:xfrm>
            <a:off x="1027335" y="2874422"/>
            <a:ext cx="113043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altLang="ko-KR" sz="1600" dirty="0"/>
              <a:t>camera.py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71097487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B05A9A-ABB5-42CB-BF51-0C4C49965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cctvapp.py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DF9488-EE08-4236-AAEA-89C8E87A588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sz="2000" dirty="0"/>
              <a:t>cctvapp.py</a:t>
            </a:r>
          </a:p>
          <a:p>
            <a:pPr lvl="1"/>
            <a:r>
              <a:rPr lang="ko-KR" altLang="en-US" sz="1800"/>
              <a:t>카메라 객체 </a:t>
            </a:r>
            <a:r>
              <a:rPr lang="ko-KR" altLang="en-US" sz="1800" dirty="0"/>
              <a:t>생성</a:t>
            </a:r>
            <a:endParaRPr lang="en-US" altLang="ko-KR" sz="1800" dirty="0"/>
          </a:p>
          <a:p>
            <a:pPr lvl="1"/>
            <a:r>
              <a:rPr lang="ko-KR" altLang="en-US" sz="1800" dirty="0"/>
              <a:t>브라우저로부터 요청이 있으면 카메라 객체를 이용하여 이미지를 </a:t>
            </a:r>
            <a:r>
              <a:rPr lang="ko-KR" altLang="en-US" sz="1800" dirty="0" err="1"/>
              <a:t>캡쳐하여</a:t>
            </a:r>
            <a:r>
              <a:rPr lang="ko-KR" altLang="en-US" sz="1800" dirty="0"/>
              <a:t> 파일에 저장</a:t>
            </a:r>
            <a:endParaRPr lang="en-US" altLang="ko-KR" sz="1800" dirty="0"/>
          </a:p>
          <a:p>
            <a:pPr lvl="1"/>
            <a:r>
              <a:rPr lang="ko-KR" altLang="en-US" sz="1800" dirty="0"/>
              <a:t>이미지에 대한 파일 이름을 브라우저에 전송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68ACF9-117D-40BD-8DB5-263B99C18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71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A6019E5-35A6-4C43-9379-F1C741E057E5}"/>
              </a:ext>
            </a:extLst>
          </p:cNvPr>
          <p:cNvSpPr/>
          <p:nvPr/>
        </p:nvSpPr>
        <p:spPr>
          <a:xfrm>
            <a:off x="1045939" y="3289220"/>
            <a:ext cx="7632848" cy="34932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300" dirty="0"/>
              <a:t>import cv2</a:t>
            </a:r>
          </a:p>
          <a:p>
            <a:pPr defTabSz="180000"/>
            <a:r>
              <a:rPr lang="en-US" altLang="ko-KR" sz="1300" dirty="0"/>
              <a:t>from flask import Flask, </a:t>
            </a:r>
            <a:r>
              <a:rPr lang="en-US" altLang="ko-KR" sz="1300" dirty="0" err="1"/>
              <a:t>render_template</a:t>
            </a:r>
            <a:endParaRPr lang="en-US" altLang="ko-KR" sz="1300" dirty="0"/>
          </a:p>
          <a:p>
            <a:pPr defTabSz="180000"/>
            <a:r>
              <a:rPr lang="en-US" altLang="ko-KR" sz="1300" dirty="0"/>
              <a:t>import camera # </a:t>
            </a:r>
            <a:r>
              <a:rPr lang="ko-KR" altLang="en-US" sz="1300" dirty="0"/>
              <a:t>카메라 모듈</a:t>
            </a:r>
            <a:r>
              <a:rPr lang="en-US" altLang="ko-KR" sz="1300" dirty="0"/>
              <a:t>, camera.py </a:t>
            </a:r>
            <a:r>
              <a:rPr lang="ko-KR" altLang="en-US" sz="1300" dirty="0" err="1"/>
              <a:t>임포트</a:t>
            </a:r>
            <a:endParaRPr lang="en-US" altLang="ko-KR" sz="1300" dirty="0"/>
          </a:p>
          <a:p>
            <a:pPr defTabSz="180000"/>
            <a:endParaRPr lang="ko-KR" altLang="en-US" sz="1300" dirty="0"/>
          </a:p>
          <a:p>
            <a:pPr defTabSz="180000"/>
            <a:r>
              <a:rPr lang="en-US" altLang="ko-KR" sz="1300" dirty="0"/>
              <a:t>app = Flask(__name__) # </a:t>
            </a:r>
            <a:r>
              <a:rPr lang="ko-KR" altLang="en-US" sz="1300" dirty="0"/>
              <a:t>플라스크 객체 생성</a:t>
            </a:r>
          </a:p>
          <a:p>
            <a:pPr defTabSz="180000"/>
            <a:r>
              <a:rPr lang="en-US" altLang="ko-KR" sz="1300" dirty="0" err="1"/>
              <a:t>camera.init</a:t>
            </a:r>
            <a:r>
              <a:rPr lang="en-US" altLang="ko-KR" sz="1300" dirty="0"/>
              <a:t>(width=640, height=480) # </a:t>
            </a:r>
            <a:r>
              <a:rPr lang="ko-KR" altLang="en-US" sz="1300" dirty="0"/>
              <a:t>카메라 모듈 초기화</a:t>
            </a:r>
            <a:endParaRPr lang="en-US" altLang="ko-KR" sz="1300" dirty="0"/>
          </a:p>
          <a:p>
            <a:pPr defTabSz="180000"/>
            <a:endParaRPr lang="ko-KR" altLang="en-US" sz="1300" dirty="0"/>
          </a:p>
          <a:p>
            <a:pPr defTabSz="180000"/>
            <a:r>
              <a:rPr lang="en-US" altLang="ko-KR" sz="1300" dirty="0"/>
              <a:t>@</a:t>
            </a:r>
            <a:r>
              <a:rPr lang="en-US" altLang="ko-KR" sz="1300" dirty="0" err="1"/>
              <a:t>app.route</a:t>
            </a:r>
            <a:r>
              <a:rPr lang="en-US" altLang="ko-KR" sz="1300" dirty="0"/>
              <a:t>('/</a:t>
            </a:r>
            <a:r>
              <a:rPr lang="en-US" altLang="ko-KR" sz="1300" dirty="0" err="1"/>
              <a:t>cctv</a:t>
            </a:r>
            <a:r>
              <a:rPr lang="en-US" altLang="ko-KR" sz="1300" dirty="0"/>
              <a:t>')</a:t>
            </a:r>
          </a:p>
          <a:p>
            <a:pPr defTabSz="180000"/>
            <a:r>
              <a:rPr lang="en-US" altLang="ko-KR" sz="1300" dirty="0"/>
              <a:t>def </a:t>
            </a:r>
            <a:r>
              <a:rPr lang="en-US" altLang="ko-KR" sz="1300" dirty="0" err="1"/>
              <a:t>cctv</a:t>
            </a:r>
            <a:r>
              <a:rPr lang="en-US" altLang="ko-KR" sz="1300" dirty="0"/>
              <a:t>( ):</a:t>
            </a:r>
          </a:p>
          <a:p>
            <a:pPr defTabSz="180000"/>
            <a:r>
              <a:rPr lang="en-US" altLang="ko-KR" sz="1300" dirty="0"/>
              <a:t>	image = </a:t>
            </a:r>
            <a:r>
              <a:rPr lang="en-US" altLang="ko-KR" sz="1300" dirty="0" err="1"/>
              <a:t>camera.take_picture</a:t>
            </a:r>
            <a:r>
              <a:rPr lang="en-US" altLang="ko-KR" sz="1300" dirty="0"/>
              <a:t>(</a:t>
            </a:r>
            <a:r>
              <a:rPr lang="en-US" altLang="ko-KR" sz="1300" dirty="0" err="1"/>
              <a:t>most_recent</a:t>
            </a:r>
            <a:r>
              <a:rPr lang="en-US" altLang="ko-KR" sz="1300" dirty="0"/>
              <a:t>=True) # </a:t>
            </a:r>
            <a:r>
              <a:rPr lang="ko-KR" altLang="en-US" sz="1300" dirty="0"/>
              <a:t>사진 촬영</a:t>
            </a:r>
            <a:r>
              <a:rPr lang="en-US" altLang="ko-KR" sz="1300" dirty="0"/>
              <a:t>. </a:t>
            </a:r>
            <a:r>
              <a:rPr lang="ko-KR" altLang="en-US" sz="1300" dirty="0"/>
              <a:t>이미지 읽기</a:t>
            </a:r>
            <a:endParaRPr lang="en-US" altLang="ko-KR" sz="1300" dirty="0"/>
          </a:p>
          <a:p>
            <a:pPr defTabSz="180000"/>
            <a:r>
              <a:rPr lang="en-US" altLang="ko-KR" sz="1300" dirty="0"/>
              <a:t>	if image is not None:</a:t>
            </a:r>
          </a:p>
          <a:p>
            <a:pPr defTabSz="180000"/>
            <a:r>
              <a:rPr lang="en-US" altLang="ko-KR" sz="1300" dirty="0"/>
              <a:t>		cv2.imwrite('./static/cctv.jpg', image) # </a:t>
            </a:r>
            <a:r>
              <a:rPr lang="ko-KR" altLang="en-US" sz="1300" dirty="0"/>
              <a:t>이미지를 </a:t>
            </a:r>
            <a:r>
              <a:rPr lang="en-US" altLang="ko-KR" sz="1300" dirty="0"/>
              <a:t>./static </a:t>
            </a:r>
            <a:r>
              <a:rPr lang="ko-KR" altLang="en-US" sz="1300" dirty="0"/>
              <a:t>디렉터리에 파일로 저장</a:t>
            </a:r>
          </a:p>
          <a:p>
            <a:pPr defTabSz="180000"/>
            <a:r>
              <a:rPr lang="en-US" altLang="ko-KR" sz="1300" dirty="0"/>
              <a:t>		# </a:t>
            </a:r>
            <a:r>
              <a:rPr lang="en-US" altLang="ko-KR" sz="1300" dirty="0" err="1"/>
              <a:t>file_name</a:t>
            </a:r>
            <a:r>
              <a:rPr lang="ko-KR" altLang="en-US" sz="1300" dirty="0"/>
              <a:t>를 사용하여 </a:t>
            </a:r>
            <a:r>
              <a:rPr lang="en-US" altLang="ko-KR" sz="1300" dirty="0"/>
              <a:t>cctv.html</a:t>
            </a:r>
            <a:r>
              <a:rPr lang="ko-KR" altLang="en-US" sz="1300" dirty="0"/>
              <a:t>를 변경하고</a:t>
            </a:r>
            <a:r>
              <a:rPr lang="en-US" altLang="ko-KR" sz="1300" dirty="0"/>
              <a:t>, </a:t>
            </a:r>
            <a:r>
              <a:rPr lang="ko-KR" altLang="en-US" sz="1300" dirty="0"/>
              <a:t>파일 텍스트를 문자열로 리턴</a:t>
            </a:r>
          </a:p>
          <a:p>
            <a:pPr defTabSz="180000"/>
            <a:r>
              <a:rPr lang="en-US" altLang="ko-KR" sz="1300" dirty="0"/>
              <a:t>		return </a:t>
            </a:r>
            <a:r>
              <a:rPr lang="en-US" altLang="ko-KR" sz="1300" dirty="0" err="1"/>
              <a:t>render_template</a:t>
            </a:r>
            <a:r>
              <a:rPr lang="en-US" altLang="ko-KR" sz="1300" dirty="0"/>
              <a:t>("cctv.html", </a:t>
            </a:r>
            <a:r>
              <a:rPr lang="en-US" altLang="ko-KR" sz="1300" dirty="0" err="1"/>
              <a:t>fname</a:t>
            </a:r>
            <a:r>
              <a:rPr lang="en-US" altLang="ko-KR" sz="1300" dirty="0"/>
              <a:t>='/static/cctv.jpg')</a:t>
            </a:r>
          </a:p>
          <a:p>
            <a:pPr defTabSz="180000"/>
            <a:endParaRPr lang="en-US" altLang="ko-KR" sz="1300" dirty="0"/>
          </a:p>
          <a:p>
            <a:pPr defTabSz="180000"/>
            <a:r>
              <a:rPr lang="en-US" altLang="ko-KR" sz="1300" dirty="0"/>
              <a:t>if __name__ == '__main__':</a:t>
            </a:r>
          </a:p>
          <a:p>
            <a:pPr defTabSz="180000"/>
            <a:r>
              <a:rPr lang="en-US" altLang="ko-KR" sz="1300" dirty="0"/>
              <a:t>	</a:t>
            </a:r>
            <a:r>
              <a:rPr lang="en-US" altLang="ko-KR" sz="1300" dirty="0" err="1"/>
              <a:t>app.run</a:t>
            </a:r>
            <a:r>
              <a:rPr lang="en-US" altLang="ko-KR" sz="1300" dirty="0"/>
              <a:t>(host='0.0.0.0', port=8080) # debug=True </a:t>
            </a:r>
            <a:r>
              <a:rPr lang="ko-KR" altLang="en-US" sz="1300" dirty="0"/>
              <a:t>속성을 사용하면 오류 발생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8B7EC4B-9823-4F16-A74F-BEF8074D6B2E}"/>
              </a:ext>
            </a:extLst>
          </p:cNvPr>
          <p:cNvSpPr/>
          <p:nvPr/>
        </p:nvSpPr>
        <p:spPr>
          <a:xfrm>
            <a:off x="1036216" y="2950666"/>
            <a:ext cx="116967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altLang="ko-KR" sz="1600" dirty="0"/>
              <a:t>cctvapp.py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57860313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5FD6B-561B-4D0D-82F1-320BEB3A1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템플릿 </a:t>
            </a:r>
            <a:r>
              <a:rPr lang="en-US" altLang="ko-KR" dirty="0"/>
              <a:t>HTML </a:t>
            </a:r>
            <a:r>
              <a:rPr lang="ko-KR" altLang="en-US" dirty="0"/>
              <a:t>파일 </a:t>
            </a:r>
            <a:r>
              <a:rPr lang="en-US" altLang="ko-KR" dirty="0"/>
              <a:t>- cctv.html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829969-99BA-4BEB-B5EA-970218F4FB9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cctv.html</a:t>
            </a:r>
          </a:p>
          <a:p>
            <a:pPr lvl="1"/>
            <a:r>
              <a:rPr lang="en-US" altLang="ko-KR" dirty="0" err="1"/>
              <a:t>render_template</a:t>
            </a:r>
            <a:r>
              <a:rPr lang="en-US" altLang="ko-KR" dirty="0"/>
              <a:t>() </a:t>
            </a:r>
            <a:r>
              <a:rPr lang="ko-KR" altLang="en-US" dirty="0"/>
              <a:t>함수에서 렌더링하는 </a:t>
            </a:r>
            <a:r>
              <a:rPr lang="en-US" altLang="ko-KR" dirty="0"/>
              <a:t>cctv.html </a:t>
            </a:r>
            <a:r>
              <a:rPr lang="ko-KR" altLang="en-US" dirty="0"/>
              <a:t>파일은 이미지 한 개를 출력하도록 </a:t>
            </a:r>
            <a:r>
              <a:rPr lang="en-US" altLang="ko-KR" dirty="0"/>
              <a:t>&lt;</a:t>
            </a:r>
            <a:r>
              <a:rPr lang="en-US" altLang="ko-KR" dirty="0" err="1"/>
              <a:t>img</a:t>
            </a:r>
            <a:r>
              <a:rPr lang="en-US" altLang="ko-KR" dirty="0"/>
              <a:t>&gt; </a:t>
            </a:r>
            <a:r>
              <a:rPr lang="ko-KR" altLang="en-US" dirty="0"/>
              <a:t>태그 포함</a:t>
            </a:r>
          </a:p>
          <a:p>
            <a:pPr lvl="1"/>
            <a:r>
              <a:rPr lang="en-US" altLang="ko-KR" dirty="0"/>
              <a:t>cctv.html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567540-4181-403B-B1CD-E727A0AFB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72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5EFF33A-8560-42AB-B375-E21951B670F2}"/>
              </a:ext>
            </a:extLst>
          </p:cNvPr>
          <p:cNvSpPr/>
          <p:nvPr/>
        </p:nvSpPr>
        <p:spPr>
          <a:xfrm>
            <a:off x="1259632" y="2924944"/>
            <a:ext cx="6480720" cy="16004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&lt;!doctype html&gt;</a:t>
            </a:r>
          </a:p>
          <a:p>
            <a:pPr defTabSz="180000"/>
            <a:r>
              <a:rPr lang="en-US" altLang="ko-KR" sz="1400" dirty="0"/>
              <a:t>&lt;html&gt;</a:t>
            </a:r>
          </a:p>
          <a:p>
            <a:pPr defTabSz="180000"/>
            <a:r>
              <a:rPr lang="en-US" altLang="ko-KR" sz="1400" dirty="0"/>
              <a:t>	&lt;head&gt;&lt;title&gt;</a:t>
            </a:r>
            <a:r>
              <a:rPr lang="ko-KR" altLang="en-US" sz="1400" dirty="0"/>
              <a:t>원격 카메라 촬영 및 </a:t>
            </a:r>
            <a:r>
              <a:rPr lang="en-US" altLang="ko-KR" sz="1400" dirty="0"/>
              <a:t>CCTV </a:t>
            </a:r>
            <a:r>
              <a:rPr lang="ko-KR" altLang="en-US" sz="1400" dirty="0"/>
              <a:t>응용</a:t>
            </a:r>
            <a:r>
              <a:rPr lang="en-US" altLang="ko-KR" sz="1400" dirty="0"/>
              <a:t>&lt;/title&gt;&lt;/head&gt;</a:t>
            </a:r>
          </a:p>
          <a:p>
            <a:pPr defTabSz="180000"/>
            <a:r>
              <a:rPr lang="en-US" altLang="ko-KR" sz="1400" dirty="0"/>
              <a:t>	&lt;body&gt;</a:t>
            </a:r>
          </a:p>
          <a:p>
            <a:pPr defTabSz="180000"/>
            <a:r>
              <a:rPr lang="en-US" altLang="ko-KR" sz="1400" dirty="0"/>
              <a:t>		&lt;</a:t>
            </a:r>
            <a:r>
              <a:rPr lang="en-US" altLang="ko-KR" sz="1400" dirty="0" err="1"/>
              <a:t>img</a:t>
            </a:r>
            <a:r>
              <a:rPr lang="en-US" altLang="ko-KR" sz="1400" dirty="0"/>
              <a:t> </a:t>
            </a:r>
            <a:r>
              <a:rPr lang="en-US" altLang="ko-KR" sz="1400" dirty="0" err="1"/>
              <a:t>src</a:t>
            </a:r>
            <a:r>
              <a:rPr lang="en-US" altLang="ko-KR" sz="1400" dirty="0"/>
              <a:t>="{{</a:t>
            </a:r>
            <a:r>
              <a:rPr lang="en-US" altLang="ko-KR" sz="1400" dirty="0" err="1"/>
              <a:t>fname</a:t>
            </a:r>
            <a:r>
              <a:rPr lang="en-US" altLang="ko-KR" sz="1400" dirty="0"/>
              <a:t>}}" width="640" height="480"/&gt;</a:t>
            </a:r>
          </a:p>
          <a:p>
            <a:pPr defTabSz="180000"/>
            <a:r>
              <a:rPr lang="en-US" altLang="ko-KR" sz="1400" dirty="0"/>
              <a:t>	&lt;/body&gt;</a:t>
            </a:r>
          </a:p>
          <a:p>
            <a:pPr defTabSz="180000"/>
            <a:r>
              <a:rPr lang="en-US" altLang="ko-KR" sz="1400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400133678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AB041E-3636-46D1-AB06-D43E1F139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F0C08A-69A4-427E-9F23-EBD34F900F4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/>
              <a:t>실행 </a:t>
            </a:r>
            <a:r>
              <a:rPr lang="ko-KR" altLang="en-US" dirty="0"/>
              <a:t>및</a:t>
            </a:r>
            <a:r>
              <a:rPr lang="en-US" altLang="ko-KR"/>
              <a:t> </a:t>
            </a:r>
            <a:r>
              <a:rPr lang="ko-KR" altLang="en-US" dirty="0"/>
              <a:t>접속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547AA1-DAF7-4C65-B7AB-AADAAA883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73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0F2FC97-BE28-489C-9F2B-BB8768984606}"/>
              </a:ext>
            </a:extLst>
          </p:cNvPr>
          <p:cNvSpPr/>
          <p:nvPr/>
        </p:nvSpPr>
        <p:spPr>
          <a:xfrm>
            <a:off x="827584" y="1829723"/>
            <a:ext cx="7938464" cy="145526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pPr fontAlgn="base"/>
            <a:r>
              <a:rPr lang="en-US" altLang="ko-KR" sz="1400" b="1" dirty="0"/>
              <a:t>(</a:t>
            </a:r>
            <a:r>
              <a:rPr lang="en-US" altLang="ko-KR" sz="1400" b="1" dirty="0" err="1"/>
              <a:t>myenv</a:t>
            </a:r>
            <a:r>
              <a:rPr lang="en-US" altLang="ko-KR" sz="1400" b="1" dirty="0"/>
              <a:t>) </a:t>
            </a:r>
            <a:r>
              <a:rPr lang="en-US" altLang="ko-KR" sz="1400" b="1" dirty="0" err="1"/>
              <a:t>pi@pi</a:t>
            </a:r>
            <a:r>
              <a:rPr lang="en-US" altLang="ko-KR" sz="1400" b="1" dirty="0"/>
              <a:t>:~/ch06 $ python cctvapp.py</a:t>
            </a:r>
          </a:p>
          <a:p>
            <a:pPr fontAlgn="base"/>
            <a:r>
              <a:rPr lang="en-US" altLang="ko-KR" sz="1400" dirty="0"/>
              <a:t>* Serving Flask app "</a:t>
            </a:r>
            <a:r>
              <a:rPr lang="en-US" altLang="ko-KR" sz="1400" dirty="0" err="1"/>
              <a:t>cctvapp</a:t>
            </a:r>
            <a:r>
              <a:rPr lang="en-US" altLang="ko-KR" sz="1400" dirty="0"/>
              <a:t>" (lazy loading)</a:t>
            </a:r>
          </a:p>
          <a:p>
            <a:pPr fontAlgn="base"/>
            <a:r>
              <a:rPr lang="en-US" altLang="ko-KR" sz="1400" dirty="0"/>
              <a:t>...(</a:t>
            </a:r>
            <a:r>
              <a:rPr lang="ko-KR" altLang="en-US" sz="1400" dirty="0"/>
              <a:t>생략</a:t>
            </a:r>
            <a:r>
              <a:rPr lang="en-US" altLang="ko-KR" sz="1400" dirty="0"/>
              <a:t>)</a:t>
            </a:r>
          </a:p>
          <a:p>
            <a:pPr fontAlgn="base"/>
            <a:r>
              <a:rPr lang="en-US" altLang="ko-KR" sz="1400" dirty="0"/>
              <a:t>* Running on http://0.0.0.0:8080/ (Press CTRL+C to quit)</a:t>
            </a:r>
          </a:p>
          <a:p>
            <a:pPr fontAlgn="base"/>
            <a:r>
              <a:rPr lang="en-US" altLang="ko-KR" sz="1400" dirty="0"/>
              <a:t>192.168.0.50 - - [19/May/2023 11:55:34] "GET /</a:t>
            </a:r>
            <a:r>
              <a:rPr lang="en-US" altLang="ko-KR" sz="1400" dirty="0" err="1"/>
              <a:t>cctv</a:t>
            </a:r>
            <a:r>
              <a:rPr lang="en-US" altLang="ko-KR" sz="1400" dirty="0"/>
              <a:t> HTTP/1.1" 200 -</a:t>
            </a:r>
          </a:p>
          <a:p>
            <a:pPr fontAlgn="base"/>
            <a:r>
              <a:rPr lang="en-US" altLang="ko-KR" sz="1400" dirty="0"/>
              <a:t>192.168.0.50 - - [19/May/2023 11:52:35] "GET /static/cctv.jpg HTTP/1.1" 200 -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7BB933F-57B5-EB8A-C759-229894356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431" y="3440509"/>
            <a:ext cx="3751834" cy="3359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34261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62A66D-C522-4045-839C-74E141396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CCTV </a:t>
            </a:r>
            <a:r>
              <a:rPr lang="ko-KR" altLang="en-US" dirty="0"/>
              <a:t>스트리밍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ECABE1-8CA2-4FB4-AE4C-A21AFAF0B94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CCTV </a:t>
            </a:r>
            <a:r>
              <a:rPr lang="ko-KR" altLang="en-US" dirty="0"/>
              <a:t>스트리밍</a:t>
            </a:r>
          </a:p>
          <a:p>
            <a:pPr lvl="1"/>
            <a:r>
              <a:rPr lang="ko-KR" altLang="en-US" dirty="0"/>
              <a:t>웹 브라우저에서 자동으로 </a:t>
            </a:r>
            <a:r>
              <a:rPr lang="en-US" altLang="ko-KR" dirty="0"/>
              <a:t>'</a:t>
            </a:r>
            <a:r>
              <a:rPr lang="ko-KR" altLang="en-US" dirty="0"/>
              <a:t>새로 고침</a:t>
            </a:r>
            <a:r>
              <a:rPr lang="en-US" altLang="ko-KR" dirty="0"/>
              <a:t>'</a:t>
            </a:r>
            <a:r>
              <a:rPr lang="ko-KR" altLang="en-US" dirty="0"/>
              <a:t>이 반복적으로 진행되면</a:t>
            </a:r>
            <a:r>
              <a:rPr lang="en-US" altLang="ko-KR" dirty="0"/>
              <a:t>, CCTV </a:t>
            </a:r>
            <a:r>
              <a:rPr lang="ko-KR" altLang="en-US" dirty="0"/>
              <a:t>스트리밍과 동일한 효과</a:t>
            </a:r>
          </a:p>
          <a:p>
            <a:pPr lvl="1"/>
            <a:r>
              <a:rPr lang="en-US" altLang="ko-KR" dirty="0"/>
              <a:t>meta </a:t>
            </a:r>
            <a:r>
              <a:rPr lang="ko-KR" altLang="en-US" dirty="0"/>
              <a:t>태그를 이용한 반복 </a:t>
            </a:r>
            <a:r>
              <a:rPr lang="en-US" altLang="ko-KR" dirty="0"/>
              <a:t>'</a:t>
            </a:r>
            <a:r>
              <a:rPr lang="ko-KR" altLang="en-US" dirty="0"/>
              <a:t>새로 고침</a:t>
            </a:r>
            <a:r>
              <a:rPr lang="en-US" altLang="ko-KR" dirty="0"/>
              <a:t>'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cctv.html </a:t>
            </a:r>
            <a:r>
              <a:rPr lang="ko-KR" altLang="en-US" dirty="0"/>
              <a:t>수정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6C653B-ECB6-485A-AC63-3E553895A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74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CBF064C-2A94-49E4-B1A6-E1E7792519B1}"/>
              </a:ext>
            </a:extLst>
          </p:cNvPr>
          <p:cNvSpPr/>
          <p:nvPr/>
        </p:nvSpPr>
        <p:spPr>
          <a:xfrm>
            <a:off x="1187624" y="2930675"/>
            <a:ext cx="7578424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fr-FR" altLang="ko-KR" sz="1400" dirty="0"/>
              <a:t>&lt;meta http-equiv="refresh" content="0.5;url={%print(request.path)%}" &gt;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5CE8F0B-567C-40FE-83D6-D719334BA79B}"/>
              </a:ext>
            </a:extLst>
          </p:cNvPr>
          <p:cNvSpPr/>
          <p:nvPr/>
        </p:nvSpPr>
        <p:spPr>
          <a:xfrm>
            <a:off x="1187624" y="4074855"/>
            <a:ext cx="7578424" cy="224676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&lt;!doctype html&gt;</a:t>
            </a:r>
          </a:p>
          <a:p>
            <a:pPr defTabSz="180000"/>
            <a:r>
              <a:rPr lang="en-US" altLang="ko-KR" sz="1400" dirty="0"/>
              <a:t>&lt;html&gt;</a:t>
            </a:r>
          </a:p>
          <a:p>
            <a:pPr defTabSz="180000"/>
            <a:r>
              <a:rPr lang="en-US" altLang="ko-KR" sz="1400" dirty="0"/>
              <a:t>	&lt;head&gt;</a:t>
            </a:r>
          </a:p>
          <a:p>
            <a:pPr defTabSz="180000"/>
            <a:r>
              <a:rPr lang="en-US" altLang="ko-KR" sz="1400" dirty="0"/>
              <a:t>		&lt;title&gt;</a:t>
            </a:r>
            <a:r>
              <a:rPr lang="ko-KR" altLang="en-US" sz="1400" dirty="0"/>
              <a:t>원격 카메라 촬영 및 </a:t>
            </a:r>
            <a:r>
              <a:rPr lang="en-US" altLang="ko-KR" sz="1400" dirty="0"/>
              <a:t>CCTV </a:t>
            </a:r>
            <a:r>
              <a:rPr lang="ko-KR" altLang="en-US" sz="1400" dirty="0"/>
              <a:t>응용</a:t>
            </a:r>
            <a:r>
              <a:rPr lang="en-US" altLang="ko-KR" sz="1400" dirty="0"/>
              <a:t>&lt;/title&gt;</a:t>
            </a:r>
          </a:p>
          <a:p>
            <a:pPr defTabSz="180000"/>
            <a:r>
              <a:rPr lang="en-US" altLang="ko-KR" sz="1400" dirty="0"/>
              <a:t>		&lt;meta http-</a:t>
            </a:r>
            <a:r>
              <a:rPr lang="en-US" altLang="ko-KR" sz="1400" dirty="0" err="1"/>
              <a:t>equiv</a:t>
            </a:r>
            <a:r>
              <a:rPr lang="en-US" altLang="ko-KR" sz="1400" dirty="0"/>
              <a:t>="refresh" content="0.5;url={%print(</a:t>
            </a:r>
            <a:r>
              <a:rPr lang="en-US" altLang="ko-KR" sz="1400" dirty="0" err="1"/>
              <a:t>request.path</a:t>
            </a:r>
            <a:r>
              <a:rPr lang="en-US" altLang="ko-KR" sz="1400" dirty="0"/>
              <a:t>)%}" &gt;</a:t>
            </a:r>
          </a:p>
          <a:p>
            <a:pPr defTabSz="180000"/>
            <a:r>
              <a:rPr lang="en-US" altLang="ko-KR" sz="1400" dirty="0"/>
              <a:t>	&lt;/head&gt;</a:t>
            </a:r>
          </a:p>
          <a:p>
            <a:pPr defTabSz="180000"/>
            <a:r>
              <a:rPr lang="en-US" altLang="ko-KR" sz="1400" dirty="0"/>
              <a:t>	&lt;body&gt;</a:t>
            </a:r>
          </a:p>
          <a:p>
            <a:pPr defTabSz="180000"/>
            <a:r>
              <a:rPr lang="en-US" altLang="ko-KR" sz="1400" dirty="0"/>
              <a:t>		&lt;</a:t>
            </a:r>
            <a:r>
              <a:rPr lang="en-US" altLang="ko-KR" sz="1400" dirty="0" err="1"/>
              <a:t>img</a:t>
            </a:r>
            <a:r>
              <a:rPr lang="en-US" altLang="ko-KR" sz="1400" dirty="0"/>
              <a:t> </a:t>
            </a:r>
            <a:r>
              <a:rPr lang="en-US" altLang="ko-KR" sz="1400" dirty="0" err="1"/>
              <a:t>src</a:t>
            </a:r>
            <a:r>
              <a:rPr lang="en-US" altLang="ko-KR" sz="1400" dirty="0"/>
              <a:t>="{{</a:t>
            </a:r>
            <a:r>
              <a:rPr lang="en-US" altLang="ko-KR" sz="1400" dirty="0" err="1"/>
              <a:t>fname</a:t>
            </a:r>
            <a:r>
              <a:rPr lang="en-US" altLang="ko-KR" sz="1400" dirty="0"/>
              <a:t>}}" width="640" height="480"/&gt;</a:t>
            </a:r>
          </a:p>
          <a:p>
            <a:pPr defTabSz="180000"/>
            <a:r>
              <a:rPr lang="en-US" altLang="ko-KR" sz="1400" dirty="0"/>
              <a:t>	&lt;/body&gt;</a:t>
            </a:r>
          </a:p>
          <a:p>
            <a:pPr defTabSz="180000"/>
            <a:r>
              <a:rPr lang="en-US" altLang="ko-KR" sz="1400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220650859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33B860-3FAD-433B-A684-254F7F38E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CCTV </a:t>
            </a:r>
            <a:r>
              <a:rPr lang="ko-KR" altLang="en-US" dirty="0"/>
              <a:t>스트리밍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0E9D59-AF8C-49BF-AE93-CF776E40942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/>
              <a:t>실행 </a:t>
            </a:r>
            <a:r>
              <a:rPr lang="ko-KR" altLang="en-US" dirty="0"/>
              <a:t>및</a:t>
            </a:r>
            <a:r>
              <a:rPr lang="en-US" altLang="ko-KR"/>
              <a:t> </a:t>
            </a:r>
            <a:r>
              <a:rPr lang="ko-KR" altLang="en-US" dirty="0"/>
              <a:t>접속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DD7655-8674-4AFC-BF00-2889F9B54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75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382768C-B155-4C25-B1E8-B44DA602C1DD}"/>
              </a:ext>
            </a:extLst>
          </p:cNvPr>
          <p:cNvSpPr/>
          <p:nvPr/>
        </p:nvSpPr>
        <p:spPr>
          <a:xfrm>
            <a:off x="899592" y="1772816"/>
            <a:ext cx="7866456" cy="244827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pPr fontAlgn="base"/>
            <a:r>
              <a:rPr lang="en-US" altLang="ko-KR" sz="1200" b="1" dirty="0"/>
              <a:t>(</a:t>
            </a:r>
            <a:r>
              <a:rPr lang="en-US" altLang="ko-KR" sz="1200" b="1" dirty="0" err="1"/>
              <a:t>myenv</a:t>
            </a:r>
            <a:r>
              <a:rPr lang="en-US" altLang="ko-KR" sz="1200" b="1" dirty="0"/>
              <a:t>) </a:t>
            </a:r>
            <a:r>
              <a:rPr lang="en-US" altLang="ko-KR" sz="1200" b="1" dirty="0" err="1"/>
              <a:t>pi@pi</a:t>
            </a:r>
            <a:r>
              <a:rPr lang="en-US" altLang="ko-KR" sz="1200" b="1" dirty="0"/>
              <a:t>:~/ch06 $ python cctvapp.py</a:t>
            </a:r>
          </a:p>
          <a:p>
            <a:pPr fontAlgn="base"/>
            <a:r>
              <a:rPr lang="en-US" altLang="ko-KR" sz="1200" dirty="0"/>
              <a:t>* Serving Flask app "</a:t>
            </a:r>
            <a:r>
              <a:rPr lang="en-US" altLang="ko-KR" sz="1200" dirty="0" err="1"/>
              <a:t>cctvapp</a:t>
            </a:r>
            <a:r>
              <a:rPr lang="en-US" altLang="ko-KR" sz="1200" dirty="0"/>
              <a:t>" (lazy loading)</a:t>
            </a:r>
          </a:p>
          <a:p>
            <a:pPr fontAlgn="base"/>
            <a:r>
              <a:rPr lang="en-US" altLang="ko-KR" sz="1200" dirty="0"/>
              <a:t>...(</a:t>
            </a:r>
            <a:r>
              <a:rPr lang="ko-KR" altLang="en-US" sz="1200" dirty="0"/>
              <a:t>생략</a:t>
            </a:r>
            <a:r>
              <a:rPr lang="en-US" altLang="ko-KR" sz="1200" dirty="0"/>
              <a:t>)</a:t>
            </a:r>
          </a:p>
          <a:p>
            <a:pPr fontAlgn="base"/>
            <a:r>
              <a:rPr lang="en-US" altLang="ko-KR" sz="1200" dirty="0"/>
              <a:t>* Running on http://0.0.0.0:8080/ (Press CTRL+C to quit)</a:t>
            </a:r>
          </a:p>
          <a:p>
            <a:pPr fontAlgn="base"/>
            <a:r>
              <a:rPr lang="en-US" altLang="ko-KR" sz="1200" dirty="0"/>
              <a:t>192.168.0.50 - - [23/May/2023 16:47:56] "GET /</a:t>
            </a:r>
            <a:r>
              <a:rPr lang="en-US" altLang="ko-KR" sz="1200" dirty="0" err="1"/>
              <a:t>cctv</a:t>
            </a:r>
            <a:r>
              <a:rPr lang="en-US" altLang="ko-KR" sz="1200" dirty="0"/>
              <a:t> HTTP/1.1" 200 -</a:t>
            </a:r>
          </a:p>
          <a:p>
            <a:pPr fontAlgn="base"/>
            <a:r>
              <a:rPr lang="en-US" altLang="ko-KR" sz="1200" dirty="0"/>
              <a:t>192.168.0.50 - - [23/May/2023 16:47:56] "GET /static/16848280759.jpg HTTP/1.1" 200 -</a:t>
            </a:r>
          </a:p>
          <a:p>
            <a:pPr fontAlgn="base"/>
            <a:r>
              <a:rPr lang="en-US" altLang="ko-KR" sz="1200" dirty="0"/>
              <a:t>192.168.0.50 - - [23/May/2023 16:47:56] "GET /</a:t>
            </a:r>
            <a:r>
              <a:rPr lang="en-US" altLang="ko-KR" sz="1200" dirty="0" err="1"/>
              <a:t>cctv</a:t>
            </a:r>
            <a:r>
              <a:rPr lang="en-US" altLang="ko-KR" sz="1200" dirty="0"/>
              <a:t> HTTP/1.1" 200 -</a:t>
            </a:r>
          </a:p>
          <a:p>
            <a:pPr fontAlgn="base"/>
            <a:r>
              <a:rPr lang="en-US" altLang="ko-KR" sz="1200" dirty="0"/>
              <a:t>192.168.0.50 - - [23/May/2023 16:47:56] "GET /static/16848280767.jpg HTTP/1.1" 200 -</a:t>
            </a:r>
          </a:p>
          <a:p>
            <a:pPr fontAlgn="base"/>
            <a:r>
              <a:rPr lang="en-US" altLang="ko-KR" sz="1200" dirty="0"/>
              <a:t>192.168.0.50 - - [23/May/2023 16:47:57] "GET /</a:t>
            </a:r>
            <a:r>
              <a:rPr lang="en-US" altLang="ko-KR" sz="1200" dirty="0" err="1"/>
              <a:t>cctv</a:t>
            </a:r>
            <a:r>
              <a:rPr lang="en-US" altLang="ko-KR" sz="1200" dirty="0"/>
              <a:t> HTTP/1.1" 200 -</a:t>
            </a:r>
          </a:p>
          <a:p>
            <a:pPr fontAlgn="base"/>
            <a:r>
              <a:rPr lang="en-US" altLang="ko-KR" sz="1200" dirty="0"/>
              <a:t>192.168.0.50 - - [23/May/2023 16:47:57] "GET /static/16848280773.jpg HTTP/1.1" 200 -</a:t>
            </a:r>
          </a:p>
          <a:p>
            <a:pPr fontAlgn="base"/>
            <a:r>
              <a:rPr lang="en-US" altLang="ko-KR" sz="1200" dirty="0"/>
              <a:t>192.168.0.50 - - [23/May/2023 16:47:58] "GET /</a:t>
            </a:r>
            <a:r>
              <a:rPr lang="en-US" altLang="ko-KR" sz="1200" dirty="0" err="1"/>
              <a:t>cctv</a:t>
            </a:r>
            <a:r>
              <a:rPr lang="en-US" altLang="ko-KR" sz="1200" dirty="0"/>
              <a:t> HTTP/1.1" 200 -</a:t>
            </a:r>
          </a:p>
          <a:p>
            <a:pPr fontAlgn="base"/>
            <a:r>
              <a:rPr lang="en-US" altLang="ko-KR" sz="1200" dirty="0"/>
              <a:t>192.168.0.50 - - [23/May/2023 16:47:58] "GET /static/16848280780.jpg HTTP/1.1" 200 -</a:t>
            </a:r>
          </a:p>
          <a:p>
            <a:pPr fontAlgn="base"/>
            <a:r>
              <a:rPr lang="en-US" altLang="ko-KR" sz="1200" dirty="0"/>
              <a:t>....[</a:t>
            </a:r>
            <a:r>
              <a:rPr lang="ko-KR" altLang="en-US" sz="1200" dirty="0"/>
              <a:t>반복된다</a:t>
            </a:r>
            <a:r>
              <a:rPr lang="en-US" altLang="ko-KR" sz="1200" dirty="0"/>
              <a:t>]</a:t>
            </a:r>
            <a:endParaRPr lang="ko-KR" altLang="en-US" sz="12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3CE6CB62-99FF-85C3-CD31-BC8611B70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4365509"/>
            <a:ext cx="2592118" cy="230689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C48C4CB5-2D90-6119-9909-F99FF72419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6761" y="4365104"/>
            <a:ext cx="2592118" cy="230689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1AD3305-D5FE-CCB0-5113-F55EC98614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4015" y="4365510"/>
            <a:ext cx="2592118" cy="2306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2671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가을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가을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58857</TotalTime>
  <Words>7922</Words>
  <Application>Microsoft Macintosh PowerPoint</Application>
  <PresentationFormat>On-screen Show (4:3)</PresentationFormat>
  <Paragraphs>941</Paragraphs>
  <Slides>75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75</vt:i4>
      </vt:variant>
    </vt:vector>
  </HeadingPairs>
  <TitlesOfParts>
    <vt:vector size="85" baseType="lpstr">
      <vt:lpstr>굴림</vt:lpstr>
      <vt:lpstr>HY나무L</vt:lpstr>
      <vt:lpstr>맑은 고딕</vt:lpstr>
      <vt:lpstr>휴먼편지체</vt:lpstr>
      <vt:lpstr>함초롬바탕</vt:lpstr>
      <vt:lpstr>Arial</vt:lpstr>
      <vt:lpstr>Wingdings</vt:lpstr>
      <vt:lpstr>Wingdings 2</vt:lpstr>
      <vt:lpstr>가을</vt:lpstr>
      <vt:lpstr>디자인 사용자 지정</vt:lpstr>
      <vt:lpstr>6장 라즈베리파이로 웹서버 만들기</vt:lpstr>
      <vt:lpstr>강의 목표</vt:lpstr>
      <vt:lpstr>들어가기 전에</vt:lpstr>
      <vt:lpstr>6.1 웹 서비스</vt:lpstr>
      <vt:lpstr>웹 서버와 웹 응용 서버</vt:lpstr>
      <vt:lpstr>웹 서버와 웹 응용 서버</vt:lpstr>
      <vt:lpstr>웹 서버 사용 현황</vt:lpstr>
      <vt:lpstr>웹 서버 프레임워크</vt:lpstr>
      <vt:lpstr>6.2 플라스크</vt:lpstr>
      <vt:lpstr>플라스크 개요와 기본 동작</vt:lpstr>
      <vt:lpstr>플라스크 개요와 기본 동작</vt:lpstr>
      <vt:lpstr>플라스크 설치</vt:lpstr>
      <vt:lpstr>플라스크 활용 기본 사례 (1)</vt:lpstr>
      <vt:lpstr>플라스크 활용 기본 사례 (2)</vt:lpstr>
      <vt:lpstr>플라스크 활용 기본 사례 (3)</vt:lpstr>
      <vt:lpstr>플라스크 활용 기본 사례 (4)</vt:lpstr>
      <vt:lpstr>플라스크 활용 기본 사례 (5)</vt:lpstr>
      <vt:lpstr>플라스크 활용 기본 사례 (6)</vt:lpstr>
      <vt:lpstr>플라스크 활용 기본 사례 (7)</vt:lpstr>
      <vt:lpstr>PowerPoint Presentation</vt:lpstr>
      <vt:lpstr>예제 6-1 플라스크 웹 서버 만들기 연습</vt:lpstr>
      <vt:lpstr>예제 6-1 (계속)</vt:lpstr>
      <vt:lpstr>6.3 URL 라우팅</vt:lpstr>
      <vt:lpstr>URL과 라우팅 테이블 리뷰</vt:lpstr>
      <vt:lpstr>예제 6-2 URL 라우팅으로 동적 콘텐츠를 만들어 응답하기</vt:lpstr>
      <vt:lpstr>예제 6-2 (계속)</vt:lpstr>
      <vt:lpstr>URL 끝에 /가 있는 경우와 없는 경우 차이</vt:lpstr>
      <vt:lpstr>예제 6-3 URL 끝에 /가 있는 경우와 없는 경우 웹 서버 처리</vt:lpstr>
      <vt:lpstr>예제 6-3 (계속)</vt:lpstr>
      <vt:lpstr>정적 콘텐츠 다루기</vt:lpstr>
      <vt:lpstr>예제 6-4. 정적 콘텐츠 중 이미지 처리 - /static/image.jpg</vt:lpstr>
      <vt:lpstr>variable 사용 - URL의 일부를 함수의 매개 변수로 활용(1)</vt:lpstr>
      <vt:lpstr>variable 사용 - URL의 일부를 함수의 매개 변수로 활용(2)</vt:lpstr>
      <vt:lpstr>variable 사용 - URL의 일부를 함수의 매개 변수로 활용(3)</vt:lpstr>
      <vt:lpstr>예제 6-5 variable을 사용하여 예제 6-4를 하나의 URL로 매핑</vt:lpstr>
      <vt:lpstr>예제 6-5 (계속)</vt:lpstr>
      <vt:lpstr>예제 6-6 variable 이용 실습 – 은행 계좌에 입금, 출금, 조회 가능한 웹 서버 구축</vt:lpstr>
      <vt:lpstr>예제 6-6. variable을 이용 실습 – 은행 구좌에 저금, 출금, 조회 가능한 웹 서버 구축</vt:lpstr>
      <vt:lpstr>6.4템플릿 HTML 파일의 동적 변경</vt:lpstr>
      <vt:lpstr>플라스크의 디렉터리 구조</vt:lpstr>
      <vt:lpstr>템플릿 HTML과 render-template() 함수</vt:lpstr>
      <vt:lpstr>템플릿 HTML과 render-template() 함수</vt:lpstr>
      <vt:lpstr>예제 6-7 템플릿 HTML 파일을 render_template() 함수로 수정 없이 그대로 전송</vt:lpstr>
      <vt:lpstr>예제 6-7 템플릿 HTML 파일을 render_template() 함수로 수정 없이 그대로 전송</vt:lpstr>
      <vt:lpstr>템플릿 HTML 파일에 스크립트 사용</vt:lpstr>
      <vt:lpstr>템플릿 HTML 파일에 스크립트 사용</vt:lpstr>
      <vt:lpstr>템플릿 HTML 파일에 스크립트 사용</vt:lpstr>
      <vt:lpstr>예제 6–8 스크립트를 가진 템플릿 HTML과 render_template() 활용</vt:lpstr>
      <vt:lpstr>예제 6–8 (계속)</vt:lpstr>
      <vt:lpstr>예제 6-8 (계속)</vt:lpstr>
      <vt:lpstr>6.5 웹브라우저와 플라스크 사이의 데이터 전송</vt:lpstr>
      <vt:lpstr>GET과 POST</vt:lpstr>
      <vt:lpstr>플라스크의 request 객체</vt:lpstr>
      <vt:lpstr>예제 6-9 GET 방식의 request 객체의 속성 검사</vt:lpstr>
      <vt:lpstr>예제 6-9 (계속)</vt:lpstr>
      <vt:lpstr>웹 브라우저로부터 GET 방식의 데이터 수신</vt:lpstr>
      <vt:lpstr>예제 6-10 GET 방식으로 사칙 연산하기</vt:lpstr>
      <vt:lpstr>예제 6-10 (계속)</vt:lpstr>
      <vt:lpstr>예제 6-11 폼 태그(&lt;form&gt;)를 이용하여 GET 방식으로 웹 서버에 데이터 전송</vt:lpstr>
      <vt:lpstr>예제 6-11 (계속)</vt:lpstr>
      <vt:lpstr>예제 6-11 (계속)</vt:lpstr>
      <vt:lpstr>POST 방식으로 데이터 전송</vt:lpstr>
      <vt:lpstr>예제 6-12 폼 태그(&lt;form&gt;)를 이용하여 POST 방식으로 웹 서버에 데이터 전송</vt:lpstr>
      <vt:lpstr>예제 6-12 (계속)</vt:lpstr>
      <vt:lpstr>예제 6-12 (계속)</vt:lpstr>
      <vt:lpstr>6.6 플라스크 종합 응용 – 원격 카메라 촬영 및 CCTV 웹 서버 만들기</vt:lpstr>
      <vt:lpstr>프로그램 구조</vt:lpstr>
      <vt:lpstr>프로그램 동작</vt:lpstr>
      <vt:lpstr>프로그램 동작 과정</vt:lpstr>
      <vt:lpstr>camara.py</vt:lpstr>
      <vt:lpstr>cctvapp.py</vt:lpstr>
      <vt:lpstr>템플릿 HTML 파일 - cctv.html</vt:lpstr>
      <vt:lpstr>실행</vt:lpstr>
      <vt:lpstr>CCTV 스트리밍</vt:lpstr>
      <vt:lpstr>CCTV 스트리밍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Kitae</dc:creator>
  <cp:lastModifiedBy>필준 박</cp:lastModifiedBy>
  <cp:revision>1155</cp:revision>
  <cp:lastPrinted>2016-11-15T04:04:12Z</cp:lastPrinted>
  <dcterms:created xsi:type="dcterms:W3CDTF">2011-08-27T14:53:28Z</dcterms:created>
  <dcterms:modified xsi:type="dcterms:W3CDTF">2026-10-01T07:29:52Z</dcterms:modified>
</cp:coreProperties>
</file>