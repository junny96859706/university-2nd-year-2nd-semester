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61"/>
  </p:notesMasterIdLst>
  <p:sldIdLst>
    <p:sldId id="256" r:id="rId2"/>
    <p:sldId id="441" r:id="rId3"/>
    <p:sldId id="551" r:id="rId4"/>
    <p:sldId id="541" r:id="rId5"/>
    <p:sldId id="257" r:id="rId6"/>
    <p:sldId id="550" r:id="rId7"/>
    <p:sldId id="261" r:id="rId8"/>
    <p:sldId id="516" r:id="rId9"/>
    <p:sldId id="517" r:id="rId10"/>
    <p:sldId id="531" r:id="rId11"/>
    <p:sldId id="532" r:id="rId12"/>
    <p:sldId id="533" r:id="rId13"/>
    <p:sldId id="260" r:id="rId14"/>
    <p:sldId id="523" r:id="rId15"/>
    <p:sldId id="258" r:id="rId16"/>
    <p:sldId id="458" r:id="rId17"/>
    <p:sldId id="259" r:id="rId18"/>
    <p:sldId id="534" r:id="rId19"/>
    <p:sldId id="526" r:id="rId20"/>
    <p:sldId id="527" r:id="rId21"/>
    <p:sldId id="529" r:id="rId22"/>
    <p:sldId id="524" r:id="rId23"/>
    <p:sldId id="263" r:id="rId24"/>
    <p:sldId id="442" r:id="rId25"/>
    <p:sldId id="514" r:id="rId26"/>
    <p:sldId id="513" r:id="rId27"/>
    <p:sldId id="461" r:id="rId28"/>
    <p:sldId id="493" r:id="rId29"/>
    <p:sldId id="535" r:id="rId30"/>
    <p:sldId id="444" r:id="rId31"/>
    <p:sldId id="542" r:id="rId32"/>
    <p:sldId id="543" r:id="rId33"/>
    <p:sldId id="544" r:id="rId34"/>
    <p:sldId id="545" r:id="rId35"/>
    <p:sldId id="462" r:id="rId36"/>
    <p:sldId id="546" r:id="rId37"/>
    <p:sldId id="448" r:id="rId38"/>
    <p:sldId id="447" r:id="rId39"/>
    <p:sldId id="536" r:id="rId40"/>
    <p:sldId id="465" r:id="rId41"/>
    <p:sldId id="463" r:id="rId42"/>
    <p:sldId id="464" r:id="rId43"/>
    <p:sldId id="537" r:id="rId44"/>
    <p:sldId id="470" r:id="rId45"/>
    <p:sldId id="509" r:id="rId46"/>
    <p:sldId id="522" r:id="rId47"/>
    <p:sldId id="496" r:id="rId48"/>
    <p:sldId id="515" r:id="rId49"/>
    <p:sldId id="538" r:id="rId50"/>
    <p:sldId id="505" r:id="rId51"/>
    <p:sldId id="539" r:id="rId52"/>
    <p:sldId id="508" r:id="rId53"/>
    <p:sldId id="547" r:id="rId54"/>
    <p:sldId id="548" r:id="rId55"/>
    <p:sldId id="549" r:id="rId56"/>
    <p:sldId id="455" r:id="rId57"/>
    <p:sldId id="540" r:id="rId58"/>
    <p:sldId id="456" r:id="rId59"/>
    <p:sldId id="472" r:id="rId60"/>
  </p:sldIdLst>
  <p:sldSz cx="9144000" cy="6858000" type="screen4x3"/>
  <p:notesSz cx="6797675" cy="98742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66375F2-88DD-437C-BAA4-1209B5C42EEB}">
          <p14:sldIdLst>
            <p14:sldId id="256"/>
            <p14:sldId id="441"/>
            <p14:sldId id="551"/>
            <p14:sldId id="541"/>
            <p14:sldId id="257"/>
            <p14:sldId id="550"/>
            <p14:sldId id="261"/>
            <p14:sldId id="516"/>
            <p14:sldId id="517"/>
            <p14:sldId id="531"/>
            <p14:sldId id="532"/>
            <p14:sldId id="533"/>
            <p14:sldId id="260"/>
            <p14:sldId id="523"/>
            <p14:sldId id="258"/>
            <p14:sldId id="458"/>
            <p14:sldId id="259"/>
            <p14:sldId id="534"/>
            <p14:sldId id="526"/>
            <p14:sldId id="527"/>
            <p14:sldId id="529"/>
            <p14:sldId id="524"/>
            <p14:sldId id="263"/>
            <p14:sldId id="442"/>
            <p14:sldId id="514"/>
            <p14:sldId id="513"/>
            <p14:sldId id="461"/>
            <p14:sldId id="493"/>
            <p14:sldId id="535"/>
            <p14:sldId id="444"/>
            <p14:sldId id="542"/>
            <p14:sldId id="543"/>
            <p14:sldId id="544"/>
            <p14:sldId id="545"/>
            <p14:sldId id="462"/>
            <p14:sldId id="546"/>
            <p14:sldId id="448"/>
            <p14:sldId id="447"/>
            <p14:sldId id="536"/>
            <p14:sldId id="465"/>
            <p14:sldId id="463"/>
            <p14:sldId id="464"/>
            <p14:sldId id="537"/>
            <p14:sldId id="470"/>
            <p14:sldId id="509"/>
            <p14:sldId id="522"/>
            <p14:sldId id="496"/>
            <p14:sldId id="515"/>
            <p14:sldId id="538"/>
            <p14:sldId id="505"/>
            <p14:sldId id="539"/>
            <p14:sldId id="508"/>
            <p14:sldId id="547"/>
            <p14:sldId id="548"/>
            <p14:sldId id="549"/>
            <p14:sldId id="455"/>
            <p14:sldId id="540"/>
            <p14:sldId id="456"/>
            <p14:sldId id="472"/>
          </p14:sldIdLst>
        </p14:section>
        <p14:section name="제목 없는 구역" id="{50618249-BD4B-4608-80C6-F69DDB80ECB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E7054FD-1C6B-A55E-35AD-589E842C72A1}" name="김은비" initials="은김" userId="S::2271240@hansung.ac.kr::631bbaa1-4c39-4e42-8df8-61dad189aec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재문" initials="이" lastIdx="1" clrIdx="0">
    <p:extLst>
      <p:ext uri="{19B8F6BF-5375-455C-9EA6-DF929625EA0E}">
        <p15:presenceInfo xmlns:p15="http://schemas.microsoft.com/office/powerpoint/2012/main" userId="S::jmlee@hansung.edu::60dd5729-9113-4c1b-96fb-fbf1f72f30d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739C"/>
    <a:srgbClr val="8BB0CF"/>
    <a:srgbClr val="FFFF66"/>
    <a:srgbClr val="C9E7A7"/>
    <a:srgbClr val="669900"/>
    <a:srgbClr val="FF5B5B"/>
    <a:srgbClr val="7AA5C8"/>
    <a:srgbClr val="FF3300"/>
    <a:srgbClr val="8FFE00"/>
    <a:srgbClr val="4FB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1134" autoAdjust="0"/>
    <p:restoredTop sz="95731" autoAdjust="0"/>
  </p:normalViewPr>
  <p:slideViewPr>
    <p:cSldViewPr>
      <p:cViewPr varScale="1">
        <p:scale>
          <a:sx n="72" d="100"/>
          <a:sy n="72" d="100"/>
        </p:scale>
        <p:origin x="58" y="4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2040" y="-78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8/10/relationships/authors" Target="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9897E-559B-4802-87FD-BDDBC21CBABC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AADCE-4523-43FE-B0A8-90B87F2F6B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41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4A8C6-921A-4390-AD29-F2B4015872B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626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Dup=</a:t>
            </a:r>
            <a:r>
              <a:rPr kumimoji="1" lang="ko-KR" altLang="en-US" dirty="0"/>
              <a:t>메시지 전송 안정성확인</a:t>
            </a:r>
            <a:r>
              <a:rPr kumimoji="1" lang="en-US" altLang="ko-KR" dirty="0"/>
              <a:t>/QOS =</a:t>
            </a:r>
            <a:r>
              <a:rPr kumimoji="1" lang="ko-KR" altLang="en-US" dirty="0" err="1"/>
              <a:t>메세지품질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AADCE-4523-43FE-B0A8-90B87F2F6B6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102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AADCE-4523-43FE-B0A8-90B87F2F6B6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276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HY나무L" pitchFamily="18" charset="-127"/>
                <a:ea typeface="HY나무L" pitchFamily="18" charset="-127"/>
              </a:defRPr>
            </a:lvl3pPr>
            <a:lvl4pPr>
              <a:defRPr sz="1400">
                <a:latin typeface="휴먼편지체" pitchFamily="18" charset="-127"/>
                <a:ea typeface="휴먼편지체" pitchFamily="18" charset="-127"/>
              </a:defRPr>
            </a:lvl4pPr>
          </a:lstStyle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>
            <a:normAutofit/>
          </a:bodyPr>
          <a:lstStyle>
            <a:lvl1pPr marL="342900" indent="-342900">
              <a:buSzPct val="100000"/>
              <a:buFont typeface="+mj-lt"/>
              <a:buAutoNum type="arabicPeriod"/>
              <a:defRPr sz="15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/>
              <a:t>명품 웹 프로그래밍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웹 프로그래밍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/>
              <a:t>명품 웹 프로그래밍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웹 프로그래밍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웹 프로그래밍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 algn="r">
              <a:defRPr cap="all" baseline="0"/>
            </a:lvl1pPr>
          </a:lstStyle>
          <a:p>
            <a:endParaRPr kumimoji="0" lang="en-US" dirty="0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endParaRPr kumimoji="0" lang="en-US" dirty="0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rgbClr val="FFC000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383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752128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590550" y="1394460"/>
            <a:ext cx="8153400" cy="50588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-8725" y="1052736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052736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</p:sldLayoutIdLst>
  <p:hf hdr="0" dt="0"/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7</a:t>
            </a:r>
            <a:r>
              <a:rPr lang="ko-KR" altLang="en-US"/>
              <a:t>장</a:t>
            </a:r>
            <a:r>
              <a:rPr lang="en-US" altLang="ko-KR"/>
              <a:t>. </a:t>
            </a:r>
            <a:r>
              <a:rPr lang="ko-KR" altLang="en-US"/>
              <a:t>메시지 통신과 </a:t>
            </a:r>
            <a:r>
              <a:rPr lang="en-US" altLang="ko-KR"/>
              <a:t>MQTT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7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96"/>
    </mc:Choice>
    <mc:Fallback xmlns="">
      <p:transition spd="slow" advTm="1029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altLang="ko-KR"/>
          </a:p>
          <a:p>
            <a:r>
              <a:rPr lang="en-US" altLang="ko-KR"/>
              <a:t>IoT</a:t>
            </a:r>
            <a:r>
              <a:rPr lang="ko-KR" altLang="en-US"/>
              <a:t>의</a:t>
            </a:r>
            <a:r>
              <a:rPr lang="en-US" altLang="ko-KR"/>
              <a:t> </a:t>
            </a:r>
            <a:r>
              <a:rPr lang="ko-KR" altLang="en-US"/>
              <a:t>표준 통신 기법 </a:t>
            </a:r>
            <a:r>
              <a:rPr lang="en-US" altLang="ko-KR"/>
              <a:t>MQTT</a:t>
            </a:r>
            <a:r>
              <a:rPr lang="ko-KR" altLang="en-US"/>
              <a:t>를 이해한다</a:t>
            </a:r>
            <a:r>
              <a:rPr lang="en-US" altLang="ko-KR"/>
              <a:t>.</a:t>
            </a:r>
          </a:p>
          <a:p>
            <a:r>
              <a:rPr lang="ko-KR" altLang="en-US" err="1"/>
              <a:t>라즈베리파이에서</a:t>
            </a:r>
            <a:r>
              <a:rPr lang="ko-KR" altLang="en-US"/>
              <a:t> </a:t>
            </a:r>
            <a:r>
              <a:rPr lang="en-US" altLang="ko-KR"/>
              <a:t>MQTT</a:t>
            </a:r>
            <a:r>
              <a:rPr lang="ko-KR" altLang="en-US"/>
              <a:t>를 활용하는 방법을 안다</a:t>
            </a:r>
            <a:r>
              <a:rPr lang="en-US" altLang="ko-KR"/>
              <a:t>.</a:t>
            </a:r>
          </a:p>
          <a:p>
            <a:r>
              <a:rPr lang="en-US" altLang="ko-KR" err="1"/>
              <a:t>mosquitto</a:t>
            </a:r>
            <a:r>
              <a:rPr lang="en-US" altLang="ko-KR"/>
              <a:t> </a:t>
            </a:r>
            <a:r>
              <a:rPr lang="ko-KR" altLang="en-US"/>
              <a:t>브로커를 활용한다</a:t>
            </a:r>
            <a:r>
              <a:rPr lang="en-US" altLang="ko-KR"/>
              <a:t>.</a:t>
            </a:r>
          </a:p>
          <a:p>
            <a:r>
              <a:rPr lang="en-US" altLang="ko-KR" err="1"/>
              <a:t>paho</a:t>
            </a:r>
            <a:r>
              <a:rPr lang="en-US" altLang="ko-KR"/>
              <a:t> </a:t>
            </a:r>
            <a:r>
              <a:rPr lang="en-US" altLang="ko-KR" err="1"/>
              <a:t>mqtt</a:t>
            </a:r>
            <a:r>
              <a:rPr lang="en-US" altLang="ko-KR"/>
              <a:t> </a:t>
            </a:r>
            <a:r>
              <a:rPr lang="ko-KR" altLang="en-US" err="1"/>
              <a:t>파이썬</a:t>
            </a:r>
            <a:r>
              <a:rPr lang="ko-KR" altLang="en-US"/>
              <a:t> 라이브러리를 활용하여 </a:t>
            </a:r>
            <a:r>
              <a:rPr lang="en-US" altLang="ko-KR"/>
              <a:t>MQTT </a:t>
            </a:r>
            <a:r>
              <a:rPr lang="ko-KR" altLang="en-US"/>
              <a:t>클라이언트들을 작성할 수 있다</a:t>
            </a:r>
            <a:r>
              <a:rPr lang="en-US" altLang="ko-KR"/>
              <a:t>.</a:t>
            </a:r>
          </a:p>
          <a:p>
            <a:r>
              <a:rPr lang="en-US" altLang="ko-KR"/>
              <a:t>Windows</a:t>
            </a:r>
            <a:r>
              <a:rPr lang="ko-KR" altLang="en-US"/>
              <a:t>와 </a:t>
            </a:r>
            <a:r>
              <a:rPr lang="ko-KR" altLang="en-US" err="1"/>
              <a:t>라즈베리파이</a:t>
            </a:r>
            <a:r>
              <a:rPr lang="ko-KR" altLang="en-US"/>
              <a:t> 모두에 </a:t>
            </a:r>
            <a:r>
              <a:rPr lang="en-US" altLang="ko-KR" err="1"/>
              <a:t>paho</a:t>
            </a:r>
            <a:r>
              <a:rPr lang="en-US" altLang="ko-KR"/>
              <a:t> </a:t>
            </a:r>
            <a:r>
              <a:rPr lang="en-US" altLang="ko-KR" err="1"/>
              <a:t>mqtt</a:t>
            </a:r>
            <a:r>
              <a:rPr lang="ko-KR" altLang="en-US"/>
              <a:t>를 다룰 수 있다</a:t>
            </a:r>
            <a:r>
              <a:rPr lang="en-US" altLang="ko-KR"/>
              <a:t>.</a:t>
            </a:r>
          </a:p>
          <a:p>
            <a:r>
              <a:rPr lang="en-US" altLang="ko-KR"/>
              <a:t>MQTT</a:t>
            </a:r>
            <a:r>
              <a:rPr lang="ko-KR" altLang="en-US"/>
              <a:t>를 활용하여 </a:t>
            </a:r>
            <a:r>
              <a:rPr lang="ko-KR" altLang="en-US" err="1"/>
              <a:t>라즈베리파이에서</a:t>
            </a:r>
            <a:r>
              <a:rPr lang="ko-KR" altLang="en-US"/>
              <a:t> 보낸 메시지를 </a:t>
            </a:r>
            <a:r>
              <a:rPr lang="en-US" altLang="ko-KR"/>
              <a:t>Window</a:t>
            </a:r>
            <a:r>
              <a:rPr lang="ko-KR" altLang="en-US"/>
              <a:t>에서 수신할 수 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강의 목표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481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B5E8A677-21D6-43AF-99AC-30CFE20CF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들어가기 전에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4B1BA24-DCC1-447A-8839-9A507DD01FB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예제와 실습은 </a:t>
            </a:r>
            <a:r>
              <a:rPr lang="en-US" altLang="ko-KR"/>
              <a:t>myenv </a:t>
            </a:r>
            <a:r>
              <a:rPr lang="ko-KR" altLang="en-US"/>
              <a:t>가상 환경에서 실행</a:t>
            </a:r>
            <a:endParaRPr lang="en-US" altLang="ko-KR"/>
          </a:p>
          <a:p>
            <a:pPr lvl="1"/>
            <a:r>
              <a:rPr lang="ko-KR" altLang="en-US"/>
              <a:t>파이썬 코드 실행 전</a:t>
            </a:r>
            <a:r>
              <a:rPr lang="en-US" altLang="ko-KR"/>
              <a:t> </a:t>
            </a:r>
            <a:r>
              <a:rPr lang="ko-KR" altLang="en-US"/>
              <a:t>반드시 가상 환경 활성화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r>
              <a:rPr lang="ko-KR" altLang="en-US"/>
              <a:t>예제 파이썬 코드는 </a:t>
            </a:r>
            <a:r>
              <a:rPr lang="en-US" altLang="ko-KR"/>
              <a:t>ch07 </a:t>
            </a:r>
            <a:r>
              <a:rPr lang="ko-KR" altLang="en-US"/>
              <a:t>디렉터리에 저장하고 실행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 MQTT </a:t>
            </a:r>
            <a:r>
              <a:rPr lang="ko-KR" altLang="en-US"/>
              <a:t>프로그램 작성에는 </a:t>
            </a:r>
            <a:r>
              <a:rPr lang="en-US" altLang="ko-KR"/>
              <a:t>paho.mqtt </a:t>
            </a:r>
            <a:r>
              <a:rPr lang="ko-KR" altLang="en-US"/>
              <a:t>버전</a:t>
            </a:r>
            <a:r>
              <a:rPr lang="en-US" altLang="ko-KR"/>
              <a:t>2 </a:t>
            </a:r>
            <a:r>
              <a:rPr lang="ko-KR" altLang="en-US"/>
              <a:t>사용</a:t>
            </a:r>
            <a:endParaRPr lang="en-US" altLang="ko-KR"/>
          </a:p>
          <a:p>
            <a:pPr lvl="1"/>
            <a:r>
              <a:rPr lang="en-US" altLang="ko-KR"/>
              <a:t>Client() </a:t>
            </a:r>
            <a:r>
              <a:rPr lang="ko-KR" altLang="en-US"/>
              <a:t>생성자와 </a:t>
            </a:r>
            <a:r>
              <a:rPr lang="en-US" altLang="ko-KR"/>
              <a:t>on_connect()</a:t>
            </a:r>
            <a:r>
              <a:rPr lang="ko-KR" altLang="en-US"/>
              <a:t>의 매개 변수에 유의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7134A7-1647-4558-B85E-D57EF885A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FA5ABD5-64B8-445A-931D-B040DECAB7FD}"/>
              </a:ext>
            </a:extLst>
          </p:cNvPr>
          <p:cNvSpPr/>
          <p:nvPr/>
        </p:nvSpPr>
        <p:spPr>
          <a:xfrm>
            <a:off x="1331640" y="2232157"/>
            <a:ext cx="4572000" cy="584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r>
              <a:rPr lang="en-US" altLang="ko-KR" sz="1600" b="1">
                <a:latin typeface="+mn-ea"/>
              </a:rPr>
              <a:t>pi@pi:~ $ source myenv/bin/activate</a:t>
            </a:r>
          </a:p>
          <a:p>
            <a:r>
              <a:rPr lang="en-US" altLang="ko-KR" sz="1600" b="1">
                <a:latin typeface="+mn-ea"/>
              </a:rPr>
              <a:t>(myenv) pi@pi:~ $</a:t>
            </a:r>
            <a:endParaRPr lang="ko-KR" altLang="en-US" sz="1600" b="1"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D54256-F654-4A32-A5D1-0BB5771D1345}"/>
              </a:ext>
            </a:extLst>
          </p:cNvPr>
          <p:cNvSpPr/>
          <p:nvPr/>
        </p:nvSpPr>
        <p:spPr>
          <a:xfrm>
            <a:off x="1331640" y="3789040"/>
            <a:ext cx="4572000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r>
              <a:rPr lang="pt-BR" altLang="ko-KR" sz="1600" b="1">
                <a:latin typeface="+mn-ea"/>
              </a:rPr>
              <a:t>(myenv) pi@pi:~ $ mkdir ch07</a:t>
            </a:r>
          </a:p>
          <a:p>
            <a:r>
              <a:rPr lang="nb-NO" altLang="ko-KR" sz="1600" b="1">
                <a:latin typeface="+mn-ea"/>
              </a:rPr>
              <a:t>(myenv) pi@pi:~ $ cd ch07</a:t>
            </a:r>
          </a:p>
          <a:p>
            <a:r>
              <a:rPr lang="en-US" altLang="ko-KR" sz="1600" b="1">
                <a:latin typeface="+mn-ea"/>
              </a:rPr>
              <a:t>(myenv) pi@pi:~/ch07 $</a:t>
            </a:r>
            <a:endParaRPr lang="ko-KR" altLang="en-US" sz="1600" b="1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26082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FF84BE3-7DF0-4102-8F8C-1EAEEDB19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155AF7D-6FBC-4223-8761-4F0870568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7.1 MQTT</a:t>
            </a:r>
            <a:r>
              <a:rPr lang="ko-KR" altLang="en-US"/>
              <a:t>를 이용한 메시지 통신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F44AE7-D343-4B67-ACAD-3FED47C613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174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DCD646-EEF2-D24E-801B-960B7E026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MQTT </a:t>
            </a:r>
            <a:r>
              <a:rPr kumimoji="1" lang="ko-KR" altLang="en-US"/>
              <a:t>통신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B914AC-59F5-8349-853E-CF1EBE00AB5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3888432"/>
          </a:xfrm>
        </p:spPr>
        <p:txBody>
          <a:bodyPr>
            <a:normAutofit/>
          </a:bodyPr>
          <a:lstStyle/>
          <a:p>
            <a:r>
              <a:rPr kumimoji="1" lang="en-US" altLang="ko-KR"/>
              <a:t>MQTT</a:t>
            </a:r>
          </a:p>
          <a:p>
            <a:pPr lvl="1"/>
            <a:r>
              <a:rPr lang="en" altLang="ko-KR" sz="1800"/>
              <a:t>Message Queuing Telemetry Transport</a:t>
            </a:r>
          </a:p>
          <a:p>
            <a:pPr lvl="1"/>
            <a:r>
              <a:rPr lang="en-US" altLang="ko-KR" sz="1800"/>
              <a:t>1999</a:t>
            </a:r>
            <a:r>
              <a:rPr lang="ko-KR" altLang="en-US" sz="1800"/>
              <a:t>년 </a:t>
            </a:r>
            <a:r>
              <a:rPr lang="en-US" altLang="ko-KR" sz="1800"/>
              <a:t>IBM</a:t>
            </a:r>
            <a:r>
              <a:rPr lang="ko-KR" altLang="en-US" sz="1800"/>
              <a:t>에 의해 개발 메시지 기반의 통신 프로토톨</a:t>
            </a:r>
            <a:endParaRPr lang="en-US" altLang="ko-KR" sz="1800"/>
          </a:p>
          <a:p>
            <a:pPr lvl="2"/>
            <a:r>
              <a:rPr kumimoji="1" lang="en-US" altLang="ko-KR" sz="1600"/>
              <a:t>subscribe/publish </a:t>
            </a:r>
            <a:r>
              <a:rPr kumimoji="1" lang="ko-KR" altLang="en-US" sz="1600"/>
              <a:t>방식으로 </a:t>
            </a:r>
            <a:r>
              <a:rPr lang="ko-KR" altLang="en-US" sz="1600"/>
              <a:t>메시지 전송</a:t>
            </a:r>
            <a:endParaRPr lang="en-US" altLang="ko-KR" sz="1600"/>
          </a:p>
          <a:p>
            <a:pPr lvl="2"/>
            <a:r>
              <a:rPr kumimoji="1" lang="en-US" altLang="ko-KR"/>
              <a:t>subscribe – </a:t>
            </a:r>
            <a:r>
              <a:rPr kumimoji="1" lang="ko-KR" altLang="en-US"/>
              <a:t>메시지를 받고자 </a:t>
            </a:r>
            <a:r>
              <a:rPr kumimoji="1" lang="ko-KR" altLang="en-US" b="1"/>
              <a:t>토픽</a:t>
            </a:r>
            <a:r>
              <a:rPr kumimoji="1" lang="ko-KR" altLang="en-US"/>
              <a:t>을 등록하는 행위</a:t>
            </a:r>
            <a:endParaRPr kumimoji="1" lang="en-US" altLang="ko-KR"/>
          </a:p>
          <a:p>
            <a:pPr lvl="2"/>
            <a:r>
              <a:rPr kumimoji="1" lang="en-US" altLang="ko-KR"/>
              <a:t>publish – </a:t>
            </a:r>
            <a:r>
              <a:rPr kumimoji="1" lang="ko-KR" altLang="en-US" b="1"/>
              <a:t>토픽</a:t>
            </a:r>
            <a:r>
              <a:rPr kumimoji="1" lang="ko-KR" altLang="en-US"/>
              <a:t>과 함께 메시지를 보내는 행위</a:t>
            </a:r>
            <a:endParaRPr kumimoji="1" lang="en-US" altLang="ko-KR"/>
          </a:p>
          <a:p>
            <a:r>
              <a:rPr kumimoji="1" lang="ko-KR" altLang="en-US"/>
              <a:t>활용</a:t>
            </a:r>
            <a:endParaRPr kumimoji="1" lang="en-US" altLang="ko-KR"/>
          </a:p>
          <a:p>
            <a:pPr lvl="1"/>
            <a:r>
              <a:rPr kumimoji="1" lang="ko-KR" altLang="en-US"/>
              <a:t>센서 수집 및 제어</a:t>
            </a:r>
            <a:r>
              <a:rPr kumimoji="1" lang="en-US" altLang="ko-KR"/>
              <a:t>, </a:t>
            </a:r>
            <a:r>
              <a:rPr kumimoji="1" lang="ko-KR" altLang="en-US"/>
              <a:t>자율자동차의 센서 수집 및 제어</a:t>
            </a:r>
            <a:endParaRPr kumimoji="1" lang="en-US" altLang="ko-KR"/>
          </a:p>
          <a:p>
            <a:pPr lvl="1"/>
            <a:r>
              <a:rPr kumimoji="1" lang="ko-KR" altLang="en-US"/>
              <a:t>메시지 채팅</a:t>
            </a:r>
            <a:r>
              <a:rPr kumimoji="1" lang="en-US" altLang="ko-KR"/>
              <a:t>, </a:t>
            </a:r>
            <a:r>
              <a:rPr kumimoji="1" lang="ko-KR" altLang="en-US"/>
              <a:t>페이스북은 </a:t>
            </a:r>
            <a:r>
              <a:rPr kumimoji="1" lang="en-US" altLang="ko-KR"/>
              <a:t>MQTT </a:t>
            </a:r>
            <a:r>
              <a:rPr kumimoji="1" lang="ko-KR" altLang="en-US"/>
              <a:t>기반</a:t>
            </a:r>
            <a:endParaRPr kumimoji="1" lang="en-US" altLang="ko-KR"/>
          </a:p>
          <a:p>
            <a:pPr marL="365760" lvl="1" indent="0">
              <a:buNone/>
            </a:pPr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84626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FF84BE3-7DF0-4102-8F8C-1EAEEDB19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155AF7D-6FBC-4223-8761-4F0870568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7.2 MQTT </a:t>
            </a:r>
            <a:r>
              <a:rPr lang="ko-KR" altLang="en-US"/>
              <a:t>통신의 구성 요소와 통신 과정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F44AE7-D343-4B67-ACAD-3FED47C613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857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1E1849-2CAC-3A4B-AA39-F25B8FC0B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MQTT </a:t>
            </a:r>
            <a:r>
              <a:rPr lang="ko-KR" altLang="en-US"/>
              <a:t>통신의 구성 요소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D54500-3B56-8A46-9EC7-B9C8C6EF8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MQTT </a:t>
            </a:r>
            <a:r>
              <a:rPr lang="ko-KR" altLang="en-US" dirty="0"/>
              <a:t>통신의 구성 요소</a:t>
            </a:r>
            <a:endParaRPr lang="en-US" altLang="ko-KR" dirty="0"/>
          </a:p>
          <a:p>
            <a:pPr lvl="1"/>
            <a:r>
              <a:rPr lang="ko-KR" altLang="en-US" dirty="0"/>
              <a:t>메시지 송신자 </a:t>
            </a:r>
            <a:r>
              <a:rPr lang="en-US" altLang="ko-KR" dirty="0"/>
              <a:t>- publisher </a:t>
            </a:r>
            <a:r>
              <a:rPr lang="ko-KR" altLang="en-US" dirty="0"/>
              <a:t>클라이언트</a:t>
            </a:r>
            <a:endParaRPr lang="en-US" altLang="ko-KR" dirty="0"/>
          </a:p>
          <a:p>
            <a:pPr lvl="2"/>
            <a:r>
              <a:rPr lang="ko-KR" altLang="en-US"/>
              <a:t>토픽과 </a:t>
            </a:r>
            <a:r>
              <a:rPr lang="ko-KR" altLang="en-US" dirty="0"/>
              <a:t>메시지를 브로커에게 전송</a:t>
            </a:r>
            <a:endParaRPr lang="en-US" altLang="ko-KR" dirty="0"/>
          </a:p>
          <a:p>
            <a:pPr lvl="1"/>
            <a:r>
              <a:rPr lang="ko-KR" altLang="en-US"/>
              <a:t>메시지 </a:t>
            </a:r>
            <a:r>
              <a:rPr lang="ko-KR" altLang="en-US" dirty="0"/>
              <a:t>수신자 </a:t>
            </a:r>
            <a:r>
              <a:rPr lang="en-US" altLang="ko-KR" dirty="0"/>
              <a:t>- subscriber </a:t>
            </a:r>
            <a:r>
              <a:rPr lang="ko-KR" altLang="en-US" dirty="0"/>
              <a:t>클라이언트</a:t>
            </a:r>
            <a:endParaRPr lang="en-US" altLang="ko-KR" dirty="0"/>
          </a:p>
          <a:p>
            <a:pPr lvl="2"/>
            <a:r>
              <a:rPr lang="ko-KR" altLang="en-US"/>
              <a:t>토픽을 브로커에 </a:t>
            </a:r>
            <a:r>
              <a:rPr lang="ko-KR" altLang="en-US" dirty="0"/>
              <a:t>등록</a:t>
            </a:r>
            <a:endParaRPr lang="en-US" altLang="ko-KR" dirty="0"/>
          </a:p>
          <a:p>
            <a:pPr lvl="2"/>
            <a:r>
              <a:rPr lang="ko-KR" altLang="en-US" dirty="0"/>
              <a:t>브로커로부터 대기하는 토픽의 메시지 수신</a:t>
            </a:r>
            <a:endParaRPr lang="en-US" altLang="ko-KR" dirty="0"/>
          </a:p>
          <a:p>
            <a:pPr lvl="1"/>
            <a:r>
              <a:rPr lang="ko-KR" altLang="en-US" dirty="0"/>
              <a:t>메시지 중계자 </a:t>
            </a:r>
            <a:r>
              <a:rPr lang="en-US" altLang="ko-KR" dirty="0"/>
              <a:t>- </a:t>
            </a:r>
            <a:r>
              <a:rPr lang="ko-KR" altLang="en-US" dirty="0"/>
              <a:t>브로커</a:t>
            </a:r>
            <a:r>
              <a:rPr lang="en-US" altLang="ko-KR" dirty="0"/>
              <a:t>(MQTT Broker)</a:t>
            </a:r>
          </a:p>
          <a:p>
            <a:pPr lvl="2"/>
            <a:r>
              <a:rPr lang="ko-KR" altLang="en-US"/>
              <a:t>토픽으로 </a:t>
            </a:r>
            <a:r>
              <a:rPr lang="ko-KR" altLang="en-US" dirty="0"/>
              <a:t>등록한 </a:t>
            </a:r>
            <a:r>
              <a:rPr lang="en-US" altLang="ko-KR" dirty="0"/>
              <a:t>subscriber </a:t>
            </a:r>
            <a:r>
              <a:rPr lang="ko-KR" altLang="en-US" dirty="0"/>
              <a:t>들 기억</a:t>
            </a:r>
            <a:endParaRPr lang="en-US" altLang="ko-KR" dirty="0"/>
          </a:p>
          <a:p>
            <a:pPr lvl="2"/>
            <a:r>
              <a:rPr lang="ko-KR" altLang="en-US" dirty="0"/>
              <a:t>토픽과 메시지가 </a:t>
            </a:r>
            <a:r>
              <a:rPr lang="ko-KR" altLang="en-US"/>
              <a:t>도착하면 </a:t>
            </a:r>
            <a:r>
              <a:rPr lang="en-US" altLang="ko-KR"/>
              <a:t>subscribers</a:t>
            </a:r>
            <a:r>
              <a:rPr lang="ko-KR" altLang="en-US"/>
              <a:t>들에게 메시지 </a:t>
            </a:r>
            <a:r>
              <a:rPr lang="ko-KR" altLang="en-US" dirty="0"/>
              <a:t>전송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Subscriber</a:t>
            </a:r>
            <a:r>
              <a:rPr lang="ko-KR" altLang="en-US" dirty="0"/>
              <a:t>나 </a:t>
            </a:r>
            <a:r>
              <a:rPr lang="en-US" altLang="ko-KR" dirty="0"/>
              <a:t>Publisher</a:t>
            </a:r>
            <a:r>
              <a:rPr lang="ko-KR" altLang="en-US" dirty="0"/>
              <a:t>들은 직접 연결되지 않음</a:t>
            </a:r>
            <a:endParaRPr lang="en-US" altLang="ko-KR" dirty="0"/>
          </a:p>
          <a:p>
            <a:pPr lvl="1"/>
            <a:r>
              <a:rPr lang="ko-KR" altLang="en-US"/>
              <a:t>브로커와 연결</a:t>
            </a:r>
            <a:endParaRPr lang="en-US" altLang="ko-KR"/>
          </a:p>
          <a:p>
            <a:pPr lvl="1"/>
            <a:r>
              <a:rPr lang="ko-KR" altLang="en-US"/>
              <a:t>브로커를 </a:t>
            </a:r>
            <a:r>
              <a:rPr lang="ko-KR" altLang="en-US" dirty="0"/>
              <a:t>경유하여 메시지 송수신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6855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0871A-B051-444A-B3F5-CFCBC46A6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MQTT </a:t>
            </a:r>
            <a:r>
              <a:rPr lang="ko-KR" altLang="en-US"/>
              <a:t>통신 시스템 구성과 통신 과정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CEAC40-D42B-467F-8C40-59E30E329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11959FF-FB7A-494A-9252-0DD2E8885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024844"/>
            <a:ext cx="7571692" cy="298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440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95BD033-E4CB-4538-86A8-089656FBF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MQTT </a:t>
            </a:r>
            <a:r>
              <a:rPr lang="ko-KR" altLang="en-US"/>
              <a:t>응용 시스템 사례</a:t>
            </a:r>
            <a:r>
              <a:rPr lang="en-US" altLang="ko-KR"/>
              <a:t>1 - </a:t>
            </a:r>
            <a:r>
              <a:rPr lang="ko-KR" altLang="en-US"/>
              <a:t>센서 데이터 수집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C99CE32-1ABA-4038-A371-04046FC8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43E90A1-3FDD-4425-B2C7-31E9AB718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739956"/>
            <a:ext cx="7452320" cy="337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213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410CC25-9707-46CD-AB21-587708080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MQTT </a:t>
            </a:r>
            <a:r>
              <a:rPr lang="ko-KR" altLang="en-US"/>
              <a:t>응용 시스템 사례 </a:t>
            </a:r>
            <a:r>
              <a:rPr lang="en-US" altLang="ko-KR"/>
              <a:t>2 - </a:t>
            </a:r>
            <a:r>
              <a:rPr lang="ko-KR" altLang="en-US"/>
              <a:t>채팅 앱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C99CE32-1ABA-4038-A371-04046FC8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855AF57-B9D1-4DD4-895A-E14CF031C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90" y="1484784"/>
            <a:ext cx="7557219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631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34F426-2C91-48ED-9A6F-D5E5F6886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MQTT </a:t>
            </a:r>
            <a:r>
              <a:rPr lang="ko-KR" altLang="en-US"/>
              <a:t>통신 특징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E3D1EA-BD50-4024-B5D1-6C873192283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altLang="ko-KR" sz="2000"/>
              <a:t>1. subscriber</a:t>
            </a:r>
            <a:r>
              <a:rPr lang="ko-KR" altLang="en-US" sz="2000"/>
              <a:t>와 </a:t>
            </a:r>
            <a:r>
              <a:rPr lang="en-US" altLang="ko-KR" sz="2000"/>
              <a:t>publisher</a:t>
            </a:r>
            <a:r>
              <a:rPr lang="ko-KR" altLang="en-US" sz="2000"/>
              <a:t>들이 직접 연결되지 않음</a:t>
            </a:r>
            <a:endParaRPr lang="en-US" altLang="ko-KR" sz="2000"/>
          </a:p>
          <a:p>
            <a:pPr lvl="1" fontAlgn="base"/>
            <a:r>
              <a:rPr lang="ko-KR" altLang="en-US" sz="1800"/>
              <a:t>브로커에 의해 메시지 전송 중계</a:t>
            </a:r>
          </a:p>
          <a:p>
            <a:pPr marL="0" indent="0" fontAlgn="base">
              <a:buNone/>
            </a:pPr>
            <a:r>
              <a:rPr lang="en-US" altLang="ko-KR" sz="2000"/>
              <a:t>2. subscriber</a:t>
            </a:r>
            <a:r>
              <a:rPr lang="ko-KR" altLang="en-US" sz="2000"/>
              <a:t>와 </a:t>
            </a:r>
            <a:r>
              <a:rPr lang="en-US" altLang="ko-KR" sz="2000"/>
              <a:t>publisher</a:t>
            </a:r>
            <a:r>
              <a:rPr lang="ko-KR" altLang="en-US" sz="2000"/>
              <a:t>들의 구성과 응용</a:t>
            </a:r>
            <a:endParaRPr lang="en-US" altLang="ko-KR" sz="2000"/>
          </a:p>
          <a:p>
            <a:pPr lvl="1" fontAlgn="base"/>
            <a:r>
              <a:rPr lang="en-US" altLang="ko-KR" sz="1600"/>
              <a:t>1:1 </a:t>
            </a:r>
            <a:r>
              <a:rPr lang="ko-KR" altLang="en-US" sz="1600"/>
              <a:t>혹은 </a:t>
            </a:r>
            <a:r>
              <a:rPr lang="en-US" altLang="ko-KR" sz="1600"/>
              <a:t>1:N, N:1, N:M</a:t>
            </a:r>
            <a:r>
              <a:rPr lang="ko-KR" altLang="en-US" sz="1600"/>
              <a:t>으로 메시지를 주고받는 응용 시스템에 적합</a:t>
            </a:r>
          </a:p>
          <a:p>
            <a:pPr marL="0" indent="0" fontAlgn="base">
              <a:buNone/>
            </a:pPr>
            <a:r>
              <a:rPr lang="en-US" altLang="ko-KR" sz="2000"/>
              <a:t>3. </a:t>
            </a:r>
            <a:r>
              <a:rPr lang="ko-KR" altLang="en-US" sz="2000"/>
              <a:t>하나의 </a:t>
            </a:r>
            <a:r>
              <a:rPr lang="en-US" altLang="ko-KR" sz="2000"/>
              <a:t>subscriber</a:t>
            </a:r>
            <a:r>
              <a:rPr lang="ko-KR" altLang="en-US" sz="2000"/>
              <a:t>는 여러 개의 ‘토픽’ 구독 가능</a:t>
            </a:r>
            <a:endParaRPr lang="en-US" altLang="ko-KR" sz="2000"/>
          </a:p>
          <a:p>
            <a:pPr lvl="1" fontAlgn="base"/>
            <a:r>
              <a:rPr lang="ko-KR" altLang="en-US" sz="1800"/>
              <a:t>하나의 </a:t>
            </a:r>
            <a:r>
              <a:rPr lang="en-US" altLang="ko-KR" sz="1800"/>
              <a:t>publisher</a:t>
            </a:r>
            <a:r>
              <a:rPr lang="ko-KR" altLang="en-US" sz="1800"/>
              <a:t>는 같은 토픽의 메시지를 여러 개 발행 가능</a:t>
            </a:r>
            <a:endParaRPr lang="en-US" altLang="ko-KR" sz="1800"/>
          </a:p>
          <a:p>
            <a:pPr lvl="1" fontAlgn="base"/>
            <a:r>
              <a:rPr lang="ko-KR" altLang="en-US" sz="1800"/>
              <a:t>하나의 </a:t>
            </a:r>
            <a:r>
              <a:rPr lang="en-US" altLang="ko-KR" sz="1800"/>
              <a:t>publisher</a:t>
            </a:r>
            <a:r>
              <a:rPr lang="ko-KR" altLang="en-US" sz="1800"/>
              <a:t>는 서로 다른 토픽의 메시지 발행 가능</a:t>
            </a:r>
          </a:p>
          <a:p>
            <a:pPr marL="0" indent="0" fontAlgn="base">
              <a:buNone/>
            </a:pPr>
            <a:r>
              <a:rPr lang="en-US" altLang="ko-KR" sz="2000"/>
              <a:t>4. </a:t>
            </a:r>
            <a:r>
              <a:rPr lang="ko-KR" altLang="en-US" sz="2000"/>
              <a:t>클라이언트는 </a:t>
            </a:r>
            <a:r>
              <a:rPr lang="en-US" altLang="ko-KR" sz="2000"/>
              <a:t>subscriber</a:t>
            </a:r>
            <a:r>
              <a:rPr lang="ko-KR" altLang="en-US" sz="2000"/>
              <a:t>와 </a:t>
            </a:r>
            <a:r>
              <a:rPr lang="en-US" altLang="ko-KR" sz="2000"/>
              <a:t>publisher</a:t>
            </a:r>
            <a:r>
              <a:rPr lang="ko-KR" altLang="en-US" sz="2000"/>
              <a:t>의 두 기능 모두 구현 가능</a:t>
            </a:r>
            <a:endParaRPr lang="en-US" altLang="ko-KR" sz="2000"/>
          </a:p>
          <a:p>
            <a:pPr lvl="1" fontAlgn="base"/>
            <a:r>
              <a:rPr lang="ko-KR" altLang="en-US" sz="1800"/>
              <a:t>클라이언트의 구현에 달려 있음</a:t>
            </a:r>
            <a:endParaRPr lang="en-US" altLang="ko-KR" sz="1800"/>
          </a:p>
          <a:p>
            <a:pPr marL="0" indent="0" fontAlgn="base">
              <a:buNone/>
            </a:pPr>
            <a:r>
              <a:rPr lang="en-US" altLang="ko-KR" sz="2000"/>
              <a:t>5. </a:t>
            </a:r>
            <a:r>
              <a:rPr lang="ko-KR" altLang="en-US" sz="2000"/>
              <a:t>메시지의 송수신은 토픽을 기준</a:t>
            </a:r>
            <a:endParaRPr lang="en-US" altLang="ko-KR" sz="2000"/>
          </a:p>
          <a:p>
            <a:pPr marL="0" indent="0" fontAlgn="base">
              <a:buNone/>
            </a:pPr>
            <a:r>
              <a:rPr lang="en-US" altLang="ko-KR" sz="2000"/>
              <a:t>6. MQTT</a:t>
            </a:r>
            <a:r>
              <a:rPr lang="ko-KR" altLang="en-US" sz="2000"/>
              <a:t>는 </a:t>
            </a:r>
            <a:r>
              <a:rPr lang="en-US" altLang="ko-KR" sz="2000"/>
              <a:t>TCP/IP</a:t>
            </a:r>
            <a:r>
              <a:rPr lang="ko-KR" altLang="en-US" sz="2000"/>
              <a:t>를 활용하는 통신 프로토콜</a:t>
            </a:r>
          </a:p>
          <a:p>
            <a:pPr lvl="1" fontAlgn="base"/>
            <a:r>
              <a:rPr lang="en-US" altLang="ko-KR" sz="1800"/>
              <a:t>publisher, subscriber, </a:t>
            </a:r>
            <a:r>
              <a:rPr lang="ko-KR" altLang="en-US" sz="1800"/>
              <a:t>브로커 모두 </a:t>
            </a:r>
            <a:r>
              <a:rPr lang="en-US" altLang="ko-KR" sz="1800"/>
              <a:t>IP </a:t>
            </a:r>
            <a:r>
              <a:rPr lang="ko-KR" altLang="en-US" sz="1800"/>
              <a:t>주소를 가진 장치에서 실행</a:t>
            </a:r>
          </a:p>
          <a:p>
            <a:pPr marL="0" indent="0" fontAlgn="base">
              <a:buNone/>
            </a:pPr>
            <a:r>
              <a:rPr lang="en-US" altLang="ko-KR" sz="2000"/>
              <a:t>7. MQTT</a:t>
            </a:r>
            <a:r>
              <a:rPr lang="ko-KR" altLang="en-US" sz="2000"/>
              <a:t>는 불안정한 상태의 열악한 네트워크 환경에서도 잘 작동</a:t>
            </a:r>
          </a:p>
          <a:p>
            <a:pPr lvl="1" fontAlgn="base"/>
            <a:endParaRPr lang="ko-KR" altLang="en-US" sz="1800"/>
          </a:p>
          <a:p>
            <a:pPr lvl="1" fontAlgn="base"/>
            <a:endParaRPr lang="ko-KR" altLang="en-US" sz="1800"/>
          </a:p>
          <a:p>
            <a:endParaRPr lang="ko-KR" altLang="en-US" sz="200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A18C79C-7D93-49B6-8362-9CE79A90F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110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B7E70BBD-0764-4464-B1BE-A7B79D250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MQTT </a:t>
            </a:r>
            <a:r>
              <a:rPr lang="ko-KR" altLang="en-US"/>
              <a:t>활용 사례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B9CE9F7-720B-403A-8881-B9F8B109506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원격 센서 데이터 수집 및 제어</a:t>
            </a:r>
          </a:p>
          <a:p>
            <a:r>
              <a:rPr lang="ko-KR" altLang="en-US"/>
              <a:t>스마트 홈과 웨어러블 장치</a:t>
            </a:r>
          </a:p>
          <a:p>
            <a:r>
              <a:rPr lang="ko-KR" altLang="en-US"/>
              <a:t>자동차</a:t>
            </a:r>
          </a:p>
          <a:p>
            <a:r>
              <a:rPr lang="en-US" altLang="ko-KR"/>
              <a:t>SNS </a:t>
            </a:r>
            <a:r>
              <a:rPr lang="ko-KR" altLang="en-US"/>
              <a:t>모바일 애플리케이션</a:t>
            </a:r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14D374-1B7A-46B5-82C1-A19B8EEE5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4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D2419-6A1D-4F46-9B27-438523E70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MQTT </a:t>
            </a:r>
            <a:r>
              <a:rPr lang="ko-KR" altLang="en-US"/>
              <a:t>패킷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660EF8-F049-1A40-959E-86379B07E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MQTT </a:t>
            </a:r>
            <a:r>
              <a:rPr lang="ko-KR" altLang="en-US"/>
              <a:t>패킷</a:t>
            </a:r>
            <a:endParaRPr lang="en-US" altLang="ko-KR"/>
          </a:p>
          <a:p>
            <a:pPr lvl="1"/>
            <a:r>
              <a:rPr lang="ko-KR" altLang="en-US"/>
              <a:t>메시지 종류 </a:t>
            </a:r>
            <a:r>
              <a:rPr lang="en-US" altLang="ko-KR"/>
              <a:t>16</a:t>
            </a:r>
            <a:r>
              <a:rPr lang="ko-KR" altLang="en-US"/>
              <a:t>개</a:t>
            </a:r>
            <a:endParaRPr lang="en-US" altLang="ko-KR"/>
          </a:p>
          <a:p>
            <a:pPr lvl="2"/>
            <a:r>
              <a:rPr lang="ko-KR" altLang="en-US"/>
              <a:t>제어 헤더의 메시지 종류 필드에 표기</a:t>
            </a:r>
            <a:endParaRPr lang="en-US" altLang="ko-KR"/>
          </a:p>
          <a:p>
            <a:pPr lvl="1"/>
            <a:r>
              <a:rPr lang="ko-KR" altLang="en-US"/>
              <a:t>메시지 본체 </a:t>
            </a:r>
            <a:r>
              <a:rPr lang="en-US" altLang="ko-KR"/>
              <a:t>- Payload </a:t>
            </a:r>
            <a:r>
              <a:rPr lang="ko-KR" altLang="en-US"/>
              <a:t>부분에 적재</a:t>
            </a:r>
            <a:endParaRPr lang="en-US" altLang="ko-KR"/>
          </a:p>
          <a:p>
            <a:pPr lvl="2"/>
            <a:r>
              <a:rPr lang="ko-KR" altLang="en-US"/>
              <a:t>메시지 크기 </a:t>
            </a:r>
            <a:r>
              <a:rPr lang="en-US" altLang="ko-KR"/>
              <a:t>256MB</a:t>
            </a:r>
            <a:r>
              <a:rPr lang="ko-KR" altLang="en-US"/>
              <a:t>까지 가능</a:t>
            </a:r>
            <a:endParaRPr lang="en-US" altLang="ko-KR"/>
          </a:p>
          <a:p>
            <a:pPr lvl="1"/>
            <a:r>
              <a:rPr lang="ko-KR" altLang="en-US"/>
              <a:t>토픽 문자열 </a:t>
            </a:r>
            <a:r>
              <a:rPr lang="en-US" altLang="ko-KR"/>
              <a:t>65536 </a:t>
            </a:r>
            <a:r>
              <a:rPr lang="ko-KR" altLang="en-US"/>
              <a:t>바이트까지</a:t>
            </a:r>
            <a:endParaRPr lang="en-US" altLang="ko-KR"/>
          </a:p>
          <a:p>
            <a:pPr lvl="1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BA43DB-F4AE-4DD7-A424-57B595D07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4005064"/>
            <a:ext cx="8153400" cy="1797311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1BC69FF-A639-4272-AC5C-3882A0E3AE0D}"/>
              </a:ext>
            </a:extLst>
          </p:cNvPr>
          <p:cNvSpPr/>
          <p:nvPr/>
        </p:nvSpPr>
        <p:spPr>
          <a:xfrm>
            <a:off x="3291329" y="4348861"/>
            <a:ext cx="833150" cy="20155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410BC65-DA7D-4F2F-9406-8934F6BB3062}"/>
              </a:ext>
            </a:extLst>
          </p:cNvPr>
          <p:cNvSpPr/>
          <p:nvPr/>
        </p:nvSpPr>
        <p:spPr>
          <a:xfrm>
            <a:off x="4211960" y="5229200"/>
            <a:ext cx="2448272" cy="43204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E0975C0-2C5C-485C-BD27-900DF5FDC0AB}"/>
              </a:ext>
            </a:extLst>
          </p:cNvPr>
          <p:cNvSpPr/>
          <p:nvPr/>
        </p:nvSpPr>
        <p:spPr>
          <a:xfrm>
            <a:off x="4543369" y="4883630"/>
            <a:ext cx="388671" cy="20155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550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BA8F08C3-2272-4BB4-B3F3-BB4766E79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MQTT </a:t>
            </a:r>
            <a:r>
              <a:rPr lang="ko-KR" altLang="en-US"/>
              <a:t>메시지 종류 </a:t>
            </a:r>
            <a:r>
              <a:rPr lang="en-US" altLang="ko-KR"/>
              <a:t>16</a:t>
            </a:r>
            <a:r>
              <a:rPr lang="ko-KR" altLang="en-US"/>
              <a:t>가지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DD0006-FC20-4C77-A803-D8A3F64EA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27F1DEE-6DDE-4DD6-9D01-00B2063F3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412776"/>
            <a:ext cx="6912768" cy="491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145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EDA996-D91D-4540-9708-00C711202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QoS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401549-6BF2-BD4A-94A3-7823EE0F9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ko-KR" err="1"/>
              <a:t>QoS</a:t>
            </a:r>
            <a:r>
              <a:rPr lang="en-US" altLang="ko-KR"/>
              <a:t>: </a:t>
            </a:r>
            <a:r>
              <a:rPr lang="en-US" altLang="ko-KR" err="1"/>
              <a:t>Ouality</a:t>
            </a:r>
            <a:r>
              <a:rPr lang="en-US" altLang="ko-KR"/>
              <a:t> of Service</a:t>
            </a:r>
          </a:p>
          <a:p>
            <a:pPr lvl="2"/>
            <a:r>
              <a:rPr lang="en-US" altLang="ko-KR"/>
              <a:t>publisher</a:t>
            </a:r>
            <a:r>
              <a:rPr lang="ko-KR" altLang="en-US"/>
              <a:t>와  </a:t>
            </a:r>
            <a:r>
              <a:rPr lang="en-US" altLang="ko-KR"/>
              <a:t>MQTT </a:t>
            </a:r>
            <a:r>
              <a:rPr lang="ko-KR" altLang="en-US"/>
              <a:t>브로커</a:t>
            </a:r>
            <a:r>
              <a:rPr lang="en-US" altLang="ko-KR"/>
              <a:t>, MQTT</a:t>
            </a:r>
            <a:r>
              <a:rPr lang="ko-KR" altLang="en-US"/>
              <a:t>와 </a:t>
            </a:r>
            <a:r>
              <a:rPr lang="en-US" altLang="ko-KR"/>
              <a:t>subscriber </a:t>
            </a:r>
            <a:r>
              <a:rPr lang="ko-KR" altLang="en-US"/>
              <a:t>사이의 메시지 전송 품질</a:t>
            </a:r>
            <a:endParaRPr lang="en-US" altLang="ko-KR"/>
          </a:p>
          <a:p>
            <a:pPr lvl="3"/>
            <a:r>
              <a:rPr lang="en-US" altLang="ko-KR"/>
              <a:t>publisher</a:t>
            </a:r>
            <a:r>
              <a:rPr lang="ko-KR" altLang="en-US"/>
              <a:t>와 </a:t>
            </a:r>
            <a:r>
              <a:rPr lang="en-US" altLang="ko-KR"/>
              <a:t>subscriber </a:t>
            </a:r>
            <a:r>
              <a:rPr lang="ko-KR" altLang="en-US"/>
              <a:t>사이의 메시지 전송 품질이 아님에 주의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3</a:t>
            </a:r>
            <a:r>
              <a:rPr lang="ko-KR" altLang="en-US"/>
              <a:t>가지 레벨</a:t>
            </a:r>
            <a:endParaRPr lang="en-US" altLang="ko-KR"/>
          </a:p>
          <a:p>
            <a:pPr lvl="1"/>
            <a:r>
              <a:rPr lang="en" altLang="ko-KR"/>
              <a:t>Level 0 (At most once)</a:t>
            </a:r>
          </a:p>
          <a:p>
            <a:pPr lvl="2"/>
            <a:r>
              <a:rPr lang="ko-KR" altLang="en-US"/>
              <a:t>가장 낮은 품질</a:t>
            </a:r>
            <a:endParaRPr lang="en-US" altLang="ko-KR"/>
          </a:p>
          <a:p>
            <a:pPr lvl="2"/>
            <a:r>
              <a:rPr lang="ko-KR" altLang="en-US"/>
              <a:t>메시지가</a:t>
            </a:r>
            <a:r>
              <a:rPr lang="en-US" altLang="ko-KR"/>
              <a:t> </a:t>
            </a:r>
            <a:r>
              <a:rPr lang="ko-KR" altLang="en-US"/>
              <a:t>전달되었는지 확인하지 않는 낮은 수준</a:t>
            </a:r>
            <a:endParaRPr lang="en-US" altLang="ko-KR"/>
          </a:p>
          <a:p>
            <a:pPr lvl="2"/>
            <a:r>
              <a:rPr lang="ko-KR" altLang="en-US"/>
              <a:t>메시지는 최대 한번 전달 </a:t>
            </a:r>
            <a:r>
              <a:rPr lang="en-US" altLang="ko-KR"/>
              <a:t>– </a:t>
            </a:r>
            <a:r>
              <a:rPr lang="ko-KR" altLang="en-US"/>
              <a:t>전달되지 않을 수도 있음</a:t>
            </a:r>
            <a:endParaRPr lang="en-US" altLang="ko-KR"/>
          </a:p>
          <a:p>
            <a:pPr lvl="1"/>
            <a:r>
              <a:rPr lang="en" altLang="ko-KR"/>
              <a:t>Level 1 (At least once)</a:t>
            </a:r>
          </a:p>
          <a:p>
            <a:pPr lvl="2"/>
            <a:r>
              <a:rPr lang="ko-KR" altLang="en-US"/>
              <a:t>메시지가 전달되었음을 확인하는 보통 수준</a:t>
            </a:r>
            <a:endParaRPr lang="en-US" altLang="ko-KR"/>
          </a:p>
          <a:p>
            <a:pPr lvl="2"/>
            <a:r>
              <a:rPr lang="ko-KR" altLang="en-US"/>
              <a:t>일정시간 내에 보낸 메시지에 대한 수신 응답이 오지 않으면 메시지 다시 전송</a:t>
            </a:r>
            <a:r>
              <a:rPr lang="en-US" altLang="ko-KR"/>
              <a:t>  </a:t>
            </a:r>
          </a:p>
          <a:p>
            <a:pPr lvl="3"/>
            <a:r>
              <a:rPr lang="ko-KR" altLang="en-US"/>
              <a:t>메시지가 여러 번 전송될 수 있음</a:t>
            </a:r>
            <a:endParaRPr lang="en-US" altLang="ko-KR"/>
          </a:p>
          <a:p>
            <a:pPr lvl="1"/>
            <a:r>
              <a:rPr lang="en" altLang="ko-KR"/>
              <a:t>Level 2 (Exactly once)</a:t>
            </a:r>
          </a:p>
          <a:p>
            <a:pPr lvl="2"/>
            <a:r>
              <a:rPr lang="ko-KR" altLang="en-US"/>
              <a:t>가장 높은 수준의 전송</a:t>
            </a:r>
            <a:endParaRPr lang="en-US" altLang="ko-KR"/>
          </a:p>
          <a:p>
            <a:pPr lvl="2"/>
            <a:r>
              <a:rPr lang="ko-KR" altLang="en-US"/>
              <a:t>메시지를 보낸 쪽에서 받은쪽에게 메시지가 전달되었음을 확인하는 절차 있음</a:t>
            </a:r>
            <a:endParaRPr lang="en-US" altLang="ko-KR"/>
          </a:p>
          <a:p>
            <a:pPr lvl="2"/>
            <a:r>
              <a:rPr lang="ko-KR" altLang="en-US"/>
              <a:t>메시지는 반드시 한 번 전달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27309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토픽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ko-KR" altLang="en-US" sz="2300"/>
              <a:t>토픽</a:t>
            </a:r>
            <a:endParaRPr kumimoji="1" lang="en-US" altLang="ko-KR" sz="2300"/>
          </a:p>
          <a:p>
            <a:pPr lvl="1"/>
            <a:r>
              <a:rPr lang="en" altLang="ko-KR" sz="1800"/>
              <a:t>Publisher</a:t>
            </a:r>
            <a:r>
              <a:rPr lang="ko-KR" altLang="en-US" sz="1800"/>
              <a:t>와 </a:t>
            </a:r>
            <a:r>
              <a:rPr lang="en" altLang="ko-KR" sz="1800"/>
              <a:t>Subscriber</a:t>
            </a:r>
            <a:r>
              <a:rPr lang="ko-KR" altLang="en-US" sz="1800"/>
              <a:t>는 토픽을 기준으로 메시지 구독</a:t>
            </a:r>
            <a:r>
              <a:rPr lang="en-US" altLang="ko-KR" sz="1800"/>
              <a:t>/</a:t>
            </a:r>
            <a:r>
              <a:rPr lang="ko-KR" altLang="en-US" sz="1800"/>
              <a:t>발행</a:t>
            </a:r>
            <a:endParaRPr lang="en-US" altLang="ko-KR" sz="1800"/>
          </a:p>
          <a:p>
            <a:pPr lvl="1"/>
            <a:r>
              <a:rPr lang="ko-KR" altLang="en-US" sz="1800"/>
              <a:t>토픽은 문자열 </a:t>
            </a:r>
            <a:r>
              <a:rPr lang="en-US" altLang="ko-KR" sz="1800"/>
              <a:t>- </a:t>
            </a:r>
            <a:r>
              <a:rPr lang="ko-KR" altLang="en-US" sz="1500"/>
              <a:t>어떤 문자열도 가능</a:t>
            </a:r>
            <a:endParaRPr lang="en-US" altLang="ko-KR" sz="1500"/>
          </a:p>
          <a:p>
            <a:r>
              <a:rPr lang="ko-KR" altLang="en-US" sz="2100"/>
              <a:t>통신 시스템을 설계하는 사람이 마음대로 토픽 결정</a:t>
            </a:r>
            <a:endParaRPr lang="en-US" altLang="ko-KR" sz="2100"/>
          </a:p>
          <a:p>
            <a:pPr lvl="1"/>
            <a:r>
              <a:rPr lang="en-US" altLang="ko-KR" sz="1900"/>
              <a:t>subscriber</a:t>
            </a:r>
            <a:r>
              <a:rPr lang="ko-KR" altLang="en-US" sz="1900"/>
              <a:t>와 </a:t>
            </a:r>
            <a:r>
              <a:rPr lang="en-US" altLang="ko-KR" sz="1900"/>
              <a:t>publisher</a:t>
            </a:r>
            <a:r>
              <a:rPr lang="ko-KR" altLang="en-US" sz="1900"/>
              <a:t>가 상호 알고 있어야 함</a:t>
            </a:r>
            <a:endParaRPr lang="en-US" altLang="ko-KR" sz="1900"/>
          </a:p>
          <a:p>
            <a:r>
              <a:rPr lang="ko-KR" altLang="en-US" sz="2300"/>
              <a:t>토픽 사례</a:t>
            </a:r>
            <a:endParaRPr lang="en-US" altLang="ko-KR" sz="2300"/>
          </a:p>
          <a:p>
            <a:pPr lvl="1"/>
            <a:r>
              <a:rPr lang="en-US" altLang="ko-KR" sz="1900"/>
              <a:t>"meeting", "newspaper", "city" </a:t>
            </a:r>
            <a:r>
              <a:rPr lang="ko-KR" altLang="en-US" sz="1900"/>
              <a:t>등의 문자열</a:t>
            </a:r>
            <a:endParaRPr lang="en-US" altLang="ko-KR" sz="1900"/>
          </a:p>
          <a:p>
            <a:pPr lvl="1"/>
            <a:r>
              <a:rPr lang="en-US" altLang="ko-KR" sz="1700"/>
              <a:t>/ </a:t>
            </a:r>
            <a:r>
              <a:rPr lang="ko-KR" altLang="en-US" sz="1700"/>
              <a:t>를 이용하여 토픽 계층화 가능 </a:t>
            </a:r>
            <a:endParaRPr lang="en-US" altLang="ko-KR" sz="1700"/>
          </a:p>
          <a:p>
            <a:pPr lvl="2"/>
            <a:r>
              <a:rPr lang="ko-KR" altLang="en-US" sz="1700"/>
              <a:t>예</a:t>
            </a:r>
            <a:r>
              <a:rPr lang="en-US" altLang="ko-KR" sz="1700"/>
              <a:t>)</a:t>
            </a:r>
            <a:r>
              <a:rPr lang="ko-KR" altLang="en-US" sz="1700"/>
              <a:t> </a:t>
            </a:r>
            <a:r>
              <a:rPr lang="en-US" altLang="ko-KR" sz="1700"/>
              <a:t>"</a:t>
            </a:r>
            <a:r>
              <a:rPr lang="en" altLang="ko-KR" sz="1700"/>
              <a:t>room/1/temperature", "room/2/temperature" </a:t>
            </a:r>
          </a:p>
          <a:p>
            <a:r>
              <a:rPr lang="ko-KR" altLang="en-US" sz="2300"/>
              <a:t>토픽의 중요성</a:t>
            </a:r>
            <a:endParaRPr lang="en-US" altLang="ko-KR" sz="2300"/>
          </a:p>
          <a:p>
            <a:pPr lvl="1"/>
            <a:r>
              <a:rPr lang="ko-KR" altLang="en-US" sz="1900"/>
              <a:t>다수의 센서 기기들을 관리하는데 토픽은 매우 효과적</a:t>
            </a:r>
            <a:endParaRPr lang="en-US" altLang="ko-KR" sz="1900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427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49013E8-081F-463D-B276-631080564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1346781"/>
            <a:ext cx="5193842" cy="551121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AD6673C-8F46-3747-BAA9-2E37CC85B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MQTT </a:t>
            </a:r>
            <a:r>
              <a:rPr kumimoji="1" lang="ko-KR" altLang="en-US"/>
              <a:t>프로토롤 사례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FCD46F-4CAF-8E4D-B7D3-9FD1B535F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ko-KR" sz="2200"/>
              <a:t>subscriber</a:t>
            </a:r>
          </a:p>
          <a:p>
            <a:pPr lvl="1"/>
            <a:r>
              <a:rPr kumimoji="1" lang="ko-KR" altLang="en-US" sz="1900"/>
              <a:t>브로커에 연결</a:t>
            </a:r>
            <a:r>
              <a:rPr kumimoji="1" lang="en-US" altLang="ko-KR" sz="1900"/>
              <a:t>(connect)</a:t>
            </a:r>
          </a:p>
          <a:p>
            <a:pPr lvl="2"/>
            <a:r>
              <a:rPr kumimoji="1" lang="ko-KR" altLang="en-US" sz="1700"/>
              <a:t>브로커의 </a:t>
            </a:r>
            <a:r>
              <a:rPr kumimoji="1" lang="en-US" altLang="ko-KR" sz="1700"/>
              <a:t>IP, </a:t>
            </a:r>
            <a:r>
              <a:rPr kumimoji="1" lang="ko-KR" altLang="en-US" sz="1700"/>
              <a:t>포트 </a:t>
            </a:r>
            <a:r>
              <a:rPr kumimoji="1" lang="en-US" altLang="ko-KR" sz="1700"/>
              <a:t>1883 </a:t>
            </a:r>
            <a:r>
              <a:rPr kumimoji="1" lang="ko-KR" altLang="en-US" sz="1700"/>
              <a:t>이용</a:t>
            </a:r>
            <a:r>
              <a:rPr kumimoji="1" lang="en-US" altLang="ko-KR" sz="1700"/>
              <a:t> </a:t>
            </a:r>
          </a:p>
          <a:p>
            <a:pPr lvl="1"/>
            <a:r>
              <a:rPr kumimoji="1" lang="ko-KR" altLang="en-US" sz="1900"/>
              <a:t>구독 신청</a:t>
            </a:r>
            <a:r>
              <a:rPr kumimoji="1" lang="en-US" altLang="ko-KR" sz="1900"/>
              <a:t>(subscribe)</a:t>
            </a:r>
          </a:p>
          <a:p>
            <a:pPr lvl="2"/>
            <a:r>
              <a:rPr kumimoji="1" lang="ko-KR" altLang="en-US" sz="1700"/>
              <a:t>브로커에게 </a:t>
            </a:r>
            <a:r>
              <a:rPr kumimoji="1" lang="en-US" altLang="ko-KR" sz="1700"/>
              <a:t>‘</a:t>
            </a:r>
            <a:r>
              <a:rPr kumimoji="1" lang="ko-KR" altLang="en-US" sz="1700"/>
              <a:t>토픽</a:t>
            </a:r>
            <a:r>
              <a:rPr kumimoji="1" lang="en-US" altLang="ko-KR" sz="1700"/>
              <a:t>’ </a:t>
            </a:r>
            <a:r>
              <a:rPr kumimoji="1" lang="ko-KR" altLang="en-US" sz="1700"/>
              <a:t>보내기</a:t>
            </a:r>
            <a:r>
              <a:rPr kumimoji="1" lang="en-US" altLang="ko-KR" sz="1700"/>
              <a:t> </a:t>
            </a:r>
          </a:p>
          <a:p>
            <a:pPr lvl="1"/>
            <a:r>
              <a:rPr kumimoji="1" lang="ko-KR" altLang="en-US" sz="1900"/>
              <a:t>메시지</a:t>
            </a:r>
            <a:r>
              <a:rPr kumimoji="1" lang="en-US" altLang="ko-KR" sz="1900"/>
              <a:t> </a:t>
            </a:r>
            <a:r>
              <a:rPr kumimoji="1" lang="ko-KR" altLang="en-US" sz="1900"/>
              <a:t>수신 대기</a:t>
            </a:r>
            <a:endParaRPr kumimoji="1" lang="en-US" altLang="ko-KR" sz="1900"/>
          </a:p>
          <a:p>
            <a:pPr lvl="1"/>
            <a:r>
              <a:rPr kumimoji="1" lang="ko-KR" altLang="en-US" sz="1900"/>
              <a:t>메시지 수신</a:t>
            </a:r>
            <a:endParaRPr kumimoji="1" lang="en-US" altLang="ko-KR" sz="1900"/>
          </a:p>
          <a:p>
            <a:pPr lvl="2"/>
            <a:r>
              <a:rPr kumimoji="1" lang="ko-KR" altLang="en-US" sz="1700"/>
              <a:t>브로커로부터 메시지 수신</a:t>
            </a:r>
            <a:endParaRPr kumimoji="1" lang="en-US" altLang="ko-KR" sz="1700"/>
          </a:p>
          <a:p>
            <a:pPr lvl="1"/>
            <a:r>
              <a:rPr kumimoji="1" lang="ko-KR" altLang="en-US" sz="1900"/>
              <a:t>수신 대기와 수신의 반복</a:t>
            </a:r>
            <a:endParaRPr kumimoji="1" lang="en-US" altLang="ko-KR" sz="1900"/>
          </a:p>
          <a:p>
            <a:r>
              <a:rPr kumimoji="1" lang="en-US" altLang="ko-KR" sz="2200"/>
              <a:t>publisher</a:t>
            </a:r>
          </a:p>
          <a:p>
            <a:pPr lvl="1"/>
            <a:r>
              <a:rPr kumimoji="1" lang="ko-KR" altLang="en-US" sz="1900"/>
              <a:t>브로커에 연결</a:t>
            </a:r>
            <a:r>
              <a:rPr kumimoji="1" lang="en-US" altLang="ko-KR" sz="1900"/>
              <a:t>(connect)</a:t>
            </a:r>
          </a:p>
          <a:p>
            <a:pPr lvl="2"/>
            <a:r>
              <a:rPr kumimoji="1" lang="ko-KR" altLang="en-US" sz="1700"/>
              <a:t>브로커 </a:t>
            </a:r>
            <a:r>
              <a:rPr kumimoji="1" lang="en-US" altLang="ko-KR" sz="1700"/>
              <a:t>IP, </a:t>
            </a:r>
            <a:r>
              <a:rPr kumimoji="1" lang="ko-KR" altLang="en-US" sz="1700"/>
              <a:t>포트 </a:t>
            </a:r>
            <a:r>
              <a:rPr kumimoji="1" lang="en-US" altLang="ko-KR" sz="1700"/>
              <a:t>1883 </a:t>
            </a:r>
            <a:r>
              <a:rPr kumimoji="1" lang="ko-KR" altLang="en-US" sz="1700"/>
              <a:t>이용</a:t>
            </a:r>
            <a:r>
              <a:rPr kumimoji="1" lang="en-US" altLang="ko-KR" sz="1700"/>
              <a:t> </a:t>
            </a:r>
          </a:p>
          <a:p>
            <a:pPr lvl="1"/>
            <a:r>
              <a:rPr kumimoji="1" lang="ko-KR" altLang="en-US" sz="1900"/>
              <a:t>메시지 발행</a:t>
            </a:r>
            <a:r>
              <a:rPr kumimoji="1" lang="en-US" altLang="ko-KR" sz="1900"/>
              <a:t>(publish)</a:t>
            </a:r>
          </a:p>
          <a:p>
            <a:pPr lvl="2"/>
            <a:r>
              <a:rPr kumimoji="1" lang="ko-KR" altLang="en-US" sz="1700"/>
              <a:t>브로커에 </a:t>
            </a:r>
            <a:r>
              <a:rPr kumimoji="1" lang="en-US" altLang="ko-KR" sz="1700"/>
              <a:t>‘</a:t>
            </a:r>
            <a:r>
              <a:rPr kumimoji="1" lang="ko-KR" altLang="en-US" sz="1700"/>
              <a:t>토픽</a:t>
            </a:r>
            <a:r>
              <a:rPr kumimoji="1" lang="en-US" altLang="ko-KR" sz="1700"/>
              <a:t>’</a:t>
            </a:r>
            <a:r>
              <a:rPr kumimoji="1" lang="ko-KR" altLang="en-US" sz="1700"/>
              <a:t>과</a:t>
            </a:r>
            <a:r>
              <a:rPr kumimoji="1" lang="en-US" altLang="ko-KR" sz="1700"/>
              <a:t> ‘</a:t>
            </a:r>
            <a:r>
              <a:rPr kumimoji="1" lang="ko-KR" altLang="en-US" sz="1700"/>
              <a:t>메시지</a:t>
            </a:r>
            <a:r>
              <a:rPr kumimoji="1" lang="en-US" altLang="ko-KR" sz="1700"/>
              <a:t>’</a:t>
            </a:r>
            <a:r>
              <a:rPr kumimoji="1" lang="ko-KR" altLang="en-US" sz="1700"/>
              <a:t> 전송</a:t>
            </a:r>
            <a:endParaRPr kumimoji="1" lang="en-US" altLang="ko-KR" sz="1700"/>
          </a:p>
          <a:p>
            <a:pPr lvl="1"/>
            <a:r>
              <a:rPr kumimoji="1" lang="ko-KR" altLang="en-US" sz="1900"/>
              <a:t>메시지를 보내고 싶을 때마다 </a:t>
            </a:r>
            <a:endParaRPr kumimoji="1" lang="en-US" altLang="ko-KR" sz="1900"/>
          </a:p>
          <a:p>
            <a:pPr lvl="2"/>
            <a:r>
              <a:rPr kumimoji="1" lang="ko-KR" altLang="en-US" sz="1700"/>
              <a:t>메시지 발행</a:t>
            </a:r>
            <a:endParaRPr kumimoji="1" lang="en-US" altLang="ko-KR" sz="1700"/>
          </a:p>
          <a:p>
            <a:pPr lvl="1"/>
            <a:endParaRPr kumimoji="1" lang="en-US" altLang="ko-KR">
              <a:solidFill>
                <a:srgbClr val="C00000"/>
              </a:solidFill>
            </a:endParaRPr>
          </a:p>
          <a:p>
            <a:pPr lvl="1"/>
            <a:endParaRPr kumimoji="1" lang="en-US" altLang="ko-KR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44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52FA11-B8B9-4DD6-AC48-8D8592784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MQTT </a:t>
            </a:r>
            <a:r>
              <a:rPr lang="ko-KR" altLang="en-US"/>
              <a:t>메시지 통신 실습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5E12BC-73FA-402D-B4CA-19B10E0A938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err="1"/>
              <a:t>HiveMQ</a:t>
            </a:r>
            <a:r>
              <a:rPr lang="ko-KR" altLang="en-US" dirty="0"/>
              <a:t>의 데모 사이트 활용</a:t>
            </a:r>
            <a:endParaRPr lang="en-US" altLang="ko-KR" dirty="0"/>
          </a:p>
          <a:p>
            <a:pPr lvl="1"/>
            <a:r>
              <a:rPr lang="ko-KR" altLang="en-US" dirty="0"/>
              <a:t>다음 사이트에 접속</a:t>
            </a:r>
            <a:endParaRPr lang="en-US" altLang="ko-KR" dirty="0"/>
          </a:p>
          <a:p>
            <a:pPr lvl="1"/>
            <a:r>
              <a:rPr lang="en-US" altLang="ko-KR" dirty="0"/>
              <a:t>http://www.hivemq.com/demos/websocket-client/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개의 웹 브라우저를 열고 </a:t>
            </a:r>
            <a:endParaRPr lang="en-US" altLang="ko-KR" dirty="0"/>
          </a:p>
          <a:p>
            <a:pPr lvl="2"/>
            <a:r>
              <a:rPr lang="en-US" altLang="ko-KR" dirty="0"/>
              <a:t>subscriber 1</a:t>
            </a:r>
            <a:r>
              <a:rPr lang="ko-KR" altLang="en-US" dirty="0"/>
              <a:t>개</a:t>
            </a:r>
            <a:endParaRPr lang="en-US" altLang="ko-KR" dirty="0"/>
          </a:p>
          <a:p>
            <a:pPr lvl="2"/>
            <a:r>
              <a:rPr lang="en-US" altLang="ko-KR" dirty="0"/>
              <a:t>publisher 1</a:t>
            </a:r>
            <a:r>
              <a:rPr lang="ko-KR" altLang="en-US" dirty="0"/>
              <a:t>개</a:t>
            </a:r>
            <a:endParaRPr lang="en-US" altLang="ko-KR" dirty="0"/>
          </a:p>
          <a:p>
            <a:pPr lvl="1"/>
            <a:r>
              <a:rPr lang="ko-KR" altLang="en-US" dirty="0"/>
              <a:t>각각 </a:t>
            </a:r>
            <a:r>
              <a:rPr lang="en-US" altLang="ko-KR" dirty="0" err="1"/>
              <a:t>HiveMQ</a:t>
            </a:r>
            <a:r>
              <a:rPr lang="ko-KR" altLang="en-US" dirty="0"/>
              <a:t>의 데모 사이트에 접속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508C454-A6B8-43C0-AE55-F566597C3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63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7015355-661A-4D0D-AB7A-2C2E1E2DC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172C358-17D5-49F4-8749-22AC1A668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51" y="267171"/>
            <a:ext cx="3739573" cy="30618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444B09-CBA3-4EB6-BC45-B2F8A3B43AE8}"/>
              </a:ext>
            </a:extLst>
          </p:cNvPr>
          <p:cNvSpPr txBox="1"/>
          <p:nvPr/>
        </p:nvSpPr>
        <p:spPr>
          <a:xfrm>
            <a:off x="1619672" y="8831"/>
            <a:ext cx="1885453" cy="251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 </a:t>
            </a:r>
            <a:r>
              <a:rPr lang="ko-KR" altLang="en-US" sz="1200"/>
              <a:t>클라이언트 </a:t>
            </a:r>
            <a:r>
              <a:rPr lang="en-US" altLang="ko-KR" sz="1200"/>
              <a:t>P(Publisher)</a:t>
            </a:r>
            <a:endParaRPr lang="ko-KR" altLang="en-US" sz="1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6A9D79-6284-4784-8F4C-1722564A5EA4}"/>
              </a:ext>
            </a:extLst>
          </p:cNvPr>
          <p:cNvSpPr txBox="1"/>
          <p:nvPr/>
        </p:nvSpPr>
        <p:spPr>
          <a:xfrm>
            <a:off x="5868144" y="2763"/>
            <a:ext cx="1967205" cy="251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 </a:t>
            </a:r>
            <a:r>
              <a:rPr lang="ko-KR" altLang="en-US" sz="1200"/>
              <a:t>클라이언트 </a:t>
            </a:r>
            <a:r>
              <a:rPr lang="en-US" altLang="ko-KR" sz="1200"/>
              <a:t>S(Subscriber)</a:t>
            </a:r>
            <a:endParaRPr lang="ko-KR" altLang="en-US" sz="120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583DF89-E677-472E-BAFA-388C757E7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750" y="3573016"/>
            <a:ext cx="3739574" cy="306189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72F39A0-0CBC-4950-A9AD-B7565FA81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267171"/>
            <a:ext cx="3740789" cy="306189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18BA6AD-9446-44BF-B9FD-5EE48808E2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8460" y="3596386"/>
            <a:ext cx="3740790" cy="306189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D1C6085-0D9A-4A04-B4F6-2E40864ADE3C}"/>
              </a:ext>
            </a:extLst>
          </p:cNvPr>
          <p:cNvSpPr/>
          <p:nvPr/>
        </p:nvSpPr>
        <p:spPr>
          <a:xfrm>
            <a:off x="470867" y="3273795"/>
            <a:ext cx="402385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/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(a) 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 사이트에 접속</a:t>
            </a:r>
            <a:r>
              <a:rPr lang="en-US" altLang="ko-KR" sz="1050"/>
              <a:t>Connect </a:t>
            </a:r>
            <a:r>
              <a:rPr lang="ko-KR" altLang="en-US" sz="1050"/>
              <a:t>버튼을 눌러 </a:t>
            </a:r>
            <a:r>
              <a:rPr lang="en-US" altLang="ko-KR" sz="1050"/>
              <a:t>MQTT </a:t>
            </a:r>
            <a:r>
              <a:rPr lang="ko-KR" altLang="en-US" sz="1050"/>
              <a:t>브로커에 연결</a:t>
            </a:r>
            <a:endParaRPr lang="ko-KR" altLang="en-US" sz="1050" ker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6C4FAEE-55D7-4396-ADB5-F28C2170AFAC}"/>
              </a:ext>
            </a:extLst>
          </p:cNvPr>
          <p:cNvSpPr/>
          <p:nvPr/>
        </p:nvSpPr>
        <p:spPr>
          <a:xfrm>
            <a:off x="4762492" y="3324422"/>
            <a:ext cx="408156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/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</a:rPr>
              <a:t>b ) 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</a:rPr>
              <a:t>웹 사이트에 접속</a:t>
            </a:r>
            <a:r>
              <a:rPr lang="en-US" altLang="ko-KR" sz="1050"/>
              <a:t>Connect </a:t>
            </a:r>
            <a:r>
              <a:rPr lang="ko-KR" altLang="en-US" sz="1050"/>
              <a:t>버튼을 눌러 </a:t>
            </a:r>
            <a:r>
              <a:rPr lang="en-US" altLang="ko-KR" sz="1050"/>
              <a:t>MQTT </a:t>
            </a:r>
            <a:r>
              <a:rPr lang="ko-KR" altLang="en-US" sz="1050"/>
              <a:t>브로커에 연결</a:t>
            </a:r>
            <a:endParaRPr lang="ko-KR" altLang="en-US" sz="1050" ker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7E8C493-DBBD-499E-8985-28F3DE192319}"/>
              </a:ext>
            </a:extLst>
          </p:cNvPr>
          <p:cNvSpPr/>
          <p:nvPr/>
        </p:nvSpPr>
        <p:spPr>
          <a:xfrm>
            <a:off x="2049493" y="6604084"/>
            <a:ext cx="96693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/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(c) 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완료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3014C5A-2169-42A5-935D-23B107884848}"/>
              </a:ext>
            </a:extLst>
          </p:cNvPr>
          <p:cNvSpPr/>
          <p:nvPr/>
        </p:nvSpPr>
        <p:spPr>
          <a:xfrm>
            <a:off x="5094818" y="6604084"/>
            <a:ext cx="328808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/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(d) 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후 </a:t>
            </a:r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Add New Topic Subscription 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클릭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D30E4E2-FAD9-4538-A817-D8A3E3EB83FA}"/>
              </a:ext>
            </a:extLst>
          </p:cNvPr>
          <p:cNvSpPr/>
          <p:nvPr/>
        </p:nvSpPr>
        <p:spPr>
          <a:xfrm>
            <a:off x="3419872" y="1556792"/>
            <a:ext cx="576064" cy="36004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58F2BA7-D4A8-4485-8624-961B7A588C76}"/>
              </a:ext>
            </a:extLst>
          </p:cNvPr>
          <p:cNvSpPr/>
          <p:nvPr/>
        </p:nvSpPr>
        <p:spPr>
          <a:xfrm>
            <a:off x="7740352" y="1561875"/>
            <a:ext cx="576064" cy="36004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782B49B-B4D1-43C9-BEA3-4554854226CF}"/>
              </a:ext>
            </a:extLst>
          </p:cNvPr>
          <p:cNvSpPr/>
          <p:nvPr/>
        </p:nvSpPr>
        <p:spPr>
          <a:xfrm>
            <a:off x="7380312" y="5103963"/>
            <a:ext cx="1069912" cy="36004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64881EC-4FC8-455B-987E-7203180EF315}"/>
              </a:ext>
            </a:extLst>
          </p:cNvPr>
          <p:cNvSpPr/>
          <p:nvPr/>
        </p:nvSpPr>
        <p:spPr>
          <a:xfrm>
            <a:off x="2934777" y="4637713"/>
            <a:ext cx="576064" cy="26598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358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E11748C-668B-4BAB-8F84-A4F67F44C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2E1C5B9-55F6-4D01-8396-2819FB66A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273917"/>
            <a:ext cx="3685234" cy="301642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7AF5553-3DC2-4D98-A60A-1678AA50E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3652938"/>
            <a:ext cx="3685234" cy="30164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057F49-8060-40C6-89C3-375417FEC29E}"/>
              </a:ext>
            </a:extLst>
          </p:cNvPr>
          <p:cNvSpPr txBox="1"/>
          <p:nvPr/>
        </p:nvSpPr>
        <p:spPr>
          <a:xfrm>
            <a:off x="6372200" y="-3082"/>
            <a:ext cx="11464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 </a:t>
            </a:r>
            <a:r>
              <a:rPr lang="ko-KR" altLang="en-US" sz="1200"/>
              <a:t>클라이언트 </a:t>
            </a:r>
            <a:r>
              <a:rPr lang="en-US" altLang="ko-KR" sz="1200"/>
              <a:t>S</a:t>
            </a:r>
            <a:endParaRPr lang="ko-KR" altLang="en-US" sz="12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5914399-4E1B-47DD-90B2-9DE38B5669E4}"/>
              </a:ext>
            </a:extLst>
          </p:cNvPr>
          <p:cNvSpPr/>
          <p:nvPr/>
        </p:nvSpPr>
        <p:spPr>
          <a:xfrm>
            <a:off x="4998311" y="3221251"/>
            <a:ext cx="402706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/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(e) Topic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“</a:t>
            </a:r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letter”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입력한 후 </a:t>
            </a:r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Subscribe 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클릭</a:t>
            </a:r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구독 신청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0F8AE12-AE5C-4DF3-87FA-6C7A7F051EE0}"/>
              </a:ext>
            </a:extLst>
          </p:cNvPr>
          <p:cNvSpPr/>
          <p:nvPr/>
        </p:nvSpPr>
        <p:spPr>
          <a:xfrm>
            <a:off x="5004048" y="6604084"/>
            <a:ext cx="2319866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/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(f) “letter” 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토픽으로 구독 신청 완료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A8BD86C-084E-440A-8501-59D5DB9B309D}"/>
              </a:ext>
            </a:extLst>
          </p:cNvPr>
          <p:cNvSpPr/>
          <p:nvPr/>
        </p:nvSpPr>
        <p:spPr>
          <a:xfrm>
            <a:off x="5868144" y="1988841"/>
            <a:ext cx="720080" cy="25391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A4196CD-B172-4E6F-9376-78C0E25B3935}"/>
              </a:ext>
            </a:extLst>
          </p:cNvPr>
          <p:cNvSpPr/>
          <p:nvPr/>
        </p:nvSpPr>
        <p:spPr>
          <a:xfrm>
            <a:off x="7557650" y="5373216"/>
            <a:ext cx="1118806" cy="28803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099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7EEE142-1718-4C9C-A752-A496BC6DC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B6F43F-6547-42B6-AD49-DC379D8F1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332657"/>
            <a:ext cx="3671213" cy="30059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657B5F-53CD-4990-82C9-31D9433D53D3}"/>
              </a:ext>
            </a:extLst>
          </p:cNvPr>
          <p:cNvSpPr txBox="1"/>
          <p:nvPr/>
        </p:nvSpPr>
        <p:spPr>
          <a:xfrm>
            <a:off x="1835696" y="55657"/>
            <a:ext cx="11512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 </a:t>
            </a:r>
            <a:r>
              <a:rPr lang="ko-KR" altLang="en-US" sz="1200"/>
              <a:t>클라이언트 </a:t>
            </a:r>
            <a:r>
              <a:rPr lang="en-US" altLang="ko-KR" sz="1200"/>
              <a:t>P</a:t>
            </a:r>
            <a:endParaRPr lang="ko-KR" altLang="en-US" sz="12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BBAAC73-3800-42A6-A604-F04DF8E25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3663437"/>
            <a:ext cx="3671213" cy="300592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47A7DDC-0938-40A0-827F-DC5C57BCA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48" y="332656"/>
            <a:ext cx="3672408" cy="30059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1842635-41E0-42C8-BEB0-1C3E694292E1}"/>
              </a:ext>
            </a:extLst>
          </p:cNvPr>
          <p:cNvSpPr txBox="1"/>
          <p:nvPr/>
        </p:nvSpPr>
        <p:spPr>
          <a:xfrm>
            <a:off x="6372200" y="38094"/>
            <a:ext cx="11464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 </a:t>
            </a:r>
            <a:r>
              <a:rPr lang="ko-KR" altLang="en-US" sz="1200"/>
              <a:t>클라이언트 </a:t>
            </a:r>
            <a:r>
              <a:rPr lang="en-US" altLang="ko-KR" sz="1200"/>
              <a:t>S</a:t>
            </a:r>
            <a:endParaRPr lang="ko-KR" altLang="en-US" sz="120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98C4912-4D0F-420A-80C0-A3EA1343B8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5242" y="3619609"/>
            <a:ext cx="3671214" cy="319376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E52C5C91-7CAB-4C68-B28D-C738DB605DFD}"/>
              </a:ext>
            </a:extLst>
          </p:cNvPr>
          <p:cNvSpPr/>
          <p:nvPr/>
        </p:nvSpPr>
        <p:spPr>
          <a:xfrm>
            <a:off x="288847" y="3278545"/>
            <a:ext cx="3754554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/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(g) Topic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“</a:t>
            </a:r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letter”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입력하고 </a:t>
            </a:r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Message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“모두들 안녕</a:t>
            </a:r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?” </a:t>
            </a:r>
          </a:p>
          <a:p>
            <a:pPr algn="just" fontAlgn="base"/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입력한 후</a:t>
            </a:r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Publish 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클릭</a:t>
            </a:r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전송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EEC7C3E-2184-42B1-9D7B-CD40E5D3CA9E}"/>
              </a:ext>
            </a:extLst>
          </p:cNvPr>
          <p:cNvSpPr/>
          <p:nvPr/>
        </p:nvSpPr>
        <p:spPr>
          <a:xfrm>
            <a:off x="4921480" y="3270119"/>
            <a:ext cx="404300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(h) “letter” 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토픽으로 메시지 수신</a:t>
            </a:r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수신된 메시지</a:t>
            </a:r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(“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모두들 안녕</a:t>
            </a:r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?”)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출력됨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46B5681-8238-48DB-9949-F98D394B7E8A}"/>
              </a:ext>
            </a:extLst>
          </p:cNvPr>
          <p:cNvSpPr/>
          <p:nvPr/>
        </p:nvSpPr>
        <p:spPr>
          <a:xfrm>
            <a:off x="288847" y="6481591"/>
            <a:ext cx="417934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/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(i) Topic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“</a:t>
            </a:r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letter”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입력하고 </a:t>
            </a:r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Message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“</a:t>
            </a:r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MQTT 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전송 재밌다</a:t>
            </a:r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.”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</a:t>
            </a:r>
            <a:endParaRPr lang="en-US" altLang="ko-KR" sz="1050" ker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fontAlgn="base"/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입력한 후</a:t>
            </a:r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Publish 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클릭</a:t>
            </a:r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전송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D1796D-C8F0-4914-8C67-32FCE8A2D9FA}"/>
              </a:ext>
            </a:extLst>
          </p:cNvPr>
          <p:cNvSpPr/>
          <p:nvPr/>
        </p:nvSpPr>
        <p:spPr>
          <a:xfrm>
            <a:off x="6026913" y="6438900"/>
            <a:ext cx="298350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/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(j) “letter” 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토픽으로 </a:t>
            </a:r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번째 메시지 수신</a:t>
            </a:r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 fontAlgn="base"/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수신된 메시지</a:t>
            </a:r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(“MQTT 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전송 재밌다</a:t>
            </a:r>
            <a:r>
              <a:rPr lang="en-US" altLang="ko-KR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.”)</a:t>
            </a:r>
            <a:r>
              <a:rPr lang="ko-KR" altLang="en-US" sz="105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출력됨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6474577-3299-41C9-8D33-E75993AA2C39}"/>
              </a:ext>
            </a:extLst>
          </p:cNvPr>
          <p:cNvSpPr/>
          <p:nvPr/>
        </p:nvSpPr>
        <p:spPr>
          <a:xfrm>
            <a:off x="302456" y="1801226"/>
            <a:ext cx="2469344" cy="61966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D1D1758-C000-49E3-BA57-81BD741CBE9C}"/>
              </a:ext>
            </a:extLst>
          </p:cNvPr>
          <p:cNvSpPr/>
          <p:nvPr/>
        </p:nvSpPr>
        <p:spPr>
          <a:xfrm>
            <a:off x="4921480" y="2555537"/>
            <a:ext cx="2469344" cy="61966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510321F-94D2-4C59-BA22-8682537C65D9}"/>
              </a:ext>
            </a:extLst>
          </p:cNvPr>
          <p:cNvSpPr/>
          <p:nvPr/>
        </p:nvSpPr>
        <p:spPr>
          <a:xfrm>
            <a:off x="373372" y="5113595"/>
            <a:ext cx="2469344" cy="61966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FE7EC3-DF13-40DB-BC80-BD0F14A185D2}"/>
              </a:ext>
            </a:extLst>
          </p:cNvPr>
          <p:cNvSpPr/>
          <p:nvPr/>
        </p:nvSpPr>
        <p:spPr>
          <a:xfrm>
            <a:off x="4921480" y="6084721"/>
            <a:ext cx="2469344" cy="73518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3052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AD1DEC-84CA-4318-9359-D34DA58156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86E910A-992A-4C9B-A6E9-3091B1EAB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7.3 </a:t>
            </a:r>
            <a:r>
              <a:rPr lang="ko-KR" altLang="en-US"/>
              <a:t>라즈베리파이에 </a:t>
            </a:r>
            <a:r>
              <a:rPr lang="en-US" altLang="ko-KR"/>
              <a:t>MQTT </a:t>
            </a:r>
            <a:r>
              <a:rPr lang="ko-KR" altLang="en-US"/>
              <a:t>활용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925A847-B4FC-407C-AA3D-038EED8FF6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951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1DB76-3C1E-194E-8294-C84A6A222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MQTT </a:t>
            </a:r>
            <a:r>
              <a:rPr kumimoji="1" lang="ko-KR" altLang="en-US"/>
              <a:t>응용시스템 개발과 </a:t>
            </a:r>
            <a:r>
              <a:rPr kumimoji="1" lang="en-US" altLang="ko-KR" err="1"/>
              <a:t>Mosquitto</a:t>
            </a:r>
            <a:endParaRPr kumimoji="1"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291331-A4FB-9741-BE1F-7843FAE42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/>
              <a:t>MQTT </a:t>
            </a:r>
            <a:r>
              <a:rPr kumimoji="1" lang="ko-KR" altLang="en-US"/>
              <a:t>브로커</a:t>
            </a:r>
            <a:endParaRPr kumimoji="1" lang="en-US" altLang="ko-KR"/>
          </a:p>
          <a:p>
            <a:pPr lvl="1"/>
            <a:r>
              <a:rPr lang="en" altLang="ko-KR"/>
              <a:t>MQTT</a:t>
            </a:r>
            <a:r>
              <a:rPr lang="ko-KR" altLang="en-US"/>
              <a:t>는 </a:t>
            </a:r>
            <a:r>
              <a:rPr lang="en" altLang="ko-KR"/>
              <a:t>IBM</a:t>
            </a:r>
            <a:r>
              <a:rPr lang="ko-KR" altLang="en-US"/>
              <a:t>에 의해 개발된 통신 </a:t>
            </a:r>
            <a:r>
              <a:rPr kumimoji="1" lang="ko-KR" altLang="en-US"/>
              <a:t>규약</a:t>
            </a:r>
            <a:r>
              <a:rPr kumimoji="1" lang="en-US" altLang="ko-KR"/>
              <a:t>(Protocol)</a:t>
            </a:r>
          </a:p>
          <a:p>
            <a:pPr lvl="1"/>
            <a:r>
              <a:rPr lang="en-US" altLang="ko-KR"/>
              <a:t>2014</a:t>
            </a:r>
            <a:r>
              <a:rPr lang="ko-KR" altLang="en-US"/>
              <a:t>년 국제 민간 표준 기구 오아시스에 의해서 표준으로 제정</a:t>
            </a:r>
            <a:endParaRPr lang="en-US" altLang="ko-KR"/>
          </a:p>
          <a:p>
            <a:pPr lvl="1"/>
            <a:r>
              <a:rPr kumimoji="1" lang="en-US" altLang="ko-KR"/>
              <a:t>MQTT </a:t>
            </a:r>
            <a:r>
              <a:rPr kumimoji="1" lang="ko-KR" altLang="en-US"/>
              <a:t>표준을 구현한 다양한 </a:t>
            </a:r>
            <a:r>
              <a:rPr kumimoji="1" lang="en-US" altLang="ko-KR"/>
              <a:t>MQTT Brocker</a:t>
            </a:r>
          </a:p>
          <a:p>
            <a:pPr lvl="2"/>
            <a:r>
              <a:rPr lang="en" altLang="ko-KR"/>
              <a:t>HiveMQ, IbmMQ, RabbitMQ, vert.X, Mosquitto</a:t>
            </a:r>
          </a:p>
          <a:p>
            <a:pPr lvl="1"/>
            <a:r>
              <a:rPr kumimoji="1" lang="ko-KR" altLang="en-US"/>
              <a:t>공개 브로커들</a:t>
            </a:r>
            <a:endParaRPr kumimoji="1" lang="en-US" altLang="ko-KR"/>
          </a:p>
          <a:p>
            <a:pPr lvl="2"/>
            <a:r>
              <a:rPr lang="en" altLang="ko-KR"/>
              <a:t>test.mosquitto.org, broker.hivemq.com, iot.eclipse.org</a:t>
            </a:r>
          </a:p>
          <a:p>
            <a:pPr lvl="1"/>
            <a:r>
              <a:rPr kumimoji="1" lang="en-US" altLang="ko-KR"/>
              <a:t>MQTT </a:t>
            </a:r>
            <a:r>
              <a:rPr kumimoji="1" lang="ko-KR" altLang="en-US"/>
              <a:t>응용시스템 개발자는 </a:t>
            </a:r>
            <a:r>
              <a:rPr kumimoji="1" lang="en-US" altLang="ko-KR"/>
              <a:t>MQTT </a:t>
            </a:r>
            <a:r>
              <a:rPr kumimoji="1" lang="ko-KR" altLang="en-US"/>
              <a:t>브로커를 개발할 필요없음</a:t>
            </a:r>
            <a:endParaRPr kumimoji="1" lang="en-US" altLang="ko-KR"/>
          </a:p>
          <a:p>
            <a:pPr lvl="2"/>
            <a:r>
              <a:rPr kumimoji="1" lang="en-US" altLang="ko-KR"/>
              <a:t>MQTT </a:t>
            </a:r>
            <a:r>
              <a:rPr kumimoji="1" lang="ko-KR" altLang="en-US"/>
              <a:t>브로커 </a:t>
            </a:r>
            <a:r>
              <a:rPr kumimoji="1" lang="en-US" altLang="ko-KR"/>
              <a:t>– </a:t>
            </a:r>
            <a:r>
              <a:rPr kumimoji="1" lang="ko-KR" altLang="en-US"/>
              <a:t>공개 소프트웨어 사용하면 됨</a:t>
            </a:r>
            <a:endParaRPr kumimoji="1" lang="en-US" altLang="ko-KR"/>
          </a:p>
          <a:p>
            <a:r>
              <a:rPr lang="en" altLang="ko-KR"/>
              <a:t>Mosquitto</a:t>
            </a:r>
          </a:p>
          <a:p>
            <a:pPr lvl="1"/>
            <a:r>
              <a:rPr lang="en-US" altLang="ko-KR"/>
              <a:t>Eclipse foundation</a:t>
            </a:r>
            <a:r>
              <a:rPr lang="ko-KR" altLang="en-US"/>
              <a:t>에서 개발한 오픈</a:t>
            </a:r>
            <a:r>
              <a:rPr lang="en" altLang="ko-KR"/>
              <a:t> </a:t>
            </a:r>
            <a:r>
              <a:rPr lang="ko-KR" altLang="en-US"/>
              <a:t>소스 </a:t>
            </a:r>
            <a:r>
              <a:rPr lang="en-US" altLang="ko-KR"/>
              <a:t>MQTT </a:t>
            </a:r>
            <a:r>
              <a:rPr lang="ko-KR" altLang="en-US"/>
              <a:t>브로커</a:t>
            </a:r>
            <a:endParaRPr lang="en-US" altLang="ko-KR"/>
          </a:p>
          <a:p>
            <a:pPr lvl="1"/>
            <a:r>
              <a:rPr lang="ko-KR" altLang="en-US"/>
              <a:t>다양한 운영체제에서 실행</a:t>
            </a:r>
            <a:endParaRPr lang="en-US" altLang="ko-KR"/>
          </a:p>
          <a:p>
            <a:pPr lvl="2"/>
            <a:r>
              <a:rPr lang="en" altLang="ko-KR"/>
              <a:t>Linux, Mac, Windows 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29602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048B4D-B1C9-C54A-8E91-37CA1A0C6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Mosquitto </a:t>
            </a:r>
            <a:r>
              <a:rPr lang="ko-KR" altLang="en-US"/>
              <a:t>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34C3DD-F406-D44E-A9FB-CEE32BE8F87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4536504"/>
          </a:xfrm>
        </p:spPr>
        <p:txBody>
          <a:bodyPr>
            <a:normAutofit fontScale="70000" lnSpcReduction="20000"/>
          </a:bodyPr>
          <a:lstStyle/>
          <a:p>
            <a:r>
              <a:rPr lang="en-US" altLang="ko-KR" dirty="0" err="1"/>
              <a:t>mosquitto</a:t>
            </a:r>
            <a:r>
              <a:rPr lang="en-US" altLang="ko-KR" dirty="0"/>
              <a:t> </a:t>
            </a:r>
            <a:r>
              <a:rPr lang="ko-KR" altLang="en-US" dirty="0"/>
              <a:t>설치</a:t>
            </a:r>
            <a:endParaRPr lang="en-US" altLang="ko-KR" dirty="0"/>
          </a:p>
          <a:p>
            <a:pPr lvl="1"/>
            <a:r>
              <a:rPr lang="en" altLang="ko-KR" b="1" dirty="0"/>
              <a:t>$ sudo apt install -y mosquitto mosquitto-clients</a:t>
            </a:r>
          </a:p>
          <a:p>
            <a:pPr lvl="2"/>
            <a:r>
              <a:rPr lang="en-US" altLang="ko-KR" dirty="0"/>
              <a:t>mosquito </a:t>
            </a:r>
            <a:r>
              <a:rPr lang="ko-KR" altLang="en-US" dirty="0"/>
              <a:t>브로커와 함께 </a:t>
            </a:r>
            <a:r>
              <a:rPr lang="en-US" altLang="ko-KR" dirty="0"/>
              <a:t>2 </a:t>
            </a:r>
            <a:r>
              <a:rPr lang="ko-KR" altLang="en-US" dirty="0"/>
              <a:t>개의 클라이언트 프로그램 설치</a:t>
            </a:r>
            <a:endParaRPr lang="en-US" altLang="ko-KR" dirty="0"/>
          </a:p>
          <a:p>
            <a:pPr lvl="3"/>
            <a:r>
              <a:rPr lang="en-US" altLang="ko-KR" dirty="0" err="1"/>
              <a:t>mosquitto_sub</a:t>
            </a:r>
            <a:r>
              <a:rPr lang="ko-KR" altLang="en-US" dirty="0"/>
              <a:t>와 </a:t>
            </a:r>
            <a:r>
              <a:rPr lang="en-US" altLang="ko-KR" dirty="0" err="1"/>
              <a:t>mosquitto_pub</a:t>
            </a:r>
            <a:r>
              <a:rPr lang="en-US" altLang="ko-KR" dirty="0"/>
              <a:t> </a:t>
            </a:r>
            <a:r>
              <a:rPr lang="ko-KR" altLang="en-US" dirty="0"/>
              <a:t>도 함께 설치</a:t>
            </a:r>
            <a:endParaRPr lang="en-US" altLang="ko-KR" dirty="0"/>
          </a:p>
          <a:p>
            <a:pPr lvl="1"/>
            <a:r>
              <a:rPr lang="ko-KR" altLang="en-US" dirty="0"/>
              <a:t>설치 후 자동으로 </a:t>
            </a:r>
            <a:r>
              <a:rPr lang="en-US" altLang="ko-KR" dirty="0"/>
              <a:t>mosquito </a:t>
            </a:r>
            <a:r>
              <a:rPr lang="ko-KR" altLang="en-US" dirty="0"/>
              <a:t>브로커가 서비스로 실행됨</a:t>
            </a:r>
            <a:endParaRPr lang="en-US" altLang="ko-KR" dirty="0"/>
          </a:p>
          <a:p>
            <a:pPr lvl="2"/>
            <a:r>
              <a:rPr lang="ko-KR" altLang="en-US" dirty="0"/>
              <a:t>확인</a:t>
            </a:r>
            <a:r>
              <a:rPr lang="en-US" altLang="ko-KR" dirty="0"/>
              <a:t>(</a:t>
            </a:r>
            <a:r>
              <a:rPr lang="ko-KR" altLang="en-US" dirty="0"/>
              <a:t>아래에서 현재 </a:t>
            </a:r>
            <a:r>
              <a:rPr lang="en-US" altLang="ko-KR" dirty="0"/>
              <a:t>2180</a:t>
            </a:r>
            <a:r>
              <a:rPr lang="ko-KR" altLang="en-US" dirty="0"/>
              <a:t>번 프로세스가 실행 중인 </a:t>
            </a:r>
            <a:r>
              <a:rPr lang="en-US" altLang="ko-KR" dirty="0"/>
              <a:t>mosquito </a:t>
            </a:r>
            <a:r>
              <a:rPr lang="ko-KR" altLang="en-US" dirty="0"/>
              <a:t>임</a:t>
            </a:r>
            <a:r>
              <a:rPr lang="en-US" altLang="ko-KR" dirty="0"/>
              <a:t>)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mosquito </a:t>
            </a:r>
            <a:r>
              <a:rPr lang="ko-KR" altLang="en-US" dirty="0"/>
              <a:t>설치 후 서비스 등록 해제</a:t>
            </a:r>
            <a:endParaRPr lang="en-US" altLang="ko-KR" dirty="0"/>
          </a:p>
          <a:p>
            <a:pPr lvl="1"/>
            <a:r>
              <a:rPr lang="en-US" altLang="ko-KR" dirty="0"/>
              <a:t>mosquito </a:t>
            </a:r>
            <a:r>
              <a:rPr lang="ko-KR" altLang="en-US" dirty="0"/>
              <a:t>서비스 강제 해제</a:t>
            </a:r>
            <a:r>
              <a:rPr lang="en-US" altLang="ko-KR" dirty="0"/>
              <a:t>.</a:t>
            </a:r>
            <a:r>
              <a:rPr lang="ko-KR" altLang="en-US" dirty="0"/>
              <a:t> 부팅 후 자동으로 실행되지 못하게 할 목적</a:t>
            </a:r>
            <a:endParaRPr lang="en-US" altLang="ko-KR" dirty="0"/>
          </a:p>
          <a:p>
            <a:pPr lvl="2"/>
            <a:r>
              <a:rPr lang="en-US" altLang="ko-KR" b="1" dirty="0"/>
              <a:t>$ </a:t>
            </a:r>
            <a:r>
              <a:rPr lang="en-US" altLang="ko-KR" b="1" dirty="0" err="1"/>
              <a:t>sudo</a:t>
            </a:r>
            <a:r>
              <a:rPr lang="en-US" altLang="ko-KR" b="1" dirty="0"/>
              <a:t> </a:t>
            </a:r>
            <a:r>
              <a:rPr lang="en-US" altLang="ko-KR" b="1" dirty="0" err="1"/>
              <a:t>systemctl</a:t>
            </a:r>
            <a:r>
              <a:rPr lang="en-US" altLang="ko-KR" b="1" dirty="0"/>
              <a:t> disable </a:t>
            </a:r>
            <a:r>
              <a:rPr lang="en-US" altLang="ko-KR" b="1" dirty="0" err="1"/>
              <a:t>mosquitto</a:t>
            </a:r>
            <a:endParaRPr lang="en-US" altLang="ko-KR" b="1" dirty="0"/>
          </a:p>
          <a:p>
            <a:pPr lvl="1"/>
            <a:r>
              <a:rPr lang="ko-KR" altLang="en-US" dirty="0"/>
              <a:t>현재 실행 중인 </a:t>
            </a:r>
            <a:r>
              <a:rPr lang="en-US" altLang="ko-KR" dirty="0" err="1"/>
              <a:t>mosquitto</a:t>
            </a:r>
            <a:r>
              <a:rPr lang="en-US" altLang="ko-KR" dirty="0"/>
              <a:t> </a:t>
            </a:r>
            <a:r>
              <a:rPr lang="ko-KR" altLang="en-US" dirty="0"/>
              <a:t>서비스 실행 강제 중단</a:t>
            </a:r>
            <a:r>
              <a:rPr lang="en-US" altLang="ko-KR" dirty="0"/>
              <a:t>. </a:t>
            </a:r>
            <a:r>
              <a:rPr lang="ko-KR" altLang="en-US" dirty="0"/>
              <a:t>필요할 때만 실행시키기 위해</a:t>
            </a:r>
            <a:endParaRPr lang="en-US" altLang="ko-KR" dirty="0"/>
          </a:p>
          <a:p>
            <a:pPr lvl="2"/>
            <a:r>
              <a:rPr lang="en-US" altLang="ko-KR" b="1" dirty="0"/>
              <a:t>$ </a:t>
            </a:r>
            <a:r>
              <a:rPr lang="en-US" altLang="ko-KR" b="1" dirty="0" err="1"/>
              <a:t>sudo</a:t>
            </a:r>
            <a:r>
              <a:rPr lang="en-US" altLang="ko-KR" b="1" dirty="0"/>
              <a:t> </a:t>
            </a:r>
            <a:r>
              <a:rPr lang="en-US" altLang="ko-KR" b="1" dirty="0" err="1"/>
              <a:t>systemctl</a:t>
            </a:r>
            <a:r>
              <a:rPr lang="en-US" altLang="ko-KR" b="1" dirty="0"/>
              <a:t> stop </a:t>
            </a:r>
            <a:r>
              <a:rPr lang="en-US" altLang="ko-KR" b="1" dirty="0" err="1"/>
              <a:t>mosquitto</a:t>
            </a:r>
            <a:endParaRPr lang="en-US" altLang="ko-KR" b="1" dirty="0"/>
          </a:p>
          <a:p>
            <a:pPr lvl="1"/>
            <a:r>
              <a:rPr lang="ko-KR" altLang="en-US" dirty="0"/>
              <a:t>서비스가 중단되었는지 확인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" altLang="ko-KR" dirty="0"/>
          </a:p>
          <a:p>
            <a:pPr lvl="1"/>
            <a:endParaRPr lang="en" altLang="ko-KR" dirty="0"/>
          </a:p>
          <a:p>
            <a:pPr lvl="1"/>
            <a:endParaRPr lang="en" altLang="ko-KR" dirty="0"/>
          </a:p>
          <a:p>
            <a:pPr lvl="1"/>
            <a:endParaRPr lang="en" altLang="ko-KR" dirty="0"/>
          </a:p>
          <a:p>
            <a:pPr lvl="1"/>
            <a:endParaRPr lang="en" altLang="ko-KR" dirty="0"/>
          </a:p>
          <a:p>
            <a:pPr lvl="1"/>
            <a:endParaRPr lang="en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4F68CE-012D-9546-9A9B-8E40833A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DFED2A-DA38-4195-87CF-F4955ED2F2A8}"/>
              </a:ext>
            </a:extLst>
          </p:cNvPr>
          <p:cNvSpPr/>
          <p:nvPr/>
        </p:nvSpPr>
        <p:spPr>
          <a:xfrm>
            <a:off x="1115616" y="2712097"/>
            <a:ext cx="7560840" cy="830997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b="1" err="1"/>
              <a:t>pi@pi</a:t>
            </a:r>
            <a:r>
              <a:rPr lang="ko-KR" altLang="en-US" sz="1200" b="1"/>
              <a:t>:~ $ </a:t>
            </a:r>
            <a:r>
              <a:rPr lang="ko-KR" altLang="en-US" sz="1200" b="1" err="1"/>
              <a:t>ps</a:t>
            </a:r>
            <a:r>
              <a:rPr lang="ko-KR" altLang="en-US" sz="1200" b="1"/>
              <a:t> -</a:t>
            </a:r>
            <a:r>
              <a:rPr lang="ko-KR" altLang="en-US" sz="1200" b="1" err="1"/>
              <a:t>ef</a:t>
            </a:r>
            <a:r>
              <a:rPr lang="ko-KR" altLang="en-US" sz="1200" b="1"/>
              <a:t> | </a:t>
            </a:r>
            <a:r>
              <a:rPr lang="ko-KR" altLang="en-US" sz="1200" b="1" err="1"/>
              <a:t>grep</a:t>
            </a:r>
            <a:r>
              <a:rPr lang="ko-KR" altLang="en-US" sz="1200" b="1"/>
              <a:t> </a:t>
            </a:r>
            <a:r>
              <a:rPr lang="ko-KR" altLang="en-US" sz="1200" b="1" err="1"/>
              <a:t>mos</a:t>
            </a:r>
            <a:endParaRPr lang="ko-KR" altLang="en-US" sz="1200" b="1"/>
          </a:p>
          <a:p>
            <a:r>
              <a:rPr lang="ko-KR" altLang="en-US" sz="1200" b="1" err="1"/>
              <a:t>mosquit</a:t>
            </a:r>
            <a:r>
              <a:rPr lang="ko-KR" altLang="en-US" sz="1200" b="1"/>
              <a:t>+  2180     1  0 13:12 ?        00:00:00 /</a:t>
            </a:r>
            <a:r>
              <a:rPr lang="ko-KR" altLang="en-US" sz="1200" b="1" err="1"/>
              <a:t>usr</a:t>
            </a:r>
            <a:r>
              <a:rPr lang="ko-KR" altLang="en-US" sz="1200" b="1"/>
              <a:t>/</a:t>
            </a:r>
            <a:r>
              <a:rPr lang="ko-KR" altLang="en-US" sz="1200" b="1" err="1"/>
              <a:t>sbin</a:t>
            </a:r>
            <a:r>
              <a:rPr lang="ko-KR" altLang="en-US" sz="1200" b="1"/>
              <a:t>/</a:t>
            </a:r>
            <a:r>
              <a:rPr lang="ko-KR" altLang="en-US" sz="1200" b="1" err="1"/>
              <a:t>mosquitto</a:t>
            </a:r>
            <a:r>
              <a:rPr lang="ko-KR" altLang="en-US" sz="1200" b="1"/>
              <a:t> -c /</a:t>
            </a:r>
            <a:r>
              <a:rPr lang="ko-KR" altLang="en-US" sz="1200" b="1" err="1"/>
              <a:t>etc</a:t>
            </a:r>
            <a:r>
              <a:rPr lang="ko-KR" altLang="en-US" sz="1200" b="1"/>
              <a:t>/</a:t>
            </a:r>
            <a:r>
              <a:rPr lang="ko-KR" altLang="en-US" sz="1200" b="1" err="1"/>
              <a:t>mosquitto</a:t>
            </a:r>
            <a:r>
              <a:rPr lang="ko-KR" altLang="en-US" sz="1200" b="1"/>
              <a:t>/</a:t>
            </a:r>
            <a:r>
              <a:rPr lang="ko-KR" altLang="en-US" sz="1200" b="1" err="1"/>
              <a:t>mosquitto.conf</a:t>
            </a:r>
            <a:endParaRPr lang="ko-KR" altLang="en-US" sz="1200" b="1"/>
          </a:p>
          <a:p>
            <a:r>
              <a:rPr lang="ko-KR" altLang="en-US" sz="1200" err="1"/>
              <a:t>pi</a:t>
            </a:r>
            <a:r>
              <a:rPr lang="ko-KR" altLang="en-US" sz="1200"/>
              <a:t>        2298  1318  0 13:14 </a:t>
            </a:r>
            <a:r>
              <a:rPr lang="ko-KR" altLang="en-US" sz="1200" err="1"/>
              <a:t>pts</a:t>
            </a:r>
            <a:r>
              <a:rPr lang="ko-KR" altLang="en-US" sz="1200"/>
              <a:t>/0    00:00:00 </a:t>
            </a:r>
            <a:r>
              <a:rPr lang="ko-KR" altLang="en-US" sz="1200" err="1"/>
              <a:t>grep</a:t>
            </a:r>
            <a:r>
              <a:rPr lang="ko-KR" altLang="en-US" sz="1200"/>
              <a:t> --</a:t>
            </a:r>
            <a:r>
              <a:rPr lang="ko-KR" altLang="en-US" sz="1200" err="1"/>
              <a:t>color</a:t>
            </a:r>
            <a:r>
              <a:rPr lang="ko-KR" altLang="en-US" sz="1200"/>
              <a:t>=</a:t>
            </a:r>
            <a:r>
              <a:rPr lang="ko-KR" altLang="en-US" sz="1200" err="1"/>
              <a:t>auto</a:t>
            </a:r>
            <a:r>
              <a:rPr lang="ko-KR" altLang="en-US" sz="1200"/>
              <a:t> </a:t>
            </a:r>
            <a:r>
              <a:rPr lang="ko-KR" altLang="en-US" sz="1200" err="1"/>
              <a:t>mos</a:t>
            </a:r>
            <a:endParaRPr lang="ko-KR" altLang="en-US" sz="1200"/>
          </a:p>
          <a:p>
            <a:r>
              <a:rPr lang="ko-KR" altLang="en-US" sz="1200" b="1" err="1"/>
              <a:t>pi@pi</a:t>
            </a:r>
            <a:r>
              <a:rPr lang="ko-KR" altLang="en-US" sz="1200" b="1"/>
              <a:t>:~ $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9E95C3A-B1CF-4D17-8317-AD5E2C64E503}"/>
              </a:ext>
            </a:extLst>
          </p:cNvPr>
          <p:cNvSpPr/>
          <p:nvPr/>
        </p:nvSpPr>
        <p:spPr>
          <a:xfrm>
            <a:off x="1187624" y="5528189"/>
            <a:ext cx="7488832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b="1" err="1"/>
              <a:t>pi@pi</a:t>
            </a:r>
            <a:r>
              <a:rPr lang="ko-KR" altLang="en-US" sz="1200" b="1"/>
              <a:t>:~ $ </a:t>
            </a:r>
            <a:r>
              <a:rPr lang="ko-KR" altLang="en-US" sz="1200" b="1" err="1"/>
              <a:t>ps</a:t>
            </a:r>
            <a:r>
              <a:rPr lang="ko-KR" altLang="en-US" sz="1200" b="1"/>
              <a:t> -</a:t>
            </a:r>
            <a:r>
              <a:rPr lang="ko-KR" altLang="en-US" sz="1200" b="1" err="1"/>
              <a:t>ef</a:t>
            </a:r>
            <a:r>
              <a:rPr lang="ko-KR" altLang="en-US" sz="1200" b="1"/>
              <a:t> | </a:t>
            </a:r>
            <a:r>
              <a:rPr lang="ko-KR" altLang="en-US" sz="1200" b="1" err="1"/>
              <a:t>grep</a:t>
            </a:r>
            <a:r>
              <a:rPr lang="ko-KR" altLang="en-US" sz="1200" b="1"/>
              <a:t> </a:t>
            </a:r>
            <a:r>
              <a:rPr lang="ko-KR" altLang="en-US" sz="1200" b="1" err="1"/>
              <a:t>mos</a:t>
            </a:r>
            <a:endParaRPr lang="ko-KR" altLang="en-US" sz="1200" b="1"/>
          </a:p>
          <a:p>
            <a:r>
              <a:rPr lang="ko-KR" altLang="en-US" sz="1200"/>
              <a:t>pi        2298  1318  0 13:14 </a:t>
            </a:r>
            <a:r>
              <a:rPr lang="ko-KR" altLang="en-US" sz="1200" err="1"/>
              <a:t>pts</a:t>
            </a:r>
            <a:r>
              <a:rPr lang="ko-KR" altLang="en-US" sz="1200"/>
              <a:t>/0    00:00:00 </a:t>
            </a:r>
            <a:r>
              <a:rPr lang="ko-KR" altLang="en-US" sz="1200" err="1"/>
              <a:t>grep</a:t>
            </a:r>
            <a:r>
              <a:rPr lang="ko-KR" altLang="en-US" sz="1200"/>
              <a:t> --</a:t>
            </a:r>
            <a:r>
              <a:rPr lang="ko-KR" altLang="en-US" sz="1200" err="1"/>
              <a:t>color</a:t>
            </a:r>
            <a:r>
              <a:rPr lang="ko-KR" altLang="en-US" sz="1200"/>
              <a:t>=</a:t>
            </a:r>
            <a:r>
              <a:rPr lang="ko-KR" altLang="en-US" sz="1200" err="1"/>
              <a:t>auto</a:t>
            </a:r>
            <a:r>
              <a:rPr lang="ko-KR" altLang="en-US" sz="1200"/>
              <a:t> </a:t>
            </a:r>
            <a:r>
              <a:rPr lang="ko-KR" altLang="en-US" sz="1200" err="1"/>
              <a:t>mos</a:t>
            </a:r>
            <a:endParaRPr lang="ko-KR" altLang="en-US" sz="1200"/>
          </a:p>
          <a:p>
            <a:r>
              <a:rPr lang="ko-KR" altLang="en-US" sz="1200" b="1" err="1"/>
              <a:t>pi@pi</a:t>
            </a:r>
            <a:r>
              <a:rPr lang="ko-KR" altLang="en-US" sz="1200" b="1"/>
              <a:t>:~ $</a:t>
            </a:r>
          </a:p>
        </p:txBody>
      </p:sp>
    </p:spTree>
    <p:extLst>
      <p:ext uri="{BB962C8B-B14F-4D97-AF65-F5344CB8AC3E}">
        <p14:creationId xmlns:p14="http://schemas.microsoft.com/office/powerpoint/2010/main" val="2246697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C7C1F814-5B30-4644-B922-A205C42AC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홈 디렉터리에 </a:t>
            </a:r>
            <a:r>
              <a:rPr lang="en-US" altLang="ko-KR"/>
              <a:t>mos.conf </a:t>
            </a:r>
            <a:r>
              <a:rPr lang="ko-KR" altLang="en-US"/>
              <a:t>작성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9AF57AF-045F-453F-93D0-410C14D768E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사용자 홈 디렉터리</a:t>
            </a:r>
            <a:r>
              <a:rPr lang="en-US" altLang="ko-KR"/>
              <a:t>(pi </a:t>
            </a:r>
            <a:r>
              <a:rPr lang="ko-KR" altLang="en-US"/>
              <a:t>디렉터리</a:t>
            </a:r>
            <a:r>
              <a:rPr lang="en-US" altLang="ko-KR"/>
              <a:t>)</a:t>
            </a:r>
            <a:r>
              <a:rPr lang="ko-KR" altLang="en-US"/>
              <a:t>에 </a:t>
            </a:r>
            <a:r>
              <a:rPr lang="en-US" altLang="ko-KR"/>
              <a:t>mos.conf </a:t>
            </a:r>
            <a:r>
              <a:rPr lang="ko-KR" altLang="en-US"/>
              <a:t>작성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목적</a:t>
            </a:r>
            <a:endParaRPr lang="en-US" altLang="ko-KR"/>
          </a:p>
          <a:p>
            <a:pPr lvl="2"/>
            <a:r>
              <a:rPr lang="ko-KR" altLang="en-US"/>
              <a:t>디폴트로 설치된 </a:t>
            </a:r>
            <a:r>
              <a:rPr lang="en-US" altLang="ko-KR"/>
              <a:t>/etc/mosquitto/mosquitto.conf </a:t>
            </a:r>
            <a:r>
              <a:rPr lang="ko-KR" altLang="en-US"/>
              <a:t>파일을 사용하지 않고</a:t>
            </a:r>
            <a:r>
              <a:rPr lang="en-US" altLang="ko-KR"/>
              <a:t>,</a:t>
            </a:r>
            <a:r>
              <a:rPr lang="ko-KR" altLang="en-US"/>
              <a:t> 사용자가 만든 설치 정보를 사용하기 위해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44A474-FEC6-406C-8643-635EE6312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25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E317232-2743-4ECA-9BF7-AD422E23B16D}"/>
              </a:ext>
            </a:extLst>
          </p:cNvPr>
          <p:cNvSpPr/>
          <p:nvPr/>
        </p:nvSpPr>
        <p:spPr>
          <a:xfrm>
            <a:off x="1115616" y="1988840"/>
            <a:ext cx="7344816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/>
              <a:t>listener 1883 </a:t>
            </a:r>
            <a:r>
              <a:rPr lang="en-US" altLang="ko-KR"/>
              <a:t># </a:t>
            </a:r>
            <a:r>
              <a:rPr lang="ko-KR" altLang="en-US"/>
              <a:t>외부 컴퓨터에서 </a:t>
            </a:r>
            <a:r>
              <a:rPr lang="en-US" altLang="ko-KR"/>
              <a:t>1883 </a:t>
            </a:r>
            <a:r>
              <a:rPr lang="ko-KR" altLang="en-US"/>
              <a:t>포트로 접속 허용</a:t>
            </a:r>
          </a:p>
          <a:p>
            <a:r>
              <a:rPr lang="ko-KR" altLang="en-US"/>
              <a:t>allow_anonymous true # 어떤 사용자에게도 접속 허용</a:t>
            </a:r>
          </a:p>
        </p:txBody>
      </p:sp>
    </p:spTree>
    <p:extLst>
      <p:ext uri="{BB962C8B-B14F-4D97-AF65-F5344CB8AC3E}">
        <p14:creationId xmlns:p14="http://schemas.microsoft.com/office/powerpoint/2010/main" val="15861060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048B4D-B1C9-C54A-8E91-37CA1A0C6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mosquitto </a:t>
            </a:r>
            <a:r>
              <a:rPr lang="ko-KR" altLang="en-US"/>
              <a:t>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34C3DD-F406-D44E-A9FB-CEE32BE8F87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3888432"/>
          </a:xfrm>
        </p:spPr>
        <p:txBody>
          <a:bodyPr>
            <a:normAutofit fontScale="85000" lnSpcReduction="10000"/>
          </a:bodyPr>
          <a:lstStyle/>
          <a:p>
            <a:r>
              <a:rPr lang="en-US" altLang="ko-KR"/>
              <a:t>mosquitto </a:t>
            </a:r>
            <a:r>
              <a:rPr lang="ko-KR" altLang="en-US"/>
              <a:t>실행</a:t>
            </a:r>
            <a:r>
              <a:rPr lang="en-US" altLang="ko-KR"/>
              <a:t>(mos.conf</a:t>
            </a:r>
            <a:r>
              <a:rPr lang="ko-KR" altLang="en-US"/>
              <a:t>가 있는 디렉터리에서</a:t>
            </a:r>
            <a:r>
              <a:rPr lang="en-US" altLang="ko-KR"/>
              <a:t>)</a:t>
            </a:r>
          </a:p>
          <a:p>
            <a:pPr lvl="1"/>
            <a:r>
              <a:rPr lang="en" altLang="ko-KR" b="1"/>
              <a:t>$ mosquitto –v –</a:t>
            </a:r>
            <a:r>
              <a:rPr lang="en-US" altLang="ko-KR" b="1"/>
              <a:t>c</a:t>
            </a:r>
            <a:r>
              <a:rPr lang="ko-KR" altLang="en-US" b="1"/>
              <a:t> </a:t>
            </a:r>
            <a:r>
              <a:rPr lang="en-US" altLang="ko-KR" b="1"/>
              <a:t>mos.conf</a:t>
            </a:r>
            <a:endParaRPr lang="en" altLang="ko-KR" b="1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r>
              <a:rPr lang="en-US" altLang="ko-KR"/>
              <a:t>-v </a:t>
            </a:r>
            <a:r>
              <a:rPr lang="ko-KR" altLang="en-US"/>
              <a:t>옵션</a:t>
            </a:r>
            <a:endParaRPr lang="en-US" altLang="ko-KR"/>
          </a:p>
          <a:p>
            <a:pPr lvl="3"/>
            <a:r>
              <a:rPr lang="ko-KR" altLang="en-US"/>
              <a:t> </a:t>
            </a:r>
            <a:r>
              <a:rPr lang="en-US" altLang="ko-KR"/>
              <a:t>mosquitto</a:t>
            </a:r>
            <a:r>
              <a:rPr lang="ko-KR" altLang="en-US"/>
              <a:t>가 실행되는 동안 발생하는 상황들을 화면에 출력하도록 지시</a:t>
            </a:r>
            <a:endParaRPr lang="en-US" altLang="ko-KR"/>
          </a:p>
          <a:p>
            <a:pPr lvl="2"/>
            <a:r>
              <a:rPr lang="en-US" altLang="ko-KR"/>
              <a:t>-c mos.conf </a:t>
            </a:r>
            <a:r>
              <a:rPr lang="ko-KR" altLang="en-US"/>
              <a:t>옵션</a:t>
            </a:r>
            <a:endParaRPr lang="en-US" altLang="ko-KR"/>
          </a:p>
          <a:p>
            <a:pPr lvl="3"/>
            <a:r>
              <a:rPr lang="en-US" altLang="ko-KR"/>
              <a:t>mos.conf </a:t>
            </a:r>
            <a:r>
              <a:rPr lang="ko-KR" altLang="en-US"/>
              <a:t>파일에 설정 정보 있음</a:t>
            </a:r>
            <a:endParaRPr lang="en-US" altLang="ko-KR"/>
          </a:p>
          <a:p>
            <a:r>
              <a:rPr lang="ko-KR" altLang="en-US"/>
              <a:t>이미 </a:t>
            </a:r>
            <a:r>
              <a:rPr lang="en-US" altLang="ko-KR"/>
              <a:t>mosquitto</a:t>
            </a:r>
            <a:r>
              <a:rPr lang="ko-KR" altLang="en-US"/>
              <a:t>가 실행되고 있는 경우</a:t>
            </a:r>
            <a:r>
              <a:rPr lang="en-US" altLang="ko-KR"/>
              <a:t>,  mosquitto</a:t>
            </a:r>
            <a:r>
              <a:rPr lang="ko-KR" altLang="en-US"/>
              <a:t>를 실행시키면</a:t>
            </a:r>
            <a:endParaRPr lang="en-US" altLang="ko-KR"/>
          </a:p>
          <a:p>
            <a:pPr lvl="1"/>
            <a:r>
              <a:rPr lang="ko-KR" altLang="en-US"/>
              <a:t>다음 오류 발생 </a:t>
            </a:r>
            <a:r>
              <a:rPr lang="en-US" altLang="ko-KR"/>
              <a:t>- </a:t>
            </a:r>
            <a:r>
              <a:rPr lang="ko-KR" altLang="en-US"/>
              <a:t>이미 실행되고 있기 때문에 두 번 실행하면 안 됨</a:t>
            </a: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1"/>
            <a:endParaRPr lang="en-US" altLang="ko-KR"/>
          </a:p>
          <a:p>
            <a:pPr lvl="2"/>
            <a:endParaRPr lang="en-US" altLang="ko-KR"/>
          </a:p>
          <a:p>
            <a:pPr lvl="1"/>
            <a:endParaRPr lang="en" altLang="ko-KR"/>
          </a:p>
          <a:p>
            <a:pPr lvl="1"/>
            <a:endParaRPr lang="en" altLang="ko-KR"/>
          </a:p>
          <a:p>
            <a:pPr lvl="1"/>
            <a:endParaRPr lang="en" altLang="ko-KR"/>
          </a:p>
          <a:p>
            <a:pPr lvl="1"/>
            <a:endParaRPr lang="en" altLang="ko-KR"/>
          </a:p>
          <a:p>
            <a:pPr lvl="1"/>
            <a:endParaRPr lang="en" altLang="ko-KR"/>
          </a:p>
          <a:p>
            <a:pPr lvl="1"/>
            <a:endParaRPr lang="en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4F68CE-012D-9546-9A9B-8E40833A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288C292-24EF-4D7E-83B5-B30CA7E51B72}"/>
              </a:ext>
            </a:extLst>
          </p:cNvPr>
          <p:cNvSpPr/>
          <p:nvPr/>
        </p:nvSpPr>
        <p:spPr>
          <a:xfrm>
            <a:off x="1440458" y="2060554"/>
            <a:ext cx="6911156" cy="1200329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b="1" err="1"/>
              <a:t>pi@pi</a:t>
            </a:r>
            <a:r>
              <a:rPr lang="ko-KR" altLang="en-US" sz="1200" b="1"/>
              <a:t>:~ $ </a:t>
            </a:r>
            <a:r>
              <a:rPr lang="ko-KR" altLang="en-US" sz="1200" b="1" err="1"/>
              <a:t>mosquitto</a:t>
            </a:r>
            <a:r>
              <a:rPr lang="ko-KR" altLang="en-US" sz="1200" b="1"/>
              <a:t> </a:t>
            </a:r>
            <a:r>
              <a:rPr lang="en-US" altLang="ko-KR" sz="1200" b="1"/>
              <a:t>–</a:t>
            </a:r>
            <a:r>
              <a:rPr lang="ko-KR" altLang="en-US" sz="1200" b="1"/>
              <a:t>v </a:t>
            </a:r>
            <a:r>
              <a:rPr lang="en-US" altLang="ko-KR" sz="1200" b="1"/>
              <a:t>–c mos.conf</a:t>
            </a:r>
          </a:p>
          <a:p>
            <a:r>
              <a:rPr lang="en-US" altLang="ko-KR" sz="1200"/>
              <a:t>1664768323: mosquitto version 2.0.11 starting</a:t>
            </a:r>
          </a:p>
          <a:p>
            <a:r>
              <a:rPr lang="en-US" altLang="ko-KR" sz="1200"/>
              <a:t>1664768323: </a:t>
            </a:r>
            <a:r>
              <a:rPr lang="en-US" altLang="ko-KR" sz="1200" b="1"/>
              <a:t>Config loaded from mos.conf.</a:t>
            </a:r>
          </a:p>
          <a:p>
            <a:r>
              <a:rPr lang="en-US" altLang="ko-KR" sz="1200"/>
              <a:t>1664768323: Opening ipv4 listen socket on port 1883.</a:t>
            </a:r>
          </a:p>
          <a:p>
            <a:r>
              <a:rPr lang="en-US" altLang="ko-KR" sz="1200"/>
              <a:t>1664768323: Opening ipv6 listen socket on port 1883.</a:t>
            </a:r>
          </a:p>
          <a:p>
            <a:r>
              <a:rPr lang="en-US" altLang="ko-KR" sz="1200"/>
              <a:t>1664768323: mosquitto version 2.0.11 running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46A034-E9E5-4B5B-AD15-0A7BF0677C90}"/>
              </a:ext>
            </a:extLst>
          </p:cNvPr>
          <p:cNvSpPr/>
          <p:nvPr/>
        </p:nvSpPr>
        <p:spPr>
          <a:xfrm>
            <a:off x="1510854" y="5180999"/>
            <a:ext cx="6840760" cy="1200329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b="1" err="1"/>
              <a:t>pi@pi</a:t>
            </a:r>
            <a:r>
              <a:rPr lang="ko-KR" altLang="en-US" sz="1200" b="1"/>
              <a:t>:~ $ </a:t>
            </a:r>
            <a:r>
              <a:rPr lang="ko-KR" altLang="en-US" sz="1200" b="1" err="1"/>
              <a:t>mosquitto</a:t>
            </a:r>
            <a:r>
              <a:rPr lang="ko-KR" altLang="en-US" sz="1200" b="1"/>
              <a:t> </a:t>
            </a:r>
            <a:r>
              <a:rPr lang="en-US" altLang="ko-KR" sz="1200" b="1"/>
              <a:t>–</a:t>
            </a:r>
            <a:r>
              <a:rPr lang="ko-KR" altLang="en-US" sz="1200" b="1"/>
              <a:t>v </a:t>
            </a:r>
            <a:r>
              <a:rPr lang="en-US" altLang="ko-KR" sz="1200" b="1"/>
              <a:t>–c mos.conf</a:t>
            </a:r>
            <a:endParaRPr lang="ko-KR" altLang="en-US" sz="1200" b="1"/>
          </a:p>
          <a:p>
            <a:r>
              <a:rPr lang="en-US" altLang="ko-KR" sz="1200"/>
              <a:t>1664768402: mosquitto version 2.0.11 starting</a:t>
            </a:r>
          </a:p>
          <a:p>
            <a:r>
              <a:rPr lang="en-US" altLang="ko-KR" sz="1200"/>
              <a:t>1664768402: Config loaded from mos.conf.</a:t>
            </a:r>
          </a:p>
          <a:p>
            <a:r>
              <a:rPr lang="en-US" altLang="ko-KR" sz="1200"/>
              <a:t>1664768402: Opening ipv4 listen socket on port 1883.</a:t>
            </a:r>
          </a:p>
          <a:p>
            <a:r>
              <a:rPr lang="en-US" altLang="ko-KR" sz="1200"/>
              <a:t>1664768402: </a:t>
            </a:r>
            <a:r>
              <a:rPr lang="en-US" altLang="ko-KR" sz="1200" b="1"/>
              <a:t>Error: Address already in use</a:t>
            </a:r>
          </a:p>
          <a:p>
            <a:r>
              <a:rPr lang="ko-KR" altLang="en-US" sz="1200" b="1"/>
              <a:t>pi</a:t>
            </a:r>
            <a:r>
              <a:rPr lang="ko-KR" altLang="en-US" sz="1200" b="1" err="1"/>
              <a:t>@pi</a:t>
            </a:r>
            <a:r>
              <a:rPr lang="ko-KR" altLang="en-US" sz="1200" b="1"/>
              <a:t>:~ $</a:t>
            </a:r>
          </a:p>
        </p:txBody>
      </p:sp>
    </p:spTree>
    <p:extLst>
      <p:ext uri="{BB962C8B-B14F-4D97-AF65-F5344CB8AC3E}">
        <p14:creationId xmlns:p14="http://schemas.microsoft.com/office/powerpoint/2010/main" val="7311436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36B8E3-5F74-7347-8FCE-14E991157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Mosquitto</a:t>
            </a:r>
            <a:r>
              <a:rPr lang="ko-KR" altLang="en-US"/>
              <a:t>를 이용한 </a:t>
            </a:r>
            <a:r>
              <a:rPr lang="en-US" altLang="ko-KR"/>
              <a:t>MQTT </a:t>
            </a:r>
            <a:r>
              <a:rPr lang="ko-KR" altLang="en-US"/>
              <a:t>통신 테스트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9DC479-4387-8546-917E-68C91CF5D8E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실행 방법</a:t>
            </a:r>
            <a:endParaRPr lang="en-US" altLang="ko-KR" dirty="0"/>
          </a:p>
          <a:p>
            <a:pPr lvl="1"/>
            <a:r>
              <a:rPr lang="en-US" altLang="ko-KR" dirty="0"/>
              <a:t>(putty</a:t>
            </a:r>
            <a:r>
              <a:rPr lang="ko-KR" altLang="en-US" dirty="0"/>
              <a:t> 터미널 </a:t>
            </a:r>
            <a:r>
              <a:rPr lang="en-US" altLang="ko-KR" dirty="0"/>
              <a:t>1) </a:t>
            </a:r>
            <a:r>
              <a:rPr lang="en-US" altLang="ko-KR" dirty="0" err="1"/>
              <a:t>mosquitto</a:t>
            </a:r>
            <a:r>
              <a:rPr lang="en-US" altLang="ko-KR" dirty="0"/>
              <a:t> </a:t>
            </a:r>
            <a:r>
              <a:rPr lang="ko-KR" altLang="en-US" dirty="0"/>
              <a:t>브로커 실행</a:t>
            </a:r>
            <a:endParaRPr lang="en-US" altLang="ko-KR" dirty="0"/>
          </a:p>
          <a:p>
            <a:pPr lvl="2"/>
            <a:r>
              <a:rPr lang="en-US" altLang="ko-KR" b="1" dirty="0"/>
              <a:t>$ </a:t>
            </a:r>
            <a:r>
              <a:rPr lang="en-US" altLang="ko-KR" b="1" dirty="0" err="1"/>
              <a:t>mosquitto</a:t>
            </a:r>
            <a:r>
              <a:rPr lang="en-US" altLang="ko-KR" b="1" dirty="0"/>
              <a:t> –v –c </a:t>
            </a:r>
            <a:r>
              <a:rPr lang="en-US" altLang="ko-KR" b="1" dirty="0" err="1"/>
              <a:t>mos.conf</a:t>
            </a:r>
            <a:endParaRPr lang="en-US" altLang="ko-KR" b="1" dirty="0"/>
          </a:p>
          <a:p>
            <a:pPr lvl="1"/>
            <a:r>
              <a:rPr lang="en-US" altLang="ko-KR" dirty="0"/>
              <a:t>(putty </a:t>
            </a:r>
            <a:r>
              <a:rPr lang="ko-KR" altLang="en-US" dirty="0"/>
              <a:t>터미널 </a:t>
            </a:r>
            <a:r>
              <a:rPr lang="en-US" altLang="ko-KR" dirty="0"/>
              <a:t>2) subscriber </a:t>
            </a:r>
            <a:r>
              <a:rPr lang="ko-KR" altLang="en-US" dirty="0"/>
              <a:t>응용프로그램 실행</a:t>
            </a:r>
            <a:endParaRPr lang="en-US" altLang="ko-KR" dirty="0"/>
          </a:p>
          <a:p>
            <a:pPr lvl="3"/>
            <a:r>
              <a:rPr lang="en-US" altLang="ko-KR" dirty="0"/>
              <a:t>"temp" </a:t>
            </a:r>
            <a:r>
              <a:rPr lang="ko-KR" altLang="en-US" dirty="0"/>
              <a:t>토픽 구독 신청</a:t>
            </a:r>
            <a:endParaRPr lang="en-US" altLang="ko-KR" dirty="0"/>
          </a:p>
          <a:p>
            <a:pPr lvl="2"/>
            <a:r>
              <a:rPr lang="en" altLang="ko-KR" b="1" dirty="0"/>
              <a:t>$ </a:t>
            </a:r>
            <a:r>
              <a:rPr lang="en" altLang="ko-KR" b="1" dirty="0" err="1"/>
              <a:t>mosquitto_sub</a:t>
            </a:r>
            <a:r>
              <a:rPr lang="en" altLang="ko-KR" b="1" dirty="0"/>
              <a:t> -</a:t>
            </a:r>
            <a:r>
              <a:rPr lang="en-US" altLang="ko-KR" b="1" dirty="0"/>
              <a:t>h localhost -p 1883 -</a:t>
            </a:r>
            <a:r>
              <a:rPr lang="en" altLang="ko-KR" b="1" dirty="0"/>
              <a:t>d -t "</a:t>
            </a:r>
            <a:r>
              <a:rPr lang="en-US" altLang="ko-KR" b="1" dirty="0"/>
              <a:t>temp"</a:t>
            </a:r>
            <a:endParaRPr lang="en" altLang="ko-KR" b="1" dirty="0"/>
          </a:p>
          <a:p>
            <a:pPr lvl="1"/>
            <a:r>
              <a:rPr lang="en-US" altLang="ko-KR" dirty="0"/>
              <a:t>(</a:t>
            </a:r>
            <a:r>
              <a:rPr lang="ko-KR" altLang="en-US" dirty="0"/>
              <a:t>터미널 </a:t>
            </a:r>
            <a:r>
              <a:rPr lang="en-US" altLang="ko-KR" dirty="0"/>
              <a:t>3) subscriber </a:t>
            </a:r>
            <a:r>
              <a:rPr lang="ko-KR" altLang="en-US" dirty="0"/>
              <a:t>응용프로그램 실행</a:t>
            </a:r>
            <a:endParaRPr lang="en-US" altLang="ko-KR" dirty="0"/>
          </a:p>
          <a:p>
            <a:pPr lvl="2"/>
            <a:r>
              <a:rPr lang="en-US" altLang="ko-KR" dirty="0"/>
              <a:t>"temp" </a:t>
            </a:r>
            <a:r>
              <a:rPr lang="ko-KR" altLang="en-US" dirty="0"/>
              <a:t>토픽 구독 신청</a:t>
            </a:r>
            <a:endParaRPr lang="en-US" altLang="ko-KR" dirty="0"/>
          </a:p>
          <a:p>
            <a:pPr lvl="2"/>
            <a:r>
              <a:rPr lang="en" altLang="ko-KR" b="1" dirty="0"/>
              <a:t>$ </a:t>
            </a:r>
            <a:r>
              <a:rPr lang="en" altLang="ko-KR" b="1" dirty="0" err="1"/>
              <a:t>mosquitto_sub</a:t>
            </a:r>
            <a:r>
              <a:rPr lang="en" altLang="ko-KR" b="1" dirty="0"/>
              <a:t> -</a:t>
            </a:r>
            <a:r>
              <a:rPr lang="en-US" altLang="ko-KR" b="1" dirty="0"/>
              <a:t>h localhost -p 1883 </a:t>
            </a:r>
            <a:r>
              <a:rPr lang="en" altLang="ko-KR" b="1" dirty="0"/>
              <a:t>-t "</a:t>
            </a:r>
            <a:r>
              <a:rPr lang="en-US" altLang="ko-KR" b="1" dirty="0"/>
              <a:t>temp"</a:t>
            </a:r>
            <a:endParaRPr lang="en" altLang="ko-KR" b="1" dirty="0"/>
          </a:p>
          <a:p>
            <a:pPr lvl="1"/>
            <a:r>
              <a:rPr lang="en-US" altLang="ko-KR" dirty="0"/>
              <a:t>(</a:t>
            </a:r>
            <a:r>
              <a:rPr lang="ko-KR" altLang="en-US" dirty="0"/>
              <a:t>터미널 </a:t>
            </a:r>
            <a:r>
              <a:rPr lang="en-US" altLang="ko-KR" dirty="0"/>
              <a:t>4) publisher</a:t>
            </a:r>
            <a:r>
              <a:rPr lang="ko-KR" altLang="en-US" dirty="0"/>
              <a:t> </a:t>
            </a:r>
            <a:r>
              <a:rPr lang="en-US" altLang="ko-KR" dirty="0"/>
              <a:t> </a:t>
            </a:r>
            <a:r>
              <a:rPr lang="ko-KR" altLang="en-US" dirty="0"/>
              <a:t>응용프로그램 실행</a:t>
            </a:r>
            <a:endParaRPr lang="en-US" altLang="ko-KR" dirty="0"/>
          </a:p>
          <a:p>
            <a:pPr lvl="2"/>
            <a:r>
              <a:rPr lang="en-US" altLang="ko-KR" dirty="0"/>
              <a:t>"temp" </a:t>
            </a:r>
            <a:r>
              <a:rPr lang="ko-KR" altLang="en-US" dirty="0"/>
              <a:t>토픽으로 </a:t>
            </a:r>
            <a:r>
              <a:rPr lang="en-US" altLang="ko-KR" dirty="0"/>
              <a:t>36.5 </a:t>
            </a:r>
            <a:r>
              <a:rPr lang="ko-KR" altLang="en-US" dirty="0"/>
              <a:t>값을 가진</a:t>
            </a:r>
            <a:r>
              <a:rPr lang="en-US" altLang="ko-KR" dirty="0"/>
              <a:t> </a:t>
            </a:r>
            <a:r>
              <a:rPr lang="ko-KR" altLang="en-US" dirty="0"/>
              <a:t>메시지 발행</a:t>
            </a:r>
            <a:endParaRPr lang="en-US" altLang="ko-KR" dirty="0"/>
          </a:p>
          <a:p>
            <a:pPr lvl="2"/>
            <a:r>
              <a:rPr lang="en" altLang="ko-KR" b="1" dirty="0"/>
              <a:t>$ </a:t>
            </a:r>
            <a:r>
              <a:rPr lang="en" altLang="ko-KR" b="1" dirty="0" err="1"/>
              <a:t>mosquitto_pub</a:t>
            </a:r>
            <a:r>
              <a:rPr lang="en" altLang="ko-KR" b="1" dirty="0"/>
              <a:t> </a:t>
            </a:r>
            <a:r>
              <a:rPr lang="en-US" altLang="ko-KR" b="1" dirty="0"/>
              <a:t>–h localhost –p 1883 –t "temp" –m 36.5</a:t>
            </a:r>
          </a:p>
          <a:p>
            <a:pPr lvl="2"/>
            <a:r>
              <a:rPr lang="en-US" altLang="ko-KR" dirty="0"/>
              <a:t>2</a:t>
            </a:r>
            <a:r>
              <a:rPr lang="ko-KR" altLang="en-US" dirty="0"/>
              <a:t>개의 </a:t>
            </a:r>
            <a:r>
              <a:rPr lang="en-US" altLang="ko-KR" dirty="0" err="1"/>
              <a:t>subscrber</a:t>
            </a:r>
            <a:r>
              <a:rPr lang="ko-KR" altLang="en-US" dirty="0"/>
              <a:t>들은 모두 </a:t>
            </a:r>
            <a:r>
              <a:rPr lang="en-US" altLang="ko-KR" dirty="0"/>
              <a:t>36.5 </a:t>
            </a:r>
            <a:r>
              <a:rPr lang="ko-KR" altLang="en-US" dirty="0"/>
              <a:t>값이 저장된 메시지 수신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80F0A9-8C1A-C84A-A784-9CDA53FAE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27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68A05B-A45F-402D-AE64-DC415BBD321B}"/>
              </a:ext>
            </a:extLst>
          </p:cNvPr>
          <p:cNvSpPr txBox="1"/>
          <p:nvPr/>
        </p:nvSpPr>
        <p:spPr>
          <a:xfrm>
            <a:off x="755576" y="6165304"/>
            <a:ext cx="683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rgbClr val="0070C0"/>
                </a:solidFill>
              </a:rPr>
              <a:t>앞서 </a:t>
            </a:r>
            <a:r>
              <a:rPr lang="en-US" altLang="ko-KR" sz="1600" err="1">
                <a:solidFill>
                  <a:srgbClr val="0070C0"/>
                </a:solidFill>
              </a:rPr>
              <a:t>mosquitto</a:t>
            </a:r>
            <a:r>
              <a:rPr lang="ko-KR" altLang="en-US" sz="1600">
                <a:solidFill>
                  <a:srgbClr val="0070C0"/>
                </a:solidFill>
              </a:rPr>
              <a:t>를 설치할 때 함께 설치된 </a:t>
            </a:r>
            <a:r>
              <a:rPr lang="en-US" altLang="ko-KR" sz="1600">
                <a:solidFill>
                  <a:srgbClr val="0070C0"/>
                </a:solidFill>
              </a:rPr>
              <a:t>2</a:t>
            </a:r>
            <a:r>
              <a:rPr lang="ko-KR" altLang="en-US" sz="1600">
                <a:solidFill>
                  <a:srgbClr val="0070C0"/>
                </a:solidFill>
              </a:rPr>
              <a:t>개의 클라이언트 프로그램</a:t>
            </a:r>
            <a:endParaRPr lang="en-US" altLang="ko-KR" sz="1600">
              <a:solidFill>
                <a:srgbClr val="0070C0"/>
              </a:solidFill>
            </a:endParaRPr>
          </a:p>
          <a:p>
            <a:r>
              <a:rPr lang="en-US" altLang="ko-KR" sz="1600">
                <a:solidFill>
                  <a:srgbClr val="0070C0"/>
                </a:solidFill>
              </a:rPr>
              <a:t>    </a:t>
            </a:r>
            <a:r>
              <a:rPr lang="en-US" altLang="ko-KR" sz="1600" err="1">
                <a:solidFill>
                  <a:srgbClr val="0070C0"/>
                </a:solidFill>
              </a:rPr>
              <a:t>mosquitto_sub</a:t>
            </a:r>
            <a:r>
              <a:rPr lang="ko-KR" altLang="en-US" sz="1600">
                <a:solidFill>
                  <a:srgbClr val="0070C0"/>
                </a:solidFill>
              </a:rPr>
              <a:t>와 </a:t>
            </a:r>
            <a:r>
              <a:rPr lang="en-US" altLang="ko-KR" sz="1600" err="1">
                <a:solidFill>
                  <a:srgbClr val="0070C0"/>
                </a:solidFill>
              </a:rPr>
              <a:t>mosquitto_</a:t>
            </a:r>
            <a:r>
              <a:rPr lang="en-US" altLang="ko-KR" sz="1600">
                <a:solidFill>
                  <a:srgbClr val="0070C0"/>
                </a:solidFill>
              </a:rPr>
              <a:t>pub </a:t>
            </a:r>
            <a:r>
              <a:rPr lang="ko-KR" altLang="en-US" sz="1600">
                <a:solidFill>
                  <a:srgbClr val="0070C0"/>
                </a:solidFill>
              </a:rPr>
              <a:t>활용</a:t>
            </a:r>
          </a:p>
        </p:txBody>
      </p:sp>
    </p:spTree>
    <p:extLst>
      <p:ext uri="{BB962C8B-B14F-4D97-AF65-F5344CB8AC3E}">
        <p14:creationId xmlns:p14="http://schemas.microsoft.com/office/powerpoint/2010/main" val="4033188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45489" y="510476"/>
            <a:ext cx="6192688" cy="609397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b="1" dirty="0" err="1"/>
              <a:t>pi@pi</a:t>
            </a:r>
            <a:r>
              <a:rPr lang="en-US" altLang="ko-KR" sz="1000" b="1" dirty="0"/>
              <a:t>:~ $ </a:t>
            </a:r>
            <a:r>
              <a:rPr lang="en-US" altLang="ko-KR" sz="1000" b="1" dirty="0" err="1"/>
              <a:t>mosquitto</a:t>
            </a:r>
            <a:r>
              <a:rPr lang="en-US" altLang="ko-KR" sz="1000" b="1" dirty="0"/>
              <a:t> -v -c </a:t>
            </a:r>
            <a:r>
              <a:rPr lang="en-US" altLang="ko-KR" sz="1000" b="1" dirty="0" err="1"/>
              <a:t>mos.conf</a:t>
            </a:r>
            <a:endParaRPr lang="en-US" altLang="ko-KR" sz="1000" b="1" dirty="0"/>
          </a:p>
          <a:p>
            <a:r>
              <a:rPr lang="en-US" altLang="ko-KR" sz="1000" dirty="0"/>
              <a:t>1674628450: </a:t>
            </a:r>
            <a:r>
              <a:rPr lang="en-US" altLang="ko-KR" sz="1000" dirty="0" err="1"/>
              <a:t>mosquitto</a:t>
            </a:r>
            <a:r>
              <a:rPr lang="en-US" altLang="ko-KR" sz="1000" dirty="0"/>
              <a:t> version 2.0.11 starting</a:t>
            </a:r>
          </a:p>
          <a:p>
            <a:r>
              <a:rPr lang="en-US" altLang="ko-KR" sz="1000" dirty="0"/>
              <a:t>1674628450: Config loaded from </a:t>
            </a:r>
            <a:r>
              <a:rPr lang="en-US" altLang="ko-KR" sz="1000" dirty="0" err="1"/>
              <a:t>mos.conf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1674628450: Opening ipv4 listen socket on port 1883.</a:t>
            </a:r>
          </a:p>
          <a:p>
            <a:r>
              <a:rPr lang="en-US" altLang="ko-KR" sz="1000" dirty="0"/>
              <a:t>1674628450: Opening ipv6 listen socket on port 1883.</a:t>
            </a:r>
          </a:p>
          <a:p>
            <a:r>
              <a:rPr lang="en-US" altLang="ko-KR" sz="1000" dirty="0"/>
              <a:t>1674628450: </a:t>
            </a:r>
            <a:r>
              <a:rPr lang="en-US" altLang="ko-KR" sz="1000" dirty="0" err="1"/>
              <a:t>mosquitto</a:t>
            </a:r>
            <a:r>
              <a:rPr lang="en-US" altLang="ko-KR" sz="1000" dirty="0"/>
              <a:t> version 2.0.11 running</a:t>
            </a:r>
          </a:p>
          <a:p>
            <a:r>
              <a:rPr lang="en-US" altLang="ko-KR" sz="1000" dirty="0"/>
              <a:t>1674628486: New connection from ::1:46444 on port 1883.</a:t>
            </a:r>
          </a:p>
          <a:p>
            <a:r>
              <a:rPr lang="en-US" altLang="ko-KR" sz="1000" dirty="0"/>
              <a:t>1674628486: New client connected from ::1:46444 as auto-7D3DAD6B-3B2C-90C5-126D-3AAC0D073319 (p2, c1, k60).</a:t>
            </a:r>
          </a:p>
          <a:p>
            <a:r>
              <a:rPr lang="en-US" altLang="ko-KR" sz="1000" dirty="0"/>
              <a:t>1674628486: No will message specified.</a:t>
            </a:r>
          </a:p>
          <a:p>
            <a:r>
              <a:rPr lang="en-US" altLang="ko-KR" sz="1000" dirty="0"/>
              <a:t>1674628486: Sending CONNACK to auto-7D3DAD6B-3B2C-90C5-126D-3AAC0D073319 (0, 0)</a:t>
            </a:r>
          </a:p>
          <a:p>
            <a:r>
              <a:rPr lang="en-US" altLang="ko-KR" sz="1000" dirty="0"/>
              <a:t>1674628486: Received SUBSCRIBE from auto-7D3DAD6B-3B2C-90C5-126D-3AAC0D073319</a:t>
            </a:r>
          </a:p>
          <a:p>
            <a:r>
              <a:rPr lang="en-US" altLang="ko-KR" sz="1000" dirty="0"/>
              <a:t>1674628486:     temp (QoS 0)</a:t>
            </a:r>
          </a:p>
          <a:p>
            <a:r>
              <a:rPr lang="en-US" altLang="ko-KR" sz="1000" dirty="0"/>
              <a:t>1674628486: auto-7D3DAD6B-3B2C-90C5-126D-3AAC0D073319 0 temp</a:t>
            </a:r>
          </a:p>
          <a:p>
            <a:r>
              <a:rPr lang="en-US" altLang="ko-KR" sz="1000" dirty="0"/>
              <a:t>1674628486: Sending SUBACK to auto-7D3DAD6B-3B2C-90C5-126D-3AAC0D073319</a:t>
            </a:r>
          </a:p>
          <a:p>
            <a:r>
              <a:rPr lang="en-US" altLang="ko-KR" sz="1000" dirty="0"/>
              <a:t>1674628522: New connection from ::1:51692 on port 1883.</a:t>
            </a:r>
          </a:p>
          <a:p>
            <a:r>
              <a:rPr lang="en-US" altLang="ko-KR" sz="1000" dirty="0"/>
              <a:t>1674628522: New client connected from ::1:51692 as auto-43FCBE18-DCAA-6CA1-949B-7D84F6C87E75 (p2, c1, k60).</a:t>
            </a:r>
          </a:p>
          <a:p>
            <a:r>
              <a:rPr lang="en-US" altLang="ko-KR" sz="1000" dirty="0"/>
              <a:t>1674628522: No will message specified.</a:t>
            </a:r>
          </a:p>
          <a:p>
            <a:r>
              <a:rPr lang="en-US" altLang="ko-KR" sz="1000" dirty="0"/>
              <a:t>1674628522: Sending CONNACK to auto-43FCBE18-DCAA-6CA1-949B-7D84F6C87E75 (0, 0)</a:t>
            </a:r>
          </a:p>
          <a:p>
            <a:r>
              <a:rPr lang="en-US" altLang="ko-KR" sz="1000" dirty="0"/>
              <a:t>1674628522: Received SUBSCRIBE from auto-43FCBE18-DCAA-6CA1-949B-7D84F6C87E75</a:t>
            </a:r>
          </a:p>
          <a:p>
            <a:r>
              <a:rPr lang="en-US" altLang="ko-KR" sz="1000" dirty="0"/>
              <a:t>1674628522:     temp (QoS 0)</a:t>
            </a:r>
          </a:p>
          <a:p>
            <a:r>
              <a:rPr lang="en-US" altLang="ko-KR" sz="1000" dirty="0"/>
              <a:t>1674628522: auto-43FCBE18-DCAA-6CA1-949B-7D84F6C87E75 0 temp</a:t>
            </a:r>
          </a:p>
          <a:p>
            <a:r>
              <a:rPr lang="en-US" altLang="ko-KR" sz="1000" dirty="0"/>
              <a:t>1674628522: Sending SUBACK to auto-43FCBE18-DCAA-6CA1-949B-7D84F6C87E75</a:t>
            </a:r>
          </a:p>
          <a:p>
            <a:r>
              <a:rPr lang="en-US" altLang="ko-KR" sz="1000" dirty="0"/>
              <a:t>1674628545: Received PINGREQ from auto-7D3DAD6B-3B2C-90C5-126D-3AAC0D073319</a:t>
            </a:r>
          </a:p>
          <a:p>
            <a:r>
              <a:rPr lang="en-US" altLang="ko-KR" sz="1000" dirty="0"/>
              <a:t>1674628545: Sending PINGRESP to auto-7D3DAD6B-3B2C-90C5-126D-3AAC0D073319</a:t>
            </a:r>
          </a:p>
          <a:p>
            <a:r>
              <a:rPr lang="en-US" altLang="ko-KR" sz="1000" dirty="0"/>
              <a:t>1674628560: New connection from ::1:53830 on port 1883.</a:t>
            </a:r>
          </a:p>
          <a:p>
            <a:r>
              <a:rPr lang="en-US" altLang="ko-KR" sz="1000" dirty="0"/>
              <a:t>1674628560: New client connected from ::1:53830 as auto-E9E50679-C25C-532A-DAD7-4F9CC154C8DE (p2, c1, k60).</a:t>
            </a:r>
          </a:p>
          <a:p>
            <a:r>
              <a:rPr lang="en-US" altLang="ko-KR" sz="1000" dirty="0"/>
              <a:t>1674628560: No will message specified.</a:t>
            </a:r>
          </a:p>
          <a:p>
            <a:r>
              <a:rPr lang="en-US" altLang="ko-KR" sz="1000" dirty="0"/>
              <a:t>1674628560: Sending CONNACK to auto-E9E50679-C25C-532A-DAD7-4F9CC154C8DE (0, 0)</a:t>
            </a:r>
          </a:p>
          <a:p>
            <a:r>
              <a:rPr lang="en-US" altLang="ko-KR" sz="1000" dirty="0"/>
              <a:t>1674628560: Received PUBLISH from auto-E9E50679-C25C-532A-DAD7-4F9CC154C8DE (d0, q0, r0, m0, 'temp', ... (4 bytes))</a:t>
            </a:r>
          </a:p>
          <a:p>
            <a:r>
              <a:rPr lang="en-US" altLang="ko-KR" sz="1000" dirty="0"/>
              <a:t>1674628560: Sending PUBLISH to auto-7D3DAD6B-3B2C-90C5-126D-3AAC0D073319 (d0, q0, r0, m0, 'temp', ... (4 bytes))</a:t>
            </a:r>
          </a:p>
          <a:p>
            <a:r>
              <a:rPr lang="en-US" altLang="ko-KR" sz="1000" dirty="0"/>
              <a:t>1674628560: Sending PUBLISH to auto-43FCBE18-DCAA-6CA1-949B-7D84F6C87E75 (d0, q0, r0, m0, 'temp', ... (4 bytes))</a:t>
            </a:r>
          </a:p>
          <a:p>
            <a:r>
              <a:rPr lang="en-US" altLang="ko-KR" sz="1000" dirty="0"/>
              <a:t>1674628560: Received DISCONNECT from auto-E9E50679-C25C-532A-DAD7-4F9CC154C8DE</a:t>
            </a:r>
          </a:p>
          <a:p>
            <a:r>
              <a:rPr lang="en-US" altLang="ko-KR" sz="1000" dirty="0"/>
              <a:t>1674628560: Client auto-E9E50679-C25C-532A-DAD7-4F9CC154C8DE disconnected.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026986" y="4581188"/>
            <a:ext cx="4932040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b="1" dirty="0" err="1"/>
              <a:t>pi@pi</a:t>
            </a:r>
            <a:r>
              <a:rPr lang="en-US" altLang="ko-KR" sz="1000" b="1" dirty="0"/>
              <a:t>:~ $ </a:t>
            </a:r>
            <a:r>
              <a:rPr lang="en" altLang="ko-KR" sz="1000" b="1" dirty="0"/>
              <a:t>mosquitto_pub </a:t>
            </a:r>
            <a:r>
              <a:rPr lang="en-US" altLang="ko-KR" sz="1000" b="1" dirty="0"/>
              <a:t>–h localhost –p 1883 –t "temp" –m 36.5</a:t>
            </a:r>
          </a:p>
          <a:p>
            <a:r>
              <a:rPr lang="en-US" altLang="ko-KR" sz="1000" dirty="0"/>
              <a:t>Client mosqpub|2664-raspberryp sending CONNECT</a:t>
            </a:r>
          </a:p>
          <a:p>
            <a:r>
              <a:rPr lang="en-US" altLang="ko-KR" sz="1000" dirty="0"/>
              <a:t>Client mosqpub|2664-raspberryp received CONNACK (0)</a:t>
            </a:r>
          </a:p>
          <a:p>
            <a:r>
              <a:rPr lang="en-US" altLang="ko-KR" sz="1000" dirty="0"/>
              <a:t>Client mosqpub|2664-raspberryp sending PUBLISH (d0, q0, r0, m1, 'hello', ... (5 bytes))</a:t>
            </a:r>
          </a:p>
          <a:p>
            <a:r>
              <a:rPr lang="en-US" altLang="ko-KR" sz="1000" dirty="0"/>
              <a:t>Client mosqpub|2664-raspberryp sending DISCONNECT</a:t>
            </a:r>
          </a:p>
          <a:p>
            <a:r>
              <a:rPr lang="en-US" altLang="ko-KR" sz="1000" b="1" dirty="0" err="1"/>
              <a:t>pi@pi</a:t>
            </a:r>
            <a:r>
              <a:rPr lang="en-US" altLang="ko-KR" sz="1000" b="1" dirty="0"/>
              <a:t>:~ $</a:t>
            </a:r>
            <a:endParaRPr lang="en-US" altLang="ko-KR" sz="1000" dirty="0"/>
          </a:p>
        </p:txBody>
      </p:sp>
      <p:sp>
        <p:nvSpPr>
          <p:cNvPr id="8" name="직사각형 7"/>
          <p:cNvSpPr/>
          <p:nvPr/>
        </p:nvSpPr>
        <p:spPr>
          <a:xfrm>
            <a:off x="3995936" y="588350"/>
            <a:ext cx="4863580" cy="15465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50" b="1" dirty="0" err="1"/>
              <a:t>pi@pi</a:t>
            </a:r>
            <a:r>
              <a:rPr lang="en-US" altLang="ko-KR" sz="1050" b="1" dirty="0"/>
              <a:t>:~ $ </a:t>
            </a:r>
            <a:r>
              <a:rPr lang="en-US" altLang="ko-KR" sz="1050" b="1" dirty="0" err="1"/>
              <a:t>mosquitto_sub</a:t>
            </a:r>
            <a:r>
              <a:rPr lang="en-US" altLang="ko-KR" sz="1050" b="1" dirty="0"/>
              <a:t> -h localhost -p 1883 -d -t "temp"</a:t>
            </a:r>
          </a:p>
          <a:p>
            <a:r>
              <a:rPr lang="en-US" altLang="ko-KR" sz="1050" dirty="0"/>
              <a:t>Client (null) sending CONNECT</a:t>
            </a:r>
          </a:p>
          <a:p>
            <a:r>
              <a:rPr lang="en-US" altLang="ko-KR" sz="1050" dirty="0"/>
              <a:t>Client (null) received CONNACK (0)</a:t>
            </a:r>
          </a:p>
          <a:p>
            <a:r>
              <a:rPr lang="en-US" altLang="ko-KR" sz="1050" dirty="0"/>
              <a:t>Client (null) sending SUBSCRIBE (Mid: 1, Topic: temp, QoS: 0, Options: 0x00)</a:t>
            </a:r>
          </a:p>
          <a:p>
            <a:r>
              <a:rPr lang="en-US" altLang="ko-KR" sz="1050" dirty="0"/>
              <a:t>Client (null) received SUBACK</a:t>
            </a:r>
          </a:p>
          <a:p>
            <a:r>
              <a:rPr lang="en-US" altLang="ko-KR" sz="1050" dirty="0"/>
              <a:t>Subscribed (mid: 1): 0</a:t>
            </a:r>
          </a:p>
          <a:p>
            <a:r>
              <a:rPr lang="en-US" altLang="ko-KR" sz="1050" dirty="0"/>
              <a:t>Client (null) received PUBLISH (d0, q0, r0, m0, 'temp', ... (4 bytes))</a:t>
            </a:r>
          </a:p>
          <a:p>
            <a:r>
              <a:rPr lang="en-US" altLang="ko-KR" sz="1050" dirty="0">
                <a:solidFill>
                  <a:srgbClr val="C00000"/>
                </a:solidFill>
              </a:rPr>
              <a:t>36.5</a:t>
            </a:r>
          </a:p>
          <a:p>
            <a:endParaRPr lang="ko-KR" altLang="en-US" sz="1050" dirty="0"/>
          </a:p>
        </p:txBody>
      </p:sp>
      <p:sp>
        <p:nvSpPr>
          <p:cNvPr id="9" name="TextBox 8"/>
          <p:cNvSpPr txBox="1"/>
          <p:nvPr/>
        </p:nvSpPr>
        <p:spPr>
          <a:xfrm>
            <a:off x="122329" y="233477"/>
            <a:ext cx="7857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C00000"/>
                </a:solidFill>
              </a:rPr>
              <a:t>터미널 </a:t>
            </a:r>
            <a:r>
              <a:rPr lang="en-US" altLang="ko-KR" sz="1200">
                <a:solidFill>
                  <a:srgbClr val="C00000"/>
                </a:solidFill>
              </a:rPr>
              <a:t>1</a:t>
            </a:r>
            <a:endParaRPr lang="ko-KR" altLang="en-US" sz="120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56376" y="347389"/>
            <a:ext cx="7857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C00000"/>
                </a:solidFill>
              </a:rPr>
              <a:t>터미널 </a:t>
            </a:r>
            <a:r>
              <a:rPr lang="en-US" altLang="ko-KR" sz="1200">
                <a:solidFill>
                  <a:srgbClr val="C00000"/>
                </a:solidFill>
              </a:rPr>
              <a:t>2</a:t>
            </a:r>
            <a:endParaRPr lang="ko-KR" altLang="en-US" sz="1200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86009" y="2276872"/>
            <a:ext cx="834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rgbClr val="C00000"/>
                </a:solidFill>
              </a:rPr>
              <a:t>터미널 </a:t>
            </a:r>
            <a:r>
              <a:rPr lang="en-US" altLang="ko-KR" sz="1200">
                <a:solidFill>
                  <a:srgbClr val="C00000"/>
                </a:solidFill>
              </a:rPr>
              <a:t>3</a:t>
            </a:r>
            <a:endParaRPr lang="ko-KR" altLang="en-US" sz="1200">
              <a:solidFill>
                <a:srgbClr val="C00000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018456" y="2542154"/>
            <a:ext cx="4863580" cy="15465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50" b="1" dirty="0" err="1"/>
              <a:t>pi@pi</a:t>
            </a:r>
            <a:r>
              <a:rPr lang="en-US" altLang="ko-KR" sz="1050" b="1" dirty="0"/>
              <a:t>:~ $ </a:t>
            </a:r>
            <a:r>
              <a:rPr lang="en-US" altLang="ko-KR" sz="1050" b="1" dirty="0" err="1"/>
              <a:t>mosquitto_sub</a:t>
            </a:r>
            <a:r>
              <a:rPr lang="en-US" altLang="ko-KR" sz="1050" b="1" dirty="0"/>
              <a:t> -h localhost -p </a:t>
            </a:r>
            <a:r>
              <a:rPr lang="en-US" altLang="ko-KR" sz="1050" b="1"/>
              <a:t>1883 -t </a:t>
            </a:r>
            <a:r>
              <a:rPr lang="en-US" altLang="ko-KR" sz="1050" b="1" dirty="0"/>
              <a:t>"temp"</a:t>
            </a:r>
          </a:p>
          <a:p>
            <a:r>
              <a:rPr lang="en-US" altLang="ko-KR" sz="1050" dirty="0"/>
              <a:t>Client (null) sending CONNECT</a:t>
            </a:r>
          </a:p>
          <a:p>
            <a:r>
              <a:rPr lang="en-US" altLang="ko-KR" sz="1050" dirty="0"/>
              <a:t>Client (null) received CONNACK (0)</a:t>
            </a:r>
          </a:p>
          <a:p>
            <a:r>
              <a:rPr lang="en-US" altLang="ko-KR" sz="1050" dirty="0"/>
              <a:t>Client (null) sending SUBSCRIBE (Mid: 1, Topic: temp, QoS: 0, Options: 0x00)</a:t>
            </a:r>
          </a:p>
          <a:p>
            <a:r>
              <a:rPr lang="en-US" altLang="ko-KR" sz="1050" dirty="0"/>
              <a:t>Client (null) received SUBACK</a:t>
            </a:r>
          </a:p>
          <a:p>
            <a:r>
              <a:rPr lang="en-US" altLang="ko-KR" sz="1050" dirty="0"/>
              <a:t>Subscribed (mid: 1): 0</a:t>
            </a:r>
          </a:p>
          <a:p>
            <a:r>
              <a:rPr lang="en-US" altLang="ko-KR" sz="1050" dirty="0"/>
              <a:t>Client (null) received PUBLISH (d0, q0, r0, m0, 'temp', ... (4 bytes))</a:t>
            </a:r>
          </a:p>
          <a:p>
            <a:r>
              <a:rPr lang="en-US" altLang="ko-KR" sz="1050" dirty="0">
                <a:solidFill>
                  <a:srgbClr val="C00000"/>
                </a:solidFill>
              </a:rPr>
              <a:t>36.5</a:t>
            </a:r>
          </a:p>
          <a:p>
            <a:endParaRPr lang="ko-KR" altLang="en-US" sz="1050" dirty="0"/>
          </a:p>
        </p:txBody>
      </p:sp>
      <p:sp>
        <p:nvSpPr>
          <p:cNvPr id="13" name="TextBox 12"/>
          <p:cNvSpPr txBox="1"/>
          <p:nvPr/>
        </p:nvSpPr>
        <p:spPr>
          <a:xfrm>
            <a:off x="8170792" y="4304755"/>
            <a:ext cx="7857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C00000"/>
                </a:solidFill>
              </a:rPr>
              <a:t>터미널 </a:t>
            </a:r>
            <a:r>
              <a:rPr lang="en-US" altLang="ko-KR" sz="1200">
                <a:solidFill>
                  <a:srgbClr val="C00000"/>
                </a:solidFill>
              </a:rPr>
              <a:t>4</a:t>
            </a:r>
            <a:endParaRPr lang="ko-KR" altLang="en-US" sz="12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0608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28604D-EC4D-4AA5-ACFB-A643BD05C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A456F72-6FDC-4BD2-906D-54A729ECE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7.4 </a:t>
            </a:r>
            <a:r>
              <a:rPr lang="ko-KR" altLang="en-US" dirty="0" err="1"/>
              <a:t>파이썬으로</a:t>
            </a:r>
            <a:r>
              <a:rPr lang="ko-KR" altLang="en-US" dirty="0"/>
              <a:t> </a:t>
            </a:r>
            <a:r>
              <a:rPr lang="en-US" altLang="ko-KR" dirty="0"/>
              <a:t>MQTT </a:t>
            </a:r>
            <a:r>
              <a:rPr lang="ko-KR" altLang="en-US" dirty="0"/>
              <a:t>클라이언트 작성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3C2C907-076A-4AF5-9066-0312473B98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8973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092677-06E3-984F-AE3A-6AC291D9D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paho.mqtt </a:t>
            </a:r>
            <a:r>
              <a:rPr lang="ko-KR" altLang="en-US"/>
              <a:t>라이브러리 설치</a:t>
            </a:r>
            <a:endParaRPr lang="en-US" altLang="ko-KR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50BBED-2712-2641-80E9-6A7FAEF3F58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kumimoji="1" lang="ko-KR" altLang="en-US"/>
              <a:t>가상 환경 활성화 후 </a:t>
            </a:r>
            <a:r>
              <a:rPr kumimoji="1" lang="en-US" altLang="ko-KR"/>
              <a:t>paho.mqtt </a:t>
            </a:r>
            <a:r>
              <a:rPr kumimoji="1" lang="ko-KR" altLang="en-US"/>
              <a:t>설치</a:t>
            </a:r>
            <a:endParaRPr kumimoji="1" lang="en-US" altLang="ko-KR"/>
          </a:p>
          <a:p>
            <a:endParaRPr kumimoji="1" lang="en-US" altLang="ko-KR"/>
          </a:p>
          <a:p>
            <a:pPr lvl="2"/>
            <a:endParaRPr lang="en-US" altLang="ko-KR"/>
          </a:p>
          <a:p>
            <a:pPr lvl="2"/>
            <a:r>
              <a:rPr lang="en-US" altLang="ko-KR"/>
              <a:t>myenv </a:t>
            </a:r>
            <a:r>
              <a:rPr lang="ko-KR" altLang="en-US"/>
              <a:t>가상환경 디렉터리에 </a:t>
            </a:r>
            <a:r>
              <a:rPr lang="en-US" altLang="ko-KR"/>
              <a:t>paho.mqtt</a:t>
            </a:r>
            <a:r>
              <a:rPr lang="ko-KR" altLang="en-US"/>
              <a:t> 라이브러리 설치</a:t>
            </a:r>
            <a:endParaRPr lang="en-US" altLang="ko-KR"/>
          </a:p>
          <a:p>
            <a:r>
              <a:rPr lang="ko-KR" altLang="en-US"/>
              <a:t>설치 확인</a:t>
            </a:r>
            <a:endParaRPr kumimoji="1" lang="en-US" altLang="ko-KR"/>
          </a:p>
          <a:p>
            <a:pPr lvl="1"/>
            <a:endParaRPr kumimoji="1" lang="en-US" altLang="ko-KR"/>
          </a:p>
          <a:p>
            <a:pPr lvl="1"/>
            <a:endParaRPr kumimoji="1" lang="en-US" altLang="ko-KR"/>
          </a:p>
          <a:p>
            <a:pPr lvl="1"/>
            <a:endParaRPr kumimoji="1" lang="en-US" altLang="ko-KR"/>
          </a:p>
          <a:p>
            <a:pPr lvl="1"/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B541BD-2A12-DC48-A412-9C1EBA786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7870077-3A0D-4D88-8773-1C29472A181C}"/>
              </a:ext>
            </a:extLst>
          </p:cNvPr>
          <p:cNvSpPr/>
          <p:nvPr/>
        </p:nvSpPr>
        <p:spPr>
          <a:xfrm>
            <a:off x="1067313" y="3463842"/>
            <a:ext cx="6768752" cy="954107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fr-FR" altLang="ko-KR" sz="1400" b="1"/>
              <a:t>(myenv) pi@pi:~ $ cd myenv/lib/</a:t>
            </a:r>
            <a:r>
              <a:rPr lang="fr-FR" altLang="ko-KR" sz="1400" b="1">
                <a:solidFill>
                  <a:srgbClr val="C00000"/>
                </a:solidFill>
              </a:rPr>
              <a:t>python3.13</a:t>
            </a:r>
            <a:r>
              <a:rPr lang="fr-FR" altLang="ko-KR" sz="1400" b="1"/>
              <a:t>/site-packages/paho</a:t>
            </a:r>
          </a:p>
          <a:p>
            <a:r>
              <a:rPr lang="fr-FR" altLang="ko-KR" sz="1400" b="1"/>
              <a:t>(myenv) pi@pi:~/myenv/lib/python3.13/site-packages/paho $ ls</a:t>
            </a:r>
          </a:p>
          <a:p>
            <a:r>
              <a:rPr lang="en-US" altLang="ko-KR" sz="1400"/>
              <a:t>__init__.py  </a:t>
            </a:r>
            <a:r>
              <a:rPr lang="en-US" altLang="ko-KR" sz="1400" b="1"/>
              <a:t>mqtt</a:t>
            </a:r>
            <a:r>
              <a:rPr lang="en-US" altLang="ko-KR" sz="1400"/>
              <a:t>  __pycache__</a:t>
            </a:r>
          </a:p>
          <a:p>
            <a:r>
              <a:rPr lang="fr-FR" altLang="ko-KR" sz="1400" b="1"/>
              <a:t>(myenv) pi@pi:~/myenv/lib/python3.13/site-packages/paho $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BF5064A-EF53-49AF-AB2B-306E96A231CA}"/>
              </a:ext>
            </a:extLst>
          </p:cNvPr>
          <p:cNvSpPr/>
          <p:nvPr/>
        </p:nvSpPr>
        <p:spPr>
          <a:xfrm>
            <a:off x="1067313" y="4623137"/>
            <a:ext cx="6768752" cy="116955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/>
              <a:t>(myenv) pi@pi:~/myenv/lib/python3.13/site-packages/paho $ cd mqtt</a:t>
            </a:r>
          </a:p>
          <a:p>
            <a:r>
              <a:rPr lang="en-US" altLang="ko-KR" sz="1400" b="1"/>
              <a:t>(myenv) pi@pi:~/myenv/lib/python3.13/site-packages/paho/mqtt $ ls</a:t>
            </a:r>
          </a:p>
          <a:p>
            <a:r>
              <a:rPr lang="en-US" altLang="ko-KR" sz="1400"/>
              <a:t>client.py    matcher.py      properties.py  __pycache__     subscribeoptions.py</a:t>
            </a:r>
            <a:br>
              <a:rPr lang="en-US" altLang="ko-KR" sz="1400"/>
            </a:br>
            <a:r>
              <a:rPr lang="en-US" altLang="ko-KR" sz="1400"/>
              <a:t>__init__.py  packettypes.py  publish.py     reasoncodes.py  subscribe.py</a:t>
            </a:r>
          </a:p>
          <a:p>
            <a:r>
              <a:rPr lang="en-US" altLang="ko-KR" sz="1400" b="1"/>
              <a:t>(myenv) pi@pi:~/myenv/lib/python3.13/site-packages/paho/mqtt $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3981489-982D-46CE-8A17-6A92639F1F9A}"/>
              </a:ext>
            </a:extLst>
          </p:cNvPr>
          <p:cNvSpPr/>
          <p:nvPr/>
        </p:nvSpPr>
        <p:spPr>
          <a:xfrm>
            <a:off x="1043608" y="1916832"/>
            <a:ext cx="6768752" cy="523220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kumimoji="1" lang="en-US" altLang="ko-KR" sz="1400" b="1"/>
              <a:t>pi@pi:~</a:t>
            </a:r>
            <a:r>
              <a:rPr kumimoji="1" lang="ko-KR" altLang="en-US" sz="1400" b="1"/>
              <a:t> </a:t>
            </a:r>
            <a:r>
              <a:rPr kumimoji="1" lang="en-US" altLang="ko-KR" sz="1400" b="1"/>
              <a:t>$ source myenv/bin/activate</a:t>
            </a:r>
          </a:p>
          <a:p>
            <a:r>
              <a:rPr lang="fr-FR" altLang="ko-KR" sz="1400" b="1">
                <a:solidFill>
                  <a:srgbClr val="C00000"/>
                </a:solidFill>
              </a:rPr>
              <a:t>(myenv) </a:t>
            </a:r>
            <a:r>
              <a:rPr lang="fr-FR" altLang="ko-KR" sz="1400" b="1"/>
              <a:t>pi@pi:~ $ </a:t>
            </a:r>
            <a:r>
              <a:rPr kumimoji="1" lang="en-US" altLang="ko-KR" sz="1400" b="1"/>
              <a:t>pip install paho.mqtt</a:t>
            </a:r>
            <a:endParaRPr lang="fr-FR" altLang="ko-KR" sz="1400" b="1"/>
          </a:p>
        </p:txBody>
      </p:sp>
    </p:spTree>
    <p:extLst>
      <p:ext uri="{BB962C8B-B14F-4D97-AF65-F5344CB8AC3E}">
        <p14:creationId xmlns:p14="http://schemas.microsoft.com/office/powerpoint/2010/main" val="4440571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430A3053-332F-47FE-901B-648909B92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Client </a:t>
            </a:r>
            <a:r>
              <a:rPr lang="ko-KR" altLang="en-US" dirty="0"/>
              <a:t>객체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E6496FB-9A3E-448C-BF57-78965B2A9DD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Client </a:t>
            </a:r>
            <a:r>
              <a:rPr lang="ko-KR" altLang="en-US" dirty="0"/>
              <a:t>클래스 원형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Client </a:t>
            </a:r>
            <a:r>
              <a:rPr lang="ko-KR" altLang="en-US" dirty="0"/>
              <a:t>클래스 기능</a:t>
            </a:r>
            <a:endParaRPr lang="en-US" altLang="ko-KR" dirty="0"/>
          </a:p>
          <a:p>
            <a:pPr lvl="2"/>
            <a:r>
              <a:rPr lang="ko-KR" altLang="en-US" dirty="0"/>
              <a:t>브로커에 연결</a:t>
            </a:r>
            <a:r>
              <a:rPr lang="en-US" altLang="ko-KR" dirty="0"/>
              <a:t>, </a:t>
            </a:r>
            <a:r>
              <a:rPr lang="ko-KR" altLang="en-US" dirty="0"/>
              <a:t>메시지 구독 및 수신</a:t>
            </a:r>
            <a:r>
              <a:rPr lang="en-US" altLang="ko-KR" dirty="0"/>
              <a:t>, </a:t>
            </a:r>
            <a:r>
              <a:rPr lang="ko-KR" altLang="en-US" dirty="0"/>
              <a:t>메시지 발행 등 클라이언트의 </a:t>
            </a:r>
            <a:r>
              <a:rPr lang="ko-KR" altLang="en-US" b="1" dirty="0"/>
              <a:t>대부분의 기능 포함</a:t>
            </a:r>
            <a:endParaRPr lang="en-US" altLang="ko-KR" b="1" dirty="0"/>
          </a:p>
          <a:p>
            <a:r>
              <a:rPr lang="en-US" altLang="ko-KR" dirty="0"/>
              <a:t>Client</a:t>
            </a:r>
            <a:r>
              <a:rPr lang="ko-KR" altLang="en-US" dirty="0"/>
              <a:t> 객체 생성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67ABEA-4623-448B-8163-A0D73C371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0B27C0-C807-45FA-A02D-68ECE0D54C24}"/>
              </a:ext>
            </a:extLst>
          </p:cNvPr>
          <p:cNvSpPr/>
          <p:nvPr/>
        </p:nvSpPr>
        <p:spPr>
          <a:xfrm>
            <a:off x="1043608" y="1828562"/>
            <a:ext cx="7560840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80000"/>
            <a:r>
              <a:rPr lang="en" altLang="ko-KR" sz="1400" dirty="0"/>
              <a:t>Client(</a:t>
            </a:r>
          </a:p>
          <a:p>
            <a:pPr defTabSz="180000"/>
            <a:r>
              <a:rPr lang="en" altLang="ko-KR" sz="1400" dirty="0"/>
              <a:t>	</a:t>
            </a:r>
            <a:r>
              <a:rPr lang="en-US" altLang="ko-KR" sz="1400" dirty="0" err="1"/>
              <a:t>callback_api_version</a:t>
            </a:r>
            <a:r>
              <a:rPr lang="en-US" altLang="ko-KR" sz="1400" dirty="0"/>
              <a:t>=CallbackAPIVersion.VERSION1	 #API </a:t>
            </a:r>
            <a:r>
              <a:rPr lang="ko-KR" altLang="en-US" sz="1400" dirty="0"/>
              <a:t>버전</a:t>
            </a:r>
            <a:endParaRPr lang="en" altLang="ko-KR" sz="1400" dirty="0"/>
          </a:p>
          <a:p>
            <a:pPr defTabSz="180000"/>
            <a:r>
              <a:rPr lang="en" altLang="ko-KR" sz="1400" dirty="0"/>
              <a:t>	client_id="", 						</a:t>
            </a:r>
            <a:r>
              <a:rPr lang="en-US" altLang="ko-KR" sz="1400" dirty="0"/>
              <a:t>#</a:t>
            </a:r>
            <a:r>
              <a:rPr lang="ko-KR" altLang="en-US" sz="1400" dirty="0"/>
              <a:t> </a:t>
            </a:r>
            <a:r>
              <a:rPr lang="en-US" altLang="ko-KR" sz="1400" dirty="0"/>
              <a:t>client id</a:t>
            </a:r>
            <a:endParaRPr lang="en" altLang="ko-KR" sz="1400" dirty="0"/>
          </a:p>
          <a:p>
            <a:pPr defTabSz="180000"/>
            <a:r>
              <a:rPr lang="en" altLang="ko-KR" sz="1400" dirty="0"/>
              <a:t>	clean_session=True, 		# disconnect </a:t>
            </a:r>
            <a:r>
              <a:rPr lang="ko-KR" altLang="en-US" sz="1400" dirty="0"/>
              <a:t>될 때 세션 유지 여부</a:t>
            </a:r>
            <a:endParaRPr lang="en" altLang="ko-KR" sz="1400" dirty="0"/>
          </a:p>
          <a:p>
            <a:pPr defTabSz="180000"/>
            <a:r>
              <a:rPr lang="en" altLang="ko-KR" sz="1400" dirty="0"/>
              <a:t>	userdata=None, 				#</a:t>
            </a:r>
            <a:r>
              <a:rPr lang="ko-KR" altLang="en-US" sz="1400" dirty="0"/>
              <a:t> 콜백함수의 매개변수로 전달</a:t>
            </a:r>
            <a:r>
              <a:rPr lang="en-US" altLang="ko-KR" sz="1400" dirty="0"/>
              <a:t>.</a:t>
            </a:r>
            <a:r>
              <a:rPr lang="ko-KR" altLang="en-US" sz="1400" dirty="0"/>
              <a:t> </a:t>
            </a:r>
            <a:r>
              <a:rPr lang="en-US" altLang="ko-KR" sz="1400" dirty="0" err="1"/>
              <a:t>userdata</a:t>
            </a:r>
            <a:r>
              <a:rPr lang="ko-KR" altLang="en-US" sz="1400" dirty="0"/>
              <a:t>의 값</a:t>
            </a:r>
            <a:endParaRPr lang="en" altLang="ko-KR" sz="1400" dirty="0"/>
          </a:p>
          <a:p>
            <a:pPr defTabSz="180000"/>
            <a:r>
              <a:rPr lang="en" altLang="ko-KR" sz="1400" dirty="0"/>
              <a:t>	protocol=MQTTv311, 		#</a:t>
            </a:r>
            <a:r>
              <a:rPr lang="ko-KR" altLang="en-US" sz="1400" dirty="0"/>
              <a:t> </a:t>
            </a:r>
            <a:r>
              <a:rPr lang="en-US" altLang="ko-KR" sz="1400" dirty="0"/>
              <a:t>MQTT </a:t>
            </a:r>
            <a:r>
              <a:rPr lang="ko-KR" altLang="en-US" sz="1400" dirty="0"/>
              <a:t>버전</a:t>
            </a:r>
            <a:endParaRPr lang="en" altLang="ko-KR" sz="1400" dirty="0"/>
          </a:p>
          <a:p>
            <a:pPr defTabSz="180000"/>
            <a:r>
              <a:rPr lang="en" altLang="ko-KR" sz="1400" dirty="0"/>
              <a:t>	transport="tcp"					# </a:t>
            </a:r>
            <a:r>
              <a:rPr lang="en-US" altLang="ko-KR" sz="1400" dirty="0" err="1"/>
              <a:t>tcp</a:t>
            </a:r>
            <a:r>
              <a:rPr lang="en-US" altLang="ko-KR" sz="1400" dirty="0"/>
              <a:t> or </a:t>
            </a:r>
            <a:r>
              <a:rPr lang="en" altLang="ko-KR" sz="1400" dirty="0"/>
              <a:t>websockets</a:t>
            </a:r>
          </a:p>
          <a:p>
            <a:pPr defTabSz="180000"/>
            <a:r>
              <a:rPr lang="en" altLang="ko-KR" sz="1400" dirty="0"/>
              <a:t>)</a:t>
            </a:r>
            <a:endParaRPr lang="ko-KR" altLang="en-US" sz="1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53B566B-410D-489D-B28C-10D98F582518}"/>
              </a:ext>
            </a:extLst>
          </p:cNvPr>
          <p:cNvSpPr/>
          <p:nvPr/>
        </p:nvSpPr>
        <p:spPr>
          <a:xfrm>
            <a:off x="1043608" y="5301208"/>
            <a:ext cx="7560840" cy="738664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chemeClr val="dk1"/>
                </a:solidFill>
              </a:rPr>
              <a:t>import </a:t>
            </a:r>
            <a:r>
              <a:rPr lang="en-US" altLang="ko-KR" sz="1400" dirty="0" err="1">
                <a:solidFill>
                  <a:schemeClr val="dk1"/>
                </a:solidFill>
              </a:rPr>
              <a:t>paho.mqtt.client</a:t>
            </a:r>
            <a:r>
              <a:rPr lang="en-US" altLang="ko-KR" sz="1400" dirty="0">
                <a:solidFill>
                  <a:schemeClr val="dk1"/>
                </a:solidFill>
              </a:rPr>
              <a:t> as </a:t>
            </a:r>
            <a:r>
              <a:rPr lang="en-US" altLang="ko-KR" sz="1400" dirty="0" err="1">
                <a:solidFill>
                  <a:schemeClr val="dk1"/>
                </a:solidFill>
              </a:rPr>
              <a:t>mqtt</a:t>
            </a:r>
            <a:endParaRPr lang="en-US" altLang="ko-KR" sz="1400" dirty="0">
              <a:solidFill>
                <a:schemeClr val="dk1"/>
              </a:solidFill>
            </a:endParaRPr>
          </a:p>
          <a:p>
            <a:r>
              <a:rPr lang="en-US" altLang="ko-KR" sz="1400" dirty="0">
                <a:solidFill>
                  <a:schemeClr val="dk1"/>
                </a:solidFill>
              </a:rPr>
              <a:t>...</a:t>
            </a:r>
          </a:p>
          <a:p>
            <a:r>
              <a:rPr lang="en-US" altLang="ko-KR" sz="1400" dirty="0">
                <a:solidFill>
                  <a:schemeClr val="dk1"/>
                </a:solidFill>
              </a:rPr>
              <a:t>client = </a:t>
            </a:r>
            <a:r>
              <a:rPr lang="en-US" altLang="ko-KR" sz="1400" dirty="0" err="1">
                <a:solidFill>
                  <a:schemeClr val="dk1"/>
                </a:solidFill>
              </a:rPr>
              <a:t>mqtt.Client</a:t>
            </a:r>
            <a:r>
              <a:rPr lang="en-US" altLang="ko-KR" sz="1400" dirty="0">
                <a:solidFill>
                  <a:schemeClr val="dk1"/>
                </a:solidFill>
              </a:rPr>
              <a:t>(</a:t>
            </a:r>
            <a:r>
              <a:rPr lang="en-US" altLang="ko-KR" sz="1400" dirty="0"/>
              <a:t>mqtt.CallbackAPIVersion.VERSION2</a:t>
            </a:r>
            <a:r>
              <a:rPr lang="en-US" altLang="ko-KR" sz="1400" dirty="0">
                <a:solidFill>
                  <a:schemeClr val="dk1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104511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FADFCC0D-9FD3-40BC-BA71-947BD8A2F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Client </a:t>
            </a:r>
            <a:r>
              <a:rPr lang="ko-KR" altLang="en-US" dirty="0"/>
              <a:t>클래스의 주요 함수와 </a:t>
            </a:r>
            <a:r>
              <a:rPr lang="ko-KR" altLang="en-US" dirty="0" err="1"/>
              <a:t>콜백</a:t>
            </a:r>
            <a:r>
              <a:rPr lang="ko-KR" altLang="en-US" dirty="0"/>
              <a:t> 속성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54CCBA-1633-4836-AD38-C45A7FBE8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6E64646-4575-476B-BDBE-A770915F4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75" y="1484784"/>
            <a:ext cx="7575231" cy="490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454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B4365A-A4D0-4C3A-9C26-D3A5D3625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브로커에 연결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37B811-5FFE-4F46-8489-F4133E9FF64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브로커에 연결 </a:t>
            </a:r>
            <a:r>
              <a:rPr lang="en-US" altLang="ko-KR" sz="2000"/>
              <a:t>2</a:t>
            </a:r>
            <a:r>
              <a:rPr lang="ko-KR" altLang="en-US" sz="2000"/>
              <a:t>가지 방법</a:t>
            </a:r>
            <a:endParaRPr lang="en-US" altLang="ko-KR" sz="2000"/>
          </a:p>
          <a:p>
            <a:pPr lvl="1" fontAlgn="base"/>
            <a:r>
              <a:rPr lang="en-US" altLang="ko-KR" sz="1800"/>
              <a:t>connect() - </a:t>
            </a:r>
            <a:r>
              <a:rPr lang="ko-KR" altLang="en-US" sz="1800"/>
              <a:t>연결이 완료될 때 리턴</a:t>
            </a:r>
            <a:r>
              <a:rPr lang="en-US" altLang="ko-KR" sz="1800"/>
              <a:t>(</a:t>
            </a:r>
            <a:r>
              <a:rPr lang="ko-KR" altLang="en-US" sz="1800"/>
              <a:t>블록킹 함수</a:t>
            </a:r>
            <a:r>
              <a:rPr lang="en-US" altLang="ko-KR" sz="1800"/>
              <a:t>)</a:t>
            </a:r>
            <a:endParaRPr lang="ko-KR" altLang="en-US" sz="1800"/>
          </a:p>
          <a:p>
            <a:pPr lvl="1" fontAlgn="base"/>
            <a:r>
              <a:rPr lang="en-US" altLang="ko-KR" sz="1800"/>
              <a:t>connect_async() - </a:t>
            </a:r>
            <a:r>
              <a:rPr lang="ko-KR" altLang="en-US" sz="1800"/>
              <a:t>연결을 지시 후 연결 확인 없이 리턴</a:t>
            </a:r>
            <a:r>
              <a:rPr lang="en-US" altLang="ko-KR" sz="1800"/>
              <a:t>(</a:t>
            </a:r>
            <a:r>
              <a:rPr lang="ko-KR" altLang="en-US" sz="1800"/>
              <a:t>넌블록킹 함수</a:t>
            </a:r>
            <a:r>
              <a:rPr lang="en-US" altLang="ko-KR" sz="1800"/>
              <a:t>)</a:t>
            </a:r>
            <a:endParaRPr lang="ko-KR" altLang="en-US" sz="1800"/>
          </a:p>
          <a:p>
            <a:r>
              <a:rPr lang="en-US" altLang="ko-KR" sz="2000"/>
              <a:t>connect() </a:t>
            </a:r>
            <a:r>
              <a:rPr lang="ko-KR" altLang="en-US" sz="2000"/>
              <a:t>함수</a:t>
            </a:r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pPr lvl="1"/>
            <a:r>
              <a:rPr lang="en-US" altLang="ko-KR" sz="1800"/>
              <a:t>connect() </a:t>
            </a:r>
            <a:r>
              <a:rPr lang="ko-KR" altLang="en-US" sz="1800"/>
              <a:t>함수 활용 방법들</a:t>
            </a:r>
            <a:endParaRPr lang="en-US" altLang="ko-KR" sz="1800"/>
          </a:p>
          <a:p>
            <a:pPr lvl="2"/>
            <a:endParaRPr lang="en-US" altLang="ko-KR" sz="1600"/>
          </a:p>
          <a:p>
            <a:pPr lvl="2"/>
            <a:endParaRPr lang="en-US" altLang="ko-KR" sz="1600"/>
          </a:p>
          <a:p>
            <a:pPr lvl="2"/>
            <a:endParaRPr lang="en-US" altLang="ko-KR" sz="1600"/>
          </a:p>
          <a:p>
            <a:pPr lvl="2"/>
            <a:endParaRPr lang="en-US" altLang="ko-KR" sz="1600"/>
          </a:p>
          <a:p>
            <a:pPr lvl="2"/>
            <a:r>
              <a:rPr lang="en-US" altLang="ko-KR" sz="1600"/>
              <a:t>connect()</a:t>
            </a:r>
            <a:r>
              <a:rPr lang="ko-KR" altLang="en-US" sz="1600"/>
              <a:t>는 브로커와 연결이 완료될 때 리턴하므로</a:t>
            </a:r>
            <a:r>
              <a:rPr lang="en-US" altLang="ko-KR" sz="1600"/>
              <a:t>, </a:t>
            </a:r>
            <a:r>
              <a:rPr lang="ko-KR" altLang="en-US" sz="1600"/>
              <a:t>다음과 같이 활용</a:t>
            </a:r>
            <a:endParaRPr lang="en-US" altLang="ko-KR" sz="1600"/>
          </a:p>
          <a:p>
            <a:pPr lvl="1"/>
            <a:endParaRPr lang="en-US" altLang="ko-KR" sz="1800"/>
          </a:p>
          <a:p>
            <a:pPr lvl="1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E3E868C-6E2A-4904-8A15-D662A20F8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A016021-BFFE-4765-BF4D-EADF05B953BA}"/>
              </a:ext>
            </a:extLst>
          </p:cNvPr>
          <p:cNvSpPr/>
          <p:nvPr/>
        </p:nvSpPr>
        <p:spPr>
          <a:xfrm>
            <a:off x="1124952" y="2844224"/>
            <a:ext cx="7128792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connect(</a:t>
            </a:r>
            <a:endParaRPr lang="ko-KR" altLang="en-US" sz="1400" dirty="0"/>
          </a:p>
          <a:p>
            <a:pPr defTabSz="180000"/>
            <a:r>
              <a:rPr lang="ko-KR" altLang="en-US" sz="1400" dirty="0"/>
              <a:t>	</a:t>
            </a:r>
            <a:r>
              <a:rPr lang="en-US" altLang="ko-KR" sz="1400" dirty="0"/>
              <a:t>host, </a:t>
            </a:r>
            <a:r>
              <a:rPr lang="ko-KR" altLang="en-US" sz="1400" dirty="0"/>
              <a:t>		</a:t>
            </a:r>
            <a:r>
              <a:rPr lang="en-US" altLang="ko-KR" sz="1400" dirty="0"/>
              <a:t>			# </a:t>
            </a:r>
            <a:r>
              <a:rPr lang="ko-KR" altLang="en-US" sz="1400" dirty="0"/>
              <a:t>브로커 주소</a:t>
            </a:r>
            <a:r>
              <a:rPr lang="en-US" altLang="ko-KR" sz="1400" dirty="0"/>
              <a:t>. </a:t>
            </a:r>
            <a:r>
              <a:rPr lang="en-US" altLang="ko-KR" sz="1400" dirty="0" err="1"/>
              <a:t>ip</a:t>
            </a:r>
            <a:r>
              <a:rPr lang="en-US" altLang="ko-KR" sz="1400" dirty="0"/>
              <a:t> </a:t>
            </a:r>
            <a:r>
              <a:rPr lang="ko-KR" altLang="en-US" sz="1400" dirty="0"/>
              <a:t>주소 혹은 호스트 이름</a:t>
            </a:r>
          </a:p>
          <a:p>
            <a:pPr defTabSz="180000"/>
            <a:r>
              <a:rPr lang="ko-KR" altLang="en-US" sz="1400" dirty="0"/>
              <a:t>	</a:t>
            </a:r>
            <a:r>
              <a:rPr lang="en-US" altLang="ko-KR" sz="1400" dirty="0"/>
              <a:t>port=1883, </a:t>
            </a:r>
            <a:r>
              <a:rPr lang="ko-KR" altLang="en-US" sz="1400" dirty="0"/>
              <a:t>	</a:t>
            </a:r>
            <a:r>
              <a:rPr lang="en-US" altLang="ko-KR" sz="1400" dirty="0"/>
              <a:t>	# </a:t>
            </a:r>
            <a:r>
              <a:rPr lang="ko-KR" altLang="en-US" sz="1400" dirty="0"/>
              <a:t>브로커의 포트 번호</a:t>
            </a:r>
          </a:p>
          <a:p>
            <a:pPr defTabSz="180000"/>
            <a:r>
              <a:rPr lang="ko-KR" altLang="en-US" sz="1400" dirty="0"/>
              <a:t>	</a:t>
            </a:r>
            <a:r>
              <a:rPr lang="en-US" altLang="ko-KR" sz="1400" dirty="0"/>
              <a:t>keepalive=60 </a:t>
            </a:r>
            <a:r>
              <a:rPr lang="ko-KR" altLang="en-US" sz="1400" dirty="0"/>
              <a:t>	</a:t>
            </a:r>
            <a:r>
              <a:rPr lang="en-US" altLang="ko-KR" sz="1400" dirty="0"/>
              <a:t># </a:t>
            </a:r>
            <a:r>
              <a:rPr lang="ko-KR" altLang="en-US" sz="1400" dirty="0"/>
              <a:t>접속 유지 시간</a:t>
            </a:r>
            <a:r>
              <a:rPr lang="en-US" altLang="ko-KR" sz="1400" dirty="0"/>
              <a:t>(</a:t>
            </a:r>
            <a:r>
              <a:rPr lang="ko-KR" altLang="en-US" sz="1400" dirty="0"/>
              <a:t>단위는 초</a:t>
            </a:r>
            <a:r>
              <a:rPr lang="en-US" altLang="ko-KR" sz="1400" dirty="0"/>
              <a:t>)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8E03A8-E14B-48A8-AA9D-F403EBE94689}"/>
              </a:ext>
            </a:extLst>
          </p:cNvPr>
          <p:cNvSpPr/>
          <p:nvPr/>
        </p:nvSpPr>
        <p:spPr>
          <a:xfrm>
            <a:off x="1158653" y="4365104"/>
            <a:ext cx="7095091" cy="1169551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chemeClr val="dk1"/>
                </a:solidFill>
              </a:rPr>
              <a:t>client = </a:t>
            </a:r>
            <a:r>
              <a:rPr lang="en-US" altLang="ko-KR" sz="1400" dirty="0" err="1">
                <a:solidFill>
                  <a:schemeClr val="dk1"/>
                </a:solidFill>
              </a:rPr>
              <a:t>mqtt.Client</a:t>
            </a:r>
            <a:r>
              <a:rPr lang="en-US" altLang="ko-KR" sz="1400" dirty="0">
                <a:solidFill>
                  <a:schemeClr val="dk1"/>
                </a:solidFill>
              </a:rPr>
              <a:t>(</a:t>
            </a:r>
            <a:r>
              <a:rPr lang="en-US" altLang="ko-KR" sz="1400" dirty="0"/>
              <a:t>mqtt.CallbackAPIVersion.VERSION2</a:t>
            </a:r>
            <a:r>
              <a:rPr lang="en-US" altLang="ko-KR" sz="1400" dirty="0">
                <a:solidFill>
                  <a:schemeClr val="dk1"/>
                </a:solidFill>
              </a:rPr>
              <a:t>) # Client </a:t>
            </a:r>
            <a:r>
              <a:rPr lang="ko-KR" altLang="en-US" sz="1400" dirty="0">
                <a:solidFill>
                  <a:schemeClr val="dk1"/>
                </a:solidFill>
              </a:rPr>
              <a:t>객체 생성</a:t>
            </a:r>
            <a:endParaRPr lang="en-US" altLang="ko-KR" sz="1400" dirty="0">
              <a:solidFill>
                <a:schemeClr val="dk1"/>
              </a:solidFill>
            </a:endParaRPr>
          </a:p>
          <a:p>
            <a:r>
              <a:rPr lang="en-US" altLang="ko-KR" sz="1400" dirty="0"/>
              <a:t>....</a:t>
            </a:r>
            <a:endParaRPr lang="ko-KR" altLang="en-US" sz="1400" dirty="0">
              <a:solidFill>
                <a:schemeClr val="dk1"/>
              </a:solidFill>
            </a:endParaRPr>
          </a:p>
          <a:p>
            <a:r>
              <a:rPr lang="en-US" altLang="ko-KR" sz="1400" dirty="0" err="1">
                <a:solidFill>
                  <a:schemeClr val="dk1"/>
                </a:solidFill>
              </a:rPr>
              <a:t>client.connect</a:t>
            </a:r>
            <a:r>
              <a:rPr lang="en-US" altLang="ko-KR" sz="1400" dirty="0">
                <a:solidFill>
                  <a:schemeClr val="dk1"/>
                </a:solidFill>
              </a:rPr>
              <a:t>(</a:t>
            </a:r>
            <a:r>
              <a:rPr lang="en" altLang="ko-KR" sz="1400" dirty="0"/>
              <a:t>"</a:t>
            </a:r>
            <a:r>
              <a:rPr lang="en-US" altLang="ko-KR" sz="1400" dirty="0">
                <a:solidFill>
                  <a:schemeClr val="dk1"/>
                </a:solidFill>
              </a:rPr>
              <a:t>192.168.0.5</a:t>
            </a:r>
            <a:r>
              <a:rPr lang="en" altLang="ko-KR" sz="1400" dirty="0"/>
              <a:t>"</a:t>
            </a:r>
            <a:r>
              <a:rPr lang="en-US" altLang="ko-KR" sz="1400" dirty="0">
                <a:solidFill>
                  <a:schemeClr val="dk1"/>
                </a:solidFill>
              </a:rPr>
              <a:t>, 1883) # 192.168.0.5</a:t>
            </a:r>
            <a:r>
              <a:rPr lang="ko-KR" altLang="en-US" sz="1400" dirty="0">
                <a:solidFill>
                  <a:schemeClr val="dk1"/>
                </a:solidFill>
              </a:rPr>
              <a:t>의 브로커에 </a:t>
            </a:r>
            <a:r>
              <a:rPr lang="en-US" altLang="ko-KR" sz="1400" dirty="0">
                <a:solidFill>
                  <a:schemeClr val="dk1"/>
                </a:solidFill>
              </a:rPr>
              <a:t>1883 </a:t>
            </a:r>
            <a:r>
              <a:rPr lang="ko-KR" altLang="en-US" sz="1400" dirty="0">
                <a:solidFill>
                  <a:schemeClr val="dk1"/>
                </a:solidFill>
              </a:rPr>
              <a:t>포트로 연결</a:t>
            </a:r>
          </a:p>
          <a:p>
            <a:r>
              <a:rPr lang="en-US" altLang="ko-KR" sz="1400" dirty="0" err="1">
                <a:solidFill>
                  <a:schemeClr val="dk1"/>
                </a:solidFill>
              </a:rPr>
              <a:t>client.connect</a:t>
            </a:r>
            <a:r>
              <a:rPr lang="en-US" altLang="ko-KR" sz="1400" dirty="0">
                <a:solidFill>
                  <a:schemeClr val="dk1"/>
                </a:solidFill>
              </a:rPr>
              <a:t>(</a:t>
            </a:r>
            <a:r>
              <a:rPr lang="en" altLang="ko-KR" sz="1400" dirty="0"/>
              <a:t>"</a:t>
            </a:r>
            <a:r>
              <a:rPr lang="en-US" altLang="ko-KR" sz="1400" dirty="0">
                <a:solidFill>
                  <a:schemeClr val="dk1"/>
                </a:solidFill>
              </a:rPr>
              <a:t>192.168.0.5</a:t>
            </a:r>
            <a:r>
              <a:rPr lang="en" altLang="ko-KR" sz="1400" dirty="0"/>
              <a:t>"</a:t>
            </a:r>
            <a:r>
              <a:rPr lang="en-US" altLang="ko-KR" sz="1400" dirty="0">
                <a:solidFill>
                  <a:schemeClr val="dk1"/>
                </a:solidFill>
              </a:rPr>
              <a:t>) # 192.168.0.5</a:t>
            </a:r>
            <a:r>
              <a:rPr lang="ko-KR" altLang="en-US" sz="1400" dirty="0">
                <a:solidFill>
                  <a:schemeClr val="dk1"/>
                </a:solidFill>
              </a:rPr>
              <a:t>의 브로커에 </a:t>
            </a:r>
            <a:r>
              <a:rPr lang="en-US" altLang="ko-KR" sz="1400" dirty="0">
                <a:solidFill>
                  <a:schemeClr val="dk1"/>
                </a:solidFill>
              </a:rPr>
              <a:t>1883 </a:t>
            </a:r>
            <a:r>
              <a:rPr lang="ko-KR" altLang="en-US" sz="1400" dirty="0">
                <a:solidFill>
                  <a:schemeClr val="dk1"/>
                </a:solidFill>
              </a:rPr>
              <a:t>포트로 연결</a:t>
            </a:r>
          </a:p>
          <a:p>
            <a:r>
              <a:rPr lang="en-US" altLang="ko-KR" sz="1400" dirty="0" err="1">
                <a:solidFill>
                  <a:schemeClr val="dk1"/>
                </a:solidFill>
              </a:rPr>
              <a:t>client.connect</a:t>
            </a:r>
            <a:r>
              <a:rPr lang="en-US" altLang="ko-KR" sz="1400" dirty="0">
                <a:solidFill>
                  <a:schemeClr val="dk1"/>
                </a:solidFill>
              </a:rPr>
              <a:t>(</a:t>
            </a:r>
            <a:r>
              <a:rPr lang="en" altLang="ko-KR" sz="1400" dirty="0"/>
              <a:t>"</a:t>
            </a:r>
            <a:r>
              <a:rPr lang="en-US" altLang="ko-KR" sz="1400" dirty="0">
                <a:solidFill>
                  <a:schemeClr val="dk1"/>
                </a:solidFill>
              </a:rPr>
              <a:t>localhost</a:t>
            </a:r>
            <a:r>
              <a:rPr lang="en" altLang="ko-KR" sz="1400" dirty="0"/>
              <a:t>"</a:t>
            </a:r>
            <a:r>
              <a:rPr lang="en-US" altLang="ko-KR" sz="1400" dirty="0">
                <a:solidFill>
                  <a:schemeClr val="dk1"/>
                </a:solidFill>
              </a:rPr>
              <a:t>) # </a:t>
            </a:r>
            <a:r>
              <a:rPr lang="ko-KR" altLang="en-US" sz="1400" dirty="0">
                <a:solidFill>
                  <a:schemeClr val="dk1"/>
                </a:solidFill>
              </a:rPr>
              <a:t>현재 컴퓨터에서 실행되는 브로커에 </a:t>
            </a:r>
            <a:r>
              <a:rPr lang="en-US" altLang="ko-KR" sz="1400" dirty="0">
                <a:solidFill>
                  <a:schemeClr val="dk1"/>
                </a:solidFill>
              </a:rPr>
              <a:t>1883 </a:t>
            </a:r>
            <a:r>
              <a:rPr lang="ko-KR" altLang="en-US" sz="1400" dirty="0">
                <a:solidFill>
                  <a:schemeClr val="dk1"/>
                </a:solidFill>
              </a:rPr>
              <a:t>포트로 연결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0930EF-D4C1-4F0F-9972-83410156EF38}"/>
              </a:ext>
            </a:extLst>
          </p:cNvPr>
          <p:cNvSpPr/>
          <p:nvPr/>
        </p:nvSpPr>
        <p:spPr>
          <a:xfrm>
            <a:off x="1158653" y="5949280"/>
            <a:ext cx="7032419" cy="738664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400">
                <a:solidFill>
                  <a:schemeClr val="dk1"/>
                </a:solidFill>
              </a:rPr>
              <a:t>client.connect(</a:t>
            </a:r>
            <a:r>
              <a:rPr lang="en" altLang="ko-KR" sz="1400"/>
              <a:t>"</a:t>
            </a:r>
            <a:r>
              <a:rPr lang="en-US" altLang="ko-KR" sz="1400">
                <a:solidFill>
                  <a:schemeClr val="dk1"/>
                </a:solidFill>
              </a:rPr>
              <a:t>192.168.0.5</a:t>
            </a:r>
            <a:r>
              <a:rPr lang="en" altLang="ko-KR" sz="1400"/>
              <a:t>"</a:t>
            </a:r>
            <a:r>
              <a:rPr lang="en-US" altLang="ko-KR" sz="1400">
                <a:solidFill>
                  <a:schemeClr val="dk1"/>
                </a:solidFill>
              </a:rPr>
              <a:t>, 1883) # </a:t>
            </a:r>
            <a:r>
              <a:rPr lang="ko-KR" altLang="en-US" sz="1400">
                <a:solidFill>
                  <a:schemeClr val="dk1"/>
                </a:solidFill>
              </a:rPr>
              <a:t>브로커에 연결</a:t>
            </a:r>
          </a:p>
          <a:p>
            <a:r>
              <a:rPr lang="en-US" altLang="ko-KR" sz="1400">
                <a:solidFill>
                  <a:schemeClr val="dk1"/>
                </a:solidFill>
              </a:rPr>
              <a:t># </a:t>
            </a:r>
            <a:r>
              <a:rPr lang="ko-KR" altLang="en-US" sz="1400">
                <a:solidFill>
                  <a:schemeClr val="dk1"/>
                </a:solidFill>
              </a:rPr>
              <a:t>브로커와 연결이 완료된 상태</a:t>
            </a:r>
          </a:p>
          <a:p>
            <a:r>
              <a:rPr lang="en-US" altLang="ko-KR" sz="1400">
                <a:solidFill>
                  <a:schemeClr val="dk1"/>
                </a:solidFill>
              </a:rPr>
              <a:t>client.subscribe(</a:t>
            </a:r>
            <a:r>
              <a:rPr lang="en" altLang="ko-KR" sz="1400"/>
              <a:t>"</a:t>
            </a:r>
            <a:r>
              <a:rPr lang="en-US" altLang="ko-KR" sz="1400">
                <a:solidFill>
                  <a:schemeClr val="dk1"/>
                </a:solidFill>
              </a:rPr>
              <a:t>temp</a:t>
            </a:r>
            <a:r>
              <a:rPr lang="en" altLang="ko-KR" sz="1400"/>
              <a:t>"</a:t>
            </a:r>
            <a:r>
              <a:rPr lang="en-US" altLang="ko-KR" sz="1400">
                <a:solidFill>
                  <a:schemeClr val="dk1"/>
                </a:solidFill>
              </a:rPr>
              <a:t>) # </a:t>
            </a:r>
            <a:r>
              <a:rPr lang="ko-KR" altLang="en-US" sz="1400">
                <a:solidFill>
                  <a:schemeClr val="dk1"/>
                </a:solidFill>
              </a:rPr>
              <a:t>연결이 완료되었으니 브로커에 구독 신청</a:t>
            </a:r>
          </a:p>
        </p:txBody>
      </p:sp>
    </p:spTree>
    <p:extLst>
      <p:ext uri="{BB962C8B-B14F-4D97-AF65-F5344CB8AC3E}">
        <p14:creationId xmlns:p14="http://schemas.microsoft.com/office/powerpoint/2010/main" val="89521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4FDFDCBF-7EAA-412E-84F1-B061CA905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브로커에 연결</a:t>
            </a:r>
            <a:r>
              <a:rPr lang="en-US" altLang="ko-KR"/>
              <a:t>, connect_async() </a:t>
            </a:r>
            <a:r>
              <a:rPr lang="ko-KR" altLang="en-US"/>
              <a:t>함수 사용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93A942B-F211-4293-A526-BDB8499AD18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connect_async() </a:t>
            </a:r>
            <a:r>
              <a:rPr lang="ko-KR" altLang="en-US"/>
              <a:t>함수 원형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r>
              <a:rPr lang="ko-KR" altLang="en-US"/>
              <a:t>브로커에 연결을 지시하고 연결을 확인하지 않은 채 바로 리턴</a:t>
            </a:r>
            <a:endParaRPr lang="en-US" altLang="ko-KR"/>
          </a:p>
          <a:p>
            <a:pPr lvl="2"/>
            <a:r>
              <a:rPr lang="en-US" altLang="ko-KR"/>
              <a:t>connect_async()</a:t>
            </a:r>
            <a:r>
              <a:rPr lang="ko-KR" altLang="en-US"/>
              <a:t>로부터 리턴한 직후 브로커와 연결되었다고 보장할 수 없음</a:t>
            </a:r>
            <a:endParaRPr lang="en-US" altLang="ko-KR"/>
          </a:p>
          <a:p>
            <a:pPr lvl="2"/>
            <a:r>
              <a:rPr lang="ko-KR" altLang="en-US"/>
              <a:t>반드시 </a:t>
            </a:r>
            <a:r>
              <a:rPr lang="en-US" altLang="ko-KR"/>
              <a:t>on_connect() </a:t>
            </a:r>
            <a:r>
              <a:rPr lang="ko-KR" altLang="en-US"/>
              <a:t>콜백과 함께 사용</a:t>
            </a:r>
            <a:endParaRPr lang="en-US" altLang="ko-KR"/>
          </a:p>
          <a:p>
            <a:pPr lvl="3"/>
            <a:r>
              <a:rPr lang="en-US" altLang="ko-KR"/>
              <a:t>on_connect() </a:t>
            </a:r>
            <a:r>
              <a:rPr lang="ko-KR" altLang="en-US"/>
              <a:t>함수는 연결이 완료될 때 호출되는 콜백 함수</a:t>
            </a:r>
            <a:endParaRPr lang="en-US" altLang="ko-KR"/>
          </a:p>
          <a:p>
            <a:pPr lvl="3"/>
            <a:r>
              <a:rPr lang="en-US" altLang="ko-KR"/>
              <a:t>on_connect()</a:t>
            </a:r>
            <a:r>
              <a:rPr lang="ko-KR" altLang="en-US"/>
              <a:t>가 실행되면 연결이 완료됨이 확실함</a:t>
            </a:r>
          </a:p>
          <a:p>
            <a:pPr lvl="1"/>
            <a:r>
              <a:rPr lang="en-US" altLang="ko-KR"/>
              <a:t>connect_async() </a:t>
            </a:r>
            <a:r>
              <a:rPr lang="ko-KR" altLang="en-US"/>
              <a:t>함수 활용 방법</a:t>
            </a:r>
            <a:endParaRPr lang="en-US" altLang="ko-KR"/>
          </a:p>
          <a:p>
            <a:pPr lvl="1"/>
            <a:endParaRPr lang="ko-KR" altLang="en-US"/>
          </a:p>
          <a:p>
            <a:pPr lvl="1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CA6C92-FFEB-4D06-9289-C5C1B6D50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9861A8-98F9-4166-BD88-7F973F05135D}"/>
              </a:ext>
            </a:extLst>
          </p:cNvPr>
          <p:cNvSpPr/>
          <p:nvPr/>
        </p:nvSpPr>
        <p:spPr>
          <a:xfrm>
            <a:off x="1115616" y="1844824"/>
            <a:ext cx="6624736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80000"/>
            <a:r>
              <a:rPr lang="en-US" altLang="ko-KR" sz="1400"/>
              <a:t>connect_async(</a:t>
            </a:r>
            <a:endParaRPr lang="ko-KR" altLang="en-US" sz="1400"/>
          </a:p>
          <a:p>
            <a:pPr defTabSz="180000"/>
            <a:r>
              <a:rPr lang="ko-KR" altLang="en-US" sz="1400"/>
              <a:t>	</a:t>
            </a:r>
            <a:r>
              <a:rPr lang="en-US" altLang="ko-KR" sz="1400"/>
              <a:t>host, </a:t>
            </a:r>
            <a:r>
              <a:rPr lang="ko-KR" altLang="en-US" sz="1400"/>
              <a:t>		</a:t>
            </a:r>
            <a:r>
              <a:rPr lang="en-US" altLang="ko-KR" sz="1400"/>
              <a:t>			# </a:t>
            </a:r>
            <a:r>
              <a:rPr lang="ko-KR" altLang="en-US" sz="1400"/>
              <a:t>브로커 주소</a:t>
            </a:r>
            <a:r>
              <a:rPr lang="en-US" altLang="ko-KR" sz="1400"/>
              <a:t>. ip </a:t>
            </a:r>
            <a:r>
              <a:rPr lang="ko-KR" altLang="en-US" sz="1400"/>
              <a:t>주소 혹은 호스트 이름</a:t>
            </a:r>
          </a:p>
          <a:p>
            <a:pPr defTabSz="180000"/>
            <a:r>
              <a:rPr lang="ko-KR" altLang="en-US" sz="1400"/>
              <a:t>	</a:t>
            </a:r>
            <a:r>
              <a:rPr lang="en-US" altLang="ko-KR" sz="1400"/>
              <a:t>port=1883, </a:t>
            </a:r>
            <a:r>
              <a:rPr lang="ko-KR" altLang="en-US" sz="1400"/>
              <a:t>	</a:t>
            </a:r>
            <a:r>
              <a:rPr lang="en-US" altLang="ko-KR" sz="1400"/>
              <a:t>	# </a:t>
            </a:r>
            <a:r>
              <a:rPr lang="ko-KR" altLang="en-US" sz="1400"/>
              <a:t>브로커의 포트 번호</a:t>
            </a:r>
          </a:p>
          <a:p>
            <a:pPr defTabSz="180000"/>
            <a:r>
              <a:rPr lang="ko-KR" altLang="en-US" sz="1400"/>
              <a:t>	</a:t>
            </a:r>
            <a:r>
              <a:rPr lang="en-US" altLang="ko-KR" sz="1400"/>
              <a:t>keepalive=60 </a:t>
            </a:r>
            <a:r>
              <a:rPr lang="ko-KR" altLang="en-US" sz="1400"/>
              <a:t>	</a:t>
            </a:r>
            <a:r>
              <a:rPr lang="en-US" altLang="ko-KR" sz="1400"/>
              <a:t># </a:t>
            </a:r>
            <a:r>
              <a:rPr lang="ko-KR" altLang="en-US" sz="1400"/>
              <a:t>접속 유지 시간</a:t>
            </a:r>
            <a:r>
              <a:rPr lang="en-US" altLang="ko-KR" sz="1400"/>
              <a:t>(</a:t>
            </a:r>
            <a:r>
              <a:rPr lang="ko-KR" altLang="en-US" sz="1400"/>
              <a:t>단위는 초</a:t>
            </a:r>
            <a:r>
              <a:rPr lang="en-US" altLang="ko-KR" sz="1400"/>
              <a:t>)</a:t>
            </a:r>
            <a:endParaRPr lang="ko-KR" altLang="en-US" sz="1400"/>
          </a:p>
          <a:p>
            <a:pPr defTabSz="180000"/>
            <a:r>
              <a:rPr lang="en-US" altLang="ko-KR" sz="1400"/>
              <a:t>)</a:t>
            </a:r>
            <a:endParaRPr lang="ko-KR" altLang="en-US" sz="14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454BB3A-7122-4ECC-ADF9-488C9E032A63}"/>
              </a:ext>
            </a:extLst>
          </p:cNvPr>
          <p:cNvSpPr/>
          <p:nvPr/>
        </p:nvSpPr>
        <p:spPr>
          <a:xfrm>
            <a:off x="1115616" y="5426640"/>
            <a:ext cx="7032419" cy="738664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400"/>
              <a:t>client.connect_async(“192.168.0.5”, 1883) # </a:t>
            </a:r>
            <a:r>
              <a:rPr lang="ko-KR" altLang="en-US" sz="1400"/>
              <a:t>브로커에 연결</a:t>
            </a:r>
          </a:p>
          <a:p>
            <a:r>
              <a:rPr lang="en-US" altLang="ko-KR" sz="1400"/>
              <a:t># </a:t>
            </a:r>
            <a:r>
              <a:rPr lang="ko-KR" altLang="en-US" sz="1400"/>
              <a:t>현재 브로커와 연결 완료를 보장할 수 없는 상태</a:t>
            </a:r>
          </a:p>
          <a:p>
            <a:r>
              <a:rPr lang="en-US" altLang="ko-KR" sz="1400"/>
              <a:t>client.subscribe(“temp”) # </a:t>
            </a:r>
            <a:r>
              <a:rPr lang="ko-KR" altLang="en-US" sz="1400"/>
              <a:t>브로커에 구독 신청</a:t>
            </a:r>
            <a:r>
              <a:rPr lang="en-US" altLang="ko-KR" sz="1400"/>
              <a:t>. </a:t>
            </a:r>
            <a:r>
              <a:rPr lang="ko-KR" altLang="en-US" sz="1400"/>
              <a:t>구독 신청 실패 가능성 높음</a:t>
            </a:r>
          </a:p>
        </p:txBody>
      </p:sp>
    </p:spTree>
    <p:extLst>
      <p:ext uri="{BB962C8B-B14F-4D97-AF65-F5344CB8AC3E}">
        <p14:creationId xmlns:p14="http://schemas.microsoft.com/office/powerpoint/2010/main" val="33361098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err="1"/>
              <a:t>on_connect</a:t>
            </a:r>
            <a:r>
              <a:rPr kumimoji="1" lang="en-US" altLang="ko-KR"/>
              <a:t>() </a:t>
            </a:r>
            <a:r>
              <a:rPr kumimoji="1" lang="ko-KR" altLang="en-US" err="1"/>
              <a:t>콜백</a:t>
            </a:r>
            <a:r>
              <a:rPr kumimoji="1" lang="ko-KR" altLang="en-US"/>
              <a:t> 함수</a:t>
            </a:r>
            <a:endParaRPr kumimoji="1" lang="en-US" altLang="ko-KR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err="1"/>
              <a:t>on_connect</a:t>
            </a:r>
            <a:r>
              <a:rPr kumimoji="1" lang="en-US" altLang="ko-KR"/>
              <a:t>() </a:t>
            </a:r>
            <a:r>
              <a:rPr kumimoji="1" lang="ko-KR" altLang="en-US" err="1"/>
              <a:t>콜백</a:t>
            </a:r>
            <a:r>
              <a:rPr kumimoji="1" lang="ko-KR" altLang="en-US"/>
              <a:t> 함수</a:t>
            </a:r>
            <a:endParaRPr kumimoji="1" lang="en-US" altLang="ko-KR"/>
          </a:p>
          <a:p>
            <a:pPr lvl="1"/>
            <a:r>
              <a:rPr kumimoji="1" lang="ko-KR" altLang="en-US"/>
              <a:t>연결 완료시 호출되는 함수</a:t>
            </a:r>
            <a:endParaRPr kumimoji="1" lang="en-US" altLang="ko-KR"/>
          </a:p>
          <a:p>
            <a:pPr lvl="1"/>
            <a:endParaRPr kumimoji="1" lang="en-US" altLang="ko-KR"/>
          </a:p>
          <a:p>
            <a:pPr lvl="1"/>
            <a:endParaRPr kumimoji="1" lang="en-US" altLang="ko-KR"/>
          </a:p>
          <a:p>
            <a:pPr lvl="1"/>
            <a:endParaRPr kumimoji="1" lang="en-US" altLang="ko-KR"/>
          </a:p>
          <a:p>
            <a:pPr lvl="1"/>
            <a:endParaRPr kumimoji="1" lang="en-US" altLang="ko-KR"/>
          </a:p>
          <a:p>
            <a:pPr lvl="1"/>
            <a:r>
              <a:rPr kumimoji="1" lang="ko-KR" altLang="en-US"/>
              <a:t>활용 사례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D2321AF-58CE-E14B-8E47-97C0C6D00B1C}"/>
              </a:ext>
            </a:extLst>
          </p:cNvPr>
          <p:cNvSpPr/>
          <p:nvPr/>
        </p:nvSpPr>
        <p:spPr>
          <a:xfrm>
            <a:off x="1331640" y="2238790"/>
            <a:ext cx="6851842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80000"/>
            <a:r>
              <a:rPr lang="en" altLang="ko-KR" sz="1400"/>
              <a:t>on_connect(</a:t>
            </a:r>
          </a:p>
          <a:p>
            <a:pPr defTabSz="180000"/>
            <a:r>
              <a:rPr lang="en" altLang="ko-KR" sz="1400"/>
              <a:t>	client, 				</a:t>
            </a:r>
            <a:r>
              <a:rPr lang="en-US" altLang="ko-KR" sz="1400"/>
              <a:t>#</a:t>
            </a:r>
            <a:r>
              <a:rPr lang="ko-KR" altLang="en-US" sz="1400"/>
              <a:t> </a:t>
            </a:r>
            <a:r>
              <a:rPr lang="en-US" altLang="ko-KR" sz="1400"/>
              <a:t>connect</a:t>
            </a:r>
            <a:r>
              <a:rPr lang="ko-KR" altLang="en-US" sz="1400"/>
              <a:t>를 요청한 </a:t>
            </a:r>
            <a:r>
              <a:rPr lang="en-US" altLang="ko-KR" sz="1400"/>
              <a:t>client </a:t>
            </a:r>
            <a:r>
              <a:rPr lang="ko-KR" altLang="en-US" sz="1400"/>
              <a:t>객체의 레퍼런스</a:t>
            </a:r>
            <a:endParaRPr lang="en" altLang="ko-KR" sz="1400"/>
          </a:p>
          <a:p>
            <a:pPr defTabSz="180000"/>
            <a:r>
              <a:rPr lang="en" altLang="ko-KR" sz="1400"/>
              <a:t>	userdata, 		# client</a:t>
            </a:r>
            <a:r>
              <a:rPr lang="ko-KR" altLang="en-US" sz="1400"/>
              <a:t> 생성시 저장한 </a:t>
            </a:r>
            <a:r>
              <a:rPr lang="en-US" altLang="ko-KR" sz="1400"/>
              <a:t>userdata</a:t>
            </a:r>
            <a:endParaRPr lang="en" altLang="ko-KR" sz="1400"/>
          </a:p>
          <a:p>
            <a:pPr defTabSz="180000"/>
            <a:r>
              <a:rPr lang="en" altLang="ko-KR" sz="1400"/>
              <a:t>	flags, rc			#</a:t>
            </a:r>
            <a:r>
              <a:rPr lang="ko-KR" altLang="en-US" sz="1400"/>
              <a:t> </a:t>
            </a:r>
            <a:r>
              <a:rPr lang="en-US" altLang="ko-KR" sz="1400"/>
              <a:t>connect </a:t>
            </a:r>
            <a:r>
              <a:rPr lang="ko-KR" altLang="en-US" sz="1400"/>
              <a:t>결과</a:t>
            </a:r>
            <a:r>
              <a:rPr lang="en-US" altLang="ko-KR" sz="1400"/>
              <a:t>, rc</a:t>
            </a:r>
            <a:r>
              <a:rPr lang="ko-KR" altLang="en-US" sz="1400"/>
              <a:t>는 </a:t>
            </a:r>
            <a:r>
              <a:rPr lang="en-US" altLang="ko-KR" sz="1400"/>
              <a:t>reason code </a:t>
            </a:r>
            <a:r>
              <a:rPr lang="ko-KR" altLang="en-US" sz="1400"/>
              <a:t>정보를 가진 객체</a:t>
            </a:r>
            <a:endParaRPr lang="en-US" altLang="ko-KR" sz="1400"/>
          </a:p>
          <a:p>
            <a:pPr defTabSz="180000"/>
            <a:r>
              <a:rPr lang="en-US" altLang="ko-KR" sz="1400"/>
              <a:t>	prop 				# properties</a:t>
            </a:r>
            <a:endParaRPr lang="en" altLang="ko-KR" sz="1400"/>
          </a:p>
          <a:p>
            <a:pPr defTabSz="180000"/>
            <a:r>
              <a:rPr lang="en" altLang="ko-KR" sz="1400"/>
              <a:t>)</a:t>
            </a:r>
            <a:endParaRPr lang="ko-KR" altLang="en-US" sz="14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65D337-8B65-5F49-9271-A4B06CE12575}"/>
              </a:ext>
            </a:extLst>
          </p:cNvPr>
          <p:cNvSpPr/>
          <p:nvPr/>
        </p:nvSpPr>
        <p:spPr>
          <a:xfrm>
            <a:off x="1331640" y="4149080"/>
            <a:ext cx="6851842" cy="1384995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def </a:t>
            </a:r>
            <a:r>
              <a:rPr lang="en-US" altLang="ko-KR" sz="1400" dirty="0" err="1"/>
              <a:t>on_connect</a:t>
            </a:r>
            <a:r>
              <a:rPr lang="en-US" altLang="ko-KR" sz="1400" dirty="0"/>
              <a:t>(client, </a:t>
            </a:r>
            <a:r>
              <a:rPr lang="en-US" altLang="ko-KR" sz="1400" dirty="0" err="1"/>
              <a:t>userdata</a:t>
            </a:r>
            <a:r>
              <a:rPr lang="en-US" altLang="ko-KR" sz="1400" dirty="0"/>
              <a:t>, flags</a:t>
            </a:r>
            <a:r>
              <a:rPr lang="en-US" altLang="ko-KR" sz="1400"/>
              <a:t>, rc, prop=None) </a:t>
            </a:r>
            <a:r>
              <a:rPr lang="en-US" altLang="ko-KR" sz="1400" dirty="0"/>
              <a:t>:</a:t>
            </a:r>
          </a:p>
          <a:p>
            <a:pPr defTabSz="180000"/>
            <a:r>
              <a:rPr lang="en-US" altLang="ko-KR" sz="1400" dirty="0"/>
              <a:t>	print(</a:t>
            </a:r>
            <a:r>
              <a:rPr lang="en" altLang="ko-KR" sz="1400" dirty="0"/>
              <a:t>"</a:t>
            </a:r>
            <a:r>
              <a:rPr lang="ko-KR" altLang="en-US" sz="1400" dirty="0"/>
              <a:t>연결 완료</a:t>
            </a:r>
            <a:r>
              <a:rPr lang="en" altLang="ko-KR" sz="1400" dirty="0"/>
              <a:t>"</a:t>
            </a:r>
            <a:r>
              <a:rPr lang="en-US" altLang="ko-KR" sz="1400" dirty="0"/>
              <a:t>)</a:t>
            </a:r>
          </a:p>
          <a:p>
            <a:pPr defTabSz="180000"/>
            <a:r>
              <a:rPr lang="en-US" altLang="ko-KR" sz="1400" dirty="0"/>
              <a:t>...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client = </a:t>
            </a:r>
            <a:r>
              <a:rPr lang="en-US" altLang="ko-KR" sz="1400" dirty="0" err="1"/>
              <a:t>mqtt.Client</a:t>
            </a:r>
            <a:r>
              <a:rPr lang="en-US" altLang="ko-KR" sz="1400" dirty="0"/>
              <a:t>(mqtt.CallbackAPIVersion.VERSION2) # </a:t>
            </a:r>
            <a:r>
              <a:rPr lang="ko-KR" altLang="en-US" sz="1400" dirty="0"/>
              <a:t>클라이언트 객체 생성</a:t>
            </a:r>
          </a:p>
          <a:p>
            <a:pPr defTabSz="180000"/>
            <a:r>
              <a:rPr lang="en-US" altLang="ko-KR" sz="1400" dirty="0" err="1"/>
              <a:t>client.on_connect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on_connect</a:t>
            </a:r>
            <a:r>
              <a:rPr lang="en-US" altLang="ko-KR" sz="1400" dirty="0"/>
              <a:t>		# </a:t>
            </a:r>
            <a:r>
              <a:rPr lang="ko-KR" altLang="en-US" sz="1400" dirty="0"/>
              <a:t>클라이언트에 </a:t>
            </a:r>
            <a:r>
              <a:rPr lang="ko-KR" altLang="en-US" sz="1400" dirty="0" err="1"/>
              <a:t>콜백</a:t>
            </a:r>
            <a:r>
              <a:rPr lang="ko-KR" altLang="en-US" sz="1400" dirty="0"/>
              <a:t> 등록</a:t>
            </a:r>
          </a:p>
          <a:p>
            <a:pPr defTabSz="180000"/>
            <a:r>
              <a:rPr lang="en-US" altLang="ko-KR" sz="1400" dirty="0" err="1"/>
              <a:t>client.connect</a:t>
            </a:r>
            <a:r>
              <a:rPr lang="en-US" altLang="ko-KR" sz="1400" dirty="0"/>
              <a:t>(...) 	# </a:t>
            </a:r>
            <a:r>
              <a:rPr lang="ko-KR" altLang="en-US" sz="1400" dirty="0"/>
              <a:t>브로커에 연결</a:t>
            </a:r>
            <a:r>
              <a:rPr lang="en-US" altLang="ko-KR" sz="1400" dirty="0"/>
              <a:t>. </a:t>
            </a:r>
            <a:r>
              <a:rPr lang="en-US" altLang="ko-KR" sz="1400" dirty="0" err="1"/>
              <a:t>client.connect_async</a:t>
            </a:r>
            <a:r>
              <a:rPr lang="en-US" altLang="ko-KR" sz="1400" dirty="0"/>
              <a:t>()</a:t>
            </a:r>
            <a:r>
              <a:rPr lang="ko-KR" altLang="en-US" sz="1400" dirty="0"/>
              <a:t>를 사용해도 됨 </a:t>
            </a:r>
          </a:p>
        </p:txBody>
      </p:sp>
    </p:spTree>
    <p:extLst>
      <p:ext uri="{BB962C8B-B14F-4D97-AF65-F5344CB8AC3E}">
        <p14:creationId xmlns:p14="http://schemas.microsoft.com/office/powerpoint/2010/main" val="4149065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CDC2730D-4062-432C-97C2-F4C618CA9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브로커와 연결 끊기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0BFE33-DC5F-4F0E-94E6-F64BE3DB4BD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sz="2000"/>
              <a:t>Client </a:t>
            </a:r>
            <a:r>
              <a:rPr lang="ko-KR" altLang="en-US" sz="2000"/>
              <a:t>클래스의 </a:t>
            </a:r>
            <a:r>
              <a:rPr lang="en-US" altLang="ko-KR" sz="2000"/>
              <a:t>disconnect() </a:t>
            </a:r>
            <a:r>
              <a:rPr lang="ko-KR" altLang="en-US" sz="2000"/>
              <a:t>함수 사용</a:t>
            </a:r>
            <a:endParaRPr lang="en-US" altLang="ko-KR" sz="2000"/>
          </a:p>
          <a:p>
            <a:endParaRPr lang="en-US" altLang="ko-KR" sz="2000"/>
          </a:p>
          <a:p>
            <a:r>
              <a:rPr lang="en-US" altLang="ko-KR" sz="2000"/>
              <a:t>on_disconnect() </a:t>
            </a:r>
            <a:r>
              <a:rPr lang="ko-KR" altLang="en-US" sz="2000"/>
              <a:t>콜백 활용</a:t>
            </a:r>
            <a:endParaRPr lang="en-US" altLang="ko-KR" sz="2000"/>
          </a:p>
          <a:p>
            <a:pPr lvl="1"/>
            <a:r>
              <a:rPr lang="ko-KR" altLang="en-US" sz="1800"/>
              <a:t>브로커와 연결이 끊긴 경우 </a:t>
            </a:r>
            <a:r>
              <a:rPr lang="en-US" altLang="ko-KR" sz="1800"/>
              <a:t>on_disconnect </a:t>
            </a:r>
            <a:r>
              <a:rPr lang="ko-KR" altLang="en-US" sz="1800"/>
              <a:t>콜백 호출</a:t>
            </a:r>
          </a:p>
          <a:p>
            <a:pPr lvl="2"/>
            <a:r>
              <a:rPr lang="ko-KR" altLang="en-US" sz="1600"/>
              <a:t>브로커가 갑자기 종료한 경우</a:t>
            </a:r>
            <a:r>
              <a:rPr lang="en-US" altLang="ko-KR" sz="1600"/>
              <a:t>,</a:t>
            </a:r>
          </a:p>
          <a:p>
            <a:pPr lvl="2"/>
            <a:r>
              <a:rPr lang="ko-KR" altLang="en-US" sz="1600"/>
              <a:t>브로커가 </a:t>
            </a:r>
            <a:r>
              <a:rPr lang="en-US" altLang="ko-KR" sz="1600"/>
              <a:t>keepalive </a:t>
            </a:r>
            <a:r>
              <a:rPr lang="ko-KR" altLang="en-US" sz="1600"/>
              <a:t>시간 동안 메시지가 도착하지 않을 때 강제로 클라이언트와 연결을 끊은 경우</a:t>
            </a:r>
            <a:endParaRPr lang="en-US" altLang="ko-KR" sz="1600"/>
          </a:p>
          <a:p>
            <a:pPr lvl="2"/>
            <a:endParaRPr lang="en-US" altLang="ko-KR" sz="1600"/>
          </a:p>
          <a:p>
            <a:pPr lvl="2"/>
            <a:endParaRPr lang="en-US" altLang="ko-KR" sz="1600"/>
          </a:p>
          <a:p>
            <a:pPr lvl="2"/>
            <a:endParaRPr lang="en-US" altLang="ko-KR" sz="1600"/>
          </a:p>
          <a:p>
            <a:pPr lvl="2"/>
            <a:endParaRPr lang="en-US" altLang="ko-KR" sz="1600"/>
          </a:p>
          <a:p>
            <a:pPr lvl="1"/>
            <a:r>
              <a:rPr lang="en-US" altLang="ko-KR" sz="1800"/>
              <a:t>on_disconnect() </a:t>
            </a:r>
            <a:r>
              <a:rPr lang="ko-KR" altLang="en-US" sz="1800"/>
              <a:t>콜백 활용 사례</a:t>
            </a:r>
            <a:endParaRPr lang="en-US" altLang="ko-KR" sz="1800"/>
          </a:p>
          <a:p>
            <a:pPr lvl="1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EE85B1-3CF4-402D-B83E-093280F19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33AAF13-19AA-405C-8795-83CB4C97DA7C}"/>
              </a:ext>
            </a:extLst>
          </p:cNvPr>
          <p:cNvSpPr/>
          <p:nvPr/>
        </p:nvSpPr>
        <p:spPr>
          <a:xfrm>
            <a:off x="1255522" y="1772816"/>
            <a:ext cx="7416824" cy="307777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400">
                <a:solidFill>
                  <a:schemeClr val="dk1"/>
                </a:solidFill>
              </a:rPr>
              <a:t>client.disconnect()</a:t>
            </a:r>
            <a:r>
              <a:rPr lang="ko-KR" altLang="en-US" sz="1400">
                <a:solidFill>
                  <a:schemeClr val="dk1"/>
                </a:solidFill>
              </a:rPr>
              <a:t>	</a:t>
            </a:r>
            <a:r>
              <a:rPr lang="en-US" altLang="ko-KR" sz="1400">
                <a:solidFill>
                  <a:schemeClr val="dk1"/>
                </a:solidFill>
              </a:rPr>
              <a:t># </a:t>
            </a:r>
            <a:r>
              <a:rPr lang="ko-KR" altLang="en-US" sz="1400">
                <a:solidFill>
                  <a:schemeClr val="dk1"/>
                </a:solidFill>
              </a:rPr>
              <a:t>브로커와 연결 끊기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97E16EC-FA31-4A47-AA15-C6F7B711E733}"/>
              </a:ext>
            </a:extLst>
          </p:cNvPr>
          <p:cNvSpPr/>
          <p:nvPr/>
        </p:nvSpPr>
        <p:spPr>
          <a:xfrm>
            <a:off x="1255523" y="3717032"/>
            <a:ext cx="7416824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80000"/>
            <a:r>
              <a:rPr lang="en-US" altLang="ko-KR" sz="1400"/>
              <a:t>def on_disconnect(</a:t>
            </a:r>
            <a:endParaRPr lang="ko-KR" altLang="en-US" sz="1400"/>
          </a:p>
          <a:p>
            <a:pPr defTabSz="180000"/>
            <a:r>
              <a:rPr lang="ko-KR" altLang="en-US" sz="1400"/>
              <a:t>	</a:t>
            </a:r>
            <a:r>
              <a:rPr lang="en-US" altLang="ko-KR" sz="1400"/>
              <a:t>client, </a:t>
            </a:r>
            <a:r>
              <a:rPr lang="ko-KR" altLang="en-US" sz="1400"/>
              <a:t>		</a:t>
            </a:r>
            <a:r>
              <a:rPr lang="en-US" altLang="ko-KR" sz="1400"/>
              <a:t>		# </a:t>
            </a:r>
            <a:r>
              <a:rPr lang="ko-KR" altLang="en-US" sz="1400"/>
              <a:t>콜백 함수를 소유한 클라이언트 객체에 대한 레퍼런스</a:t>
            </a:r>
          </a:p>
          <a:p>
            <a:pPr defTabSz="180000"/>
            <a:r>
              <a:rPr lang="ko-KR" altLang="en-US" sz="1400"/>
              <a:t>	</a:t>
            </a:r>
            <a:r>
              <a:rPr lang="en-US" altLang="ko-KR" sz="1400"/>
              <a:t>userdata, </a:t>
            </a:r>
            <a:r>
              <a:rPr lang="ko-KR" altLang="en-US" sz="1400"/>
              <a:t>	</a:t>
            </a:r>
            <a:r>
              <a:rPr lang="en-US" altLang="ko-KR" sz="1400"/>
              <a:t>	# user_data_set() </a:t>
            </a:r>
            <a:r>
              <a:rPr lang="ko-KR" altLang="en-US" sz="1400"/>
              <a:t>함수로 설정하는 사적 사용자 데이터</a:t>
            </a:r>
          </a:p>
          <a:p>
            <a:pPr defTabSz="180000"/>
            <a:r>
              <a:rPr lang="ko-KR" altLang="en-US" sz="1400"/>
              <a:t>	</a:t>
            </a:r>
            <a:r>
              <a:rPr lang="en-US" altLang="ko-KR" sz="1400"/>
              <a:t>rc</a:t>
            </a:r>
            <a:r>
              <a:rPr lang="ko-KR" altLang="en-US" sz="1400"/>
              <a:t>		</a:t>
            </a:r>
            <a:r>
              <a:rPr lang="en-US" altLang="ko-KR" sz="1400"/>
              <a:t>				# disconnect </a:t>
            </a:r>
            <a:r>
              <a:rPr lang="ko-KR" altLang="en-US" sz="1400"/>
              <a:t>결과</a:t>
            </a:r>
          </a:p>
          <a:p>
            <a:pPr defTabSz="180000"/>
            <a:r>
              <a:rPr lang="en-US" altLang="ko-KR" sz="1400"/>
              <a:t>)</a:t>
            </a:r>
            <a:endParaRPr lang="ko-KR" altLang="en-US" sz="14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072BCC4-8A71-4E71-A7AF-DA7AA7B41A0C}"/>
              </a:ext>
            </a:extLst>
          </p:cNvPr>
          <p:cNvSpPr/>
          <p:nvPr/>
        </p:nvSpPr>
        <p:spPr>
          <a:xfrm>
            <a:off x="1255522" y="5427221"/>
            <a:ext cx="7416823" cy="954107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80000"/>
            <a:r>
              <a:rPr lang="en-US" altLang="ko-KR" sz="1400">
                <a:solidFill>
                  <a:schemeClr val="dk1"/>
                </a:solidFill>
              </a:rPr>
              <a:t>def on_disconnect(client, userdata, rc) :</a:t>
            </a:r>
          </a:p>
          <a:p>
            <a:pPr defTabSz="180000"/>
            <a:r>
              <a:rPr lang="en-US" altLang="ko-KR" sz="1400">
                <a:solidFill>
                  <a:schemeClr val="dk1"/>
                </a:solidFill>
              </a:rPr>
              <a:t>	print(</a:t>
            </a:r>
            <a:r>
              <a:rPr lang="en" altLang="ko-KR" sz="1400"/>
              <a:t>"</a:t>
            </a:r>
            <a:r>
              <a:rPr lang="ko-KR" altLang="en-US" sz="1400">
                <a:solidFill>
                  <a:schemeClr val="dk1"/>
                </a:solidFill>
              </a:rPr>
              <a:t>연결이 끊어졌습니다</a:t>
            </a:r>
            <a:r>
              <a:rPr lang="en-US" altLang="ko-KR" sz="1400">
                <a:solidFill>
                  <a:schemeClr val="dk1"/>
                </a:solidFill>
              </a:rPr>
              <a:t>.</a:t>
            </a:r>
            <a:r>
              <a:rPr lang="en" altLang="ko-KR" sz="1400"/>
              <a:t> "</a:t>
            </a:r>
            <a:r>
              <a:rPr lang="en-US" altLang="ko-KR" sz="1400">
                <a:solidFill>
                  <a:schemeClr val="dk1"/>
                </a:solidFill>
              </a:rPr>
              <a:t>)</a:t>
            </a:r>
            <a:endParaRPr lang="ko-KR" altLang="en-US" sz="1400">
              <a:solidFill>
                <a:schemeClr val="dk1"/>
              </a:solidFill>
            </a:endParaRPr>
          </a:p>
          <a:p>
            <a:pPr defTabSz="180000"/>
            <a:r>
              <a:rPr lang="en-US" altLang="ko-KR" sz="1400">
                <a:solidFill>
                  <a:schemeClr val="dk1"/>
                </a:solidFill>
              </a:rPr>
              <a:t>...</a:t>
            </a:r>
            <a:endParaRPr lang="ko-KR" altLang="en-US" sz="1400">
              <a:solidFill>
                <a:schemeClr val="dk1"/>
              </a:solidFill>
            </a:endParaRPr>
          </a:p>
          <a:p>
            <a:pPr defTabSz="180000"/>
            <a:r>
              <a:rPr lang="en-US" altLang="ko-KR" sz="1400">
                <a:solidFill>
                  <a:schemeClr val="dk1"/>
                </a:solidFill>
              </a:rPr>
              <a:t>client.on_disconnect = on_disconnect</a:t>
            </a:r>
          </a:p>
        </p:txBody>
      </p:sp>
    </p:spTree>
    <p:extLst>
      <p:ext uri="{BB962C8B-B14F-4D97-AF65-F5344CB8AC3E}">
        <p14:creationId xmlns:p14="http://schemas.microsoft.com/office/powerpoint/2010/main" val="37016217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C24967-000F-F043-9D6F-B01520D53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/>
              <a:t>메시지 발행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CBAD34-2CD5-DF49-A571-C2425D7E54A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dirty="0"/>
              <a:t>publish() </a:t>
            </a:r>
            <a:r>
              <a:rPr kumimoji="1" lang="ko-KR" altLang="en-US" dirty="0"/>
              <a:t>함수로 메시지 발행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marL="365760" lvl="1" indent="0">
              <a:buNone/>
            </a:pPr>
            <a:endParaRPr kumimoji="1" lang="en-US" altLang="ko-KR" dirty="0"/>
          </a:p>
          <a:p>
            <a:pPr marL="45720" indent="0">
              <a:buNone/>
            </a:pPr>
            <a:r>
              <a:rPr kumimoji="1" lang="en-US" altLang="ko-KR" dirty="0" err="1"/>
              <a:t>on_publish</a:t>
            </a:r>
            <a:r>
              <a:rPr kumimoji="1" lang="en-US" altLang="ko-KR" dirty="0"/>
              <a:t>() </a:t>
            </a:r>
            <a:r>
              <a:rPr kumimoji="1" lang="ko-KR" altLang="en-US" dirty="0" err="1"/>
              <a:t>콜백</a:t>
            </a:r>
            <a:r>
              <a:rPr kumimoji="1" lang="ko-KR" altLang="en-US" dirty="0"/>
              <a:t> 함수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메시지가 브로커에 전달되면 </a:t>
            </a:r>
            <a:r>
              <a:rPr kumimoji="1" lang="en-US" altLang="ko-KR" dirty="0" err="1"/>
              <a:t>on_publish</a:t>
            </a:r>
            <a:r>
              <a:rPr kumimoji="1" lang="en-US" altLang="ko-KR" dirty="0"/>
              <a:t>() </a:t>
            </a:r>
            <a:r>
              <a:rPr kumimoji="1" lang="ko-KR" altLang="en-US"/>
              <a:t>콜백함수 호출</a:t>
            </a:r>
            <a:endParaRPr kumimoji="1" lang="en-US" altLang="ko-KR"/>
          </a:p>
          <a:p>
            <a:pPr lvl="2"/>
            <a:r>
              <a:rPr kumimoji="1" lang="en-US" altLang="ko-KR"/>
              <a:t>QoS</a:t>
            </a:r>
            <a:r>
              <a:rPr kumimoji="1" lang="ko-KR" altLang="en-US"/>
              <a:t>가 </a:t>
            </a:r>
            <a:r>
              <a:rPr kumimoji="1" lang="en-US" altLang="ko-KR"/>
              <a:t>0</a:t>
            </a:r>
            <a:r>
              <a:rPr kumimoji="1" lang="ko-KR" altLang="en-US"/>
              <a:t>일 때는 메시지를 브로커로 일단 전송하였을 때 호출</a:t>
            </a:r>
            <a:endParaRPr kumimoji="1" lang="en-US" altLang="ko-KR" dirty="0"/>
          </a:p>
          <a:p>
            <a:pPr lvl="1"/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3285AB-4056-A247-9EC5-D0783E6FF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B3F84E-E6FD-9C45-BE40-BC1274C4E8B9}"/>
              </a:ext>
            </a:extLst>
          </p:cNvPr>
          <p:cNvSpPr/>
          <p:nvPr/>
        </p:nvSpPr>
        <p:spPr>
          <a:xfrm>
            <a:off x="1007604" y="1844824"/>
            <a:ext cx="7128792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80000"/>
            <a:r>
              <a:rPr lang="en" altLang="ko-KR" sz="1400"/>
              <a:t>publish(</a:t>
            </a:r>
          </a:p>
          <a:p>
            <a:pPr defTabSz="180000"/>
            <a:r>
              <a:rPr lang="en" altLang="ko-KR" sz="1400"/>
              <a:t>	topic, 						</a:t>
            </a:r>
            <a:r>
              <a:rPr lang="en-US" altLang="ko-KR" sz="1400"/>
              <a:t>#</a:t>
            </a:r>
            <a:r>
              <a:rPr lang="ko-KR" altLang="en-US" sz="1400"/>
              <a:t> 토픽 문자열</a:t>
            </a:r>
            <a:endParaRPr lang="en" altLang="ko-KR" sz="1400"/>
          </a:p>
          <a:p>
            <a:pPr defTabSz="180000"/>
            <a:r>
              <a:rPr lang="en" altLang="ko-KR" sz="1400"/>
              <a:t>	payload=None, 	</a:t>
            </a:r>
            <a:r>
              <a:rPr lang="en-US" altLang="ko-KR" sz="1400"/>
              <a:t>#</a:t>
            </a:r>
            <a:r>
              <a:rPr lang="ko-KR" altLang="en-US" sz="1400"/>
              <a:t> 전달 메시지 텍스트</a:t>
            </a:r>
            <a:endParaRPr lang="en" altLang="ko-KR" sz="1400"/>
          </a:p>
          <a:p>
            <a:pPr defTabSz="180000"/>
            <a:r>
              <a:rPr lang="en" altLang="ko-KR" sz="1400"/>
              <a:t>	qos=0						</a:t>
            </a:r>
            <a:r>
              <a:rPr lang="en-US" altLang="ko-KR" sz="1400"/>
              <a:t>#</a:t>
            </a:r>
            <a:r>
              <a:rPr lang="ko-KR" altLang="en-US" sz="1400"/>
              <a:t> </a:t>
            </a:r>
            <a:r>
              <a:rPr lang="en-US" altLang="ko-KR" sz="1400"/>
              <a:t>QoS </a:t>
            </a:r>
            <a:r>
              <a:rPr lang="ko-KR" altLang="en-US" sz="1400"/>
              <a:t>레벨</a:t>
            </a:r>
            <a:endParaRPr lang="en" altLang="ko-KR" sz="1400"/>
          </a:p>
          <a:p>
            <a:pPr defTabSz="180000"/>
            <a:r>
              <a:rPr lang="en" altLang="ko-KR" sz="1400"/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FBAE71-6ECC-4910-870D-374920E5F057}"/>
              </a:ext>
            </a:extLst>
          </p:cNvPr>
          <p:cNvSpPr/>
          <p:nvPr/>
        </p:nvSpPr>
        <p:spPr>
          <a:xfrm>
            <a:off x="1124952" y="4636874"/>
            <a:ext cx="7128792" cy="1600438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80000"/>
            <a:r>
              <a:rPr lang="en-US" altLang="ko-KR" sz="1400" b="1" dirty="0">
                <a:solidFill>
                  <a:schemeClr val="dk1"/>
                </a:solidFill>
              </a:rPr>
              <a:t>def </a:t>
            </a:r>
            <a:r>
              <a:rPr lang="en-US" altLang="ko-KR" sz="1400" b="1" dirty="0" err="1">
                <a:solidFill>
                  <a:schemeClr val="dk1"/>
                </a:solidFill>
              </a:rPr>
              <a:t>on_publish</a:t>
            </a:r>
            <a:r>
              <a:rPr lang="en-US" altLang="ko-KR" sz="1400" b="1" dirty="0">
                <a:solidFill>
                  <a:schemeClr val="dk1"/>
                </a:solidFill>
              </a:rPr>
              <a:t>(topic, </a:t>
            </a:r>
            <a:r>
              <a:rPr lang="en-US" altLang="ko-KR" sz="1400" b="1" dirty="0" err="1">
                <a:solidFill>
                  <a:schemeClr val="dk1"/>
                </a:solidFill>
              </a:rPr>
              <a:t>userdata</a:t>
            </a:r>
            <a:r>
              <a:rPr lang="en-US" altLang="ko-KR" sz="1400" b="1" dirty="0">
                <a:solidFill>
                  <a:schemeClr val="dk1"/>
                </a:solidFill>
              </a:rPr>
              <a:t>, mid, </a:t>
            </a:r>
            <a:r>
              <a:rPr lang="en-US" altLang="ko-KR" sz="1400" b="1" dirty="0" err="1">
                <a:solidFill>
                  <a:schemeClr val="dk1"/>
                </a:solidFill>
              </a:rPr>
              <a:t>granted_qos</a:t>
            </a:r>
            <a:r>
              <a:rPr lang="en-US" altLang="ko-KR" sz="1400" b="1" dirty="0">
                <a:solidFill>
                  <a:schemeClr val="dk1"/>
                </a:solidFill>
              </a:rPr>
              <a:t>) :</a:t>
            </a:r>
          </a:p>
          <a:p>
            <a:pPr defTabSz="180000"/>
            <a:r>
              <a:rPr lang="en-US" altLang="ko-KR" sz="1400" dirty="0">
                <a:solidFill>
                  <a:schemeClr val="dk1"/>
                </a:solidFill>
              </a:rPr>
              <a:t>	print(</a:t>
            </a:r>
            <a:r>
              <a:rPr lang="en" altLang="ko-KR" sz="1400" dirty="0"/>
              <a:t>"</a:t>
            </a:r>
            <a:r>
              <a:rPr lang="ko-KR" altLang="en-US" sz="1400" dirty="0">
                <a:solidFill>
                  <a:schemeClr val="dk1"/>
                </a:solidFill>
              </a:rPr>
              <a:t>메시지가 전송되었습니다</a:t>
            </a:r>
            <a:r>
              <a:rPr lang="en-US" altLang="ko-KR" sz="1400" dirty="0">
                <a:solidFill>
                  <a:schemeClr val="dk1"/>
                </a:solidFill>
              </a:rPr>
              <a:t>.</a:t>
            </a:r>
            <a:r>
              <a:rPr lang="en" altLang="ko-KR" sz="1400" dirty="0"/>
              <a:t>"</a:t>
            </a:r>
            <a:r>
              <a:rPr lang="en-US" altLang="ko-KR" sz="1400" dirty="0">
                <a:solidFill>
                  <a:schemeClr val="dk1"/>
                </a:solidFill>
              </a:rPr>
              <a:t>)</a:t>
            </a:r>
          </a:p>
          <a:p>
            <a:pPr defTabSz="180000"/>
            <a:r>
              <a:rPr lang="en-US" altLang="ko-KR" sz="1400" dirty="0">
                <a:solidFill>
                  <a:schemeClr val="dk1"/>
                </a:solidFill>
              </a:rPr>
              <a:t>...</a:t>
            </a:r>
            <a:endParaRPr lang="ko-KR" altLang="en-US" sz="1400" dirty="0">
              <a:solidFill>
                <a:schemeClr val="dk1"/>
              </a:solidFill>
            </a:endParaRPr>
          </a:p>
          <a:p>
            <a:pPr defTabSz="180000"/>
            <a:r>
              <a:rPr lang="en-US" altLang="ko-KR" sz="1400" dirty="0">
                <a:solidFill>
                  <a:schemeClr val="dk1"/>
                </a:solidFill>
              </a:rPr>
              <a:t>client = </a:t>
            </a:r>
            <a:r>
              <a:rPr lang="en-US" altLang="ko-KR" sz="1400" dirty="0" err="1">
                <a:solidFill>
                  <a:schemeClr val="dk1"/>
                </a:solidFill>
              </a:rPr>
              <a:t>mqtt.Client</a:t>
            </a:r>
            <a:r>
              <a:rPr lang="en-US" altLang="ko-KR" sz="1400" dirty="0">
                <a:solidFill>
                  <a:schemeClr val="dk1"/>
                </a:solidFill>
              </a:rPr>
              <a:t>(</a:t>
            </a:r>
            <a:r>
              <a:rPr lang="en-US" altLang="ko-KR" sz="1400" dirty="0"/>
              <a:t>mqtt.CallbackAPIVersion.VERSION2</a:t>
            </a:r>
            <a:r>
              <a:rPr lang="en-US" altLang="ko-KR" sz="1400" dirty="0">
                <a:solidFill>
                  <a:schemeClr val="dk1"/>
                </a:solidFill>
              </a:rPr>
              <a:t>)	# </a:t>
            </a:r>
            <a:r>
              <a:rPr lang="ko-KR" altLang="en-US" sz="1400" dirty="0">
                <a:solidFill>
                  <a:schemeClr val="dk1"/>
                </a:solidFill>
              </a:rPr>
              <a:t>클라이언트 객체 생성</a:t>
            </a:r>
          </a:p>
          <a:p>
            <a:pPr defTabSz="180000"/>
            <a:r>
              <a:rPr lang="en-US" altLang="ko-KR" sz="1400" b="1" dirty="0" err="1">
                <a:solidFill>
                  <a:schemeClr val="dk1"/>
                </a:solidFill>
              </a:rPr>
              <a:t>client.on_publish</a:t>
            </a:r>
            <a:r>
              <a:rPr lang="en-US" altLang="ko-KR" sz="1400" b="1" dirty="0">
                <a:solidFill>
                  <a:schemeClr val="dk1"/>
                </a:solidFill>
              </a:rPr>
              <a:t> = </a:t>
            </a:r>
            <a:r>
              <a:rPr lang="en-US" altLang="ko-KR" sz="1400" b="1" dirty="0" err="1">
                <a:solidFill>
                  <a:schemeClr val="dk1"/>
                </a:solidFill>
              </a:rPr>
              <a:t>on_publish</a:t>
            </a:r>
            <a:r>
              <a:rPr lang="en-US" altLang="ko-KR" sz="1400" dirty="0">
                <a:solidFill>
                  <a:schemeClr val="dk1"/>
                </a:solidFill>
              </a:rPr>
              <a:t>		# </a:t>
            </a:r>
            <a:r>
              <a:rPr lang="en-US" altLang="ko-KR" sz="1400" dirty="0" err="1">
                <a:solidFill>
                  <a:schemeClr val="dk1"/>
                </a:solidFill>
              </a:rPr>
              <a:t>on_publish</a:t>
            </a:r>
            <a:r>
              <a:rPr lang="en-US" altLang="ko-KR" sz="1400" dirty="0">
                <a:solidFill>
                  <a:schemeClr val="dk1"/>
                </a:solidFill>
              </a:rPr>
              <a:t> </a:t>
            </a:r>
            <a:r>
              <a:rPr lang="ko-KR" altLang="en-US" sz="1400" dirty="0" err="1">
                <a:solidFill>
                  <a:schemeClr val="dk1"/>
                </a:solidFill>
              </a:rPr>
              <a:t>콜백</a:t>
            </a:r>
            <a:r>
              <a:rPr lang="ko-KR" altLang="en-US" sz="1400" dirty="0">
                <a:solidFill>
                  <a:schemeClr val="dk1"/>
                </a:solidFill>
              </a:rPr>
              <a:t> 함수 등록</a:t>
            </a:r>
          </a:p>
          <a:p>
            <a:pPr defTabSz="180000"/>
            <a:r>
              <a:rPr lang="en-US" altLang="ko-KR" sz="1400" dirty="0" err="1">
                <a:solidFill>
                  <a:schemeClr val="dk1"/>
                </a:solidFill>
              </a:rPr>
              <a:t>client.connect</a:t>
            </a:r>
            <a:r>
              <a:rPr lang="en-US" altLang="ko-KR" sz="1400" dirty="0">
                <a:solidFill>
                  <a:schemeClr val="dk1"/>
                </a:solidFill>
              </a:rPr>
              <a:t>(...) 		</a:t>
            </a:r>
            <a:r>
              <a:rPr lang="en-US" altLang="ko-KR" sz="1400">
                <a:solidFill>
                  <a:schemeClr val="dk1"/>
                </a:solidFill>
              </a:rPr>
              <a:t>							# </a:t>
            </a:r>
            <a:r>
              <a:rPr lang="ko-KR" altLang="en-US" sz="1400" dirty="0">
                <a:solidFill>
                  <a:schemeClr val="dk1"/>
                </a:solidFill>
              </a:rPr>
              <a:t>브로커에 연결</a:t>
            </a:r>
          </a:p>
          <a:p>
            <a:pPr defTabSz="180000"/>
            <a:r>
              <a:rPr lang="en-US" altLang="ko-KR" sz="1400" b="1" dirty="0" err="1">
                <a:solidFill>
                  <a:schemeClr val="dk1"/>
                </a:solidFill>
              </a:rPr>
              <a:t>client.publish</a:t>
            </a:r>
            <a:r>
              <a:rPr lang="en-US" altLang="ko-KR" sz="1400" b="1" dirty="0">
                <a:solidFill>
                  <a:schemeClr val="dk1"/>
                </a:solidFill>
              </a:rPr>
              <a:t>()</a:t>
            </a:r>
            <a:r>
              <a:rPr lang="en-US" altLang="ko-KR" sz="1400" dirty="0">
                <a:solidFill>
                  <a:schemeClr val="dk1"/>
                </a:solidFill>
              </a:rPr>
              <a:t>		</a:t>
            </a:r>
            <a:r>
              <a:rPr lang="en-US" altLang="ko-KR" sz="1400">
                <a:solidFill>
                  <a:schemeClr val="dk1"/>
                </a:solidFill>
              </a:rPr>
              <a:t>								</a:t>
            </a:r>
            <a:r>
              <a:rPr lang="en-US" altLang="ko-KR" sz="1400"/>
              <a:t># </a:t>
            </a:r>
            <a:r>
              <a:rPr lang="ko-KR" altLang="en-US" sz="1400" dirty="0"/>
              <a:t>메시지 발행</a:t>
            </a:r>
            <a:endParaRPr lang="en-US" altLang="ko-KR" sz="1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7011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3B51C-9814-8A45-A3BD-DEAA5BEE1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/>
              <a:t>메시지 수신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DD375C-4C6F-C84F-8B74-B2E5CFF20F0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ko-KR" sz="2000"/>
              <a:t>subscribe() </a:t>
            </a:r>
            <a:r>
              <a:rPr kumimoji="1" lang="ko-KR" altLang="en-US" sz="2000"/>
              <a:t>함수로 메시지</a:t>
            </a:r>
            <a:r>
              <a:rPr kumimoji="1" lang="en-US" altLang="ko-KR" sz="2000"/>
              <a:t> </a:t>
            </a:r>
            <a:r>
              <a:rPr kumimoji="1" lang="ko-KR" altLang="en-US" sz="2000"/>
              <a:t>구독 신청</a:t>
            </a:r>
            <a:endParaRPr kumimoji="1" lang="en-US" altLang="ko-KR" sz="2000"/>
          </a:p>
          <a:p>
            <a:pPr lvl="1"/>
            <a:r>
              <a:rPr kumimoji="1" lang="ko-KR" altLang="en-US" sz="1800"/>
              <a:t>메시지를 수신하기 위해 브로커에 토픽 등록</a:t>
            </a:r>
            <a:endParaRPr kumimoji="1" lang="en-US" altLang="ko-KR" sz="1800"/>
          </a:p>
          <a:p>
            <a:pPr lvl="1"/>
            <a:endParaRPr kumimoji="1" lang="en-US" altLang="ko-KR" sz="1800"/>
          </a:p>
          <a:p>
            <a:pPr lvl="1"/>
            <a:endParaRPr kumimoji="1" lang="en-US" altLang="ko-KR" sz="1800"/>
          </a:p>
          <a:p>
            <a:pPr lvl="1"/>
            <a:endParaRPr kumimoji="1" lang="en-US" altLang="ko-KR" sz="1800"/>
          </a:p>
          <a:p>
            <a:r>
              <a:rPr kumimoji="1" lang="en-US" altLang="ko-KR" sz="2000" err="1"/>
              <a:t>on_message</a:t>
            </a:r>
            <a:r>
              <a:rPr kumimoji="1" lang="en-US" altLang="ko-KR" sz="2000"/>
              <a:t>() </a:t>
            </a:r>
            <a:r>
              <a:rPr kumimoji="1" lang="ko-KR" altLang="en-US" sz="2000" err="1"/>
              <a:t>콜백</a:t>
            </a:r>
            <a:r>
              <a:rPr kumimoji="1" lang="ko-KR" altLang="en-US" sz="2000"/>
              <a:t> 함수</a:t>
            </a:r>
            <a:endParaRPr kumimoji="1" lang="en-US" altLang="ko-KR" sz="2000"/>
          </a:p>
          <a:p>
            <a:pPr lvl="1"/>
            <a:r>
              <a:rPr kumimoji="1" lang="en-US" altLang="ko-KR" sz="1800"/>
              <a:t>subscriber</a:t>
            </a:r>
            <a:r>
              <a:rPr kumimoji="1" lang="ko-KR" altLang="en-US" sz="1800"/>
              <a:t>가 브로커로부터 메시지를 받았을 때 실행되는 함수</a:t>
            </a:r>
          </a:p>
          <a:p>
            <a:endParaRPr kumimoji="1" lang="ko-KR" altLang="en-US" sz="2000"/>
          </a:p>
          <a:p>
            <a:endParaRPr kumimoji="1" lang="en-US" altLang="ko-KR" sz="2000"/>
          </a:p>
          <a:p>
            <a:pPr lvl="1"/>
            <a:endParaRPr kumimoji="1" lang="en-US" altLang="ko-KR" sz="1800"/>
          </a:p>
          <a:p>
            <a:pPr lvl="1"/>
            <a:r>
              <a:rPr kumimoji="1" lang="en-US" altLang="ko-KR" sz="1800"/>
              <a:t>on_message() </a:t>
            </a:r>
            <a:r>
              <a:rPr kumimoji="1" lang="ko-KR" altLang="en-US" sz="1800"/>
              <a:t>콜백으로 메시지 수신</a:t>
            </a:r>
            <a:endParaRPr kumimoji="1" lang="en-US" altLang="ko-KR" sz="1800"/>
          </a:p>
          <a:p>
            <a:pPr lvl="1"/>
            <a:endParaRPr kumimoji="1" lang="en-US" altLang="ko-KR"/>
          </a:p>
          <a:p>
            <a:pPr lvl="1"/>
            <a:endParaRPr kumimoji="1" lang="en-US" altLang="ko-KR"/>
          </a:p>
          <a:p>
            <a:pPr lvl="1"/>
            <a:endParaRPr kumimoji="1" lang="en-US" altLang="ko-KR"/>
          </a:p>
          <a:p>
            <a:pPr marL="365760" lvl="1" indent="0">
              <a:buNone/>
            </a:pPr>
            <a:endParaRPr kumimoji="1"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779076-074E-E040-B1AA-2CA11A2BE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B871457-0C81-3548-8FE7-DBAC238B0B52}"/>
              </a:ext>
            </a:extLst>
          </p:cNvPr>
          <p:cNvSpPr/>
          <p:nvPr/>
        </p:nvSpPr>
        <p:spPr>
          <a:xfrm>
            <a:off x="1395961" y="2132856"/>
            <a:ext cx="6776439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80000"/>
            <a:r>
              <a:rPr lang="en" altLang="ko-KR" sz="1400"/>
              <a:t>subscribe(</a:t>
            </a:r>
          </a:p>
          <a:p>
            <a:pPr defTabSz="180000"/>
            <a:r>
              <a:rPr lang="en" altLang="ko-KR" sz="1400"/>
              <a:t>	topic,		# </a:t>
            </a:r>
            <a:r>
              <a:rPr lang="ko-KR" altLang="en-US" sz="1400"/>
              <a:t>수신 받고자 하는 메시지의 토픽</a:t>
            </a:r>
            <a:r>
              <a:rPr lang="en" altLang="ko-KR" sz="1400"/>
              <a:t> </a:t>
            </a:r>
            <a:r>
              <a:rPr lang="ko-KR" altLang="en-US" sz="1400"/>
              <a:t>문자열</a:t>
            </a:r>
            <a:endParaRPr lang="en" altLang="ko-KR" sz="1400"/>
          </a:p>
          <a:p>
            <a:pPr defTabSz="180000"/>
            <a:r>
              <a:rPr lang="en" altLang="ko-KR" sz="1400"/>
              <a:t>	</a:t>
            </a:r>
            <a:r>
              <a:rPr lang="en" altLang="ko-KR" sz="1400" err="1"/>
              <a:t>qos</a:t>
            </a:r>
            <a:r>
              <a:rPr lang="en" altLang="ko-KR" sz="1400"/>
              <a:t>=0		</a:t>
            </a:r>
            <a:r>
              <a:rPr lang="en-US" altLang="ko-KR" sz="1400"/>
              <a:t>#</a:t>
            </a:r>
            <a:r>
              <a:rPr lang="ko-KR" altLang="en-US" sz="1400"/>
              <a:t> </a:t>
            </a:r>
            <a:r>
              <a:rPr lang="en-US" altLang="ko-KR" sz="1400" err="1"/>
              <a:t>QoS</a:t>
            </a:r>
            <a:r>
              <a:rPr lang="en-US" altLang="ko-KR" sz="1400"/>
              <a:t> </a:t>
            </a:r>
            <a:r>
              <a:rPr lang="ko-KR" altLang="en-US" sz="1400"/>
              <a:t>레벨</a:t>
            </a:r>
            <a:endParaRPr lang="en" altLang="ko-KR" sz="1400"/>
          </a:p>
          <a:p>
            <a:pPr defTabSz="180000"/>
            <a:r>
              <a:rPr lang="en" altLang="ko-KR" sz="1400"/>
              <a:t>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D2321AF-58CE-E14B-8E47-97C0C6D00B1C}"/>
              </a:ext>
            </a:extLst>
          </p:cNvPr>
          <p:cNvSpPr/>
          <p:nvPr/>
        </p:nvSpPr>
        <p:spPr>
          <a:xfrm>
            <a:off x="1364765" y="3861048"/>
            <a:ext cx="6807635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80000"/>
            <a:r>
              <a:rPr lang="en" altLang="ko-KR" sz="1400" err="1"/>
              <a:t>on_message</a:t>
            </a:r>
            <a:r>
              <a:rPr lang="en" altLang="ko-KR" sz="1400"/>
              <a:t>(</a:t>
            </a:r>
          </a:p>
          <a:p>
            <a:pPr defTabSz="180000"/>
            <a:r>
              <a:rPr lang="en" altLang="ko-KR" sz="1400"/>
              <a:t>	client,				</a:t>
            </a:r>
            <a:r>
              <a:rPr lang="en-US" altLang="ko-KR" sz="1400"/>
              <a:t>#</a:t>
            </a:r>
            <a:r>
              <a:rPr lang="ko-KR" altLang="en-US" sz="1400"/>
              <a:t> </a:t>
            </a:r>
            <a:r>
              <a:rPr lang="en-US" altLang="ko-KR" sz="1400"/>
              <a:t>subscribe</a:t>
            </a:r>
            <a:r>
              <a:rPr lang="ko-KR" altLang="en-US" sz="1400" err="1"/>
              <a:t>를</a:t>
            </a:r>
            <a:r>
              <a:rPr lang="ko-KR" altLang="en-US" sz="1400"/>
              <a:t> 실행한 </a:t>
            </a:r>
            <a:r>
              <a:rPr lang="en-US" altLang="ko-KR" sz="1400"/>
              <a:t>client</a:t>
            </a:r>
            <a:r>
              <a:rPr lang="en" altLang="ko-KR" sz="1400"/>
              <a:t> </a:t>
            </a:r>
          </a:p>
          <a:p>
            <a:pPr defTabSz="180000"/>
            <a:r>
              <a:rPr lang="en" altLang="ko-KR" sz="1400"/>
              <a:t>	userdata, 		# client</a:t>
            </a:r>
            <a:r>
              <a:rPr lang="ko-KR" altLang="en-US" sz="1400"/>
              <a:t> 생성시 저장한 </a:t>
            </a:r>
            <a:r>
              <a:rPr lang="en-US" altLang="ko-KR" sz="1400" err="1"/>
              <a:t>userdata</a:t>
            </a:r>
            <a:endParaRPr lang="en" altLang="ko-KR" sz="1400"/>
          </a:p>
          <a:p>
            <a:pPr defTabSz="180000"/>
            <a:r>
              <a:rPr lang="en" altLang="ko-KR" sz="1400"/>
              <a:t>	message			# </a:t>
            </a:r>
            <a:r>
              <a:rPr lang="ko-KR" altLang="en-US" sz="1400"/>
              <a:t>수신된 메시지</a:t>
            </a:r>
            <a:endParaRPr lang="en" altLang="ko-KR" sz="1400"/>
          </a:p>
          <a:p>
            <a:pPr defTabSz="180000"/>
            <a:r>
              <a:rPr lang="en" altLang="ko-KR" sz="1400"/>
              <a:t>)</a:t>
            </a:r>
            <a:endParaRPr lang="ko-KR" altLang="en-US" sz="14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65D337-8B65-5F49-9271-A4B06CE12575}"/>
              </a:ext>
            </a:extLst>
          </p:cNvPr>
          <p:cNvSpPr/>
          <p:nvPr/>
        </p:nvSpPr>
        <p:spPr>
          <a:xfrm>
            <a:off x="1364765" y="5445224"/>
            <a:ext cx="6768753" cy="954107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80000"/>
            <a:r>
              <a:rPr lang="en" altLang="ko-KR" sz="1400" b="1">
                <a:solidFill>
                  <a:srgbClr val="000000"/>
                </a:solidFill>
                <a:latin typeface="+mj-ea"/>
              </a:rPr>
              <a:t>def on_message(client, userdata, msg):</a:t>
            </a:r>
          </a:p>
          <a:p>
            <a:pPr defTabSz="180000" fontAlgn="base" latinLnBrk="0"/>
            <a:r>
              <a:rPr lang="en-US" altLang="ko-KR" sz="1400"/>
              <a:t>	print("</a:t>
            </a:r>
            <a:r>
              <a:rPr lang="ko-KR" altLang="en-US" sz="1400"/>
              <a:t>토픽 </a:t>
            </a:r>
            <a:r>
              <a:rPr lang="en-US" altLang="ko-KR" sz="1400"/>
              <a:t>", msg.topic, "</a:t>
            </a:r>
            <a:r>
              <a:rPr lang="ko-KR" altLang="en-US" sz="1400"/>
              <a:t>의 메시지 </a:t>
            </a:r>
            <a:r>
              <a:rPr lang="en-US" altLang="ko-KR" sz="1400"/>
              <a:t>", str(msg.payload), "</a:t>
            </a:r>
            <a:r>
              <a:rPr lang="ko-KR" altLang="en-US" sz="1400"/>
              <a:t>가 도착하였습니다</a:t>
            </a:r>
            <a:r>
              <a:rPr lang="en-US" altLang="ko-KR" sz="1400"/>
              <a:t>.")</a:t>
            </a:r>
            <a:endParaRPr lang="ko-KR" altLang="en-US" sz="1400"/>
          </a:p>
          <a:p>
            <a:pPr defTabSz="180000"/>
            <a:r>
              <a:rPr lang="en-US" altLang="ko-KR" sz="1400"/>
              <a:t>...</a:t>
            </a:r>
          </a:p>
          <a:p>
            <a:r>
              <a:rPr lang="en-US" altLang="ko-KR" sz="1400" b="1" err="1"/>
              <a:t>client.on_message</a:t>
            </a:r>
            <a:r>
              <a:rPr lang="en-US" altLang="ko-KR" sz="1400" b="1"/>
              <a:t> = </a:t>
            </a:r>
            <a:r>
              <a:rPr lang="en-US" altLang="ko-KR" sz="1400" b="1" err="1"/>
              <a:t>on_message</a:t>
            </a:r>
            <a:r>
              <a:rPr lang="en-US" altLang="ko-KR" sz="1400"/>
              <a:t>	# </a:t>
            </a:r>
            <a:r>
              <a:rPr lang="ko-KR" altLang="en-US" sz="1400"/>
              <a:t>콜백 함수 등록</a:t>
            </a:r>
          </a:p>
        </p:txBody>
      </p:sp>
    </p:spTree>
    <p:extLst>
      <p:ext uri="{BB962C8B-B14F-4D97-AF65-F5344CB8AC3E}">
        <p14:creationId xmlns:p14="http://schemas.microsoft.com/office/powerpoint/2010/main" val="35357982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C1B63F6-F798-49E3-A6EE-6CF8F9E5A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메시지 루프 만들기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A8A0558-EBCC-46DC-9ADD-7A3979A650F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메시지 루프</a:t>
            </a:r>
            <a:endParaRPr lang="en-US" altLang="ko-KR"/>
          </a:p>
          <a:p>
            <a:pPr lvl="1"/>
            <a:r>
              <a:rPr lang="ko-KR" altLang="en-US"/>
              <a:t>클라이언트가 네트워크로 메시지를 받거나 보내는 코드</a:t>
            </a:r>
            <a:endParaRPr lang="en-US" altLang="ko-KR"/>
          </a:p>
          <a:p>
            <a:pPr lvl="1"/>
            <a:r>
              <a:rPr lang="ko-KR" altLang="en-US"/>
              <a:t>메시지 송수신을 위해 반드시 작성 필요</a:t>
            </a:r>
            <a:endParaRPr lang="en-US" altLang="ko-KR"/>
          </a:p>
          <a:p>
            <a:pPr lvl="1"/>
            <a:r>
              <a:rPr lang="ko-KR" altLang="en-US"/>
              <a:t>메시지 루프를 만들기 위해 </a:t>
            </a:r>
            <a:r>
              <a:rPr lang="en-US" altLang="ko-KR" b="1"/>
              <a:t>Client </a:t>
            </a:r>
            <a:r>
              <a:rPr lang="ko-KR" altLang="en-US" b="1"/>
              <a:t>클래스 활용</a:t>
            </a:r>
            <a:endParaRPr lang="en-US" altLang="ko-KR" b="1"/>
          </a:p>
          <a:p>
            <a:r>
              <a:rPr lang="en-US" altLang="ko-KR"/>
              <a:t>Client </a:t>
            </a:r>
            <a:r>
              <a:rPr lang="ko-KR" altLang="en-US"/>
              <a:t>클래스가 메시지 루프를 위해 제공하는 기능</a:t>
            </a:r>
            <a:endParaRPr lang="en-US" altLang="ko-KR"/>
          </a:p>
          <a:p>
            <a:pPr lvl="1"/>
            <a:r>
              <a:rPr lang="ko-KR" altLang="en-US"/>
              <a:t>네트워크로 메시지를 송수신하는 </a:t>
            </a:r>
            <a:r>
              <a:rPr lang="en-US" altLang="ko-KR"/>
              <a:t>3</a:t>
            </a:r>
            <a:r>
              <a:rPr lang="ko-KR" altLang="en-US"/>
              <a:t>개의 함수 제공</a:t>
            </a:r>
            <a:endParaRPr lang="en-US" altLang="ko-KR"/>
          </a:p>
          <a:p>
            <a:pPr lvl="2"/>
            <a:r>
              <a:rPr lang="nl-NL" altLang="ko-KR"/>
              <a:t>loop()</a:t>
            </a:r>
          </a:p>
          <a:p>
            <a:pPr lvl="2"/>
            <a:r>
              <a:rPr lang="nl-NL" altLang="ko-KR"/>
              <a:t>loop_forever()</a:t>
            </a:r>
          </a:p>
          <a:p>
            <a:pPr lvl="2"/>
            <a:r>
              <a:rPr lang="nl-NL" altLang="ko-KR"/>
              <a:t>loop_start()/loop_stop()</a:t>
            </a:r>
          </a:p>
          <a:p>
            <a:pPr lvl="1"/>
            <a:r>
              <a:rPr lang="nl-NL" altLang="ko-KR"/>
              <a:t>1</a:t>
            </a:r>
            <a:r>
              <a:rPr lang="ko-KR" altLang="en-US"/>
              <a:t>개의 송신 메시지 큐 제공</a:t>
            </a:r>
            <a:endParaRPr lang="en-US" altLang="ko-KR"/>
          </a:p>
          <a:p>
            <a:pPr lvl="2"/>
            <a:r>
              <a:rPr lang="ko-KR" altLang="en-US"/>
              <a:t>브로커로 전송할 메시지들을 담은 큐</a:t>
            </a:r>
            <a:r>
              <a:rPr lang="en-US" altLang="ko-KR"/>
              <a:t>(outbound message queue)</a:t>
            </a:r>
            <a:endParaRPr lang="nl-NL" altLang="ko-KR"/>
          </a:p>
          <a:p>
            <a:pPr lvl="2"/>
            <a:r>
              <a:rPr lang="en-US" altLang="ko-KR"/>
              <a:t>publish() </a:t>
            </a:r>
            <a:r>
              <a:rPr lang="ko-KR" altLang="en-US"/>
              <a:t>함수에 의해 발행된 메시지가 일시적으로저장</a:t>
            </a:r>
            <a:endParaRPr lang="en-US" altLang="ko-KR"/>
          </a:p>
          <a:p>
            <a:pPr lvl="2"/>
            <a:r>
              <a:rPr lang="ko-KR" altLang="en-US"/>
              <a:t>하나씩 순서대로 브로커로 전송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4B9779-32A7-4D05-A2C8-9CE4EAA06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7597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loop()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1"/>
          </p:nvPr>
        </p:nvSpPr>
        <p:spPr>
          <a:xfrm>
            <a:off x="612648" y="1340767"/>
            <a:ext cx="8153400" cy="1050534"/>
          </a:xfrm>
        </p:spPr>
        <p:txBody>
          <a:bodyPr>
            <a:normAutofit fontScale="55000" lnSpcReduction="20000"/>
          </a:bodyPr>
          <a:lstStyle/>
          <a:p>
            <a:r>
              <a:rPr lang="en-US" altLang="ko-KR" dirty="0"/>
              <a:t>loop() </a:t>
            </a:r>
            <a:r>
              <a:rPr lang="ko-KR" altLang="en-US" dirty="0"/>
              <a:t>함수</a:t>
            </a:r>
            <a:endParaRPr lang="en-US" altLang="ko-KR" dirty="0"/>
          </a:p>
          <a:p>
            <a:pPr lvl="1"/>
            <a:r>
              <a:rPr lang="ko-KR" altLang="en-US" dirty="0"/>
              <a:t>네트워크로 보내야 하거나 네트워크에 도착한 메시지가 있는 경우 </a:t>
            </a:r>
            <a:r>
              <a:rPr lang="en-US" altLang="ko-KR" dirty="0"/>
              <a:t>1</a:t>
            </a:r>
            <a:r>
              <a:rPr lang="ko-KR" altLang="en-US" dirty="0"/>
              <a:t>개의 메시지만 </a:t>
            </a:r>
            <a:r>
              <a:rPr lang="ko-KR" altLang="en-US"/>
              <a:t>처리하고 리턴</a:t>
            </a:r>
            <a:endParaRPr lang="en-US" altLang="ko-KR"/>
          </a:p>
          <a:p>
            <a:pPr lvl="2"/>
            <a:r>
              <a:rPr lang="ko-KR" altLang="en-US" b="1"/>
              <a:t>무한 루프 아님</a:t>
            </a:r>
            <a:endParaRPr lang="en-US" altLang="ko-KR" b="1" dirty="0"/>
          </a:p>
          <a:p>
            <a:pPr lvl="2"/>
            <a:r>
              <a:rPr lang="ko-KR" altLang="en-US"/>
              <a:t>메시지가 도착하였거나</a:t>
            </a:r>
            <a:r>
              <a:rPr lang="en-US" altLang="ko-KR"/>
              <a:t>, </a:t>
            </a:r>
            <a:r>
              <a:rPr lang="ko-KR" altLang="en-US"/>
              <a:t>메시지를 전송한 경우</a:t>
            </a:r>
            <a:r>
              <a:rPr lang="en-US" altLang="ko-KR"/>
              <a:t>,</a:t>
            </a:r>
          </a:p>
          <a:p>
            <a:pPr lvl="2"/>
            <a:r>
              <a:rPr lang="en-US" altLang="ko-KR"/>
              <a:t>on</a:t>
            </a:r>
            <a:r>
              <a:rPr lang="en-US" altLang="ko-KR" dirty="0" err="1"/>
              <a:t>_connect</a:t>
            </a:r>
            <a:r>
              <a:rPr lang="en-US" altLang="ko-KR" dirty="0"/>
              <a:t>(), </a:t>
            </a:r>
            <a:r>
              <a:rPr lang="en-US" altLang="ko-KR" dirty="0" err="1"/>
              <a:t>on_subscribe</a:t>
            </a:r>
            <a:r>
              <a:rPr lang="en-US" altLang="ko-KR" dirty="0"/>
              <a:t>(), </a:t>
            </a:r>
            <a:r>
              <a:rPr lang="en-US" altLang="ko-KR" dirty="0" err="1"/>
              <a:t>on_message</a:t>
            </a:r>
            <a:r>
              <a:rPr lang="en-US" altLang="ko-KR" dirty="0"/>
              <a:t>(), </a:t>
            </a:r>
            <a:r>
              <a:rPr lang="en-US" altLang="ko-KR" dirty="0" err="1"/>
              <a:t>on_disconnect</a:t>
            </a:r>
            <a:r>
              <a:rPr lang="en-US" altLang="ko-KR" dirty="0"/>
              <a:t>() </a:t>
            </a:r>
            <a:r>
              <a:rPr lang="ko-KR" altLang="en-US" dirty="0"/>
              <a:t>등 호출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40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923B5A7-A834-4292-845F-C99045832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885" y="2391302"/>
            <a:ext cx="7623267" cy="421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5742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err="1"/>
              <a:t>loop_</a:t>
            </a:r>
            <a:r>
              <a:rPr kumimoji="1" lang="en-US" altLang="ko-KR"/>
              <a:t>forever()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1710627"/>
          </a:xfrm>
        </p:spPr>
        <p:txBody>
          <a:bodyPr>
            <a:normAutofit/>
          </a:bodyPr>
          <a:lstStyle/>
          <a:p>
            <a:r>
              <a:rPr kumimoji="1" lang="en-US" altLang="ko-KR"/>
              <a:t>loop</a:t>
            </a:r>
            <a:r>
              <a:rPr kumimoji="1" lang="en-US" altLang="ko-KR" err="1"/>
              <a:t>_forever</a:t>
            </a:r>
            <a:r>
              <a:rPr kumimoji="1" lang="en-US" altLang="ko-KR"/>
              <a:t>()</a:t>
            </a:r>
          </a:p>
          <a:p>
            <a:pPr lvl="1"/>
            <a:r>
              <a:rPr kumimoji="1" lang="en-US" altLang="ko-KR"/>
              <a:t>loop()</a:t>
            </a:r>
            <a:r>
              <a:rPr kumimoji="1" lang="ko-KR" altLang="en-US"/>
              <a:t>를 반복 호출하는 무한 루프</a:t>
            </a:r>
            <a:endParaRPr kumimoji="1" lang="en-US" altLang="ko-KR"/>
          </a:p>
          <a:p>
            <a:pPr lvl="2"/>
            <a:r>
              <a:rPr kumimoji="1" lang="ko-KR" altLang="en-US"/>
              <a:t>메시지가 도착하면 </a:t>
            </a:r>
            <a:r>
              <a:rPr kumimoji="1" lang="en-US" altLang="ko-KR" err="1"/>
              <a:t>on_connect</a:t>
            </a:r>
            <a:r>
              <a:rPr kumimoji="1" lang="en-US" altLang="ko-KR"/>
              <a:t>()</a:t>
            </a:r>
            <a:r>
              <a:rPr kumimoji="1" lang="ko-KR" altLang="en-US"/>
              <a:t>나 </a:t>
            </a:r>
            <a:r>
              <a:rPr kumimoji="1" lang="en-US" altLang="ko-KR" err="1"/>
              <a:t>on_message</a:t>
            </a:r>
            <a:r>
              <a:rPr kumimoji="1" lang="en-US" altLang="ko-KR"/>
              <a:t>() </a:t>
            </a:r>
            <a:r>
              <a:rPr kumimoji="1" lang="ko-KR" altLang="en-US"/>
              <a:t>등 모든 메시지 처리</a:t>
            </a:r>
            <a:r>
              <a:rPr kumimoji="1" lang="en-US" altLang="ko-KR"/>
              <a:t>, </a:t>
            </a:r>
            <a:r>
              <a:rPr kumimoji="1" lang="ko-KR" altLang="en-US"/>
              <a:t>송신할 메시지 있으면 송신</a:t>
            </a:r>
            <a:endParaRPr kumimoji="1" lang="en-US" altLang="ko-KR"/>
          </a:p>
          <a:p>
            <a:pPr lvl="1"/>
            <a:endParaRPr kumimoji="1" lang="en-US" altLang="ko-KR"/>
          </a:p>
          <a:p>
            <a:pPr lvl="1"/>
            <a:endParaRPr kumimoji="1" lang="en-US" altLang="ko-KR"/>
          </a:p>
          <a:p>
            <a:pPr lvl="1"/>
            <a:endParaRPr kumimoji="1"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41</a:t>
            </a:fld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49838A5-60C6-482B-A2D2-66ABDFFE5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37" y="2852936"/>
            <a:ext cx="7787526" cy="383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8777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43FAAE1-4D39-4C91-8BB3-B067E6F63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060848"/>
            <a:ext cx="6840760" cy="4652529"/>
          </a:xfrm>
          <a:prstGeom prst="rect">
            <a:avLst/>
          </a:prstGeom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/>
              <a:t>loop_start()</a:t>
            </a:r>
            <a:r>
              <a:rPr kumimoji="1" lang="ko-KR" altLang="en-US"/>
              <a:t>와 </a:t>
            </a:r>
            <a:r>
              <a:rPr kumimoji="1" lang="en-US" altLang="ko-KR"/>
              <a:t>loop_stop()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811397"/>
          </a:xfrm>
        </p:spPr>
        <p:txBody>
          <a:bodyPr>
            <a:normAutofit fontScale="70000" lnSpcReduction="20000"/>
          </a:bodyPr>
          <a:lstStyle/>
          <a:p>
            <a:r>
              <a:rPr kumimoji="1" lang="en-US" altLang="ko-KR" err="1"/>
              <a:t>loop_start</a:t>
            </a:r>
            <a:r>
              <a:rPr kumimoji="1" lang="en-US" altLang="ko-KR"/>
              <a:t>()</a:t>
            </a:r>
            <a:r>
              <a:rPr kumimoji="1" lang="ko-KR" altLang="en-US"/>
              <a:t>와 </a:t>
            </a:r>
            <a:r>
              <a:rPr kumimoji="1" lang="en-US" altLang="ko-KR" err="1"/>
              <a:t>loop_stop</a:t>
            </a:r>
            <a:r>
              <a:rPr kumimoji="1" lang="en-US" altLang="ko-KR"/>
              <a:t>()</a:t>
            </a:r>
          </a:p>
          <a:p>
            <a:pPr lvl="1"/>
            <a:r>
              <a:rPr kumimoji="1" lang="en-US" altLang="ko-KR"/>
              <a:t>loop_start() </a:t>
            </a:r>
            <a:r>
              <a:rPr kumimoji="1" lang="ko-KR" altLang="en-US"/>
              <a:t>함수가 메시지 루프를 실행하는 스레드 생성</a:t>
            </a:r>
            <a:endParaRPr kumimoji="1" lang="en-US" altLang="ko-KR"/>
          </a:p>
          <a:p>
            <a:pPr lvl="1"/>
            <a:r>
              <a:rPr kumimoji="1" lang="ko-KR" altLang="en-US">
                <a:latin typeface="+mn-ea"/>
              </a:rPr>
              <a:t>이 스레드가 </a:t>
            </a:r>
            <a:r>
              <a:rPr kumimoji="1" lang="en-US" altLang="ko-KR">
                <a:latin typeface="+mn-ea"/>
              </a:rPr>
              <a:t>loop_stop()</a:t>
            </a:r>
            <a:r>
              <a:rPr kumimoji="1" lang="ko-KR" altLang="en-US">
                <a:latin typeface="+mn-ea"/>
              </a:rPr>
              <a:t>이 호출될 때까지 </a:t>
            </a:r>
            <a:r>
              <a:rPr kumimoji="1" lang="en-US" altLang="ko-KR">
                <a:latin typeface="+mn-ea"/>
              </a:rPr>
              <a:t>loop()</a:t>
            </a:r>
            <a:r>
              <a:rPr kumimoji="1" lang="ko-KR" altLang="en-US">
                <a:latin typeface="+mn-ea"/>
              </a:rPr>
              <a:t> 반복 호출 </a:t>
            </a:r>
            <a:endParaRPr kumimoji="1" lang="en-US" altLang="ko-KR">
              <a:latin typeface="+mn-ea"/>
            </a:endParaRP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7200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F138C531-6EEA-4C24-91F3-05CE3487B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keepalive</a:t>
            </a:r>
            <a:r>
              <a:rPr lang="ko-KR" altLang="en-US"/>
              <a:t>와 메시지 루프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CD45F63-E2A0-41B9-A16C-3A56EB4BC57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sz="2200"/>
              <a:t>keepalive</a:t>
            </a:r>
            <a:r>
              <a:rPr lang="ko-KR" altLang="en-US" sz="2200"/>
              <a:t> 시간이란</a:t>
            </a:r>
            <a:r>
              <a:rPr lang="en-US" altLang="ko-KR" sz="2200"/>
              <a:t>?</a:t>
            </a:r>
          </a:p>
          <a:p>
            <a:pPr lvl="1"/>
            <a:r>
              <a:rPr lang="ko-KR" altLang="en-US" sz="1900"/>
              <a:t>브로커가 클라이언트로부터 아무 메시지를 수신하지 못하였을 때</a:t>
            </a:r>
            <a:r>
              <a:rPr lang="en-US" altLang="ko-KR" sz="1900"/>
              <a:t>,</a:t>
            </a:r>
            <a:r>
              <a:rPr lang="ko-KR" altLang="en-US" sz="1900"/>
              <a:t> 클라이언트와 연결이 끊어진 것으로 판단하는 시간</a:t>
            </a:r>
            <a:endParaRPr lang="en-US" altLang="ko-KR" sz="1900"/>
          </a:p>
          <a:p>
            <a:r>
              <a:rPr lang="en-US" altLang="ko-KR" sz="2200"/>
              <a:t>connect() </a:t>
            </a:r>
            <a:r>
              <a:rPr lang="ko-KR" altLang="en-US" sz="2200"/>
              <a:t>함수에 </a:t>
            </a:r>
            <a:r>
              <a:rPr lang="en-US" altLang="ko-KR" sz="2200"/>
              <a:t>keepalive </a:t>
            </a:r>
            <a:r>
              <a:rPr lang="ko-KR" altLang="en-US" sz="2200"/>
              <a:t>매개변수 있음</a:t>
            </a:r>
          </a:p>
          <a:p>
            <a:pPr lvl="1"/>
            <a:r>
              <a:rPr lang="ko-KR" altLang="en-US" sz="1900"/>
              <a:t>클라이언트는 브로커에 접속할 때 </a:t>
            </a:r>
            <a:r>
              <a:rPr lang="en-US" altLang="ko-KR" sz="1900"/>
              <a:t>connect() </a:t>
            </a:r>
            <a:r>
              <a:rPr lang="ko-KR" altLang="en-US" sz="1900"/>
              <a:t>함수의 매개변수에</a:t>
            </a:r>
            <a:r>
              <a:rPr lang="en-US" altLang="ko-KR" sz="1900"/>
              <a:t>keepalive </a:t>
            </a:r>
            <a:r>
              <a:rPr lang="ko-KR" altLang="en-US" sz="1900"/>
              <a:t>시간 전달</a:t>
            </a:r>
            <a:endParaRPr lang="en-US" altLang="ko-KR" sz="1900"/>
          </a:p>
          <a:p>
            <a:pPr lvl="1"/>
            <a:r>
              <a:rPr lang="ko-KR" altLang="en-US" sz="1900"/>
              <a:t>클라이언트가 브로커에 연결된 후</a:t>
            </a:r>
            <a:r>
              <a:rPr lang="en-US" altLang="ko-KR" sz="1900"/>
              <a:t>, keepalive </a:t>
            </a:r>
            <a:r>
              <a:rPr lang="ko-KR" altLang="en-US" sz="1900"/>
              <a:t>시간 내 접속된 클라이언트로부터 아무 메시지가 없으면</a:t>
            </a:r>
            <a:r>
              <a:rPr lang="en-US" altLang="ko-KR" sz="1900"/>
              <a:t>, </a:t>
            </a:r>
            <a:r>
              <a:rPr lang="ko-KR" altLang="en-US" sz="1900"/>
              <a:t>브로커는 클라이언트와 연결 강제 종료</a:t>
            </a:r>
            <a:endParaRPr lang="en-US" altLang="ko-KR" sz="1900"/>
          </a:p>
          <a:p>
            <a:endParaRPr lang="en-US" altLang="ko-KR" sz="2200"/>
          </a:p>
          <a:p>
            <a:r>
              <a:rPr lang="ko-KR" altLang="en-US" sz="2200"/>
              <a:t>응용프로그램이 브로커와 연결을 계속 유지하는 방법</a:t>
            </a:r>
            <a:endParaRPr lang="en-US" altLang="ko-KR" sz="2200"/>
          </a:p>
          <a:p>
            <a:pPr lvl="1"/>
            <a:r>
              <a:rPr lang="ko-KR" altLang="en-US" sz="1900"/>
              <a:t>응용프로그램이 </a:t>
            </a:r>
            <a:r>
              <a:rPr lang="en-US" altLang="ko-KR" sz="1900"/>
              <a:t>keepalive </a:t>
            </a:r>
            <a:r>
              <a:rPr lang="ko-KR" altLang="en-US" sz="1900"/>
              <a:t>시간 내에 메시지를 계속 보내야 브로커와 연결 유지 가능 </a:t>
            </a:r>
            <a:r>
              <a:rPr lang="en-US" altLang="ko-KR" sz="1900"/>
              <a:t>-&gt; </a:t>
            </a:r>
            <a:r>
              <a:rPr lang="ko-KR" altLang="en-US" sz="1900"/>
              <a:t>보낼 메시지가 없으면 어떡하지</a:t>
            </a:r>
            <a:r>
              <a:rPr lang="en-US" altLang="ko-KR" sz="1900"/>
              <a:t>?</a:t>
            </a:r>
          </a:p>
          <a:p>
            <a:pPr lvl="1"/>
            <a:r>
              <a:rPr lang="en-US" altLang="ko-KR" sz="1900"/>
              <a:t>loop(),</a:t>
            </a:r>
            <a:r>
              <a:rPr lang="ko-KR" altLang="en-US" sz="1900"/>
              <a:t> </a:t>
            </a:r>
            <a:r>
              <a:rPr lang="en-US" altLang="ko-KR" sz="1900"/>
              <a:t>loop_forever() </a:t>
            </a:r>
            <a:r>
              <a:rPr lang="ko-KR" altLang="en-US" sz="1900"/>
              <a:t>혹은 </a:t>
            </a:r>
            <a:r>
              <a:rPr lang="en-US" altLang="ko-KR" sz="1900"/>
              <a:t>loop_start() </a:t>
            </a:r>
            <a:r>
              <a:rPr lang="ko-KR" altLang="en-US" sz="1900"/>
              <a:t>힘수가 자동으로 </a:t>
            </a:r>
            <a:r>
              <a:rPr lang="en-US" altLang="ko-KR" sz="1900"/>
              <a:t>ping </a:t>
            </a:r>
            <a:r>
              <a:rPr lang="ko-KR" altLang="en-US" sz="1900"/>
              <a:t>메시지를 </a:t>
            </a:r>
            <a:r>
              <a:rPr lang="en-US" altLang="ko-KR" sz="1900"/>
              <a:t>keepalive </a:t>
            </a:r>
            <a:r>
              <a:rPr lang="ko-KR" altLang="en-US" sz="1900"/>
              <a:t>시간 내에 주기적으로 브로커로 전송</a:t>
            </a:r>
            <a:r>
              <a:rPr lang="en-US" altLang="ko-KR" sz="1900"/>
              <a:t>,</a:t>
            </a:r>
            <a:r>
              <a:rPr lang="ko-KR" altLang="en-US" sz="1900"/>
              <a:t> 브로커와 연결 유지</a:t>
            </a:r>
          </a:p>
          <a:p>
            <a:pPr lvl="1"/>
            <a:r>
              <a:rPr lang="ko-KR" altLang="en-US" sz="1900" b="1"/>
              <a:t>응용프로그램에서 </a:t>
            </a:r>
            <a:r>
              <a:rPr lang="en-US" altLang="ko-KR" sz="1900" b="1"/>
              <a:t>loop(),</a:t>
            </a:r>
            <a:r>
              <a:rPr lang="ko-KR" altLang="en-US" sz="1900" b="1"/>
              <a:t> </a:t>
            </a:r>
            <a:r>
              <a:rPr lang="en-US" altLang="ko-KR" sz="1900" b="1"/>
              <a:t>loop_forever() </a:t>
            </a:r>
            <a:r>
              <a:rPr lang="ko-KR" altLang="en-US" sz="1900" b="1"/>
              <a:t>혹은 </a:t>
            </a:r>
            <a:r>
              <a:rPr lang="en-US" altLang="ko-KR" sz="1900" b="1"/>
              <a:t>loop_start()</a:t>
            </a:r>
            <a:r>
              <a:rPr lang="ko-KR" altLang="en-US" sz="1900" b="1"/>
              <a:t>를 사용하면</a:t>
            </a:r>
            <a:r>
              <a:rPr lang="en-US" altLang="ko-KR" sz="1900" b="1"/>
              <a:t>, </a:t>
            </a:r>
            <a:r>
              <a:rPr lang="ko-KR" altLang="en-US" sz="1900" b="1"/>
              <a:t>이들이 자동으로 </a:t>
            </a:r>
            <a:r>
              <a:rPr lang="en-US" altLang="ko-KR" sz="1900" b="1"/>
              <a:t>ping </a:t>
            </a:r>
            <a:r>
              <a:rPr lang="ko-KR" altLang="en-US" sz="1900" b="1"/>
              <a:t>메시지 전송</a:t>
            </a:r>
          </a:p>
          <a:p>
            <a:pPr lvl="1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702357-9B37-4D51-A4C1-C10446153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0903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 </a:t>
            </a:r>
            <a:r>
              <a:rPr lang="en-US" altLang="ko-KR"/>
              <a:t>7-1 </a:t>
            </a:r>
            <a:r>
              <a:rPr lang="ko-KR" altLang="en-US"/>
              <a:t>텍스트 메시지 전송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2339DA-17AD-4144-9595-503CC57B6139}"/>
              </a:ext>
            </a:extLst>
          </p:cNvPr>
          <p:cNvSpPr txBox="1"/>
          <p:nvPr/>
        </p:nvSpPr>
        <p:spPr>
          <a:xfrm>
            <a:off x="4520320" y="3364573"/>
            <a:ext cx="4504456" cy="31393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>
            <a:defPPr>
              <a:defRPr lang="ko-KR"/>
            </a:defPPr>
            <a:lvl1pPr defTabSz="180000">
              <a:defRPr sz="11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altLang="ko-KR" dirty="0"/>
              <a:t>import time</a:t>
            </a:r>
          </a:p>
          <a:p>
            <a:r>
              <a:rPr lang="en-US" altLang="ko-KR" dirty="0"/>
              <a:t>import </a:t>
            </a:r>
            <a:r>
              <a:rPr lang="en-US" altLang="ko-KR" dirty="0" err="1"/>
              <a:t>paho.mqtt.client</a:t>
            </a:r>
            <a:r>
              <a:rPr lang="en-US" altLang="ko-KR" dirty="0"/>
              <a:t> as </a:t>
            </a:r>
            <a:r>
              <a:rPr lang="en-US" altLang="ko-KR" dirty="0" err="1"/>
              <a:t>mqtt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ip</a:t>
            </a:r>
            <a:r>
              <a:rPr lang="en-US" altLang="ko-KR" dirty="0"/>
              <a:t> = input("</a:t>
            </a:r>
            <a:r>
              <a:rPr lang="ko-KR" altLang="en-US" dirty="0"/>
              <a:t>브로커의 </a:t>
            </a:r>
            <a:r>
              <a:rPr lang="en-US" altLang="ko-KR" dirty="0"/>
              <a:t>IP </a:t>
            </a:r>
            <a:r>
              <a:rPr lang="ko-KR" altLang="en-US" dirty="0"/>
              <a:t>주소</a:t>
            </a:r>
            <a:r>
              <a:rPr lang="en-US" altLang="ko-KR" dirty="0"/>
              <a:t>&gt;&gt;")</a:t>
            </a:r>
          </a:p>
          <a:p>
            <a:endParaRPr lang="ko-KR" altLang="en-US" dirty="0"/>
          </a:p>
          <a:p>
            <a:r>
              <a:rPr lang="en-US" altLang="ko-KR" dirty="0"/>
              <a:t>client = </a:t>
            </a:r>
            <a:r>
              <a:rPr lang="en-US" altLang="ko-KR" dirty="0" err="1"/>
              <a:t>mqtt.Client</a:t>
            </a:r>
            <a:r>
              <a:rPr lang="en-US" altLang="ko-KR" dirty="0"/>
              <a:t>(</a:t>
            </a:r>
            <a:r>
              <a:rPr lang="en-US" altLang="ko-KR" sz="1100" dirty="0"/>
              <a:t>mqtt.CallbackAPIVersion.VERSION2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client.connect</a:t>
            </a:r>
            <a:r>
              <a:rPr lang="en-US" altLang="ko-KR" dirty="0"/>
              <a:t>(</a:t>
            </a:r>
            <a:r>
              <a:rPr lang="en-US" altLang="ko-KR" dirty="0" err="1"/>
              <a:t>ip</a:t>
            </a:r>
            <a:r>
              <a:rPr lang="en-US" altLang="ko-KR" dirty="0"/>
              <a:t>, 1883) # </a:t>
            </a:r>
            <a:r>
              <a:rPr lang="ko-KR" altLang="en-US" dirty="0"/>
              <a:t>브로커에 연결</a:t>
            </a:r>
          </a:p>
          <a:p>
            <a:r>
              <a:rPr lang="en-US" altLang="ko-KR" b="1" dirty="0" err="1"/>
              <a:t>client.loop_start</a:t>
            </a:r>
            <a:r>
              <a:rPr lang="en-US" altLang="ko-KR" b="1" dirty="0"/>
              <a:t>() </a:t>
            </a:r>
            <a:r>
              <a:rPr lang="en-US" altLang="ko-KR" dirty="0"/>
              <a:t># </a:t>
            </a:r>
            <a:r>
              <a:rPr lang="ko-KR" altLang="en-US" dirty="0"/>
              <a:t>메시지 루프를 실행하는 스레드 생성</a:t>
            </a:r>
          </a:p>
          <a:p>
            <a:endParaRPr lang="en-US" altLang="ko-KR" dirty="0"/>
          </a:p>
          <a:p>
            <a:r>
              <a:rPr lang="en-US" altLang="ko-KR" dirty="0"/>
              <a:t>while True:</a:t>
            </a:r>
          </a:p>
          <a:p>
            <a:r>
              <a:rPr lang="en-US" altLang="ko-KR" dirty="0"/>
              <a:t>	</a:t>
            </a:r>
            <a:r>
              <a:rPr lang="en-US" altLang="ko-KR" b="1" dirty="0"/>
              <a:t>message = input("</a:t>
            </a:r>
            <a:r>
              <a:rPr lang="ko-KR" altLang="en-US" b="1" dirty="0"/>
              <a:t>문자메시지</a:t>
            </a:r>
            <a:r>
              <a:rPr lang="en-US" altLang="ko-KR" b="1" dirty="0"/>
              <a:t>&gt;&gt;") </a:t>
            </a:r>
            <a:r>
              <a:rPr lang="en-US" altLang="ko-KR" dirty="0"/>
              <a:t># </a:t>
            </a:r>
            <a:r>
              <a:rPr lang="ko-KR" altLang="en-US" dirty="0"/>
              <a:t>사용자로부터 문자열 입력</a:t>
            </a:r>
          </a:p>
          <a:p>
            <a:r>
              <a:rPr lang="en-US" altLang="ko-KR" dirty="0"/>
              <a:t>	if message == "exit" :</a:t>
            </a:r>
          </a:p>
          <a:p>
            <a:r>
              <a:rPr lang="en-US" altLang="ko-KR" dirty="0"/>
              <a:t>		break</a:t>
            </a:r>
          </a:p>
          <a:p>
            <a:r>
              <a:rPr lang="en-US" altLang="ko-KR" dirty="0"/>
              <a:t>	</a:t>
            </a:r>
            <a:r>
              <a:rPr lang="en-US" altLang="ko-KR" b="1" dirty="0" err="1"/>
              <a:t>client.publish</a:t>
            </a:r>
            <a:r>
              <a:rPr lang="en-US" altLang="ko-KR" b="1" dirty="0"/>
              <a:t>("letter", message)</a:t>
            </a:r>
          </a:p>
          <a:p>
            <a:r>
              <a:rPr lang="en-US" altLang="ko-KR" dirty="0"/>
              <a:t>	print("</a:t>
            </a:r>
            <a:r>
              <a:rPr lang="ko-KR" altLang="en-US" dirty="0"/>
              <a:t>메시지 전송</a:t>
            </a:r>
            <a:r>
              <a:rPr lang="en-US" altLang="ko-KR" dirty="0"/>
              <a:t>: %s" % message)</a:t>
            </a:r>
          </a:p>
          <a:p>
            <a:endParaRPr lang="en-US" altLang="ko-KR" dirty="0"/>
          </a:p>
          <a:p>
            <a:r>
              <a:rPr lang="en-US" altLang="ko-KR" b="1" dirty="0" err="1"/>
              <a:t>client.loop_stop</a:t>
            </a:r>
            <a:r>
              <a:rPr lang="en-US" altLang="ko-KR" b="1" dirty="0"/>
              <a:t>() </a:t>
            </a:r>
            <a:r>
              <a:rPr lang="en-US" altLang="ko-KR" dirty="0"/>
              <a:t># </a:t>
            </a:r>
            <a:r>
              <a:rPr lang="ko-KR" altLang="en-US" dirty="0"/>
              <a:t>메시지 루프를 실행하는 스레드 종료</a:t>
            </a:r>
          </a:p>
          <a:p>
            <a:r>
              <a:rPr lang="en-US" altLang="ko-KR" dirty="0" err="1"/>
              <a:t>client.disconnect</a:t>
            </a:r>
            <a:r>
              <a:rPr lang="en-US" altLang="ko-KR" dirty="0"/>
              <a:t>()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4757268" y="3067249"/>
            <a:ext cx="10118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80000"/>
            <a:r>
              <a:rPr lang="en" altLang="ko-KR" sz="1400"/>
              <a:t>7-1</a:t>
            </a:r>
            <a:r>
              <a:rPr lang="en-US" altLang="ko-KR" sz="1400"/>
              <a:t>pub.</a:t>
            </a:r>
            <a:r>
              <a:rPr lang="en" altLang="ko-KR" sz="1400"/>
              <a:t>py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4F93F68-E102-4658-90FB-C520F852B326}"/>
              </a:ext>
            </a:extLst>
          </p:cNvPr>
          <p:cNvGrpSpPr/>
          <p:nvPr/>
        </p:nvGrpSpPr>
        <p:grpSpPr>
          <a:xfrm>
            <a:off x="153374" y="3067249"/>
            <a:ext cx="4248472" cy="3265657"/>
            <a:chOff x="4716016" y="3090410"/>
            <a:chExt cx="4248472" cy="3265657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5A3F983-8A76-B046-A9B2-94BE7423568B}"/>
                </a:ext>
              </a:extLst>
            </p:cNvPr>
            <p:cNvSpPr/>
            <p:nvPr/>
          </p:nvSpPr>
          <p:spPr>
            <a:xfrm>
              <a:off x="4716016" y="3386023"/>
              <a:ext cx="4248472" cy="297004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defTabSz="180000"/>
              <a:r>
                <a:rPr lang="en-US" altLang="ko-KR" sz="1100" dirty="0">
                  <a:solidFill>
                    <a:schemeClr val="tx1"/>
                  </a:solidFill>
                </a:rPr>
                <a:t>import </a:t>
              </a:r>
              <a:r>
                <a:rPr lang="en-US" altLang="ko-KR" sz="1100" dirty="0" err="1">
                  <a:solidFill>
                    <a:schemeClr val="tx1"/>
                  </a:solidFill>
                </a:rPr>
                <a:t>paho.mqtt.client</a:t>
              </a:r>
              <a:r>
                <a:rPr lang="en-US" altLang="ko-KR" sz="1100" dirty="0">
                  <a:solidFill>
                    <a:schemeClr val="tx1"/>
                  </a:solidFill>
                </a:rPr>
                <a:t> as </a:t>
              </a:r>
              <a:r>
                <a:rPr lang="en-US" altLang="ko-KR" sz="1100" dirty="0" err="1">
                  <a:solidFill>
                    <a:schemeClr val="tx1"/>
                  </a:solidFill>
                </a:rPr>
                <a:t>mqtt</a:t>
              </a:r>
              <a:endParaRPr lang="en-US" altLang="ko-KR" sz="1100" dirty="0">
                <a:solidFill>
                  <a:schemeClr val="tx1"/>
                </a:solidFill>
              </a:endParaRPr>
            </a:p>
            <a:p>
              <a:pPr defTabSz="180000"/>
              <a:endParaRPr lang="en-US" altLang="ko-KR" sz="1100" dirty="0">
                <a:solidFill>
                  <a:schemeClr val="tx1"/>
                </a:solidFill>
              </a:endParaRPr>
            </a:p>
            <a:p>
              <a:pPr defTabSz="180000"/>
              <a:r>
                <a:rPr lang="en-US" altLang="ko-KR" sz="1100" dirty="0">
                  <a:solidFill>
                    <a:schemeClr val="tx1"/>
                  </a:solidFill>
                </a:rPr>
                <a:t>def </a:t>
              </a:r>
              <a:r>
                <a:rPr lang="en-US" altLang="ko-KR" sz="1100" dirty="0" err="1">
                  <a:solidFill>
                    <a:schemeClr val="tx1"/>
                  </a:solidFill>
                </a:rPr>
                <a:t>on_connect</a:t>
              </a:r>
              <a:r>
                <a:rPr lang="en-US" altLang="ko-KR" sz="1100" dirty="0">
                  <a:solidFill>
                    <a:schemeClr val="tx1"/>
                  </a:solidFill>
                </a:rPr>
                <a:t>(client, </a:t>
              </a:r>
              <a:r>
                <a:rPr lang="en-US" altLang="ko-KR" sz="1100" dirty="0" err="1">
                  <a:solidFill>
                    <a:schemeClr val="tx1"/>
                  </a:solidFill>
                </a:rPr>
                <a:t>userdata</a:t>
              </a:r>
              <a:r>
                <a:rPr lang="en-US" altLang="ko-KR" sz="1100" dirty="0">
                  <a:solidFill>
                    <a:schemeClr val="tx1"/>
                  </a:solidFill>
                </a:rPr>
                <a:t>, flag, </a:t>
              </a:r>
              <a:r>
                <a:rPr lang="en-US" altLang="ko-KR" sz="1100" dirty="0" err="1">
                  <a:solidFill>
                    <a:schemeClr val="tx1"/>
                  </a:solidFill>
                </a:rPr>
                <a:t>rc</a:t>
              </a:r>
              <a:r>
                <a:rPr lang="en-US" altLang="ko-KR" sz="1100" dirty="0">
                  <a:solidFill>
                    <a:schemeClr val="tx1"/>
                  </a:solidFill>
                </a:rPr>
                <a:t>, </a:t>
              </a:r>
              <a:r>
                <a:rPr lang="en-US" altLang="ko-KR" sz="1100" dirty="0"/>
                <a:t>prop=None</a:t>
              </a:r>
              <a:r>
                <a:rPr lang="en-US" altLang="ko-KR" sz="1100" dirty="0">
                  <a:solidFill>
                    <a:schemeClr val="tx1"/>
                  </a:solidFill>
                </a:rPr>
                <a:t>):</a:t>
              </a:r>
            </a:p>
            <a:p>
              <a:pPr defTabSz="180000"/>
              <a:r>
                <a:rPr lang="en-US" altLang="ko-KR" sz="1100" dirty="0">
                  <a:solidFill>
                    <a:schemeClr val="tx1"/>
                  </a:solidFill>
                </a:rPr>
                <a:t>	print("</a:t>
              </a:r>
              <a:r>
                <a:rPr lang="ko-KR" altLang="en-US" sz="1100" dirty="0">
                  <a:solidFill>
                    <a:schemeClr val="tx1"/>
                  </a:solidFill>
                </a:rPr>
                <a:t>접속 결과</a:t>
              </a:r>
              <a:r>
                <a:rPr lang="en-US" altLang="ko-KR" sz="1100" dirty="0">
                  <a:solidFill>
                    <a:schemeClr val="tx1"/>
                  </a:solidFill>
                </a:rPr>
                <a:t>: "+ str(</a:t>
              </a:r>
              <a:r>
                <a:rPr lang="en-US" altLang="ko-KR" sz="1100" dirty="0" err="1">
                  <a:solidFill>
                    <a:schemeClr val="tx1"/>
                  </a:solidFill>
                </a:rPr>
                <a:t>rc</a:t>
              </a:r>
              <a:r>
                <a:rPr lang="en-US" altLang="ko-KR" sz="1100" dirty="0">
                  <a:solidFill>
                    <a:schemeClr val="tx1"/>
                  </a:solidFill>
                </a:rPr>
                <a:t>)) # </a:t>
              </a:r>
              <a:r>
                <a:rPr lang="ko-KR" altLang="en-US" sz="1100" dirty="0">
                  <a:solidFill>
                    <a:schemeClr val="tx1"/>
                  </a:solidFill>
                </a:rPr>
                <a:t>접속 결과 출력</a:t>
              </a:r>
              <a:r>
                <a:rPr lang="en-US" altLang="ko-KR" sz="1100" dirty="0">
                  <a:solidFill>
                    <a:schemeClr val="tx1"/>
                  </a:solidFill>
                </a:rPr>
                <a:t>, </a:t>
              </a:r>
              <a:r>
                <a:rPr lang="en-US" altLang="ko-KR" sz="1100" dirty="0" err="1">
                  <a:solidFill>
                    <a:schemeClr val="tx1"/>
                  </a:solidFill>
                </a:rPr>
                <a:t>rc</a:t>
              </a:r>
              <a:r>
                <a:rPr lang="ko-KR" altLang="en-US" sz="1100" dirty="0">
                  <a:solidFill>
                    <a:schemeClr val="tx1"/>
                  </a:solidFill>
                </a:rPr>
                <a:t>가 </a:t>
              </a:r>
              <a:r>
                <a:rPr lang="en-US" altLang="ko-KR" sz="1100" dirty="0">
                  <a:solidFill>
                    <a:schemeClr val="tx1"/>
                  </a:solidFill>
                </a:rPr>
                <a:t>0</a:t>
              </a:r>
              <a:r>
                <a:rPr lang="ko-KR" altLang="en-US" sz="1100" dirty="0">
                  <a:solidFill>
                    <a:schemeClr val="tx1"/>
                  </a:solidFill>
                </a:rPr>
                <a:t>이면 성공</a:t>
              </a:r>
            </a:p>
            <a:p>
              <a:pPr defTabSz="180000"/>
              <a:r>
                <a:rPr lang="en-US" altLang="ko-KR" sz="1100" dirty="0">
                  <a:solidFill>
                    <a:schemeClr val="tx1"/>
                  </a:solidFill>
                </a:rPr>
                <a:t>	</a:t>
              </a:r>
              <a:r>
                <a:rPr lang="en-US" altLang="ko-KR" sz="1100" b="1" dirty="0" err="1">
                  <a:solidFill>
                    <a:schemeClr val="tx1"/>
                  </a:solidFill>
                </a:rPr>
                <a:t>client.subscribe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("letter") </a:t>
              </a:r>
              <a:r>
                <a:rPr lang="en-US" altLang="ko-KR" sz="1100" dirty="0">
                  <a:solidFill>
                    <a:schemeClr val="tx1"/>
                  </a:solidFill>
                </a:rPr>
                <a:t># letter </a:t>
              </a:r>
              <a:r>
                <a:rPr lang="ko-KR" altLang="en-US" sz="1100" dirty="0">
                  <a:solidFill>
                    <a:schemeClr val="tx1"/>
                  </a:solidFill>
                </a:rPr>
                <a:t>토픽으로 구독 신청</a:t>
              </a:r>
            </a:p>
            <a:p>
              <a:pPr defTabSz="180000"/>
              <a:endParaRPr lang="en-US" altLang="ko-KR" sz="1100" dirty="0">
                <a:solidFill>
                  <a:schemeClr val="tx1"/>
                </a:solidFill>
              </a:endParaRPr>
            </a:p>
            <a:p>
              <a:pPr defTabSz="180000"/>
              <a:r>
                <a:rPr lang="en-US" altLang="ko-KR" sz="1100" dirty="0">
                  <a:solidFill>
                    <a:schemeClr val="tx1"/>
                  </a:solidFill>
                </a:rPr>
                <a:t>def </a:t>
              </a:r>
              <a:r>
                <a:rPr lang="en-US" altLang="ko-KR" sz="1100" dirty="0" err="1">
                  <a:solidFill>
                    <a:schemeClr val="tx1"/>
                  </a:solidFill>
                </a:rPr>
                <a:t>on_message</a:t>
              </a:r>
              <a:r>
                <a:rPr lang="en-US" altLang="ko-KR" sz="1100" dirty="0">
                  <a:solidFill>
                    <a:schemeClr val="tx1"/>
                  </a:solidFill>
                </a:rPr>
                <a:t>(client, </a:t>
              </a:r>
              <a:r>
                <a:rPr lang="en-US" altLang="ko-KR" sz="1100" dirty="0" err="1">
                  <a:solidFill>
                    <a:schemeClr val="tx1"/>
                  </a:solidFill>
                </a:rPr>
                <a:t>userdata</a:t>
              </a:r>
              <a:r>
                <a:rPr lang="en-US" altLang="ko-KR" sz="1100" dirty="0">
                  <a:solidFill>
                    <a:schemeClr val="tx1"/>
                  </a:solidFill>
                </a:rPr>
                <a:t>, msg):</a:t>
              </a:r>
            </a:p>
            <a:p>
              <a:pPr defTabSz="180000"/>
              <a:r>
                <a:rPr lang="en-US" altLang="ko-KR" sz="1100" dirty="0">
                  <a:solidFill>
                    <a:schemeClr val="tx1"/>
                  </a:solidFill>
                </a:rPr>
                <a:t>	print(</a:t>
              </a:r>
              <a:r>
                <a:rPr lang="en-US" altLang="ko-KR" sz="1100" dirty="0" err="1">
                  <a:solidFill>
                    <a:schemeClr val="tx1"/>
                  </a:solidFill>
                </a:rPr>
                <a:t>msg.topic</a:t>
              </a:r>
              <a:r>
                <a:rPr lang="en-US" altLang="ko-KR" sz="1100" dirty="0">
                  <a:solidFill>
                    <a:schemeClr val="tx1"/>
                  </a:solidFill>
                </a:rPr>
                <a:t>, end=", ") # </a:t>
              </a:r>
              <a:r>
                <a:rPr lang="ko-KR" altLang="en-US" sz="1100" dirty="0">
                  <a:solidFill>
                    <a:schemeClr val="tx1"/>
                  </a:solidFill>
                </a:rPr>
                <a:t>토픽 출력</a:t>
              </a:r>
            </a:p>
            <a:p>
              <a:pPr defTabSz="180000"/>
              <a:r>
                <a:rPr lang="en-US" altLang="ko-KR" sz="1100" dirty="0">
                  <a:solidFill>
                    <a:schemeClr val="tx1"/>
                  </a:solidFill>
                </a:rPr>
                <a:t>	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print(str(</a:t>
              </a:r>
              <a:r>
                <a:rPr lang="en-US" altLang="ko-KR" sz="1100" b="1" dirty="0" err="1">
                  <a:solidFill>
                    <a:schemeClr val="tx1"/>
                  </a:solidFill>
                </a:rPr>
                <a:t>msg.payload.decode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("utf-8"))) </a:t>
              </a:r>
              <a:r>
                <a:rPr lang="en-US" altLang="ko-KR" sz="1100" dirty="0">
                  <a:solidFill>
                    <a:schemeClr val="tx1"/>
                  </a:solidFill>
                </a:rPr>
                <a:t># </a:t>
              </a:r>
              <a:r>
                <a:rPr lang="ko-KR" altLang="en-US" sz="1100" dirty="0">
                  <a:solidFill>
                    <a:schemeClr val="tx1"/>
                  </a:solidFill>
                </a:rPr>
                <a:t>메시지 출력</a:t>
              </a:r>
              <a:endParaRPr lang="en-US" altLang="ko-KR" sz="1100" dirty="0">
                <a:solidFill>
                  <a:schemeClr val="tx1"/>
                </a:solidFill>
              </a:endParaRPr>
            </a:p>
            <a:p>
              <a:pPr defTabSz="180000"/>
              <a:endParaRPr lang="ko-KR" altLang="en-US" sz="1100" dirty="0">
                <a:solidFill>
                  <a:schemeClr val="tx1"/>
                </a:solidFill>
              </a:endParaRPr>
            </a:p>
            <a:p>
              <a:pPr defTabSz="180000"/>
              <a:r>
                <a:rPr lang="en-US" altLang="ko-KR" sz="1100" dirty="0" err="1">
                  <a:solidFill>
                    <a:schemeClr val="tx1"/>
                  </a:solidFill>
                </a:rPr>
                <a:t>ip</a:t>
              </a:r>
              <a:r>
                <a:rPr lang="en-US" altLang="ko-KR" sz="1100" dirty="0">
                  <a:solidFill>
                    <a:schemeClr val="tx1"/>
                  </a:solidFill>
                </a:rPr>
                <a:t> = input("</a:t>
              </a:r>
              <a:r>
                <a:rPr lang="ko-KR" altLang="en-US" sz="1100" dirty="0">
                  <a:solidFill>
                    <a:schemeClr val="tx1"/>
                  </a:solidFill>
                </a:rPr>
                <a:t>브로커의 </a:t>
              </a:r>
              <a:r>
                <a:rPr lang="en-US" altLang="ko-KR" sz="1100" dirty="0">
                  <a:solidFill>
                    <a:schemeClr val="tx1"/>
                  </a:solidFill>
                </a:rPr>
                <a:t>IP </a:t>
              </a:r>
              <a:r>
                <a:rPr lang="ko-KR" altLang="en-US" sz="1100" dirty="0">
                  <a:solidFill>
                    <a:schemeClr val="tx1"/>
                  </a:solidFill>
                </a:rPr>
                <a:t>주소</a:t>
              </a:r>
              <a:r>
                <a:rPr lang="en-US" altLang="ko-KR" sz="1100" dirty="0">
                  <a:solidFill>
                    <a:schemeClr val="tx1"/>
                  </a:solidFill>
                </a:rPr>
                <a:t>&gt;&gt;")</a:t>
              </a:r>
            </a:p>
            <a:p>
              <a:pPr defTabSz="180000"/>
              <a:endParaRPr lang="ko-KR" altLang="en-US" sz="1100" dirty="0">
                <a:solidFill>
                  <a:schemeClr val="tx1"/>
                </a:solidFill>
              </a:endParaRPr>
            </a:p>
            <a:p>
              <a:pPr defTabSz="180000"/>
              <a:r>
                <a:rPr lang="en-US" altLang="ko-KR" sz="1100" dirty="0">
                  <a:solidFill>
                    <a:schemeClr val="tx1"/>
                  </a:solidFill>
                </a:rPr>
                <a:t>client = </a:t>
              </a:r>
              <a:r>
                <a:rPr lang="en-US" altLang="ko-KR" sz="1100" dirty="0" err="1">
                  <a:solidFill>
                    <a:schemeClr val="tx1"/>
                  </a:solidFill>
                </a:rPr>
                <a:t>mqtt.Client</a:t>
              </a:r>
              <a:r>
                <a:rPr lang="en-US" altLang="ko-KR" sz="1100" dirty="0">
                  <a:solidFill>
                    <a:schemeClr val="tx1"/>
                  </a:solidFill>
                </a:rPr>
                <a:t>(</a:t>
              </a:r>
              <a:r>
                <a:rPr lang="en-US" altLang="ko-KR" sz="1100" dirty="0"/>
                <a:t>mqtt.CallbackAPIVersion.VERSION2</a:t>
              </a:r>
              <a:r>
                <a:rPr lang="en-US" altLang="ko-KR" sz="1100" dirty="0">
                  <a:solidFill>
                    <a:schemeClr val="tx1"/>
                  </a:solidFill>
                </a:rPr>
                <a:t>)</a:t>
              </a:r>
            </a:p>
            <a:p>
              <a:pPr defTabSz="180000"/>
              <a:r>
                <a:rPr lang="en-US" altLang="ko-KR" sz="1100" dirty="0" err="1">
                  <a:solidFill>
                    <a:schemeClr val="tx1"/>
                  </a:solidFill>
                </a:rPr>
                <a:t>client.on_connect</a:t>
              </a:r>
              <a:r>
                <a:rPr lang="en-US" altLang="ko-KR" sz="1100" dirty="0">
                  <a:solidFill>
                    <a:schemeClr val="tx1"/>
                  </a:solidFill>
                </a:rPr>
                <a:t> = </a:t>
              </a:r>
              <a:r>
                <a:rPr lang="en-US" altLang="ko-KR" sz="1100" dirty="0" err="1">
                  <a:solidFill>
                    <a:schemeClr val="tx1"/>
                  </a:solidFill>
                </a:rPr>
                <a:t>on_connect</a:t>
              </a:r>
              <a:r>
                <a:rPr lang="en-US" altLang="ko-KR" sz="1100" dirty="0">
                  <a:solidFill>
                    <a:schemeClr val="tx1"/>
                  </a:solidFill>
                </a:rPr>
                <a:t> # </a:t>
              </a:r>
              <a:r>
                <a:rPr lang="en-US" altLang="ko-KR" sz="1100" dirty="0" err="1">
                  <a:solidFill>
                    <a:schemeClr val="tx1"/>
                  </a:solidFill>
                </a:rPr>
                <a:t>on_connect</a:t>
              </a:r>
              <a:r>
                <a:rPr lang="en-US" altLang="ko-KR" sz="1100" dirty="0">
                  <a:solidFill>
                    <a:schemeClr val="tx1"/>
                  </a:solidFill>
                </a:rPr>
                <a:t>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콜백</a:t>
              </a:r>
              <a:r>
                <a:rPr lang="ko-KR" altLang="en-US" sz="1100" dirty="0">
                  <a:solidFill>
                    <a:schemeClr val="tx1"/>
                  </a:solidFill>
                </a:rPr>
                <a:t> 함수 등록</a:t>
              </a:r>
            </a:p>
            <a:p>
              <a:pPr defTabSz="180000"/>
              <a:r>
                <a:rPr lang="en-US" altLang="ko-KR" sz="1100" dirty="0" err="1">
                  <a:solidFill>
                    <a:schemeClr val="tx1"/>
                  </a:solidFill>
                </a:rPr>
                <a:t>client.on_message</a:t>
              </a:r>
              <a:r>
                <a:rPr lang="en-US" altLang="ko-KR" sz="1100" dirty="0">
                  <a:solidFill>
                    <a:schemeClr val="tx1"/>
                  </a:solidFill>
                </a:rPr>
                <a:t> = </a:t>
              </a:r>
              <a:r>
                <a:rPr lang="en-US" altLang="ko-KR" sz="1100" dirty="0" err="1">
                  <a:solidFill>
                    <a:schemeClr val="tx1"/>
                  </a:solidFill>
                </a:rPr>
                <a:t>on_message</a:t>
              </a:r>
              <a:r>
                <a:rPr lang="en-US" altLang="ko-KR" sz="1100" dirty="0">
                  <a:solidFill>
                    <a:schemeClr val="tx1"/>
                  </a:solidFill>
                </a:rPr>
                <a:t> # </a:t>
              </a:r>
              <a:r>
                <a:rPr lang="en-US" altLang="ko-KR" sz="1100" dirty="0" err="1">
                  <a:solidFill>
                    <a:schemeClr val="tx1"/>
                  </a:solidFill>
                </a:rPr>
                <a:t>on_message</a:t>
              </a:r>
              <a:r>
                <a:rPr lang="en-US" altLang="ko-KR" sz="1100" dirty="0">
                  <a:solidFill>
                    <a:schemeClr val="tx1"/>
                  </a:solidFill>
                </a:rPr>
                <a:t> </a:t>
              </a:r>
              <a:r>
                <a:rPr lang="ko-KR" altLang="en-US" sz="1100" dirty="0" err="1">
                  <a:solidFill>
                    <a:schemeClr val="tx1"/>
                  </a:solidFill>
                </a:rPr>
                <a:t>콜백</a:t>
              </a:r>
              <a:r>
                <a:rPr lang="ko-KR" altLang="en-US" sz="1100" dirty="0">
                  <a:solidFill>
                    <a:schemeClr val="tx1"/>
                  </a:solidFill>
                </a:rPr>
                <a:t> 함수 등록</a:t>
              </a:r>
            </a:p>
            <a:p>
              <a:pPr defTabSz="180000"/>
              <a:r>
                <a:rPr lang="en-US" altLang="ko-KR" sz="1100" dirty="0" err="1">
                  <a:solidFill>
                    <a:schemeClr val="tx1"/>
                  </a:solidFill>
                </a:rPr>
                <a:t>client.connect</a:t>
              </a:r>
              <a:r>
                <a:rPr lang="en-US" altLang="ko-KR" sz="1100" dirty="0">
                  <a:solidFill>
                    <a:schemeClr val="tx1"/>
                  </a:solidFill>
                </a:rPr>
                <a:t>(</a:t>
              </a:r>
              <a:r>
                <a:rPr lang="en-US" altLang="ko-KR" sz="1100" dirty="0" err="1">
                  <a:solidFill>
                    <a:schemeClr val="tx1"/>
                  </a:solidFill>
                </a:rPr>
                <a:t>ip</a:t>
              </a:r>
              <a:r>
                <a:rPr lang="en-US" altLang="ko-KR" sz="1100" dirty="0">
                  <a:solidFill>
                    <a:schemeClr val="tx1"/>
                  </a:solidFill>
                </a:rPr>
                <a:t>, 1883)</a:t>
              </a:r>
            </a:p>
            <a:p>
              <a:pPr defTabSz="180000"/>
              <a:r>
                <a:rPr lang="en-US" altLang="ko-KR" sz="1100" b="1" dirty="0" err="1">
                  <a:solidFill>
                    <a:schemeClr val="tx1"/>
                  </a:solidFill>
                </a:rPr>
                <a:t>client.loop_forever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() </a:t>
              </a:r>
              <a:r>
                <a:rPr lang="en-US" altLang="ko-KR" sz="1100" dirty="0">
                  <a:solidFill>
                    <a:schemeClr val="tx1"/>
                  </a:solidFill>
                </a:rPr>
                <a:t># </a:t>
              </a:r>
              <a:r>
                <a:rPr lang="ko-KR" altLang="en-US" sz="1100" dirty="0">
                  <a:solidFill>
                    <a:schemeClr val="tx1"/>
                  </a:solidFill>
                </a:rPr>
                <a:t>메시지 루프</a:t>
              </a: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5127140" y="3090410"/>
              <a:ext cx="98296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80000"/>
              <a:r>
                <a:rPr lang="en" altLang="ko-KR" sz="1400"/>
                <a:t>7-1</a:t>
              </a:r>
              <a:r>
                <a:rPr lang="en-US" altLang="ko-KR" sz="1400"/>
                <a:t>sub.</a:t>
              </a:r>
              <a:r>
                <a:rPr lang="en" altLang="ko-KR" sz="1400"/>
                <a:t>py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524675" y="1321351"/>
            <a:ext cx="799129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4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사용자에게 문자열을 입력받아 </a:t>
            </a:r>
            <a:r>
              <a:rPr lang="en-US" altLang="ko-KR"/>
              <a:t>"letter" </a:t>
            </a:r>
            <a:r>
              <a:rPr lang="ko-KR" altLang="en-US"/>
              <a:t>토픽으로 전송하는 응용 프로그램을 작성해보자</a:t>
            </a:r>
            <a:r>
              <a:rPr lang="en-US" altLang="ko-KR"/>
              <a:t>. </a:t>
            </a:r>
            <a:endParaRPr lang="ko-KR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/>
                </a:solidFill>
              </a:rPr>
              <a:t>토픽 </a:t>
            </a:r>
            <a:r>
              <a:rPr lang="en-US" altLang="ko-KR">
                <a:solidFill>
                  <a:schemeClr val="tx1"/>
                </a:solidFill>
              </a:rPr>
              <a:t>: “letter”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/>
                </a:solidFill>
              </a:rPr>
              <a:t>메시지 </a:t>
            </a:r>
            <a:r>
              <a:rPr lang="en-US" altLang="ko-KR">
                <a:solidFill>
                  <a:schemeClr val="tx1"/>
                </a:solidFill>
              </a:rPr>
              <a:t>: </a:t>
            </a:r>
            <a:r>
              <a:rPr lang="ko-KR" altLang="en-US">
                <a:solidFill>
                  <a:schemeClr val="tx1"/>
                </a:solidFill>
              </a:rPr>
              <a:t>사용자로부터 입력받은 문자열 텍스트</a:t>
            </a:r>
            <a:endParaRPr lang="en-US" altLang="ko-KR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/>
                </a:solidFill>
              </a:rPr>
              <a:t>mosquitto </a:t>
            </a:r>
            <a:r>
              <a:rPr lang="ko-KR" altLang="en-US">
                <a:solidFill>
                  <a:schemeClr val="tx1"/>
                </a:solidFill>
              </a:rPr>
              <a:t>브로커 </a:t>
            </a:r>
            <a:r>
              <a:rPr lang="en-US" altLang="ko-KR">
                <a:solidFill>
                  <a:schemeClr val="tx1"/>
                </a:solidFill>
              </a:rPr>
              <a:t>: </a:t>
            </a:r>
            <a:r>
              <a:rPr lang="ko-KR" altLang="en-US">
                <a:solidFill>
                  <a:schemeClr val="tx1"/>
                </a:solidFill>
              </a:rPr>
              <a:t>라즈베리파이에서 실행</a:t>
            </a:r>
            <a:r>
              <a:rPr lang="en-US" altLang="ko-KR">
                <a:solidFill>
                  <a:schemeClr val="tx1"/>
                </a:solidFill>
              </a:rPr>
              <a:t>. 1883 </a:t>
            </a:r>
            <a:r>
              <a:rPr lang="ko-KR" altLang="en-US">
                <a:solidFill>
                  <a:schemeClr val="tx1"/>
                </a:solidFill>
              </a:rPr>
              <a:t>포트 이용</a:t>
            </a:r>
            <a:endParaRPr lang="en-US" altLang="ko-KR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/>
                </a:solidFill>
              </a:rPr>
              <a:t>subscriber : </a:t>
            </a:r>
            <a:r>
              <a:rPr lang="ko-KR" altLang="en-US">
                <a:solidFill>
                  <a:schemeClr val="tx1"/>
                </a:solidFill>
              </a:rPr>
              <a:t>라즈베리파이에서 실행</a:t>
            </a:r>
            <a:r>
              <a:rPr lang="en-US" altLang="ko-KR">
                <a:solidFill>
                  <a:schemeClr val="tx1"/>
                </a:solidFill>
              </a:rPr>
              <a:t>. </a:t>
            </a:r>
            <a:r>
              <a:rPr lang="ko-KR" altLang="en-US">
                <a:solidFill>
                  <a:schemeClr val="tx1"/>
                </a:solidFill>
              </a:rPr>
              <a:t>브로커로부터 문자열을 수신하여 화면에 출력</a:t>
            </a:r>
            <a:r>
              <a:rPr lang="en-US" altLang="ko-KR">
                <a:solidFill>
                  <a:schemeClr val="tx1"/>
                </a:solidFill>
              </a:rPr>
              <a:t>. 7-1sub.py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/>
                </a:solidFill>
              </a:rPr>
              <a:t>publisher : </a:t>
            </a:r>
            <a:r>
              <a:rPr lang="ko-KR" altLang="en-US">
                <a:solidFill>
                  <a:schemeClr val="tx1"/>
                </a:solidFill>
              </a:rPr>
              <a:t>라즈베리파이에서 실행</a:t>
            </a:r>
            <a:r>
              <a:rPr lang="en-US" altLang="ko-KR">
                <a:solidFill>
                  <a:schemeClr val="tx1"/>
                </a:solidFill>
              </a:rPr>
              <a:t>. </a:t>
            </a:r>
            <a:r>
              <a:rPr lang="ko-KR" altLang="en-US">
                <a:solidFill>
                  <a:schemeClr val="tx1"/>
                </a:solidFill>
              </a:rPr>
              <a:t>사용자로부터 문자열을 입력받아 전송</a:t>
            </a:r>
            <a:r>
              <a:rPr lang="en-US" altLang="ko-KR">
                <a:solidFill>
                  <a:schemeClr val="tx1"/>
                </a:solidFill>
              </a:rPr>
              <a:t>. 7-1pub.py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0222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752128"/>
          </a:xfrm>
        </p:spPr>
        <p:txBody>
          <a:bodyPr/>
          <a:lstStyle/>
          <a:p>
            <a:r>
              <a:rPr lang="ko-KR" altLang="en-US"/>
              <a:t>예제</a:t>
            </a:r>
            <a:r>
              <a:rPr lang="en-US" altLang="ko-KR"/>
              <a:t> 7-1 </a:t>
            </a:r>
            <a:r>
              <a:rPr lang="ko-KR" altLang="en-US"/>
              <a:t>실행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8725" y="1036860"/>
            <a:ext cx="533400" cy="244476"/>
          </a:xfrm>
        </p:spPr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705819" y="3620578"/>
            <a:ext cx="3898629" cy="2462213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b="1"/>
              <a:t>(myenv) </a:t>
            </a:r>
            <a:r>
              <a:rPr lang="ko-KR" altLang="en-US" sz="1400" b="1"/>
              <a:t>pi@pi:~</a:t>
            </a:r>
            <a:r>
              <a:rPr lang="en-US" altLang="ko-KR" sz="1400" b="1"/>
              <a:t>/ch07</a:t>
            </a:r>
            <a:r>
              <a:rPr lang="ko-KR" altLang="en-US" sz="1400" b="1"/>
              <a:t> $ python </a:t>
            </a:r>
            <a:r>
              <a:rPr lang="en-US" altLang="ko-KR" sz="1400" b="1"/>
              <a:t>7</a:t>
            </a:r>
            <a:r>
              <a:rPr lang="ko-KR" altLang="en-US" sz="1400" b="1"/>
              <a:t>-</a:t>
            </a:r>
            <a:r>
              <a:rPr lang="en-US" altLang="ko-KR" sz="1400" b="1"/>
              <a:t>1</a:t>
            </a:r>
            <a:r>
              <a:rPr lang="ko-KR" altLang="en-US" sz="1400" b="1"/>
              <a:t>sub.py</a:t>
            </a:r>
          </a:p>
          <a:p>
            <a:r>
              <a:rPr lang="ko-KR" altLang="en-US" sz="1400"/>
              <a:t>브로커의 IP 주소&gt;&gt;</a:t>
            </a:r>
            <a:r>
              <a:rPr lang="en-US" altLang="ko-KR" sz="1400">
                <a:solidFill>
                  <a:srgbClr val="00B050"/>
                </a:solidFill>
              </a:rPr>
              <a:t>192.168.0.5</a:t>
            </a:r>
          </a:p>
          <a:p>
            <a:r>
              <a:rPr lang="ko-KR" altLang="en-US" sz="1400"/>
              <a:t>접속 결과</a:t>
            </a:r>
            <a:r>
              <a:rPr lang="en-US" altLang="ko-KR" sz="1400"/>
              <a:t>: success</a:t>
            </a:r>
          </a:p>
          <a:p>
            <a:r>
              <a:rPr lang="en-US" altLang="ko-KR" sz="1400"/>
              <a:t>letter, Good Morning!</a:t>
            </a:r>
          </a:p>
          <a:p>
            <a:r>
              <a:rPr lang="en-US" altLang="ko-KR" sz="1400"/>
              <a:t>letter, </a:t>
            </a:r>
            <a:r>
              <a:rPr lang="ko-KR" altLang="en-US" sz="1400"/>
              <a:t>즐거운 날입니다</a:t>
            </a:r>
            <a:r>
              <a:rPr lang="en-US" altLang="ko-KR" sz="1400"/>
              <a:t>.</a:t>
            </a:r>
          </a:p>
          <a:p>
            <a:r>
              <a:rPr lang="en-US" altLang="ko-KR" sz="1400"/>
              <a:t>letter, </a:t>
            </a:r>
            <a:r>
              <a:rPr lang="ko-KR" altLang="en-US" sz="1400"/>
              <a:t>이제 공부하러 갈까요</a:t>
            </a:r>
            <a:r>
              <a:rPr lang="en-US" altLang="ko-KR" sz="1400"/>
              <a:t>?</a:t>
            </a:r>
          </a:p>
          <a:p>
            <a:r>
              <a:rPr lang="en-US" altLang="ko-KR" sz="1400"/>
              <a:t>letter, </a:t>
            </a:r>
            <a:r>
              <a:rPr lang="ko-KR" altLang="en-US" sz="1400"/>
              <a:t>너무 재미있어요</a:t>
            </a:r>
            <a:r>
              <a:rPr lang="en-US" altLang="ko-KR" sz="1400"/>
              <a:t>. </a:t>
            </a:r>
            <a:r>
              <a:rPr lang="ko-KR" altLang="en-US" sz="1400" err="1"/>
              <a:t>랄랄랄</a:t>
            </a:r>
            <a:endParaRPr lang="ko-KR" altLang="en-US" sz="1400"/>
          </a:p>
        </p:txBody>
      </p:sp>
      <p:sp>
        <p:nvSpPr>
          <p:cNvPr id="8" name="직사각형 7"/>
          <p:cNvSpPr/>
          <p:nvPr/>
        </p:nvSpPr>
        <p:spPr>
          <a:xfrm>
            <a:off x="609600" y="3620578"/>
            <a:ext cx="3962399" cy="2677656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/>
              <a:t>(myenv) </a:t>
            </a:r>
            <a:r>
              <a:rPr lang="ko-KR" altLang="en-US" sz="1400" b="1"/>
              <a:t>pi@pi:~</a:t>
            </a:r>
            <a:r>
              <a:rPr lang="en-US" altLang="ko-KR" sz="1400" b="1"/>
              <a:t>/ch07</a:t>
            </a:r>
            <a:r>
              <a:rPr lang="ko-KR" altLang="en-US" sz="1400" b="1"/>
              <a:t> $ python </a:t>
            </a:r>
            <a:r>
              <a:rPr lang="en-US" altLang="ko-KR" sz="1400" b="1"/>
              <a:t>7</a:t>
            </a:r>
            <a:r>
              <a:rPr lang="ko-KR" altLang="en-US" sz="1400" b="1"/>
              <a:t>-</a:t>
            </a:r>
            <a:r>
              <a:rPr lang="en-US" altLang="ko-KR" sz="1400" b="1"/>
              <a:t>1</a:t>
            </a:r>
            <a:r>
              <a:rPr lang="ko-KR" altLang="en-US" sz="1400" b="1"/>
              <a:t>pub.py</a:t>
            </a:r>
          </a:p>
          <a:p>
            <a:pPr fontAlgn="base"/>
            <a:r>
              <a:rPr lang="ko-KR" altLang="en-US" sz="1400"/>
              <a:t>브로커의 IP 주소&gt;&gt;</a:t>
            </a:r>
            <a:r>
              <a:rPr lang="en-US" altLang="ko-KR" sz="1400">
                <a:solidFill>
                  <a:srgbClr val="00B050"/>
                </a:solidFill>
              </a:rPr>
              <a:t>192.168.0.5</a:t>
            </a:r>
            <a:endParaRPr lang="en-US" altLang="ko-KR" sz="1400"/>
          </a:p>
          <a:p>
            <a:pPr fontAlgn="base"/>
            <a:r>
              <a:rPr lang="ko-KR" altLang="en-US" sz="1400"/>
              <a:t>문자메시지</a:t>
            </a:r>
            <a:r>
              <a:rPr lang="en-US" altLang="ko-KR" sz="1400"/>
              <a:t>&gt;&gt;</a:t>
            </a:r>
            <a:r>
              <a:rPr lang="en-US" altLang="ko-KR" sz="1400">
                <a:solidFill>
                  <a:srgbClr val="00B050"/>
                </a:solidFill>
              </a:rPr>
              <a:t>Good Morning!</a:t>
            </a:r>
            <a:endParaRPr lang="ko-KR" altLang="en-US" sz="1400">
              <a:solidFill>
                <a:srgbClr val="00B050"/>
              </a:solidFill>
            </a:endParaRPr>
          </a:p>
          <a:p>
            <a:pPr fontAlgn="base"/>
            <a:r>
              <a:rPr lang="ko-KR" altLang="en-US" sz="1400"/>
              <a:t>메시지 전송</a:t>
            </a:r>
            <a:r>
              <a:rPr lang="en-US" altLang="ko-KR" sz="1400"/>
              <a:t>: Good Morning!</a:t>
            </a:r>
            <a:endParaRPr lang="ko-KR" altLang="en-US" sz="1400"/>
          </a:p>
          <a:p>
            <a:pPr fontAlgn="base"/>
            <a:r>
              <a:rPr lang="ko-KR" altLang="en-US" sz="1400"/>
              <a:t>문자메시지</a:t>
            </a:r>
            <a:r>
              <a:rPr lang="en-US" altLang="ko-KR" sz="1400"/>
              <a:t>&gt;&gt;</a:t>
            </a:r>
            <a:r>
              <a:rPr lang="ko-KR" altLang="en-US" sz="1400">
                <a:solidFill>
                  <a:srgbClr val="00B050"/>
                </a:solidFill>
              </a:rPr>
              <a:t>즐거운 날입니다</a:t>
            </a:r>
            <a:r>
              <a:rPr lang="en-US" altLang="ko-KR" sz="1400">
                <a:solidFill>
                  <a:srgbClr val="00B050"/>
                </a:solidFill>
              </a:rPr>
              <a:t>.</a:t>
            </a:r>
            <a:endParaRPr lang="ko-KR" altLang="en-US" sz="1400">
              <a:solidFill>
                <a:srgbClr val="00B050"/>
              </a:solidFill>
            </a:endParaRPr>
          </a:p>
          <a:p>
            <a:pPr fontAlgn="base"/>
            <a:r>
              <a:rPr lang="ko-KR" altLang="en-US" sz="1400"/>
              <a:t>메시지 전송</a:t>
            </a:r>
            <a:r>
              <a:rPr lang="en-US" altLang="ko-KR" sz="1400"/>
              <a:t>: </a:t>
            </a:r>
            <a:r>
              <a:rPr lang="ko-KR" altLang="en-US" sz="1400"/>
              <a:t>즐거운 날입니다</a:t>
            </a:r>
            <a:r>
              <a:rPr lang="en-US" altLang="ko-KR" sz="1400"/>
              <a:t>.</a:t>
            </a:r>
            <a:endParaRPr lang="ko-KR" altLang="en-US" sz="1400"/>
          </a:p>
          <a:p>
            <a:pPr fontAlgn="base"/>
            <a:r>
              <a:rPr lang="ko-KR" altLang="en-US" sz="1400"/>
              <a:t>문자메시지</a:t>
            </a:r>
            <a:r>
              <a:rPr lang="en-US" altLang="ko-KR" sz="1400"/>
              <a:t>&gt;&gt;</a:t>
            </a:r>
            <a:r>
              <a:rPr lang="ko-KR" altLang="en-US" sz="1400">
                <a:solidFill>
                  <a:srgbClr val="00B050"/>
                </a:solidFill>
              </a:rPr>
              <a:t>이제 공부하러 갈까요</a:t>
            </a:r>
            <a:r>
              <a:rPr lang="en-US" altLang="ko-KR" sz="1400">
                <a:solidFill>
                  <a:srgbClr val="00B050"/>
                </a:solidFill>
              </a:rPr>
              <a:t>?</a:t>
            </a:r>
            <a:endParaRPr lang="ko-KR" altLang="en-US" sz="1400">
              <a:solidFill>
                <a:srgbClr val="00B050"/>
              </a:solidFill>
            </a:endParaRPr>
          </a:p>
          <a:p>
            <a:pPr fontAlgn="base"/>
            <a:r>
              <a:rPr lang="ko-KR" altLang="en-US" sz="1400"/>
              <a:t>메시지 전송</a:t>
            </a:r>
            <a:r>
              <a:rPr lang="en-US" altLang="ko-KR" sz="1400"/>
              <a:t>: </a:t>
            </a:r>
            <a:r>
              <a:rPr lang="ko-KR" altLang="en-US" sz="1400"/>
              <a:t>이제 공부하러 갈까요</a:t>
            </a:r>
            <a:r>
              <a:rPr lang="en-US" altLang="ko-KR" sz="1400"/>
              <a:t>?</a:t>
            </a:r>
            <a:endParaRPr lang="ko-KR" altLang="en-US" sz="1400"/>
          </a:p>
          <a:p>
            <a:pPr fontAlgn="base"/>
            <a:r>
              <a:rPr lang="ko-KR" altLang="en-US" sz="1400"/>
              <a:t>문자메시지</a:t>
            </a:r>
            <a:r>
              <a:rPr lang="en-US" altLang="ko-KR" sz="1400"/>
              <a:t>&gt;&gt;</a:t>
            </a:r>
            <a:r>
              <a:rPr lang="ko-KR" altLang="en-US" sz="1400">
                <a:solidFill>
                  <a:srgbClr val="00B050"/>
                </a:solidFill>
              </a:rPr>
              <a:t>너무 재미있어요</a:t>
            </a:r>
            <a:r>
              <a:rPr lang="en-US" altLang="ko-KR" sz="1400">
                <a:solidFill>
                  <a:srgbClr val="00B050"/>
                </a:solidFill>
              </a:rPr>
              <a:t>. </a:t>
            </a:r>
            <a:r>
              <a:rPr lang="ko-KR" altLang="en-US" sz="1400">
                <a:solidFill>
                  <a:srgbClr val="00B050"/>
                </a:solidFill>
              </a:rPr>
              <a:t>랄랄랄</a:t>
            </a:r>
          </a:p>
          <a:p>
            <a:pPr fontAlgn="base"/>
            <a:r>
              <a:rPr lang="ko-KR" altLang="en-US" sz="1400"/>
              <a:t>메시지 전송</a:t>
            </a:r>
            <a:r>
              <a:rPr lang="en-US" altLang="ko-KR" sz="1400"/>
              <a:t>: </a:t>
            </a:r>
            <a:r>
              <a:rPr lang="ko-KR" altLang="en-US" sz="1400"/>
              <a:t>너무 재미있어요</a:t>
            </a:r>
            <a:r>
              <a:rPr lang="en-US" altLang="ko-KR" sz="1400"/>
              <a:t>. </a:t>
            </a:r>
            <a:r>
              <a:rPr lang="ko-KR" altLang="en-US" sz="1400"/>
              <a:t>랄랄랄</a:t>
            </a:r>
          </a:p>
          <a:p>
            <a:pPr fontAlgn="base"/>
            <a:r>
              <a:rPr lang="ko-KR" altLang="en-US" sz="1400"/>
              <a:t>문자메시지</a:t>
            </a:r>
            <a:r>
              <a:rPr lang="en-US" altLang="ko-KR" sz="1400"/>
              <a:t>&gt;&gt;</a:t>
            </a:r>
            <a:r>
              <a:rPr lang="en-US" altLang="ko-KR" sz="1400">
                <a:solidFill>
                  <a:srgbClr val="00B050"/>
                </a:solidFill>
              </a:rPr>
              <a:t>exit</a:t>
            </a:r>
            <a:endParaRPr lang="ko-KR" altLang="en-US" sz="1400">
              <a:solidFill>
                <a:srgbClr val="00B050"/>
              </a:solidFill>
            </a:endParaRPr>
          </a:p>
          <a:p>
            <a:r>
              <a:rPr lang="en-US" altLang="ko-KR" sz="1400" b="1"/>
              <a:t>(myenv) </a:t>
            </a:r>
            <a:r>
              <a:rPr lang="ko-KR" altLang="en-US" sz="1400" b="1"/>
              <a:t>pi@pi:~</a:t>
            </a:r>
            <a:r>
              <a:rPr lang="en-US" altLang="ko-KR" sz="1400" b="1"/>
              <a:t>/ch07</a:t>
            </a:r>
            <a:r>
              <a:rPr lang="ko-KR" altLang="en-US" sz="1400" b="1"/>
              <a:t> 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6563" y="1412776"/>
            <a:ext cx="1372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putty </a:t>
            </a:r>
            <a:r>
              <a:rPr lang="ko-KR" altLang="en-US" sz="1400"/>
              <a:t>터미널 </a:t>
            </a:r>
            <a:r>
              <a:rPr lang="en-US" altLang="ko-KR" sz="14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5819" y="3321474"/>
            <a:ext cx="1372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putty </a:t>
            </a:r>
            <a:r>
              <a:rPr lang="ko-KR" altLang="en-US" sz="1400"/>
              <a:t>터미널 </a:t>
            </a:r>
            <a:r>
              <a:rPr lang="en-US" altLang="ko-KR" sz="1400"/>
              <a:t>3</a:t>
            </a:r>
            <a:endParaRPr lang="ko-KR" altLang="en-US" sz="1400"/>
          </a:p>
        </p:txBody>
      </p:sp>
      <p:sp>
        <p:nvSpPr>
          <p:cNvPr id="12" name="직사각형 11"/>
          <p:cNvSpPr/>
          <p:nvPr/>
        </p:nvSpPr>
        <p:spPr>
          <a:xfrm>
            <a:off x="616871" y="1666405"/>
            <a:ext cx="4675209" cy="1384995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b="1" err="1"/>
              <a:t>pi</a:t>
            </a:r>
            <a:r>
              <a:rPr lang="ko-KR" altLang="en-US" sz="1400" b="1"/>
              <a:t>@pi:~ $ </a:t>
            </a:r>
            <a:r>
              <a:rPr lang="ko-KR" altLang="en-US" sz="1400" b="1" err="1"/>
              <a:t>mosquitto</a:t>
            </a:r>
            <a:r>
              <a:rPr lang="ko-KR" altLang="en-US" sz="1400" b="1"/>
              <a:t> </a:t>
            </a:r>
            <a:r>
              <a:rPr lang="en-US" altLang="ko-KR" sz="1400" b="1"/>
              <a:t>–</a:t>
            </a:r>
            <a:r>
              <a:rPr lang="ko-KR" altLang="en-US" sz="1400" b="1"/>
              <a:t>v </a:t>
            </a:r>
            <a:r>
              <a:rPr lang="en-US" altLang="ko-KR" sz="1400" b="1"/>
              <a:t>–c mos.conf</a:t>
            </a:r>
            <a:endParaRPr lang="ko-KR" altLang="en-US" sz="1400" b="1"/>
          </a:p>
          <a:p>
            <a:r>
              <a:rPr lang="en-US" altLang="ko-KR" sz="1400"/>
              <a:t>1702049934: mosquitto version 2.0.11 starting</a:t>
            </a:r>
          </a:p>
          <a:p>
            <a:r>
              <a:rPr lang="en-US" altLang="ko-KR" sz="1400"/>
              <a:t>1702049934: Config loaded from mos.conf.</a:t>
            </a:r>
          </a:p>
          <a:p>
            <a:r>
              <a:rPr lang="en-US" altLang="ko-KR" sz="1400"/>
              <a:t>1702049934: Opening ipv4 listen socket on port 1883.</a:t>
            </a:r>
          </a:p>
          <a:p>
            <a:r>
              <a:rPr lang="en-US" altLang="ko-KR" sz="1400"/>
              <a:t>1702049934: Opening ipv6 listen socket on port 1883.</a:t>
            </a:r>
          </a:p>
          <a:p>
            <a:r>
              <a:rPr lang="en-US" altLang="ko-KR" sz="1400"/>
              <a:t>1702049934: mosquitto version 2.0.11 running</a:t>
            </a:r>
            <a:endParaRPr lang="ko-KR" altLang="en-US" sz="1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492E74-8977-4ACD-8973-0A7770EDC884}"/>
              </a:ext>
            </a:extLst>
          </p:cNvPr>
          <p:cNvSpPr txBox="1"/>
          <p:nvPr/>
        </p:nvSpPr>
        <p:spPr>
          <a:xfrm>
            <a:off x="534106" y="3321475"/>
            <a:ext cx="1372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putty </a:t>
            </a:r>
            <a:r>
              <a:rPr lang="ko-KR" altLang="en-US" sz="1400"/>
              <a:t>터미널 </a:t>
            </a:r>
            <a:r>
              <a:rPr lang="en-US" altLang="ko-KR" sz="1400"/>
              <a:t>2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9461932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42D9F7-260E-4B94-9C7B-444BC88B4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라즈베리파이와 윈도우 노트북은 반드시 동일한 무선 네트워크</a:t>
            </a:r>
            <a:r>
              <a:rPr lang="en-US" altLang="ko-KR"/>
              <a:t>(</a:t>
            </a:r>
            <a:r>
              <a:rPr lang="ko-KR" altLang="en-US"/>
              <a:t>무선 공유기 혹은 모바일 핫스팟</a:t>
            </a:r>
            <a:r>
              <a:rPr lang="en-US" altLang="ko-KR"/>
              <a:t>) </a:t>
            </a:r>
            <a:r>
              <a:rPr lang="ko-KR" altLang="en-US"/>
              <a:t>에 연결되어 있어야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7F51052-FA5F-4B8E-B26A-50ACC64BA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7.5 </a:t>
            </a:r>
            <a:r>
              <a:rPr lang="ko-KR" altLang="en-US"/>
              <a:t>라즈베리파이와 윈도우</a:t>
            </a:r>
            <a:r>
              <a:rPr lang="en-US" altLang="ko-KR"/>
              <a:t> </a:t>
            </a:r>
            <a:r>
              <a:rPr lang="ko-KR" altLang="en-US"/>
              <a:t>사이의 메시지 전송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5210EBD-727F-4C83-A578-FA2415B5CE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013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윈도우에 파이썬과 </a:t>
            </a:r>
            <a:r>
              <a:rPr lang="en-US" altLang="ko-KR"/>
              <a:t>paho-mqtt </a:t>
            </a:r>
            <a:r>
              <a:rPr lang="ko-KR" altLang="en-US"/>
              <a:t>라이브러리 설치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파이썬 설치</a:t>
            </a:r>
            <a:endParaRPr lang="en-US" altLang="ko-KR" dirty="0"/>
          </a:p>
          <a:p>
            <a:pPr lvl="1"/>
            <a:r>
              <a:rPr lang="en-US" altLang="ko-KR" dirty="0"/>
              <a:t>https://</a:t>
            </a:r>
            <a:r>
              <a:rPr lang="en-US" altLang="ko-KR" dirty="0" err="1"/>
              <a:t>www.python.org</a:t>
            </a:r>
            <a:r>
              <a:rPr lang="en-US" altLang="ko-KR" dirty="0"/>
              <a:t>/downloads/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47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4820680-7CE9-44A3-A0ED-5C367C955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039" y="2420887"/>
            <a:ext cx="6551249" cy="318355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9D1FB45-B1A2-4B17-A25C-36BC0DE7F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196" y="3645024"/>
            <a:ext cx="4105372" cy="2534092"/>
          </a:xfrm>
          <a:prstGeom prst="rect">
            <a:avLst/>
          </a:prstGeom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FA188B0-9D60-41D1-986A-9E041203AB5F}"/>
              </a:ext>
            </a:extLst>
          </p:cNvPr>
          <p:cNvSpPr/>
          <p:nvPr/>
        </p:nvSpPr>
        <p:spPr>
          <a:xfrm>
            <a:off x="5166747" y="5949280"/>
            <a:ext cx="1368152" cy="14401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CF1AB37-E763-473F-8AE3-6A1F211BB719}"/>
              </a:ext>
            </a:extLst>
          </p:cNvPr>
          <p:cNvSpPr/>
          <p:nvPr/>
        </p:nvSpPr>
        <p:spPr>
          <a:xfrm>
            <a:off x="5238755" y="4504928"/>
            <a:ext cx="2808312" cy="29222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7F8D596-5799-464F-AEB2-F869826408A6}"/>
              </a:ext>
            </a:extLst>
          </p:cNvPr>
          <p:cNvSpPr/>
          <p:nvPr/>
        </p:nvSpPr>
        <p:spPr>
          <a:xfrm>
            <a:off x="661672" y="5229200"/>
            <a:ext cx="1374607" cy="31713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0CB7832-8FA1-473C-A597-42878EADA7AB}"/>
              </a:ext>
            </a:extLst>
          </p:cNvPr>
          <p:cNvSpPr/>
          <p:nvPr/>
        </p:nvSpPr>
        <p:spPr>
          <a:xfrm>
            <a:off x="661672" y="4657750"/>
            <a:ext cx="1374607" cy="31713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70576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3BC8BD2F-7848-4754-9038-7544DCFEC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파이선 설치 확인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A11183-62B2-4BA7-ABEC-742F240BA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B0A437D-87FF-4C43-ABF8-5180130830C6}"/>
              </a:ext>
            </a:extLst>
          </p:cNvPr>
          <p:cNvSpPr/>
          <p:nvPr/>
        </p:nvSpPr>
        <p:spPr>
          <a:xfrm>
            <a:off x="827584" y="1628800"/>
            <a:ext cx="7272808" cy="116955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/>
              <a:t>C:\&gt;python</a:t>
            </a:r>
          </a:p>
          <a:p>
            <a:r>
              <a:rPr lang="en-US" altLang="ko-KR" sz="1400"/>
              <a:t>Python 3.11.1 (tags/v3.11.1:a7a450f, Dec 6 2022, 19:58:39) [MSC v.1934 64 bit (AMD64)] on win32</a:t>
            </a:r>
          </a:p>
          <a:p>
            <a:r>
              <a:rPr lang="en-US" altLang="ko-KR" sz="1400"/>
              <a:t>Type "help", "copyright", "credits" or "license()" for more information.</a:t>
            </a:r>
          </a:p>
          <a:p>
            <a:r>
              <a:rPr lang="en-US" altLang="ko-KR" sz="1400"/>
              <a:t>&gt;&gt;&gt;</a:t>
            </a:r>
          </a:p>
        </p:txBody>
      </p:sp>
      <p:sp>
        <p:nvSpPr>
          <p:cNvPr id="3" name="말풍선: 모서리가 둥근 사각형 2">
            <a:extLst>
              <a:ext uri="{FF2B5EF4-FFF2-40B4-BE49-F238E27FC236}">
                <a16:creationId xmlns:a16="http://schemas.microsoft.com/office/drawing/2014/main" id="{FD642B69-9DC7-4ABC-8AB7-C59A6E782F40}"/>
              </a:ext>
            </a:extLst>
          </p:cNvPr>
          <p:cNvSpPr/>
          <p:nvPr/>
        </p:nvSpPr>
        <p:spPr>
          <a:xfrm>
            <a:off x="1475656" y="2708920"/>
            <a:ext cx="3168352" cy="486633"/>
          </a:xfrm>
          <a:prstGeom prst="wedgeRoundRectCallout">
            <a:avLst>
              <a:gd name="adj1" fmla="val -55358"/>
              <a:gd name="adj2" fmla="val -5092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200">
                <a:solidFill>
                  <a:schemeClr val="tx1"/>
                </a:solidFill>
              </a:rPr>
              <a:t>실행을 종료하려면 </a:t>
            </a:r>
            <a:r>
              <a:rPr lang="en-US" altLang="ko-KR" sz="1200">
                <a:solidFill>
                  <a:schemeClr val="tx1"/>
                </a:solidFill>
              </a:rPr>
              <a:t>[Ctrl+Z] </a:t>
            </a:r>
            <a:r>
              <a:rPr lang="ko-KR" altLang="en-US" sz="1200">
                <a:solidFill>
                  <a:schemeClr val="tx1"/>
                </a:solidFill>
              </a:rPr>
              <a:t>키를 입력하고 </a:t>
            </a:r>
            <a:endParaRPr lang="en-US" altLang="ko-KR" sz="1200">
              <a:solidFill>
                <a:schemeClr val="tx1"/>
              </a:solidFill>
            </a:endParaRPr>
          </a:p>
          <a:p>
            <a:pPr algn="just"/>
            <a:r>
              <a:rPr lang="ko-KR" altLang="en-US" sz="1200">
                <a:solidFill>
                  <a:schemeClr val="tx1"/>
                </a:solidFill>
              </a:rPr>
              <a:t>다시 엔터키를 입력하면 된다</a:t>
            </a:r>
            <a:r>
              <a:rPr lang="en-US" altLang="ko-KR" sz="1200">
                <a:solidFill>
                  <a:schemeClr val="tx1"/>
                </a:solidFill>
              </a:rPr>
              <a:t>.</a:t>
            </a:r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6843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CF75CD-1B9D-4E47-996D-A15D100DC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paho-mqtt</a:t>
            </a:r>
            <a:r>
              <a:rPr lang="ko-KR" altLang="en-US"/>
              <a:t> 라이브러리 설치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37EDD7-D455-47A2-8132-5CBE620F649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paho-mqtt </a:t>
            </a:r>
            <a:r>
              <a:rPr lang="ko-KR" altLang="en-US"/>
              <a:t>라이브러리</a:t>
            </a:r>
            <a:endParaRPr lang="en-US" altLang="ko-KR"/>
          </a:p>
          <a:p>
            <a:pPr lvl="1"/>
            <a:r>
              <a:rPr lang="en-US" altLang="ko-KR"/>
              <a:t>MQTT</a:t>
            </a:r>
            <a:r>
              <a:rPr lang="ko-KR" altLang="en-US"/>
              <a:t> 클라이언트를 작성할 때 필요한 라이브러리</a:t>
            </a:r>
            <a:endParaRPr lang="en-US" altLang="ko-KR"/>
          </a:p>
          <a:p>
            <a:r>
              <a:rPr lang="ko-KR" altLang="en-US"/>
              <a:t>설치</a:t>
            </a:r>
            <a:endParaRPr lang="en-US" altLang="ko-KR"/>
          </a:p>
          <a:p>
            <a:pPr lvl="1"/>
            <a:r>
              <a:rPr lang="en-US" altLang="ko-KR" b="1"/>
              <a:t>C:\&gt;pip install paho-mqtt</a:t>
            </a:r>
          </a:p>
          <a:p>
            <a:pPr lvl="1"/>
            <a:r>
              <a:rPr lang="ko-KR" altLang="en-US"/>
              <a:t>설치 확인</a:t>
            </a:r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7C7C39E-FD3D-4CAF-8864-1EDF484FF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2A36F2-DF5A-4EEF-8A7D-332AD98EB3C0}"/>
              </a:ext>
            </a:extLst>
          </p:cNvPr>
          <p:cNvSpPr/>
          <p:nvPr/>
        </p:nvSpPr>
        <p:spPr>
          <a:xfrm>
            <a:off x="1403648" y="3429000"/>
            <a:ext cx="6480720" cy="1384995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/>
              <a:t>C:\&gt;python</a:t>
            </a:r>
          </a:p>
          <a:p>
            <a:r>
              <a:rPr lang="en-US" altLang="ko-KR" sz="1400"/>
              <a:t>Python 3.11.1 (tags/v3.11.1:a7a450f, Dec 6 2022, 19:58:39) [MSC v.1934 64 bit (AMD64)] on win32</a:t>
            </a:r>
          </a:p>
          <a:p>
            <a:r>
              <a:rPr lang="en-US" altLang="ko-KR" sz="1400"/>
              <a:t>Type "help", "copyright", "credits" or "license()" for more information.</a:t>
            </a:r>
          </a:p>
          <a:p>
            <a:r>
              <a:rPr lang="en-US" altLang="ko-KR" sz="1400"/>
              <a:t>&gt;&gt;&gt; </a:t>
            </a:r>
            <a:r>
              <a:rPr lang="en-US" altLang="ko-KR" sz="1400" b="1"/>
              <a:t>import paho.mqtt</a:t>
            </a:r>
          </a:p>
          <a:p>
            <a:r>
              <a:rPr lang="en-US" altLang="ko-KR" sz="1400"/>
              <a:t>&gt;&gt;&gt;</a:t>
            </a:r>
          </a:p>
        </p:txBody>
      </p: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B3A95490-2361-40DD-BD53-448B2CA066E0}"/>
              </a:ext>
            </a:extLst>
          </p:cNvPr>
          <p:cNvSpPr/>
          <p:nvPr/>
        </p:nvSpPr>
        <p:spPr>
          <a:xfrm>
            <a:off x="4211960" y="4437112"/>
            <a:ext cx="2376264" cy="541006"/>
          </a:xfrm>
          <a:prstGeom prst="wedgeRoundRectCallout">
            <a:avLst>
              <a:gd name="adj1" fmla="val -81526"/>
              <a:gd name="adj2" fmla="val -41754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ko-KR" sz="1200">
                <a:solidFill>
                  <a:schemeClr val="tx1"/>
                </a:solidFill>
              </a:rPr>
              <a:t>import paho.mqtt </a:t>
            </a:r>
            <a:r>
              <a:rPr lang="ko-KR" altLang="en-US" sz="1200">
                <a:solidFill>
                  <a:schemeClr val="tx1"/>
                </a:solidFill>
              </a:rPr>
              <a:t>명령 입력 후 오류가 발생하지 않으면 설치 성공</a:t>
            </a:r>
          </a:p>
        </p:txBody>
      </p:sp>
    </p:spTree>
    <p:extLst>
      <p:ext uri="{BB962C8B-B14F-4D97-AF65-F5344CB8AC3E}">
        <p14:creationId xmlns:p14="http://schemas.microsoft.com/office/powerpoint/2010/main" val="20713706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예제 </a:t>
            </a:r>
            <a:r>
              <a:rPr lang="en-US" altLang="ko-KR"/>
              <a:t>7-2 </a:t>
            </a:r>
            <a:r>
              <a:rPr lang="ko-KR" altLang="en-US"/>
              <a:t>라즈베리파이에서 온도 값 보내고 윈도우에서 수신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602455" y="1427596"/>
            <a:ext cx="78579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4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라즈베리파이에서 사용자로부터 온도 값을 입력받아 브로커로 전송하고</a:t>
            </a:r>
            <a:r>
              <a:rPr lang="en-US" altLang="ko-KR"/>
              <a:t>,  </a:t>
            </a:r>
            <a:r>
              <a:rPr lang="ko-KR" altLang="en-US"/>
              <a:t>윈도우로 이를 수신하여 출력하는 </a:t>
            </a:r>
            <a:r>
              <a:rPr lang="en-US" altLang="ko-KR"/>
              <a:t>MQTT </a:t>
            </a:r>
            <a:r>
              <a:rPr lang="ko-KR" altLang="en-US"/>
              <a:t>응용 시스템을 만들어 보자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/>
                </a:solidFill>
              </a:rPr>
              <a:t>토픽 </a:t>
            </a:r>
            <a:r>
              <a:rPr lang="en-US" altLang="ko-KR">
                <a:solidFill>
                  <a:schemeClr val="tx1"/>
                </a:solidFill>
              </a:rPr>
              <a:t>: "room/temp"</a:t>
            </a:r>
            <a:endParaRPr lang="ko-KR" alt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/>
                </a:solidFill>
              </a:rPr>
              <a:t>메시지 </a:t>
            </a:r>
            <a:r>
              <a:rPr lang="en-US" altLang="ko-KR">
                <a:solidFill>
                  <a:schemeClr val="tx1"/>
                </a:solidFill>
              </a:rPr>
              <a:t>: </a:t>
            </a:r>
            <a:r>
              <a:rPr lang="ko-KR" altLang="en-US">
                <a:solidFill>
                  <a:schemeClr val="tx1"/>
                </a:solidFill>
              </a:rPr>
              <a:t>온도</a:t>
            </a:r>
            <a:r>
              <a:rPr lang="en-US" altLang="ko-KR">
                <a:solidFill>
                  <a:schemeClr val="tx1"/>
                </a:solidFill>
              </a:rPr>
              <a:t>. </a:t>
            </a:r>
            <a:r>
              <a:rPr lang="ko-KR" altLang="en-US">
                <a:solidFill>
                  <a:schemeClr val="tx1"/>
                </a:solidFill>
              </a:rPr>
              <a:t>정수로 전송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/>
                </a:solidFill>
              </a:rPr>
              <a:t>mosquitto </a:t>
            </a:r>
            <a:r>
              <a:rPr lang="ko-KR" altLang="en-US">
                <a:solidFill>
                  <a:schemeClr val="tx1"/>
                </a:solidFill>
              </a:rPr>
              <a:t>브로커 </a:t>
            </a:r>
            <a:r>
              <a:rPr lang="en-US" altLang="ko-KR">
                <a:solidFill>
                  <a:schemeClr val="tx1"/>
                </a:solidFill>
              </a:rPr>
              <a:t>: </a:t>
            </a:r>
            <a:r>
              <a:rPr lang="ko-KR" altLang="en-US">
                <a:solidFill>
                  <a:schemeClr val="tx1"/>
                </a:solidFill>
              </a:rPr>
              <a:t>라즈베리파이에서 실행</a:t>
            </a:r>
            <a:r>
              <a:rPr lang="en-US" altLang="ko-KR">
                <a:solidFill>
                  <a:schemeClr val="tx1"/>
                </a:solidFill>
              </a:rPr>
              <a:t>. 1883 </a:t>
            </a:r>
            <a:r>
              <a:rPr lang="ko-KR" altLang="en-US">
                <a:solidFill>
                  <a:schemeClr val="tx1"/>
                </a:solidFill>
              </a:rPr>
              <a:t>포트 이용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/>
                </a:solidFill>
              </a:rPr>
              <a:t>publisher : </a:t>
            </a:r>
            <a:r>
              <a:rPr lang="ko-KR" altLang="en-US">
                <a:solidFill>
                  <a:schemeClr val="tx1"/>
                </a:solidFill>
              </a:rPr>
              <a:t>라즈베리파이에서 실행</a:t>
            </a:r>
            <a:r>
              <a:rPr lang="en-US" altLang="ko-KR">
                <a:solidFill>
                  <a:schemeClr val="tx1"/>
                </a:solidFill>
              </a:rPr>
              <a:t>. </a:t>
            </a:r>
            <a:r>
              <a:rPr lang="ko-KR" altLang="en-US">
                <a:solidFill>
                  <a:schemeClr val="tx1"/>
                </a:solidFill>
              </a:rPr>
              <a:t>사용자로부터 온도를 입력받아 전송</a:t>
            </a:r>
            <a:r>
              <a:rPr lang="en-US" altLang="ko-KR">
                <a:solidFill>
                  <a:schemeClr val="tx1"/>
                </a:solidFill>
              </a:rPr>
              <a:t>. 7-2pi.py</a:t>
            </a:r>
            <a:endParaRPr lang="ko-KR" alt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/>
                </a:solidFill>
              </a:rPr>
              <a:t>subscriber : </a:t>
            </a:r>
            <a:r>
              <a:rPr lang="ko-KR" altLang="en-US">
                <a:solidFill>
                  <a:schemeClr val="tx1"/>
                </a:solidFill>
              </a:rPr>
              <a:t>윈도우에서 실행되며</a:t>
            </a:r>
            <a:r>
              <a:rPr lang="en-US" altLang="ko-KR">
                <a:solidFill>
                  <a:schemeClr val="tx1"/>
                </a:solidFill>
              </a:rPr>
              <a:t>, </a:t>
            </a:r>
            <a:r>
              <a:rPr lang="ko-KR" altLang="en-US">
                <a:solidFill>
                  <a:schemeClr val="tx1"/>
                </a:solidFill>
              </a:rPr>
              <a:t>온도를 수신하여 화면에 출력</a:t>
            </a:r>
            <a:r>
              <a:rPr lang="en-US" altLang="ko-KR">
                <a:solidFill>
                  <a:schemeClr val="tx1"/>
                </a:solidFill>
              </a:rPr>
              <a:t>. 7-2win.py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4274" y="6198513"/>
            <a:ext cx="30616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solidFill>
                  <a:srgbClr val="0070C0"/>
                </a:solidFill>
              </a:rPr>
              <a:t>* </a:t>
            </a:r>
            <a:r>
              <a:rPr lang="ko-KR" altLang="en-US" sz="1100">
                <a:solidFill>
                  <a:srgbClr val="0070C0"/>
                </a:solidFill>
              </a:rPr>
              <a:t>라즈베리파이에서 실행되는 </a:t>
            </a:r>
            <a:r>
              <a:rPr lang="en-US" altLang="ko-KR" sz="1100">
                <a:solidFill>
                  <a:srgbClr val="0070C0"/>
                </a:solidFill>
              </a:rPr>
              <a:t>7-2pi.py</a:t>
            </a:r>
            <a:r>
              <a:rPr lang="ko-KR" altLang="en-US" sz="1100">
                <a:solidFill>
                  <a:srgbClr val="0070C0"/>
                </a:solidFill>
              </a:rPr>
              <a:t>는 </a:t>
            </a:r>
            <a:endParaRPr lang="en-US" altLang="ko-KR" sz="1100">
              <a:solidFill>
                <a:srgbClr val="0070C0"/>
              </a:solidFill>
            </a:endParaRPr>
          </a:p>
          <a:p>
            <a:r>
              <a:rPr lang="en-US" altLang="ko-KR" sz="1100">
                <a:solidFill>
                  <a:srgbClr val="0070C0"/>
                </a:solidFill>
              </a:rPr>
              <a:t>pi </a:t>
            </a:r>
            <a:r>
              <a:rPr lang="ko-KR" altLang="en-US" sz="1100">
                <a:solidFill>
                  <a:srgbClr val="0070C0"/>
                </a:solidFill>
              </a:rPr>
              <a:t>디렉터리의 </a:t>
            </a:r>
            <a:r>
              <a:rPr lang="en-US" altLang="ko-KR" sz="1100">
                <a:solidFill>
                  <a:srgbClr val="0070C0"/>
                </a:solidFill>
              </a:rPr>
              <a:t>ch07 </a:t>
            </a:r>
            <a:r>
              <a:rPr lang="ko-KR" altLang="en-US" sz="1100">
                <a:solidFill>
                  <a:srgbClr val="0070C0"/>
                </a:solidFill>
              </a:rPr>
              <a:t>디렉터리에 저장</a:t>
            </a:r>
            <a:r>
              <a:rPr lang="en-US" altLang="ko-KR" sz="1100">
                <a:solidFill>
                  <a:srgbClr val="0070C0"/>
                </a:solidFill>
              </a:rPr>
              <a:t>)</a:t>
            </a:r>
            <a:endParaRPr lang="ko-KR" altLang="en-US" sz="1100">
              <a:solidFill>
                <a:srgbClr val="0070C0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32D3A56-8396-43A8-8D12-AF8F81343887}"/>
              </a:ext>
            </a:extLst>
          </p:cNvPr>
          <p:cNvGrpSpPr/>
          <p:nvPr/>
        </p:nvGrpSpPr>
        <p:grpSpPr>
          <a:xfrm>
            <a:off x="272309" y="3356992"/>
            <a:ext cx="8836195" cy="2382948"/>
            <a:chOff x="449576" y="1874961"/>
            <a:chExt cx="8836195" cy="2382948"/>
          </a:xfrm>
        </p:grpSpPr>
        <p:sp>
          <p:nvSpPr>
            <p:cNvPr id="8" name="모서리가 둥근 직사각형 5">
              <a:extLst>
                <a:ext uri="{FF2B5EF4-FFF2-40B4-BE49-F238E27FC236}">
                  <a16:creationId xmlns:a16="http://schemas.microsoft.com/office/drawing/2014/main" id="{66ECCF51-182D-4636-83D9-769954F2FE60}"/>
                </a:ext>
              </a:extLst>
            </p:cNvPr>
            <p:cNvSpPr/>
            <p:nvPr/>
          </p:nvSpPr>
          <p:spPr>
            <a:xfrm>
              <a:off x="683568" y="2161507"/>
              <a:ext cx="4015055" cy="1681982"/>
            </a:xfrm>
            <a:prstGeom prst="roundRect">
              <a:avLst>
                <a:gd name="adj" fmla="val 6616"/>
              </a:avLst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1DD9D8C8-607A-4CE2-8578-569F238A8E3B}"/>
                </a:ext>
              </a:extLst>
            </p:cNvPr>
            <p:cNvSpPr/>
            <p:nvPr/>
          </p:nvSpPr>
          <p:spPr>
            <a:xfrm>
              <a:off x="3160488" y="2492896"/>
              <a:ext cx="1109836" cy="1008112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err="1">
                  <a:solidFill>
                    <a:schemeClr val="tx1"/>
                  </a:solidFill>
                </a:rPr>
                <a:t>Mosquitto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" name="모서리가 둥근 직사각형 8">
              <a:extLst>
                <a:ext uri="{FF2B5EF4-FFF2-40B4-BE49-F238E27FC236}">
                  <a16:creationId xmlns:a16="http://schemas.microsoft.com/office/drawing/2014/main" id="{616AB397-E95D-410B-90AC-7B6E06D10F7C}"/>
                </a:ext>
              </a:extLst>
            </p:cNvPr>
            <p:cNvSpPr/>
            <p:nvPr/>
          </p:nvSpPr>
          <p:spPr>
            <a:xfrm>
              <a:off x="947206" y="2744924"/>
              <a:ext cx="1068127" cy="50405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400">
                  <a:solidFill>
                    <a:schemeClr val="tx1"/>
                  </a:solidFill>
                </a:rPr>
                <a:t>7-2pi.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py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1" name="TextBox 13">
              <a:extLst>
                <a:ext uri="{FF2B5EF4-FFF2-40B4-BE49-F238E27FC236}">
                  <a16:creationId xmlns:a16="http://schemas.microsoft.com/office/drawing/2014/main" id="{123F764A-DD87-4DEA-952D-593AF53F277D}"/>
                </a:ext>
              </a:extLst>
            </p:cNvPr>
            <p:cNvSpPr txBox="1"/>
            <p:nvPr/>
          </p:nvSpPr>
          <p:spPr>
            <a:xfrm>
              <a:off x="2022469" y="2967054"/>
              <a:ext cx="1404552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050" dirty="0">
                  <a:solidFill>
                    <a:srgbClr val="0070C0"/>
                  </a:solidFill>
                </a:rPr>
                <a:t>publish</a:t>
              </a:r>
            </a:p>
            <a:p>
              <a:r>
                <a:rPr lang="en-US" altLang="ko-KR" sz="1050" dirty="0">
                  <a:solidFill>
                    <a:srgbClr val="0070C0"/>
                  </a:solidFill>
                </a:rPr>
                <a:t>(</a:t>
              </a:r>
              <a:r>
                <a:rPr lang="ko-KR" altLang="en-US" sz="1050">
                  <a:solidFill>
                    <a:srgbClr val="0070C0"/>
                  </a:solidFill>
                </a:rPr>
                <a:t>토픽</a:t>
              </a:r>
              <a:r>
                <a:rPr lang="en-US" altLang="ko-KR" sz="1050">
                  <a:solidFill>
                    <a:srgbClr val="0070C0"/>
                  </a:solidFill>
                </a:rPr>
                <a:t>: "room/temp",</a:t>
              </a:r>
              <a:endParaRPr lang="en-US" altLang="ko-KR" sz="1050" dirty="0">
                <a:solidFill>
                  <a:srgbClr val="0070C0"/>
                </a:solidFill>
              </a:endParaRPr>
            </a:p>
            <a:p>
              <a:r>
                <a:rPr lang="ko-KR" altLang="en-US" sz="1050">
                  <a:solidFill>
                    <a:srgbClr val="0070C0"/>
                  </a:solidFill>
                </a:rPr>
                <a:t>메시지</a:t>
              </a:r>
              <a:r>
                <a:rPr lang="en-US" altLang="ko-KR" sz="1050">
                  <a:solidFill>
                    <a:srgbClr val="0070C0"/>
                  </a:solidFill>
                </a:rPr>
                <a:t>: </a:t>
              </a:r>
              <a:r>
                <a:rPr lang="ko-KR" altLang="en-US" sz="1050">
                  <a:solidFill>
                    <a:srgbClr val="0070C0"/>
                  </a:solidFill>
                </a:rPr>
                <a:t>온도 정수</a:t>
              </a:r>
              <a:r>
                <a:rPr lang="en-US" altLang="ko-KR" sz="1050">
                  <a:solidFill>
                    <a:srgbClr val="0070C0"/>
                  </a:solidFill>
                </a:rPr>
                <a:t>)</a:t>
              </a:r>
              <a:endParaRPr lang="ko-KR" altLang="en-US" sz="1050" dirty="0">
                <a:solidFill>
                  <a:srgbClr val="0070C0"/>
                </a:solidFill>
              </a:endParaRPr>
            </a:p>
          </p:txBody>
        </p:sp>
        <p:sp>
          <p:nvSpPr>
            <p:cNvPr id="13" name="TextBox 14">
              <a:extLst>
                <a:ext uri="{FF2B5EF4-FFF2-40B4-BE49-F238E27FC236}">
                  <a16:creationId xmlns:a16="http://schemas.microsoft.com/office/drawing/2014/main" id="{904D793A-AB46-4668-993E-9D1956E91DF5}"/>
                </a:ext>
              </a:extLst>
            </p:cNvPr>
            <p:cNvSpPr txBox="1"/>
            <p:nvPr/>
          </p:nvSpPr>
          <p:spPr>
            <a:xfrm>
              <a:off x="4178061" y="2524440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>
                  <a:solidFill>
                    <a:srgbClr val="C00000"/>
                  </a:solidFill>
                </a:rPr>
                <a:t>1883</a:t>
              </a:r>
            </a:p>
            <a:p>
              <a:r>
                <a:rPr lang="ko-KR" altLang="en-US" sz="1200">
                  <a:solidFill>
                    <a:srgbClr val="C00000"/>
                  </a:solidFill>
                </a:rPr>
                <a:t>포트</a:t>
              </a:r>
              <a:endParaRPr lang="ko-KR" altLang="en-US" sz="1200" dirty="0">
                <a:solidFill>
                  <a:srgbClr val="C00000"/>
                </a:solidFill>
              </a:endParaRPr>
            </a:p>
          </p:txBody>
        </p:sp>
        <p:sp>
          <p:nvSpPr>
            <p:cNvPr id="14" name="모서리가 둥근 직사각형 29">
              <a:extLst>
                <a:ext uri="{FF2B5EF4-FFF2-40B4-BE49-F238E27FC236}">
                  <a16:creationId xmlns:a16="http://schemas.microsoft.com/office/drawing/2014/main" id="{5734ACDD-A0B7-4092-8BA4-DFC4973DBB5D}"/>
                </a:ext>
              </a:extLst>
            </p:cNvPr>
            <p:cNvSpPr/>
            <p:nvPr/>
          </p:nvSpPr>
          <p:spPr>
            <a:xfrm>
              <a:off x="5255219" y="2179494"/>
              <a:ext cx="2269109" cy="1663995"/>
            </a:xfrm>
            <a:prstGeom prst="roundRect">
              <a:avLst>
                <a:gd name="adj" fmla="val 6386"/>
              </a:avLst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5" name="TextBox 16">
              <a:extLst>
                <a:ext uri="{FF2B5EF4-FFF2-40B4-BE49-F238E27FC236}">
                  <a16:creationId xmlns:a16="http://schemas.microsoft.com/office/drawing/2014/main" id="{E34E2F46-59C9-4F8A-B423-6398801DE27B}"/>
                </a:ext>
              </a:extLst>
            </p:cNvPr>
            <p:cNvSpPr txBox="1"/>
            <p:nvPr/>
          </p:nvSpPr>
          <p:spPr>
            <a:xfrm>
              <a:off x="2015333" y="1874961"/>
              <a:ext cx="12618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400" b="1" dirty="0" err="1"/>
                <a:t>라즈베리파이</a:t>
              </a:r>
              <a:endParaRPr lang="ko-KR" altLang="en-US" sz="1400" b="1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04912C0-087E-4642-8768-6830920FE523}"/>
                </a:ext>
              </a:extLst>
            </p:cNvPr>
            <p:cNvSpPr/>
            <p:nvPr/>
          </p:nvSpPr>
          <p:spPr>
            <a:xfrm>
              <a:off x="5868144" y="2554084"/>
              <a:ext cx="1244315" cy="7076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400">
                  <a:solidFill>
                    <a:schemeClr val="tx1"/>
                  </a:solidFill>
                </a:rPr>
                <a:t>7-2win.py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7" name="TextBox 20">
              <a:extLst>
                <a:ext uri="{FF2B5EF4-FFF2-40B4-BE49-F238E27FC236}">
                  <a16:creationId xmlns:a16="http://schemas.microsoft.com/office/drawing/2014/main" id="{7B110073-A986-46B7-A2D1-3CE25D9BB195}"/>
                </a:ext>
              </a:extLst>
            </p:cNvPr>
            <p:cNvSpPr txBox="1"/>
            <p:nvPr/>
          </p:nvSpPr>
          <p:spPr>
            <a:xfrm>
              <a:off x="2748478" y="2530039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>
                  <a:solidFill>
                    <a:srgbClr val="C00000"/>
                  </a:solidFill>
                </a:rPr>
                <a:t>1883</a:t>
              </a:r>
            </a:p>
            <a:p>
              <a:r>
                <a:rPr lang="ko-KR" altLang="en-US" sz="1200">
                  <a:solidFill>
                    <a:srgbClr val="C00000"/>
                  </a:solidFill>
                </a:rPr>
                <a:t>포트</a:t>
              </a:r>
              <a:endParaRPr lang="ko-KR" altLang="en-US" sz="1200" dirty="0">
                <a:solidFill>
                  <a:srgbClr val="C00000"/>
                </a:solidFill>
              </a:endParaRPr>
            </a:p>
          </p:txBody>
        </p:sp>
        <p:sp>
          <p:nvSpPr>
            <p:cNvPr id="18" name="TextBox 21">
              <a:extLst>
                <a:ext uri="{FF2B5EF4-FFF2-40B4-BE49-F238E27FC236}">
                  <a16:creationId xmlns:a16="http://schemas.microsoft.com/office/drawing/2014/main" id="{D00412C4-1BA8-4786-A1D2-A5120EB535EE}"/>
                </a:ext>
              </a:extLst>
            </p:cNvPr>
            <p:cNvSpPr txBox="1"/>
            <p:nvPr/>
          </p:nvSpPr>
          <p:spPr>
            <a:xfrm>
              <a:off x="449576" y="3996299"/>
              <a:ext cx="206338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100"/>
                <a:t>사용자로부터 온도</a:t>
              </a:r>
              <a:r>
                <a:rPr lang="en-US" altLang="ko-KR" sz="1100"/>
                <a:t>(</a:t>
              </a:r>
              <a:r>
                <a:rPr lang="ko-KR" altLang="en-US" sz="1100"/>
                <a:t>정수</a:t>
              </a:r>
              <a:r>
                <a:rPr lang="en-US" altLang="ko-KR" sz="1100"/>
                <a:t>) </a:t>
              </a:r>
              <a:r>
                <a:rPr lang="ko-KR" altLang="en-US" sz="1100"/>
                <a:t>입력</a:t>
              </a:r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9283F45B-B8B2-46BC-ACE0-83CF6F32D83D}"/>
                </a:ext>
              </a:extLst>
            </p:cNvPr>
            <p:cNvCxnSpPr>
              <a:stCxn id="18" idx="0"/>
              <a:endCxn id="10" idx="2"/>
            </p:cNvCxnSpPr>
            <p:nvPr/>
          </p:nvCxnSpPr>
          <p:spPr>
            <a:xfrm flipV="1">
              <a:off x="1481269" y="3248980"/>
              <a:ext cx="1" cy="747319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23">
              <a:extLst>
                <a:ext uri="{FF2B5EF4-FFF2-40B4-BE49-F238E27FC236}">
                  <a16:creationId xmlns:a16="http://schemas.microsoft.com/office/drawing/2014/main" id="{17A4C413-515E-43F3-89D4-66DB3C94CDA5}"/>
                </a:ext>
              </a:extLst>
            </p:cNvPr>
            <p:cNvSpPr txBox="1"/>
            <p:nvPr/>
          </p:nvSpPr>
          <p:spPr>
            <a:xfrm rot="210907">
              <a:off x="4552216" y="3093100"/>
              <a:ext cx="122341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050">
                  <a:solidFill>
                    <a:srgbClr val="0070C0"/>
                  </a:solidFill>
                </a:rPr>
                <a:t>7-2pi.py</a:t>
              </a:r>
              <a:r>
                <a:rPr lang="ko-KR" altLang="en-US" sz="1050">
                  <a:solidFill>
                    <a:srgbClr val="0070C0"/>
                  </a:solidFill>
                </a:rPr>
                <a:t>가 </a:t>
              </a:r>
              <a:endParaRPr lang="en-US" altLang="ko-KR" sz="1050">
                <a:solidFill>
                  <a:srgbClr val="0070C0"/>
                </a:solidFill>
              </a:endParaRPr>
            </a:p>
            <a:p>
              <a:r>
                <a:rPr lang="ko-KR" altLang="en-US" sz="1050">
                  <a:solidFill>
                    <a:srgbClr val="0070C0"/>
                  </a:solidFill>
                </a:rPr>
                <a:t>보낸 온도 데이터</a:t>
              </a:r>
              <a:endParaRPr lang="ko-KR" altLang="en-US" sz="1050" dirty="0">
                <a:solidFill>
                  <a:srgbClr val="0070C0"/>
                </a:solidFill>
              </a:endParaRPr>
            </a:p>
          </p:txBody>
        </p:sp>
        <p:sp>
          <p:nvSpPr>
            <p:cNvPr id="21" name="TextBox 25">
              <a:extLst>
                <a:ext uri="{FF2B5EF4-FFF2-40B4-BE49-F238E27FC236}">
                  <a16:creationId xmlns:a16="http://schemas.microsoft.com/office/drawing/2014/main" id="{162E7FE3-EEB2-4D0C-9A24-6F1062E0B794}"/>
                </a:ext>
              </a:extLst>
            </p:cNvPr>
            <p:cNvSpPr txBox="1"/>
            <p:nvPr/>
          </p:nvSpPr>
          <p:spPr>
            <a:xfrm>
              <a:off x="6128544" y="1900873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400" b="1"/>
                <a:t>노트북</a:t>
              </a:r>
              <a:endParaRPr lang="ko-KR" altLang="en-US" sz="1400" b="1" dirty="0"/>
            </a:p>
          </p:txBody>
        </p:sp>
        <p:sp>
          <p:nvSpPr>
            <p:cNvPr id="22" name="TextBox 26">
              <a:extLst>
                <a:ext uri="{FF2B5EF4-FFF2-40B4-BE49-F238E27FC236}">
                  <a16:creationId xmlns:a16="http://schemas.microsoft.com/office/drawing/2014/main" id="{9A5A84CA-0E0E-47FD-8401-8674391E194A}"/>
                </a:ext>
              </a:extLst>
            </p:cNvPr>
            <p:cNvSpPr txBox="1"/>
            <p:nvPr/>
          </p:nvSpPr>
          <p:spPr>
            <a:xfrm rot="21116835">
              <a:off x="4760240" y="2404815"/>
              <a:ext cx="8418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>
                  <a:solidFill>
                    <a:srgbClr val="C00000"/>
                  </a:solidFill>
                </a:rPr>
                <a:t>connect/</a:t>
              </a:r>
            </a:p>
            <a:p>
              <a:r>
                <a:rPr lang="en-US" altLang="ko-KR" sz="1200">
                  <a:solidFill>
                    <a:srgbClr val="C00000"/>
                  </a:solidFill>
                </a:rPr>
                <a:t>subscribe</a:t>
              </a:r>
              <a:endParaRPr lang="ko-KR" altLang="en-US" sz="1200" dirty="0">
                <a:solidFill>
                  <a:srgbClr val="C00000"/>
                </a:solidFill>
              </a:endParaRPr>
            </a:p>
          </p:txBody>
        </p:sp>
        <p:sp>
          <p:nvSpPr>
            <p:cNvPr id="23" name="순서도: 자기 디스크 22">
              <a:extLst>
                <a:ext uri="{FF2B5EF4-FFF2-40B4-BE49-F238E27FC236}">
                  <a16:creationId xmlns:a16="http://schemas.microsoft.com/office/drawing/2014/main" id="{F658118F-C799-4350-BBC1-9C5264A58336}"/>
                </a:ext>
              </a:extLst>
            </p:cNvPr>
            <p:cNvSpPr/>
            <p:nvPr/>
          </p:nvSpPr>
          <p:spPr>
            <a:xfrm>
              <a:off x="7725384" y="2554084"/>
              <a:ext cx="1043410" cy="1236862"/>
            </a:xfrm>
            <a:prstGeom prst="flowChartMagneticDisk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BF5E40A-8F5A-41B2-AB76-B2877D5212EF}"/>
                </a:ext>
              </a:extLst>
            </p:cNvPr>
            <p:cNvSpPr/>
            <p:nvPr/>
          </p:nvSpPr>
          <p:spPr>
            <a:xfrm>
              <a:off x="7828727" y="3023850"/>
              <a:ext cx="861133" cy="27699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/>
                <a:t>7-2win.py</a:t>
              </a:r>
              <a:endParaRPr lang="ko-KR" altLang="en-US" sz="1200"/>
            </a:p>
          </p:txBody>
        </p:sp>
        <p:cxnSp>
          <p:nvCxnSpPr>
            <p:cNvPr id="25" name="연결선: 구부러짐 24">
              <a:extLst>
                <a:ext uri="{FF2B5EF4-FFF2-40B4-BE49-F238E27FC236}">
                  <a16:creationId xmlns:a16="http://schemas.microsoft.com/office/drawing/2014/main" id="{47B87AFD-7E21-49BA-BC71-002946773257}"/>
                </a:ext>
              </a:extLst>
            </p:cNvPr>
            <p:cNvCxnSpPr>
              <a:cxnSpLocks/>
              <a:stCxn id="24" idx="1"/>
              <a:endCxn id="16" idx="3"/>
            </p:cNvCxnSpPr>
            <p:nvPr/>
          </p:nvCxnSpPr>
          <p:spPr>
            <a:xfrm rot="10800000">
              <a:off x="7112459" y="2907902"/>
              <a:ext cx="716268" cy="254448"/>
            </a:xfrm>
            <a:prstGeom prst="curvedConnector3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32">
              <a:extLst>
                <a:ext uri="{FF2B5EF4-FFF2-40B4-BE49-F238E27FC236}">
                  <a16:creationId xmlns:a16="http://schemas.microsoft.com/office/drawing/2014/main" id="{A2757474-D179-438B-9A6A-3239992C6F1C}"/>
                </a:ext>
              </a:extLst>
            </p:cNvPr>
            <p:cNvSpPr txBox="1"/>
            <p:nvPr/>
          </p:nvSpPr>
          <p:spPr>
            <a:xfrm>
              <a:off x="7612985" y="2246663"/>
              <a:ext cx="16727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200" b="1"/>
                <a:t>노트북의 하드디스크</a:t>
              </a:r>
              <a:endParaRPr lang="ko-KR" altLang="en-US" sz="1200" b="1" dirty="0"/>
            </a:p>
          </p:txBody>
        </p:sp>
        <p:sp>
          <p:nvSpPr>
            <p:cNvPr id="27" name="TextBox 33">
              <a:extLst>
                <a:ext uri="{FF2B5EF4-FFF2-40B4-BE49-F238E27FC236}">
                  <a16:creationId xmlns:a16="http://schemas.microsoft.com/office/drawing/2014/main" id="{4F706D28-8DE0-4C78-B41F-3892E67039B0}"/>
                </a:ext>
              </a:extLst>
            </p:cNvPr>
            <p:cNvSpPr txBox="1"/>
            <p:nvPr/>
          </p:nvSpPr>
          <p:spPr>
            <a:xfrm>
              <a:off x="7765269" y="3414448"/>
              <a:ext cx="1090363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50"/>
                <a:t>C:\pi\ch07</a:t>
              </a:r>
              <a:r>
                <a:rPr lang="ko-KR" altLang="en-US" sz="1050"/>
                <a:t>에 </a:t>
              </a:r>
              <a:endParaRPr lang="en-US" altLang="ko-KR" sz="1050"/>
            </a:p>
            <a:p>
              <a:pPr algn="ctr"/>
              <a:r>
                <a:rPr lang="ko-KR" altLang="en-US" sz="1050"/>
                <a:t>저장</a:t>
              </a:r>
              <a:endParaRPr lang="ko-KR" altLang="en-US" sz="1050" dirty="0"/>
            </a:p>
          </p:txBody>
        </p: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A107956F-B365-49B0-AB0B-BD5593EF382E}"/>
                </a:ext>
              </a:extLst>
            </p:cNvPr>
            <p:cNvCxnSpPr>
              <a:cxnSpLocks/>
              <a:stCxn id="10" idx="3"/>
              <a:endCxn id="9" idx="2"/>
            </p:cNvCxnSpPr>
            <p:nvPr/>
          </p:nvCxnSpPr>
          <p:spPr>
            <a:xfrm>
              <a:off x="2015333" y="2996952"/>
              <a:ext cx="1145155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281AE269-3FA7-4451-B8E7-5A050B0A4EDD}"/>
                </a:ext>
              </a:extLst>
            </p:cNvPr>
            <p:cNvCxnSpPr>
              <a:cxnSpLocks/>
              <a:stCxn id="9" idx="6"/>
            </p:cNvCxnSpPr>
            <p:nvPr/>
          </p:nvCxnSpPr>
          <p:spPr>
            <a:xfrm>
              <a:off x="4270324" y="2996952"/>
              <a:ext cx="1597820" cy="116329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ED1D20D8-4ACD-4E78-8E93-BA40D848AD42}"/>
                </a:ext>
              </a:extLst>
            </p:cNvPr>
            <p:cNvCxnSpPr>
              <a:cxnSpLocks/>
              <a:endCxn id="9" idx="6"/>
            </p:cNvCxnSpPr>
            <p:nvPr/>
          </p:nvCxnSpPr>
          <p:spPr>
            <a:xfrm flipH="1">
              <a:off x="4270324" y="2744924"/>
              <a:ext cx="1597820" cy="252028"/>
            </a:xfrm>
            <a:prstGeom prst="straightConnector1">
              <a:avLst/>
            </a:prstGeom>
            <a:ln w="28575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153925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예제 </a:t>
            </a:r>
            <a:r>
              <a:rPr lang="en-US" altLang="ko-KR"/>
              <a:t>7-2 </a:t>
            </a:r>
            <a:r>
              <a:rPr lang="ko-KR" altLang="en-US"/>
              <a:t>코드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859854" y="1922867"/>
            <a:ext cx="4172122" cy="29700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100" dirty="0"/>
              <a:t>import </a:t>
            </a:r>
            <a:r>
              <a:rPr lang="en-US" altLang="ko-KR" sz="1100" dirty="0" err="1"/>
              <a:t>paho.mqtt.client</a:t>
            </a:r>
            <a:r>
              <a:rPr lang="en-US" altLang="ko-KR" sz="1100" dirty="0"/>
              <a:t> as </a:t>
            </a:r>
            <a:r>
              <a:rPr lang="en-US" altLang="ko-KR" sz="1100" dirty="0" err="1"/>
              <a:t>mqtt</a:t>
            </a:r>
            <a:endParaRPr lang="en-US" altLang="ko-KR" sz="1100" dirty="0"/>
          </a:p>
          <a:p>
            <a:pPr defTabSz="180000" fontAlgn="base" latinLnBrk="0"/>
            <a:endParaRPr lang="en-US" altLang="ko-KR" sz="1100" dirty="0"/>
          </a:p>
          <a:p>
            <a:pPr defTabSz="180000" fontAlgn="base" latinLnBrk="0"/>
            <a:r>
              <a:rPr lang="en-US" altLang="ko-KR" sz="1100" b="1" dirty="0"/>
              <a:t>def </a:t>
            </a:r>
            <a:r>
              <a:rPr lang="en-US" altLang="ko-KR" sz="1100" b="1" dirty="0" err="1"/>
              <a:t>on_connect</a:t>
            </a:r>
            <a:r>
              <a:rPr lang="en-US" altLang="ko-KR" sz="1100" b="1" dirty="0"/>
              <a:t>(client, </a:t>
            </a:r>
            <a:r>
              <a:rPr lang="en-US" altLang="ko-KR" sz="1100" b="1" dirty="0" err="1"/>
              <a:t>userdata</a:t>
            </a:r>
            <a:r>
              <a:rPr lang="en-US" altLang="ko-KR" sz="1100" b="1" dirty="0"/>
              <a:t>, flag, </a:t>
            </a:r>
            <a:r>
              <a:rPr lang="en-US" altLang="ko-KR" sz="1100" b="1" dirty="0" err="1"/>
              <a:t>rc</a:t>
            </a:r>
            <a:r>
              <a:rPr lang="en-US" altLang="ko-KR" sz="1100" b="1" dirty="0"/>
              <a:t>, prop=None):</a:t>
            </a:r>
          </a:p>
          <a:p>
            <a:pPr defTabSz="180000" fontAlgn="base" latinLnBrk="0"/>
            <a:r>
              <a:rPr lang="en-US" altLang="ko-KR" sz="1100" dirty="0"/>
              <a:t>	print("room/temp </a:t>
            </a:r>
            <a:r>
              <a:rPr lang="ko-KR" altLang="en-US" sz="1100" dirty="0"/>
              <a:t>토픽으로 메시지 구독 신청</a:t>
            </a:r>
            <a:r>
              <a:rPr lang="en-US" altLang="ko-KR" sz="1100" dirty="0"/>
              <a:t>")</a:t>
            </a:r>
            <a:endParaRPr lang="ko-KR" altLang="en-US" sz="1100" dirty="0"/>
          </a:p>
          <a:p>
            <a:pPr defTabSz="180000" fontAlgn="base" latinLnBrk="0"/>
            <a:r>
              <a:rPr lang="ko-KR" altLang="en-US" sz="1100" dirty="0"/>
              <a:t>	</a:t>
            </a:r>
            <a:r>
              <a:rPr lang="en-US" altLang="ko-KR" sz="1100" b="1" dirty="0" err="1"/>
              <a:t>client.subscribe</a:t>
            </a:r>
            <a:r>
              <a:rPr lang="en-US" altLang="ko-KR" sz="1100" b="1" dirty="0"/>
              <a:t>("room/temp") </a:t>
            </a:r>
            <a:r>
              <a:rPr lang="en-US" altLang="ko-KR" sz="1100" dirty="0"/>
              <a:t># </a:t>
            </a:r>
            <a:r>
              <a:rPr lang="ko-KR" altLang="en-US" sz="1100" dirty="0"/>
              <a:t>메시지 구독 신청</a:t>
            </a:r>
            <a:endParaRPr lang="en-US" altLang="ko-KR" sz="1100" dirty="0"/>
          </a:p>
          <a:p>
            <a:pPr defTabSz="180000" fontAlgn="base" latinLnBrk="0"/>
            <a:endParaRPr lang="en-US" altLang="ko-KR" sz="1100" dirty="0"/>
          </a:p>
          <a:p>
            <a:pPr defTabSz="180000" fontAlgn="base" latinLnBrk="0"/>
            <a:r>
              <a:rPr lang="en-US" altLang="ko-KR" sz="1100" b="1" dirty="0"/>
              <a:t>def </a:t>
            </a:r>
            <a:r>
              <a:rPr lang="en-US" altLang="ko-KR" sz="1100" b="1" dirty="0" err="1"/>
              <a:t>on_message</a:t>
            </a:r>
            <a:r>
              <a:rPr lang="en-US" altLang="ko-KR" sz="1100" b="1" dirty="0"/>
              <a:t>(client, </a:t>
            </a:r>
            <a:r>
              <a:rPr lang="en-US" altLang="ko-KR" sz="1100" b="1" dirty="0" err="1"/>
              <a:t>userdata</a:t>
            </a:r>
            <a:r>
              <a:rPr lang="en-US" altLang="ko-KR" sz="1100" b="1" dirty="0"/>
              <a:t>, msg):</a:t>
            </a:r>
          </a:p>
          <a:p>
            <a:pPr defTabSz="180000" fontAlgn="base" latinLnBrk="0"/>
            <a:r>
              <a:rPr lang="en-US" altLang="ko-KR" sz="1100" dirty="0"/>
              <a:t>	print(</a:t>
            </a:r>
            <a:r>
              <a:rPr lang="en-US" altLang="ko-KR" sz="1100" dirty="0" err="1"/>
              <a:t>msg.topic</a:t>
            </a:r>
            <a:r>
              <a:rPr lang="en-US" altLang="ko-KR" sz="1100" dirty="0"/>
              <a:t>, end=", ") # </a:t>
            </a:r>
            <a:r>
              <a:rPr lang="ko-KR" altLang="en-US" sz="1100" dirty="0"/>
              <a:t>토픽 출력</a:t>
            </a:r>
          </a:p>
          <a:p>
            <a:pPr defTabSz="180000" fontAlgn="base" latinLnBrk="0"/>
            <a:r>
              <a:rPr lang="ko-KR" altLang="en-US" sz="1100" dirty="0"/>
              <a:t>	</a:t>
            </a:r>
            <a:r>
              <a:rPr lang="en-US" altLang="ko-KR" sz="1100" dirty="0"/>
              <a:t>print(int(</a:t>
            </a:r>
            <a:r>
              <a:rPr lang="en-US" altLang="ko-KR" sz="1100" dirty="0" err="1"/>
              <a:t>msg.payload</a:t>
            </a:r>
            <a:r>
              <a:rPr lang="en-US" altLang="ko-KR" sz="1100" dirty="0"/>
              <a:t>)) # </a:t>
            </a:r>
            <a:r>
              <a:rPr lang="ko-KR" altLang="en-US" sz="1100" dirty="0"/>
              <a:t>메시지 데이터 출력</a:t>
            </a:r>
            <a:endParaRPr lang="en-US" altLang="ko-KR" sz="1100" dirty="0"/>
          </a:p>
          <a:p>
            <a:pPr defTabSz="180000" fontAlgn="base" latinLnBrk="0"/>
            <a:endParaRPr lang="ko-KR" altLang="en-US" sz="1100" dirty="0"/>
          </a:p>
          <a:p>
            <a:pPr defTabSz="180000" fontAlgn="base" latinLnBrk="0"/>
            <a:r>
              <a:rPr lang="en-US" altLang="ko-KR" sz="1100" b="1" dirty="0" err="1"/>
              <a:t>ip</a:t>
            </a:r>
            <a:r>
              <a:rPr lang="en-US" altLang="ko-KR" sz="1100" b="1" dirty="0"/>
              <a:t> = input("</a:t>
            </a:r>
            <a:r>
              <a:rPr lang="ko-KR" altLang="en-US" sz="1100" b="1" dirty="0"/>
              <a:t>브로커의 </a:t>
            </a:r>
            <a:r>
              <a:rPr lang="en-US" altLang="ko-KR" sz="1100" b="1" dirty="0"/>
              <a:t>IP </a:t>
            </a:r>
            <a:r>
              <a:rPr lang="ko-KR" altLang="en-US" sz="1100" b="1" dirty="0"/>
              <a:t>주소</a:t>
            </a:r>
            <a:r>
              <a:rPr lang="en-US" altLang="ko-KR" sz="1100" b="1" dirty="0"/>
              <a:t>&gt;&gt;") </a:t>
            </a:r>
            <a:r>
              <a:rPr lang="en-US" altLang="ko-KR" sz="1100" dirty="0"/>
              <a:t># </a:t>
            </a:r>
            <a:r>
              <a:rPr lang="ko-KR" altLang="en-US" sz="1100" dirty="0"/>
              <a:t>브로커 </a:t>
            </a:r>
            <a:r>
              <a:rPr lang="en-US" altLang="ko-KR" sz="1100" dirty="0"/>
              <a:t>IP </a:t>
            </a:r>
            <a:r>
              <a:rPr lang="ko-KR" altLang="en-US" sz="1100" dirty="0"/>
              <a:t>주소 입력</a:t>
            </a:r>
            <a:endParaRPr lang="en-US" altLang="ko-KR" sz="1100" dirty="0"/>
          </a:p>
          <a:p>
            <a:pPr defTabSz="180000" fontAlgn="base" latinLnBrk="0"/>
            <a:endParaRPr lang="ko-KR" altLang="en-US" sz="1100" dirty="0"/>
          </a:p>
          <a:p>
            <a:pPr defTabSz="180000" fontAlgn="base" latinLnBrk="0"/>
            <a:r>
              <a:rPr lang="en-US" altLang="ko-KR" sz="1100" dirty="0"/>
              <a:t>client = </a:t>
            </a:r>
            <a:r>
              <a:rPr lang="en-US" altLang="ko-KR" sz="1100" dirty="0" err="1"/>
              <a:t>mqtt.Client</a:t>
            </a:r>
            <a:r>
              <a:rPr lang="en-US" altLang="ko-KR" sz="1100" dirty="0"/>
              <a:t>(mqtt.CallbackAPIVersion.VERSION2) </a:t>
            </a:r>
          </a:p>
          <a:p>
            <a:pPr defTabSz="180000" fontAlgn="base" latinLnBrk="0"/>
            <a:r>
              <a:rPr lang="en-US" altLang="ko-KR" sz="1100" dirty="0" err="1"/>
              <a:t>client.on_connect</a:t>
            </a:r>
            <a:r>
              <a:rPr lang="en-US" altLang="ko-KR" sz="1100" dirty="0"/>
              <a:t>=</a:t>
            </a:r>
            <a:r>
              <a:rPr lang="en-US" altLang="ko-KR" sz="1100" dirty="0" err="1"/>
              <a:t>on_connect</a:t>
            </a:r>
            <a:r>
              <a:rPr lang="en-US" altLang="ko-KR" sz="1100" dirty="0"/>
              <a:t> </a:t>
            </a:r>
          </a:p>
          <a:p>
            <a:pPr defTabSz="180000" fontAlgn="base" latinLnBrk="0"/>
            <a:r>
              <a:rPr lang="en-US" altLang="ko-KR" sz="1100" dirty="0" err="1"/>
              <a:t>client.on_message</a:t>
            </a:r>
            <a:r>
              <a:rPr lang="en-US" altLang="ko-KR" sz="1100" dirty="0"/>
              <a:t>=</a:t>
            </a:r>
            <a:r>
              <a:rPr lang="en-US" altLang="ko-KR" sz="1100" dirty="0" err="1"/>
              <a:t>on_message</a:t>
            </a:r>
            <a:endParaRPr lang="en-US" altLang="ko-KR" sz="1100" dirty="0"/>
          </a:p>
          <a:p>
            <a:pPr defTabSz="180000" fontAlgn="base" latinLnBrk="0"/>
            <a:r>
              <a:rPr lang="en-US" altLang="ko-KR" sz="1100" dirty="0" err="1"/>
              <a:t>client.connect</a:t>
            </a:r>
            <a:r>
              <a:rPr lang="en-US" altLang="ko-KR" sz="1100" dirty="0"/>
              <a:t>(</a:t>
            </a:r>
            <a:r>
              <a:rPr lang="en-US" altLang="ko-KR" sz="1100" dirty="0" err="1"/>
              <a:t>ip</a:t>
            </a:r>
            <a:r>
              <a:rPr lang="en-US" altLang="ko-KR" sz="1100" dirty="0"/>
              <a:t>, 1883) # 1883 </a:t>
            </a:r>
            <a:r>
              <a:rPr lang="ko-KR" altLang="en-US" sz="1100" dirty="0"/>
              <a:t>포트로 브로커에 접속</a:t>
            </a:r>
          </a:p>
          <a:p>
            <a:pPr defTabSz="180000" fontAlgn="base" latinLnBrk="0"/>
            <a:r>
              <a:rPr lang="en-US" altLang="ko-KR" sz="1100" b="1" dirty="0" err="1"/>
              <a:t>client.loop_forever</a:t>
            </a:r>
            <a:r>
              <a:rPr lang="en-US" altLang="ko-KR" sz="1100" b="1" dirty="0"/>
              <a:t>() </a:t>
            </a:r>
            <a:r>
              <a:rPr lang="en-US" altLang="ko-KR" sz="1100" dirty="0"/>
              <a:t># </a:t>
            </a:r>
            <a:r>
              <a:rPr lang="ko-KR" altLang="en-US" sz="1100" dirty="0"/>
              <a:t>메시지 루프 실행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02344" y="1922867"/>
            <a:ext cx="4583956" cy="31393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ko-KR" altLang="en-US" sz="1100" dirty="0" err="1"/>
              <a:t>import</a:t>
            </a:r>
            <a:r>
              <a:rPr lang="ko-KR" altLang="en-US" sz="1100" dirty="0"/>
              <a:t> </a:t>
            </a:r>
            <a:r>
              <a:rPr lang="ko-KR" altLang="en-US" sz="1100" dirty="0" err="1"/>
              <a:t>paho.mqtt.client</a:t>
            </a:r>
            <a:r>
              <a:rPr lang="ko-KR" altLang="en-US" sz="1100" dirty="0"/>
              <a:t> </a:t>
            </a:r>
            <a:r>
              <a:rPr lang="ko-KR" altLang="en-US" sz="1100" dirty="0" err="1"/>
              <a:t>as</a:t>
            </a:r>
            <a:r>
              <a:rPr lang="ko-KR" altLang="en-US" sz="1100" dirty="0"/>
              <a:t> </a:t>
            </a:r>
            <a:r>
              <a:rPr lang="ko-KR" altLang="en-US" sz="1100" dirty="0" err="1"/>
              <a:t>mqtt</a:t>
            </a:r>
            <a:endParaRPr lang="ko-KR" altLang="en-US" sz="1100" dirty="0"/>
          </a:p>
          <a:p>
            <a:pPr defTabSz="180000"/>
            <a:endParaRPr lang="ko-KR" altLang="en-US" sz="1100" dirty="0"/>
          </a:p>
          <a:p>
            <a:pPr defTabSz="180000"/>
            <a:r>
              <a:rPr lang="ko-KR" altLang="en-US" sz="1100" b="1" dirty="0" err="1"/>
              <a:t>broker</a:t>
            </a:r>
            <a:r>
              <a:rPr lang="ko-KR" altLang="en-US" sz="1100" b="1" dirty="0"/>
              <a:t>_</a:t>
            </a:r>
            <a:r>
              <a:rPr lang="en-US" altLang="ko-KR" sz="1100" b="1" dirty="0" err="1"/>
              <a:t>ip</a:t>
            </a:r>
            <a:r>
              <a:rPr lang="en-US" altLang="ko-KR" sz="1100" b="1" dirty="0"/>
              <a:t> </a:t>
            </a:r>
            <a:r>
              <a:rPr lang="ko-KR" altLang="en-US" sz="1100" b="1" dirty="0"/>
              <a:t>= "</a:t>
            </a:r>
            <a:r>
              <a:rPr lang="ko-KR" altLang="en-US" sz="1100" b="1" dirty="0" err="1"/>
              <a:t>localhost</a:t>
            </a:r>
            <a:r>
              <a:rPr lang="ko-KR" altLang="en-US" sz="1100" b="1" dirty="0"/>
              <a:t>"  </a:t>
            </a:r>
            <a:r>
              <a:rPr lang="ko-KR" altLang="en-US" sz="1100" dirty="0"/>
              <a:t># 이 컴퓨터의 브로커에 접속</a:t>
            </a:r>
          </a:p>
          <a:p>
            <a:pPr defTabSz="180000"/>
            <a:endParaRPr lang="en-US" altLang="ko-KR" sz="1100" dirty="0"/>
          </a:p>
          <a:p>
            <a:pPr defTabSz="180000"/>
            <a:r>
              <a:rPr lang="ko-KR" altLang="en-US" sz="1100" dirty="0" err="1"/>
              <a:t>client</a:t>
            </a:r>
            <a:r>
              <a:rPr lang="ko-KR" altLang="en-US" sz="1100" dirty="0"/>
              <a:t> = </a:t>
            </a:r>
            <a:r>
              <a:rPr lang="ko-KR" altLang="en-US" sz="1100" dirty="0" err="1"/>
              <a:t>mqtt.Client</a:t>
            </a:r>
            <a:r>
              <a:rPr lang="ko-KR" altLang="en-US" sz="1100" dirty="0"/>
              <a:t>(</a:t>
            </a:r>
            <a:r>
              <a:rPr lang="en-US" altLang="ko-KR" sz="1100" dirty="0"/>
              <a:t>mqtt.CallbackAPIVersion.VERSION2</a:t>
            </a:r>
            <a:r>
              <a:rPr lang="ko-KR" altLang="en-US" sz="1100" dirty="0"/>
              <a:t>)</a:t>
            </a:r>
          </a:p>
          <a:p>
            <a:pPr defTabSz="180000"/>
            <a:r>
              <a:rPr lang="ko-KR" altLang="en-US" sz="1100" dirty="0" err="1"/>
              <a:t>client.connect</a:t>
            </a:r>
            <a:r>
              <a:rPr lang="ko-KR" altLang="en-US" sz="1100" dirty="0"/>
              <a:t>(</a:t>
            </a:r>
            <a:r>
              <a:rPr lang="ko-KR" altLang="en-US" sz="1100" dirty="0" err="1"/>
              <a:t>broker</a:t>
            </a:r>
            <a:r>
              <a:rPr lang="ko-KR" altLang="en-US" sz="1100" dirty="0"/>
              <a:t>_</a:t>
            </a:r>
            <a:r>
              <a:rPr lang="en-US" altLang="ko-KR" sz="1100" dirty="0" err="1"/>
              <a:t>ip</a:t>
            </a:r>
            <a:r>
              <a:rPr lang="ko-KR" altLang="en-US" sz="1100" dirty="0"/>
              <a:t>, 1883) </a:t>
            </a:r>
            <a:r>
              <a:rPr lang="en-US" altLang="ko-KR" sz="1100" dirty="0"/>
              <a:t># 1883 </a:t>
            </a:r>
            <a:r>
              <a:rPr lang="ko-KR" altLang="en-US" sz="1100" dirty="0"/>
              <a:t>포트로 브로커에 접속</a:t>
            </a:r>
          </a:p>
          <a:p>
            <a:pPr defTabSz="180000"/>
            <a:r>
              <a:rPr lang="ko-KR" altLang="en-US" sz="1100" b="1" dirty="0" err="1"/>
              <a:t>client.loop_start</a:t>
            </a:r>
            <a:r>
              <a:rPr lang="ko-KR" altLang="en-US" sz="1100" b="1" dirty="0"/>
              <a:t>() </a:t>
            </a:r>
            <a:r>
              <a:rPr lang="en-US" altLang="ko-KR" sz="1100" dirty="0"/>
              <a:t># </a:t>
            </a:r>
            <a:r>
              <a:rPr lang="ko-KR" altLang="en-US" sz="1100" dirty="0"/>
              <a:t>메시지 루프를 실행하는 스레드 생성</a:t>
            </a:r>
          </a:p>
          <a:p>
            <a:pPr defTabSz="180000"/>
            <a:endParaRPr lang="ko-KR" altLang="en-US" sz="1100" dirty="0"/>
          </a:p>
          <a:p>
            <a:pPr defTabSz="180000"/>
            <a:r>
              <a:rPr lang="ko-KR" altLang="en-US" sz="1100" dirty="0" err="1"/>
              <a:t>while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True</a:t>
            </a:r>
            <a:r>
              <a:rPr lang="ko-KR" altLang="en-US" sz="1100" dirty="0"/>
              <a:t>:</a:t>
            </a:r>
          </a:p>
          <a:p>
            <a:pPr defTabSz="180000"/>
            <a:r>
              <a:rPr lang="ko-KR" altLang="en-US" sz="1100" dirty="0"/>
              <a:t>        </a:t>
            </a:r>
            <a:r>
              <a:rPr lang="ko-KR" altLang="en-US" sz="1100" dirty="0" err="1"/>
              <a:t>temperature</a:t>
            </a:r>
            <a:r>
              <a:rPr lang="ko-KR" altLang="en-US" sz="1100" dirty="0"/>
              <a:t> = </a:t>
            </a:r>
            <a:r>
              <a:rPr lang="ko-KR" altLang="en-US" sz="1100" dirty="0" err="1"/>
              <a:t>input</a:t>
            </a:r>
            <a:r>
              <a:rPr lang="ko-KR" altLang="en-US" sz="1100" dirty="0"/>
              <a:t>("온도&gt;&gt;&gt;") </a:t>
            </a:r>
            <a:r>
              <a:rPr lang="en-US" altLang="ko-KR" sz="1100" dirty="0"/>
              <a:t># </a:t>
            </a:r>
            <a:r>
              <a:rPr lang="ko-KR" altLang="en-US" sz="1100" dirty="0"/>
              <a:t>사용자로부터 온도 입력</a:t>
            </a:r>
            <a:endParaRPr lang="en-US" altLang="ko-KR" sz="1100" dirty="0"/>
          </a:p>
          <a:p>
            <a:pPr defTabSz="180000"/>
            <a:r>
              <a:rPr lang="ko-KR" altLang="en-US" sz="1100" dirty="0"/>
              <a:t>        </a:t>
            </a:r>
            <a:r>
              <a:rPr lang="ko-KR" altLang="en-US" sz="1100" dirty="0" err="1"/>
              <a:t>temperature</a:t>
            </a:r>
            <a:r>
              <a:rPr lang="ko-KR" altLang="en-US" sz="1100" dirty="0"/>
              <a:t> = </a:t>
            </a:r>
            <a:r>
              <a:rPr lang="ko-KR" altLang="en-US" sz="1100" dirty="0" err="1"/>
              <a:t>in</a:t>
            </a:r>
            <a:r>
              <a:rPr lang="en-US" altLang="ko-KR" sz="1100" dirty="0"/>
              <a:t>t</a:t>
            </a:r>
            <a:r>
              <a:rPr lang="ko-KR" altLang="en-US" sz="1100" dirty="0"/>
              <a:t>(</a:t>
            </a:r>
            <a:r>
              <a:rPr lang="en-US" altLang="ko-KR" sz="1100" dirty="0"/>
              <a:t>temperature</a:t>
            </a:r>
            <a:r>
              <a:rPr lang="ko-KR" altLang="en-US" sz="1100" dirty="0"/>
              <a:t>) </a:t>
            </a:r>
            <a:r>
              <a:rPr lang="en-US" altLang="ko-KR" sz="1100" dirty="0"/>
              <a:t># </a:t>
            </a:r>
            <a:r>
              <a:rPr lang="ko-KR" altLang="en-US" sz="1100" dirty="0"/>
              <a:t>문자열을 정수로 변환</a:t>
            </a:r>
          </a:p>
          <a:p>
            <a:pPr defTabSz="180000"/>
            <a:r>
              <a:rPr lang="ko-KR" altLang="en-US" sz="1100" dirty="0"/>
              <a:t>        </a:t>
            </a:r>
            <a:r>
              <a:rPr lang="ko-KR" altLang="en-US" sz="1100" dirty="0" err="1"/>
              <a:t>if</a:t>
            </a:r>
            <a:r>
              <a:rPr lang="ko-KR" altLang="en-US" sz="1100" dirty="0"/>
              <a:t> </a:t>
            </a:r>
            <a:r>
              <a:rPr lang="ko-KR" altLang="en-US" sz="1100" dirty="0" err="1"/>
              <a:t>temperature</a:t>
            </a:r>
            <a:r>
              <a:rPr lang="ko-KR" altLang="en-US" sz="1100" dirty="0"/>
              <a:t> == 0 : </a:t>
            </a:r>
            <a:r>
              <a:rPr lang="en-US" altLang="ko-KR" sz="1100" dirty="0"/>
              <a:t># </a:t>
            </a:r>
            <a:r>
              <a:rPr lang="ko-KR" altLang="en-US" sz="1100" dirty="0"/>
              <a:t>온도에 </a:t>
            </a:r>
            <a:r>
              <a:rPr lang="en-US" altLang="ko-KR" sz="1100" dirty="0"/>
              <a:t>0</a:t>
            </a:r>
            <a:r>
              <a:rPr lang="ko-KR" altLang="en-US" sz="1100" dirty="0"/>
              <a:t>이 입력되면 </a:t>
            </a:r>
            <a:r>
              <a:rPr lang="en-US" altLang="ko-KR" sz="1100" dirty="0"/>
              <a:t>while </a:t>
            </a:r>
            <a:r>
              <a:rPr lang="ko-KR" altLang="en-US" sz="1100" dirty="0"/>
              <a:t>문 벗어남</a:t>
            </a:r>
          </a:p>
          <a:p>
            <a:pPr defTabSz="180000"/>
            <a:r>
              <a:rPr lang="ko-KR" altLang="en-US" sz="1100" dirty="0"/>
              <a:t>                </a:t>
            </a:r>
            <a:r>
              <a:rPr lang="ko-KR" altLang="en-US" sz="1100" dirty="0" err="1"/>
              <a:t>break</a:t>
            </a:r>
            <a:endParaRPr lang="ko-KR" altLang="en-US" sz="1100" dirty="0"/>
          </a:p>
          <a:p>
            <a:pPr defTabSz="180000"/>
            <a:r>
              <a:rPr lang="ko-KR" altLang="en-US" sz="1100" dirty="0"/>
              <a:t>        </a:t>
            </a:r>
            <a:r>
              <a:rPr lang="ko-KR" altLang="en-US" sz="1100" b="1" dirty="0" err="1"/>
              <a:t>client.publish</a:t>
            </a:r>
            <a:r>
              <a:rPr lang="ko-KR" altLang="en-US" sz="1100" b="1" dirty="0"/>
              <a:t>("</a:t>
            </a:r>
            <a:r>
              <a:rPr lang="ko-KR" altLang="en-US" sz="1100" b="1" dirty="0" err="1"/>
              <a:t>room</a:t>
            </a:r>
            <a:r>
              <a:rPr lang="ko-KR" altLang="en-US" sz="1100" b="1" dirty="0"/>
              <a:t>/</a:t>
            </a:r>
            <a:r>
              <a:rPr lang="ko-KR" altLang="en-US" sz="1100" b="1" dirty="0" err="1"/>
              <a:t>temp</a:t>
            </a:r>
            <a:r>
              <a:rPr lang="ko-KR" altLang="en-US" sz="1100" b="1" dirty="0"/>
              <a:t>", </a:t>
            </a:r>
            <a:r>
              <a:rPr lang="ko-KR" altLang="en-US" sz="1100" b="1" dirty="0" err="1"/>
              <a:t>temperature</a:t>
            </a:r>
            <a:r>
              <a:rPr lang="ko-KR" altLang="en-US" sz="1100" b="1" dirty="0"/>
              <a:t>) </a:t>
            </a:r>
            <a:r>
              <a:rPr lang="en-US" altLang="ko-KR" sz="1100" dirty="0"/>
              <a:t># </a:t>
            </a:r>
            <a:r>
              <a:rPr lang="ko-KR" altLang="en-US" sz="1100" dirty="0"/>
              <a:t>온도 전송</a:t>
            </a:r>
          </a:p>
          <a:p>
            <a:pPr defTabSz="180000"/>
            <a:endParaRPr lang="ko-KR" altLang="en-US" sz="1100" dirty="0"/>
          </a:p>
          <a:p>
            <a:pPr defTabSz="180000"/>
            <a:r>
              <a:rPr lang="ko-KR" altLang="en-US" sz="1100" b="1" dirty="0" err="1"/>
              <a:t>client.loop_stop</a:t>
            </a:r>
            <a:r>
              <a:rPr lang="ko-KR" altLang="en-US" sz="1100" b="1" dirty="0"/>
              <a:t>() </a:t>
            </a:r>
            <a:r>
              <a:rPr lang="en-US" altLang="ko-KR" sz="1100" dirty="0"/>
              <a:t># </a:t>
            </a:r>
            <a:r>
              <a:rPr lang="ko-KR" altLang="en-US" sz="1100" dirty="0"/>
              <a:t>메시지 루프를 실행하는 스레드 종료</a:t>
            </a:r>
          </a:p>
          <a:p>
            <a:pPr defTabSz="180000"/>
            <a:r>
              <a:rPr lang="ko-KR" altLang="en-US" sz="1100" dirty="0" err="1"/>
              <a:t>client.disconnect</a:t>
            </a:r>
            <a:r>
              <a:rPr lang="ko-KR" altLang="en-US" sz="1100" dirty="0"/>
              <a:t>()</a:t>
            </a:r>
            <a:endParaRPr lang="en-US" altLang="ko-KR" sz="1100" dirty="0"/>
          </a:p>
          <a:p>
            <a:pPr defTabSz="180000"/>
            <a:r>
              <a:rPr lang="en-US" altLang="ko-KR" sz="1100" dirty="0"/>
              <a:t>print(</a:t>
            </a:r>
            <a:r>
              <a:rPr lang="ko-KR" altLang="en-US" sz="1100" dirty="0"/>
              <a:t>"프로그램 종료"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125006" y="1573893"/>
            <a:ext cx="37369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7-2pi.py(</a:t>
            </a:r>
            <a:r>
              <a:rPr lang="ko-KR" altLang="en-US" sz="1200"/>
              <a:t>라즈베라파이의 </a:t>
            </a:r>
            <a:r>
              <a:rPr lang="en-US" altLang="ko-KR" sz="1200"/>
              <a:t>pi/ch07</a:t>
            </a:r>
            <a:r>
              <a:rPr lang="ko-KR" altLang="en-US" sz="1200"/>
              <a:t> 디렉터리에 저장</a:t>
            </a:r>
            <a:r>
              <a:rPr lang="en-US" altLang="ko-KR" sz="1200"/>
              <a:t>)</a:t>
            </a:r>
            <a:endParaRPr lang="ko-KR" altLang="en-US" sz="12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29DDC8-E48E-41EE-8D4A-7C75480DDB2C}"/>
              </a:ext>
            </a:extLst>
          </p:cNvPr>
          <p:cNvSpPr/>
          <p:nvPr/>
        </p:nvSpPr>
        <p:spPr>
          <a:xfrm>
            <a:off x="4795612" y="1573892"/>
            <a:ext cx="40968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7-2win.py(</a:t>
            </a:r>
            <a:r>
              <a:rPr lang="ko-KR" altLang="en-US" sz="1200"/>
              <a:t>윈도우 노트북에서 실행</a:t>
            </a:r>
            <a:r>
              <a:rPr lang="en-US" altLang="ko-KR" sz="1200"/>
              <a:t>, C:\pi\ch07</a:t>
            </a:r>
            <a:r>
              <a:rPr lang="ko-KR" altLang="en-US" sz="1200"/>
              <a:t>에 저장</a:t>
            </a:r>
            <a:r>
              <a:rPr lang="en-US" altLang="ko-KR" sz="1200"/>
              <a:t>)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1243495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  <a:r>
              <a:rPr lang="en-US" altLang="ko-KR"/>
              <a:t> 7-2 </a:t>
            </a:r>
            <a:r>
              <a:rPr lang="ko-KR" altLang="en-US"/>
              <a:t>실행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578978" y="4558132"/>
            <a:ext cx="4065029" cy="181588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/>
              <a:t>(myenv) </a:t>
            </a:r>
            <a:r>
              <a:rPr lang="ko-KR" altLang="en-US" sz="1400" b="1"/>
              <a:t>pi@pi:~</a:t>
            </a:r>
            <a:r>
              <a:rPr lang="en-US" altLang="ko-KR" sz="1400" b="1"/>
              <a:t>/ch07</a:t>
            </a:r>
            <a:r>
              <a:rPr lang="ko-KR" altLang="en-US" sz="1400" b="1"/>
              <a:t> $ python </a:t>
            </a:r>
            <a:r>
              <a:rPr lang="en-US" altLang="ko-KR" sz="1400" b="1"/>
              <a:t>7</a:t>
            </a:r>
            <a:r>
              <a:rPr lang="ko-KR" altLang="en-US" sz="1400" b="1"/>
              <a:t>-</a:t>
            </a:r>
            <a:r>
              <a:rPr lang="en-US" altLang="ko-KR" sz="1400" b="1"/>
              <a:t>2</a:t>
            </a:r>
            <a:r>
              <a:rPr lang="ko-KR" altLang="en-US" sz="1400" b="1"/>
              <a:t>p</a:t>
            </a:r>
            <a:r>
              <a:rPr lang="en-US" altLang="ko-KR" sz="1400" b="1"/>
              <a:t>i</a:t>
            </a:r>
            <a:r>
              <a:rPr lang="ko-KR" altLang="en-US" sz="1400" b="1"/>
              <a:t>.py</a:t>
            </a:r>
          </a:p>
          <a:p>
            <a:r>
              <a:rPr lang="ko-KR" altLang="en-US" sz="1400"/>
              <a:t>온도&gt;&gt;&gt;</a:t>
            </a:r>
            <a:r>
              <a:rPr lang="ko-KR" altLang="en-US" sz="1400">
                <a:solidFill>
                  <a:srgbClr val="00B050"/>
                </a:solidFill>
              </a:rPr>
              <a:t>23</a:t>
            </a:r>
          </a:p>
          <a:p>
            <a:r>
              <a:rPr lang="ko-KR" altLang="en-US" sz="1400"/>
              <a:t>온도&gt;&gt;&gt;</a:t>
            </a:r>
            <a:r>
              <a:rPr lang="ko-KR" altLang="en-US" sz="1400">
                <a:solidFill>
                  <a:srgbClr val="00B050"/>
                </a:solidFill>
              </a:rPr>
              <a:t>34</a:t>
            </a:r>
          </a:p>
          <a:p>
            <a:r>
              <a:rPr lang="ko-KR" altLang="en-US" sz="1400"/>
              <a:t>온도&gt;&gt;&gt;</a:t>
            </a:r>
            <a:r>
              <a:rPr lang="ko-KR" altLang="en-US" sz="1400">
                <a:solidFill>
                  <a:srgbClr val="00B050"/>
                </a:solidFill>
              </a:rPr>
              <a:t>66</a:t>
            </a:r>
          </a:p>
          <a:p>
            <a:r>
              <a:rPr lang="ko-KR" altLang="en-US" sz="1400"/>
              <a:t>온도&gt;&gt;&gt;</a:t>
            </a:r>
            <a:r>
              <a:rPr lang="ko-KR" altLang="en-US" sz="1400">
                <a:solidFill>
                  <a:srgbClr val="00B050"/>
                </a:solidFill>
              </a:rPr>
              <a:t>77</a:t>
            </a:r>
          </a:p>
          <a:p>
            <a:r>
              <a:rPr lang="ko-KR" altLang="en-US" sz="1400"/>
              <a:t>온도&gt;&gt;&gt;</a:t>
            </a:r>
            <a:r>
              <a:rPr lang="ko-KR" altLang="en-US" sz="1400">
                <a:solidFill>
                  <a:srgbClr val="00B050"/>
                </a:solidFill>
              </a:rPr>
              <a:t>0</a:t>
            </a:r>
          </a:p>
          <a:p>
            <a:r>
              <a:rPr lang="ko-KR" altLang="en-US" sz="1400"/>
              <a:t>프로그램 종료</a:t>
            </a:r>
          </a:p>
          <a:p>
            <a:r>
              <a:rPr lang="en-US" altLang="ko-KR" sz="1400" b="1"/>
              <a:t>(myenv) </a:t>
            </a:r>
            <a:r>
              <a:rPr lang="ko-KR" altLang="en-US" sz="1400" b="1"/>
              <a:t>pi@pi:~</a:t>
            </a:r>
            <a:r>
              <a:rPr lang="en-US" altLang="ko-KR" sz="1400" b="1"/>
              <a:t>/ch07</a:t>
            </a:r>
            <a:r>
              <a:rPr lang="ko-KR" altLang="en-US" sz="1400" b="1"/>
              <a:t> $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874568" y="4558132"/>
            <a:ext cx="3888432" cy="156966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ko-KR" altLang="en-US" sz="1400" b="1"/>
              <a:t>C:\</a:t>
            </a:r>
            <a:r>
              <a:rPr lang="en-US" altLang="ko-KR" sz="1400" b="1"/>
              <a:t>pi\ch07</a:t>
            </a:r>
            <a:r>
              <a:rPr lang="ko-KR" altLang="en-US" sz="1400" b="1"/>
              <a:t>&gt;py</a:t>
            </a:r>
            <a:r>
              <a:rPr lang="en-US" altLang="ko-KR" sz="1400" b="1"/>
              <a:t>thon</a:t>
            </a:r>
            <a:r>
              <a:rPr lang="ko-KR" altLang="en-US" sz="1400" b="1"/>
              <a:t> </a:t>
            </a:r>
            <a:r>
              <a:rPr lang="en-US" altLang="ko-KR" sz="1400" b="1"/>
              <a:t>7</a:t>
            </a:r>
            <a:r>
              <a:rPr lang="ko-KR" altLang="en-US" sz="1400" b="1"/>
              <a:t>-</a:t>
            </a:r>
            <a:r>
              <a:rPr lang="en-US" altLang="ko-KR" sz="1400" b="1"/>
              <a:t>2win.</a:t>
            </a:r>
            <a:r>
              <a:rPr lang="ko-KR" altLang="en-US" sz="1400" b="1"/>
              <a:t>py</a:t>
            </a:r>
          </a:p>
          <a:p>
            <a:r>
              <a:rPr lang="ko-KR" altLang="en-US" sz="1400"/>
              <a:t>브로커의 IP&gt;&gt;</a:t>
            </a:r>
            <a:r>
              <a:rPr lang="ko-KR" altLang="en-US" sz="1400">
                <a:solidFill>
                  <a:srgbClr val="00B050"/>
                </a:solidFill>
              </a:rPr>
              <a:t> </a:t>
            </a:r>
            <a:r>
              <a:rPr lang="en-US" altLang="ko-KR" sz="1400">
                <a:solidFill>
                  <a:srgbClr val="00B050"/>
                </a:solidFill>
              </a:rPr>
              <a:t>192.168.0.5</a:t>
            </a:r>
          </a:p>
          <a:p>
            <a:r>
              <a:rPr lang="ko-KR" altLang="en-US" sz="1400"/>
              <a:t>room/temp 토픽으로 메시지 구독 신청</a:t>
            </a:r>
            <a:endParaRPr lang="en-US" altLang="ko-KR" sz="1400"/>
          </a:p>
          <a:p>
            <a:r>
              <a:rPr lang="en-US" altLang="ko-KR" sz="1400"/>
              <a:t>room/temp, 23</a:t>
            </a:r>
          </a:p>
          <a:p>
            <a:r>
              <a:rPr lang="en-US" altLang="ko-KR" sz="1400"/>
              <a:t>room/temp, 34</a:t>
            </a:r>
          </a:p>
          <a:p>
            <a:r>
              <a:rPr lang="en-US" altLang="ko-KR" sz="1400"/>
              <a:t>room/temp, 66</a:t>
            </a:r>
          </a:p>
          <a:p>
            <a:r>
              <a:rPr lang="en-US" altLang="ko-KR" sz="1400"/>
              <a:t>room/temp, 77</a:t>
            </a:r>
            <a:endParaRPr lang="ko-KR" altLang="en-US" sz="1400"/>
          </a:p>
        </p:txBody>
      </p:sp>
      <p:sp>
        <p:nvSpPr>
          <p:cNvPr id="6" name="TextBox 5"/>
          <p:cNvSpPr txBox="1"/>
          <p:nvPr/>
        </p:nvSpPr>
        <p:spPr>
          <a:xfrm>
            <a:off x="4738429" y="3873215"/>
            <a:ext cx="3039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(3) </a:t>
            </a:r>
            <a:r>
              <a:rPr lang="ko-KR" altLang="en-US" sz="1200"/>
              <a:t>윈도우에서 명령창 열고</a:t>
            </a:r>
            <a:endParaRPr lang="en-US" altLang="ko-KR" sz="1200"/>
          </a:p>
          <a:p>
            <a:r>
              <a:rPr lang="en-US" altLang="ko-KR" sz="1200"/>
              <a:t>  C:\pi\ch07</a:t>
            </a:r>
            <a:r>
              <a:rPr lang="ko-KR" altLang="en-US" sz="1200"/>
              <a:t>로 이동하여 </a:t>
            </a:r>
            <a:r>
              <a:rPr lang="en-US" altLang="ko-KR" sz="1200"/>
              <a:t>7-2win.py</a:t>
            </a:r>
            <a:r>
              <a:rPr lang="ko-KR" altLang="en-US" sz="1200"/>
              <a:t>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957" y="3881079"/>
            <a:ext cx="3722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(2) putty </a:t>
            </a:r>
            <a:r>
              <a:rPr lang="ko-KR" altLang="en-US" sz="1200"/>
              <a:t>터미널 </a:t>
            </a:r>
            <a:r>
              <a:rPr lang="en-US" altLang="ko-KR" sz="1200"/>
              <a:t>1</a:t>
            </a:r>
            <a:r>
              <a:rPr lang="ko-KR" altLang="en-US" sz="1200"/>
              <a:t>개 더 열고</a:t>
            </a:r>
            <a:r>
              <a:rPr lang="en-US" altLang="ko-KR" sz="1200"/>
              <a:t>, </a:t>
            </a:r>
            <a:r>
              <a:rPr lang="ko-KR" altLang="en-US" sz="1200"/>
              <a:t>라즈베리파이에 접속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    myenv</a:t>
            </a:r>
            <a:r>
              <a:rPr lang="ko-KR" altLang="en-US" sz="1200"/>
              <a:t> 가상환경 활성화 후</a:t>
            </a:r>
            <a:endParaRPr lang="en-US" altLang="ko-KR" sz="1200"/>
          </a:p>
          <a:p>
            <a:r>
              <a:rPr lang="en-US" altLang="ko-KR" sz="1200"/>
              <a:t>    pi/ch07 </a:t>
            </a:r>
            <a:r>
              <a:rPr lang="ko-KR" altLang="en-US" sz="1200"/>
              <a:t>디렉터리로 이동 후 </a:t>
            </a:r>
            <a:r>
              <a:rPr lang="en-US" altLang="ko-KR" sz="1200"/>
              <a:t>7-2pi.py </a:t>
            </a:r>
            <a:r>
              <a:rPr lang="ko-KR" altLang="en-US" sz="1200"/>
              <a:t>실행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891613-C4D5-4C0E-AEE8-2908C90BB897}"/>
              </a:ext>
            </a:extLst>
          </p:cNvPr>
          <p:cNvSpPr txBox="1"/>
          <p:nvPr/>
        </p:nvSpPr>
        <p:spPr>
          <a:xfrm>
            <a:off x="467544" y="1484784"/>
            <a:ext cx="2823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(1) putty</a:t>
            </a:r>
            <a:r>
              <a:rPr lang="ko-KR" altLang="en-US" sz="1200"/>
              <a:t> 터미널 열고</a:t>
            </a:r>
            <a:r>
              <a:rPr lang="en-US" altLang="ko-KR" sz="1200"/>
              <a:t>, mosquitto</a:t>
            </a:r>
            <a:r>
              <a:rPr lang="ko-KR" altLang="en-US" sz="1200"/>
              <a:t> 실행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3AF618-CCD7-46F4-84CE-11015C1569EB}"/>
              </a:ext>
            </a:extLst>
          </p:cNvPr>
          <p:cNvSpPr/>
          <p:nvPr/>
        </p:nvSpPr>
        <p:spPr>
          <a:xfrm>
            <a:off x="578979" y="1833516"/>
            <a:ext cx="4065029" cy="181588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/>
              <a:t>pi@pi:~ $ mosquitto –v –c mos.conf</a:t>
            </a:r>
          </a:p>
          <a:p>
            <a:pPr fontAlgn="base" latinLnBrk="0"/>
            <a:r>
              <a:rPr lang="en-US" altLang="ko-KR" sz="1400"/>
              <a:t>1702180719: mosquitto version 2.0.11 starting</a:t>
            </a:r>
          </a:p>
          <a:p>
            <a:pPr fontAlgn="base" latinLnBrk="0"/>
            <a:r>
              <a:rPr lang="en-US" altLang="ko-KR" sz="1400"/>
              <a:t>1702180719: Config loaded from mos.conf.</a:t>
            </a:r>
          </a:p>
          <a:p>
            <a:pPr fontAlgn="base" latinLnBrk="0"/>
            <a:r>
              <a:rPr lang="en-US" altLang="ko-KR" sz="1400"/>
              <a:t>1702180719: Opening ipv4 listen socket on port 1883.</a:t>
            </a:r>
          </a:p>
          <a:p>
            <a:pPr fontAlgn="base" latinLnBrk="0"/>
            <a:r>
              <a:rPr lang="en-US" altLang="ko-KR" sz="1400"/>
              <a:t>1702180719: Opening ipv6 listen socket on port 1883.</a:t>
            </a:r>
          </a:p>
          <a:p>
            <a:pPr fontAlgn="base" latinLnBrk="0"/>
            <a:r>
              <a:rPr lang="en-US" altLang="ko-KR" sz="1400"/>
              <a:t>1702180719: mosquitto version 2.0.11 running</a:t>
            </a:r>
          </a:p>
        </p:txBody>
      </p:sp>
      <p:sp>
        <p:nvSpPr>
          <p:cNvPr id="12" name="말풍선: 모서리가 둥근 사각형 11">
            <a:extLst>
              <a:ext uri="{FF2B5EF4-FFF2-40B4-BE49-F238E27FC236}">
                <a16:creationId xmlns:a16="http://schemas.microsoft.com/office/drawing/2014/main" id="{E3F53A19-C510-48F7-869E-D87DF803AB3C}"/>
              </a:ext>
            </a:extLst>
          </p:cNvPr>
          <p:cNvSpPr/>
          <p:nvPr/>
        </p:nvSpPr>
        <p:spPr>
          <a:xfrm>
            <a:off x="1961963" y="5086692"/>
            <a:ext cx="2105981" cy="321020"/>
          </a:xfrm>
          <a:prstGeom prst="wedgeRoundRectCallout">
            <a:avLst>
              <a:gd name="adj1" fmla="val -60601"/>
              <a:gd name="adj2" fmla="val 891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>
                <a:solidFill>
                  <a:schemeClr val="tx1"/>
                </a:solidFill>
              </a:rPr>
              <a:t>입력된 값은 윈도우로 전송</a:t>
            </a:r>
          </a:p>
        </p:txBody>
      </p:sp>
    </p:spTree>
    <p:extLst>
      <p:ext uri="{BB962C8B-B14F-4D97-AF65-F5344CB8AC3E}">
        <p14:creationId xmlns:p14="http://schemas.microsoft.com/office/powerpoint/2010/main" val="27839611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예제 </a:t>
            </a:r>
            <a:r>
              <a:rPr lang="en-US" altLang="ko-KR"/>
              <a:t>7-3 </a:t>
            </a:r>
            <a:r>
              <a:rPr lang="ko-KR" altLang="en-US"/>
              <a:t>윈도우에서 라즈베리파이에 온도 전송 시작</a:t>
            </a:r>
            <a:r>
              <a:rPr lang="en-US" altLang="ko-KR"/>
              <a:t>/</a:t>
            </a:r>
            <a:r>
              <a:rPr lang="ko-KR" altLang="en-US"/>
              <a:t>중지 지시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602455" y="1427596"/>
            <a:ext cx="785797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4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fontAlgn="base"/>
            <a:r>
              <a:rPr lang="ko-KR" altLang="en-US"/>
              <a:t>예제 </a:t>
            </a:r>
            <a:r>
              <a:rPr lang="en-US" altLang="ko-KR"/>
              <a:t>7-2</a:t>
            </a:r>
            <a:r>
              <a:rPr lang="ko-KR" altLang="en-US"/>
              <a:t>를 수정하여 윈도우에서 라즈베리파이로 온도 전송을 시작시키거나 중단시키는 명령을 내리도록 구현하라</a:t>
            </a:r>
            <a:r>
              <a:rPr lang="en-US" altLang="ko-KR"/>
              <a:t>. </a:t>
            </a:r>
            <a:endParaRPr lang="ko-KR" altLang="en-US"/>
          </a:p>
          <a:p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/>
                </a:solidFill>
              </a:rPr>
              <a:t>토픽 </a:t>
            </a:r>
            <a:r>
              <a:rPr lang="en-US" altLang="ko-KR">
                <a:solidFill>
                  <a:schemeClr val="tx1"/>
                </a:solidFill>
              </a:rPr>
              <a:t>: "room/temp"</a:t>
            </a:r>
            <a:r>
              <a:rPr lang="ko-KR" altLang="en-US">
                <a:solidFill>
                  <a:schemeClr val="tx1"/>
                </a:solidFill>
              </a:rPr>
              <a:t>와 </a:t>
            </a:r>
            <a:r>
              <a:rPr lang="en-US" altLang="ko-KR">
                <a:solidFill>
                  <a:schemeClr val="tx1"/>
                </a:solidFill>
              </a:rPr>
              <a:t>"command"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/>
                </a:solidFill>
              </a:rPr>
              <a:t>메시지 </a:t>
            </a:r>
            <a:r>
              <a:rPr lang="en-US" altLang="ko-KR">
                <a:solidFill>
                  <a:schemeClr val="tx1"/>
                </a:solidFill>
              </a:rPr>
              <a:t>: </a:t>
            </a:r>
            <a:r>
              <a:rPr lang="ko-KR" altLang="en-US">
                <a:solidFill>
                  <a:schemeClr val="tx1"/>
                </a:solidFill>
              </a:rPr>
              <a:t>온도와 </a:t>
            </a:r>
            <a:r>
              <a:rPr lang="en-US" altLang="ko-KR">
                <a:solidFill>
                  <a:schemeClr val="tx1"/>
                </a:solidFill>
              </a:rPr>
              <a:t>"start" </a:t>
            </a:r>
            <a:r>
              <a:rPr lang="ko-KR" altLang="en-US">
                <a:solidFill>
                  <a:schemeClr val="tx1"/>
                </a:solidFill>
              </a:rPr>
              <a:t>혹은 </a:t>
            </a:r>
            <a:r>
              <a:rPr lang="en-US" altLang="ko-KR">
                <a:solidFill>
                  <a:schemeClr val="tx1"/>
                </a:solidFill>
              </a:rPr>
              <a:t>"stop" </a:t>
            </a:r>
            <a:r>
              <a:rPr lang="ko-KR" altLang="en-US">
                <a:solidFill>
                  <a:schemeClr val="tx1"/>
                </a:solidFill>
              </a:rPr>
              <a:t>텍스트</a:t>
            </a:r>
            <a:endParaRPr lang="en-US" altLang="ko-KR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/>
                </a:solidFill>
              </a:rPr>
              <a:t>mosquitto </a:t>
            </a:r>
            <a:r>
              <a:rPr lang="ko-KR" altLang="en-US">
                <a:solidFill>
                  <a:schemeClr val="tx1"/>
                </a:solidFill>
              </a:rPr>
              <a:t>브로커 </a:t>
            </a:r>
            <a:r>
              <a:rPr lang="en-US" altLang="ko-KR">
                <a:solidFill>
                  <a:schemeClr val="tx1"/>
                </a:solidFill>
              </a:rPr>
              <a:t>: </a:t>
            </a:r>
            <a:r>
              <a:rPr lang="ko-KR" altLang="en-US">
                <a:solidFill>
                  <a:schemeClr val="tx1"/>
                </a:solidFill>
              </a:rPr>
              <a:t>라즈베리파이에서 실행</a:t>
            </a:r>
            <a:r>
              <a:rPr lang="en-US" altLang="ko-KR">
                <a:solidFill>
                  <a:schemeClr val="tx1"/>
                </a:solidFill>
              </a:rPr>
              <a:t>. 1883 </a:t>
            </a:r>
            <a:r>
              <a:rPr lang="ko-KR" altLang="en-US">
                <a:solidFill>
                  <a:schemeClr val="tx1"/>
                </a:solidFill>
              </a:rPr>
              <a:t>포트 이용</a:t>
            </a:r>
            <a:endParaRPr lang="en-US" altLang="ko-KR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/>
                </a:solidFill>
              </a:rPr>
              <a:t>라즈베리파이에서 실행되는 클라이언트</a:t>
            </a:r>
            <a:r>
              <a:rPr lang="en-US" altLang="ko-KR">
                <a:solidFill>
                  <a:schemeClr val="tx1"/>
                </a:solidFill>
              </a:rPr>
              <a:t>(7-3pi.py) : </a:t>
            </a:r>
            <a:r>
              <a:rPr lang="ko-KR" altLang="en-US">
                <a:solidFill>
                  <a:schemeClr val="tx1"/>
                </a:solidFill>
              </a:rPr>
              <a:t>윈도우로부터 </a:t>
            </a:r>
            <a:r>
              <a:rPr lang="en-US" altLang="ko-KR">
                <a:solidFill>
                  <a:schemeClr val="tx1"/>
                </a:solidFill>
              </a:rPr>
              <a:t>"command" </a:t>
            </a:r>
            <a:r>
              <a:rPr lang="ko-KR" altLang="en-US">
                <a:solidFill>
                  <a:schemeClr val="tx1"/>
                </a:solidFill>
              </a:rPr>
              <a:t>토픽의 메시지를 수신하고</a:t>
            </a:r>
            <a:r>
              <a:rPr lang="en-US" altLang="ko-KR">
                <a:solidFill>
                  <a:schemeClr val="tx1"/>
                </a:solidFill>
              </a:rPr>
              <a:t>, "start" </a:t>
            </a:r>
            <a:r>
              <a:rPr lang="ko-KR" altLang="en-US">
                <a:solidFill>
                  <a:schemeClr val="tx1"/>
                </a:solidFill>
              </a:rPr>
              <a:t>메시지가 오면 </a:t>
            </a:r>
            <a:r>
              <a:rPr lang="en-US" altLang="ko-KR">
                <a:solidFill>
                  <a:schemeClr val="tx1"/>
                </a:solidFill>
              </a:rPr>
              <a:t>2</a:t>
            </a:r>
            <a:r>
              <a:rPr lang="ko-KR" altLang="en-US">
                <a:solidFill>
                  <a:schemeClr val="tx1"/>
                </a:solidFill>
              </a:rPr>
              <a:t>초 간격으로 랜덤하게 온도를 전송하고</a:t>
            </a:r>
            <a:r>
              <a:rPr lang="en-US" altLang="ko-KR">
                <a:solidFill>
                  <a:schemeClr val="tx1"/>
                </a:solidFill>
              </a:rPr>
              <a:t>, "stop" </a:t>
            </a:r>
            <a:r>
              <a:rPr lang="ko-KR" altLang="en-US">
                <a:solidFill>
                  <a:schemeClr val="tx1"/>
                </a:solidFill>
              </a:rPr>
              <a:t>메시지의 경우 온도 전송 중지</a:t>
            </a:r>
            <a:endParaRPr lang="en-US" altLang="ko-KR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/>
                </a:solidFill>
              </a:rPr>
              <a:t>윈도우에서 실행되는 클라이언트</a:t>
            </a:r>
            <a:r>
              <a:rPr lang="en-US" altLang="ko-KR">
                <a:solidFill>
                  <a:schemeClr val="tx1"/>
                </a:solidFill>
              </a:rPr>
              <a:t>(7-3win.py) : </a:t>
            </a:r>
            <a:r>
              <a:rPr lang="ko-KR" altLang="en-US">
                <a:solidFill>
                  <a:schemeClr val="tx1"/>
                </a:solidFill>
              </a:rPr>
              <a:t>사용자의 입력에 따라 </a:t>
            </a:r>
            <a:r>
              <a:rPr lang="en-US" altLang="ko-KR">
                <a:solidFill>
                  <a:schemeClr val="tx1"/>
                </a:solidFill>
              </a:rPr>
              <a:t>"command" </a:t>
            </a:r>
            <a:r>
              <a:rPr lang="ko-KR" altLang="en-US">
                <a:solidFill>
                  <a:schemeClr val="tx1"/>
                </a:solidFill>
              </a:rPr>
              <a:t>토픽으로 </a:t>
            </a:r>
            <a:r>
              <a:rPr lang="en-US" altLang="ko-KR">
                <a:solidFill>
                  <a:schemeClr val="tx1"/>
                </a:solidFill>
              </a:rPr>
              <a:t>"start"</a:t>
            </a:r>
            <a:r>
              <a:rPr lang="ko-KR" altLang="en-US">
                <a:solidFill>
                  <a:schemeClr val="tx1"/>
                </a:solidFill>
              </a:rPr>
              <a:t>나 </a:t>
            </a:r>
            <a:r>
              <a:rPr lang="en-US" altLang="ko-KR">
                <a:solidFill>
                  <a:schemeClr val="tx1"/>
                </a:solidFill>
              </a:rPr>
              <a:t>"stop" </a:t>
            </a:r>
            <a:r>
              <a:rPr lang="ko-KR" altLang="en-US">
                <a:solidFill>
                  <a:schemeClr val="tx1"/>
                </a:solidFill>
              </a:rPr>
              <a:t>메시지를 보낸다</a:t>
            </a:r>
            <a:r>
              <a:rPr lang="en-US" altLang="ko-KR">
                <a:solidFill>
                  <a:schemeClr val="tx1"/>
                </a:solidFill>
              </a:rPr>
              <a:t>. </a:t>
            </a:r>
            <a:r>
              <a:rPr lang="ko-KR" altLang="en-US">
                <a:solidFill>
                  <a:schemeClr val="tx1"/>
                </a:solidFill>
              </a:rPr>
              <a:t>라즈베리파이로부터 온도는 수신하기 위해 </a:t>
            </a:r>
            <a:r>
              <a:rPr lang="en-US" altLang="ko-KR">
                <a:solidFill>
                  <a:schemeClr val="tx1"/>
                </a:solidFill>
              </a:rPr>
              <a:t>"room/temp" </a:t>
            </a:r>
            <a:r>
              <a:rPr lang="ko-KR" altLang="en-US">
                <a:solidFill>
                  <a:schemeClr val="tx1"/>
                </a:solidFill>
              </a:rPr>
              <a:t>토픽 구독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66ECCF51-182D-4636-83D9-769954F2FE60}"/>
              </a:ext>
            </a:extLst>
          </p:cNvPr>
          <p:cNvSpPr/>
          <p:nvPr/>
        </p:nvSpPr>
        <p:spPr>
          <a:xfrm>
            <a:off x="480618" y="4587382"/>
            <a:ext cx="4015055" cy="1681982"/>
          </a:xfrm>
          <a:prstGeom prst="roundRect">
            <a:avLst>
              <a:gd name="adj" fmla="val 6616"/>
            </a:avLst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DD9D8C8-607A-4CE2-8578-569F238A8E3B}"/>
              </a:ext>
            </a:extLst>
          </p:cNvPr>
          <p:cNvSpPr/>
          <p:nvPr/>
        </p:nvSpPr>
        <p:spPr>
          <a:xfrm>
            <a:off x="2957538" y="4918771"/>
            <a:ext cx="1109836" cy="100811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Mosquitto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8">
            <a:extLst>
              <a:ext uri="{FF2B5EF4-FFF2-40B4-BE49-F238E27FC236}">
                <a16:creationId xmlns:a16="http://schemas.microsoft.com/office/drawing/2014/main" id="{616AB397-E95D-410B-90AC-7B6E06D10F7C}"/>
              </a:ext>
            </a:extLst>
          </p:cNvPr>
          <p:cNvSpPr/>
          <p:nvPr/>
        </p:nvSpPr>
        <p:spPr>
          <a:xfrm>
            <a:off x="541446" y="5087378"/>
            <a:ext cx="1068127" cy="67089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>
                <a:solidFill>
                  <a:schemeClr val="tx1"/>
                </a:solidFill>
              </a:rPr>
              <a:t>7-3pi.</a:t>
            </a:r>
            <a:r>
              <a:rPr lang="en-US" altLang="ko-KR" sz="1400" dirty="0" err="1">
                <a:solidFill>
                  <a:schemeClr val="tx1"/>
                </a:solidFill>
              </a:rPr>
              <a:t>py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123F764A-DD87-4DEA-952D-593AF53F277D}"/>
              </a:ext>
            </a:extLst>
          </p:cNvPr>
          <p:cNvSpPr txBox="1"/>
          <p:nvPr/>
        </p:nvSpPr>
        <p:spPr>
          <a:xfrm>
            <a:off x="1531970" y="5537501"/>
            <a:ext cx="1404552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 dirty="0">
                <a:solidFill>
                  <a:srgbClr val="0070C0"/>
                </a:solidFill>
              </a:rPr>
              <a:t>publish</a:t>
            </a:r>
          </a:p>
          <a:p>
            <a:r>
              <a:rPr lang="en-US" altLang="ko-KR" sz="1050" dirty="0">
                <a:solidFill>
                  <a:srgbClr val="0070C0"/>
                </a:solidFill>
              </a:rPr>
              <a:t>(</a:t>
            </a:r>
            <a:r>
              <a:rPr lang="ko-KR" altLang="en-US" sz="1050">
                <a:solidFill>
                  <a:srgbClr val="0070C0"/>
                </a:solidFill>
              </a:rPr>
              <a:t>토픽</a:t>
            </a:r>
            <a:r>
              <a:rPr lang="en-US" altLang="ko-KR" sz="1050">
                <a:solidFill>
                  <a:srgbClr val="0070C0"/>
                </a:solidFill>
              </a:rPr>
              <a:t>: "room/temp",</a:t>
            </a:r>
            <a:endParaRPr lang="en-US" altLang="ko-KR" sz="1050" dirty="0">
              <a:solidFill>
                <a:srgbClr val="0070C0"/>
              </a:solidFill>
            </a:endParaRPr>
          </a:p>
          <a:p>
            <a:r>
              <a:rPr lang="ko-KR" altLang="en-US" sz="1050">
                <a:solidFill>
                  <a:srgbClr val="0070C0"/>
                </a:solidFill>
              </a:rPr>
              <a:t>메시지</a:t>
            </a:r>
            <a:r>
              <a:rPr lang="en-US" altLang="ko-KR" sz="1050">
                <a:solidFill>
                  <a:srgbClr val="0070C0"/>
                </a:solidFill>
              </a:rPr>
              <a:t>: </a:t>
            </a:r>
            <a:r>
              <a:rPr lang="ko-KR" altLang="en-US" sz="1050">
                <a:solidFill>
                  <a:srgbClr val="0070C0"/>
                </a:solidFill>
              </a:rPr>
              <a:t>온도 정수</a:t>
            </a:r>
            <a:r>
              <a:rPr lang="en-US" altLang="ko-KR" sz="1050">
                <a:solidFill>
                  <a:srgbClr val="0070C0"/>
                </a:solidFill>
              </a:rPr>
              <a:t>)</a:t>
            </a:r>
            <a:endParaRPr lang="ko-KR" altLang="en-US" sz="1050" dirty="0">
              <a:solidFill>
                <a:srgbClr val="0070C0"/>
              </a:solidFill>
            </a:endParaRP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904D793A-AB46-4668-993E-9D1956E91DF5}"/>
              </a:ext>
            </a:extLst>
          </p:cNvPr>
          <p:cNvSpPr txBox="1"/>
          <p:nvPr/>
        </p:nvSpPr>
        <p:spPr>
          <a:xfrm>
            <a:off x="3874025" y="4787127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>
                <a:solidFill>
                  <a:srgbClr val="C00000"/>
                </a:solidFill>
              </a:rPr>
              <a:t>1883</a:t>
            </a:r>
          </a:p>
          <a:p>
            <a:r>
              <a:rPr lang="ko-KR" altLang="en-US" sz="1200">
                <a:solidFill>
                  <a:srgbClr val="C00000"/>
                </a:solidFill>
              </a:rPr>
              <a:t>포트</a:t>
            </a:r>
            <a:endParaRPr lang="ko-KR" altLang="en-US" sz="1200" dirty="0">
              <a:solidFill>
                <a:srgbClr val="C00000"/>
              </a:solidFill>
            </a:endParaRPr>
          </a:p>
        </p:txBody>
      </p:sp>
      <p:sp>
        <p:nvSpPr>
          <p:cNvPr id="11" name="모서리가 둥근 직사각형 29">
            <a:extLst>
              <a:ext uri="{FF2B5EF4-FFF2-40B4-BE49-F238E27FC236}">
                <a16:creationId xmlns:a16="http://schemas.microsoft.com/office/drawing/2014/main" id="{5734ACDD-A0B7-4092-8BA4-DFC4973DBB5D}"/>
              </a:ext>
            </a:extLst>
          </p:cNvPr>
          <p:cNvSpPr/>
          <p:nvPr/>
        </p:nvSpPr>
        <p:spPr>
          <a:xfrm>
            <a:off x="5052269" y="4605369"/>
            <a:ext cx="2269109" cy="1663995"/>
          </a:xfrm>
          <a:prstGeom prst="roundRect">
            <a:avLst>
              <a:gd name="adj" fmla="val 6386"/>
            </a:avLst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E34E2F46-59C9-4F8A-B423-6398801DE27B}"/>
              </a:ext>
            </a:extLst>
          </p:cNvPr>
          <p:cNvSpPr txBox="1"/>
          <p:nvPr/>
        </p:nvSpPr>
        <p:spPr>
          <a:xfrm>
            <a:off x="1812383" y="4300836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 err="1"/>
              <a:t>라즈베리파이</a:t>
            </a:r>
            <a:endParaRPr lang="ko-KR" altLang="en-US" sz="1400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4912C0-087E-4642-8768-6830920FE523}"/>
              </a:ext>
            </a:extLst>
          </p:cNvPr>
          <p:cNvSpPr/>
          <p:nvPr/>
        </p:nvSpPr>
        <p:spPr>
          <a:xfrm>
            <a:off x="5599632" y="5083548"/>
            <a:ext cx="1244315" cy="7076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>
                <a:solidFill>
                  <a:schemeClr val="tx1"/>
                </a:solidFill>
              </a:rPr>
              <a:t>7-3win.py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TextBox 20">
            <a:extLst>
              <a:ext uri="{FF2B5EF4-FFF2-40B4-BE49-F238E27FC236}">
                <a16:creationId xmlns:a16="http://schemas.microsoft.com/office/drawing/2014/main" id="{7B110073-A986-46B7-A2D1-3CE25D9BB195}"/>
              </a:ext>
            </a:extLst>
          </p:cNvPr>
          <p:cNvSpPr txBox="1"/>
          <p:nvPr/>
        </p:nvSpPr>
        <p:spPr>
          <a:xfrm>
            <a:off x="2688588" y="4811809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>
                <a:solidFill>
                  <a:srgbClr val="C00000"/>
                </a:solidFill>
              </a:rPr>
              <a:t>1883</a:t>
            </a:r>
          </a:p>
          <a:p>
            <a:r>
              <a:rPr lang="ko-KR" altLang="en-US" sz="1200">
                <a:solidFill>
                  <a:srgbClr val="C00000"/>
                </a:solidFill>
              </a:rPr>
              <a:t>포트</a:t>
            </a:r>
            <a:endParaRPr lang="ko-KR" altLang="en-US" sz="1200" dirty="0">
              <a:solidFill>
                <a:srgbClr val="C00000"/>
              </a:solidFill>
            </a:endParaRPr>
          </a:p>
        </p:txBody>
      </p:sp>
      <p:sp>
        <p:nvSpPr>
          <p:cNvPr id="15" name="TextBox 23">
            <a:extLst>
              <a:ext uri="{FF2B5EF4-FFF2-40B4-BE49-F238E27FC236}">
                <a16:creationId xmlns:a16="http://schemas.microsoft.com/office/drawing/2014/main" id="{17A4C413-515E-43F3-89D4-66DB3C94CDA5}"/>
              </a:ext>
            </a:extLst>
          </p:cNvPr>
          <p:cNvSpPr txBox="1"/>
          <p:nvPr/>
        </p:nvSpPr>
        <p:spPr>
          <a:xfrm>
            <a:off x="4064210" y="5603116"/>
            <a:ext cx="117532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>
                <a:solidFill>
                  <a:srgbClr val="0070C0"/>
                </a:solidFill>
              </a:rPr>
              <a:t>7-3pi.py</a:t>
            </a:r>
            <a:r>
              <a:rPr lang="ko-KR" altLang="en-US" sz="1050">
                <a:solidFill>
                  <a:srgbClr val="0070C0"/>
                </a:solidFill>
              </a:rPr>
              <a:t>가 보낸 </a:t>
            </a:r>
            <a:endParaRPr lang="en-US" altLang="ko-KR" sz="1050">
              <a:solidFill>
                <a:srgbClr val="0070C0"/>
              </a:solidFill>
            </a:endParaRPr>
          </a:p>
          <a:p>
            <a:r>
              <a:rPr lang="ko-KR" altLang="en-US" sz="1050">
                <a:solidFill>
                  <a:srgbClr val="0070C0"/>
                </a:solidFill>
              </a:rPr>
              <a:t>온도 데이터</a:t>
            </a:r>
            <a:endParaRPr lang="ko-KR" altLang="en-US" sz="1050" dirty="0">
              <a:solidFill>
                <a:srgbClr val="0070C0"/>
              </a:solidFill>
            </a:endParaRPr>
          </a:p>
        </p:txBody>
      </p:sp>
      <p:sp>
        <p:nvSpPr>
          <p:cNvPr id="16" name="TextBox 25">
            <a:extLst>
              <a:ext uri="{FF2B5EF4-FFF2-40B4-BE49-F238E27FC236}">
                <a16:creationId xmlns:a16="http://schemas.microsoft.com/office/drawing/2014/main" id="{162E7FE3-EEB2-4D0C-9A24-6F1062E0B794}"/>
              </a:ext>
            </a:extLst>
          </p:cNvPr>
          <p:cNvSpPr txBox="1"/>
          <p:nvPr/>
        </p:nvSpPr>
        <p:spPr>
          <a:xfrm>
            <a:off x="5925594" y="4326748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/>
              <a:t>노트북</a:t>
            </a:r>
            <a:endParaRPr lang="ko-KR" altLang="en-US" sz="1400" b="1" dirty="0"/>
          </a:p>
        </p:txBody>
      </p:sp>
      <p:sp>
        <p:nvSpPr>
          <p:cNvPr id="17" name="순서도: 자기 디스크 16">
            <a:extLst>
              <a:ext uri="{FF2B5EF4-FFF2-40B4-BE49-F238E27FC236}">
                <a16:creationId xmlns:a16="http://schemas.microsoft.com/office/drawing/2014/main" id="{F658118F-C799-4350-BBC1-9C5264A58336}"/>
              </a:ext>
            </a:extLst>
          </p:cNvPr>
          <p:cNvSpPr/>
          <p:nvPr/>
        </p:nvSpPr>
        <p:spPr>
          <a:xfrm>
            <a:off x="7522434" y="4979959"/>
            <a:ext cx="1043410" cy="1236862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BF5E40A-8F5A-41B2-AB76-B2877D5212EF}"/>
              </a:ext>
            </a:extLst>
          </p:cNvPr>
          <p:cNvSpPr/>
          <p:nvPr/>
        </p:nvSpPr>
        <p:spPr>
          <a:xfrm>
            <a:off x="7625776" y="5449725"/>
            <a:ext cx="861133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/>
              <a:t>7-3win.py</a:t>
            </a:r>
            <a:endParaRPr lang="ko-KR" altLang="en-US" sz="1200"/>
          </a:p>
        </p:txBody>
      </p:sp>
      <p:cxnSp>
        <p:nvCxnSpPr>
          <p:cNvPr id="19" name="연결선: 구부러짐 18">
            <a:extLst>
              <a:ext uri="{FF2B5EF4-FFF2-40B4-BE49-F238E27FC236}">
                <a16:creationId xmlns:a16="http://schemas.microsoft.com/office/drawing/2014/main" id="{47B87AFD-7E21-49BA-BC71-002946773257}"/>
              </a:ext>
            </a:extLst>
          </p:cNvPr>
          <p:cNvCxnSpPr>
            <a:cxnSpLocks/>
            <a:stCxn id="18" idx="1"/>
            <a:endCxn id="13" idx="3"/>
          </p:cNvCxnSpPr>
          <p:nvPr/>
        </p:nvCxnSpPr>
        <p:spPr>
          <a:xfrm rot="10800000">
            <a:off x="6843948" y="5437367"/>
            <a:ext cx="781829" cy="150859"/>
          </a:xfrm>
          <a:prstGeom prst="curvedConnector3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32">
            <a:extLst>
              <a:ext uri="{FF2B5EF4-FFF2-40B4-BE49-F238E27FC236}">
                <a16:creationId xmlns:a16="http://schemas.microsoft.com/office/drawing/2014/main" id="{A2757474-D179-438B-9A6A-3239992C6F1C}"/>
              </a:ext>
            </a:extLst>
          </p:cNvPr>
          <p:cNvSpPr txBox="1"/>
          <p:nvPr/>
        </p:nvSpPr>
        <p:spPr>
          <a:xfrm>
            <a:off x="7410036" y="4672538"/>
            <a:ext cx="162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/>
              <a:t>노트북의 하드디스크</a:t>
            </a:r>
            <a:endParaRPr lang="ko-KR" altLang="en-US" sz="1200" b="1" dirty="0"/>
          </a:p>
        </p:txBody>
      </p:sp>
      <p:sp>
        <p:nvSpPr>
          <p:cNvPr id="21" name="TextBox 33">
            <a:extLst>
              <a:ext uri="{FF2B5EF4-FFF2-40B4-BE49-F238E27FC236}">
                <a16:creationId xmlns:a16="http://schemas.microsoft.com/office/drawing/2014/main" id="{4F706D28-8DE0-4C78-B41F-3892E67039B0}"/>
              </a:ext>
            </a:extLst>
          </p:cNvPr>
          <p:cNvSpPr txBox="1"/>
          <p:nvPr/>
        </p:nvSpPr>
        <p:spPr>
          <a:xfrm>
            <a:off x="7562320" y="5840323"/>
            <a:ext cx="109036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/>
              <a:t>C:\pi\ch07</a:t>
            </a:r>
            <a:r>
              <a:rPr lang="ko-KR" altLang="en-US" sz="1050"/>
              <a:t>에 </a:t>
            </a:r>
            <a:endParaRPr lang="en-US" altLang="ko-KR" sz="1050"/>
          </a:p>
          <a:p>
            <a:pPr algn="ctr"/>
            <a:r>
              <a:rPr lang="ko-KR" altLang="en-US" sz="1050"/>
              <a:t>저장</a:t>
            </a:r>
            <a:endParaRPr lang="ko-KR" altLang="en-US" sz="105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A107956F-B365-49B0-AB0B-BD5593EF382E}"/>
              </a:ext>
            </a:extLst>
          </p:cNvPr>
          <p:cNvCxnSpPr>
            <a:cxnSpLocks/>
          </p:cNvCxnSpPr>
          <p:nvPr/>
        </p:nvCxnSpPr>
        <p:spPr>
          <a:xfrm flipV="1">
            <a:off x="1609573" y="5527827"/>
            <a:ext cx="1355100" cy="1132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81AE269-3FA7-4451-B8E7-5A050B0A4EDD}"/>
              </a:ext>
            </a:extLst>
          </p:cNvPr>
          <p:cNvCxnSpPr>
            <a:cxnSpLocks/>
          </p:cNvCxnSpPr>
          <p:nvPr/>
        </p:nvCxnSpPr>
        <p:spPr>
          <a:xfrm>
            <a:off x="4067374" y="5588224"/>
            <a:ext cx="153225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5613CB0F-B35A-4305-9090-204C42A876B9}"/>
              </a:ext>
            </a:extLst>
          </p:cNvPr>
          <p:cNvCxnSpPr>
            <a:cxnSpLocks/>
          </p:cNvCxnSpPr>
          <p:nvPr/>
        </p:nvCxnSpPr>
        <p:spPr>
          <a:xfrm flipH="1">
            <a:off x="1609574" y="5283148"/>
            <a:ext cx="1341265" cy="3322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13">
            <a:extLst>
              <a:ext uri="{FF2B5EF4-FFF2-40B4-BE49-F238E27FC236}">
                <a16:creationId xmlns:a16="http://schemas.microsoft.com/office/drawing/2014/main" id="{EDB0F069-5725-4C2F-9560-A00592607FCD}"/>
              </a:ext>
            </a:extLst>
          </p:cNvPr>
          <p:cNvSpPr txBox="1"/>
          <p:nvPr/>
        </p:nvSpPr>
        <p:spPr>
          <a:xfrm>
            <a:off x="1476725" y="4582909"/>
            <a:ext cx="140615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 dirty="0">
                <a:solidFill>
                  <a:srgbClr val="0070C0"/>
                </a:solidFill>
              </a:rPr>
              <a:t>publish</a:t>
            </a:r>
          </a:p>
          <a:p>
            <a:r>
              <a:rPr lang="en-US" altLang="ko-KR" sz="1050" dirty="0">
                <a:solidFill>
                  <a:srgbClr val="0070C0"/>
                </a:solidFill>
              </a:rPr>
              <a:t>(</a:t>
            </a:r>
            <a:r>
              <a:rPr lang="ko-KR" altLang="en-US" sz="1050">
                <a:solidFill>
                  <a:srgbClr val="0070C0"/>
                </a:solidFill>
              </a:rPr>
              <a:t>토픽</a:t>
            </a:r>
            <a:r>
              <a:rPr lang="en-US" altLang="ko-KR" sz="1050">
                <a:solidFill>
                  <a:srgbClr val="0070C0"/>
                </a:solidFill>
              </a:rPr>
              <a:t>: "command",</a:t>
            </a:r>
            <a:endParaRPr lang="en-US" altLang="ko-KR" sz="1050" dirty="0">
              <a:solidFill>
                <a:srgbClr val="0070C0"/>
              </a:solidFill>
            </a:endParaRPr>
          </a:p>
          <a:p>
            <a:r>
              <a:rPr lang="ko-KR" altLang="en-US" sz="1050">
                <a:solidFill>
                  <a:srgbClr val="0070C0"/>
                </a:solidFill>
              </a:rPr>
              <a:t>메시지</a:t>
            </a:r>
            <a:r>
              <a:rPr lang="en-US" altLang="ko-KR" sz="1050">
                <a:solidFill>
                  <a:srgbClr val="0070C0"/>
                </a:solidFill>
              </a:rPr>
              <a:t>: "start" </a:t>
            </a:r>
            <a:r>
              <a:rPr lang="ko-KR" altLang="en-US" sz="1050">
                <a:solidFill>
                  <a:srgbClr val="0070C0"/>
                </a:solidFill>
              </a:rPr>
              <a:t>혹은 </a:t>
            </a:r>
            <a:endParaRPr lang="en-US" altLang="ko-KR" sz="1050">
              <a:solidFill>
                <a:srgbClr val="0070C0"/>
              </a:solidFill>
            </a:endParaRPr>
          </a:p>
          <a:p>
            <a:r>
              <a:rPr lang="en-US" altLang="ko-KR" sz="1050">
                <a:solidFill>
                  <a:srgbClr val="0070C0"/>
                </a:solidFill>
              </a:rPr>
              <a:t>          "stop")</a:t>
            </a:r>
            <a:endParaRPr lang="ko-KR" altLang="en-US" sz="1050" dirty="0">
              <a:solidFill>
                <a:srgbClr val="0070C0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94883289-C8E1-4FF8-BE9D-CAD0F72D4A13}"/>
              </a:ext>
            </a:extLst>
          </p:cNvPr>
          <p:cNvCxnSpPr>
            <a:cxnSpLocks/>
          </p:cNvCxnSpPr>
          <p:nvPr/>
        </p:nvCxnSpPr>
        <p:spPr>
          <a:xfrm flipH="1">
            <a:off x="4028637" y="5283148"/>
            <a:ext cx="1570995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3">
            <a:extLst>
              <a:ext uri="{FF2B5EF4-FFF2-40B4-BE49-F238E27FC236}">
                <a16:creationId xmlns:a16="http://schemas.microsoft.com/office/drawing/2014/main" id="{A78F2D2C-0AE9-4937-8A6B-251C48B20265}"/>
              </a:ext>
            </a:extLst>
          </p:cNvPr>
          <p:cNvSpPr txBox="1"/>
          <p:nvPr/>
        </p:nvSpPr>
        <p:spPr>
          <a:xfrm>
            <a:off x="4245759" y="4582909"/>
            <a:ext cx="140615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 dirty="0">
                <a:solidFill>
                  <a:srgbClr val="0070C0"/>
                </a:solidFill>
              </a:rPr>
              <a:t>publish</a:t>
            </a:r>
          </a:p>
          <a:p>
            <a:r>
              <a:rPr lang="en-US" altLang="ko-KR" sz="1050" dirty="0">
                <a:solidFill>
                  <a:srgbClr val="0070C0"/>
                </a:solidFill>
              </a:rPr>
              <a:t>(</a:t>
            </a:r>
            <a:r>
              <a:rPr lang="ko-KR" altLang="en-US" sz="1050">
                <a:solidFill>
                  <a:srgbClr val="0070C0"/>
                </a:solidFill>
              </a:rPr>
              <a:t>토픽</a:t>
            </a:r>
            <a:r>
              <a:rPr lang="en-US" altLang="ko-KR" sz="1050">
                <a:solidFill>
                  <a:srgbClr val="0070C0"/>
                </a:solidFill>
              </a:rPr>
              <a:t>: "command",</a:t>
            </a:r>
            <a:endParaRPr lang="en-US" altLang="ko-KR" sz="1050" dirty="0">
              <a:solidFill>
                <a:srgbClr val="0070C0"/>
              </a:solidFill>
            </a:endParaRPr>
          </a:p>
          <a:p>
            <a:r>
              <a:rPr lang="ko-KR" altLang="en-US" sz="1050">
                <a:solidFill>
                  <a:srgbClr val="0070C0"/>
                </a:solidFill>
              </a:rPr>
              <a:t>메시지</a:t>
            </a:r>
            <a:r>
              <a:rPr lang="en-US" altLang="ko-KR" sz="1050">
                <a:solidFill>
                  <a:srgbClr val="0070C0"/>
                </a:solidFill>
              </a:rPr>
              <a:t>: "start" </a:t>
            </a:r>
            <a:r>
              <a:rPr lang="ko-KR" altLang="en-US" sz="1050">
                <a:solidFill>
                  <a:srgbClr val="0070C0"/>
                </a:solidFill>
              </a:rPr>
              <a:t>혹은 </a:t>
            </a:r>
            <a:endParaRPr lang="en-US" altLang="ko-KR" sz="1050">
              <a:solidFill>
                <a:srgbClr val="0070C0"/>
              </a:solidFill>
            </a:endParaRPr>
          </a:p>
          <a:p>
            <a:r>
              <a:rPr lang="en-US" altLang="ko-KR" sz="1050">
                <a:solidFill>
                  <a:srgbClr val="0070C0"/>
                </a:solidFill>
              </a:rPr>
              <a:t>          "stop")</a:t>
            </a:r>
            <a:endParaRPr lang="ko-KR" altLang="en-US" sz="105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5258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686941" y="79288"/>
            <a:ext cx="8153400" cy="752475"/>
          </a:xfrm>
        </p:spPr>
        <p:txBody>
          <a:bodyPr>
            <a:normAutofit/>
          </a:bodyPr>
          <a:lstStyle/>
          <a:p>
            <a:r>
              <a:rPr lang="ko-KR" altLang="en-US"/>
              <a:t>예제 </a:t>
            </a:r>
            <a:r>
              <a:rPr lang="en-US" altLang="ko-KR"/>
              <a:t>7-3 </a:t>
            </a:r>
            <a:r>
              <a:rPr lang="ko-KR" altLang="en-US"/>
              <a:t>코드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4731278" y="932509"/>
            <a:ext cx="4392488" cy="36317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000" dirty="0"/>
              <a:t>import </a:t>
            </a:r>
            <a:r>
              <a:rPr lang="en-US" altLang="ko-KR" sz="1000" dirty="0" err="1"/>
              <a:t>paho.mqtt.client</a:t>
            </a:r>
            <a:r>
              <a:rPr lang="en-US" altLang="ko-KR" sz="1000" dirty="0"/>
              <a:t> as </a:t>
            </a:r>
            <a:r>
              <a:rPr lang="en-US" altLang="ko-KR" sz="1000" dirty="0" err="1"/>
              <a:t>mqtt</a:t>
            </a:r>
            <a:endParaRPr lang="en-US" altLang="ko-KR" sz="1000" dirty="0"/>
          </a:p>
          <a:p>
            <a:pPr defTabSz="180000" fontAlgn="base" latinLnBrk="0"/>
            <a:endParaRPr lang="en-US" altLang="ko-KR" sz="1000" dirty="0"/>
          </a:p>
          <a:p>
            <a:pPr defTabSz="180000" fontAlgn="base" latinLnBrk="0"/>
            <a:r>
              <a:rPr lang="en-US" altLang="ko-KR" sz="1000" b="1" dirty="0"/>
              <a:t>def </a:t>
            </a:r>
            <a:r>
              <a:rPr lang="en-US" altLang="ko-KR" sz="1000" b="1" dirty="0" err="1"/>
              <a:t>on_connect</a:t>
            </a:r>
            <a:r>
              <a:rPr lang="en-US" altLang="ko-KR" sz="1000" b="1" dirty="0"/>
              <a:t>(client, </a:t>
            </a:r>
            <a:r>
              <a:rPr lang="en-US" altLang="ko-KR" sz="1000" b="1" dirty="0" err="1"/>
              <a:t>userdata</a:t>
            </a:r>
            <a:r>
              <a:rPr lang="en-US" altLang="ko-KR" sz="1000" b="1" dirty="0"/>
              <a:t>, flag, </a:t>
            </a:r>
            <a:r>
              <a:rPr lang="en-US" altLang="ko-KR" sz="1000" b="1" dirty="0" err="1"/>
              <a:t>rc</a:t>
            </a:r>
            <a:r>
              <a:rPr lang="en-US" altLang="ko-KR" sz="1000" b="1" dirty="0"/>
              <a:t>, prop=None):</a:t>
            </a:r>
          </a:p>
          <a:p>
            <a:pPr defTabSz="180000" fontAlgn="base" latinLnBrk="0"/>
            <a:r>
              <a:rPr lang="en-US" altLang="ko-KR" sz="1000" dirty="0"/>
              <a:t>	</a:t>
            </a:r>
            <a:r>
              <a:rPr lang="en-US" altLang="ko-KR" sz="1000" dirty="0" err="1"/>
              <a:t>client.subscribe</a:t>
            </a:r>
            <a:r>
              <a:rPr lang="en-US" altLang="ko-KR" sz="1000" dirty="0"/>
              <a:t>("room/temp") # </a:t>
            </a:r>
            <a:r>
              <a:rPr lang="ko-KR" altLang="en-US" sz="1000" dirty="0"/>
              <a:t>메시지 구독 신청</a:t>
            </a:r>
            <a:endParaRPr lang="en-US" altLang="ko-KR" sz="1000" dirty="0"/>
          </a:p>
          <a:p>
            <a:pPr defTabSz="180000" fontAlgn="base" latinLnBrk="0"/>
            <a:endParaRPr lang="ko-KR" altLang="en-US" sz="1000" dirty="0"/>
          </a:p>
          <a:p>
            <a:pPr defTabSz="180000" fontAlgn="base" latinLnBrk="0"/>
            <a:r>
              <a:rPr lang="en-US" altLang="ko-KR" sz="1000" b="1" dirty="0"/>
              <a:t>def </a:t>
            </a:r>
            <a:r>
              <a:rPr lang="en-US" altLang="ko-KR" sz="1000" b="1" dirty="0" err="1"/>
              <a:t>on_message</a:t>
            </a:r>
            <a:r>
              <a:rPr lang="en-US" altLang="ko-KR" sz="1000" b="1" dirty="0"/>
              <a:t>(client, </a:t>
            </a:r>
            <a:r>
              <a:rPr lang="en-US" altLang="ko-KR" sz="1000" b="1" dirty="0" err="1"/>
              <a:t>userdata</a:t>
            </a:r>
            <a:r>
              <a:rPr lang="en-US" altLang="ko-KR" sz="1000" b="1" dirty="0"/>
              <a:t>, msg):</a:t>
            </a:r>
          </a:p>
          <a:p>
            <a:pPr defTabSz="180000" fontAlgn="base" latinLnBrk="0"/>
            <a:r>
              <a:rPr lang="en-US" altLang="ko-KR" sz="1000" dirty="0"/>
              <a:t>	print(</a:t>
            </a:r>
            <a:r>
              <a:rPr lang="en-US" altLang="ko-KR" sz="1000" dirty="0" err="1"/>
              <a:t>msg.topic</a:t>
            </a:r>
            <a:r>
              <a:rPr lang="en-US" altLang="ko-KR" sz="1000" dirty="0"/>
              <a:t>, end=", ") # </a:t>
            </a:r>
            <a:r>
              <a:rPr lang="ko-KR" altLang="en-US" sz="1000" dirty="0"/>
              <a:t>토픽 출력</a:t>
            </a:r>
          </a:p>
          <a:p>
            <a:pPr defTabSz="180000" fontAlgn="base" latinLnBrk="0"/>
            <a:r>
              <a:rPr lang="ko-KR" altLang="en-US" sz="1000" dirty="0"/>
              <a:t>	</a:t>
            </a:r>
            <a:r>
              <a:rPr lang="en-US" altLang="ko-KR" sz="1000" dirty="0"/>
              <a:t>print(int(</a:t>
            </a:r>
            <a:r>
              <a:rPr lang="en-US" altLang="ko-KR" sz="1000" dirty="0" err="1"/>
              <a:t>msg.payload</a:t>
            </a:r>
            <a:r>
              <a:rPr lang="en-US" altLang="ko-KR" sz="1000" dirty="0"/>
              <a:t>)) # </a:t>
            </a:r>
            <a:r>
              <a:rPr lang="ko-KR" altLang="en-US" sz="1000" dirty="0"/>
              <a:t>메시지 데이터 출력</a:t>
            </a:r>
            <a:endParaRPr lang="en-US" altLang="ko-KR" sz="1000" dirty="0"/>
          </a:p>
          <a:p>
            <a:pPr defTabSz="180000" fontAlgn="base" latinLnBrk="0"/>
            <a:endParaRPr lang="ko-KR" altLang="en-US" sz="1000" dirty="0"/>
          </a:p>
          <a:p>
            <a:pPr defTabSz="180000" fontAlgn="base" latinLnBrk="0"/>
            <a:r>
              <a:rPr lang="en-US" altLang="ko-KR" sz="1000" b="1" dirty="0" err="1"/>
              <a:t>ip</a:t>
            </a:r>
            <a:r>
              <a:rPr lang="en-US" altLang="ko-KR" sz="1000" b="1" dirty="0"/>
              <a:t> = input("</a:t>
            </a:r>
            <a:r>
              <a:rPr lang="ko-KR" altLang="en-US" sz="1000" b="1" dirty="0"/>
              <a:t>브로커의 </a:t>
            </a:r>
            <a:r>
              <a:rPr lang="en-US" altLang="ko-KR" sz="1000" b="1" dirty="0"/>
              <a:t>IP </a:t>
            </a:r>
            <a:r>
              <a:rPr lang="ko-KR" altLang="en-US" sz="1000" b="1" dirty="0"/>
              <a:t>주소</a:t>
            </a:r>
            <a:r>
              <a:rPr lang="en-US" altLang="ko-KR" sz="1000" b="1" dirty="0"/>
              <a:t>&gt;&gt;") </a:t>
            </a:r>
            <a:r>
              <a:rPr lang="en-US" altLang="ko-KR" sz="1000" dirty="0"/>
              <a:t># </a:t>
            </a:r>
            <a:r>
              <a:rPr lang="ko-KR" altLang="en-US" sz="1000" dirty="0"/>
              <a:t>브로커 </a:t>
            </a:r>
            <a:r>
              <a:rPr lang="en-US" altLang="ko-KR" sz="1000" dirty="0"/>
              <a:t>IP </a:t>
            </a:r>
            <a:r>
              <a:rPr lang="ko-KR" altLang="en-US" sz="1000" dirty="0"/>
              <a:t>주소 입력</a:t>
            </a:r>
          </a:p>
          <a:p>
            <a:pPr defTabSz="180000" fontAlgn="base" latinLnBrk="0"/>
            <a:r>
              <a:rPr lang="en-US" altLang="ko-KR" sz="1000" dirty="0"/>
              <a:t>client = </a:t>
            </a:r>
            <a:r>
              <a:rPr lang="en-US" altLang="ko-KR" sz="1000" dirty="0" err="1"/>
              <a:t>mqtt.Client</a:t>
            </a:r>
            <a:r>
              <a:rPr lang="en-US" altLang="ko-KR" sz="1000" dirty="0"/>
              <a:t>(mqtt.CallbackAPIVersion.VERSION2) </a:t>
            </a:r>
          </a:p>
          <a:p>
            <a:pPr defTabSz="180000" fontAlgn="base" latinLnBrk="0"/>
            <a:r>
              <a:rPr lang="en-US" altLang="ko-KR" sz="1000" dirty="0" err="1"/>
              <a:t>client.on_connect</a:t>
            </a:r>
            <a:r>
              <a:rPr lang="en-US" altLang="ko-KR" sz="1000" dirty="0"/>
              <a:t>=</a:t>
            </a:r>
            <a:r>
              <a:rPr lang="en-US" altLang="ko-KR" sz="1000" dirty="0" err="1"/>
              <a:t>on_connect</a:t>
            </a:r>
            <a:r>
              <a:rPr lang="en-US" altLang="ko-KR" sz="1000" dirty="0"/>
              <a:t> </a:t>
            </a:r>
          </a:p>
          <a:p>
            <a:pPr defTabSz="180000" fontAlgn="base" latinLnBrk="0"/>
            <a:r>
              <a:rPr lang="en-US" altLang="ko-KR" sz="1000" dirty="0" err="1"/>
              <a:t>client.on_message</a:t>
            </a:r>
            <a:r>
              <a:rPr lang="en-US" altLang="ko-KR" sz="1000" dirty="0"/>
              <a:t>=</a:t>
            </a:r>
            <a:r>
              <a:rPr lang="en-US" altLang="ko-KR" sz="1000" dirty="0" err="1"/>
              <a:t>on_message</a:t>
            </a:r>
            <a:endParaRPr lang="en-US" altLang="ko-KR" sz="1000" dirty="0"/>
          </a:p>
          <a:p>
            <a:pPr defTabSz="180000" fontAlgn="base" latinLnBrk="0"/>
            <a:r>
              <a:rPr lang="en-US" altLang="ko-KR" sz="1000" b="1" dirty="0" err="1"/>
              <a:t>client.connect</a:t>
            </a:r>
            <a:r>
              <a:rPr lang="en-US" altLang="ko-KR" sz="1000" b="1" dirty="0"/>
              <a:t>(</a:t>
            </a:r>
            <a:r>
              <a:rPr lang="en-US" altLang="ko-KR" sz="1000" b="1" dirty="0" err="1"/>
              <a:t>ip</a:t>
            </a:r>
            <a:r>
              <a:rPr lang="en-US" altLang="ko-KR" sz="1000" b="1" dirty="0"/>
              <a:t>, 1883) # 1883 </a:t>
            </a:r>
            <a:r>
              <a:rPr lang="ko-KR" altLang="en-US" sz="1000" b="1" dirty="0"/>
              <a:t>포트로 브로커에 접속</a:t>
            </a:r>
          </a:p>
          <a:p>
            <a:pPr defTabSz="180000" fontAlgn="base" latinLnBrk="0"/>
            <a:r>
              <a:rPr lang="en-US" altLang="ko-KR" sz="1000" b="1" dirty="0" err="1"/>
              <a:t>client.loop_start</a:t>
            </a:r>
            <a:r>
              <a:rPr lang="en-US" altLang="ko-KR" sz="1000" b="1" dirty="0"/>
              <a:t>() </a:t>
            </a:r>
            <a:r>
              <a:rPr lang="en-US" altLang="ko-KR" sz="1000" dirty="0"/>
              <a:t># </a:t>
            </a:r>
            <a:r>
              <a:rPr lang="ko-KR" altLang="en-US" sz="1000" dirty="0"/>
              <a:t>메시지 루프 시작</a:t>
            </a:r>
          </a:p>
          <a:p>
            <a:pPr defTabSz="180000" fontAlgn="base" latinLnBrk="0"/>
            <a:r>
              <a:rPr lang="en-US" altLang="ko-KR" sz="1000" dirty="0"/>
              <a:t>while True:</a:t>
            </a:r>
          </a:p>
          <a:p>
            <a:pPr defTabSz="180000" fontAlgn="base" latinLnBrk="0"/>
            <a:r>
              <a:rPr lang="en-US" altLang="ko-KR" sz="1000" dirty="0"/>
              <a:t>	command = input("</a:t>
            </a:r>
            <a:r>
              <a:rPr lang="ko-KR" altLang="en-US" sz="1000" dirty="0"/>
              <a:t>전송 시작</a:t>
            </a:r>
            <a:r>
              <a:rPr lang="en-US" altLang="ko-KR" sz="1000" dirty="0"/>
              <a:t>/</a:t>
            </a:r>
            <a:r>
              <a:rPr lang="ko-KR" altLang="en-US" sz="1000" dirty="0"/>
              <a:t>중단</a:t>
            </a:r>
            <a:r>
              <a:rPr lang="en-US" altLang="ko-KR" sz="1000" dirty="0"/>
              <a:t>(start/stop </a:t>
            </a:r>
            <a:r>
              <a:rPr lang="ko-KR" altLang="en-US" sz="1000" dirty="0"/>
              <a:t>입력</a:t>
            </a:r>
            <a:r>
              <a:rPr lang="en-US" altLang="ko-KR" sz="1000" dirty="0"/>
              <a:t>)&gt;&gt;")</a:t>
            </a:r>
            <a:endParaRPr lang="ko-KR" altLang="en-US" sz="1000" dirty="0"/>
          </a:p>
          <a:p>
            <a:pPr defTabSz="180000" fontAlgn="base" latinLnBrk="0"/>
            <a:r>
              <a:rPr lang="ko-KR" altLang="en-US" sz="1000" dirty="0"/>
              <a:t>	</a:t>
            </a:r>
            <a:r>
              <a:rPr lang="en-US" altLang="ko-KR" sz="1000" dirty="0"/>
              <a:t>if command == "start" or command == "stop":</a:t>
            </a:r>
          </a:p>
          <a:p>
            <a:pPr defTabSz="180000" fontAlgn="base" latinLnBrk="0"/>
            <a:r>
              <a:rPr lang="en-US" altLang="ko-KR" sz="1000" dirty="0"/>
              <a:t>		</a:t>
            </a:r>
            <a:r>
              <a:rPr lang="en-US" altLang="ko-KR" sz="1000" b="1" dirty="0" err="1"/>
              <a:t>client.publish</a:t>
            </a:r>
            <a:r>
              <a:rPr lang="en-US" altLang="ko-KR" sz="1000" b="1" dirty="0"/>
              <a:t>("command", command) </a:t>
            </a:r>
            <a:r>
              <a:rPr lang="en-US" altLang="ko-KR" sz="1000" dirty="0"/>
              <a:t># </a:t>
            </a:r>
            <a:r>
              <a:rPr lang="ko-KR" altLang="en-US" sz="1000" dirty="0"/>
              <a:t>토픽 </a:t>
            </a:r>
            <a:r>
              <a:rPr lang="en-US" altLang="ko-KR" sz="1000" dirty="0"/>
              <a:t>"command"</a:t>
            </a:r>
            <a:r>
              <a:rPr lang="ko-KR" altLang="en-US" sz="1000" dirty="0"/>
              <a:t>로 </a:t>
            </a:r>
            <a:r>
              <a:rPr lang="en-US" altLang="ko-KR" sz="1000" dirty="0"/>
              <a:t>"start" </a:t>
            </a:r>
            <a:r>
              <a:rPr lang="ko-KR" altLang="en-US" sz="1000" dirty="0"/>
              <a:t>혹은 </a:t>
            </a:r>
            <a:r>
              <a:rPr lang="en-US" altLang="ko-KR" sz="1000" dirty="0"/>
              <a:t>"stop" </a:t>
            </a:r>
            <a:r>
              <a:rPr lang="ko-KR" altLang="en-US" sz="1000" dirty="0"/>
              <a:t>메시지 전송</a:t>
            </a:r>
            <a:endParaRPr lang="en-US" altLang="ko-KR" sz="1000" dirty="0"/>
          </a:p>
          <a:p>
            <a:pPr defTabSz="180000" fontAlgn="base" latinLnBrk="0"/>
            <a:endParaRPr lang="ko-KR" altLang="en-US" sz="1000" dirty="0"/>
          </a:p>
          <a:p>
            <a:pPr defTabSz="180000" fontAlgn="base" latinLnBrk="0"/>
            <a:r>
              <a:rPr lang="en-US" altLang="ko-KR" sz="1000" b="1" dirty="0" err="1"/>
              <a:t>client.loop_stop</a:t>
            </a:r>
            <a:r>
              <a:rPr lang="en-US" altLang="ko-KR" sz="1000" b="1" dirty="0"/>
              <a:t>() </a:t>
            </a:r>
            <a:r>
              <a:rPr lang="en-US" altLang="ko-KR" sz="1000" dirty="0"/>
              <a:t># </a:t>
            </a:r>
            <a:r>
              <a:rPr lang="ko-KR" altLang="en-US" sz="1000" dirty="0"/>
              <a:t>메시지 루프를 실행하는 스레드 종료</a:t>
            </a:r>
          </a:p>
          <a:p>
            <a:pPr defTabSz="180000" fontAlgn="base" latinLnBrk="0"/>
            <a:r>
              <a:rPr lang="en-US" altLang="ko-KR" sz="1000" dirty="0" err="1"/>
              <a:t>client.disconnect</a:t>
            </a:r>
            <a:r>
              <a:rPr lang="en-US" altLang="ko-KR" sz="1000" dirty="0"/>
              <a:t>()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8511" y="917912"/>
            <a:ext cx="4541664" cy="59400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000" dirty="0"/>
              <a:t>import </a:t>
            </a:r>
            <a:r>
              <a:rPr lang="en-US" altLang="ko-KR" sz="1000" dirty="0" err="1"/>
              <a:t>paho.mqtt.client</a:t>
            </a:r>
            <a:r>
              <a:rPr lang="en-US" altLang="ko-KR" sz="1000" dirty="0"/>
              <a:t> as </a:t>
            </a:r>
            <a:r>
              <a:rPr lang="en-US" altLang="ko-KR" sz="1000" dirty="0" err="1"/>
              <a:t>mqtt</a:t>
            </a:r>
            <a:endParaRPr lang="en-US" altLang="ko-KR" sz="1000" dirty="0"/>
          </a:p>
          <a:p>
            <a:pPr defTabSz="180000" fontAlgn="base" latinLnBrk="0"/>
            <a:r>
              <a:rPr lang="en-US" altLang="ko-KR" sz="1000" dirty="0"/>
              <a:t>import time</a:t>
            </a:r>
          </a:p>
          <a:p>
            <a:pPr defTabSz="180000" fontAlgn="base" latinLnBrk="0"/>
            <a:r>
              <a:rPr lang="en-US" altLang="ko-KR" sz="1000" dirty="0"/>
              <a:t>import random</a:t>
            </a:r>
          </a:p>
          <a:p>
            <a:pPr defTabSz="180000" fontAlgn="base" latinLnBrk="0"/>
            <a:endParaRPr lang="en-US" altLang="ko-KR" sz="1000" dirty="0"/>
          </a:p>
          <a:p>
            <a:pPr defTabSz="180000" fontAlgn="base" latinLnBrk="0"/>
            <a:r>
              <a:rPr lang="en-US" altLang="ko-KR" sz="1000" dirty="0"/>
              <a:t>flag = "stop" # </a:t>
            </a:r>
            <a:r>
              <a:rPr lang="ko-KR" altLang="en-US" sz="1000" dirty="0"/>
              <a:t>온도 전송을 하지 않음을 뜻함</a:t>
            </a:r>
          </a:p>
          <a:p>
            <a:pPr defTabSz="180000" fontAlgn="base" latinLnBrk="0"/>
            <a:r>
              <a:rPr lang="en-US" altLang="ko-KR" sz="1000" b="1" dirty="0"/>
              <a:t>def </a:t>
            </a:r>
            <a:r>
              <a:rPr lang="en-US" altLang="ko-KR" sz="1000" b="1" dirty="0" err="1"/>
              <a:t>on_connect</a:t>
            </a:r>
            <a:r>
              <a:rPr lang="en-US" altLang="ko-KR" sz="1000" b="1" dirty="0"/>
              <a:t>(client, </a:t>
            </a:r>
            <a:r>
              <a:rPr lang="en-US" altLang="ko-KR" sz="1000" b="1" dirty="0" err="1"/>
              <a:t>userdata</a:t>
            </a:r>
            <a:r>
              <a:rPr lang="en-US" altLang="ko-KR" sz="1000" b="1" dirty="0"/>
              <a:t>, flag, </a:t>
            </a:r>
            <a:r>
              <a:rPr lang="en-US" altLang="ko-KR" sz="1000" b="1" dirty="0" err="1"/>
              <a:t>rc</a:t>
            </a:r>
            <a:r>
              <a:rPr lang="en-US" altLang="ko-KR" sz="1000" b="1" dirty="0"/>
              <a:t>, prop=None):</a:t>
            </a:r>
          </a:p>
          <a:p>
            <a:pPr defTabSz="180000" fontAlgn="base" latinLnBrk="0"/>
            <a:r>
              <a:rPr lang="en-US" altLang="ko-KR" sz="1000" dirty="0"/>
              <a:t>	</a:t>
            </a:r>
            <a:r>
              <a:rPr lang="en-US" altLang="ko-KR" sz="1000" dirty="0" err="1"/>
              <a:t>client.subscribe</a:t>
            </a:r>
            <a:r>
              <a:rPr lang="en-US" altLang="ko-KR" sz="1000" dirty="0"/>
              <a:t>("command") # command </a:t>
            </a:r>
            <a:r>
              <a:rPr lang="ko-KR" altLang="en-US" sz="1000" dirty="0"/>
              <a:t>토픽으로 메시지 구독 신청</a:t>
            </a:r>
            <a:endParaRPr lang="en-US" altLang="ko-KR" sz="1000" dirty="0"/>
          </a:p>
          <a:p>
            <a:pPr defTabSz="180000" fontAlgn="base" latinLnBrk="0"/>
            <a:endParaRPr lang="ko-KR" altLang="en-US" sz="1000" dirty="0"/>
          </a:p>
          <a:p>
            <a:pPr defTabSz="180000" fontAlgn="base" latinLnBrk="0"/>
            <a:r>
              <a:rPr lang="en-US" altLang="ko-KR" sz="1000" b="1" dirty="0"/>
              <a:t>def </a:t>
            </a:r>
            <a:r>
              <a:rPr lang="en-US" altLang="ko-KR" sz="1000" b="1" dirty="0" err="1"/>
              <a:t>on_message</a:t>
            </a:r>
            <a:r>
              <a:rPr lang="en-US" altLang="ko-KR" sz="1000" b="1" dirty="0"/>
              <a:t>(client, </a:t>
            </a:r>
            <a:r>
              <a:rPr lang="en-US" altLang="ko-KR" sz="1000" b="1" dirty="0" err="1"/>
              <a:t>userdata</a:t>
            </a:r>
            <a:r>
              <a:rPr lang="en-US" altLang="ko-KR" sz="1000" b="1" dirty="0"/>
              <a:t>, msg):</a:t>
            </a:r>
          </a:p>
          <a:p>
            <a:pPr defTabSz="180000" fontAlgn="base" latinLnBrk="0"/>
            <a:r>
              <a:rPr lang="en-US" altLang="ko-KR" sz="1000" dirty="0"/>
              <a:t>	global flag # </a:t>
            </a:r>
            <a:r>
              <a:rPr lang="ko-KR" altLang="en-US" sz="1000" dirty="0"/>
              <a:t>전역변수 </a:t>
            </a:r>
            <a:r>
              <a:rPr lang="en-US" altLang="ko-KR" sz="1000" dirty="0"/>
              <a:t>flag </a:t>
            </a:r>
            <a:r>
              <a:rPr lang="ko-KR" altLang="en-US" sz="1000" dirty="0"/>
              <a:t>사용</a:t>
            </a:r>
          </a:p>
          <a:p>
            <a:pPr defTabSz="180000" fontAlgn="base" latinLnBrk="0"/>
            <a:r>
              <a:rPr lang="ko-KR" altLang="en-US" sz="1000" dirty="0"/>
              <a:t>	</a:t>
            </a:r>
            <a:r>
              <a:rPr lang="en-US" altLang="ko-KR" sz="1000" dirty="0"/>
              <a:t>command = </a:t>
            </a:r>
            <a:r>
              <a:rPr lang="en-US" altLang="ko-KR" sz="1000" dirty="0" err="1"/>
              <a:t>msg.payload.decode</a:t>
            </a:r>
            <a:r>
              <a:rPr lang="en-US" altLang="ko-KR" sz="1000" dirty="0"/>
              <a:t>('utf-8')</a:t>
            </a:r>
          </a:p>
          <a:p>
            <a:pPr defTabSz="180000" fontAlgn="base" latinLnBrk="0"/>
            <a:r>
              <a:rPr lang="en-US" altLang="ko-KR" sz="1000" dirty="0"/>
              <a:t>	if command == "start":</a:t>
            </a:r>
          </a:p>
          <a:p>
            <a:pPr defTabSz="180000" fontAlgn="base" latinLnBrk="0"/>
            <a:r>
              <a:rPr lang="en-US" altLang="ko-KR" sz="1000" dirty="0"/>
              <a:t>		flag = "start"</a:t>
            </a:r>
          </a:p>
          <a:p>
            <a:pPr defTabSz="180000" fontAlgn="base" latinLnBrk="0"/>
            <a:r>
              <a:rPr lang="en-US" altLang="ko-KR" sz="1000" dirty="0"/>
              <a:t>		print("</a:t>
            </a:r>
            <a:r>
              <a:rPr lang="ko-KR" altLang="en-US" sz="1000" dirty="0"/>
              <a:t>온도 전송</a:t>
            </a:r>
            <a:r>
              <a:rPr lang="en-US" altLang="ko-KR" sz="1000" dirty="0"/>
              <a:t>...")</a:t>
            </a:r>
            <a:endParaRPr lang="ko-KR" altLang="en-US" sz="1000" dirty="0"/>
          </a:p>
          <a:p>
            <a:pPr defTabSz="180000" fontAlgn="base" latinLnBrk="0"/>
            <a:r>
              <a:rPr lang="ko-KR" altLang="en-US" sz="1000" dirty="0"/>
              <a:t>	</a:t>
            </a:r>
            <a:r>
              <a:rPr lang="en-US" altLang="ko-KR" sz="1000" dirty="0" err="1"/>
              <a:t>elif</a:t>
            </a:r>
            <a:r>
              <a:rPr lang="en-US" altLang="ko-KR" sz="1000" dirty="0"/>
              <a:t> command == "stop":</a:t>
            </a:r>
          </a:p>
          <a:p>
            <a:pPr defTabSz="180000" fontAlgn="base" latinLnBrk="0"/>
            <a:r>
              <a:rPr lang="en-US" altLang="ko-KR" sz="1000" dirty="0"/>
              <a:t>		flag = "stop"</a:t>
            </a:r>
          </a:p>
          <a:p>
            <a:pPr defTabSz="180000" fontAlgn="base" latinLnBrk="0"/>
            <a:r>
              <a:rPr lang="en-US" altLang="ko-KR" sz="1000" dirty="0"/>
              <a:t>		print("\n</a:t>
            </a:r>
            <a:r>
              <a:rPr lang="ko-KR" altLang="en-US" sz="1000" dirty="0"/>
              <a:t>전송 중단</a:t>
            </a:r>
            <a:r>
              <a:rPr lang="en-US" altLang="ko-KR" sz="1000" dirty="0"/>
              <a:t>...")</a:t>
            </a:r>
            <a:endParaRPr lang="ko-KR" altLang="en-US" sz="1000" dirty="0"/>
          </a:p>
          <a:p>
            <a:pPr defTabSz="180000" fontAlgn="base" latinLnBrk="0"/>
            <a:r>
              <a:rPr lang="ko-KR" altLang="en-US" sz="1000" dirty="0"/>
              <a:t>	</a:t>
            </a:r>
            <a:r>
              <a:rPr lang="en-US" altLang="ko-KR" sz="1000" dirty="0"/>
              <a:t>else:</a:t>
            </a:r>
          </a:p>
          <a:p>
            <a:pPr defTabSz="180000" fontAlgn="base" latinLnBrk="0"/>
            <a:r>
              <a:rPr lang="en-US" altLang="ko-KR" sz="1000" dirty="0"/>
              <a:t>		print("</a:t>
            </a:r>
            <a:r>
              <a:rPr lang="ko-KR" altLang="en-US" sz="1000" dirty="0"/>
              <a:t>명령 오류</a:t>
            </a:r>
            <a:r>
              <a:rPr lang="en-US" altLang="ko-KR" sz="1000" dirty="0"/>
              <a:t>: ", command)</a:t>
            </a:r>
          </a:p>
          <a:p>
            <a:pPr defTabSz="180000" fontAlgn="base" latinLnBrk="0"/>
            <a:endParaRPr lang="en-US" altLang="ko-KR" sz="1000" dirty="0"/>
          </a:p>
          <a:p>
            <a:pPr defTabSz="180000" fontAlgn="base" latinLnBrk="0"/>
            <a:r>
              <a:rPr lang="en-US" altLang="ko-KR" sz="1000" dirty="0" err="1"/>
              <a:t>broker_ip</a:t>
            </a:r>
            <a:r>
              <a:rPr lang="en-US" altLang="ko-KR" sz="1000" dirty="0"/>
              <a:t> = "localhost" # </a:t>
            </a:r>
            <a:r>
              <a:rPr lang="ko-KR" altLang="en-US" sz="1000" dirty="0"/>
              <a:t>이 컴퓨터의 브로커에 접속</a:t>
            </a:r>
          </a:p>
          <a:p>
            <a:pPr defTabSz="180000" fontAlgn="base" latinLnBrk="0"/>
            <a:r>
              <a:rPr lang="en-US" altLang="ko-KR" sz="1000" b="1" dirty="0"/>
              <a:t>client = </a:t>
            </a:r>
            <a:r>
              <a:rPr lang="en-US" altLang="ko-KR" sz="1000" b="1" dirty="0" err="1"/>
              <a:t>mqtt.Client</a:t>
            </a:r>
            <a:r>
              <a:rPr lang="en-US" altLang="ko-KR" sz="1000" b="1" dirty="0"/>
              <a:t>(</a:t>
            </a:r>
            <a:r>
              <a:rPr lang="en-US" altLang="ko-KR" sz="1000" dirty="0"/>
              <a:t>mqtt.CallbackAPIVersion.VERSION2</a:t>
            </a:r>
            <a:r>
              <a:rPr lang="en-US" altLang="ko-KR" sz="1000" b="1" dirty="0"/>
              <a:t>)</a:t>
            </a:r>
          </a:p>
          <a:p>
            <a:pPr defTabSz="180000" fontAlgn="base" latinLnBrk="0"/>
            <a:r>
              <a:rPr lang="en-US" altLang="ko-KR" sz="1000" dirty="0" err="1"/>
              <a:t>client.on_connect</a:t>
            </a:r>
            <a:r>
              <a:rPr lang="en-US" altLang="ko-KR" sz="1000" dirty="0"/>
              <a:t> = </a:t>
            </a:r>
            <a:r>
              <a:rPr lang="en-US" altLang="ko-KR" sz="1000" dirty="0" err="1"/>
              <a:t>on_connect</a:t>
            </a:r>
            <a:endParaRPr lang="en-US" altLang="ko-KR" sz="1000" dirty="0"/>
          </a:p>
          <a:p>
            <a:pPr defTabSz="180000" fontAlgn="base" latinLnBrk="0"/>
            <a:r>
              <a:rPr lang="en-US" altLang="ko-KR" sz="1000" dirty="0" err="1"/>
              <a:t>client.on_message</a:t>
            </a:r>
            <a:r>
              <a:rPr lang="en-US" altLang="ko-KR" sz="1000" dirty="0"/>
              <a:t> = </a:t>
            </a:r>
            <a:r>
              <a:rPr lang="en-US" altLang="ko-KR" sz="1000" dirty="0" err="1"/>
              <a:t>on_message</a:t>
            </a:r>
            <a:endParaRPr lang="en-US" altLang="ko-KR" sz="1000" dirty="0"/>
          </a:p>
          <a:p>
            <a:pPr defTabSz="180000" fontAlgn="base" latinLnBrk="0"/>
            <a:r>
              <a:rPr lang="en-US" altLang="ko-KR" sz="1000" b="1" dirty="0" err="1"/>
              <a:t>client.connect</a:t>
            </a:r>
            <a:r>
              <a:rPr lang="en-US" altLang="ko-KR" sz="1000" b="1" dirty="0"/>
              <a:t>(</a:t>
            </a:r>
            <a:r>
              <a:rPr lang="en-US" altLang="ko-KR" sz="1000" b="1" dirty="0" err="1"/>
              <a:t>broker_ip</a:t>
            </a:r>
            <a:r>
              <a:rPr lang="en-US" altLang="ko-KR" sz="1000" b="1" dirty="0"/>
              <a:t>, 1883) # 1883 </a:t>
            </a:r>
            <a:r>
              <a:rPr lang="ko-KR" altLang="en-US" sz="1000" b="1" dirty="0"/>
              <a:t>포트로 브로커에 접속</a:t>
            </a:r>
          </a:p>
          <a:p>
            <a:pPr defTabSz="180000" fontAlgn="base" latinLnBrk="0"/>
            <a:r>
              <a:rPr lang="en-US" altLang="ko-KR" sz="1000" b="1" dirty="0" err="1"/>
              <a:t>client.loop_start</a:t>
            </a:r>
            <a:r>
              <a:rPr lang="en-US" altLang="ko-KR" sz="1000" b="1" dirty="0"/>
              <a:t>() </a:t>
            </a:r>
            <a:r>
              <a:rPr lang="en-US" altLang="ko-KR" sz="1000" dirty="0"/>
              <a:t># </a:t>
            </a:r>
            <a:r>
              <a:rPr lang="ko-KR" altLang="en-US" sz="1000" dirty="0"/>
              <a:t>메시지 루프를 실행하는 스레드 생성</a:t>
            </a:r>
            <a:endParaRPr lang="en-US" altLang="ko-KR" sz="1000" dirty="0"/>
          </a:p>
          <a:p>
            <a:pPr defTabSz="180000" fontAlgn="base" latinLnBrk="0"/>
            <a:endParaRPr lang="ko-KR" altLang="en-US" sz="1000" dirty="0"/>
          </a:p>
          <a:p>
            <a:pPr defTabSz="180000" fontAlgn="base" latinLnBrk="0"/>
            <a:r>
              <a:rPr lang="en-US" altLang="ko-KR" sz="1000" dirty="0"/>
              <a:t>print("</a:t>
            </a:r>
            <a:r>
              <a:rPr lang="ko-KR" altLang="en-US" sz="1000" dirty="0"/>
              <a:t>시작 명령 대기 </a:t>
            </a:r>
            <a:r>
              <a:rPr lang="en-US" altLang="ko-KR" sz="1000" dirty="0"/>
              <a:t>...")</a:t>
            </a:r>
            <a:endParaRPr lang="ko-KR" altLang="en-US" sz="1000" dirty="0"/>
          </a:p>
          <a:p>
            <a:pPr defTabSz="180000" fontAlgn="base" latinLnBrk="0"/>
            <a:r>
              <a:rPr lang="en-US" altLang="ko-KR" sz="1000" dirty="0"/>
              <a:t>while True:</a:t>
            </a:r>
          </a:p>
          <a:p>
            <a:pPr defTabSz="180000" fontAlgn="base" latinLnBrk="0"/>
            <a:r>
              <a:rPr lang="en-US" altLang="ko-KR" sz="1000" dirty="0"/>
              <a:t>	if flag == "start":</a:t>
            </a:r>
          </a:p>
          <a:p>
            <a:pPr defTabSz="180000" fontAlgn="base" latinLnBrk="0"/>
            <a:r>
              <a:rPr lang="en-US" altLang="ko-KR" sz="1000" dirty="0"/>
              <a:t>		temperature = </a:t>
            </a:r>
            <a:r>
              <a:rPr lang="en-US" altLang="ko-KR" sz="1000" dirty="0" err="1"/>
              <a:t>random.randint</a:t>
            </a:r>
            <a:r>
              <a:rPr lang="en-US" altLang="ko-KR" sz="1000" dirty="0"/>
              <a:t>(0, 40) # [0, 39]</a:t>
            </a:r>
            <a:r>
              <a:rPr lang="ko-KR" altLang="en-US" sz="1000" dirty="0"/>
              <a:t>사이의 랜덤 정수</a:t>
            </a:r>
          </a:p>
          <a:p>
            <a:pPr defTabSz="180000" fontAlgn="base" latinLnBrk="0"/>
            <a:r>
              <a:rPr lang="ko-KR" altLang="en-US" sz="1000" dirty="0"/>
              <a:t>		</a:t>
            </a:r>
            <a:r>
              <a:rPr lang="en-US" altLang="ko-KR" sz="1000" b="1" dirty="0" err="1"/>
              <a:t>client.publish</a:t>
            </a:r>
            <a:r>
              <a:rPr lang="en-US" altLang="ko-KR" sz="1000" b="1" dirty="0"/>
              <a:t>("room/temp", temperature) # </a:t>
            </a:r>
            <a:r>
              <a:rPr lang="ko-KR" altLang="en-US" sz="1000" b="1" dirty="0"/>
              <a:t>온도 전송</a:t>
            </a:r>
          </a:p>
          <a:p>
            <a:pPr defTabSz="180000" fontAlgn="base" latinLnBrk="0"/>
            <a:r>
              <a:rPr lang="ko-KR" altLang="en-US" sz="1000" dirty="0"/>
              <a:t>		</a:t>
            </a:r>
            <a:r>
              <a:rPr lang="en-US" altLang="ko-KR" sz="1000" dirty="0"/>
              <a:t>print(temperature, end=" ", flush=True)</a:t>
            </a:r>
          </a:p>
          <a:p>
            <a:pPr defTabSz="180000" fontAlgn="base" latinLnBrk="0"/>
            <a:r>
              <a:rPr lang="en-US" altLang="ko-KR" sz="1000" dirty="0"/>
              <a:t>	</a:t>
            </a:r>
            <a:r>
              <a:rPr lang="en-US" altLang="ko-KR" sz="1000" dirty="0" err="1"/>
              <a:t>time.sleep</a:t>
            </a:r>
            <a:r>
              <a:rPr lang="en-US" altLang="ko-KR" sz="1000" dirty="0"/>
              <a:t>(2) # 2</a:t>
            </a:r>
            <a:r>
              <a:rPr lang="ko-KR" altLang="en-US" sz="1000" dirty="0"/>
              <a:t>초 동안 잠자기</a:t>
            </a:r>
            <a:endParaRPr lang="en-US" altLang="ko-KR" sz="1000" dirty="0"/>
          </a:p>
          <a:p>
            <a:pPr defTabSz="180000" fontAlgn="base" latinLnBrk="0"/>
            <a:endParaRPr lang="ko-KR" altLang="en-US" sz="1000" dirty="0"/>
          </a:p>
          <a:p>
            <a:pPr defTabSz="180000" fontAlgn="base" latinLnBrk="0"/>
            <a:r>
              <a:rPr lang="en-US" altLang="ko-KR" sz="1000" b="1" dirty="0" err="1"/>
              <a:t>client.loop_stop</a:t>
            </a:r>
            <a:r>
              <a:rPr lang="en-US" altLang="ko-KR" sz="1000" b="1" dirty="0"/>
              <a:t>() </a:t>
            </a:r>
            <a:r>
              <a:rPr lang="en-US" altLang="ko-KR" sz="1000" dirty="0"/>
              <a:t># </a:t>
            </a:r>
            <a:r>
              <a:rPr lang="ko-KR" altLang="en-US" sz="1000" dirty="0"/>
              <a:t>메시지 루프를 실행하는 스레드 종료</a:t>
            </a:r>
          </a:p>
          <a:p>
            <a:pPr defTabSz="180000" fontAlgn="base" latinLnBrk="0"/>
            <a:r>
              <a:rPr lang="en-US" altLang="ko-KR" sz="1000" dirty="0" err="1"/>
              <a:t>client.disconnect</a:t>
            </a:r>
            <a:r>
              <a:rPr lang="en-US" altLang="ko-KR" sz="1000" dirty="0"/>
              <a:t>()</a:t>
            </a:r>
          </a:p>
          <a:p>
            <a:pPr defTabSz="180000" fontAlgn="base" latinLnBrk="0"/>
            <a:r>
              <a:rPr lang="en-US" altLang="ko-KR" sz="1000" dirty="0"/>
              <a:t>print("</a:t>
            </a:r>
            <a:r>
              <a:rPr lang="ko-KR" altLang="en-US" sz="1000" dirty="0"/>
              <a:t>프로그램 종료</a:t>
            </a:r>
            <a:r>
              <a:rPr lang="en-US" altLang="ko-KR" sz="1000" dirty="0"/>
              <a:t>")</a:t>
            </a:r>
            <a:endParaRPr lang="ko-KR" alt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68511" y="693263"/>
            <a:ext cx="3770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rgbClr val="C00000"/>
                </a:solidFill>
              </a:rPr>
              <a:t>7-3pi.py(</a:t>
            </a:r>
            <a:r>
              <a:rPr lang="ko-KR" altLang="en-US" sz="1200">
                <a:solidFill>
                  <a:srgbClr val="C00000"/>
                </a:solidFill>
              </a:rPr>
              <a:t>라즈베라파이의 </a:t>
            </a:r>
            <a:r>
              <a:rPr lang="en-US" altLang="ko-KR" sz="1200">
                <a:solidFill>
                  <a:srgbClr val="C00000"/>
                </a:solidFill>
              </a:rPr>
              <a:t>pi/ch07</a:t>
            </a:r>
            <a:r>
              <a:rPr lang="ko-KR" altLang="en-US" sz="1200">
                <a:solidFill>
                  <a:srgbClr val="C00000"/>
                </a:solidFill>
              </a:rPr>
              <a:t> 디렉터리에 저장</a:t>
            </a:r>
            <a:r>
              <a:rPr lang="en-US" altLang="ko-KR" sz="1200">
                <a:solidFill>
                  <a:srgbClr val="C00000"/>
                </a:solidFill>
              </a:rPr>
              <a:t>)</a:t>
            </a:r>
            <a:endParaRPr lang="ko-KR" altLang="en-US" sz="1200">
              <a:solidFill>
                <a:srgbClr val="C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29DDC8-E48E-41EE-8D4A-7C75480DDB2C}"/>
              </a:ext>
            </a:extLst>
          </p:cNvPr>
          <p:cNvSpPr/>
          <p:nvPr/>
        </p:nvSpPr>
        <p:spPr>
          <a:xfrm>
            <a:off x="4650648" y="672482"/>
            <a:ext cx="4460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C00000"/>
                </a:solidFill>
              </a:rPr>
              <a:t>7-3win.py(</a:t>
            </a:r>
            <a:r>
              <a:rPr lang="ko-KR" altLang="en-US" sz="1200">
                <a:solidFill>
                  <a:srgbClr val="C00000"/>
                </a:solidFill>
              </a:rPr>
              <a:t>윈도우 노트북에서 실행</a:t>
            </a:r>
            <a:r>
              <a:rPr lang="en-US" altLang="ko-KR" sz="1200">
                <a:solidFill>
                  <a:srgbClr val="C00000"/>
                </a:solidFill>
              </a:rPr>
              <a:t>, C:\pi\ch07</a:t>
            </a:r>
            <a:r>
              <a:rPr lang="ko-KR" altLang="en-US" sz="1200">
                <a:solidFill>
                  <a:srgbClr val="C00000"/>
                </a:solidFill>
              </a:rPr>
              <a:t>에 저장</a:t>
            </a:r>
            <a:r>
              <a:rPr lang="en-US" altLang="ko-KR" sz="1200">
                <a:solidFill>
                  <a:srgbClr val="C00000"/>
                </a:solidFill>
              </a:rPr>
              <a:t>)</a:t>
            </a:r>
            <a:endParaRPr lang="ko-KR" altLang="en-US" sz="12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8505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  <a:r>
              <a:rPr lang="en-US" altLang="ko-KR"/>
              <a:t> 7-3 </a:t>
            </a:r>
            <a:r>
              <a:rPr lang="ko-KR" altLang="en-US"/>
              <a:t>실행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480888" y="4076047"/>
            <a:ext cx="3947095" cy="156966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200" b="1"/>
              <a:t>(myenv) pi@pi:~/ch07 $ python 7-3pi.py</a:t>
            </a:r>
            <a:endParaRPr lang="ko-KR" altLang="en-US" sz="1200" b="1"/>
          </a:p>
          <a:p>
            <a:pPr fontAlgn="base"/>
            <a:r>
              <a:rPr lang="ko-KR" altLang="en-US" sz="1200"/>
              <a:t>시작 명령 대기 </a:t>
            </a:r>
            <a:r>
              <a:rPr lang="en-US" altLang="ko-KR" sz="1200"/>
              <a:t>...</a:t>
            </a:r>
            <a:endParaRPr lang="ko-KR" altLang="en-US" sz="1200"/>
          </a:p>
          <a:p>
            <a:pPr fontAlgn="base"/>
            <a:r>
              <a:rPr lang="ko-KR" altLang="en-US" sz="1200"/>
              <a:t>온도 전송</a:t>
            </a:r>
            <a:r>
              <a:rPr lang="en-US" altLang="ko-KR" sz="1200"/>
              <a:t>...</a:t>
            </a:r>
            <a:endParaRPr lang="ko-KR" altLang="en-US" sz="1200"/>
          </a:p>
          <a:p>
            <a:pPr fontAlgn="base"/>
            <a:r>
              <a:rPr lang="en-US" altLang="ko-KR" sz="1200"/>
              <a:t>34 36 19 13</a:t>
            </a:r>
            <a:endParaRPr lang="ko-KR" altLang="en-US" sz="1200"/>
          </a:p>
          <a:p>
            <a:pPr fontAlgn="base"/>
            <a:r>
              <a:rPr lang="ko-KR" altLang="en-US" sz="1200"/>
              <a:t>전송 중단</a:t>
            </a:r>
            <a:r>
              <a:rPr lang="en-US" altLang="ko-KR" sz="1200"/>
              <a:t>...</a:t>
            </a:r>
            <a:endParaRPr lang="ko-KR" altLang="en-US" sz="1200"/>
          </a:p>
          <a:p>
            <a:pPr fontAlgn="base"/>
            <a:r>
              <a:rPr lang="ko-KR" altLang="en-US" sz="1200"/>
              <a:t>온도 전송</a:t>
            </a:r>
            <a:r>
              <a:rPr lang="en-US" altLang="ko-KR" sz="1200"/>
              <a:t>...</a:t>
            </a:r>
            <a:endParaRPr lang="ko-KR" altLang="en-US" sz="1200"/>
          </a:p>
          <a:p>
            <a:pPr fontAlgn="base"/>
            <a:r>
              <a:rPr lang="en-US" altLang="ko-KR" sz="1200"/>
              <a:t>32 13 21 16</a:t>
            </a:r>
            <a:endParaRPr lang="ko-KR" altLang="en-US" sz="1200"/>
          </a:p>
          <a:p>
            <a:pPr fontAlgn="base"/>
            <a:r>
              <a:rPr lang="ko-KR" altLang="en-US" sz="1200"/>
              <a:t>전송 중단</a:t>
            </a:r>
            <a:r>
              <a:rPr lang="en-US" altLang="ko-KR" sz="1200"/>
              <a:t>...</a:t>
            </a:r>
            <a:endParaRPr lang="ko-KR" altLang="en-US" sz="1200"/>
          </a:p>
        </p:txBody>
      </p:sp>
      <p:sp>
        <p:nvSpPr>
          <p:cNvPr id="5" name="직사각형 4"/>
          <p:cNvSpPr/>
          <p:nvPr/>
        </p:nvSpPr>
        <p:spPr>
          <a:xfrm>
            <a:off x="4873720" y="2908469"/>
            <a:ext cx="3888432" cy="341632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200" b="1"/>
              <a:t>C:\pi\ch07&gt;python 7-3win.py</a:t>
            </a:r>
          </a:p>
          <a:p>
            <a:pPr fontAlgn="base"/>
            <a:r>
              <a:rPr lang="ko-KR" altLang="en-US" sz="1200"/>
              <a:t>브로커의 </a:t>
            </a:r>
            <a:r>
              <a:rPr lang="en-US" altLang="ko-KR" sz="1200"/>
              <a:t>IP&gt;&gt; </a:t>
            </a:r>
            <a:r>
              <a:rPr lang="en-US" altLang="ko-KR" sz="1200">
                <a:solidFill>
                  <a:srgbClr val="00B050"/>
                </a:solidFill>
              </a:rPr>
              <a:t>192.168.0.5</a:t>
            </a:r>
          </a:p>
          <a:p>
            <a:pPr fontAlgn="base"/>
            <a:r>
              <a:rPr lang="ko-KR" altLang="en-US" sz="1200"/>
              <a:t>전송 시작</a:t>
            </a:r>
            <a:r>
              <a:rPr lang="en-US" altLang="ko-KR" sz="1200"/>
              <a:t>/</a:t>
            </a:r>
            <a:r>
              <a:rPr lang="ko-KR" altLang="en-US" sz="1200"/>
              <a:t>중단</a:t>
            </a:r>
            <a:r>
              <a:rPr lang="en-US" altLang="ko-KR" sz="1200"/>
              <a:t>(start/stop </a:t>
            </a:r>
            <a:r>
              <a:rPr lang="ko-KR" altLang="en-US" sz="1200"/>
              <a:t>입력</a:t>
            </a:r>
            <a:r>
              <a:rPr lang="en-US" altLang="ko-KR" sz="1200"/>
              <a:t>)&gt;&gt;</a:t>
            </a:r>
            <a:r>
              <a:rPr lang="en-US" altLang="ko-KR" sz="1200">
                <a:solidFill>
                  <a:srgbClr val="00B050"/>
                </a:solidFill>
              </a:rPr>
              <a:t>start</a:t>
            </a:r>
          </a:p>
          <a:p>
            <a:pPr fontAlgn="base"/>
            <a:r>
              <a:rPr lang="ko-KR" altLang="en-US" sz="1200"/>
              <a:t>전송 시작</a:t>
            </a:r>
            <a:r>
              <a:rPr lang="en-US" altLang="ko-KR" sz="1200"/>
              <a:t>/</a:t>
            </a:r>
            <a:r>
              <a:rPr lang="ko-KR" altLang="en-US" sz="1200"/>
              <a:t>중단</a:t>
            </a:r>
            <a:r>
              <a:rPr lang="en-US" altLang="ko-KR" sz="1200"/>
              <a:t>(start/stop </a:t>
            </a:r>
            <a:r>
              <a:rPr lang="ko-KR" altLang="en-US" sz="1200"/>
              <a:t>입력</a:t>
            </a:r>
            <a:r>
              <a:rPr lang="en-US" altLang="ko-KR" sz="1200"/>
              <a:t>)&gt;&gt;</a:t>
            </a:r>
            <a:endParaRPr lang="ko-KR" altLang="en-US" sz="1200"/>
          </a:p>
          <a:p>
            <a:pPr fontAlgn="base"/>
            <a:r>
              <a:rPr lang="en-US" altLang="ko-KR" sz="1200"/>
              <a:t>room/temp, 34</a:t>
            </a:r>
          </a:p>
          <a:p>
            <a:pPr fontAlgn="base"/>
            <a:r>
              <a:rPr lang="en-US" altLang="ko-KR" sz="1200"/>
              <a:t>room/temp, 36</a:t>
            </a:r>
          </a:p>
          <a:p>
            <a:pPr fontAlgn="base"/>
            <a:r>
              <a:rPr lang="en-US" altLang="ko-KR" sz="1200"/>
              <a:t>room/temp, 19</a:t>
            </a:r>
          </a:p>
          <a:p>
            <a:pPr fontAlgn="base"/>
            <a:r>
              <a:rPr lang="en-US" altLang="ko-KR" sz="1200"/>
              <a:t>room/temp, 13</a:t>
            </a:r>
          </a:p>
          <a:p>
            <a:pPr fontAlgn="base"/>
            <a:r>
              <a:rPr lang="en-US" altLang="ko-KR" sz="1200">
                <a:solidFill>
                  <a:srgbClr val="00B050"/>
                </a:solidFill>
              </a:rPr>
              <a:t>stop</a:t>
            </a:r>
          </a:p>
          <a:p>
            <a:pPr fontAlgn="base"/>
            <a:r>
              <a:rPr lang="ko-KR" altLang="en-US" sz="1200"/>
              <a:t>전송 시작</a:t>
            </a:r>
            <a:r>
              <a:rPr lang="en-US" altLang="ko-KR" sz="1200"/>
              <a:t>/</a:t>
            </a:r>
            <a:r>
              <a:rPr lang="ko-KR" altLang="en-US" sz="1200"/>
              <a:t>중단</a:t>
            </a:r>
            <a:r>
              <a:rPr lang="en-US" altLang="ko-KR" sz="1200"/>
              <a:t>(start/stop </a:t>
            </a:r>
            <a:r>
              <a:rPr lang="ko-KR" altLang="en-US" sz="1200"/>
              <a:t>입력</a:t>
            </a:r>
            <a:r>
              <a:rPr lang="en-US" altLang="ko-KR" sz="1200"/>
              <a:t>)&gt;&gt;</a:t>
            </a:r>
            <a:r>
              <a:rPr lang="en-US" altLang="ko-KR" sz="1200">
                <a:solidFill>
                  <a:srgbClr val="00B050"/>
                </a:solidFill>
              </a:rPr>
              <a:t>start</a:t>
            </a:r>
          </a:p>
          <a:p>
            <a:pPr fontAlgn="base"/>
            <a:r>
              <a:rPr lang="ko-KR" altLang="en-US" sz="1200"/>
              <a:t>전송 시작</a:t>
            </a:r>
            <a:r>
              <a:rPr lang="en-US" altLang="ko-KR" sz="1200"/>
              <a:t>/</a:t>
            </a:r>
            <a:r>
              <a:rPr lang="ko-KR" altLang="en-US" sz="1200"/>
              <a:t>중단</a:t>
            </a:r>
            <a:r>
              <a:rPr lang="en-US" altLang="ko-KR" sz="1200"/>
              <a:t>(start/stop </a:t>
            </a:r>
            <a:r>
              <a:rPr lang="ko-KR" altLang="en-US" sz="1200"/>
              <a:t>입력</a:t>
            </a:r>
            <a:r>
              <a:rPr lang="en-US" altLang="ko-KR" sz="1200"/>
              <a:t>)&gt;&gt;</a:t>
            </a:r>
            <a:endParaRPr lang="ko-KR" altLang="en-US" sz="1200"/>
          </a:p>
          <a:p>
            <a:pPr fontAlgn="base"/>
            <a:r>
              <a:rPr lang="en-US" altLang="ko-KR" sz="1200"/>
              <a:t>room/temp, 32</a:t>
            </a:r>
          </a:p>
          <a:p>
            <a:pPr fontAlgn="base"/>
            <a:r>
              <a:rPr lang="en-US" altLang="ko-KR" sz="1200"/>
              <a:t>room/temp, 13</a:t>
            </a:r>
          </a:p>
          <a:p>
            <a:pPr fontAlgn="base"/>
            <a:r>
              <a:rPr lang="en-US" altLang="ko-KR" sz="1200"/>
              <a:t>room/temp, 21</a:t>
            </a:r>
          </a:p>
          <a:p>
            <a:pPr fontAlgn="base"/>
            <a:r>
              <a:rPr lang="en-US" altLang="ko-KR" sz="1200"/>
              <a:t>room/temp, 16</a:t>
            </a:r>
          </a:p>
          <a:p>
            <a:pPr fontAlgn="base"/>
            <a:r>
              <a:rPr lang="ko-KR" altLang="en-US" sz="1200"/>
              <a:t>전송 시작</a:t>
            </a:r>
            <a:r>
              <a:rPr lang="en-US" altLang="ko-KR" sz="1200"/>
              <a:t>/</a:t>
            </a:r>
            <a:r>
              <a:rPr lang="ko-KR" altLang="en-US" sz="1200"/>
              <a:t>중단</a:t>
            </a:r>
            <a:r>
              <a:rPr lang="en-US" altLang="ko-KR" sz="1200"/>
              <a:t>(start/stop </a:t>
            </a:r>
            <a:r>
              <a:rPr lang="ko-KR" altLang="en-US" sz="1200"/>
              <a:t>입력</a:t>
            </a:r>
            <a:r>
              <a:rPr lang="en-US" altLang="ko-KR" sz="1200"/>
              <a:t>)&gt;&gt;</a:t>
            </a:r>
            <a:r>
              <a:rPr lang="en-US" altLang="ko-KR" sz="1200">
                <a:solidFill>
                  <a:srgbClr val="00B050"/>
                </a:solidFill>
              </a:rPr>
              <a:t>stop</a:t>
            </a:r>
          </a:p>
          <a:p>
            <a:pPr fontAlgn="base"/>
            <a:r>
              <a:rPr lang="ko-KR" altLang="en-US" sz="1200"/>
              <a:t>전송 시작</a:t>
            </a:r>
            <a:r>
              <a:rPr lang="en-US" altLang="ko-KR" sz="1200"/>
              <a:t>/</a:t>
            </a:r>
            <a:r>
              <a:rPr lang="ko-KR" altLang="en-US" sz="1200"/>
              <a:t>중단</a:t>
            </a:r>
            <a:r>
              <a:rPr lang="en-US" altLang="ko-KR" sz="1200"/>
              <a:t>(start/stop </a:t>
            </a:r>
            <a:r>
              <a:rPr lang="ko-KR" altLang="en-US" sz="1200"/>
              <a:t>입력</a:t>
            </a:r>
            <a:r>
              <a:rPr lang="en-US" altLang="ko-KR" sz="1200"/>
              <a:t>)&gt;&gt;</a:t>
            </a:r>
            <a:endParaRPr lang="ko-KR" altLang="en-US" sz="1200"/>
          </a:p>
          <a:p>
            <a:endParaRPr lang="ko-KR" altLang="en-US" sz="1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891613-C4D5-4C0E-AEE8-2908C90BB897}"/>
              </a:ext>
            </a:extLst>
          </p:cNvPr>
          <p:cNvSpPr txBox="1"/>
          <p:nvPr/>
        </p:nvSpPr>
        <p:spPr>
          <a:xfrm>
            <a:off x="368577" y="1525738"/>
            <a:ext cx="4734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(1) putty</a:t>
            </a:r>
            <a:r>
              <a:rPr lang="ko-KR" altLang="en-US" sz="1200"/>
              <a:t> 터미널을 열고</a:t>
            </a:r>
            <a:r>
              <a:rPr lang="en-US" altLang="ko-KR" sz="1200"/>
              <a:t>, </a:t>
            </a:r>
            <a:r>
              <a:rPr lang="ko-KR" altLang="en-US" sz="1200"/>
              <a:t>라즈베리파이에 접속 후 </a:t>
            </a:r>
            <a:r>
              <a:rPr lang="en-US" altLang="ko-KR" sz="1200"/>
              <a:t>mosquitto</a:t>
            </a:r>
            <a:r>
              <a:rPr lang="ko-KR" altLang="en-US" sz="1200"/>
              <a:t> 실행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3AF618-CCD7-46F4-84CE-11015C1569EB}"/>
              </a:ext>
            </a:extLst>
          </p:cNvPr>
          <p:cNvSpPr/>
          <p:nvPr/>
        </p:nvSpPr>
        <p:spPr>
          <a:xfrm>
            <a:off x="480012" y="1874470"/>
            <a:ext cx="3947972" cy="120032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b="1"/>
              <a:t>pi@pi:~ $ mosquitto –v –c mos.conf</a:t>
            </a:r>
          </a:p>
          <a:p>
            <a:pPr fontAlgn="base" latinLnBrk="0"/>
            <a:r>
              <a:rPr lang="en-US" altLang="ko-KR" sz="1200"/>
              <a:t>1702180719: mosquitto version 2.0.11 starting</a:t>
            </a:r>
          </a:p>
          <a:p>
            <a:pPr fontAlgn="base" latinLnBrk="0"/>
            <a:r>
              <a:rPr lang="en-US" altLang="ko-KR" sz="1200"/>
              <a:t>1702180719: Config loaded from mos.conf.</a:t>
            </a:r>
          </a:p>
          <a:p>
            <a:pPr fontAlgn="base" latinLnBrk="0"/>
            <a:r>
              <a:rPr lang="en-US" altLang="ko-KR" sz="1200"/>
              <a:t>1702180719: Opening ipv4 listen socket on port 1883.</a:t>
            </a:r>
          </a:p>
          <a:p>
            <a:pPr fontAlgn="base" latinLnBrk="0"/>
            <a:r>
              <a:rPr lang="en-US" altLang="ko-KR" sz="1200"/>
              <a:t>1702180719: Opening ipv6 listen socket on port 1883.</a:t>
            </a:r>
          </a:p>
          <a:p>
            <a:pPr fontAlgn="base" latinLnBrk="0"/>
            <a:r>
              <a:rPr lang="en-US" altLang="ko-KR" sz="1200"/>
              <a:t>1702180719: mosquitto version 2.0.11 running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FA1B15-B360-4927-A308-A689133513C6}"/>
              </a:ext>
            </a:extLst>
          </p:cNvPr>
          <p:cNvSpPr txBox="1"/>
          <p:nvPr/>
        </p:nvSpPr>
        <p:spPr>
          <a:xfrm>
            <a:off x="323528" y="3356992"/>
            <a:ext cx="3722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(2) putty </a:t>
            </a:r>
            <a:r>
              <a:rPr lang="ko-KR" altLang="en-US" sz="1200"/>
              <a:t>터미널 </a:t>
            </a:r>
            <a:r>
              <a:rPr lang="en-US" altLang="ko-KR" sz="1200"/>
              <a:t>1</a:t>
            </a:r>
            <a:r>
              <a:rPr lang="ko-KR" altLang="en-US" sz="1200"/>
              <a:t>개 더 열고</a:t>
            </a:r>
            <a:r>
              <a:rPr lang="en-US" altLang="ko-KR" sz="1200"/>
              <a:t>, </a:t>
            </a:r>
            <a:r>
              <a:rPr lang="ko-KR" altLang="en-US" sz="1200"/>
              <a:t>라즈베리파이에 접속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    myenv</a:t>
            </a:r>
            <a:r>
              <a:rPr lang="ko-KR" altLang="en-US" sz="1200"/>
              <a:t> 가상환경 활성화 후</a:t>
            </a:r>
            <a:endParaRPr lang="en-US" altLang="ko-KR" sz="1200"/>
          </a:p>
          <a:p>
            <a:r>
              <a:rPr lang="en-US" altLang="ko-KR" sz="1200"/>
              <a:t>    pi/ch07 </a:t>
            </a:r>
            <a:r>
              <a:rPr lang="ko-KR" altLang="en-US" sz="1200"/>
              <a:t>디렉터리로 이동 후 </a:t>
            </a:r>
            <a:r>
              <a:rPr lang="en-US" altLang="ko-KR" sz="1200"/>
              <a:t>7-3pi.py </a:t>
            </a:r>
            <a:r>
              <a:rPr lang="ko-KR" altLang="en-US" sz="1200"/>
              <a:t>실행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0A08B4-C9E4-4169-8039-4B3A0325D735}"/>
              </a:ext>
            </a:extLst>
          </p:cNvPr>
          <p:cNvSpPr txBox="1"/>
          <p:nvPr/>
        </p:nvSpPr>
        <p:spPr>
          <a:xfrm>
            <a:off x="4805144" y="2396193"/>
            <a:ext cx="3039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(3) </a:t>
            </a:r>
            <a:r>
              <a:rPr lang="ko-KR" altLang="en-US" sz="1200"/>
              <a:t>윈도우에서 명령창 열고</a:t>
            </a:r>
            <a:endParaRPr lang="en-US" altLang="ko-KR" sz="1200"/>
          </a:p>
          <a:p>
            <a:r>
              <a:rPr lang="en-US" altLang="ko-KR" sz="1200"/>
              <a:t>  C:\pi\ch07</a:t>
            </a:r>
            <a:r>
              <a:rPr lang="ko-KR" altLang="en-US" sz="1200"/>
              <a:t>로 이동하여 </a:t>
            </a:r>
            <a:r>
              <a:rPr lang="en-US" altLang="ko-KR" sz="1200"/>
              <a:t>7-3win.py</a:t>
            </a:r>
            <a:r>
              <a:rPr lang="ko-KR" altLang="en-US" sz="1200"/>
              <a:t> 실행</a:t>
            </a:r>
          </a:p>
        </p:txBody>
      </p:sp>
      <p:sp>
        <p:nvSpPr>
          <p:cNvPr id="14" name="말풍선: 모서리가 둥근 사각형 13">
            <a:extLst>
              <a:ext uri="{FF2B5EF4-FFF2-40B4-BE49-F238E27FC236}">
                <a16:creationId xmlns:a16="http://schemas.microsoft.com/office/drawing/2014/main" id="{40430CCC-2BAB-435C-A125-80A1097F3571}"/>
              </a:ext>
            </a:extLst>
          </p:cNvPr>
          <p:cNvSpPr/>
          <p:nvPr/>
        </p:nvSpPr>
        <p:spPr>
          <a:xfrm>
            <a:off x="6343963" y="4221088"/>
            <a:ext cx="2105981" cy="321020"/>
          </a:xfrm>
          <a:prstGeom prst="wedgeRoundRectCallout">
            <a:avLst>
              <a:gd name="adj1" fmla="val -100637"/>
              <a:gd name="adj2" fmla="val 44054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ko-KR" sz="1100">
                <a:solidFill>
                  <a:schemeClr val="tx1"/>
                </a:solidFill>
              </a:rPr>
              <a:t>stop</a:t>
            </a:r>
            <a:r>
              <a:rPr lang="ko-KR" altLang="en-US" sz="1100">
                <a:solidFill>
                  <a:schemeClr val="tx1"/>
                </a:solidFill>
              </a:rPr>
              <a:t> 입력되면 전송 중단</a:t>
            </a:r>
          </a:p>
        </p:txBody>
      </p:sp>
    </p:spTree>
    <p:extLst>
      <p:ext uri="{BB962C8B-B14F-4D97-AF65-F5344CB8AC3E}">
        <p14:creationId xmlns:p14="http://schemas.microsoft.com/office/powerpoint/2010/main" val="5041659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64D66-D456-3043-A2DE-A02D229B6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/>
              <a:t>예제 </a:t>
            </a:r>
            <a:r>
              <a:rPr kumimoji="1" lang="en-US" altLang="ko-KR"/>
              <a:t>7-4</a:t>
            </a:r>
            <a:r>
              <a:rPr kumimoji="1" lang="ko-KR" altLang="en-US"/>
              <a:t> 윈도우에서 라즈베리파이가 촬영한 카메라 이미지 수신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0EE71C-5976-0B40-B859-3D42BD9F1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24675" y="1484784"/>
            <a:ext cx="75543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4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라즈베리파이에서 카메라로 사진을 촬영하여 이미지를 전송하면 윈도우에서 이미지를 수신하여 </a:t>
            </a:r>
            <a:r>
              <a:rPr lang="en-US" altLang="ko-KR"/>
              <a:t>jpeg </a:t>
            </a:r>
            <a:r>
              <a:rPr lang="ko-KR" altLang="en-US"/>
              <a:t>파일로 저장하는 응용 시스템을 만들어보자</a:t>
            </a:r>
            <a:r>
              <a:rPr lang="en-US" altLang="ko-KR"/>
              <a:t>.</a:t>
            </a:r>
            <a:endParaRPr lang="ko-KR" altLang="en-US"/>
          </a:p>
          <a:p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/>
                </a:solidFill>
              </a:rPr>
              <a:t>토픽 </a:t>
            </a:r>
            <a:r>
              <a:rPr lang="en-US" altLang="ko-KR">
                <a:solidFill>
                  <a:schemeClr val="tx1"/>
                </a:solidFill>
              </a:rPr>
              <a:t>: “jpeg”</a:t>
            </a:r>
            <a:endParaRPr lang="ko-KR" alt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/>
                </a:solidFill>
              </a:rPr>
              <a:t>메시지 </a:t>
            </a:r>
            <a:r>
              <a:rPr lang="en-US" altLang="ko-KR">
                <a:solidFill>
                  <a:schemeClr val="tx1"/>
                </a:solidFill>
              </a:rPr>
              <a:t>: </a:t>
            </a:r>
            <a:r>
              <a:rPr lang="ko-KR" altLang="en-US">
                <a:solidFill>
                  <a:schemeClr val="tx1"/>
                </a:solidFill>
              </a:rPr>
              <a:t>이미지 데이터</a:t>
            </a:r>
            <a:r>
              <a:rPr lang="en-US" altLang="ko-KR">
                <a:solidFill>
                  <a:schemeClr val="tx1"/>
                </a:solidFill>
              </a:rPr>
              <a:t>(</a:t>
            </a:r>
            <a:r>
              <a:rPr lang="ko-KR" altLang="en-US">
                <a:solidFill>
                  <a:schemeClr val="tx1"/>
                </a:solidFill>
              </a:rPr>
              <a:t>바이너리 데이터</a:t>
            </a:r>
            <a:r>
              <a:rPr lang="en-US" altLang="ko-KR">
                <a:solidFill>
                  <a:schemeClr val="tx1"/>
                </a:solidFill>
              </a:rPr>
              <a:t>)</a:t>
            </a:r>
            <a:endParaRPr lang="ko-KR" alt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/>
                </a:solidFill>
              </a:rPr>
              <a:t>mosquitto </a:t>
            </a:r>
            <a:r>
              <a:rPr lang="ko-KR" altLang="en-US">
                <a:solidFill>
                  <a:schemeClr val="tx1"/>
                </a:solidFill>
              </a:rPr>
              <a:t>브로커 </a:t>
            </a:r>
            <a:r>
              <a:rPr lang="en-US" altLang="ko-KR">
                <a:solidFill>
                  <a:schemeClr val="tx1"/>
                </a:solidFill>
              </a:rPr>
              <a:t>: </a:t>
            </a:r>
            <a:r>
              <a:rPr lang="ko-KR" altLang="en-US">
                <a:solidFill>
                  <a:schemeClr val="tx1"/>
                </a:solidFill>
              </a:rPr>
              <a:t>라즈베리파이에서 실행</a:t>
            </a:r>
            <a:r>
              <a:rPr lang="en-US" altLang="ko-KR">
                <a:solidFill>
                  <a:schemeClr val="tx1"/>
                </a:solidFill>
              </a:rPr>
              <a:t>. 1883 </a:t>
            </a:r>
            <a:r>
              <a:rPr lang="ko-KR" altLang="en-US">
                <a:solidFill>
                  <a:schemeClr val="tx1"/>
                </a:solidFill>
              </a:rPr>
              <a:t>포트 이용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/>
                </a:solidFill>
              </a:rPr>
              <a:t>publisher : </a:t>
            </a:r>
            <a:r>
              <a:rPr lang="ko-KR" altLang="en-US">
                <a:solidFill>
                  <a:schemeClr val="tx1"/>
                </a:solidFill>
              </a:rPr>
              <a:t>라즈베리파이에서 실행</a:t>
            </a:r>
            <a:r>
              <a:rPr lang="en-US" altLang="ko-KR">
                <a:solidFill>
                  <a:schemeClr val="tx1"/>
                </a:solidFill>
              </a:rPr>
              <a:t>. </a:t>
            </a:r>
            <a:r>
              <a:rPr lang="ko-KR" altLang="en-US">
                <a:solidFill>
                  <a:schemeClr val="tx1"/>
                </a:solidFill>
              </a:rPr>
              <a:t>사진 촬영 후 이미지 바로 전송</a:t>
            </a:r>
            <a:r>
              <a:rPr lang="en-US" altLang="ko-KR">
                <a:solidFill>
                  <a:schemeClr val="tx1"/>
                </a:solidFill>
              </a:rPr>
              <a:t>. 7-4pi.py</a:t>
            </a:r>
            <a:endParaRPr lang="ko-KR" alt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/>
                </a:solidFill>
              </a:rPr>
              <a:t>subscriber : </a:t>
            </a:r>
            <a:r>
              <a:rPr lang="ko-KR" altLang="en-US">
                <a:solidFill>
                  <a:schemeClr val="tx1"/>
                </a:solidFill>
              </a:rPr>
              <a:t>윈도우에서 실행되며</a:t>
            </a:r>
            <a:r>
              <a:rPr lang="en-US" altLang="ko-KR">
                <a:solidFill>
                  <a:schemeClr val="tx1"/>
                </a:solidFill>
              </a:rPr>
              <a:t>, </a:t>
            </a:r>
            <a:r>
              <a:rPr lang="ko-KR" altLang="en-US">
                <a:solidFill>
                  <a:schemeClr val="tx1"/>
                </a:solidFill>
              </a:rPr>
              <a:t>이미지를 받아 파일로 저장</a:t>
            </a:r>
            <a:r>
              <a:rPr lang="en-US" altLang="ko-KR">
                <a:solidFill>
                  <a:schemeClr val="tx1"/>
                </a:solidFill>
              </a:rPr>
              <a:t>. 7-4win.py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5FA985CC-8057-465E-A8E7-D8FF8DE6FBAE}"/>
              </a:ext>
            </a:extLst>
          </p:cNvPr>
          <p:cNvSpPr/>
          <p:nvPr/>
        </p:nvSpPr>
        <p:spPr>
          <a:xfrm>
            <a:off x="450065" y="4059085"/>
            <a:ext cx="4015055" cy="1681982"/>
          </a:xfrm>
          <a:prstGeom prst="roundRect">
            <a:avLst>
              <a:gd name="adj" fmla="val 6616"/>
            </a:avLst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3161734-3EB2-4287-8BC2-749C7ED05ED7}"/>
              </a:ext>
            </a:extLst>
          </p:cNvPr>
          <p:cNvSpPr/>
          <p:nvPr/>
        </p:nvSpPr>
        <p:spPr>
          <a:xfrm>
            <a:off x="2926985" y="4390474"/>
            <a:ext cx="1109836" cy="100811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Mosquitto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CBDF6272-7530-4AA4-964A-44C369BF0F5C}"/>
              </a:ext>
            </a:extLst>
          </p:cNvPr>
          <p:cNvSpPr/>
          <p:nvPr/>
        </p:nvSpPr>
        <p:spPr>
          <a:xfrm>
            <a:off x="510893" y="4559081"/>
            <a:ext cx="1068127" cy="67089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>
                <a:solidFill>
                  <a:schemeClr val="tx1"/>
                </a:solidFill>
              </a:rPr>
              <a:t>7-4pi.</a:t>
            </a:r>
            <a:r>
              <a:rPr lang="en-US" altLang="ko-KR" sz="1400" dirty="0" err="1">
                <a:solidFill>
                  <a:schemeClr val="tx1"/>
                </a:solidFill>
              </a:rPr>
              <a:t>py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C1294F08-A783-434B-94CF-9C2A7D785FBB}"/>
              </a:ext>
            </a:extLst>
          </p:cNvPr>
          <p:cNvSpPr txBox="1"/>
          <p:nvPr/>
        </p:nvSpPr>
        <p:spPr>
          <a:xfrm>
            <a:off x="1501417" y="5009204"/>
            <a:ext cx="1806905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 dirty="0">
                <a:solidFill>
                  <a:srgbClr val="0070C0"/>
                </a:solidFill>
              </a:rPr>
              <a:t>publish</a:t>
            </a:r>
          </a:p>
          <a:p>
            <a:r>
              <a:rPr lang="en-US" altLang="ko-KR" sz="1050" dirty="0">
                <a:solidFill>
                  <a:srgbClr val="0070C0"/>
                </a:solidFill>
              </a:rPr>
              <a:t>(</a:t>
            </a:r>
            <a:r>
              <a:rPr lang="ko-KR" altLang="en-US" sz="1050">
                <a:solidFill>
                  <a:srgbClr val="0070C0"/>
                </a:solidFill>
              </a:rPr>
              <a:t>토픽</a:t>
            </a:r>
            <a:r>
              <a:rPr lang="en-US" altLang="ko-KR" sz="1050">
                <a:solidFill>
                  <a:srgbClr val="0070C0"/>
                </a:solidFill>
              </a:rPr>
              <a:t>: "jpeg",</a:t>
            </a:r>
            <a:endParaRPr lang="en-US" altLang="ko-KR" sz="1050" dirty="0">
              <a:solidFill>
                <a:srgbClr val="0070C0"/>
              </a:solidFill>
            </a:endParaRPr>
          </a:p>
          <a:p>
            <a:r>
              <a:rPr lang="ko-KR" altLang="en-US" sz="1050">
                <a:solidFill>
                  <a:srgbClr val="0070C0"/>
                </a:solidFill>
              </a:rPr>
              <a:t>메시지</a:t>
            </a:r>
            <a:r>
              <a:rPr lang="en-US" altLang="ko-KR" sz="1050">
                <a:solidFill>
                  <a:srgbClr val="0070C0"/>
                </a:solidFill>
              </a:rPr>
              <a:t>: jpg </a:t>
            </a:r>
            <a:r>
              <a:rPr lang="ko-KR" altLang="en-US" sz="1050">
                <a:solidFill>
                  <a:srgbClr val="0070C0"/>
                </a:solidFill>
              </a:rPr>
              <a:t>이미지 데이터</a:t>
            </a:r>
            <a:r>
              <a:rPr lang="en-US" altLang="ko-KR" sz="1050">
                <a:solidFill>
                  <a:srgbClr val="0070C0"/>
                </a:solidFill>
              </a:rPr>
              <a:t>)</a:t>
            </a:r>
            <a:endParaRPr lang="ko-KR" altLang="en-US" sz="1050" dirty="0">
              <a:solidFill>
                <a:srgbClr val="0070C0"/>
              </a:solidFill>
            </a:endParaRP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88C8F300-DFFB-4753-BEB6-BF61CEEC4412}"/>
              </a:ext>
            </a:extLst>
          </p:cNvPr>
          <p:cNvSpPr txBox="1"/>
          <p:nvPr/>
        </p:nvSpPr>
        <p:spPr>
          <a:xfrm>
            <a:off x="3843472" y="425883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>
                <a:solidFill>
                  <a:srgbClr val="C00000"/>
                </a:solidFill>
              </a:rPr>
              <a:t>1883</a:t>
            </a:r>
          </a:p>
          <a:p>
            <a:r>
              <a:rPr lang="ko-KR" altLang="en-US" sz="1200">
                <a:solidFill>
                  <a:srgbClr val="C00000"/>
                </a:solidFill>
              </a:rPr>
              <a:t>포트</a:t>
            </a:r>
            <a:endParaRPr lang="ko-KR" altLang="en-US" sz="1200" dirty="0">
              <a:solidFill>
                <a:srgbClr val="C00000"/>
              </a:solidFill>
            </a:endParaRPr>
          </a:p>
        </p:txBody>
      </p:sp>
      <p:sp>
        <p:nvSpPr>
          <p:cNvPr id="12" name="모서리가 둥근 직사각형 29">
            <a:extLst>
              <a:ext uri="{FF2B5EF4-FFF2-40B4-BE49-F238E27FC236}">
                <a16:creationId xmlns:a16="http://schemas.microsoft.com/office/drawing/2014/main" id="{717D34A7-B911-4665-91C6-CC79BE376C6A}"/>
              </a:ext>
            </a:extLst>
          </p:cNvPr>
          <p:cNvSpPr/>
          <p:nvPr/>
        </p:nvSpPr>
        <p:spPr>
          <a:xfrm>
            <a:off x="5021716" y="4077072"/>
            <a:ext cx="2269109" cy="1663995"/>
          </a:xfrm>
          <a:prstGeom prst="roundRect">
            <a:avLst>
              <a:gd name="adj" fmla="val 6386"/>
            </a:avLst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41918032-0FBA-4D4B-B47C-08BBFBAAAFEE}"/>
              </a:ext>
            </a:extLst>
          </p:cNvPr>
          <p:cNvSpPr txBox="1"/>
          <p:nvPr/>
        </p:nvSpPr>
        <p:spPr>
          <a:xfrm>
            <a:off x="1781830" y="3772539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 err="1"/>
              <a:t>라즈베리파이</a:t>
            </a:r>
            <a:endParaRPr lang="ko-KR" altLang="en-US" sz="14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D3ACF0-8F48-43AE-9780-965FA9B73A9C}"/>
              </a:ext>
            </a:extLst>
          </p:cNvPr>
          <p:cNvSpPr/>
          <p:nvPr/>
        </p:nvSpPr>
        <p:spPr>
          <a:xfrm>
            <a:off x="5569079" y="4555251"/>
            <a:ext cx="1244315" cy="7076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>
                <a:solidFill>
                  <a:schemeClr val="tx1"/>
                </a:solidFill>
              </a:rPr>
              <a:t>7-4win.py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TextBox 20">
            <a:extLst>
              <a:ext uri="{FF2B5EF4-FFF2-40B4-BE49-F238E27FC236}">
                <a16:creationId xmlns:a16="http://schemas.microsoft.com/office/drawing/2014/main" id="{52A07DD1-FFF3-4D81-8396-1EF418AE26DA}"/>
              </a:ext>
            </a:extLst>
          </p:cNvPr>
          <p:cNvSpPr txBox="1"/>
          <p:nvPr/>
        </p:nvSpPr>
        <p:spPr>
          <a:xfrm>
            <a:off x="2658035" y="4283512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>
                <a:solidFill>
                  <a:srgbClr val="C00000"/>
                </a:solidFill>
              </a:rPr>
              <a:t>1883</a:t>
            </a:r>
          </a:p>
          <a:p>
            <a:r>
              <a:rPr lang="ko-KR" altLang="en-US" sz="1200">
                <a:solidFill>
                  <a:srgbClr val="C00000"/>
                </a:solidFill>
              </a:rPr>
              <a:t>포트</a:t>
            </a:r>
            <a:endParaRPr lang="ko-KR" altLang="en-US" sz="1200" dirty="0">
              <a:solidFill>
                <a:srgbClr val="C00000"/>
              </a:solidFill>
            </a:endParaRP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98D35A8F-C265-4E8E-8438-BB401E336F6F}"/>
              </a:ext>
            </a:extLst>
          </p:cNvPr>
          <p:cNvSpPr txBox="1"/>
          <p:nvPr/>
        </p:nvSpPr>
        <p:spPr>
          <a:xfrm rot="403862">
            <a:off x="4096174" y="5074819"/>
            <a:ext cx="117532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>
                <a:solidFill>
                  <a:srgbClr val="0070C0"/>
                </a:solidFill>
              </a:rPr>
              <a:t>7-4pi.py</a:t>
            </a:r>
            <a:r>
              <a:rPr lang="ko-KR" altLang="en-US" sz="1050">
                <a:solidFill>
                  <a:srgbClr val="0070C0"/>
                </a:solidFill>
              </a:rPr>
              <a:t>가 보낸 </a:t>
            </a:r>
            <a:endParaRPr lang="en-US" altLang="ko-KR" sz="1050">
              <a:solidFill>
                <a:srgbClr val="0070C0"/>
              </a:solidFill>
            </a:endParaRPr>
          </a:p>
          <a:p>
            <a:r>
              <a:rPr lang="ko-KR" altLang="en-US" sz="1050">
                <a:solidFill>
                  <a:srgbClr val="0070C0"/>
                </a:solidFill>
              </a:rPr>
              <a:t>이미지 데이터</a:t>
            </a:r>
            <a:endParaRPr lang="ko-KR" altLang="en-US" sz="1050" dirty="0">
              <a:solidFill>
                <a:srgbClr val="0070C0"/>
              </a:solidFill>
            </a:endParaRPr>
          </a:p>
        </p:txBody>
      </p:sp>
      <p:sp>
        <p:nvSpPr>
          <p:cNvPr id="17" name="TextBox 25">
            <a:extLst>
              <a:ext uri="{FF2B5EF4-FFF2-40B4-BE49-F238E27FC236}">
                <a16:creationId xmlns:a16="http://schemas.microsoft.com/office/drawing/2014/main" id="{A1A198A8-37A3-42D2-8ED1-462B2DB97470}"/>
              </a:ext>
            </a:extLst>
          </p:cNvPr>
          <p:cNvSpPr txBox="1"/>
          <p:nvPr/>
        </p:nvSpPr>
        <p:spPr>
          <a:xfrm>
            <a:off x="5895041" y="379845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/>
              <a:t>노트북</a:t>
            </a:r>
            <a:endParaRPr lang="ko-KR" altLang="en-US" sz="1400" b="1" dirty="0"/>
          </a:p>
        </p:txBody>
      </p:sp>
      <p:sp>
        <p:nvSpPr>
          <p:cNvPr id="18" name="순서도: 자기 디스크 17">
            <a:extLst>
              <a:ext uri="{FF2B5EF4-FFF2-40B4-BE49-F238E27FC236}">
                <a16:creationId xmlns:a16="http://schemas.microsoft.com/office/drawing/2014/main" id="{DDB2874C-D9F2-47D8-AA53-48A5AA0C06F7}"/>
              </a:ext>
            </a:extLst>
          </p:cNvPr>
          <p:cNvSpPr/>
          <p:nvPr/>
        </p:nvSpPr>
        <p:spPr>
          <a:xfrm>
            <a:off x="7491881" y="4451662"/>
            <a:ext cx="1043410" cy="1236862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E4D21A6-ADD1-49FF-877B-53488C02B7F9}"/>
              </a:ext>
            </a:extLst>
          </p:cNvPr>
          <p:cNvSpPr/>
          <p:nvPr/>
        </p:nvSpPr>
        <p:spPr>
          <a:xfrm>
            <a:off x="7595223" y="4921428"/>
            <a:ext cx="861133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/>
              <a:t>7-4win.py</a:t>
            </a:r>
            <a:endParaRPr lang="ko-KR" altLang="en-US" sz="1200"/>
          </a:p>
        </p:txBody>
      </p: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9E4E14F1-B122-484E-9588-8255D14A596C}"/>
              </a:ext>
            </a:extLst>
          </p:cNvPr>
          <p:cNvCxnSpPr>
            <a:cxnSpLocks/>
            <a:stCxn id="19" idx="1"/>
            <a:endCxn id="14" idx="3"/>
          </p:cNvCxnSpPr>
          <p:nvPr/>
        </p:nvCxnSpPr>
        <p:spPr>
          <a:xfrm rot="10800000">
            <a:off x="6813395" y="4909070"/>
            <a:ext cx="781829" cy="150859"/>
          </a:xfrm>
          <a:prstGeom prst="curvedConnector3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32">
            <a:extLst>
              <a:ext uri="{FF2B5EF4-FFF2-40B4-BE49-F238E27FC236}">
                <a16:creationId xmlns:a16="http://schemas.microsoft.com/office/drawing/2014/main" id="{7A730D17-2157-4C25-AB00-D1F73EF0E92B}"/>
              </a:ext>
            </a:extLst>
          </p:cNvPr>
          <p:cNvSpPr txBox="1"/>
          <p:nvPr/>
        </p:nvSpPr>
        <p:spPr>
          <a:xfrm>
            <a:off x="7379482" y="4144241"/>
            <a:ext cx="17290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/>
              <a:t>노트북의 하드디스크</a:t>
            </a:r>
            <a:endParaRPr lang="ko-KR" altLang="en-US" sz="1200" b="1" dirty="0"/>
          </a:p>
        </p:txBody>
      </p:sp>
      <p:sp>
        <p:nvSpPr>
          <p:cNvPr id="22" name="TextBox 33">
            <a:extLst>
              <a:ext uri="{FF2B5EF4-FFF2-40B4-BE49-F238E27FC236}">
                <a16:creationId xmlns:a16="http://schemas.microsoft.com/office/drawing/2014/main" id="{A06C3901-456D-469A-91E8-6ACF7A21ACF9}"/>
              </a:ext>
            </a:extLst>
          </p:cNvPr>
          <p:cNvSpPr txBox="1"/>
          <p:nvPr/>
        </p:nvSpPr>
        <p:spPr>
          <a:xfrm>
            <a:off x="7345817" y="5312026"/>
            <a:ext cx="146226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/>
              <a:t>C:\pi\ch07\data</a:t>
            </a:r>
            <a:r>
              <a:rPr lang="ko-KR" altLang="en-US" sz="1050"/>
              <a:t>에 </a:t>
            </a:r>
            <a:endParaRPr lang="en-US" altLang="ko-KR" sz="1050"/>
          </a:p>
          <a:p>
            <a:pPr algn="ctr"/>
            <a:r>
              <a:rPr lang="ko-KR" altLang="en-US" sz="1050"/>
              <a:t>저장</a:t>
            </a:r>
            <a:endParaRPr lang="ko-KR" altLang="en-US" sz="1050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269FF35-426B-40DB-8146-B195C827FCB0}"/>
              </a:ext>
            </a:extLst>
          </p:cNvPr>
          <p:cNvCxnSpPr>
            <a:cxnSpLocks/>
            <a:stCxn id="9" idx="3"/>
            <a:endCxn id="8" idx="2"/>
          </p:cNvCxnSpPr>
          <p:nvPr/>
        </p:nvCxnSpPr>
        <p:spPr>
          <a:xfrm flipV="1">
            <a:off x="1579020" y="4894530"/>
            <a:ext cx="1347965" cy="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83FE3DEB-B834-4738-8FF7-DE97BC10D391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4036821" y="4894530"/>
            <a:ext cx="1532258" cy="16539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6">
            <a:extLst>
              <a:ext uri="{FF2B5EF4-FFF2-40B4-BE49-F238E27FC236}">
                <a16:creationId xmlns:a16="http://schemas.microsoft.com/office/drawing/2014/main" id="{FA7DDB25-63FC-41B9-8C4D-51BF9925E95A}"/>
              </a:ext>
            </a:extLst>
          </p:cNvPr>
          <p:cNvSpPr txBox="1"/>
          <p:nvPr/>
        </p:nvSpPr>
        <p:spPr>
          <a:xfrm rot="21357285">
            <a:off x="4473416" y="4303224"/>
            <a:ext cx="841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>
                <a:solidFill>
                  <a:srgbClr val="C00000"/>
                </a:solidFill>
              </a:rPr>
              <a:t>connect/</a:t>
            </a:r>
          </a:p>
          <a:p>
            <a:r>
              <a:rPr lang="en-US" altLang="ko-KR" sz="1200">
                <a:solidFill>
                  <a:srgbClr val="C00000"/>
                </a:solidFill>
              </a:rPr>
              <a:t>subscribe</a:t>
            </a:r>
            <a:endParaRPr lang="ko-KR" altLang="en-US" sz="1200" dirty="0">
              <a:solidFill>
                <a:srgbClr val="C00000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0786EE62-4A7A-4789-963F-C2B90B2CD378}"/>
              </a:ext>
            </a:extLst>
          </p:cNvPr>
          <p:cNvCxnSpPr>
            <a:cxnSpLocks/>
          </p:cNvCxnSpPr>
          <p:nvPr/>
        </p:nvCxnSpPr>
        <p:spPr>
          <a:xfrm flipH="1">
            <a:off x="4036821" y="4710606"/>
            <a:ext cx="1532258" cy="73779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9409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64D66-D456-3043-A2DE-A02D229B6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/>
              <a:t>예제 </a:t>
            </a:r>
            <a:r>
              <a:rPr kumimoji="1" lang="en-US" altLang="ko-KR"/>
              <a:t>7-4</a:t>
            </a:r>
            <a:r>
              <a:rPr kumimoji="1" lang="ko-KR" altLang="en-US"/>
              <a:t> 코드 </a:t>
            </a:r>
            <a:r>
              <a:rPr kumimoji="1" lang="en-US" altLang="ko-KR"/>
              <a:t>- </a:t>
            </a:r>
            <a:r>
              <a:rPr lang="ko-KR" altLang="en-US"/>
              <a:t>라즈베리파이에서 실행되는 </a:t>
            </a:r>
            <a:r>
              <a:rPr lang="en" altLang="ko-KR"/>
              <a:t>7-4</a:t>
            </a:r>
            <a:r>
              <a:rPr lang="en-US" altLang="ko-KR"/>
              <a:t>pi.</a:t>
            </a:r>
            <a:r>
              <a:rPr lang="en" altLang="ko-KR"/>
              <a:t>py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0EE71C-5976-0B40-B859-3D42BD9F1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57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A74B5E0-D2B9-BA47-9544-FC2B6447C3DB}"/>
              </a:ext>
            </a:extLst>
          </p:cNvPr>
          <p:cNvSpPr/>
          <p:nvPr/>
        </p:nvSpPr>
        <p:spPr>
          <a:xfrm>
            <a:off x="179512" y="1412776"/>
            <a:ext cx="5040560" cy="33085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100" dirty="0"/>
              <a:t>import io</a:t>
            </a:r>
          </a:p>
          <a:p>
            <a:pPr defTabSz="180000" fontAlgn="base" latinLnBrk="0"/>
            <a:r>
              <a:rPr lang="en-US" altLang="ko-KR" sz="1100" dirty="0"/>
              <a:t>import cv2</a:t>
            </a:r>
          </a:p>
          <a:p>
            <a:pPr defTabSz="180000" fontAlgn="base" latinLnBrk="0"/>
            <a:r>
              <a:rPr lang="en-US" altLang="ko-KR" sz="1100" dirty="0"/>
              <a:t>import </a:t>
            </a:r>
            <a:r>
              <a:rPr lang="en-US" altLang="ko-KR" sz="1100" dirty="0" err="1"/>
              <a:t>paho.mqtt.client</a:t>
            </a:r>
            <a:r>
              <a:rPr lang="en-US" altLang="ko-KR" sz="1100" dirty="0"/>
              <a:t> as </a:t>
            </a:r>
            <a:r>
              <a:rPr lang="en-US" altLang="ko-KR" sz="1100" dirty="0" err="1"/>
              <a:t>mqtt</a:t>
            </a:r>
            <a:endParaRPr lang="en-US" altLang="ko-KR" sz="1100" dirty="0"/>
          </a:p>
          <a:p>
            <a:pPr defTabSz="180000" fontAlgn="base" latinLnBrk="0"/>
            <a:endParaRPr lang="en-US" altLang="ko-KR" sz="1100" dirty="0"/>
          </a:p>
          <a:p>
            <a:pPr defTabSz="180000" fontAlgn="base" latinLnBrk="0"/>
            <a:r>
              <a:rPr lang="en-US" altLang="ko-KR" sz="1100" dirty="0" err="1"/>
              <a:t>broker_ip</a:t>
            </a:r>
            <a:r>
              <a:rPr lang="en-US" altLang="ko-KR" sz="1100" dirty="0"/>
              <a:t> = "localhost"</a:t>
            </a:r>
          </a:p>
          <a:p>
            <a:pPr defTabSz="180000" fontAlgn="base" latinLnBrk="0"/>
            <a:endParaRPr lang="en-US" altLang="ko-KR" sz="1100" dirty="0"/>
          </a:p>
          <a:p>
            <a:pPr defTabSz="180000" fontAlgn="base" latinLnBrk="0"/>
            <a:r>
              <a:rPr lang="en-US" altLang="ko-KR" sz="1100" dirty="0"/>
              <a:t>client = </a:t>
            </a:r>
            <a:r>
              <a:rPr lang="en-US" altLang="ko-KR" sz="1100" dirty="0" err="1"/>
              <a:t>mqtt.Client</a:t>
            </a:r>
            <a:r>
              <a:rPr lang="en-US" altLang="ko-KR" sz="1100" dirty="0"/>
              <a:t>(mqtt.CallbackAPIVersion.VERSION2)</a:t>
            </a:r>
          </a:p>
          <a:p>
            <a:pPr defTabSz="180000" fontAlgn="base" latinLnBrk="0"/>
            <a:r>
              <a:rPr lang="en-US" altLang="ko-KR" sz="1100" dirty="0" err="1"/>
              <a:t>client.connect</a:t>
            </a:r>
            <a:r>
              <a:rPr lang="en-US" altLang="ko-KR" sz="1100" dirty="0"/>
              <a:t>(</a:t>
            </a:r>
            <a:r>
              <a:rPr lang="en-US" altLang="ko-KR" sz="1100" dirty="0" err="1"/>
              <a:t>broker_ip</a:t>
            </a:r>
            <a:r>
              <a:rPr lang="en-US" altLang="ko-KR" sz="1100" dirty="0"/>
              <a:t>, 1883) # 1883 </a:t>
            </a:r>
            <a:r>
              <a:rPr lang="ko-KR" altLang="en-US" sz="1100" dirty="0"/>
              <a:t>포트로 </a:t>
            </a:r>
            <a:r>
              <a:rPr lang="en-US" altLang="ko-KR" sz="1100" dirty="0" err="1"/>
              <a:t>mosquitto</a:t>
            </a:r>
            <a:r>
              <a:rPr lang="ko-KR" altLang="en-US" sz="1100" dirty="0"/>
              <a:t>에 접속</a:t>
            </a:r>
          </a:p>
          <a:p>
            <a:pPr defTabSz="180000" fontAlgn="base" latinLnBrk="0"/>
            <a:r>
              <a:rPr lang="en-US" altLang="ko-KR" sz="1100" dirty="0" err="1"/>
              <a:t>client.loop_start</a:t>
            </a:r>
            <a:r>
              <a:rPr lang="en-US" altLang="ko-KR" sz="1100" dirty="0"/>
              <a:t>() # </a:t>
            </a:r>
            <a:r>
              <a:rPr lang="ko-KR" altLang="en-US" sz="1100" dirty="0"/>
              <a:t>메시지 루프를 실행하는 스레드 생성</a:t>
            </a:r>
            <a:endParaRPr lang="en-US" altLang="ko-KR" sz="1100" dirty="0"/>
          </a:p>
          <a:p>
            <a:pPr defTabSz="180000" fontAlgn="base" latinLnBrk="0"/>
            <a:endParaRPr lang="ko-KR" altLang="en-US" sz="1100" dirty="0"/>
          </a:p>
          <a:p>
            <a:pPr defTabSz="180000" fontAlgn="base" latinLnBrk="0"/>
            <a:r>
              <a:rPr lang="en-US" altLang="ko-KR" sz="1100" dirty="0"/>
              <a:t># </a:t>
            </a:r>
            <a:r>
              <a:rPr lang="ko-KR" altLang="en-US" sz="1100" dirty="0"/>
              <a:t>카메라 객체를 생성하고 촬영한 사진 크기를 </a:t>
            </a:r>
            <a:r>
              <a:rPr lang="en-US" altLang="ko-KR" sz="1100" dirty="0"/>
              <a:t>640x480</a:t>
            </a:r>
            <a:r>
              <a:rPr lang="ko-KR" altLang="en-US" sz="1100" dirty="0"/>
              <a:t>으로 설정</a:t>
            </a:r>
          </a:p>
          <a:p>
            <a:pPr defTabSz="180000" fontAlgn="base" latinLnBrk="0"/>
            <a:r>
              <a:rPr lang="en-US" altLang="ko-KR" sz="1100" b="1" dirty="0"/>
              <a:t>camera = cv2.VideoCapture(0, cv2.CAP_V4L)</a:t>
            </a:r>
          </a:p>
          <a:p>
            <a:pPr defTabSz="180000" fontAlgn="base" latinLnBrk="0"/>
            <a:r>
              <a:rPr lang="en-US" altLang="ko-KR" sz="1100" dirty="0" err="1"/>
              <a:t>camera.set</a:t>
            </a:r>
            <a:r>
              <a:rPr lang="en-US" altLang="ko-KR" sz="1100" dirty="0"/>
              <a:t>(cv2.CAP_PROP_FRAME_WIDTH, 640)</a:t>
            </a:r>
          </a:p>
          <a:p>
            <a:pPr defTabSz="180000" fontAlgn="base" latinLnBrk="0"/>
            <a:r>
              <a:rPr lang="en-US" altLang="ko-KR" sz="1100" dirty="0" err="1"/>
              <a:t>camera.set</a:t>
            </a:r>
            <a:r>
              <a:rPr lang="en-US" altLang="ko-KR" sz="1100" dirty="0"/>
              <a:t>(cv2.CAP_PROP_FRAME_HEIGHT, 480)</a:t>
            </a:r>
          </a:p>
          <a:p>
            <a:pPr defTabSz="180000" fontAlgn="base" latinLnBrk="0"/>
            <a:endParaRPr lang="en-US" altLang="ko-KR" sz="1100" dirty="0"/>
          </a:p>
          <a:p>
            <a:pPr defTabSz="180000" fontAlgn="base" latinLnBrk="0"/>
            <a:r>
              <a:rPr lang="en-US" altLang="ko-KR" sz="1100" dirty="0"/>
              <a:t># </a:t>
            </a:r>
            <a:r>
              <a:rPr lang="ko-KR" altLang="en-US" sz="1100" dirty="0"/>
              <a:t>프레임을 임시 저장할 버퍼 개수를 </a:t>
            </a:r>
            <a:r>
              <a:rPr lang="en-US" altLang="ko-KR" sz="1100" dirty="0"/>
              <a:t>1</a:t>
            </a:r>
            <a:r>
              <a:rPr lang="ko-KR" altLang="en-US" sz="1100" dirty="0"/>
              <a:t>로 설정</a:t>
            </a:r>
          </a:p>
          <a:p>
            <a:pPr defTabSz="180000" fontAlgn="base" latinLnBrk="0"/>
            <a:r>
              <a:rPr lang="en-US" altLang="ko-KR" sz="1100" dirty="0" err="1"/>
              <a:t>buffer_size</a:t>
            </a:r>
            <a:r>
              <a:rPr lang="en-US" altLang="ko-KR" sz="1100" dirty="0"/>
              <a:t> = 1</a:t>
            </a:r>
          </a:p>
          <a:p>
            <a:pPr defTabSz="180000" fontAlgn="base" latinLnBrk="0"/>
            <a:r>
              <a:rPr lang="en-US" altLang="ko-KR" sz="1100" dirty="0" err="1"/>
              <a:t>camera.set</a:t>
            </a:r>
            <a:r>
              <a:rPr lang="en-US" altLang="ko-KR" sz="1100" dirty="0"/>
              <a:t>(cv2.CAP_PROP_BUFFERSIZE, </a:t>
            </a:r>
            <a:r>
              <a:rPr lang="en-US" altLang="ko-KR" sz="1100" dirty="0" err="1"/>
              <a:t>buffer_size</a:t>
            </a:r>
            <a:r>
              <a:rPr lang="en-US" altLang="ko-KR" sz="1100" dirty="0"/>
              <a:t>)</a:t>
            </a:r>
          </a:p>
          <a:p>
            <a:pPr defTabSz="180000" fontAlgn="base" latinLnBrk="0"/>
            <a:endParaRPr lang="en-US" altLang="ko-KR" sz="11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C0F73B1-4811-4E98-A7BB-8BD576F827F0}"/>
              </a:ext>
            </a:extLst>
          </p:cNvPr>
          <p:cNvSpPr/>
          <p:nvPr/>
        </p:nvSpPr>
        <p:spPr>
          <a:xfrm>
            <a:off x="3635896" y="3652496"/>
            <a:ext cx="5314781" cy="24622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100" b="1" dirty="0"/>
              <a:t>while True:</a:t>
            </a:r>
          </a:p>
          <a:p>
            <a:pPr defTabSz="180000" fontAlgn="base" latinLnBrk="0"/>
            <a:r>
              <a:rPr lang="en-US" altLang="ko-KR" sz="1100" dirty="0"/>
              <a:t>	key = input("</a:t>
            </a:r>
            <a:r>
              <a:rPr lang="ko-KR" altLang="en-US" sz="1100" dirty="0" err="1"/>
              <a:t>사진촬영계속</a:t>
            </a:r>
            <a:r>
              <a:rPr lang="en-US" altLang="ko-KR" sz="1100" dirty="0"/>
              <a:t>?(</a:t>
            </a:r>
            <a:r>
              <a:rPr lang="ko-KR" altLang="en-US" sz="1100" dirty="0"/>
              <a:t>종료는 </a:t>
            </a:r>
            <a:r>
              <a:rPr lang="en-US" altLang="ko-KR" sz="1100" dirty="0"/>
              <a:t>stop </a:t>
            </a:r>
            <a:r>
              <a:rPr lang="ko-KR" altLang="en-US" sz="1100" dirty="0"/>
              <a:t>입력</a:t>
            </a:r>
            <a:r>
              <a:rPr lang="en-US" altLang="ko-KR" sz="1100" dirty="0"/>
              <a:t>)&gt;&gt;")</a:t>
            </a:r>
            <a:endParaRPr lang="ko-KR" altLang="en-US" sz="1100" dirty="0"/>
          </a:p>
          <a:p>
            <a:pPr defTabSz="180000" fontAlgn="base" latinLnBrk="0"/>
            <a:r>
              <a:rPr lang="ko-KR" altLang="en-US" sz="1100" dirty="0"/>
              <a:t>	</a:t>
            </a:r>
            <a:r>
              <a:rPr lang="en-US" altLang="ko-KR" sz="1100" dirty="0"/>
              <a:t>if(key == "stop"): # stop</a:t>
            </a:r>
            <a:r>
              <a:rPr lang="ko-KR" altLang="en-US" sz="1100" dirty="0"/>
              <a:t>이 입력되면 </a:t>
            </a:r>
            <a:r>
              <a:rPr lang="en-US" altLang="ko-KR" sz="1100" dirty="0"/>
              <a:t>while </a:t>
            </a:r>
            <a:r>
              <a:rPr lang="ko-KR" altLang="en-US" sz="1100" dirty="0"/>
              <a:t>문을 벗어남</a:t>
            </a:r>
          </a:p>
          <a:p>
            <a:pPr defTabSz="180000" fontAlgn="base" latinLnBrk="0"/>
            <a:r>
              <a:rPr lang="ko-KR" altLang="en-US" sz="1100" dirty="0"/>
              <a:t>		</a:t>
            </a:r>
            <a:r>
              <a:rPr lang="en-US" altLang="ko-KR" sz="1100" dirty="0"/>
              <a:t>break</a:t>
            </a:r>
          </a:p>
          <a:p>
            <a:pPr defTabSz="180000" fontAlgn="base" latinLnBrk="0"/>
            <a:r>
              <a:rPr lang="en-US" altLang="ko-KR" sz="1100" dirty="0"/>
              <a:t>	# </a:t>
            </a:r>
            <a:r>
              <a:rPr lang="ko-KR" altLang="en-US" sz="1100" dirty="0"/>
              <a:t>버퍼에 저장된 모든 프레임을 버리고 새 프레임 읽기</a:t>
            </a:r>
          </a:p>
          <a:p>
            <a:pPr defTabSz="180000" fontAlgn="base" latinLnBrk="0"/>
            <a:r>
              <a:rPr lang="ko-KR" altLang="en-US" sz="1100" dirty="0"/>
              <a:t>	</a:t>
            </a:r>
            <a:r>
              <a:rPr lang="en-US" altLang="ko-KR" sz="1100" b="1" dirty="0"/>
              <a:t>for </a:t>
            </a:r>
            <a:r>
              <a:rPr lang="en-US" altLang="ko-KR" sz="1100" b="1" dirty="0" err="1"/>
              <a:t>i</a:t>
            </a:r>
            <a:r>
              <a:rPr lang="en-US" altLang="ko-KR" sz="1100" b="1" dirty="0"/>
              <a:t> in range(buffer_size+1): </a:t>
            </a:r>
          </a:p>
          <a:p>
            <a:pPr defTabSz="180000" fontAlgn="base" latinLnBrk="0"/>
            <a:r>
              <a:rPr lang="en-US" altLang="ko-KR" sz="1100" b="1" dirty="0"/>
              <a:t>		ret, frame = </a:t>
            </a:r>
            <a:r>
              <a:rPr lang="en-US" altLang="ko-KR" sz="1100" b="1" dirty="0" err="1"/>
              <a:t>camera.read</a:t>
            </a:r>
            <a:r>
              <a:rPr lang="en-US" altLang="ko-KR" sz="1100" b="1" dirty="0"/>
              <a:t>()</a:t>
            </a:r>
          </a:p>
          <a:p>
            <a:pPr defTabSz="180000" fontAlgn="base" latinLnBrk="0"/>
            <a:r>
              <a:rPr lang="en-US" altLang="ko-KR" sz="1100" dirty="0"/>
              <a:t>	</a:t>
            </a:r>
          </a:p>
          <a:p>
            <a:pPr defTabSz="180000" fontAlgn="base" latinLnBrk="0"/>
            <a:r>
              <a:rPr lang="en-US" altLang="ko-KR" sz="1100" dirty="0"/>
              <a:t>	</a:t>
            </a:r>
            <a:r>
              <a:rPr lang="en-US" altLang="ko-KR" sz="1100" b="1" dirty="0" err="1"/>
              <a:t>im_bytes</a:t>
            </a:r>
            <a:r>
              <a:rPr lang="en-US" altLang="ko-KR" sz="1100" b="1" dirty="0"/>
              <a:t> = cv2.imencode('.jpg', frame)[1].</a:t>
            </a:r>
            <a:r>
              <a:rPr lang="en-US" altLang="ko-KR" sz="1100" b="1" dirty="0" err="1"/>
              <a:t>tobytes</a:t>
            </a:r>
            <a:r>
              <a:rPr lang="en-US" altLang="ko-KR" sz="1100" b="1" dirty="0"/>
              <a:t>() # </a:t>
            </a:r>
            <a:r>
              <a:rPr lang="ko-KR" altLang="en-US" sz="1100" b="1" dirty="0"/>
              <a:t>바이트 배열로 저장</a:t>
            </a:r>
          </a:p>
          <a:p>
            <a:pPr defTabSz="180000" fontAlgn="base" latinLnBrk="0"/>
            <a:r>
              <a:rPr lang="en-US" altLang="ko-KR" sz="1100" b="1" dirty="0"/>
              <a:t>	</a:t>
            </a:r>
            <a:r>
              <a:rPr lang="en-US" altLang="ko-KR" sz="1100" b="1" dirty="0" err="1"/>
              <a:t>client.publish</a:t>
            </a:r>
            <a:r>
              <a:rPr lang="en-US" altLang="ko-KR" sz="1100" b="1" dirty="0"/>
              <a:t>("jpeg", </a:t>
            </a:r>
            <a:r>
              <a:rPr lang="en-US" altLang="ko-KR" sz="1100" b="1" dirty="0" err="1"/>
              <a:t>im_bytes</a:t>
            </a:r>
            <a:r>
              <a:rPr lang="en-US" altLang="ko-KR" sz="1100" b="1" dirty="0"/>
              <a:t>, </a:t>
            </a:r>
            <a:r>
              <a:rPr lang="en-US" altLang="ko-KR" sz="1100" b="1" dirty="0" err="1"/>
              <a:t>qos</a:t>
            </a:r>
            <a:r>
              <a:rPr lang="en-US" altLang="ko-KR" sz="1100" b="1" dirty="0"/>
              <a:t> = 0) # </a:t>
            </a:r>
            <a:r>
              <a:rPr lang="ko-KR" altLang="en-US" sz="1100" b="1" dirty="0"/>
              <a:t>이미지 전송</a:t>
            </a:r>
            <a:endParaRPr lang="en-US" altLang="ko-KR" sz="1100" b="1" dirty="0"/>
          </a:p>
          <a:p>
            <a:pPr defTabSz="180000" fontAlgn="base" latinLnBrk="0"/>
            <a:endParaRPr lang="ko-KR" altLang="en-US" sz="1100" dirty="0"/>
          </a:p>
          <a:p>
            <a:pPr defTabSz="180000" fontAlgn="base" latinLnBrk="0"/>
            <a:r>
              <a:rPr lang="en-US" altLang="ko-KR" sz="1100" dirty="0" err="1"/>
              <a:t>camera.release</a:t>
            </a:r>
            <a:r>
              <a:rPr lang="en-US" altLang="ko-KR" sz="1100" dirty="0"/>
              <a:t>() # </a:t>
            </a:r>
            <a:r>
              <a:rPr lang="ko-KR" altLang="en-US" sz="1100" dirty="0"/>
              <a:t>카메라 사용 끝내기</a:t>
            </a:r>
          </a:p>
          <a:p>
            <a:pPr defTabSz="180000" fontAlgn="base" latinLnBrk="0"/>
            <a:r>
              <a:rPr lang="en-US" altLang="ko-KR" sz="1100" dirty="0" err="1"/>
              <a:t>client.loop_stop</a:t>
            </a:r>
            <a:r>
              <a:rPr lang="en-US" altLang="ko-KR" sz="1100" dirty="0"/>
              <a:t>() # </a:t>
            </a:r>
            <a:r>
              <a:rPr lang="ko-KR" altLang="en-US" sz="1100" dirty="0"/>
              <a:t>메시지 루프를 실행하는 스레드 종료</a:t>
            </a:r>
          </a:p>
          <a:p>
            <a:pPr defTabSz="180000" fontAlgn="base" latinLnBrk="0"/>
            <a:r>
              <a:rPr lang="en-US" altLang="ko-KR" sz="1100" dirty="0" err="1"/>
              <a:t>client.disconnect</a:t>
            </a:r>
            <a:r>
              <a:rPr lang="en-US" altLang="ko-KR" sz="1100" dirty="0"/>
              <a:t>()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30BB0A-9239-403F-9534-565318DFE82A}"/>
              </a:ext>
            </a:extLst>
          </p:cNvPr>
          <p:cNvSpPr/>
          <p:nvPr/>
        </p:nvSpPr>
        <p:spPr>
          <a:xfrm>
            <a:off x="5220072" y="1412776"/>
            <a:ext cx="9076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80000"/>
            <a:r>
              <a:rPr lang="en-US" altLang="ko-KR" sz="1400"/>
              <a:t>7</a:t>
            </a:r>
            <a:r>
              <a:rPr lang="en" altLang="ko-KR" sz="1400"/>
              <a:t>-4</a:t>
            </a:r>
            <a:r>
              <a:rPr lang="en-US" altLang="ko-KR" sz="1400"/>
              <a:t>pi.</a:t>
            </a:r>
            <a:r>
              <a:rPr lang="en" altLang="ko-KR" sz="1400"/>
              <a:t> py</a:t>
            </a:r>
          </a:p>
        </p:txBody>
      </p:sp>
    </p:spTree>
    <p:extLst>
      <p:ext uri="{BB962C8B-B14F-4D97-AF65-F5344CB8AC3E}">
        <p14:creationId xmlns:p14="http://schemas.microsoft.com/office/powerpoint/2010/main" val="8172497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2C45B0-CD0E-9145-8E64-7C269D0E0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/>
              <a:t>예제 </a:t>
            </a:r>
            <a:r>
              <a:rPr kumimoji="1" lang="en-US" altLang="ko-KR"/>
              <a:t>7-4</a:t>
            </a:r>
            <a:r>
              <a:rPr kumimoji="1" lang="ko-KR" altLang="en-US"/>
              <a:t> 코드 윈도우에서 실행될 </a:t>
            </a:r>
            <a:r>
              <a:rPr kumimoji="1" lang="en-US" altLang="ko-KR"/>
              <a:t>7-4win.py</a:t>
            </a:r>
            <a:br>
              <a:rPr kumimoji="1" lang="en-US" altLang="ko-KR"/>
            </a:br>
            <a:r>
              <a:rPr kumimoji="1" lang="en-US" altLang="ko-KR"/>
              <a:t>(</a:t>
            </a:r>
            <a:r>
              <a:rPr kumimoji="1" lang="ko-KR" altLang="en-US"/>
              <a:t>카메라 이미지</a:t>
            </a:r>
            <a:r>
              <a:rPr kumimoji="1" lang="en-US" altLang="ko-KR"/>
              <a:t> </a:t>
            </a:r>
            <a:r>
              <a:rPr kumimoji="1" lang="ko-KR" altLang="en-US"/>
              <a:t>수신 프로그램</a:t>
            </a:r>
            <a:r>
              <a:rPr kumimoji="1" lang="en-US" altLang="ko-KR"/>
              <a:t>)</a:t>
            </a:r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7C3EDE-34F7-8F4E-B0ED-20905639D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58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AD77D66-B546-CC47-8BC7-3409A557FF09}"/>
              </a:ext>
            </a:extLst>
          </p:cNvPr>
          <p:cNvSpPr/>
          <p:nvPr/>
        </p:nvSpPr>
        <p:spPr>
          <a:xfrm>
            <a:off x="524675" y="2204864"/>
            <a:ext cx="4824536" cy="41549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solidFill>
                  <a:schemeClr val="tx1"/>
                </a:solidFill>
              </a:rPr>
              <a:t>import io</a:t>
            </a:r>
          </a:p>
          <a:p>
            <a:pPr defTabSz="180000"/>
            <a:r>
              <a:rPr lang="en-US" altLang="ko-KR" sz="1200" dirty="0">
                <a:solidFill>
                  <a:schemeClr val="tx1"/>
                </a:solidFill>
              </a:rPr>
              <a:t>import time</a:t>
            </a:r>
          </a:p>
          <a:p>
            <a:pPr defTabSz="180000"/>
            <a:r>
              <a:rPr lang="en-US" altLang="ko-KR" sz="1200" dirty="0">
                <a:solidFill>
                  <a:schemeClr val="tx1"/>
                </a:solidFill>
              </a:rPr>
              <a:t>import </a:t>
            </a:r>
            <a:r>
              <a:rPr lang="en-US" altLang="ko-KR" sz="1200" dirty="0" err="1">
                <a:solidFill>
                  <a:schemeClr val="tx1"/>
                </a:solidFill>
              </a:rPr>
              <a:t>paho.mqtt.client</a:t>
            </a:r>
            <a:r>
              <a:rPr lang="en-US" altLang="ko-KR" sz="1200" dirty="0">
                <a:solidFill>
                  <a:schemeClr val="tx1"/>
                </a:solidFill>
              </a:rPr>
              <a:t> as </a:t>
            </a:r>
            <a:r>
              <a:rPr lang="en-US" altLang="ko-KR" sz="1200" dirty="0" err="1">
                <a:solidFill>
                  <a:schemeClr val="tx1"/>
                </a:solidFill>
              </a:rPr>
              <a:t>mqtt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defTabSz="180000"/>
            <a:endParaRPr lang="en-US" altLang="ko-KR" sz="1200" dirty="0">
              <a:solidFill>
                <a:schemeClr val="tx1"/>
              </a:solidFill>
            </a:endParaRPr>
          </a:p>
          <a:p>
            <a:pPr defTabSz="180000"/>
            <a:r>
              <a:rPr lang="en-US" altLang="ko-KR" sz="1200" dirty="0">
                <a:solidFill>
                  <a:schemeClr val="tx1"/>
                </a:solidFill>
              </a:rPr>
              <a:t>def </a:t>
            </a:r>
            <a:r>
              <a:rPr lang="en-US" altLang="ko-KR" sz="1200" dirty="0" err="1">
                <a:solidFill>
                  <a:schemeClr val="tx1"/>
                </a:solidFill>
              </a:rPr>
              <a:t>on_connect</a:t>
            </a:r>
            <a:r>
              <a:rPr lang="en-US" altLang="ko-KR" sz="1200" dirty="0">
                <a:solidFill>
                  <a:schemeClr val="tx1"/>
                </a:solidFill>
              </a:rPr>
              <a:t>(client, </a:t>
            </a:r>
            <a:r>
              <a:rPr lang="en-US" altLang="ko-KR" sz="1200" dirty="0" err="1">
                <a:solidFill>
                  <a:schemeClr val="tx1"/>
                </a:solidFill>
              </a:rPr>
              <a:t>userdata</a:t>
            </a:r>
            <a:r>
              <a:rPr lang="en-US" altLang="ko-KR" sz="1200" dirty="0">
                <a:solidFill>
                  <a:schemeClr val="tx1"/>
                </a:solidFill>
              </a:rPr>
              <a:t>, flag, </a:t>
            </a:r>
            <a:r>
              <a:rPr lang="en-US" altLang="ko-KR" sz="1200" dirty="0" err="1">
                <a:solidFill>
                  <a:schemeClr val="tx1"/>
                </a:solidFill>
              </a:rPr>
              <a:t>rc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en-US" altLang="ko-KR" sz="1200" dirty="0"/>
              <a:t>prop=None</a:t>
            </a:r>
            <a:r>
              <a:rPr lang="en-US" altLang="ko-KR" sz="1200" dirty="0">
                <a:solidFill>
                  <a:schemeClr val="tx1"/>
                </a:solidFill>
              </a:rPr>
              <a:t>):</a:t>
            </a:r>
          </a:p>
          <a:p>
            <a:pPr defTabSz="180000"/>
            <a:r>
              <a:rPr lang="en-US" altLang="ko-KR" sz="1200" dirty="0">
                <a:solidFill>
                  <a:schemeClr val="tx1"/>
                </a:solidFill>
              </a:rPr>
              <a:t>	print("jpeg </a:t>
            </a:r>
            <a:r>
              <a:rPr lang="ko-KR" altLang="en-US" sz="1200" dirty="0">
                <a:solidFill>
                  <a:schemeClr val="tx1"/>
                </a:solidFill>
              </a:rPr>
              <a:t>토픽으로 메시지 구독 신청</a:t>
            </a:r>
            <a:r>
              <a:rPr lang="en-US" altLang="ko-KR" sz="1200" dirty="0">
                <a:solidFill>
                  <a:schemeClr val="tx1"/>
                </a:solidFill>
              </a:rPr>
              <a:t>")</a:t>
            </a:r>
            <a:endParaRPr lang="ko-KR" altLang="en-US" sz="1200" dirty="0">
              <a:solidFill>
                <a:schemeClr val="tx1"/>
              </a:solidFill>
            </a:endParaRPr>
          </a:p>
          <a:p>
            <a:pPr defTabSz="180000"/>
            <a:r>
              <a:rPr lang="ko-KR" altLang="en-US" sz="1200" dirty="0">
                <a:solidFill>
                  <a:schemeClr val="tx1"/>
                </a:solidFill>
              </a:rPr>
              <a:t>	</a:t>
            </a:r>
            <a:r>
              <a:rPr lang="en-US" altLang="ko-KR" sz="1200" dirty="0" err="1">
                <a:solidFill>
                  <a:schemeClr val="tx1"/>
                </a:solidFill>
              </a:rPr>
              <a:t>client.subscribe</a:t>
            </a:r>
            <a:r>
              <a:rPr lang="en-US" altLang="ko-KR" sz="1200" dirty="0">
                <a:solidFill>
                  <a:schemeClr val="tx1"/>
                </a:solidFill>
              </a:rPr>
              <a:t>("jpeg")</a:t>
            </a:r>
          </a:p>
          <a:p>
            <a:pPr defTabSz="180000"/>
            <a:endParaRPr lang="en-US" altLang="ko-KR" sz="1200" dirty="0">
              <a:solidFill>
                <a:schemeClr val="tx1"/>
              </a:solidFill>
            </a:endParaRPr>
          </a:p>
          <a:p>
            <a:pPr defTabSz="180000"/>
            <a:r>
              <a:rPr lang="en-US" altLang="ko-KR" sz="1200" b="1" dirty="0">
                <a:solidFill>
                  <a:schemeClr val="tx1"/>
                </a:solidFill>
              </a:rPr>
              <a:t>def </a:t>
            </a:r>
            <a:r>
              <a:rPr lang="en-US" altLang="ko-KR" sz="1200" b="1" dirty="0" err="1">
                <a:solidFill>
                  <a:schemeClr val="tx1"/>
                </a:solidFill>
              </a:rPr>
              <a:t>on_message</a:t>
            </a:r>
            <a:r>
              <a:rPr lang="en-US" altLang="ko-KR" sz="1200" b="1" dirty="0">
                <a:solidFill>
                  <a:schemeClr val="tx1"/>
                </a:solidFill>
              </a:rPr>
              <a:t>(client, </a:t>
            </a:r>
            <a:r>
              <a:rPr lang="en-US" altLang="ko-KR" sz="1200" b="1" dirty="0" err="1">
                <a:solidFill>
                  <a:schemeClr val="tx1"/>
                </a:solidFill>
              </a:rPr>
              <a:t>userdata</a:t>
            </a:r>
            <a:r>
              <a:rPr lang="en-US" altLang="ko-KR" sz="1200" b="1" dirty="0">
                <a:solidFill>
                  <a:schemeClr val="tx1"/>
                </a:solidFill>
              </a:rPr>
              <a:t>, msg):</a:t>
            </a:r>
          </a:p>
          <a:p>
            <a:pPr defTabSz="180000"/>
            <a:r>
              <a:rPr lang="en-US" altLang="ko-KR" sz="1200" dirty="0">
                <a:solidFill>
                  <a:schemeClr val="tx1"/>
                </a:solidFill>
              </a:rPr>
              <a:t>	filename = './data/image%d.jpg' % (</a:t>
            </a:r>
            <a:r>
              <a:rPr lang="en-US" altLang="ko-KR" sz="1200" dirty="0" err="1">
                <a:solidFill>
                  <a:schemeClr val="tx1"/>
                </a:solidFill>
              </a:rPr>
              <a:t>time.time</a:t>
            </a:r>
            <a:r>
              <a:rPr lang="en-US" altLang="ko-KR" sz="1200" dirty="0">
                <a:solidFill>
                  <a:schemeClr val="tx1"/>
                </a:solidFill>
              </a:rPr>
              <a:t>()*10)</a:t>
            </a:r>
          </a:p>
          <a:p>
            <a:pPr defTabSz="180000"/>
            <a:r>
              <a:rPr lang="en-US" altLang="ko-KR" sz="1200" dirty="0">
                <a:solidFill>
                  <a:schemeClr val="tx1"/>
                </a:solidFill>
              </a:rPr>
              <a:t>	file = open(filename, "</a:t>
            </a:r>
            <a:r>
              <a:rPr lang="en-US" altLang="ko-KR" sz="1200" dirty="0" err="1">
                <a:solidFill>
                  <a:schemeClr val="tx1"/>
                </a:solidFill>
              </a:rPr>
              <a:t>wb</a:t>
            </a:r>
            <a:r>
              <a:rPr lang="en-US" altLang="ko-KR" sz="1200" dirty="0">
                <a:solidFill>
                  <a:schemeClr val="tx1"/>
                </a:solidFill>
              </a:rPr>
              <a:t>") # </a:t>
            </a:r>
            <a:r>
              <a:rPr lang="ko-KR" altLang="en-US" sz="1200" dirty="0">
                <a:solidFill>
                  <a:schemeClr val="tx1"/>
                </a:solidFill>
              </a:rPr>
              <a:t>파일 열기</a:t>
            </a:r>
            <a:r>
              <a:rPr lang="en-US" altLang="ko-KR" sz="1200" dirty="0">
                <a:solidFill>
                  <a:schemeClr val="tx1"/>
                </a:solidFill>
              </a:rPr>
              <a:t>. </a:t>
            </a:r>
            <a:r>
              <a:rPr lang="ko-KR" altLang="en-US" sz="1200" dirty="0">
                <a:solidFill>
                  <a:schemeClr val="tx1"/>
                </a:solidFill>
              </a:rPr>
              <a:t>없으면 새로 생성</a:t>
            </a:r>
          </a:p>
          <a:p>
            <a:pPr defTabSz="180000"/>
            <a:r>
              <a:rPr lang="ko-KR" altLang="en-US" sz="1200" dirty="0">
                <a:solidFill>
                  <a:schemeClr val="tx1"/>
                </a:solidFill>
              </a:rPr>
              <a:t>	</a:t>
            </a:r>
            <a:r>
              <a:rPr lang="en-US" altLang="ko-KR" sz="1200" b="1" dirty="0" err="1">
                <a:solidFill>
                  <a:schemeClr val="tx1"/>
                </a:solidFill>
              </a:rPr>
              <a:t>file.write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en-US" altLang="ko-KR" sz="1200" b="1" dirty="0" err="1">
                <a:solidFill>
                  <a:schemeClr val="tx1"/>
                </a:solidFill>
              </a:rPr>
              <a:t>msg.payload</a:t>
            </a:r>
            <a:r>
              <a:rPr lang="en-US" altLang="ko-KR" sz="1200" b="1" dirty="0">
                <a:solidFill>
                  <a:schemeClr val="tx1"/>
                </a:solidFill>
              </a:rPr>
              <a:t>) # </a:t>
            </a:r>
            <a:r>
              <a:rPr lang="ko-KR" altLang="en-US" sz="1200" b="1" dirty="0">
                <a:solidFill>
                  <a:schemeClr val="tx1"/>
                </a:solidFill>
              </a:rPr>
              <a:t>수신한 이미지를 파일에 쓰기</a:t>
            </a:r>
          </a:p>
          <a:p>
            <a:pPr defTabSz="180000"/>
            <a:r>
              <a:rPr lang="ko-KR" altLang="en-US" sz="1200" dirty="0">
                <a:solidFill>
                  <a:schemeClr val="tx1"/>
                </a:solidFill>
              </a:rPr>
              <a:t>	</a:t>
            </a:r>
            <a:r>
              <a:rPr lang="en-US" altLang="ko-KR" sz="1200" dirty="0" err="1">
                <a:solidFill>
                  <a:schemeClr val="tx1"/>
                </a:solidFill>
              </a:rPr>
              <a:t>file.close</a:t>
            </a:r>
            <a:r>
              <a:rPr lang="en-US" altLang="ko-KR" sz="1200" dirty="0">
                <a:solidFill>
                  <a:schemeClr val="tx1"/>
                </a:solidFill>
              </a:rPr>
              <a:t>() # </a:t>
            </a:r>
            <a:r>
              <a:rPr lang="ko-KR" altLang="en-US" sz="1200" dirty="0">
                <a:solidFill>
                  <a:schemeClr val="tx1"/>
                </a:solidFill>
              </a:rPr>
              <a:t>파일 닫기</a:t>
            </a:r>
          </a:p>
          <a:p>
            <a:pPr defTabSz="180000"/>
            <a:r>
              <a:rPr lang="ko-KR" altLang="en-US" sz="1200" dirty="0">
                <a:solidFill>
                  <a:schemeClr val="tx1"/>
                </a:solidFill>
              </a:rPr>
              <a:t>	</a:t>
            </a:r>
            <a:r>
              <a:rPr lang="en-US" altLang="ko-KR" sz="1200" dirty="0">
                <a:solidFill>
                  <a:schemeClr val="tx1"/>
                </a:solidFill>
              </a:rPr>
              <a:t>print("</a:t>
            </a:r>
            <a:r>
              <a:rPr lang="ko-KR" altLang="en-US" sz="1200" dirty="0">
                <a:solidFill>
                  <a:schemeClr val="tx1"/>
                </a:solidFill>
              </a:rPr>
              <a:t>이미지수신 </a:t>
            </a:r>
            <a:r>
              <a:rPr lang="en-US" altLang="ko-KR" sz="1200" dirty="0">
                <a:solidFill>
                  <a:schemeClr val="tx1"/>
                </a:solidFill>
              </a:rPr>
              <a:t>%s" % filename)</a:t>
            </a:r>
          </a:p>
          <a:p>
            <a:pPr defTabSz="180000"/>
            <a:endParaRPr lang="en-US" altLang="ko-KR" sz="1200" dirty="0">
              <a:solidFill>
                <a:schemeClr val="tx1"/>
              </a:solidFill>
            </a:endParaRPr>
          </a:p>
          <a:p>
            <a:pPr defTabSz="180000"/>
            <a:r>
              <a:rPr lang="en-US" altLang="ko-KR" sz="1200" dirty="0" err="1">
                <a:solidFill>
                  <a:schemeClr val="tx1"/>
                </a:solidFill>
              </a:rPr>
              <a:t>ip</a:t>
            </a:r>
            <a:r>
              <a:rPr lang="en-US" altLang="ko-KR" sz="1200" dirty="0">
                <a:solidFill>
                  <a:schemeClr val="tx1"/>
                </a:solidFill>
              </a:rPr>
              <a:t> = input("</a:t>
            </a:r>
            <a:r>
              <a:rPr lang="ko-KR" altLang="en-US" sz="1200" dirty="0">
                <a:solidFill>
                  <a:schemeClr val="tx1"/>
                </a:solidFill>
              </a:rPr>
              <a:t>브로커의 </a:t>
            </a:r>
            <a:r>
              <a:rPr lang="en-US" altLang="ko-KR" sz="1200" dirty="0">
                <a:solidFill>
                  <a:schemeClr val="tx1"/>
                </a:solidFill>
              </a:rPr>
              <a:t>IP&gt;&gt;") # </a:t>
            </a:r>
            <a:r>
              <a:rPr lang="ko-KR" altLang="en-US" sz="1200" dirty="0">
                <a:solidFill>
                  <a:schemeClr val="tx1"/>
                </a:solidFill>
              </a:rPr>
              <a:t>브로커 </a:t>
            </a:r>
            <a:r>
              <a:rPr lang="en-US" altLang="ko-KR" sz="1200" dirty="0">
                <a:solidFill>
                  <a:schemeClr val="tx1"/>
                </a:solidFill>
              </a:rPr>
              <a:t>IP </a:t>
            </a:r>
            <a:r>
              <a:rPr lang="ko-KR" altLang="en-US" sz="1200" dirty="0">
                <a:solidFill>
                  <a:schemeClr val="tx1"/>
                </a:solidFill>
              </a:rPr>
              <a:t>주소 입력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defTabSz="180000"/>
            <a:endParaRPr lang="ko-KR" altLang="en-US" sz="1200" dirty="0">
              <a:solidFill>
                <a:schemeClr val="tx1"/>
              </a:solidFill>
            </a:endParaRPr>
          </a:p>
          <a:p>
            <a:pPr defTabSz="180000"/>
            <a:r>
              <a:rPr lang="en-US" altLang="ko-KR" sz="1200" b="1" dirty="0">
                <a:solidFill>
                  <a:schemeClr val="tx1"/>
                </a:solidFill>
              </a:rPr>
              <a:t>client = </a:t>
            </a:r>
            <a:r>
              <a:rPr lang="en-US" altLang="ko-KR" sz="1200" b="1" dirty="0" err="1">
                <a:solidFill>
                  <a:schemeClr val="tx1"/>
                </a:solidFill>
              </a:rPr>
              <a:t>mqtt.Client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en-US" altLang="ko-KR" sz="1200" b="1" dirty="0"/>
              <a:t>mqtt.CallbackAPIVersion.VERSION2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defTabSz="180000"/>
            <a:r>
              <a:rPr lang="en-US" altLang="ko-KR" sz="1200" dirty="0" err="1">
                <a:solidFill>
                  <a:schemeClr val="tx1"/>
                </a:solidFill>
              </a:rPr>
              <a:t>client.on_connect</a:t>
            </a:r>
            <a:r>
              <a:rPr lang="en-US" altLang="ko-KR" sz="1200" dirty="0">
                <a:solidFill>
                  <a:schemeClr val="tx1"/>
                </a:solidFill>
              </a:rPr>
              <a:t> = </a:t>
            </a:r>
            <a:r>
              <a:rPr lang="en-US" altLang="ko-KR" sz="1200" dirty="0" err="1">
                <a:solidFill>
                  <a:schemeClr val="tx1"/>
                </a:solidFill>
              </a:rPr>
              <a:t>on_connect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defTabSz="180000"/>
            <a:r>
              <a:rPr lang="en-US" altLang="ko-KR" sz="1200" dirty="0" err="1">
                <a:solidFill>
                  <a:schemeClr val="tx1"/>
                </a:solidFill>
              </a:rPr>
              <a:t>client.on_message</a:t>
            </a:r>
            <a:r>
              <a:rPr lang="en-US" altLang="ko-KR" sz="1200" dirty="0">
                <a:solidFill>
                  <a:schemeClr val="tx1"/>
                </a:solidFill>
              </a:rPr>
              <a:t> = </a:t>
            </a:r>
            <a:r>
              <a:rPr lang="en-US" altLang="ko-KR" sz="1200" dirty="0" err="1">
                <a:solidFill>
                  <a:schemeClr val="tx1"/>
                </a:solidFill>
              </a:rPr>
              <a:t>on_message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defTabSz="180000"/>
            <a:r>
              <a:rPr lang="en-US" altLang="ko-KR" sz="1200" b="1" dirty="0" err="1">
                <a:solidFill>
                  <a:schemeClr val="tx1"/>
                </a:solidFill>
              </a:rPr>
              <a:t>client.connect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en-US" altLang="ko-KR" sz="1200" b="1" dirty="0" err="1">
                <a:solidFill>
                  <a:schemeClr val="tx1"/>
                </a:solidFill>
              </a:rPr>
              <a:t>ip</a:t>
            </a:r>
            <a:r>
              <a:rPr lang="en-US" altLang="ko-KR" sz="1200" b="1" dirty="0">
                <a:solidFill>
                  <a:schemeClr val="tx1"/>
                </a:solidFill>
              </a:rPr>
              <a:t>, 1883)</a:t>
            </a:r>
          </a:p>
          <a:p>
            <a:pPr defTabSz="180000"/>
            <a:r>
              <a:rPr lang="en-US" altLang="ko-KR" sz="1200" b="1" dirty="0" err="1">
                <a:solidFill>
                  <a:schemeClr val="tx1"/>
                </a:solidFill>
              </a:rPr>
              <a:t>client.loop_forever</a:t>
            </a:r>
            <a:r>
              <a:rPr lang="en-US" altLang="ko-KR" sz="1200" b="1" dirty="0">
                <a:solidFill>
                  <a:schemeClr val="tx1"/>
                </a:solidFill>
              </a:rPr>
              <a:t>() # </a:t>
            </a:r>
            <a:r>
              <a:rPr lang="ko-KR" altLang="en-US" sz="1200" b="1" dirty="0">
                <a:solidFill>
                  <a:schemeClr val="tx1"/>
                </a:solidFill>
              </a:rPr>
              <a:t>메시지 루프 실행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72988" y="1875597"/>
            <a:ext cx="10358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80000"/>
            <a:r>
              <a:rPr lang="en-US" altLang="ko-KR" sz="1400"/>
              <a:t>7</a:t>
            </a:r>
            <a:r>
              <a:rPr lang="en" altLang="ko-KR" sz="1400"/>
              <a:t>-4</a:t>
            </a:r>
            <a:r>
              <a:rPr lang="en-US" altLang="ko-KR" sz="1400"/>
              <a:t>win.</a:t>
            </a:r>
            <a:r>
              <a:rPr lang="en" altLang="ko-KR" sz="1400"/>
              <a:t> 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37243" y="3060293"/>
            <a:ext cx="352532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/>
              <a:t>수신한 이미지를 </a:t>
            </a:r>
            <a:r>
              <a:rPr lang="en-US" altLang="ko-KR" sz="1100"/>
              <a:t>C:\pi\ch07\data </a:t>
            </a:r>
            <a:r>
              <a:rPr lang="ko-KR" altLang="en-US" sz="1100"/>
              <a:t>디렉터리에 </a:t>
            </a:r>
            <a:endParaRPr lang="en-US" altLang="ko-KR" sz="1100"/>
          </a:p>
          <a:p>
            <a:r>
              <a:rPr lang="ko-KR" altLang="en-US" sz="1100"/>
              <a:t>파일로 저장하기 때문에</a:t>
            </a:r>
            <a:r>
              <a:rPr lang="en-US" altLang="ko-KR" sz="1100"/>
              <a:t>, </a:t>
            </a:r>
            <a:r>
              <a:rPr lang="ko-KR" altLang="en-US" sz="1100"/>
              <a:t>이 예제 실행 전</a:t>
            </a:r>
            <a:endParaRPr lang="en-US" altLang="ko-KR" sz="1100"/>
          </a:p>
          <a:p>
            <a:r>
              <a:rPr lang="en-US" altLang="ko-KR" sz="1100" b="1"/>
              <a:t>C:\pi\ch07\data</a:t>
            </a:r>
            <a:r>
              <a:rPr lang="ko-KR" altLang="en-US" sz="1100" b="1"/>
              <a:t> 디렉터리를 만들어 두어야 한다</a:t>
            </a:r>
            <a:r>
              <a:rPr lang="en-US" altLang="ko-KR" sz="1100" b="1"/>
              <a:t>.</a:t>
            </a:r>
          </a:p>
        </p:txBody>
      </p:sp>
      <p:sp>
        <p:nvSpPr>
          <p:cNvPr id="3" name="자유형 2"/>
          <p:cNvSpPr/>
          <p:nvPr/>
        </p:nvSpPr>
        <p:spPr>
          <a:xfrm>
            <a:off x="1979712" y="3356992"/>
            <a:ext cx="3657531" cy="600164"/>
          </a:xfrm>
          <a:custGeom>
            <a:avLst/>
            <a:gdLst>
              <a:gd name="connsiteX0" fmla="*/ 0 w 2230502"/>
              <a:gd name="connsiteY0" fmla="*/ 285419 h 285419"/>
              <a:gd name="connsiteX1" fmla="*/ 1125822 w 2230502"/>
              <a:gd name="connsiteY1" fmla="*/ 58141 h 285419"/>
              <a:gd name="connsiteX2" fmla="*/ 2230502 w 2230502"/>
              <a:gd name="connsiteY2" fmla="*/ 0 h 285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0502" h="285419">
                <a:moveTo>
                  <a:pt x="0" y="285419"/>
                </a:moveTo>
                <a:cubicBezTo>
                  <a:pt x="377036" y="195565"/>
                  <a:pt x="754072" y="105711"/>
                  <a:pt x="1125822" y="58141"/>
                </a:cubicBezTo>
                <a:cubicBezTo>
                  <a:pt x="1497572" y="10571"/>
                  <a:pt x="1864037" y="5285"/>
                  <a:pt x="2230502" y="0"/>
                </a:cubicBezTo>
              </a:path>
            </a:pathLst>
          </a:custGeom>
          <a:noFill/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BC0554-935A-44BA-BDFC-4D4008C2DDE7}"/>
              </a:ext>
            </a:extLst>
          </p:cNvPr>
          <p:cNvSpPr/>
          <p:nvPr/>
        </p:nvSpPr>
        <p:spPr>
          <a:xfrm>
            <a:off x="472988" y="1281336"/>
            <a:ext cx="68868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80000"/>
            <a:r>
              <a:rPr lang="ko-KR" altLang="en-US" sz="1200">
                <a:solidFill>
                  <a:schemeClr val="accent2">
                    <a:lumMod val="75000"/>
                  </a:schemeClr>
                </a:solidFill>
              </a:rPr>
              <a:t>프로그램 실행 전에 </a:t>
            </a:r>
            <a:r>
              <a:rPr lang="en-US" altLang="ko-KR" sz="1200">
                <a:solidFill>
                  <a:schemeClr val="accent2">
                    <a:lumMod val="75000"/>
                  </a:schemeClr>
                </a:solidFill>
              </a:rPr>
              <a:t>C:\pi\ch07 </a:t>
            </a:r>
            <a:r>
              <a:rPr lang="ko-KR" altLang="en-US" sz="1200">
                <a:solidFill>
                  <a:schemeClr val="accent2">
                    <a:lumMod val="75000"/>
                  </a:schemeClr>
                </a:solidFill>
              </a:rPr>
              <a:t>디렉터리에 다음 </a:t>
            </a:r>
            <a:r>
              <a:rPr lang="en-US" altLang="ko-KR" sz="1200">
                <a:solidFill>
                  <a:schemeClr val="accent2">
                    <a:lumMod val="75000"/>
                  </a:schemeClr>
                </a:solidFill>
              </a:rPr>
              <a:t>7-4win.py </a:t>
            </a:r>
            <a:r>
              <a:rPr lang="ko-KR" altLang="en-US" sz="1200">
                <a:solidFill>
                  <a:schemeClr val="accent2">
                    <a:lumMod val="75000"/>
                  </a:schemeClr>
                </a:solidFill>
              </a:rPr>
              <a:t>코드를 작성하여 저장한다</a:t>
            </a:r>
            <a:r>
              <a:rPr lang="en-US" altLang="ko-KR" sz="120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 defTabSz="180000"/>
            <a:r>
              <a:rPr lang="ko-KR" altLang="en-US" sz="1200">
                <a:solidFill>
                  <a:schemeClr val="accent2">
                    <a:lumMod val="75000"/>
                  </a:schemeClr>
                </a:solidFill>
              </a:rPr>
              <a:t>그리고 라즈베리파이로부터 받은 이미지를 저장할 </a:t>
            </a:r>
            <a:r>
              <a:rPr lang="en-US" altLang="ko-KR" sz="1200" b="1">
                <a:solidFill>
                  <a:schemeClr val="accent2">
                    <a:lumMod val="75000"/>
                  </a:schemeClr>
                </a:solidFill>
              </a:rPr>
              <a:t>data </a:t>
            </a:r>
            <a:r>
              <a:rPr lang="ko-KR" altLang="en-US" sz="1200" b="1">
                <a:solidFill>
                  <a:schemeClr val="accent2">
                    <a:lumMod val="75000"/>
                  </a:schemeClr>
                </a:solidFill>
              </a:rPr>
              <a:t>디렉터리</a:t>
            </a:r>
            <a:r>
              <a:rPr lang="en-US" altLang="ko-KR" sz="1200" b="1">
                <a:solidFill>
                  <a:schemeClr val="accent2">
                    <a:lumMod val="75000"/>
                  </a:schemeClr>
                </a:solidFill>
              </a:rPr>
              <a:t>(C:\pi\ch07\data)</a:t>
            </a:r>
            <a:r>
              <a:rPr lang="ko-KR" altLang="en-US" sz="1200" b="1">
                <a:solidFill>
                  <a:schemeClr val="accent2">
                    <a:lumMod val="75000"/>
                  </a:schemeClr>
                </a:solidFill>
              </a:rPr>
              <a:t>를 </a:t>
            </a:r>
            <a:r>
              <a:rPr lang="ko-KR" altLang="en-US" sz="1200">
                <a:solidFill>
                  <a:schemeClr val="accent2">
                    <a:lumMod val="75000"/>
                  </a:schemeClr>
                </a:solidFill>
              </a:rPr>
              <a:t>만든다</a:t>
            </a:r>
            <a:r>
              <a:rPr lang="en-US" altLang="ko-KR" sz="120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81664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>
            <a:extLst>
              <a:ext uri="{FF2B5EF4-FFF2-40B4-BE49-F238E27FC236}">
                <a16:creationId xmlns:a16="http://schemas.microsoft.com/office/drawing/2014/main" id="{B1F5A047-FD1F-43F4-A858-439F12AF3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250" y="3812847"/>
            <a:ext cx="4893737" cy="2579913"/>
          </a:xfrm>
          <a:prstGeom prst="rect">
            <a:avLst/>
          </a:prstGeom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 </a:t>
            </a:r>
            <a:r>
              <a:rPr lang="en-US" altLang="ko-KR"/>
              <a:t>7-4 </a:t>
            </a:r>
            <a:r>
              <a:rPr lang="ko-KR" altLang="en-US"/>
              <a:t>실행 및 결과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59</a:t>
            </a:fld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4788024" y="1703504"/>
            <a:ext cx="3384376" cy="120032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b="1"/>
              <a:t>C:\</a:t>
            </a:r>
            <a:r>
              <a:rPr lang="en-US" altLang="ko-KR" sz="1200" b="1"/>
              <a:t>pi\ch07</a:t>
            </a:r>
            <a:r>
              <a:rPr lang="ko-KR" altLang="en-US" sz="1200" b="1"/>
              <a:t>&gt;py</a:t>
            </a:r>
            <a:r>
              <a:rPr lang="en-US" altLang="ko-KR" sz="1200" b="1"/>
              <a:t>thon</a:t>
            </a:r>
            <a:r>
              <a:rPr lang="ko-KR" altLang="en-US" sz="1200" b="1"/>
              <a:t> </a:t>
            </a:r>
            <a:r>
              <a:rPr lang="en-US" altLang="ko-KR" sz="1200" b="1"/>
              <a:t>7-4win</a:t>
            </a:r>
            <a:r>
              <a:rPr lang="ko-KR" altLang="en-US" sz="1200" b="1"/>
              <a:t>.py</a:t>
            </a:r>
          </a:p>
          <a:p>
            <a:r>
              <a:rPr lang="ko-KR" altLang="en-US" sz="1200"/>
              <a:t>브로커의 </a:t>
            </a:r>
            <a:r>
              <a:rPr lang="en-US" altLang="ko-KR" sz="1200"/>
              <a:t>IP&gt;&gt;</a:t>
            </a:r>
            <a:r>
              <a:rPr lang="en-US" altLang="ko-KR" sz="1200">
                <a:solidFill>
                  <a:srgbClr val="00B050"/>
                </a:solidFill>
              </a:rPr>
              <a:t>192.168.0.5</a:t>
            </a:r>
            <a:endParaRPr lang="ko-KR" altLang="en-US" sz="1200">
              <a:solidFill>
                <a:srgbClr val="00B050"/>
              </a:solidFill>
            </a:endParaRPr>
          </a:p>
          <a:p>
            <a:r>
              <a:rPr lang="en-US" altLang="ko-KR" sz="1200"/>
              <a:t>jpeg </a:t>
            </a:r>
            <a:r>
              <a:rPr lang="ko-KR" altLang="en-US" sz="1200"/>
              <a:t>토픽으로 메시지 구독 신청</a:t>
            </a:r>
          </a:p>
          <a:p>
            <a:r>
              <a:rPr lang="ko-KR" altLang="en-US" sz="1200"/>
              <a:t>이미지수신 </a:t>
            </a:r>
            <a:r>
              <a:rPr lang="en-US" altLang="ko-KR" sz="1200"/>
              <a:t>./data/image16747870188.jpg</a:t>
            </a:r>
            <a:endParaRPr lang="ko-KR" altLang="en-US" sz="1200"/>
          </a:p>
          <a:p>
            <a:r>
              <a:rPr lang="ko-KR" altLang="en-US" sz="1200"/>
              <a:t>이미지수신 </a:t>
            </a:r>
            <a:r>
              <a:rPr lang="en-US" altLang="ko-KR" sz="1200"/>
              <a:t>./data/image16747871061.jpg</a:t>
            </a:r>
            <a:endParaRPr lang="ko-KR" altLang="en-US" sz="1200"/>
          </a:p>
          <a:p>
            <a:r>
              <a:rPr lang="ko-KR" altLang="en-US" sz="1200"/>
              <a:t>이미지수신 </a:t>
            </a:r>
            <a:r>
              <a:rPr lang="en-US" altLang="ko-KR" sz="1200"/>
              <a:t>./data/image16747871229.jpg</a:t>
            </a:r>
            <a:endParaRPr lang="ko-KR" altLang="en-US" sz="1200"/>
          </a:p>
        </p:txBody>
      </p:sp>
      <p:sp>
        <p:nvSpPr>
          <p:cNvPr id="7" name="TextBox 6"/>
          <p:cNvSpPr txBox="1"/>
          <p:nvPr/>
        </p:nvSpPr>
        <p:spPr>
          <a:xfrm>
            <a:off x="4668543" y="1404496"/>
            <a:ext cx="15488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(3) </a:t>
            </a:r>
            <a:r>
              <a:rPr lang="ko-KR" altLang="en-US" sz="1200"/>
              <a:t>윈도우에서 실행</a:t>
            </a:r>
          </a:p>
        </p:txBody>
      </p:sp>
      <p:cxnSp>
        <p:nvCxnSpPr>
          <p:cNvPr id="11" name="꺾인 연결선 10"/>
          <p:cNvCxnSpPr>
            <a:cxnSpLocks/>
            <a:stCxn id="2" idx="2"/>
            <a:endCxn id="32" idx="0"/>
          </p:cNvCxnSpPr>
          <p:nvPr/>
        </p:nvCxnSpPr>
        <p:spPr>
          <a:xfrm rot="16200000" flipH="1">
            <a:off x="6088658" y="3295386"/>
            <a:ext cx="909014" cy="125907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359026" y="3812847"/>
            <a:ext cx="3384376" cy="120032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b="1"/>
              <a:t>(myenv) </a:t>
            </a:r>
            <a:r>
              <a:rPr lang="ko-KR" altLang="en-US" sz="1200" b="1"/>
              <a:t>pi@pi:~</a:t>
            </a:r>
            <a:r>
              <a:rPr lang="en-US" altLang="ko-KR" sz="1200" b="1"/>
              <a:t>/ch07</a:t>
            </a:r>
            <a:r>
              <a:rPr lang="ko-KR" altLang="en-US" sz="1200" b="1"/>
              <a:t> $ python </a:t>
            </a:r>
            <a:r>
              <a:rPr lang="en-US" altLang="ko-KR" sz="1200" b="1"/>
              <a:t>7</a:t>
            </a:r>
            <a:r>
              <a:rPr lang="ko-KR" altLang="en-US" sz="1200" b="1"/>
              <a:t>-</a:t>
            </a:r>
            <a:r>
              <a:rPr lang="en-US" altLang="ko-KR" sz="1200" b="1"/>
              <a:t>4pi</a:t>
            </a:r>
            <a:r>
              <a:rPr lang="ko-KR" altLang="en-US" sz="1200" b="1"/>
              <a:t>.py</a:t>
            </a:r>
          </a:p>
          <a:p>
            <a:r>
              <a:rPr lang="ko-KR" altLang="en-US" sz="1200"/>
              <a:t>사진촬영계속</a:t>
            </a:r>
            <a:r>
              <a:rPr lang="en-US" altLang="ko-KR" sz="1200"/>
              <a:t>?(</a:t>
            </a:r>
            <a:r>
              <a:rPr lang="ko-KR" altLang="en-US" sz="1200"/>
              <a:t>종료는 </a:t>
            </a:r>
            <a:r>
              <a:rPr lang="en-US" altLang="ko-KR" sz="1200"/>
              <a:t>stop </a:t>
            </a:r>
            <a:r>
              <a:rPr lang="ko-KR" altLang="en-US" sz="1200"/>
              <a:t>입력</a:t>
            </a:r>
            <a:r>
              <a:rPr lang="en-US" altLang="ko-KR" sz="1200"/>
              <a:t>)&gt;&gt;</a:t>
            </a:r>
            <a:r>
              <a:rPr lang="en-US" altLang="ko-KR" sz="1200">
                <a:solidFill>
                  <a:srgbClr val="00B050"/>
                </a:solidFill>
              </a:rPr>
              <a:t>yes</a:t>
            </a:r>
            <a:endParaRPr lang="ko-KR" altLang="en-US" sz="1200">
              <a:solidFill>
                <a:srgbClr val="00B050"/>
              </a:solidFill>
            </a:endParaRPr>
          </a:p>
          <a:p>
            <a:r>
              <a:rPr lang="ko-KR" altLang="en-US" sz="1200"/>
              <a:t>사진촬영계속</a:t>
            </a:r>
            <a:r>
              <a:rPr lang="en-US" altLang="ko-KR" sz="1200"/>
              <a:t>?(</a:t>
            </a:r>
            <a:r>
              <a:rPr lang="ko-KR" altLang="en-US" sz="1200"/>
              <a:t>종료는 </a:t>
            </a:r>
            <a:r>
              <a:rPr lang="en-US" altLang="ko-KR" sz="1200"/>
              <a:t>stop </a:t>
            </a:r>
            <a:r>
              <a:rPr lang="ko-KR" altLang="en-US" sz="1200"/>
              <a:t>입력</a:t>
            </a:r>
            <a:r>
              <a:rPr lang="en-US" altLang="ko-KR" sz="1200"/>
              <a:t>)&gt;&gt;</a:t>
            </a:r>
            <a:r>
              <a:rPr lang="en-US" altLang="ko-KR" sz="1200">
                <a:solidFill>
                  <a:srgbClr val="00B050"/>
                </a:solidFill>
              </a:rPr>
              <a:t>yes</a:t>
            </a:r>
            <a:endParaRPr lang="ko-KR" altLang="en-US" sz="1200">
              <a:solidFill>
                <a:srgbClr val="00B050"/>
              </a:solidFill>
            </a:endParaRPr>
          </a:p>
          <a:p>
            <a:r>
              <a:rPr lang="ko-KR" altLang="en-US" sz="1200"/>
              <a:t>사진촬영계속</a:t>
            </a:r>
            <a:r>
              <a:rPr lang="en-US" altLang="ko-KR" sz="1200"/>
              <a:t>?(</a:t>
            </a:r>
            <a:r>
              <a:rPr lang="ko-KR" altLang="en-US" sz="1200"/>
              <a:t>종료는 </a:t>
            </a:r>
            <a:r>
              <a:rPr lang="en-US" altLang="ko-KR" sz="1200"/>
              <a:t>stop </a:t>
            </a:r>
            <a:r>
              <a:rPr lang="ko-KR" altLang="en-US" sz="1200"/>
              <a:t>입력</a:t>
            </a:r>
            <a:r>
              <a:rPr lang="en-US" altLang="ko-KR" sz="1200"/>
              <a:t>)&gt;&gt;</a:t>
            </a:r>
            <a:r>
              <a:rPr lang="en-US" altLang="ko-KR" sz="1200">
                <a:solidFill>
                  <a:srgbClr val="00B050"/>
                </a:solidFill>
              </a:rPr>
              <a:t>yes</a:t>
            </a:r>
            <a:endParaRPr lang="ko-KR" altLang="en-US" sz="1200">
              <a:solidFill>
                <a:srgbClr val="00B050"/>
              </a:solidFill>
            </a:endParaRPr>
          </a:p>
          <a:p>
            <a:r>
              <a:rPr lang="ko-KR" altLang="en-US" sz="1200"/>
              <a:t>사진촬영계속</a:t>
            </a:r>
            <a:r>
              <a:rPr lang="en-US" altLang="ko-KR" sz="1200"/>
              <a:t>?(</a:t>
            </a:r>
            <a:r>
              <a:rPr lang="ko-KR" altLang="en-US" sz="1200"/>
              <a:t>종료는 </a:t>
            </a:r>
            <a:r>
              <a:rPr lang="en-US" altLang="ko-KR" sz="1200"/>
              <a:t>stop </a:t>
            </a:r>
            <a:r>
              <a:rPr lang="ko-KR" altLang="en-US" sz="1200"/>
              <a:t>입력</a:t>
            </a:r>
            <a:r>
              <a:rPr lang="en-US" altLang="ko-KR" sz="1200"/>
              <a:t>)&gt;&gt;</a:t>
            </a:r>
            <a:r>
              <a:rPr lang="en-US" altLang="ko-KR" sz="1200">
                <a:solidFill>
                  <a:srgbClr val="00B050"/>
                </a:solidFill>
              </a:rPr>
              <a:t>stop</a:t>
            </a:r>
            <a:endParaRPr lang="ko-KR" altLang="en-US" sz="1200">
              <a:solidFill>
                <a:srgbClr val="00B050"/>
              </a:solidFill>
            </a:endParaRPr>
          </a:p>
          <a:p>
            <a:r>
              <a:rPr lang="en-US" altLang="ko-KR" sz="1200" b="1"/>
              <a:t>(myenv) </a:t>
            </a:r>
            <a:r>
              <a:rPr lang="ko-KR" altLang="en-US" sz="1200" b="1"/>
              <a:t>pi@pi:~</a:t>
            </a:r>
            <a:r>
              <a:rPr lang="en-US" altLang="ko-KR" sz="1200" b="1"/>
              <a:t>/ch07</a:t>
            </a:r>
            <a:r>
              <a:rPr lang="ko-KR" altLang="en-US" sz="1200" b="1"/>
              <a:t> 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555" y="3108948"/>
            <a:ext cx="3809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(2) putty </a:t>
            </a:r>
            <a:r>
              <a:rPr lang="ko-KR" altLang="en-US" sz="1200"/>
              <a:t>터미널 </a:t>
            </a:r>
            <a:r>
              <a:rPr lang="en-US" altLang="ko-KR" sz="1200"/>
              <a:t>1</a:t>
            </a:r>
            <a:r>
              <a:rPr lang="ko-KR" altLang="en-US" sz="1200"/>
              <a:t>개 더 열고 라즈베리파이에서 실행</a:t>
            </a:r>
            <a:endParaRPr lang="en-US" altLang="ko-KR" sz="1200"/>
          </a:p>
          <a:p>
            <a:r>
              <a:rPr lang="en-US" altLang="ko-KR" sz="1200"/>
              <a:t>    myenv</a:t>
            </a:r>
            <a:r>
              <a:rPr lang="ko-KR" altLang="en-US" sz="1200"/>
              <a:t> 가상환경 활성화 후</a:t>
            </a:r>
            <a:endParaRPr lang="en-US" altLang="ko-KR" sz="1200"/>
          </a:p>
          <a:p>
            <a:r>
              <a:rPr lang="en-US" altLang="ko-KR" sz="1200"/>
              <a:t>    pi/ch07 </a:t>
            </a:r>
            <a:r>
              <a:rPr lang="ko-KR" altLang="en-US" sz="1200"/>
              <a:t>디렉터리로 이동 후 </a:t>
            </a:r>
            <a:r>
              <a:rPr lang="en-US" altLang="ko-KR" sz="1200"/>
              <a:t>7-4pub.py </a:t>
            </a:r>
            <a:r>
              <a:rPr lang="ko-KR" altLang="en-US" sz="1200"/>
              <a:t>실행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BE2D33-AC9F-4AC9-82E6-9882A14B7CF5}"/>
              </a:ext>
            </a:extLst>
          </p:cNvPr>
          <p:cNvSpPr txBox="1"/>
          <p:nvPr/>
        </p:nvSpPr>
        <p:spPr>
          <a:xfrm>
            <a:off x="185083" y="1281336"/>
            <a:ext cx="34804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(1) putty </a:t>
            </a:r>
            <a:r>
              <a:rPr lang="ko-KR" altLang="en-US" sz="1200"/>
              <a:t>터미널 열고 라즈베리파이에서 접속</a:t>
            </a:r>
            <a:r>
              <a:rPr lang="en-US" altLang="ko-KR" sz="1200"/>
              <a:t>,</a:t>
            </a:r>
            <a:r>
              <a:rPr lang="ko-KR" altLang="en-US" sz="1200"/>
              <a:t> </a:t>
            </a:r>
            <a:endParaRPr lang="en-US" altLang="ko-KR" sz="1200"/>
          </a:p>
          <a:p>
            <a:r>
              <a:rPr lang="ko-KR" altLang="en-US" sz="1200"/>
              <a:t>홈 디렉터리에서 </a:t>
            </a:r>
            <a:r>
              <a:rPr lang="en-US" altLang="ko-KR" sz="1200"/>
              <a:t>mosquitto </a:t>
            </a:r>
            <a:r>
              <a:rPr lang="ko-KR" altLang="en-US" sz="1200"/>
              <a:t>실행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01A4CCB-D068-4F05-899D-3DD94B0DB005}"/>
              </a:ext>
            </a:extLst>
          </p:cNvPr>
          <p:cNvSpPr/>
          <p:nvPr/>
        </p:nvSpPr>
        <p:spPr>
          <a:xfrm>
            <a:off x="257975" y="1718893"/>
            <a:ext cx="4185417" cy="120032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b="1"/>
              <a:t>pi@pi:~ $ mosquitto –v –c mos.conf</a:t>
            </a:r>
          </a:p>
          <a:p>
            <a:pPr fontAlgn="base" latinLnBrk="0"/>
            <a:r>
              <a:rPr lang="en-US" altLang="ko-KR" sz="1200"/>
              <a:t>1702180719: mosquitto version 2.0.11 starting</a:t>
            </a:r>
          </a:p>
          <a:p>
            <a:pPr fontAlgn="base" latinLnBrk="0"/>
            <a:r>
              <a:rPr lang="en-US" altLang="ko-KR" sz="1200"/>
              <a:t>1702180719: Config loaded from mos.conf.</a:t>
            </a:r>
          </a:p>
          <a:p>
            <a:pPr fontAlgn="base" latinLnBrk="0"/>
            <a:r>
              <a:rPr lang="en-US" altLang="ko-KR" sz="1200"/>
              <a:t>1702180719: Opening ipv4 listen socket on port 1883.</a:t>
            </a:r>
          </a:p>
          <a:p>
            <a:pPr fontAlgn="base" latinLnBrk="0"/>
            <a:r>
              <a:rPr lang="en-US" altLang="ko-KR" sz="1200"/>
              <a:t>1702180719: Opening ipv6 listen socket on port 1883.</a:t>
            </a:r>
          </a:p>
          <a:p>
            <a:pPr fontAlgn="base" latinLnBrk="0"/>
            <a:r>
              <a:rPr lang="en-US" altLang="ko-KR" sz="1200"/>
              <a:t>1702180719: mosquitto version 2.0.11 running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1D3D9B24-6633-487D-9B57-9115C2BC4D3B}"/>
              </a:ext>
            </a:extLst>
          </p:cNvPr>
          <p:cNvSpPr/>
          <p:nvPr/>
        </p:nvSpPr>
        <p:spPr>
          <a:xfrm>
            <a:off x="5148064" y="4405731"/>
            <a:ext cx="1460718" cy="27459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565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62142</TotalTime>
  <Words>7225</Words>
  <Application>Microsoft Office PowerPoint</Application>
  <PresentationFormat>화면 슬라이드 쇼(4:3)</PresentationFormat>
  <Paragraphs>1048</Paragraphs>
  <Slides>59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59</vt:i4>
      </vt:variant>
    </vt:vector>
  </HeadingPairs>
  <TitlesOfParts>
    <vt:vector size="66" baseType="lpstr">
      <vt:lpstr>HY나무L</vt:lpstr>
      <vt:lpstr>맑은 고딕</vt:lpstr>
      <vt:lpstr>휴먼편지체</vt:lpstr>
      <vt:lpstr>Arial</vt:lpstr>
      <vt:lpstr>Wingdings</vt:lpstr>
      <vt:lpstr>Wingdings 2</vt:lpstr>
      <vt:lpstr>가을</vt:lpstr>
      <vt:lpstr>7장. 메시지 통신과 MQTT</vt:lpstr>
      <vt:lpstr>강의 목표</vt:lpstr>
      <vt:lpstr>들어가기 전에</vt:lpstr>
      <vt:lpstr>7.1 MQTT를 이용한 메시지 통신</vt:lpstr>
      <vt:lpstr>MQTT 통신 개요</vt:lpstr>
      <vt:lpstr>7.2 MQTT 통신의 구성 요소와 통신 과정 </vt:lpstr>
      <vt:lpstr>MQTT 통신의 구성 요소</vt:lpstr>
      <vt:lpstr>MQTT 통신 시스템 구성과 통신 과정</vt:lpstr>
      <vt:lpstr>MQTT 응용 시스템 사례1 - 센서 데이터 수집</vt:lpstr>
      <vt:lpstr>MQTT 응용 시스템 사례 2 - 채팅 앱</vt:lpstr>
      <vt:lpstr>MQTT 통신 특징</vt:lpstr>
      <vt:lpstr>MQTT 활용 사례</vt:lpstr>
      <vt:lpstr>MQTT 패킷</vt:lpstr>
      <vt:lpstr>MQTT 메시지 종류 16가지</vt:lpstr>
      <vt:lpstr>QoS</vt:lpstr>
      <vt:lpstr>토픽</vt:lpstr>
      <vt:lpstr>MQTT 프로토롤 사례</vt:lpstr>
      <vt:lpstr>MQTT 메시지 통신 실습</vt:lpstr>
      <vt:lpstr>PowerPoint 프레젠테이션</vt:lpstr>
      <vt:lpstr>PowerPoint 프레젠테이션</vt:lpstr>
      <vt:lpstr>PowerPoint 프레젠테이션</vt:lpstr>
      <vt:lpstr>7.3 라즈베리파이에 MQTT 활용</vt:lpstr>
      <vt:lpstr>MQTT 응용시스템 개발과 Mosquitto</vt:lpstr>
      <vt:lpstr>Mosquitto 설치</vt:lpstr>
      <vt:lpstr>홈 디렉터리에 mos.conf 작성</vt:lpstr>
      <vt:lpstr>mosquitto 실행</vt:lpstr>
      <vt:lpstr>Mosquitto를 이용한 MQTT 통신 테스트 </vt:lpstr>
      <vt:lpstr>PowerPoint 프레젠테이션</vt:lpstr>
      <vt:lpstr>7.4 파이썬으로 MQTT 클라이언트 작성</vt:lpstr>
      <vt:lpstr>paho.mqtt 라이브러리 설치</vt:lpstr>
      <vt:lpstr>Client 객체</vt:lpstr>
      <vt:lpstr>Client 클래스의 주요 함수와 콜백 속성</vt:lpstr>
      <vt:lpstr>브로커에 연결</vt:lpstr>
      <vt:lpstr>브로커에 연결, connect_async() 함수 사용</vt:lpstr>
      <vt:lpstr>on_connect() 콜백 함수</vt:lpstr>
      <vt:lpstr>브로커와 연결 끊기</vt:lpstr>
      <vt:lpstr>메시지 발행</vt:lpstr>
      <vt:lpstr>메시지 수신</vt:lpstr>
      <vt:lpstr>메시지 루프 만들기</vt:lpstr>
      <vt:lpstr>loop()</vt:lpstr>
      <vt:lpstr>loop_forever()</vt:lpstr>
      <vt:lpstr>loop_start()와 loop_stop()</vt:lpstr>
      <vt:lpstr>keepalive와 메시지 루프</vt:lpstr>
      <vt:lpstr>예제 7-1 텍스트 메시지 전송</vt:lpstr>
      <vt:lpstr>예제 7-1 실행</vt:lpstr>
      <vt:lpstr>7.5 라즈베리파이와 윈도우 사이의 메시지 전송</vt:lpstr>
      <vt:lpstr>윈도우에 파이썬과 paho-mqtt 라이브러리 설치</vt:lpstr>
      <vt:lpstr>파이선 설치 확인</vt:lpstr>
      <vt:lpstr>paho-mqtt 라이브러리 설치</vt:lpstr>
      <vt:lpstr>예제 7-2 라즈베리파이에서 온도 값 보내고 윈도우에서 수신</vt:lpstr>
      <vt:lpstr>예제 7-2 코드</vt:lpstr>
      <vt:lpstr>예제 7-2 실행 </vt:lpstr>
      <vt:lpstr>예제 7-3 윈도우에서 라즈베리파이에 온도 전송 시작/중지 지시</vt:lpstr>
      <vt:lpstr>예제 7-3 코드</vt:lpstr>
      <vt:lpstr>예제 7-3 실행 </vt:lpstr>
      <vt:lpstr>예제 7-4 윈도우에서 라즈베리파이가 촬영한 카메라 이미지 수신</vt:lpstr>
      <vt:lpstr>예제 7-4 코드 - 라즈베리파이에서 실행되는 7-4pi.py</vt:lpstr>
      <vt:lpstr>예제 7-4 코드 윈도우에서 실행될 7-4win.py (카메라 이미지 수신 프로그램)</vt:lpstr>
      <vt:lpstr>예제 7-4 실행 및 결과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Kitae</dc:creator>
  <cp:lastModifiedBy>이지형</cp:lastModifiedBy>
  <cp:revision>1197</cp:revision>
  <cp:lastPrinted>2016-11-15T04:04:12Z</cp:lastPrinted>
  <dcterms:created xsi:type="dcterms:W3CDTF">2011-08-27T14:53:28Z</dcterms:created>
  <dcterms:modified xsi:type="dcterms:W3CDTF">2026-10-14T06:58:53Z</dcterms:modified>
</cp:coreProperties>
</file>