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52"/>
  </p:notesMasterIdLst>
  <p:sldIdLst>
    <p:sldId id="256" r:id="rId2"/>
    <p:sldId id="441" r:id="rId3"/>
    <p:sldId id="551" r:id="rId4"/>
    <p:sldId id="481" r:id="rId5"/>
    <p:sldId id="442" r:id="rId6"/>
    <p:sldId id="472" r:id="rId7"/>
    <p:sldId id="509" r:id="rId8"/>
    <p:sldId id="483" r:id="rId9"/>
    <p:sldId id="484" r:id="rId10"/>
    <p:sldId id="485" r:id="rId11"/>
    <p:sldId id="486" r:id="rId12"/>
    <p:sldId id="487" r:id="rId13"/>
    <p:sldId id="488" r:id="rId14"/>
    <p:sldId id="489" r:id="rId15"/>
    <p:sldId id="490" r:id="rId16"/>
    <p:sldId id="491" r:id="rId17"/>
    <p:sldId id="450" r:id="rId18"/>
    <p:sldId id="447" r:id="rId19"/>
    <p:sldId id="492" r:id="rId20"/>
    <p:sldId id="493" r:id="rId21"/>
    <p:sldId id="448" r:id="rId22"/>
    <p:sldId id="449" r:id="rId23"/>
    <p:sldId id="510" r:id="rId24"/>
    <p:sldId id="451" r:id="rId25"/>
    <p:sldId id="495" r:id="rId26"/>
    <p:sldId id="494" r:id="rId27"/>
    <p:sldId id="496" r:id="rId28"/>
    <p:sldId id="508" r:id="rId29"/>
    <p:sldId id="453" r:id="rId30"/>
    <p:sldId id="454" r:id="rId31"/>
    <p:sldId id="468" r:id="rId32"/>
    <p:sldId id="455" r:id="rId33"/>
    <p:sldId id="497" r:id="rId34"/>
    <p:sldId id="457" r:id="rId35"/>
    <p:sldId id="507" r:id="rId36"/>
    <p:sldId id="498" r:id="rId37"/>
    <p:sldId id="501" r:id="rId38"/>
    <p:sldId id="502" r:id="rId39"/>
    <p:sldId id="480" r:id="rId40"/>
    <p:sldId id="458" r:id="rId41"/>
    <p:sldId id="503" r:id="rId42"/>
    <p:sldId id="461" r:id="rId43"/>
    <p:sldId id="462" r:id="rId44"/>
    <p:sldId id="504" r:id="rId45"/>
    <p:sldId id="463" r:id="rId46"/>
    <p:sldId id="464" r:id="rId47"/>
    <p:sldId id="505" r:id="rId48"/>
    <p:sldId id="465" r:id="rId49"/>
    <p:sldId id="512" r:id="rId50"/>
    <p:sldId id="466" r:id="rId51"/>
  </p:sldIdLst>
  <p:sldSz cx="9144000" cy="6858000" type="screen4x3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66375F2-88DD-437C-BAA4-1209B5C42EEB}">
          <p14:sldIdLst>
            <p14:sldId id="256"/>
            <p14:sldId id="441"/>
            <p14:sldId id="551"/>
            <p14:sldId id="481"/>
            <p14:sldId id="442"/>
            <p14:sldId id="472"/>
            <p14:sldId id="509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50"/>
            <p14:sldId id="447"/>
            <p14:sldId id="492"/>
            <p14:sldId id="493"/>
            <p14:sldId id="448"/>
            <p14:sldId id="449"/>
            <p14:sldId id="510"/>
            <p14:sldId id="451"/>
            <p14:sldId id="495"/>
            <p14:sldId id="494"/>
            <p14:sldId id="496"/>
            <p14:sldId id="508"/>
            <p14:sldId id="453"/>
            <p14:sldId id="454"/>
            <p14:sldId id="468"/>
            <p14:sldId id="455"/>
            <p14:sldId id="497"/>
            <p14:sldId id="457"/>
            <p14:sldId id="507"/>
            <p14:sldId id="498"/>
            <p14:sldId id="501"/>
            <p14:sldId id="502"/>
            <p14:sldId id="480"/>
            <p14:sldId id="458"/>
            <p14:sldId id="503"/>
            <p14:sldId id="461"/>
            <p14:sldId id="462"/>
            <p14:sldId id="504"/>
            <p14:sldId id="463"/>
            <p14:sldId id="464"/>
            <p14:sldId id="505"/>
            <p14:sldId id="465"/>
            <p14:sldId id="512"/>
            <p14:sldId id="466"/>
          </p14:sldIdLst>
        </p14:section>
        <p14:section name="제목 없는 구역" id="{50618249-BD4B-4608-80C6-F69DDB80ECB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재문" initials="이" lastIdx="1" clrIdx="0">
    <p:extLst>
      <p:ext uri="{19B8F6BF-5375-455C-9EA6-DF929625EA0E}">
        <p15:presenceInfo xmlns:p15="http://schemas.microsoft.com/office/powerpoint/2012/main" userId="S::jmlee@hansung.edu::60dd5729-9113-4c1b-96fb-fbf1f72f30d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D6A300"/>
    <a:srgbClr val="8BB0CF"/>
    <a:srgbClr val="FFFF66"/>
    <a:srgbClr val="C9E7A7"/>
    <a:srgbClr val="669900"/>
    <a:srgbClr val="FF5B5B"/>
    <a:srgbClr val="7AA5C8"/>
    <a:srgbClr val="42739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134" autoAdjust="0"/>
    <p:restoredTop sz="94179" autoAdjust="0"/>
  </p:normalViewPr>
  <p:slideViewPr>
    <p:cSldViewPr>
      <p:cViewPr varScale="1">
        <p:scale>
          <a:sx n="95" d="100"/>
          <a:sy n="95" d="100"/>
        </p:scale>
        <p:origin x="16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17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269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233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849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46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020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HY나무L" pitchFamily="18" charset="-127"/>
                <a:ea typeface="HY나무L" pitchFamily="18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>
            <a:normAutofit/>
          </a:bodyPr>
          <a:lstStyle>
            <a:lvl1pPr marL="342900" indent="-342900">
              <a:buSzPct val="100000"/>
              <a:buFont typeface="+mj-lt"/>
              <a:buAutoNum type="arabicPeriod"/>
              <a:defRPr sz="15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웹 프로그래밍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algn="r">
              <a:defRPr cap="all" baseline="0"/>
            </a:lvl1pPr>
          </a:lstStyle>
          <a:p>
            <a:endParaRPr kumimoji="0" lang="en-US" dirty="0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endParaRPr kumimoji="0" lang="en-US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383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8</a:t>
            </a:r>
            <a:r>
              <a:rPr lang="ko-KR" altLang="en-US"/>
              <a:t>장 </a:t>
            </a:r>
            <a:r>
              <a:rPr lang="en-US" altLang="ko-KR"/>
              <a:t>GPIO</a:t>
            </a:r>
            <a:r>
              <a:rPr lang="ko-KR" altLang="en-US"/>
              <a:t>와 </a:t>
            </a:r>
            <a:r>
              <a:rPr lang="en-US" altLang="ko-KR"/>
              <a:t>LED, </a:t>
            </a:r>
            <a:r>
              <a:rPr lang="ko-KR" altLang="en-US"/>
              <a:t>스위치</a:t>
            </a:r>
            <a:r>
              <a:rPr lang="en-US" altLang="ko-KR"/>
              <a:t>, </a:t>
            </a:r>
            <a:r>
              <a:rPr lang="ko-KR" altLang="en-US"/>
              <a:t>초음파 센서 다루기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7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"/>
    </mc:Choice>
    <mc:Fallback xmlns="">
      <p:transition spd="slow" advTm="1029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ko-KR" dirty="0"/>
          </a:p>
          <a:p>
            <a:r>
              <a:rPr lang="en-US" altLang="ko-KR" dirty="0" err="1"/>
              <a:t>GPIO</a:t>
            </a:r>
            <a:r>
              <a:rPr lang="ko-KR" altLang="en-US" dirty="0"/>
              <a:t>의 개념과 </a:t>
            </a:r>
            <a:r>
              <a:rPr lang="ko-KR" altLang="en-US" dirty="0" err="1"/>
              <a:t>라즈베리파이를</a:t>
            </a:r>
            <a:r>
              <a:rPr lang="ko-KR" altLang="en-US" dirty="0"/>
              <a:t> 이용한 하드웨어 제어에 대해 이해한다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GPIO</a:t>
            </a:r>
            <a:r>
              <a:rPr lang="ko-KR" altLang="en-US" dirty="0"/>
              <a:t>의 </a:t>
            </a:r>
            <a:r>
              <a:rPr lang="en-US" altLang="ko-KR" dirty="0"/>
              <a:t>40</a:t>
            </a:r>
            <a:r>
              <a:rPr lang="ko-KR" altLang="en-US" dirty="0"/>
              <a:t>핀에 대해 이해한다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LED</a:t>
            </a:r>
            <a:r>
              <a:rPr lang="ko-KR" altLang="en-US" dirty="0"/>
              <a:t> 제어 하드웨어를 꾸미고 </a:t>
            </a:r>
            <a:r>
              <a:rPr lang="ko-KR" altLang="en-US" dirty="0" err="1"/>
              <a:t>파이썬으로</a:t>
            </a:r>
            <a:r>
              <a:rPr lang="ko-KR" altLang="en-US" dirty="0"/>
              <a:t> 제어하는 것에 대해 이해한다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Switch </a:t>
            </a:r>
            <a:r>
              <a:rPr lang="ko-KR" altLang="en-US" dirty="0"/>
              <a:t>제어 하드웨어를 꾸미고 </a:t>
            </a:r>
            <a:r>
              <a:rPr lang="ko-KR" altLang="en-US" dirty="0" err="1"/>
              <a:t>파이썬으로</a:t>
            </a:r>
            <a:r>
              <a:rPr lang="ko-KR" altLang="en-US" dirty="0"/>
              <a:t> 제어하는 것에 대해 이해한다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초음파 센서 하드웨어를 꾸미고 </a:t>
            </a:r>
            <a:r>
              <a:rPr lang="ko-KR" altLang="en-US" dirty="0" err="1"/>
              <a:t>파이썬으로</a:t>
            </a:r>
            <a:r>
              <a:rPr lang="ko-KR" altLang="en-US" dirty="0"/>
              <a:t> 제어하는 것에 대해 이해한다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강의 목표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481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5E8A677-21D6-43AF-99AC-30CFE20C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들어가기 전에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B1BA24-DCC1-447A-8839-9A507DD01F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예제와 실습은 </a:t>
            </a:r>
            <a:r>
              <a:rPr lang="en-US" altLang="ko-KR" dirty="0" err="1"/>
              <a:t>myenv</a:t>
            </a:r>
            <a:r>
              <a:rPr lang="en-US" altLang="ko-KR" dirty="0"/>
              <a:t> </a:t>
            </a:r>
            <a:r>
              <a:rPr lang="ko-KR" altLang="en-US" dirty="0"/>
              <a:t>가상 환경에서 실행</a:t>
            </a:r>
            <a:endParaRPr lang="en-US" altLang="ko-KR" dirty="0"/>
          </a:p>
          <a:p>
            <a:pPr lvl="1"/>
            <a:r>
              <a:rPr lang="ko-KR" altLang="en-US" dirty="0"/>
              <a:t>파이썬 코드 실행 전</a:t>
            </a:r>
            <a:r>
              <a:rPr lang="en-US" altLang="ko-KR" dirty="0"/>
              <a:t> </a:t>
            </a:r>
            <a:r>
              <a:rPr lang="ko-KR" altLang="en-US" dirty="0"/>
              <a:t>반드시 가상 환경 활성화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예제 파이썬 코드는 </a:t>
            </a:r>
            <a:r>
              <a:rPr lang="en-US" altLang="ko-KR" dirty="0"/>
              <a:t>ch08 </a:t>
            </a:r>
            <a:r>
              <a:rPr lang="ko-KR" altLang="en-US" dirty="0"/>
              <a:t>디렉터리에 저장하고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7134A7-1647-4558-B85E-D57EF885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A5ABD5-64B8-445A-931D-B040DECAB7FD}"/>
              </a:ext>
            </a:extLst>
          </p:cNvPr>
          <p:cNvSpPr/>
          <p:nvPr/>
        </p:nvSpPr>
        <p:spPr>
          <a:xfrm>
            <a:off x="1331640" y="2272516"/>
            <a:ext cx="4572000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ko-KR" sz="1600" b="1">
                <a:latin typeface="+mn-ea"/>
              </a:rPr>
              <a:t>pi@pi:~ $ source myenv/bin/activate</a:t>
            </a:r>
          </a:p>
          <a:p>
            <a:r>
              <a:rPr lang="en-US" altLang="ko-KR" sz="1600" b="1">
                <a:latin typeface="+mn-ea"/>
              </a:rPr>
              <a:t>(myenv) pi@pi:~ $</a:t>
            </a:r>
            <a:endParaRPr lang="ko-KR" altLang="en-US" sz="1600" b="1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D54256-F654-4A32-A5D1-0BB5771D1345}"/>
              </a:ext>
            </a:extLst>
          </p:cNvPr>
          <p:cNvSpPr/>
          <p:nvPr/>
        </p:nvSpPr>
        <p:spPr>
          <a:xfrm>
            <a:off x="1331640" y="3933056"/>
            <a:ext cx="4572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pt-BR" altLang="ko-KR" sz="1600" b="1">
                <a:latin typeface="+mn-ea"/>
              </a:rPr>
              <a:t>(myenv) pi@pi:~ $ mkdir ch08</a:t>
            </a:r>
          </a:p>
          <a:p>
            <a:r>
              <a:rPr lang="nb-NO" altLang="ko-KR" sz="1600" b="1">
                <a:latin typeface="+mn-ea"/>
              </a:rPr>
              <a:t>(myenv) pi@pi:~ $ cd ch08</a:t>
            </a:r>
          </a:p>
          <a:p>
            <a:r>
              <a:rPr lang="en-US" altLang="ko-KR" sz="1600" b="1">
                <a:latin typeface="+mn-ea"/>
              </a:rPr>
              <a:t>(myenv) pi@pi:~/ch08 $</a:t>
            </a:r>
            <a:endParaRPr lang="ko-KR" altLang="en-US" sz="1600" b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608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8.1 </a:t>
            </a:r>
            <a:r>
              <a:rPr lang="ko-KR" altLang="en-US"/>
              <a:t>라즈베리파이와 </a:t>
            </a:r>
            <a:r>
              <a:rPr lang="en-US" altLang="ko-KR"/>
              <a:t>GPIO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28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3448D-EC19-8B49-BF1B-1A23B8C1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GPIO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5B204-3E81-A643-ABB9-EE278572E21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/>
              <a:t>GPIO</a:t>
            </a:r>
          </a:p>
          <a:p>
            <a:pPr lvl="1"/>
            <a:r>
              <a:rPr lang="en-US" altLang="ko-KR"/>
              <a:t>GPIO(General Purpose Input/Output)</a:t>
            </a:r>
          </a:p>
          <a:p>
            <a:pPr lvl="1"/>
            <a:r>
              <a:rPr lang="ko-KR" altLang="en-US"/>
              <a:t>컴퓨터와 외부 하드웨어 사이의 </a:t>
            </a:r>
            <a:r>
              <a:rPr lang="en-US" altLang="ko-KR"/>
              <a:t>‘</a:t>
            </a:r>
            <a:r>
              <a:rPr lang="ko-KR" altLang="en-US"/>
              <a:t>범용 입출력 인터페이스</a:t>
            </a:r>
            <a:r>
              <a:rPr lang="en-US" altLang="ko-KR"/>
              <a:t>’</a:t>
            </a:r>
          </a:p>
          <a:p>
            <a:pPr lvl="2"/>
            <a:r>
              <a:rPr lang="ko-KR" altLang="en-US"/>
              <a:t>마이크로프로세서</a:t>
            </a:r>
            <a:r>
              <a:rPr lang="en-US" altLang="ko-KR"/>
              <a:t>, </a:t>
            </a:r>
            <a:r>
              <a:rPr lang="ko-KR" altLang="en-US"/>
              <a:t>마이크로컨트롤러 등의 임베디드 하드웨어가 외부 장치사이에서 디지털 혹은 아날로그 신호를 주고 받기 위한 </a:t>
            </a:r>
            <a:r>
              <a:rPr lang="en-US" altLang="ko-KR"/>
              <a:t>I/O </a:t>
            </a:r>
            <a:r>
              <a:rPr lang="ko-KR" altLang="en-US"/>
              <a:t>핀들</a:t>
            </a:r>
            <a:endParaRPr lang="en-US" altLang="ko-KR"/>
          </a:p>
          <a:p>
            <a:pPr lvl="2"/>
            <a:r>
              <a:rPr lang="ko-KR" altLang="en-US"/>
              <a:t>라즈베리파이</a:t>
            </a:r>
            <a:r>
              <a:rPr lang="en-US" altLang="ko-KR"/>
              <a:t>4 B</a:t>
            </a:r>
            <a:r>
              <a:rPr lang="ko-KR" altLang="en-US"/>
              <a:t>에 </a:t>
            </a:r>
            <a:r>
              <a:rPr lang="en-US" altLang="ko-KR"/>
              <a:t>40</a:t>
            </a:r>
            <a:r>
              <a:rPr lang="ko-KR" altLang="en-US"/>
              <a:t>개의 </a:t>
            </a:r>
            <a:r>
              <a:rPr lang="en-US" altLang="ko-KR"/>
              <a:t>GPIO </a:t>
            </a:r>
            <a:r>
              <a:rPr lang="ko-KR" altLang="en-US"/>
              <a:t>핀</a:t>
            </a:r>
            <a:endParaRPr lang="en-US" altLang="ko-KR"/>
          </a:p>
          <a:p>
            <a:pPr lvl="2"/>
            <a:endParaRPr lang="en-US" altLang="ko-KR"/>
          </a:p>
          <a:p>
            <a:r>
              <a:rPr lang="en-US" altLang="ko-KR"/>
              <a:t>GPIO </a:t>
            </a:r>
            <a:r>
              <a:rPr lang="ko-KR" altLang="en-US"/>
              <a:t>특징</a:t>
            </a:r>
            <a:endParaRPr lang="en-US" altLang="ko-KR"/>
          </a:p>
          <a:p>
            <a:pPr lvl="1"/>
            <a:r>
              <a:rPr lang="ko-KR" altLang="en-US"/>
              <a:t>수 개에서 수십 개의 핀들로 구성</a:t>
            </a:r>
            <a:endParaRPr lang="en-US" altLang="ko-KR"/>
          </a:p>
          <a:p>
            <a:pPr lvl="1"/>
            <a:r>
              <a:rPr lang="ko-KR" altLang="en-US"/>
              <a:t>핀들은 몇몇 필수 핀 외에는 미리 정해진 목적이 없다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핀은 입력이나 출력 중에서 한가지로만 선택 사용</a:t>
            </a:r>
          </a:p>
          <a:p>
            <a:pPr lvl="1"/>
            <a:r>
              <a:rPr lang="ko-KR" altLang="en-US"/>
              <a:t>핀을 통해 외부 하드웨어에 전원 공급</a:t>
            </a:r>
          </a:p>
          <a:p>
            <a:pPr lvl="1"/>
            <a:r>
              <a:rPr lang="ko-KR" altLang="en-US"/>
              <a:t>핀으로의 신호 송수신은 소프트웨어로 제어</a:t>
            </a:r>
          </a:p>
          <a:p>
            <a:pPr lvl="2"/>
            <a:endParaRPr lang="ko-KR" altLang="en-US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8D45B6-8AFB-5B41-BA6F-F4FF9571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278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A3990A-F430-8F2B-87B7-FE5CDCAC10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2204864"/>
            <a:ext cx="3095174" cy="2066476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A9343511-AEAE-46B4-8268-EF09F2FDE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임베디드 컨트롤러의 </a:t>
            </a:r>
            <a:r>
              <a:rPr lang="en-US" altLang="ko-KR"/>
              <a:t>GPIO </a:t>
            </a:r>
            <a:r>
              <a:rPr lang="ko-KR" altLang="en-US"/>
              <a:t>사례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554617-BF61-4F0C-AAB8-7954272C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54EF0A3-2BB3-4E56-B371-DF4864B92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0808"/>
            <a:ext cx="2952328" cy="29523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E8FB00-1907-47A9-8EC1-0F112F344E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2060848"/>
            <a:ext cx="2943335" cy="208976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127668-9392-4241-9E61-1B424137DE5C}"/>
              </a:ext>
            </a:extLst>
          </p:cNvPr>
          <p:cNvSpPr/>
          <p:nvPr/>
        </p:nvSpPr>
        <p:spPr>
          <a:xfrm>
            <a:off x="832080" y="2096852"/>
            <a:ext cx="2007231" cy="2895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8D32D2-2662-455F-B433-958EC2D6C47C}"/>
              </a:ext>
            </a:extLst>
          </p:cNvPr>
          <p:cNvSpPr/>
          <p:nvPr/>
        </p:nvSpPr>
        <p:spPr>
          <a:xfrm>
            <a:off x="1259633" y="3861048"/>
            <a:ext cx="1579678" cy="2895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264963-D8D6-4193-9475-059796E394EA}"/>
              </a:ext>
            </a:extLst>
          </p:cNvPr>
          <p:cNvSpPr/>
          <p:nvPr/>
        </p:nvSpPr>
        <p:spPr>
          <a:xfrm>
            <a:off x="3105337" y="2204864"/>
            <a:ext cx="1826703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BCBE0E-4916-4353-851F-DB3259B2B21F}"/>
              </a:ext>
            </a:extLst>
          </p:cNvPr>
          <p:cNvSpPr/>
          <p:nvPr/>
        </p:nvSpPr>
        <p:spPr>
          <a:xfrm>
            <a:off x="6178407" y="2204864"/>
            <a:ext cx="1826703" cy="2880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76DE2A-071C-44BC-B0A0-C3050A893F10}"/>
              </a:ext>
            </a:extLst>
          </p:cNvPr>
          <p:cNvSpPr txBox="1"/>
          <p:nvPr/>
        </p:nvSpPr>
        <p:spPr>
          <a:xfrm>
            <a:off x="1100183" y="1801270"/>
            <a:ext cx="136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아두이노의 </a:t>
            </a:r>
            <a:r>
              <a:rPr lang="en-US" altLang="ko-KR" sz="1200">
                <a:solidFill>
                  <a:srgbClr val="C00000"/>
                </a:solidFill>
              </a:rPr>
              <a:t>GPIO</a:t>
            </a:r>
            <a:endParaRPr lang="ko-KR" altLang="en-US" sz="120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171C48-2457-494B-AB1F-7B94330195A4}"/>
              </a:ext>
            </a:extLst>
          </p:cNvPr>
          <p:cNvSpPr txBox="1"/>
          <p:nvPr/>
        </p:nvSpPr>
        <p:spPr>
          <a:xfrm>
            <a:off x="3257256" y="1922348"/>
            <a:ext cx="1518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바나나파이의 </a:t>
            </a:r>
            <a:r>
              <a:rPr lang="en-US" altLang="ko-KR" sz="1200">
                <a:solidFill>
                  <a:srgbClr val="C00000"/>
                </a:solidFill>
              </a:rPr>
              <a:t>GPIO</a:t>
            </a:r>
            <a:endParaRPr lang="ko-KR" altLang="en-US" sz="120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A25C26-2DCA-4462-A9BA-A464D61AFBB9}"/>
              </a:ext>
            </a:extLst>
          </p:cNvPr>
          <p:cNvSpPr txBox="1"/>
          <p:nvPr/>
        </p:nvSpPr>
        <p:spPr>
          <a:xfrm>
            <a:off x="6238768" y="1940647"/>
            <a:ext cx="1672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라즈베리파이의 </a:t>
            </a:r>
            <a:r>
              <a:rPr lang="en-US" altLang="ko-KR" sz="1200">
                <a:solidFill>
                  <a:srgbClr val="C00000"/>
                </a:solidFill>
              </a:rPr>
              <a:t>GPIO</a:t>
            </a:r>
            <a:endParaRPr lang="ko-KR" altLang="en-US" sz="1200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829057-354E-4764-812D-11267C72088D}"/>
              </a:ext>
            </a:extLst>
          </p:cNvPr>
          <p:cNvSpPr txBox="1"/>
          <p:nvPr/>
        </p:nvSpPr>
        <p:spPr>
          <a:xfrm>
            <a:off x="1331640" y="4158701"/>
            <a:ext cx="136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아두이노의 </a:t>
            </a:r>
            <a:r>
              <a:rPr lang="en-US" altLang="ko-KR" sz="1200">
                <a:solidFill>
                  <a:srgbClr val="C00000"/>
                </a:solidFill>
              </a:rPr>
              <a:t>GPIO</a:t>
            </a:r>
            <a:endParaRPr lang="ko-KR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05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5225E-1010-45DB-8F8D-991EA29E7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라즈베리파이</a:t>
            </a:r>
            <a:r>
              <a:rPr lang="en-US" altLang="ko-KR" dirty="0"/>
              <a:t>4 </a:t>
            </a:r>
            <a:r>
              <a:rPr lang="ko-KR" altLang="en-US" dirty="0"/>
              <a:t>모델 </a:t>
            </a:r>
            <a:r>
              <a:rPr lang="en-US" altLang="ko-KR" dirty="0"/>
              <a:t>B/B+</a:t>
            </a:r>
            <a:r>
              <a:rPr lang="ko-KR" altLang="en-US" dirty="0"/>
              <a:t>의 </a:t>
            </a:r>
            <a:r>
              <a:rPr lang="en-US" altLang="ko-KR" dirty="0"/>
              <a:t>GPIO </a:t>
            </a:r>
            <a:r>
              <a:rPr lang="ko-KR" altLang="en-US" dirty="0"/>
              <a:t>핀 </a:t>
            </a:r>
            <a:r>
              <a:rPr lang="en-US" altLang="ko-KR" dirty="0"/>
              <a:t>40</a:t>
            </a:r>
            <a:r>
              <a:rPr lang="ko-KR" altLang="en-US" dirty="0"/>
              <a:t>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C6AD24-6855-46F0-AA55-F5A9A6D1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B1F08F-2403-04AE-00DB-C01B0139AF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3235" y="2575197"/>
            <a:ext cx="3095174" cy="206647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7743C15-9FF9-0ECA-43EA-664BA8A0A4F4}"/>
              </a:ext>
            </a:extLst>
          </p:cNvPr>
          <p:cNvSpPr/>
          <p:nvPr/>
        </p:nvSpPr>
        <p:spPr>
          <a:xfrm rot="5400000">
            <a:off x="1830724" y="2981416"/>
            <a:ext cx="1872207" cy="4320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15">
            <a:extLst>
              <a:ext uri="{FF2B5EF4-FFF2-40B4-BE49-F238E27FC236}">
                <a16:creationId xmlns:a16="http://schemas.microsoft.com/office/drawing/2014/main" id="{74C4FDB9-BEEE-027D-866F-E448A3971CB9}"/>
              </a:ext>
            </a:extLst>
          </p:cNvPr>
          <p:cNvSpPr/>
          <p:nvPr/>
        </p:nvSpPr>
        <p:spPr>
          <a:xfrm>
            <a:off x="3040981" y="3125430"/>
            <a:ext cx="360040" cy="144016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242FE-4011-C705-EFF9-BC825FDB5192}"/>
              </a:ext>
            </a:extLst>
          </p:cNvPr>
          <p:cNvSpPr txBox="1"/>
          <p:nvPr/>
        </p:nvSpPr>
        <p:spPr>
          <a:xfrm>
            <a:off x="2973712" y="5920540"/>
            <a:ext cx="11128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rgbClr val="C00000"/>
                </a:solidFill>
              </a:rPr>
              <a:t>BOARD </a:t>
            </a:r>
            <a:r>
              <a:rPr lang="ko-KR" altLang="en-US" sz="900">
                <a:solidFill>
                  <a:srgbClr val="C00000"/>
                </a:solidFill>
              </a:rPr>
              <a:t>모드에서</a:t>
            </a:r>
            <a:endParaRPr lang="en-US" altLang="ko-KR" sz="900">
              <a:solidFill>
                <a:srgbClr val="C00000"/>
              </a:solidFill>
            </a:endParaRPr>
          </a:p>
          <a:p>
            <a:r>
              <a:rPr lang="ko-KR" altLang="en-US" sz="900">
                <a:solidFill>
                  <a:srgbClr val="C00000"/>
                </a:solidFill>
              </a:rPr>
              <a:t> 사용하는 핀 번호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5F36B-FBBC-D92D-85C2-4D3FA4933704}"/>
              </a:ext>
            </a:extLst>
          </p:cNvPr>
          <p:cNvSpPr txBox="1"/>
          <p:nvPr/>
        </p:nvSpPr>
        <p:spPr>
          <a:xfrm>
            <a:off x="3989994" y="5920540"/>
            <a:ext cx="13740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rgbClr val="C00000"/>
                </a:solidFill>
              </a:rPr>
              <a:t>BCM </a:t>
            </a:r>
            <a:r>
              <a:rPr lang="ko-KR" altLang="en-US" sz="900">
                <a:solidFill>
                  <a:srgbClr val="C00000"/>
                </a:solidFill>
              </a:rPr>
              <a:t>모드에서</a:t>
            </a:r>
            <a:endParaRPr lang="en-US" altLang="ko-KR" sz="900">
              <a:solidFill>
                <a:srgbClr val="C00000"/>
              </a:solidFill>
            </a:endParaRPr>
          </a:p>
          <a:p>
            <a:r>
              <a:rPr lang="ko-KR" altLang="en-US" sz="900">
                <a:solidFill>
                  <a:srgbClr val="C00000"/>
                </a:solidFill>
              </a:rPr>
              <a:t>사용하는 핀 번호</a:t>
            </a:r>
            <a:r>
              <a:rPr lang="en-US" altLang="ko-KR" sz="900">
                <a:solidFill>
                  <a:srgbClr val="C00000"/>
                </a:solidFill>
              </a:rPr>
              <a:t>(</a:t>
            </a:r>
            <a:r>
              <a:rPr lang="ko-KR" altLang="en-US" sz="900">
                <a:solidFill>
                  <a:srgbClr val="C00000"/>
                </a:solidFill>
              </a:rPr>
              <a:t>이름</a:t>
            </a:r>
            <a:r>
              <a:rPr lang="en-US" altLang="ko-KR" sz="900">
                <a:solidFill>
                  <a:srgbClr val="C00000"/>
                </a:solidFill>
              </a:rPr>
              <a:t>)</a:t>
            </a:r>
            <a:endParaRPr lang="ko-KR" altLang="en-US" sz="900">
              <a:solidFill>
                <a:srgbClr val="C00000"/>
              </a:solidFill>
            </a:endParaRPr>
          </a:p>
        </p:txBody>
      </p:sp>
      <p:cxnSp>
        <p:nvCxnSpPr>
          <p:cNvPr id="12" name="연결선: 꺾임 25">
            <a:extLst>
              <a:ext uri="{FF2B5EF4-FFF2-40B4-BE49-F238E27FC236}">
                <a16:creationId xmlns:a16="http://schemas.microsoft.com/office/drawing/2014/main" id="{E169E447-C40E-BA05-58E4-401F7079EED0}"/>
              </a:ext>
            </a:extLst>
          </p:cNvPr>
          <p:cNvCxnSpPr>
            <a:cxnSpLocks/>
            <a:stCxn id="10" idx="0"/>
          </p:cNvCxnSpPr>
          <p:nvPr/>
        </p:nvCxnSpPr>
        <p:spPr>
          <a:xfrm rot="5400000" flipH="1" flipV="1">
            <a:off x="3508231" y="5559994"/>
            <a:ext cx="382430" cy="3386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27">
            <a:extLst>
              <a:ext uri="{FF2B5EF4-FFF2-40B4-BE49-F238E27FC236}">
                <a16:creationId xmlns:a16="http://schemas.microsoft.com/office/drawing/2014/main" id="{31E3FDC3-D9C4-9CAA-15E5-043B9F0B6CBB}"/>
              </a:ext>
            </a:extLst>
          </p:cNvPr>
          <p:cNvCxnSpPr>
            <a:cxnSpLocks/>
            <a:stCxn id="11" idx="0"/>
          </p:cNvCxnSpPr>
          <p:nvPr/>
        </p:nvCxnSpPr>
        <p:spPr>
          <a:xfrm rot="16200000" flipV="1">
            <a:off x="4275105" y="5518603"/>
            <a:ext cx="403308" cy="4005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A42856CD-375C-E97C-BCF4-55BF36845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240" y="1965798"/>
            <a:ext cx="3714554" cy="35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9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E256F-9D43-4C72-946F-9AD079C55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소프트웨어로 </a:t>
            </a:r>
            <a:r>
              <a:rPr lang="en-US" altLang="ko-KR"/>
              <a:t>GPIO </a:t>
            </a:r>
            <a:r>
              <a:rPr lang="ko-KR" altLang="en-US"/>
              <a:t>핀 제어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52B9A4-8602-4D5C-B55B-E04E9966C90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소프트웨어로 </a:t>
            </a:r>
            <a:r>
              <a:rPr lang="en-US" altLang="ko-KR" dirty="0"/>
              <a:t>GPIO</a:t>
            </a:r>
            <a:r>
              <a:rPr lang="ko-KR" altLang="en-US" dirty="0"/>
              <a:t>에 연결된 장치와 데이터를 주고받음</a:t>
            </a:r>
            <a:endParaRPr lang="en-US" altLang="ko-KR" dirty="0"/>
          </a:p>
          <a:p>
            <a:r>
              <a:rPr lang="ko-KR" altLang="en-US" dirty="0"/>
              <a:t>디지털 값과 전압</a:t>
            </a:r>
            <a:endParaRPr lang="en-US" altLang="ko-KR" dirty="0"/>
          </a:p>
          <a:p>
            <a:pPr lvl="1"/>
            <a:r>
              <a:rPr lang="ko-KR" altLang="en-US" dirty="0"/>
              <a:t>디지털 값 </a:t>
            </a:r>
            <a:r>
              <a:rPr lang="en-US" altLang="ko-KR" dirty="0"/>
              <a:t>1(</a:t>
            </a:r>
            <a:r>
              <a:rPr lang="ko-KR" altLang="en-US" dirty="0"/>
              <a:t>이진수 </a:t>
            </a:r>
            <a:r>
              <a:rPr lang="en-US" altLang="ko-KR" dirty="0"/>
              <a:t>1) : 3.3V </a:t>
            </a:r>
            <a:r>
              <a:rPr lang="ko-KR" altLang="en-US" dirty="0"/>
              <a:t>혹은 </a:t>
            </a:r>
            <a:r>
              <a:rPr lang="en-US" altLang="ko-KR" dirty="0"/>
              <a:t>5V, HIGH</a:t>
            </a:r>
            <a:r>
              <a:rPr lang="ko-KR" altLang="en-US" dirty="0"/>
              <a:t>로 부름</a:t>
            </a:r>
            <a:endParaRPr lang="en-US" altLang="ko-KR" dirty="0"/>
          </a:p>
          <a:p>
            <a:pPr lvl="1"/>
            <a:r>
              <a:rPr lang="ko-KR" altLang="en-US" dirty="0"/>
              <a:t>디지털 값 </a:t>
            </a:r>
            <a:r>
              <a:rPr lang="en-US" altLang="ko-KR" dirty="0"/>
              <a:t>0(</a:t>
            </a:r>
            <a:r>
              <a:rPr lang="ko-KR" altLang="en-US" dirty="0"/>
              <a:t>이진수 </a:t>
            </a:r>
            <a:r>
              <a:rPr lang="en-US" altLang="ko-KR" dirty="0"/>
              <a:t>0) :  0V </a:t>
            </a:r>
            <a:r>
              <a:rPr lang="ko-KR" altLang="en-US" dirty="0"/>
              <a:t>혹은 </a:t>
            </a:r>
            <a:r>
              <a:rPr lang="en-US" altLang="ko-KR" dirty="0"/>
              <a:t>GND, LOW</a:t>
            </a:r>
            <a:r>
              <a:rPr lang="ko-KR" altLang="en-US" dirty="0"/>
              <a:t>로 부름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GPIO </a:t>
            </a:r>
            <a:r>
              <a:rPr lang="ko-KR" altLang="en-US" dirty="0"/>
              <a:t>라이브러리들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98ED272-FBD6-4D3B-8FDB-46DB5C23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348EB3-D69D-4861-9DFA-859C731D4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005064"/>
            <a:ext cx="7622360" cy="168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3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134DFCE-202D-4AFC-AD25-5A3447AA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rpi-lgpio </a:t>
            </a:r>
            <a:r>
              <a:rPr lang="ko-KR" altLang="en-US"/>
              <a:t>라이브러리 활용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37BD56-8CFC-443B-8BC3-EA82D747F8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rpi-lgpio</a:t>
            </a:r>
            <a:r>
              <a:rPr lang="en-US" altLang="ko-KR" dirty="0"/>
              <a:t>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pPr lvl="1"/>
            <a:r>
              <a:rPr lang="en-US" altLang="ko-KR" dirty="0"/>
              <a:t>GPIO</a:t>
            </a:r>
            <a:r>
              <a:rPr lang="ko-KR" altLang="en-US" dirty="0"/>
              <a:t>에 연결된 장치들을 제어하는 </a:t>
            </a:r>
            <a:r>
              <a:rPr lang="ko-KR" altLang="en-US" b="1" dirty="0"/>
              <a:t>파이썬 라이브러리</a:t>
            </a:r>
          </a:p>
          <a:p>
            <a:endParaRPr lang="en-US" altLang="ko-KR" dirty="0"/>
          </a:p>
          <a:p>
            <a:r>
              <a:rPr lang="en-US" altLang="ko-KR" dirty="0" err="1"/>
              <a:t>rpi-lgpio</a:t>
            </a:r>
            <a:r>
              <a:rPr lang="en-US" altLang="ko-KR" dirty="0"/>
              <a:t> </a:t>
            </a:r>
            <a:r>
              <a:rPr lang="ko-KR" altLang="en-US" dirty="0"/>
              <a:t>라이브러리 설치</a:t>
            </a:r>
            <a:endParaRPr lang="en-US" altLang="ko-KR" dirty="0"/>
          </a:p>
          <a:p>
            <a:pPr marL="365760" lvl="1" indent="0">
              <a:buNone/>
            </a:pPr>
            <a:r>
              <a:rPr lang="en-US" altLang="ko-KR" dirty="0"/>
              <a:t>1) </a:t>
            </a:r>
            <a:r>
              <a:rPr lang="en-US" altLang="ko-KR" dirty="0" err="1"/>
              <a:t>myenv</a:t>
            </a:r>
            <a:r>
              <a:rPr lang="en-US" altLang="ko-KR" dirty="0"/>
              <a:t> </a:t>
            </a:r>
            <a:r>
              <a:rPr lang="ko-KR" altLang="en-US" dirty="0"/>
              <a:t>가상 환경 활성화</a:t>
            </a:r>
            <a:endParaRPr lang="en-US" altLang="ko-KR" dirty="0"/>
          </a:p>
          <a:p>
            <a:pPr lvl="2" fontAlgn="base" latinLnBrk="0"/>
            <a:r>
              <a:rPr lang="fr-FR" altLang="ko-KR" dirty="0" err="1"/>
              <a:t>pi@pi</a:t>
            </a:r>
            <a:r>
              <a:rPr lang="fr-FR" altLang="ko-KR" dirty="0"/>
              <a:t>:~ $ </a:t>
            </a:r>
            <a:r>
              <a:rPr lang="fr-FR" altLang="ko-KR" b="1" dirty="0"/>
              <a:t>source </a:t>
            </a:r>
            <a:r>
              <a:rPr lang="fr-FR" altLang="ko-KR" b="1" dirty="0" err="1"/>
              <a:t>myenv</a:t>
            </a:r>
            <a:r>
              <a:rPr lang="fr-FR" altLang="ko-KR" b="1" dirty="0"/>
              <a:t>/bin/</a:t>
            </a:r>
            <a:r>
              <a:rPr lang="fr-FR" altLang="ko-KR" b="1" dirty="0" err="1"/>
              <a:t>activate</a:t>
            </a:r>
            <a:endParaRPr lang="fr-FR" altLang="ko-KR" b="1" dirty="0"/>
          </a:p>
          <a:p>
            <a:pPr lvl="2" fontAlgn="base" latinLnBrk="0"/>
            <a:r>
              <a:rPr lang="fr-FR" altLang="ko-KR" dirty="0"/>
              <a:t>(</a:t>
            </a:r>
            <a:r>
              <a:rPr lang="fr-FR" altLang="ko-KR" dirty="0" err="1"/>
              <a:t>myenv</a:t>
            </a:r>
            <a:r>
              <a:rPr lang="fr-FR" altLang="ko-KR" dirty="0"/>
              <a:t>) </a:t>
            </a:r>
            <a:r>
              <a:rPr lang="fr-FR" altLang="ko-KR" dirty="0" err="1"/>
              <a:t>pi@pi</a:t>
            </a:r>
            <a:r>
              <a:rPr lang="fr-FR" altLang="ko-KR" dirty="0"/>
              <a:t>:~ $</a:t>
            </a:r>
          </a:p>
          <a:p>
            <a:pPr marL="365760" lvl="1" indent="0">
              <a:buNone/>
            </a:pPr>
            <a:r>
              <a:rPr lang="en-US" altLang="ko-KR" dirty="0"/>
              <a:t>2) </a:t>
            </a:r>
            <a:r>
              <a:rPr lang="en-US" altLang="ko-KR" dirty="0" err="1"/>
              <a:t>rpi-lgpio</a:t>
            </a:r>
            <a:r>
              <a:rPr lang="en-US" altLang="ko-KR" dirty="0"/>
              <a:t> </a:t>
            </a:r>
            <a:r>
              <a:rPr lang="ko-KR" altLang="en-US" dirty="0"/>
              <a:t>라이브러리 다운로드</a:t>
            </a:r>
            <a:endParaRPr lang="en-US" altLang="ko-KR" dirty="0"/>
          </a:p>
          <a:p>
            <a:pPr lvl="2" fontAlgn="base" latinLnBrk="0"/>
            <a:r>
              <a:rPr lang="en-US" altLang="ko-KR" dirty="0"/>
              <a:t>(</a:t>
            </a:r>
            <a:r>
              <a:rPr lang="en-US" altLang="ko-KR" dirty="0" err="1"/>
              <a:t>myenv</a:t>
            </a:r>
            <a:r>
              <a:rPr lang="en-US" altLang="ko-KR" dirty="0"/>
              <a:t>) </a:t>
            </a:r>
            <a:r>
              <a:rPr lang="en-US" altLang="ko-KR" dirty="0" err="1"/>
              <a:t>pi@pi</a:t>
            </a:r>
            <a:r>
              <a:rPr lang="en-US" altLang="ko-KR" dirty="0"/>
              <a:t>:~ $ </a:t>
            </a:r>
            <a:r>
              <a:rPr lang="en-US" altLang="ko-KR" b="1" dirty="0" err="1"/>
              <a:t>sudo</a:t>
            </a:r>
            <a:r>
              <a:rPr lang="en-US" altLang="ko-KR" b="1" dirty="0"/>
              <a:t> apt update</a:t>
            </a:r>
          </a:p>
          <a:p>
            <a:pPr lvl="2" fontAlgn="base" latinLnBrk="0"/>
            <a:r>
              <a:rPr lang="en-US" altLang="ko-KR" sz="1300" dirty="0"/>
              <a:t>(</a:t>
            </a:r>
            <a:r>
              <a:rPr lang="en-US" altLang="ko-KR" sz="1300" dirty="0" err="1"/>
              <a:t>myenv</a:t>
            </a:r>
            <a:r>
              <a:rPr lang="en-US" altLang="ko-KR" sz="1300" dirty="0"/>
              <a:t>) </a:t>
            </a:r>
            <a:r>
              <a:rPr lang="en-US" altLang="ko-KR" sz="1300" dirty="0" err="1"/>
              <a:t>pi@pi</a:t>
            </a:r>
            <a:r>
              <a:rPr lang="en-US" altLang="ko-KR" sz="1300" dirty="0"/>
              <a:t>:~ $ </a:t>
            </a:r>
            <a:r>
              <a:rPr lang="en-US" altLang="ko-KR" sz="1300" b="1" dirty="0" err="1"/>
              <a:t>sudo</a:t>
            </a:r>
            <a:r>
              <a:rPr lang="en-US" altLang="ko-KR" sz="1300" b="1" dirty="0"/>
              <a:t> apt install swig build-essential python3-dev </a:t>
            </a:r>
            <a:r>
              <a:rPr lang="en-US" altLang="ko-KR" sz="1300" b="1" dirty="0" err="1"/>
              <a:t>liblgpio</a:t>
            </a:r>
            <a:r>
              <a:rPr lang="en-US" altLang="ko-KR" sz="1300" b="1" dirty="0"/>
              <a:t>-dev -y</a:t>
            </a:r>
          </a:p>
          <a:p>
            <a:pPr lvl="2" fontAlgn="base" latinLnBrk="0"/>
            <a:r>
              <a:rPr lang="en-US" altLang="ko-KR" dirty="0"/>
              <a:t>(</a:t>
            </a:r>
            <a:r>
              <a:rPr lang="en-US" altLang="ko-KR" dirty="0" err="1"/>
              <a:t>myenv</a:t>
            </a:r>
            <a:r>
              <a:rPr lang="en-US" altLang="ko-KR" dirty="0"/>
              <a:t>) </a:t>
            </a:r>
            <a:r>
              <a:rPr lang="en-US" altLang="ko-KR" dirty="0" err="1"/>
              <a:t>pi@pi</a:t>
            </a:r>
            <a:r>
              <a:rPr lang="en-US" altLang="ko-KR" dirty="0"/>
              <a:t>:~ $ </a:t>
            </a:r>
            <a:r>
              <a:rPr lang="en-US" altLang="ko-KR" b="1" dirty="0"/>
              <a:t>pip install </a:t>
            </a:r>
            <a:r>
              <a:rPr lang="en-US" altLang="ko-KR" b="1" dirty="0" err="1"/>
              <a:t>rpi-lgpio</a:t>
            </a:r>
            <a:endParaRPr lang="en-US" altLang="ko-KR" b="1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파이썬 프로그램에 </a:t>
            </a:r>
            <a:r>
              <a:rPr lang="en-US" altLang="ko-KR" dirty="0"/>
              <a:t>RPI.GPIO </a:t>
            </a:r>
            <a:r>
              <a:rPr lang="ko-KR" altLang="en-US" dirty="0"/>
              <a:t>활용</a:t>
            </a:r>
            <a:endParaRPr lang="en-US" altLang="ko-KR" dirty="0"/>
          </a:p>
          <a:p>
            <a:pPr lvl="1"/>
            <a:r>
              <a:rPr lang="pt-BR" altLang="ko-KR" b="1" dirty="0" err="1"/>
              <a:t>import</a:t>
            </a:r>
            <a:r>
              <a:rPr lang="pt-BR" altLang="ko-KR" b="1" dirty="0"/>
              <a:t> </a:t>
            </a:r>
            <a:r>
              <a:rPr lang="pt-BR" altLang="ko-KR" b="1" dirty="0" err="1"/>
              <a:t>RPi.GPIO</a:t>
            </a:r>
            <a:r>
              <a:rPr lang="pt-BR" altLang="ko-KR" b="1" dirty="0"/>
              <a:t> as GPIO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E9BCB-23E0-4E24-9DD2-05C2952C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248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4A0DBB3-0CAE-4C61-9953-F8C28F1E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RPi.GPIO </a:t>
            </a:r>
            <a:r>
              <a:rPr lang="ko-KR" altLang="en-US"/>
              <a:t>모듈의 함수들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0B156-C6BA-43A5-A7D3-2E35452C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DAD3CA-681E-4F3E-AEF3-A176C7642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94" y="1700808"/>
            <a:ext cx="7199784" cy="373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6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4A0DBB3-0CAE-4C61-9953-F8C28F1E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GPIO</a:t>
            </a:r>
            <a:r>
              <a:rPr lang="ko-KR" altLang="en-US"/>
              <a:t> 핀 번호 매기는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0B156-C6BA-43A5-A7D3-2E35452C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B85D53-700C-4168-B9D2-DE293C31216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응용프로그램은 </a:t>
            </a:r>
            <a:r>
              <a:rPr lang="en-US" altLang="ko-KR"/>
              <a:t>GPIO </a:t>
            </a:r>
            <a:r>
              <a:rPr lang="ko-KR" altLang="en-US"/>
              <a:t>핀 사용시</a:t>
            </a:r>
            <a:r>
              <a:rPr lang="en-US" altLang="ko-KR"/>
              <a:t>,</a:t>
            </a:r>
            <a:r>
              <a:rPr lang="ko-KR" altLang="en-US"/>
              <a:t> 핀 번호 사용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GPIO </a:t>
            </a:r>
            <a:r>
              <a:rPr lang="ko-KR" altLang="en-US"/>
              <a:t>핀에 번호를 매기는 </a:t>
            </a:r>
            <a:r>
              <a:rPr lang="en-US" altLang="ko-KR"/>
              <a:t>2</a:t>
            </a:r>
            <a:r>
              <a:rPr lang="ko-KR" altLang="en-US"/>
              <a:t>가지 방법</a:t>
            </a:r>
            <a:endParaRPr lang="en-US" altLang="ko-KR"/>
          </a:p>
          <a:p>
            <a:pPr lvl="1" fontAlgn="base"/>
            <a:r>
              <a:rPr lang="en-US" altLang="ko-KR"/>
              <a:t>BOARD </a:t>
            </a:r>
            <a:r>
              <a:rPr lang="ko-KR" altLang="en-US"/>
              <a:t>모드 </a:t>
            </a:r>
            <a:r>
              <a:rPr lang="en-US" altLang="ko-KR"/>
              <a:t>- </a:t>
            </a:r>
            <a:r>
              <a:rPr lang="ko-KR" altLang="en-US"/>
              <a:t>물리적으로 배치된 순서로 매겨진 번호 사용</a:t>
            </a:r>
            <a:endParaRPr lang="en-US" altLang="ko-KR"/>
          </a:p>
          <a:p>
            <a:pPr lvl="1" fontAlgn="base"/>
            <a:r>
              <a:rPr lang="en-US" altLang="ko-KR"/>
              <a:t>BCM </a:t>
            </a:r>
            <a:r>
              <a:rPr lang="ko-KR" altLang="en-US"/>
              <a:t>모드 </a:t>
            </a:r>
            <a:r>
              <a:rPr lang="en-US" altLang="ko-KR"/>
              <a:t>- </a:t>
            </a:r>
            <a:r>
              <a:rPr lang="ko-KR" altLang="en-US"/>
              <a:t>용도별 핀 번호</a:t>
            </a:r>
            <a:endParaRPr lang="en-US" altLang="ko-KR"/>
          </a:p>
          <a:p>
            <a:pPr lvl="2" fontAlgn="base"/>
            <a:r>
              <a:rPr lang="ko-KR" altLang="en-US"/>
              <a:t>라즈베리파이의 핵심 프로세스인 </a:t>
            </a:r>
            <a:r>
              <a:rPr lang="en-US" altLang="ko-KR"/>
              <a:t>BCM </a:t>
            </a:r>
            <a:r>
              <a:rPr lang="ko-KR" altLang="en-US"/>
              <a:t>칩에 의해 매겨진 번호</a:t>
            </a:r>
            <a:endParaRPr lang="en-US" altLang="ko-KR"/>
          </a:p>
          <a:p>
            <a:pPr lvl="2" fontAlgn="base"/>
            <a:endParaRPr lang="en-US" altLang="ko-KR"/>
          </a:p>
          <a:p>
            <a:pPr lvl="1" fontAlgn="base"/>
            <a:r>
              <a:rPr lang="ko-KR" altLang="en-US"/>
              <a:t>모드 선택</a:t>
            </a:r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r>
              <a:rPr lang="ko-KR" altLang="en-US"/>
              <a:t>현재 모드 알아내기</a:t>
            </a:r>
            <a:endParaRPr lang="en-US" altLang="ko-KR"/>
          </a:p>
          <a:p>
            <a:pPr lvl="2" fontAlgn="base"/>
            <a:endParaRPr lang="en-US" altLang="ko-KR"/>
          </a:p>
          <a:p>
            <a:pPr lvl="2" fontAlgn="base"/>
            <a:endParaRPr lang="en-US" altLang="ko-KR"/>
          </a:p>
          <a:p>
            <a:pPr lvl="1" fontAlgn="base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017ABC-A237-4A4C-9393-7BA9DDF5E3AC}"/>
              </a:ext>
            </a:extLst>
          </p:cNvPr>
          <p:cNvSpPr/>
          <p:nvPr/>
        </p:nvSpPr>
        <p:spPr>
          <a:xfrm>
            <a:off x="1331640" y="4581128"/>
            <a:ext cx="6857673" cy="584775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/>
              <a:t>GPIO.setmode(GPIO.BOARD) # BOARD </a:t>
            </a:r>
            <a:r>
              <a:rPr lang="ko-KR" altLang="en-US" sz="1600"/>
              <a:t>모드 선택</a:t>
            </a:r>
          </a:p>
          <a:p>
            <a:r>
              <a:rPr lang="en-US" altLang="ko-KR" sz="1600"/>
              <a:t>GPIO.setmode(GPIO.BCM) # BCM </a:t>
            </a:r>
            <a:r>
              <a:rPr lang="ko-KR" altLang="en-US" sz="1600"/>
              <a:t>모드 선택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ED8E93-DF9D-49C6-A69C-6325FF7566D8}"/>
              </a:ext>
            </a:extLst>
          </p:cNvPr>
          <p:cNvSpPr/>
          <p:nvPr/>
        </p:nvSpPr>
        <p:spPr>
          <a:xfrm>
            <a:off x="1334181" y="5733256"/>
            <a:ext cx="6857673" cy="338554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/>
              <a:t>mode = GPIO.getmode() # GPIO.BOARD, GPIO.BCM, None </a:t>
            </a:r>
            <a:r>
              <a:rPr lang="ko-KR" altLang="en-US" sz="1600"/>
              <a:t>중 하나 리턴</a:t>
            </a:r>
          </a:p>
        </p:txBody>
      </p:sp>
    </p:spTree>
    <p:extLst>
      <p:ext uri="{BB962C8B-B14F-4D97-AF65-F5344CB8AC3E}">
        <p14:creationId xmlns:p14="http://schemas.microsoft.com/office/powerpoint/2010/main" val="131850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E96C50D-4B0F-4CD5-A912-809FD82FC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GPIO </a:t>
            </a:r>
            <a:r>
              <a:rPr lang="ko-KR" altLang="en-US"/>
              <a:t>핀 사용하기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E750DC-021D-4386-B87E-7079CC4977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000"/>
              <a:t>GPIO </a:t>
            </a:r>
            <a:r>
              <a:rPr lang="ko-KR" altLang="en-US" sz="2000"/>
              <a:t>핀의 입출력 용도 선택</a:t>
            </a:r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en-US" altLang="ko-KR" sz="2000"/>
              <a:t>GPIO </a:t>
            </a:r>
            <a:r>
              <a:rPr lang="ko-KR" altLang="en-US" sz="2000"/>
              <a:t>핀으로부터 입출력</a:t>
            </a:r>
            <a:endParaRPr lang="en-US" altLang="ko-KR" sz="2000"/>
          </a:p>
          <a:p>
            <a:pPr lvl="1"/>
            <a:r>
              <a:rPr lang="ko-KR" altLang="en-US" sz="1800"/>
              <a:t>핀으로부터 디지털 값 읽기</a:t>
            </a:r>
            <a:endParaRPr lang="en-US" altLang="ko-KR" sz="1800"/>
          </a:p>
          <a:p>
            <a:pPr lvl="1"/>
            <a:endParaRPr lang="en-US" altLang="ko-KR" sz="1800"/>
          </a:p>
          <a:p>
            <a:pPr lvl="1"/>
            <a:r>
              <a:rPr lang="ko-KR" altLang="en-US" sz="1800"/>
              <a:t>핀에 디지털 값 출력</a:t>
            </a:r>
            <a:endParaRPr lang="en-US" altLang="ko-KR" sz="1800"/>
          </a:p>
          <a:p>
            <a:pPr lvl="2"/>
            <a:r>
              <a:rPr lang="en-US" altLang="ko-KR" sz="1600">
                <a:solidFill>
                  <a:schemeClr val="dk1"/>
                </a:solidFill>
              </a:rPr>
              <a:t>GPIO21 </a:t>
            </a:r>
            <a:r>
              <a:rPr lang="ko-KR" altLang="en-US" sz="1600">
                <a:solidFill>
                  <a:schemeClr val="dk1"/>
                </a:solidFill>
              </a:rPr>
              <a:t>핀에 디지털 값 </a:t>
            </a:r>
            <a:r>
              <a:rPr lang="en-US" altLang="ko-KR" sz="1600">
                <a:solidFill>
                  <a:schemeClr val="dk1"/>
                </a:solidFill>
              </a:rPr>
              <a:t>1 </a:t>
            </a:r>
            <a:r>
              <a:rPr lang="ko-KR" altLang="en-US" sz="1600">
                <a:solidFill>
                  <a:schemeClr val="dk1"/>
                </a:solidFill>
              </a:rPr>
              <a:t>출력</a:t>
            </a:r>
            <a:r>
              <a:rPr lang="en-US" altLang="ko-KR" sz="1600">
                <a:solidFill>
                  <a:schemeClr val="dk1"/>
                </a:solidFill>
              </a:rPr>
              <a:t>. </a:t>
            </a:r>
            <a:r>
              <a:rPr lang="ko-KR" altLang="en-US" sz="1600">
                <a:solidFill>
                  <a:schemeClr val="dk1"/>
                </a:solidFill>
              </a:rPr>
              <a:t>실제 </a:t>
            </a:r>
            <a:r>
              <a:rPr lang="en-US" altLang="ko-KR" sz="1600">
                <a:solidFill>
                  <a:schemeClr val="dk1"/>
                </a:solidFill>
              </a:rPr>
              <a:t>5V </a:t>
            </a:r>
            <a:r>
              <a:rPr lang="ko-KR" altLang="en-US" sz="1600">
                <a:solidFill>
                  <a:schemeClr val="dk1"/>
                </a:solidFill>
              </a:rPr>
              <a:t>전압 출력</a:t>
            </a:r>
            <a:endParaRPr lang="en-US" altLang="ko-KR" sz="1600">
              <a:solidFill>
                <a:schemeClr val="dk1"/>
              </a:solidFill>
            </a:endParaRPr>
          </a:p>
          <a:p>
            <a:pPr lvl="2"/>
            <a:endParaRPr lang="en-US" altLang="ko-KR" sz="1600">
              <a:solidFill>
                <a:schemeClr val="dk1"/>
              </a:solidFill>
            </a:endParaRPr>
          </a:p>
          <a:p>
            <a:pPr lvl="2"/>
            <a:endParaRPr lang="en-US" altLang="ko-KR" sz="1600">
              <a:solidFill>
                <a:schemeClr val="dk1"/>
              </a:solidFill>
            </a:endParaRPr>
          </a:p>
          <a:p>
            <a:pPr lvl="2"/>
            <a:endParaRPr lang="en-US" altLang="ko-KR" sz="1600">
              <a:solidFill>
                <a:schemeClr val="dk1"/>
              </a:solidFill>
            </a:endParaRPr>
          </a:p>
          <a:p>
            <a:pPr lvl="2"/>
            <a:r>
              <a:rPr lang="en-US" altLang="ko-KR" sz="1600">
                <a:solidFill>
                  <a:schemeClr val="dk1"/>
                </a:solidFill>
              </a:rPr>
              <a:t>GPIO21 </a:t>
            </a:r>
            <a:r>
              <a:rPr lang="ko-KR" altLang="en-US" sz="1600">
                <a:solidFill>
                  <a:schemeClr val="dk1"/>
                </a:solidFill>
              </a:rPr>
              <a:t>핀에 디지털 값 </a:t>
            </a:r>
            <a:r>
              <a:rPr lang="en-US" altLang="ko-KR" sz="1600">
                <a:solidFill>
                  <a:schemeClr val="dk1"/>
                </a:solidFill>
              </a:rPr>
              <a:t>0 </a:t>
            </a:r>
            <a:r>
              <a:rPr lang="ko-KR" altLang="en-US" sz="1600">
                <a:solidFill>
                  <a:schemeClr val="dk1"/>
                </a:solidFill>
              </a:rPr>
              <a:t>출력</a:t>
            </a:r>
            <a:r>
              <a:rPr lang="en-US" altLang="ko-KR" sz="1600">
                <a:solidFill>
                  <a:schemeClr val="dk1"/>
                </a:solidFill>
              </a:rPr>
              <a:t>. </a:t>
            </a:r>
            <a:r>
              <a:rPr lang="ko-KR" altLang="en-US" sz="1600">
                <a:solidFill>
                  <a:schemeClr val="dk1"/>
                </a:solidFill>
              </a:rPr>
              <a:t>실제 </a:t>
            </a:r>
            <a:r>
              <a:rPr lang="en-US" altLang="ko-KR" sz="1600">
                <a:solidFill>
                  <a:schemeClr val="dk1"/>
                </a:solidFill>
              </a:rPr>
              <a:t>0V(GND) </a:t>
            </a:r>
            <a:r>
              <a:rPr lang="ko-KR" altLang="en-US" sz="1600">
                <a:solidFill>
                  <a:schemeClr val="dk1"/>
                </a:solidFill>
              </a:rPr>
              <a:t>전압 출력</a:t>
            </a:r>
            <a:endParaRPr lang="ko-KR" altLang="en-US" sz="1600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85106-9965-4DD5-BA13-2B2760B8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3F5383-1B0A-4692-A6A9-C5C8B7CEDF1E}"/>
              </a:ext>
            </a:extLst>
          </p:cNvPr>
          <p:cNvSpPr/>
          <p:nvPr/>
        </p:nvSpPr>
        <p:spPr>
          <a:xfrm>
            <a:off x="1331639" y="1746533"/>
            <a:ext cx="6857673" cy="523220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>
                <a:solidFill>
                  <a:schemeClr val="dk1"/>
                </a:solidFill>
              </a:rPr>
              <a:t>GPIO.setup(6, GPIO.IN) </a:t>
            </a:r>
            <a:r>
              <a:rPr lang="ko-KR" altLang="en-US" sz="1400">
                <a:solidFill>
                  <a:schemeClr val="dk1"/>
                </a:solidFill>
              </a:rPr>
              <a:t>	</a:t>
            </a:r>
            <a:r>
              <a:rPr lang="en-US" altLang="ko-KR" sz="1400">
                <a:solidFill>
                  <a:schemeClr val="dk1"/>
                </a:solidFill>
              </a:rPr>
              <a:t># GPIO6 </a:t>
            </a:r>
            <a:r>
              <a:rPr lang="ko-KR" altLang="en-US" sz="1400">
                <a:solidFill>
                  <a:schemeClr val="dk1"/>
                </a:solidFill>
              </a:rPr>
              <a:t>핀을 입력으로 설정</a:t>
            </a:r>
          </a:p>
          <a:p>
            <a:r>
              <a:rPr lang="en-US" altLang="ko-KR" sz="1400">
                <a:solidFill>
                  <a:schemeClr val="dk1"/>
                </a:solidFill>
              </a:rPr>
              <a:t>GPIO.setup(21, GPIO.OUT)</a:t>
            </a:r>
            <a:r>
              <a:rPr lang="ko-KR" altLang="en-US" sz="1400">
                <a:solidFill>
                  <a:schemeClr val="dk1"/>
                </a:solidFill>
              </a:rPr>
              <a:t>	</a:t>
            </a:r>
            <a:r>
              <a:rPr lang="en-US" altLang="ko-KR" sz="1400">
                <a:solidFill>
                  <a:schemeClr val="dk1"/>
                </a:solidFill>
              </a:rPr>
              <a:t># GPIO21 </a:t>
            </a:r>
            <a:r>
              <a:rPr lang="ko-KR" altLang="en-US" sz="1400">
                <a:solidFill>
                  <a:schemeClr val="dk1"/>
                </a:solidFill>
              </a:rPr>
              <a:t>핀을 출력으로 설정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2C260A-5221-4E56-9427-0187BDDD9EF8}"/>
              </a:ext>
            </a:extLst>
          </p:cNvPr>
          <p:cNvSpPr/>
          <p:nvPr/>
        </p:nvSpPr>
        <p:spPr>
          <a:xfrm>
            <a:off x="1331638" y="3275111"/>
            <a:ext cx="6857673" cy="307777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>
                <a:solidFill>
                  <a:schemeClr val="dk1"/>
                </a:solidFill>
              </a:rPr>
              <a:t>value = GPIO.input(6)</a:t>
            </a:r>
            <a:r>
              <a:rPr lang="ko-KR" altLang="en-US" sz="1400">
                <a:solidFill>
                  <a:schemeClr val="dk1"/>
                </a:solidFill>
              </a:rPr>
              <a:t>		</a:t>
            </a:r>
            <a:r>
              <a:rPr lang="en-US" altLang="ko-KR" sz="1400">
                <a:solidFill>
                  <a:schemeClr val="dk1"/>
                </a:solidFill>
              </a:rPr>
              <a:t># GPIO6 </a:t>
            </a:r>
            <a:r>
              <a:rPr lang="ko-KR" altLang="en-US" sz="1400">
                <a:solidFill>
                  <a:schemeClr val="dk1"/>
                </a:solidFill>
              </a:rPr>
              <a:t>핀으로부터 디지털 신호 읽기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4EEF47-E0EB-41B7-89F8-35F4FC89DF5E}"/>
              </a:ext>
            </a:extLst>
          </p:cNvPr>
          <p:cNvSpPr/>
          <p:nvPr/>
        </p:nvSpPr>
        <p:spPr>
          <a:xfrm>
            <a:off x="1331638" y="4305000"/>
            <a:ext cx="6857672" cy="677108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200">
                <a:solidFill>
                  <a:schemeClr val="dk1"/>
                </a:solidFill>
              </a:rPr>
              <a:t>GPIO.output(21, 1)</a:t>
            </a:r>
            <a:r>
              <a:rPr lang="ko-KR" altLang="en-US" sz="1200">
                <a:solidFill>
                  <a:schemeClr val="dk1"/>
                </a:solidFill>
              </a:rPr>
              <a:t>		</a:t>
            </a:r>
          </a:p>
          <a:p>
            <a:r>
              <a:rPr lang="en-US" altLang="ko-KR" sz="1200">
                <a:solidFill>
                  <a:schemeClr val="dk1"/>
                </a:solidFill>
              </a:rPr>
              <a:t>GPIO.output(21, </a:t>
            </a:r>
            <a:r>
              <a:rPr lang="en-US" altLang="ko-KR" sz="1400">
                <a:solidFill>
                  <a:schemeClr val="dk1"/>
                </a:solidFill>
              </a:rPr>
              <a:t>GPIO</a:t>
            </a:r>
            <a:r>
              <a:rPr lang="en-US" altLang="ko-KR" sz="1200">
                <a:solidFill>
                  <a:schemeClr val="dk1"/>
                </a:solidFill>
              </a:rPr>
              <a:t>.HIGH)</a:t>
            </a:r>
            <a:endParaRPr lang="ko-KR" altLang="en-US" sz="1200">
              <a:solidFill>
                <a:schemeClr val="dk1"/>
              </a:solidFill>
            </a:endParaRPr>
          </a:p>
          <a:p>
            <a:r>
              <a:rPr lang="en-US" altLang="ko-KR" sz="1200">
                <a:solidFill>
                  <a:schemeClr val="dk1"/>
                </a:solidFill>
              </a:rPr>
              <a:t>GPIO.output(21, True)</a:t>
            </a:r>
            <a:endParaRPr lang="ko-KR" altLang="en-US" sz="1200">
              <a:solidFill>
                <a:schemeClr val="dk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51444B-2320-4B98-9C9A-D8C5B1F92AAE}"/>
              </a:ext>
            </a:extLst>
          </p:cNvPr>
          <p:cNvSpPr/>
          <p:nvPr/>
        </p:nvSpPr>
        <p:spPr>
          <a:xfrm>
            <a:off x="1331639" y="5609423"/>
            <a:ext cx="6857671" cy="738664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>
                <a:solidFill>
                  <a:schemeClr val="dk1"/>
                </a:solidFill>
              </a:rPr>
              <a:t>GPIO.output(21, 0)</a:t>
            </a:r>
          </a:p>
          <a:p>
            <a:r>
              <a:rPr lang="en-US" altLang="ko-KR" sz="1400">
                <a:solidFill>
                  <a:schemeClr val="dk1"/>
                </a:solidFill>
              </a:rPr>
              <a:t>GPIO.output(21, GPIO.LOW)</a:t>
            </a:r>
          </a:p>
          <a:p>
            <a:r>
              <a:rPr lang="en-US" altLang="ko-KR" sz="1400">
                <a:solidFill>
                  <a:schemeClr val="dk1"/>
                </a:solidFill>
              </a:rPr>
              <a:t>GPIO.output(21, False)</a:t>
            </a:r>
          </a:p>
        </p:txBody>
      </p:sp>
    </p:spTree>
    <p:extLst>
      <p:ext uri="{BB962C8B-B14F-4D97-AF65-F5344CB8AC3E}">
        <p14:creationId xmlns:p14="http://schemas.microsoft.com/office/powerpoint/2010/main" val="885542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>
            <a:extLst>
              <a:ext uri="{FF2B5EF4-FFF2-40B4-BE49-F238E27FC236}">
                <a16:creationId xmlns:a16="http://schemas.microsoft.com/office/drawing/2014/main" id="{A61FBD7D-1667-4A93-ADE2-444E87C6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GPIO </a:t>
            </a:r>
            <a:r>
              <a:rPr lang="ko-KR" altLang="en-US"/>
              <a:t>핀 사용하기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E750DC-021D-4386-B87E-7079CC4977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000"/>
              <a:t>RPi.GPIO </a:t>
            </a:r>
            <a:r>
              <a:rPr lang="ko-KR" altLang="en-US" sz="2000"/>
              <a:t>라이브러리의 버전 알아내기</a:t>
            </a:r>
          </a:p>
          <a:p>
            <a:endParaRPr lang="en-US" altLang="ko-KR" sz="2000"/>
          </a:p>
          <a:p>
            <a:r>
              <a:rPr lang="en-US" altLang="ko-KR" sz="2000"/>
              <a:t>GPIO </a:t>
            </a:r>
            <a:r>
              <a:rPr lang="ko-KR" altLang="en-US" sz="2000"/>
              <a:t>클린업</a:t>
            </a:r>
            <a:endParaRPr lang="en-US" altLang="ko-KR" sz="2000"/>
          </a:p>
          <a:p>
            <a:pPr lvl="1"/>
            <a:endParaRPr lang="en-US" altLang="ko-KR" sz="1800"/>
          </a:p>
          <a:p>
            <a:pPr lvl="1"/>
            <a:r>
              <a:rPr lang="en-US" altLang="ko-KR" sz="1800"/>
              <a:t>GPIO </a:t>
            </a:r>
            <a:r>
              <a:rPr lang="ko-KR" altLang="en-US" sz="1800"/>
              <a:t>라이브러리가 현재 프로그램이 사용한 핀들의 번호 기억 삭제</a:t>
            </a:r>
          </a:p>
          <a:p>
            <a:pPr lvl="2"/>
            <a:r>
              <a:rPr lang="ko-KR" altLang="en-US"/>
              <a:t>현재 프로그램 사용한 모든 핀을 입력</a:t>
            </a:r>
            <a:r>
              <a:rPr lang="en-US" altLang="ko-KR"/>
              <a:t>(GPIO.IN)</a:t>
            </a:r>
            <a:r>
              <a:rPr lang="ko-KR" altLang="en-US"/>
              <a:t>으로 초기화</a:t>
            </a:r>
            <a:endParaRPr lang="en-US" altLang="ko-KR"/>
          </a:p>
          <a:p>
            <a:pPr lvl="1"/>
            <a:r>
              <a:rPr lang="ko-KR" altLang="en-US"/>
              <a:t>클린업의 중요성</a:t>
            </a:r>
            <a:endParaRPr lang="en-US" altLang="ko-KR"/>
          </a:p>
          <a:p>
            <a:pPr lvl="2"/>
            <a:r>
              <a:rPr lang="ko-KR" altLang="en-US"/>
              <a:t>어떤 핀이 출력으로 지정되어 있고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5V</a:t>
            </a:r>
            <a:r>
              <a:rPr lang="ko-KR" altLang="en-US"/>
              <a:t>가 출력되고 있는 상황이라면</a:t>
            </a:r>
            <a:r>
              <a:rPr lang="en-US" altLang="ko-KR"/>
              <a:t>,</a:t>
            </a:r>
          </a:p>
          <a:p>
            <a:pPr lvl="2"/>
            <a:r>
              <a:rPr lang="ko-KR" altLang="en-US"/>
              <a:t>응용프로그램이 종료되어도 여전히 상황이 유지되므로</a:t>
            </a:r>
            <a:r>
              <a:rPr lang="en-US" altLang="ko-KR"/>
              <a:t>,</a:t>
            </a:r>
          </a:p>
          <a:p>
            <a:pPr lvl="2"/>
            <a:r>
              <a:rPr lang="ko-KR" altLang="en-US"/>
              <a:t>사용자의 실수나 우연한 상황으로 그 핀에 </a:t>
            </a:r>
            <a:r>
              <a:rPr lang="en-US" altLang="ko-KR"/>
              <a:t>0V</a:t>
            </a:r>
            <a:r>
              <a:rPr lang="ko-KR" altLang="en-US"/>
              <a:t>가 연결되면 합선 발생</a:t>
            </a:r>
            <a:endParaRPr lang="en-US" altLang="ko-KR"/>
          </a:p>
          <a:p>
            <a:pPr lvl="3"/>
            <a:r>
              <a:rPr lang="ko-KR" altLang="en-US"/>
              <a:t>회로가 고장날 수 있음</a:t>
            </a:r>
          </a:p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85106-9965-4DD5-BA13-2B2760B8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3F5383-1B0A-4692-A6A9-C5C8B7CEDF1E}"/>
              </a:ext>
            </a:extLst>
          </p:cNvPr>
          <p:cNvSpPr/>
          <p:nvPr/>
        </p:nvSpPr>
        <p:spPr>
          <a:xfrm>
            <a:off x="1030242" y="1723005"/>
            <a:ext cx="6857673" cy="307777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 latinLnBrk="0"/>
            <a:r>
              <a:rPr lang="en-US" altLang="ko-KR" sz="1400"/>
              <a:t>print(GPIO.VERSION)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2C260A-5221-4E56-9427-0187BDDD9EF8}"/>
              </a:ext>
            </a:extLst>
          </p:cNvPr>
          <p:cNvSpPr/>
          <p:nvPr/>
        </p:nvSpPr>
        <p:spPr>
          <a:xfrm>
            <a:off x="1030242" y="2564904"/>
            <a:ext cx="6857673" cy="307777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 latinLnBrk="0"/>
            <a:r>
              <a:rPr lang="en-US" altLang="ko-KR" sz="1400"/>
              <a:t>GPIO.cleanup()</a:t>
            </a:r>
          </a:p>
        </p:txBody>
      </p:sp>
    </p:spTree>
    <p:extLst>
      <p:ext uri="{BB962C8B-B14F-4D97-AF65-F5344CB8AC3E}">
        <p14:creationId xmlns:p14="http://schemas.microsoft.com/office/powerpoint/2010/main" val="3004347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>
            <a:extLst>
              <a:ext uri="{FF2B5EF4-FFF2-40B4-BE49-F238E27FC236}">
                <a16:creationId xmlns:a16="http://schemas.microsoft.com/office/drawing/2014/main" id="{A61FBD7D-1667-4A93-ADE2-444E87C6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경고 메시지 출력 막기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E750DC-021D-4386-B87E-7079CC4977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 fontAlgn="base"/>
            <a:r>
              <a:rPr lang="en-US" altLang="ko-KR"/>
              <a:t>RPi.GPIO </a:t>
            </a:r>
            <a:r>
              <a:rPr lang="ko-KR" altLang="en-US"/>
              <a:t>모듈은 </a:t>
            </a:r>
            <a:endParaRPr lang="en-US" altLang="ko-KR"/>
          </a:p>
          <a:p>
            <a:pPr lvl="2" fontAlgn="base"/>
            <a:r>
              <a:rPr lang="ko-KR" altLang="en-US"/>
              <a:t>현재 실행 중인 프로그램이 사용하고 있는 핀 번호들을 기억</a:t>
            </a:r>
            <a:r>
              <a:rPr lang="en-US" altLang="ko-KR"/>
              <a:t>,</a:t>
            </a:r>
          </a:p>
          <a:p>
            <a:pPr lvl="2" fontAlgn="base"/>
            <a:r>
              <a:rPr lang="ko-KR" altLang="en-US"/>
              <a:t>다른 프로그램에서 동일한 핀을 사용할 경우 다음 경고 메시지 출력</a:t>
            </a:r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endParaRPr lang="en-US" altLang="ko-KR"/>
          </a:p>
          <a:p>
            <a:pPr lvl="2" fontAlgn="base"/>
            <a:r>
              <a:rPr lang="ko-KR" altLang="en-US"/>
              <a:t>개발자에게 핀의 충돌을 알려</a:t>
            </a:r>
            <a:r>
              <a:rPr lang="en-US" altLang="ko-KR"/>
              <a:t>,</a:t>
            </a:r>
          </a:p>
          <a:p>
            <a:pPr lvl="2" fontAlgn="base"/>
            <a:r>
              <a:rPr lang="ko-KR" altLang="en-US"/>
              <a:t>두 번째 프로그램이 이 핀을 사용하지 말도록 경고</a:t>
            </a:r>
            <a:endParaRPr lang="en-US" altLang="ko-KR"/>
          </a:p>
          <a:p>
            <a:pPr lvl="1" fontAlgn="base"/>
            <a:r>
              <a:rPr lang="ko-KR" altLang="en-US"/>
              <a:t>경고 메시지가 출력되는 다른 상황</a:t>
            </a:r>
            <a:endParaRPr lang="en-US" altLang="ko-KR"/>
          </a:p>
          <a:p>
            <a:pPr lvl="2" fontAlgn="base"/>
            <a:r>
              <a:rPr lang="ko-KR" altLang="en-US"/>
              <a:t>예</a:t>
            </a:r>
            <a:r>
              <a:rPr lang="en-US" altLang="ko-KR"/>
              <a:t>) a.py</a:t>
            </a:r>
            <a:r>
              <a:rPr lang="ko-KR" altLang="en-US"/>
              <a:t>가 </a:t>
            </a:r>
            <a:r>
              <a:rPr lang="ko-KR" altLang="en-US" b="1">
                <a:solidFill>
                  <a:srgbClr val="C00000"/>
                </a:solidFill>
              </a:rPr>
              <a:t>클린업하지 않고 종료한 </a:t>
            </a:r>
            <a:r>
              <a:rPr lang="ko-KR" altLang="en-US"/>
              <a:t>뒤</a:t>
            </a:r>
            <a:r>
              <a:rPr lang="en-US" altLang="ko-KR"/>
              <a:t>, </a:t>
            </a:r>
            <a:r>
              <a:rPr lang="ko-KR" altLang="en-US"/>
              <a:t>사용자가 다시 </a:t>
            </a:r>
            <a:r>
              <a:rPr lang="en-US" altLang="ko-KR"/>
              <a:t>a.py</a:t>
            </a:r>
            <a:r>
              <a:rPr lang="ko-KR" altLang="en-US"/>
              <a:t>를 실행시킬 때</a:t>
            </a:r>
            <a:r>
              <a:rPr lang="en-US" altLang="ko-KR"/>
              <a:t>, </a:t>
            </a:r>
            <a:r>
              <a:rPr lang="ko-KR" altLang="en-US"/>
              <a:t>경고 메시지 출력</a:t>
            </a:r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r>
              <a:rPr lang="ko-KR" altLang="en-US"/>
              <a:t>경고 메시지 출력을 막는 방법</a:t>
            </a:r>
            <a:endParaRPr lang="en-US" altLang="ko-KR"/>
          </a:p>
          <a:p>
            <a:pPr lvl="2" fontAlgn="base"/>
            <a:r>
              <a:rPr lang="ko-KR" altLang="en-US"/>
              <a:t>방법 </a:t>
            </a:r>
            <a:r>
              <a:rPr lang="en-US" altLang="ko-KR"/>
              <a:t>1 - GPIO.cleanup()</a:t>
            </a:r>
          </a:p>
          <a:p>
            <a:pPr lvl="2" fontAlgn="base"/>
            <a:r>
              <a:rPr lang="ko-KR" altLang="en-US"/>
              <a:t>방법 </a:t>
            </a:r>
            <a:r>
              <a:rPr lang="en-US" altLang="ko-KR"/>
              <a:t>2 - GPIO.setwarnings(False)</a:t>
            </a:r>
          </a:p>
          <a:p>
            <a:pPr lvl="2" fontAlgn="base"/>
            <a:endParaRPr lang="en-US" altLang="ko-KR"/>
          </a:p>
          <a:p>
            <a:pPr lvl="2" fontAlgn="base"/>
            <a:endParaRPr lang="ko-KR" altLang="en-US"/>
          </a:p>
          <a:p>
            <a:pPr lvl="1" fontAlgn="base"/>
            <a:endParaRPr lang="ko-KR" altLang="en-US"/>
          </a:p>
          <a:p>
            <a:pPr lvl="0" fontAlgn="base"/>
            <a:endParaRPr lang="ko-KR" altLang="en-US"/>
          </a:p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85106-9965-4DD5-BA13-2B2760B8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3F5383-1B0A-4692-A6A9-C5C8B7CEDF1E}"/>
              </a:ext>
            </a:extLst>
          </p:cNvPr>
          <p:cNvSpPr/>
          <p:nvPr/>
        </p:nvSpPr>
        <p:spPr>
          <a:xfrm>
            <a:off x="1403648" y="2492896"/>
            <a:ext cx="6857673" cy="523220"/>
          </a:xfrm>
          <a:prstGeom prst="rect">
            <a:avLst/>
          </a:prstGeom>
          <a:noFill/>
          <a:ln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400"/>
              <a:t>RuntimeWarning: This channel is already in use, continuing anyway. Use GPIO.setwarnings(False) to disable warnings.</a:t>
            </a:r>
          </a:p>
        </p:txBody>
      </p:sp>
    </p:spTree>
    <p:extLst>
      <p:ext uri="{BB962C8B-B14F-4D97-AF65-F5344CB8AC3E}">
        <p14:creationId xmlns:p14="http://schemas.microsoft.com/office/powerpoint/2010/main" val="179789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367328B-1C49-4B70-9478-74E12D4C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바람직한 </a:t>
            </a:r>
            <a:r>
              <a:rPr lang="en-US" altLang="ko-KR"/>
              <a:t>GPIO </a:t>
            </a:r>
            <a:r>
              <a:rPr lang="ko-KR" altLang="en-US"/>
              <a:t>응용프로그램의 구성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07CC9F2-D36C-4765-8261-62CDE4A6D8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프로그램이 어떤 상황에서 종료하더라도 클린업하도록 작성</a:t>
            </a:r>
            <a:endParaRPr lang="en-US" altLang="ko-KR" sz="2000"/>
          </a:p>
          <a:p>
            <a:pPr lvl="1"/>
            <a:r>
              <a:rPr lang="ko-KR" altLang="en-US" sz="1800"/>
              <a:t>정상적인 종료나</a:t>
            </a:r>
            <a:r>
              <a:rPr lang="en-US" altLang="ko-KR" sz="1800"/>
              <a:t>,</a:t>
            </a:r>
          </a:p>
          <a:p>
            <a:pPr lvl="1"/>
            <a:r>
              <a:rPr lang="ko-KR" altLang="en-US" sz="1800"/>
              <a:t>사용자의 </a:t>
            </a:r>
            <a:r>
              <a:rPr lang="en-US" altLang="ko-KR" sz="1800"/>
              <a:t>[Ctrl+C]</a:t>
            </a:r>
            <a:r>
              <a:rPr lang="ko-KR" altLang="en-US" sz="1800"/>
              <a:t> 키로 종료할 때나</a:t>
            </a:r>
            <a:r>
              <a:rPr lang="en-US" altLang="ko-KR" sz="1800"/>
              <a:t>,</a:t>
            </a:r>
          </a:p>
          <a:p>
            <a:pPr lvl="1"/>
            <a:r>
              <a:rPr lang="ko-KR" altLang="en-US" sz="1800"/>
              <a:t>오류로 종료할 때 모두 클린업하도록 프로그램 작성 필요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A833F2-B13B-43C7-B533-C15B83274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8D0739-E077-4B9B-BDCF-E72B81B2CE67}"/>
              </a:ext>
            </a:extLst>
          </p:cNvPr>
          <p:cNvSpPr/>
          <p:nvPr/>
        </p:nvSpPr>
        <p:spPr>
          <a:xfrm>
            <a:off x="1043608" y="2924944"/>
            <a:ext cx="7560840" cy="2554545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>
                <a:solidFill>
                  <a:schemeClr val="dk1"/>
                </a:solidFill>
              </a:rPr>
              <a:t>import RPi.GPIO as GPIO</a:t>
            </a:r>
          </a:p>
          <a:p>
            <a:endParaRPr lang="ko-KR" altLang="en-US" sz="1600">
              <a:solidFill>
                <a:schemeClr val="dk1"/>
              </a:solidFill>
            </a:endParaRPr>
          </a:p>
          <a:p>
            <a:r>
              <a:rPr lang="en-US" altLang="ko-KR" sz="1600" b="1">
                <a:solidFill>
                  <a:schemeClr val="dk1"/>
                </a:solidFill>
              </a:rPr>
              <a:t>try:</a:t>
            </a:r>
            <a:r>
              <a:rPr lang="ko-KR" altLang="en-US" sz="1600">
                <a:solidFill>
                  <a:schemeClr val="dk1"/>
                </a:solidFill>
              </a:rPr>
              <a:t>	</a:t>
            </a:r>
          </a:p>
          <a:p>
            <a:r>
              <a:rPr lang="ko-KR" altLang="en-US" sz="1600">
                <a:solidFill>
                  <a:schemeClr val="dk1"/>
                </a:solidFill>
              </a:rPr>
              <a:t>	</a:t>
            </a:r>
            <a:r>
              <a:rPr lang="en-US" altLang="ko-KR" sz="1600">
                <a:solidFill>
                  <a:schemeClr val="dk1"/>
                </a:solidFill>
              </a:rPr>
              <a:t># </a:t>
            </a:r>
            <a:r>
              <a:rPr lang="ko-KR" altLang="en-US" sz="1600">
                <a:solidFill>
                  <a:schemeClr val="dk1"/>
                </a:solidFill>
              </a:rPr>
              <a:t>개발자가 작성하고자 하는 목적 코드들</a:t>
            </a:r>
          </a:p>
          <a:p>
            <a:r>
              <a:rPr lang="en-US" altLang="ko-KR" sz="1600" b="1">
                <a:solidFill>
                  <a:schemeClr val="dk1"/>
                </a:solidFill>
              </a:rPr>
              <a:t>except</a:t>
            </a:r>
            <a:r>
              <a:rPr lang="en-US" altLang="ko-KR" sz="1600">
                <a:solidFill>
                  <a:schemeClr val="dk1"/>
                </a:solidFill>
              </a:rPr>
              <a:t> KeyboardInterrupt: # [Ctrl+C] </a:t>
            </a:r>
            <a:r>
              <a:rPr lang="ko-KR" altLang="en-US" sz="1600">
                <a:solidFill>
                  <a:schemeClr val="dk1"/>
                </a:solidFill>
              </a:rPr>
              <a:t>키가 입력되어 종료하는 경우</a:t>
            </a:r>
          </a:p>
          <a:p>
            <a:r>
              <a:rPr lang="ko-KR" altLang="en-US" sz="1600">
                <a:solidFill>
                  <a:schemeClr val="dk1"/>
                </a:solidFill>
              </a:rPr>
              <a:t>	</a:t>
            </a:r>
            <a:r>
              <a:rPr lang="en-US" altLang="ko-KR" sz="1600">
                <a:solidFill>
                  <a:schemeClr val="dk1"/>
                </a:solidFill>
              </a:rPr>
              <a:t># </a:t>
            </a:r>
            <a:r>
              <a:rPr lang="ko-KR" altLang="en-US" sz="1600">
                <a:solidFill>
                  <a:schemeClr val="dk1"/>
                </a:solidFill>
              </a:rPr>
              <a:t>종료 전 처리할 코드</a:t>
            </a:r>
          </a:p>
          <a:p>
            <a:r>
              <a:rPr lang="en-US" altLang="ko-KR" sz="1600" b="1">
                <a:solidFill>
                  <a:schemeClr val="dk1"/>
                </a:solidFill>
              </a:rPr>
              <a:t>except </a:t>
            </a:r>
            <a:r>
              <a:rPr lang="en-US" altLang="ko-KR" sz="1600">
                <a:solidFill>
                  <a:schemeClr val="dk1"/>
                </a:solidFill>
              </a:rPr>
              <a:t>: # </a:t>
            </a:r>
            <a:r>
              <a:rPr lang="ko-KR" altLang="en-US" sz="1600">
                <a:solidFill>
                  <a:schemeClr val="dk1"/>
                </a:solidFill>
              </a:rPr>
              <a:t>오류로 인해 종료하는 경우</a:t>
            </a:r>
          </a:p>
          <a:p>
            <a:r>
              <a:rPr lang="ko-KR" altLang="en-US" sz="1600">
                <a:solidFill>
                  <a:schemeClr val="dk1"/>
                </a:solidFill>
              </a:rPr>
              <a:t>	</a:t>
            </a:r>
            <a:r>
              <a:rPr lang="en-US" altLang="ko-KR" sz="1600">
                <a:solidFill>
                  <a:schemeClr val="dk1"/>
                </a:solidFill>
              </a:rPr>
              <a:t># </a:t>
            </a:r>
            <a:r>
              <a:rPr lang="ko-KR" altLang="en-US" sz="1600">
                <a:solidFill>
                  <a:schemeClr val="dk1"/>
                </a:solidFill>
              </a:rPr>
              <a:t>오류 처리 코드</a:t>
            </a:r>
          </a:p>
          <a:p>
            <a:r>
              <a:rPr lang="en-US" altLang="ko-KR" sz="1600" b="1">
                <a:solidFill>
                  <a:schemeClr val="dk1"/>
                </a:solidFill>
              </a:rPr>
              <a:t>finally: </a:t>
            </a:r>
            <a:r>
              <a:rPr lang="en-US" altLang="ko-KR" sz="1600">
                <a:solidFill>
                  <a:schemeClr val="dk1"/>
                </a:solidFill>
              </a:rPr>
              <a:t># </a:t>
            </a:r>
            <a:r>
              <a:rPr lang="ko-KR" altLang="en-US" sz="1600">
                <a:solidFill>
                  <a:schemeClr val="dk1"/>
                </a:solidFill>
              </a:rPr>
              <a:t>종료하는 모든 경우</a:t>
            </a:r>
            <a:r>
              <a:rPr lang="en-US" altLang="ko-KR" sz="1600">
                <a:solidFill>
                  <a:schemeClr val="dk1"/>
                </a:solidFill>
              </a:rPr>
              <a:t>(</a:t>
            </a:r>
            <a:r>
              <a:rPr lang="ko-KR" altLang="en-US" sz="1600">
                <a:solidFill>
                  <a:schemeClr val="dk1"/>
                </a:solidFill>
              </a:rPr>
              <a:t>정상적이든 오류로 인한 종료 등</a:t>
            </a:r>
            <a:r>
              <a:rPr lang="en-US" altLang="ko-KR" sz="1600">
                <a:solidFill>
                  <a:schemeClr val="dk1"/>
                </a:solidFill>
              </a:rPr>
              <a:t>)</a:t>
            </a:r>
            <a:r>
              <a:rPr lang="ko-KR" altLang="en-US" sz="1600">
                <a:solidFill>
                  <a:schemeClr val="dk1"/>
                </a:solidFill>
              </a:rPr>
              <a:t>에 실행되는 코드</a:t>
            </a:r>
          </a:p>
          <a:p>
            <a:r>
              <a:rPr lang="ko-KR" altLang="en-US" sz="1600">
                <a:solidFill>
                  <a:schemeClr val="dk1"/>
                </a:solidFill>
              </a:rPr>
              <a:t>	</a:t>
            </a:r>
            <a:r>
              <a:rPr lang="en-US" altLang="ko-KR" sz="1600" b="1">
                <a:solidFill>
                  <a:schemeClr val="dk1"/>
                </a:solidFill>
              </a:rPr>
              <a:t>GPIO.cleanup()</a:t>
            </a:r>
            <a:endParaRPr lang="ko-KR" altLang="en-US" sz="1600" b="1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469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>
            <a:extLst>
              <a:ext uri="{FF2B5EF4-FFF2-40B4-BE49-F238E27FC236}">
                <a16:creationId xmlns:a16="http://schemas.microsoft.com/office/drawing/2014/main" id="{A61FBD7D-1667-4A93-ADE2-444E87C69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/>
              <a:t>라즈베리파이 외부로 </a:t>
            </a:r>
            <a:r>
              <a:rPr lang="en-US" altLang="ko-KR"/>
              <a:t>GPIO </a:t>
            </a:r>
            <a:r>
              <a:rPr lang="ko-KR" altLang="en-US"/>
              <a:t>핀 확장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E750DC-021D-4386-B87E-7079CC4977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ko-KR" altLang="en-US"/>
              <a:t>라즈베리파이의 </a:t>
            </a:r>
            <a:r>
              <a:rPr lang="en-US" altLang="ko-KR"/>
              <a:t>GPIO </a:t>
            </a:r>
            <a:r>
              <a:rPr lang="ko-KR" altLang="en-US"/>
              <a:t>핀에 외부 장치 연결</a:t>
            </a:r>
            <a:endParaRPr lang="en-US" altLang="ko-KR"/>
          </a:p>
          <a:p>
            <a:pPr lvl="1" fontAlgn="base"/>
            <a:r>
              <a:rPr lang="ko-KR" altLang="en-US"/>
              <a:t>직접 연결 </a:t>
            </a:r>
            <a:r>
              <a:rPr lang="en-US" altLang="ko-KR"/>
              <a:t>- </a:t>
            </a:r>
            <a:r>
              <a:rPr lang="ko-KR" altLang="en-US"/>
              <a:t>매우 불편</a:t>
            </a:r>
            <a:endParaRPr lang="en-US" altLang="ko-KR"/>
          </a:p>
          <a:p>
            <a:pPr lvl="1" fontAlgn="base"/>
            <a:r>
              <a:rPr lang="en-US" altLang="ko-KR"/>
              <a:t>40</a:t>
            </a:r>
            <a:r>
              <a:rPr lang="ko-KR" altLang="en-US"/>
              <a:t>핀의 플랫 케이블</a:t>
            </a:r>
            <a:r>
              <a:rPr lang="en-US" altLang="ko-KR"/>
              <a:t>, T</a:t>
            </a:r>
            <a:r>
              <a:rPr lang="ko-KR" altLang="en-US"/>
              <a:t>자형 </a:t>
            </a:r>
            <a:r>
              <a:rPr lang="en-US" altLang="ko-KR"/>
              <a:t>GPIO </a:t>
            </a:r>
            <a:r>
              <a:rPr lang="ko-KR" altLang="en-US"/>
              <a:t>확장 보드</a:t>
            </a:r>
            <a:r>
              <a:rPr lang="en-US" altLang="ko-KR"/>
              <a:t>, </a:t>
            </a:r>
            <a:r>
              <a:rPr lang="ko-KR" altLang="en-US"/>
              <a:t>브레드보드 활용</a:t>
            </a:r>
          </a:p>
          <a:p>
            <a:pPr lvl="1" fontAlgn="base"/>
            <a:endParaRPr lang="ko-KR" altLang="en-US"/>
          </a:p>
          <a:p>
            <a:pPr lvl="0" fontAlgn="base"/>
            <a:endParaRPr lang="ko-KR" altLang="en-US"/>
          </a:p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85106-9965-4DD5-BA13-2B2760B8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4097" name="_x442429184" descr="EMB000021e033b4">
            <a:extLst>
              <a:ext uri="{FF2B5EF4-FFF2-40B4-BE49-F238E27FC236}">
                <a16:creationId xmlns:a16="http://schemas.microsoft.com/office/drawing/2014/main" id="{A792E7F9-DA37-45E3-B0E9-45D1E26FC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63" y="2935854"/>
            <a:ext cx="2632293" cy="207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_x442429344" descr="EMB000021e033b7">
            <a:extLst>
              <a:ext uri="{FF2B5EF4-FFF2-40B4-BE49-F238E27FC236}">
                <a16:creationId xmlns:a16="http://schemas.microsoft.com/office/drawing/2014/main" id="{537F07C7-9291-471A-AA66-43151DB67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862027"/>
            <a:ext cx="824819" cy="265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_x442429264" descr="EMB000021e033ba">
            <a:extLst>
              <a:ext uri="{FF2B5EF4-FFF2-40B4-BE49-F238E27FC236}">
                <a16:creationId xmlns:a16="http://schemas.microsoft.com/office/drawing/2014/main" id="{D1A3E3DF-31E0-47FC-9245-370E3E4EF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218431"/>
            <a:ext cx="4503410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1DF881-76F0-4F81-B895-AC9812D7674F}"/>
              </a:ext>
            </a:extLst>
          </p:cNvPr>
          <p:cNvSpPr txBox="1"/>
          <p:nvPr/>
        </p:nvSpPr>
        <p:spPr>
          <a:xfrm>
            <a:off x="248363" y="5003884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</a:t>
            </a:r>
            <a:r>
              <a:rPr lang="ko-KR" altLang="en-US"/>
              <a:t>자형 </a:t>
            </a:r>
            <a:r>
              <a:rPr lang="en-US" altLang="ko-KR"/>
              <a:t>GPIO </a:t>
            </a:r>
            <a:r>
              <a:rPr lang="ko-KR" altLang="en-US"/>
              <a:t>확장 보드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7F4944-DA13-41D4-8873-6EC63F895D9B}"/>
              </a:ext>
            </a:extLst>
          </p:cNvPr>
          <p:cNvSpPr txBox="1"/>
          <p:nvPr/>
        </p:nvSpPr>
        <p:spPr>
          <a:xfrm>
            <a:off x="2627784" y="5598532"/>
            <a:ext cx="1986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40</a:t>
            </a:r>
            <a:r>
              <a:rPr lang="ko-KR" altLang="en-US"/>
              <a:t>핀 플랫 케이블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3DD69F-A164-4AD9-B01E-5147D9AEAC71}"/>
              </a:ext>
            </a:extLst>
          </p:cNvPr>
          <p:cNvSpPr txBox="1"/>
          <p:nvPr/>
        </p:nvSpPr>
        <p:spPr>
          <a:xfrm>
            <a:off x="5938267" y="481589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브레드보드</a:t>
            </a:r>
          </a:p>
        </p:txBody>
      </p:sp>
    </p:spTree>
    <p:extLst>
      <p:ext uri="{BB962C8B-B14F-4D97-AF65-F5344CB8AC3E}">
        <p14:creationId xmlns:p14="http://schemas.microsoft.com/office/powerpoint/2010/main" val="114566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6CAA4-B78E-CA4E-A228-4CB8E3C17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브레드보드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E1371C-E315-4F43-925A-74AA3AEA3DC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>
            <a:normAutofit fontScale="92500" lnSpcReduction="20000"/>
          </a:bodyPr>
          <a:lstStyle/>
          <a:p>
            <a:r>
              <a:rPr kumimoji="1" lang="ko-KR" altLang="en-US" dirty="0" err="1"/>
              <a:t>브레드보드</a:t>
            </a:r>
            <a:r>
              <a:rPr kumimoji="1" lang="en-US" altLang="ko-KR" dirty="0"/>
              <a:t>(Bread</a:t>
            </a:r>
            <a:r>
              <a:rPr kumimoji="1" lang="ko-KR" altLang="en-US" dirty="0"/>
              <a:t> </a:t>
            </a:r>
            <a:r>
              <a:rPr kumimoji="1" lang="en-US" altLang="ko-KR" dirty="0"/>
              <a:t>Board,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빵판</a:t>
            </a:r>
            <a:r>
              <a:rPr kumimoji="1" lang="en-US" altLang="ko-KR" dirty="0"/>
              <a:t>)</a:t>
            </a:r>
          </a:p>
          <a:p>
            <a:pPr lvl="1"/>
            <a:r>
              <a:rPr lang="ko-KR" altLang="en-US" dirty="0"/>
              <a:t>사용자가 납땜하지 않고 회로를 쉽게 구성할 수 있도록 설계된 장치</a:t>
            </a:r>
            <a:endParaRPr kumimoji="1" lang="en-US" altLang="ko-KR" dirty="0"/>
          </a:p>
          <a:p>
            <a:r>
              <a:rPr kumimoji="1" lang="ko-KR" altLang="en-US" dirty="0" err="1"/>
              <a:t>브레드보드의</a:t>
            </a:r>
            <a:r>
              <a:rPr kumimoji="1" lang="ko-KR" altLang="en-US" dirty="0"/>
              <a:t> 구조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수평으로 연결된 라인과 수직으로 연결된 라인들</a:t>
            </a:r>
            <a:endParaRPr kumimoji="1" lang="en-US" altLang="ko-KR" dirty="0"/>
          </a:p>
          <a:p>
            <a:pPr lvl="2"/>
            <a:r>
              <a:rPr kumimoji="1" lang="ko-KR" altLang="en-US" dirty="0"/>
              <a:t>라인</a:t>
            </a:r>
            <a:r>
              <a:rPr kumimoji="1" lang="en-US" altLang="ko-KR" dirty="0"/>
              <a:t>(</a:t>
            </a:r>
            <a:r>
              <a:rPr kumimoji="1" lang="ko-KR" altLang="en-US" dirty="0"/>
              <a:t>파란색</a:t>
            </a:r>
            <a:r>
              <a:rPr kumimoji="1" lang="en-US" altLang="ko-KR" dirty="0"/>
              <a:t>,</a:t>
            </a:r>
            <a:r>
              <a:rPr kumimoji="1" lang="ko-KR" altLang="en-US" dirty="0"/>
              <a:t> 붉은색</a:t>
            </a:r>
            <a:r>
              <a:rPr kumimoji="1" lang="en-US" altLang="ko-KR" dirty="0"/>
              <a:t>,</a:t>
            </a:r>
            <a:r>
              <a:rPr kumimoji="1" lang="ko-KR" altLang="en-US" dirty="0"/>
              <a:t> 초록색</a:t>
            </a:r>
            <a:r>
              <a:rPr kumimoji="1" lang="en-US" altLang="ko-KR" dirty="0"/>
              <a:t>)</a:t>
            </a:r>
            <a:r>
              <a:rPr kumimoji="1" lang="ko-KR" altLang="en-US" dirty="0"/>
              <a:t>은 내부적으로 연결되어 있음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r>
              <a:rPr kumimoji="1" lang="en-US" altLang="ko-KR" dirty="0"/>
              <a:t>5V</a:t>
            </a:r>
            <a:r>
              <a:rPr kumimoji="1" lang="ko-KR" altLang="en-US" dirty="0"/>
              <a:t>와 </a:t>
            </a:r>
            <a:r>
              <a:rPr kumimoji="1" lang="en-US" altLang="ko-KR" dirty="0" err="1"/>
              <a:t>GND</a:t>
            </a:r>
            <a:r>
              <a:rPr kumimoji="1" lang="en-US" altLang="ko-KR" dirty="0"/>
              <a:t> </a:t>
            </a:r>
            <a:r>
              <a:rPr kumimoji="1" lang="ko-KR" altLang="en-US" dirty="0"/>
              <a:t>선</a:t>
            </a:r>
            <a:endParaRPr kumimoji="1" lang="en-US" altLang="ko-KR" dirty="0"/>
          </a:p>
          <a:p>
            <a:pPr lvl="2"/>
            <a:r>
              <a:rPr kumimoji="1" lang="ko-KR" altLang="en-US" dirty="0" err="1"/>
              <a:t>브레드보드에</a:t>
            </a:r>
            <a:r>
              <a:rPr kumimoji="1" lang="ko-KR" altLang="en-US" dirty="0"/>
              <a:t> 한 번 연결해두고 계속 사용</a:t>
            </a:r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FC38B8-8E11-9B46-8DEB-5952835B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17</a:t>
            </a:fld>
            <a:endParaRPr lang="ko-KR" altLang="en-US" dirty="0"/>
          </a:p>
        </p:txBody>
      </p:sp>
      <p:pic>
        <p:nvPicPr>
          <p:cNvPr id="6145" name="_x442429184" descr="EMB000021e033c0">
            <a:extLst>
              <a:ext uri="{FF2B5EF4-FFF2-40B4-BE49-F238E27FC236}">
                <a16:creationId xmlns:a16="http://schemas.microsoft.com/office/drawing/2014/main" id="{C89128B7-DCAF-49F8-97F3-2C55E3C50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837" y="3068960"/>
            <a:ext cx="3547552" cy="190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 descr="스크린샷, 직사각형, 다채로움, 라인이(가) 표시된 사진&#10;&#10;자동 생성된 설명">
            <a:extLst>
              <a:ext uri="{FF2B5EF4-FFF2-40B4-BE49-F238E27FC236}">
                <a16:creationId xmlns:a16="http://schemas.microsoft.com/office/drawing/2014/main" id="{F07C6CF9-C93C-4730-A7B9-0079317F2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83" y="2942569"/>
            <a:ext cx="3292396" cy="220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03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B8D7A-0B97-0E4F-ACFF-C6E7E48B3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GPIO</a:t>
            </a:r>
            <a:r>
              <a:rPr kumimoji="1" lang="ko-KR" altLang="en-US"/>
              <a:t>핀과 브레드보드의 연결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DFBFDC-2A0E-1A4B-BF97-42E310D436E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934071"/>
          </a:xfrm>
        </p:spPr>
        <p:txBody>
          <a:bodyPr>
            <a:normAutofit/>
          </a:bodyPr>
          <a:lstStyle/>
          <a:p>
            <a:pPr lvl="1"/>
            <a:r>
              <a:rPr kumimoji="1" lang="en-US" altLang="ko-KR" dirty="0"/>
              <a:t>T</a:t>
            </a:r>
            <a:r>
              <a:rPr kumimoji="1" lang="ko-KR" altLang="en-US" dirty="0"/>
              <a:t>자형 확장보드와 플랫 케이블 이용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GPIO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40</a:t>
            </a:r>
            <a:r>
              <a:rPr kumimoji="1" lang="ko-KR" altLang="en-US" dirty="0"/>
              <a:t>개 핀과 </a:t>
            </a:r>
            <a:r>
              <a:rPr kumimoji="1" lang="ko-KR" altLang="en-US" dirty="0" err="1"/>
              <a:t>브레드보드의</a:t>
            </a:r>
            <a:r>
              <a:rPr kumimoji="1" lang="ko-KR" altLang="en-US" dirty="0"/>
              <a:t> 연결</a:t>
            </a:r>
            <a:endParaRPr kumimoji="1" lang="en-US" altLang="ko-KR" dirty="0"/>
          </a:p>
          <a:p>
            <a:pPr lvl="2"/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814AC8-8604-5349-B3F0-D2DC88D6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E3B1D65-7F0C-4B4F-BA66-0D9569A18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3429000"/>
            <a:ext cx="5040560" cy="15344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61325D3-F9A7-4B04-B2A9-0D236B3D8C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7546" y="2994186"/>
            <a:ext cx="3434259" cy="2575694"/>
          </a:xfrm>
          <a:prstGeom prst="rect">
            <a:avLst/>
          </a:prstGeom>
        </p:spPr>
      </p:pic>
      <p:sp>
        <p:nvSpPr>
          <p:cNvPr id="11" name="모서리가 둥근 직사각형 6">
            <a:extLst>
              <a:ext uri="{FF2B5EF4-FFF2-40B4-BE49-F238E27FC236}">
                <a16:creationId xmlns:a16="http://schemas.microsoft.com/office/drawing/2014/main" id="{7D262817-85CF-403E-AB8B-0B254D561C1F}"/>
              </a:ext>
            </a:extLst>
          </p:cNvPr>
          <p:cNvSpPr/>
          <p:nvPr/>
        </p:nvSpPr>
        <p:spPr>
          <a:xfrm>
            <a:off x="736219" y="2492896"/>
            <a:ext cx="2880320" cy="100811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62353-89C6-4F3A-B0C5-D70CA9BD6246}"/>
              </a:ext>
            </a:extLst>
          </p:cNvPr>
          <p:cNvSpPr txBox="1"/>
          <p:nvPr/>
        </p:nvSpPr>
        <p:spPr>
          <a:xfrm>
            <a:off x="3021117" y="528204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err="1">
                <a:solidFill>
                  <a:srgbClr val="C00000"/>
                </a:solidFill>
              </a:rPr>
              <a:t>GPIO</a:t>
            </a:r>
            <a:r>
              <a:rPr lang="en-US" altLang="ko-KR" sz="1400" dirty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ko-KR" altLang="en-US" sz="1400" dirty="0" err="1">
                <a:solidFill>
                  <a:srgbClr val="C00000"/>
                </a:solidFill>
              </a:rPr>
              <a:t>확장보드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98C2E55-C526-4A0A-9228-699013CC84BE}"/>
              </a:ext>
            </a:extLst>
          </p:cNvPr>
          <p:cNvSpPr/>
          <p:nvPr/>
        </p:nvSpPr>
        <p:spPr>
          <a:xfrm>
            <a:off x="1456299" y="3258562"/>
            <a:ext cx="1478059" cy="254670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482F76-6DDE-421D-AD29-D496521C01EC}"/>
              </a:ext>
            </a:extLst>
          </p:cNvPr>
          <p:cNvSpPr txBox="1"/>
          <p:nvPr/>
        </p:nvSpPr>
        <p:spPr>
          <a:xfrm>
            <a:off x="-8725" y="270892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solidFill>
                  <a:srgbClr val="C00000"/>
                </a:solidFill>
              </a:rPr>
              <a:t>40</a:t>
            </a:r>
            <a:r>
              <a:rPr lang="ko-KR" altLang="en-US" sz="1400">
                <a:solidFill>
                  <a:srgbClr val="C00000"/>
                </a:solidFill>
              </a:rPr>
              <a:t>핀</a:t>
            </a:r>
            <a:endParaRPr lang="en-US" altLang="ko-KR" sz="1400">
              <a:solidFill>
                <a:srgbClr val="C00000"/>
              </a:solidFill>
            </a:endParaRPr>
          </a:p>
          <a:p>
            <a:pPr algn="ctr"/>
            <a:r>
              <a:rPr lang="ko-KR" altLang="en-US" sz="1400">
                <a:solidFill>
                  <a:srgbClr val="C00000"/>
                </a:solidFill>
              </a:rPr>
              <a:t>케이블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  <p:sp>
        <p:nvSpPr>
          <p:cNvPr id="15" name="모서리가 둥근 직사각형 6">
            <a:extLst>
              <a:ext uri="{FF2B5EF4-FFF2-40B4-BE49-F238E27FC236}">
                <a16:creationId xmlns:a16="http://schemas.microsoft.com/office/drawing/2014/main" id="{C62841BD-6DE1-4259-91BF-FC2C9AB418BD}"/>
              </a:ext>
            </a:extLst>
          </p:cNvPr>
          <p:cNvSpPr/>
          <p:nvPr/>
        </p:nvSpPr>
        <p:spPr>
          <a:xfrm>
            <a:off x="4401315" y="3494237"/>
            <a:ext cx="576065" cy="115728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554456B3-F335-43D4-BC02-90E8B61F0AC7}"/>
              </a:ext>
            </a:extLst>
          </p:cNvPr>
          <p:cNvSpPr/>
          <p:nvPr/>
        </p:nvSpPr>
        <p:spPr>
          <a:xfrm>
            <a:off x="5284769" y="4531913"/>
            <a:ext cx="1926703" cy="476726"/>
          </a:xfrm>
          <a:prstGeom prst="wedgeRoundRectCallout">
            <a:avLst>
              <a:gd name="adj1" fmla="val -66350"/>
              <a:gd name="adj2" fmla="val -4069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>
                <a:solidFill>
                  <a:srgbClr val="1A1A1A"/>
                </a:solidFill>
                <a:latin typeface="YoonGothicPro730"/>
              </a:rPr>
              <a:t>꼬이지 않도록 라즈베리파이 방향에 유의할 것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314297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3F9A14-7176-4A8D-A535-2812ACE47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2122CED-0A50-4E77-9F45-41B3EE876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8.2 LED</a:t>
            </a:r>
            <a:r>
              <a:rPr lang="ko-KR" altLang="en-US"/>
              <a:t> 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C12936-17F6-4C91-AE82-C61650B043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013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35584-E791-2544-97C3-771D4B9A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LED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9B47D0-C5E3-D746-8936-3790C41048B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ko-KR"/>
              <a:t>LED</a:t>
            </a:r>
            <a:endParaRPr kumimoji="1" lang="en-US" altLang="ko-KR" dirty="0"/>
          </a:p>
          <a:p>
            <a:pPr lvl="1"/>
            <a:r>
              <a:rPr kumimoji="1" lang="ko-KR" altLang="en-US"/>
              <a:t>발광다이오드</a:t>
            </a:r>
            <a:r>
              <a:rPr kumimoji="1" lang="en-US" altLang="ko-KR"/>
              <a:t>(LED, </a:t>
            </a:r>
            <a:r>
              <a:rPr lang="en-US" altLang="ko-KR"/>
              <a:t>Light Emitting Diode)</a:t>
            </a:r>
          </a:p>
          <a:p>
            <a:pPr lvl="1"/>
            <a:r>
              <a:rPr lang="ko-KR" altLang="en-US"/>
              <a:t>전류를 가하면 빛을 발하는 반도체 소자</a:t>
            </a:r>
          </a:p>
          <a:p>
            <a:pPr lvl="1"/>
            <a:r>
              <a:rPr lang="ko-KR" altLang="en-US"/>
              <a:t>흰색</a:t>
            </a:r>
            <a:r>
              <a:rPr lang="en-US" altLang="ko-KR"/>
              <a:t>, </a:t>
            </a:r>
            <a:r>
              <a:rPr lang="ko-KR" altLang="en-US"/>
              <a:t>초록색</a:t>
            </a:r>
            <a:r>
              <a:rPr lang="en-US" altLang="ko-KR"/>
              <a:t>, </a:t>
            </a:r>
            <a:r>
              <a:rPr lang="ko-KR" altLang="en-US"/>
              <a:t>빨강색 등 다양한 색</a:t>
            </a:r>
            <a:endParaRPr lang="en-US" altLang="ko-KR"/>
          </a:p>
          <a:p>
            <a:pPr lvl="1"/>
            <a:r>
              <a:rPr lang="ko-KR" altLang="en-US"/>
              <a:t>긴다리와 짧은 다리 사이에 적절한 전압</a:t>
            </a:r>
            <a:r>
              <a:rPr lang="en-US" altLang="ko-KR"/>
              <a:t>(2.2V~2.4V)</a:t>
            </a:r>
            <a:r>
              <a:rPr lang="ko-KR" altLang="en-US"/>
              <a:t>이 가해지면 전류가 흐르고 빛을 발하게 됨</a:t>
            </a:r>
          </a:p>
          <a:p>
            <a:pPr lvl="1"/>
            <a:endParaRPr kumimoji="1" lang="en-US" altLang="ko-KR" dirty="0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r>
              <a:rPr kumimoji="1" lang="ko-KR" altLang="en-US"/>
              <a:t>저항 필요한 이유</a:t>
            </a:r>
            <a:endParaRPr kumimoji="1" lang="en-US" altLang="ko-KR"/>
          </a:p>
          <a:p>
            <a:pPr lvl="1"/>
            <a:r>
              <a:rPr kumimoji="1" lang="ko-KR" altLang="en-US"/>
              <a:t>긴다리 </a:t>
            </a:r>
            <a:r>
              <a:rPr kumimoji="1" lang="en-US" altLang="ko-KR"/>
              <a:t>5V, </a:t>
            </a:r>
            <a:r>
              <a:rPr kumimoji="1" lang="ko-KR" altLang="en-US"/>
              <a:t>짧은 다리 </a:t>
            </a:r>
            <a:r>
              <a:rPr kumimoji="1" lang="en-US" altLang="ko-KR"/>
              <a:t>GND </a:t>
            </a:r>
            <a:r>
              <a:rPr kumimoji="1" lang="ko-KR" altLang="en-US"/>
              <a:t>연결할 경우</a:t>
            </a:r>
            <a:endParaRPr kumimoji="1" lang="en-US" altLang="ko-KR"/>
          </a:p>
          <a:p>
            <a:pPr lvl="2"/>
            <a:r>
              <a:rPr kumimoji="1" lang="ko-KR" altLang="en-US"/>
              <a:t>빛은 밝지만</a:t>
            </a:r>
            <a:r>
              <a:rPr kumimoji="1" lang="en-US" altLang="ko-KR"/>
              <a:t>, </a:t>
            </a:r>
            <a:r>
              <a:rPr kumimoji="1" lang="ko-KR" altLang="en-US"/>
              <a:t>과전류로 인해 </a:t>
            </a:r>
            <a:r>
              <a:rPr kumimoji="1" lang="en-US" altLang="ko-KR"/>
              <a:t>LED </a:t>
            </a:r>
            <a:r>
              <a:rPr kumimoji="1" lang="ko-KR" altLang="en-US"/>
              <a:t>손상</a:t>
            </a:r>
            <a:endParaRPr kumimoji="1" lang="en-US" altLang="ko-KR"/>
          </a:p>
          <a:p>
            <a:pPr lvl="2"/>
            <a:r>
              <a:rPr kumimoji="1" lang="ko-KR" altLang="en-US"/>
              <a:t>저항을 사용하여 전류량 감소시킬 필요</a:t>
            </a:r>
            <a:endParaRPr kumimoji="1" lang="en-US" altLang="ko-KR"/>
          </a:p>
          <a:p>
            <a:pPr lvl="1"/>
            <a:r>
              <a:rPr kumimoji="1" lang="en-US" altLang="ko-KR"/>
              <a:t>220</a:t>
            </a:r>
            <a:r>
              <a:rPr lang="ko-KR" altLang="ko-KR" kern="0" spc="-60">
                <a:latin typeface="+mj-ea"/>
              </a:rPr>
              <a:t> Ω </a:t>
            </a:r>
            <a:r>
              <a:rPr kumimoji="1" lang="ko-KR" altLang="en-US"/>
              <a:t>저항 사용</a:t>
            </a:r>
            <a:r>
              <a:rPr kumimoji="1" lang="en-US" altLang="ko-KR"/>
              <a:t>(</a:t>
            </a:r>
            <a:r>
              <a:rPr lang="en-US" altLang="ko-KR" kern="0" spc="-60">
                <a:latin typeface="+mj-ea"/>
              </a:rPr>
              <a:t>1K</a:t>
            </a:r>
            <a:r>
              <a:rPr lang="ko-KR" altLang="ko-KR" kern="0" spc="-60" err="1">
                <a:latin typeface="+mj-ea"/>
              </a:rPr>
              <a:t>Ω</a:t>
            </a:r>
            <a:r>
              <a:rPr lang="ko-KR" altLang="ko-KR" kern="0" spc="-60">
                <a:latin typeface="+mj-ea"/>
              </a:rPr>
              <a:t> </a:t>
            </a:r>
            <a:r>
              <a:rPr lang="ko-KR" altLang="en-US" kern="0" spc="-60">
                <a:latin typeface="+mj-ea"/>
              </a:rPr>
              <a:t>이하</a:t>
            </a:r>
            <a:r>
              <a:rPr lang="en-US" altLang="ko-KR" kern="0" spc="-60">
                <a:latin typeface="+mj-ea"/>
              </a:rPr>
              <a:t>)</a:t>
            </a:r>
            <a:endParaRPr lang="en-US" altLang="ko-KR" kern="0" spc="-60" dirty="0">
              <a:latin typeface="+mj-ea"/>
            </a:endParaRPr>
          </a:p>
          <a:p>
            <a:pPr lvl="1"/>
            <a:r>
              <a:rPr lang="ko-KR" altLang="en-US" kern="0" spc="-60" dirty="0">
                <a:latin typeface="+mj-ea"/>
                <a:cs typeface="Times New Roman" panose="02020603050405020304" pitchFamily="18" charset="0"/>
              </a:rPr>
              <a:t>저항이 클수록  </a:t>
            </a:r>
            <a:r>
              <a:rPr lang="en-US" altLang="ko-KR" kern="0" spc="-60" dirty="0">
                <a:latin typeface="+mj-ea"/>
                <a:cs typeface="Times New Roman" panose="02020603050405020304" pitchFamily="18" charset="0"/>
              </a:rPr>
              <a:t>LED</a:t>
            </a:r>
            <a:r>
              <a:rPr lang="ko-KR" altLang="en-US" kern="0" spc="-60" dirty="0">
                <a:latin typeface="+mj-ea"/>
                <a:cs typeface="Times New Roman" panose="02020603050405020304" pitchFamily="18" charset="0"/>
              </a:rPr>
              <a:t>의 밝기가 약해짐</a:t>
            </a:r>
            <a:endParaRPr lang="en-US" altLang="ko-KR" kern="0" spc="-60" dirty="0">
              <a:latin typeface="+mj-ea"/>
              <a:cs typeface="Times New Roman" panose="02020603050405020304" pitchFamily="18" charset="0"/>
            </a:endParaRPr>
          </a:p>
          <a:p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72894F-DA40-0342-BB3F-00170E44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34D4470-E453-48B7-9FC2-85ABFBD67267}"/>
              </a:ext>
            </a:extLst>
          </p:cNvPr>
          <p:cNvGrpSpPr/>
          <p:nvPr/>
        </p:nvGrpSpPr>
        <p:grpSpPr>
          <a:xfrm>
            <a:off x="3635896" y="2996952"/>
            <a:ext cx="3726079" cy="1452366"/>
            <a:chOff x="1907704" y="3212976"/>
            <a:chExt cx="3726079" cy="1452366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8FBBF5A-CE04-4651-915A-A9A4F3C14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28045" y="3334512"/>
              <a:ext cx="2744837" cy="133083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056D01A-2CC8-431F-A7F7-8F6D34CD31C1}"/>
                </a:ext>
              </a:extLst>
            </p:cNvPr>
            <p:cNvSpPr txBox="1"/>
            <p:nvPr/>
          </p:nvSpPr>
          <p:spPr>
            <a:xfrm>
              <a:off x="2123728" y="4010640"/>
              <a:ext cx="3978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/>
                <a:t>5V</a:t>
              </a:r>
              <a:endParaRPr kumimoji="1" lang="ko-KR" altLang="en-US" sz="1400" dirty="0"/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5130FE0D-2585-4850-A5F3-353B31E49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6508" y="4036622"/>
              <a:ext cx="942809" cy="29576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F657A9C-BBB5-4964-B0F8-7F6CDD6B3D78}"/>
                </a:ext>
              </a:extLst>
            </p:cNvPr>
            <p:cNvSpPr txBox="1"/>
            <p:nvPr/>
          </p:nvSpPr>
          <p:spPr>
            <a:xfrm>
              <a:off x="2843606" y="4308038"/>
              <a:ext cx="95571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/>
                <a:t>220</a:t>
              </a:r>
              <a:r>
                <a:rPr kumimoji="1" lang="ko-KR" altLang="en-US" sz="1200"/>
                <a:t>옴 저항</a:t>
              </a:r>
              <a:endParaRPr kumimoji="1" lang="ko-KR" altLang="en-US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7592CE-CDC4-471A-9DC3-71F7B211CF16}"/>
                </a:ext>
              </a:extLst>
            </p:cNvPr>
            <p:cNvSpPr txBox="1"/>
            <p:nvPr/>
          </p:nvSpPr>
          <p:spPr>
            <a:xfrm>
              <a:off x="5141340" y="3618922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/>
                <a:t>LED</a:t>
              </a:r>
              <a:endParaRPr kumimoji="1" lang="ko-KR" altLang="en-US" sz="14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B642BE2-95D5-46D9-B779-1DF85E2A629C}"/>
                </a:ext>
              </a:extLst>
            </p:cNvPr>
            <p:cNvSpPr/>
            <p:nvPr/>
          </p:nvSpPr>
          <p:spPr>
            <a:xfrm>
              <a:off x="2528045" y="3212976"/>
              <a:ext cx="1489218" cy="7296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DE8163F-641F-41EC-8B7E-CB6E8FA91E24}"/>
                </a:ext>
              </a:extLst>
            </p:cNvPr>
            <p:cNvSpPr txBox="1"/>
            <p:nvPr/>
          </p:nvSpPr>
          <p:spPr>
            <a:xfrm>
              <a:off x="1907704" y="3444314"/>
              <a:ext cx="5774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GND</a:t>
              </a:r>
              <a:endParaRPr kumimoji="1" lang="ko-KR" altLang="en-US" sz="1400" dirty="0"/>
            </a:p>
          </p:txBody>
        </p: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F7C67383-530B-4B8D-88BB-A1F8975CFD0B}"/>
                </a:ext>
              </a:extLst>
            </p:cNvPr>
            <p:cNvSpPr/>
            <p:nvPr/>
          </p:nvSpPr>
          <p:spPr>
            <a:xfrm>
              <a:off x="3799317" y="3279847"/>
              <a:ext cx="1372756" cy="1046641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997BA4F-E6A5-4DF2-95EF-86D66407E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5106" y="3593122"/>
              <a:ext cx="1532157" cy="20405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0228F1B-769A-451B-B910-46004BC1DB75}"/>
                </a:ext>
              </a:extLst>
            </p:cNvPr>
            <p:cNvSpPr txBox="1"/>
            <p:nvPr/>
          </p:nvSpPr>
          <p:spPr>
            <a:xfrm>
              <a:off x="4333270" y="4051921"/>
              <a:ext cx="716543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050"/>
                <a:t>긴다리</a:t>
              </a:r>
              <a:r>
                <a:rPr kumimoji="1" lang="en-US" altLang="ko-KR" sz="1050"/>
                <a:t>(+</a:t>
              </a:r>
              <a:r>
                <a:rPr kumimoji="1" lang="ko-KR" altLang="en-US" sz="1050"/>
                <a:t>극</a:t>
              </a:r>
              <a:r>
                <a:rPr kumimoji="1" lang="en-US" altLang="ko-KR" sz="1050"/>
                <a:t>)</a:t>
              </a:r>
              <a:endParaRPr kumimoji="1" lang="ko-KR" altLang="en-US" sz="1050" dirty="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1EC11234-964C-4F02-BEA4-C13A36D8B110}"/>
                </a:ext>
              </a:extLst>
            </p:cNvPr>
            <p:cNvSpPr/>
            <p:nvPr/>
          </p:nvSpPr>
          <p:spPr>
            <a:xfrm>
              <a:off x="3992843" y="3643535"/>
              <a:ext cx="451395" cy="258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42F8EB4-4E2E-45C5-917B-46E9A352314D}"/>
                </a:ext>
              </a:extLst>
            </p:cNvPr>
            <p:cNvSpPr txBox="1"/>
            <p:nvPr/>
          </p:nvSpPr>
          <p:spPr>
            <a:xfrm>
              <a:off x="4038678" y="3378495"/>
              <a:ext cx="811119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050"/>
                <a:t>짧은다리</a:t>
              </a:r>
              <a:r>
                <a:rPr kumimoji="1" lang="en-US" altLang="ko-KR" sz="1050"/>
                <a:t>(-</a:t>
              </a:r>
              <a:r>
                <a:rPr kumimoji="1" lang="ko-KR" altLang="en-US" sz="1050"/>
                <a:t>극</a:t>
              </a:r>
              <a:r>
                <a:rPr kumimoji="1" lang="en-US" altLang="ko-KR" sz="1050"/>
                <a:t>)</a:t>
              </a:r>
              <a:endParaRPr kumimoji="1" lang="ko-KR" alt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2904905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35584-E791-2544-97C3-771D4B9A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LED</a:t>
            </a:r>
            <a:r>
              <a:rPr kumimoji="1" lang="ko-KR" altLang="en-US"/>
              <a:t> 제어 실습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9B47D0-C5E3-D746-8936-3790C41048B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dirty="0"/>
              <a:t>실습 내용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라즈베리파이에서</a:t>
            </a:r>
            <a:r>
              <a:rPr kumimoji="1" lang="ko-KR" altLang="en-US" dirty="0"/>
              <a:t> 파이썬 프로그램으로 </a:t>
            </a:r>
            <a:r>
              <a:rPr kumimoji="1" lang="en-US" altLang="ko-KR" dirty="0"/>
              <a:t>LED</a:t>
            </a:r>
            <a:r>
              <a:rPr kumimoji="1" lang="ko-KR" altLang="en-US" dirty="0"/>
              <a:t> 켜기</a:t>
            </a:r>
            <a:r>
              <a:rPr kumimoji="1" lang="en-US" altLang="ko-KR" dirty="0"/>
              <a:t>/</a:t>
            </a:r>
            <a:r>
              <a:rPr kumimoji="1" lang="ko-KR" altLang="en-US" dirty="0"/>
              <a:t>끄기</a:t>
            </a:r>
            <a:endParaRPr kumimoji="1" lang="en-US" altLang="ko-KR" dirty="0"/>
          </a:p>
          <a:p>
            <a:r>
              <a:rPr kumimoji="1" lang="ko-KR" altLang="en-US" dirty="0"/>
              <a:t>부품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LED 1</a:t>
            </a:r>
            <a:r>
              <a:rPr kumimoji="1" lang="ko-KR" altLang="en-US" dirty="0"/>
              <a:t>개</a:t>
            </a:r>
            <a:endParaRPr kumimoji="1" lang="en-US" altLang="ko-KR" dirty="0"/>
          </a:p>
          <a:p>
            <a:pPr lvl="1"/>
            <a:r>
              <a:rPr lang="en-US" altLang="ko-KR" kern="0" spc="-60" dirty="0">
                <a:latin typeface="+mj-ea"/>
              </a:rPr>
              <a:t>220</a:t>
            </a:r>
            <a:r>
              <a:rPr lang="ko-KR" altLang="ko-KR" kern="0" spc="-60" dirty="0" err="1">
                <a:latin typeface="+mj-ea"/>
              </a:rPr>
              <a:t>Ω</a:t>
            </a:r>
            <a:r>
              <a:rPr lang="ko-KR" altLang="ko-KR" kern="0" spc="-60" dirty="0">
                <a:latin typeface="+mj-ea"/>
              </a:rPr>
              <a:t> </a:t>
            </a:r>
            <a:r>
              <a:rPr kumimoji="1" lang="ko-KR" altLang="en-US" dirty="0"/>
              <a:t>저항 </a:t>
            </a:r>
            <a:r>
              <a:rPr kumimoji="1" lang="en-US" altLang="ko-KR" kern="0" spc="-60" dirty="0">
                <a:latin typeface="+mj-ea"/>
              </a:rPr>
              <a:t>1</a:t>
            </a:r>
            <a:r>
              <a:rPr kumimoji="1" lang="ko-KR" altLang="en-US" kern="0" spc="-60" dirty="0">
                <a:latin typeface="+mj-ea"/>
              </a:rPr>
              <a:t>개</a:t>
            </a:r>
            <a:endParaRPr kumimoji="1" lang="en-US" altLang="ko-KR" kern="0" spc="-60" dirty="0">
              <a:latin typeface="+mj-ea"/>
            </a:endParaRPr>
          </a:p>
          <a:p>
            <a:pPr lvl="1"/>
            <a:r>
              <a:rPr lang="en-US" altLang="ko-KR" dirty="0"/>
              <a:t>GPIO6 </a:t>
            </a:r>
            <a:r>
              <a:rPr lang="ko-KR" altLang="en-US" dirty="0"/>
              <a:t>핀 </a:t>
            </a:r>
            <a:r>
              <a:rPr lang="en-US" altLang="ko-KR" dirty="0"/>
              <a:t>(</a:t>
            </a:r>
            <a:r>
              <a:rPr lang="ko-KR" altLang="en-US" dirty="0"/>
              <a:t>출력용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 LED</a:t>
            </a:r>
            <a:r>
              <a:rPr lang="ko-KR" altLang="en-US" dirty="0"/>
              <a:t>의 </a:t>
            </a:r>
            <a:r>
              <a:rPr lang="ko-KR" altLang="en-US" dirty="0" err="1"/>
              <a:t>긴다리에</a:t>
            </a:r>
            <a:r>
              <a:rPr lang="ko-KR" altLang="en-US" dirty="0"/>
              <a:t> 연결</a:t>
            </a:r>
            <a:r>
              <a:rPr lang="en-US" altLang="ko-KR" dirty="0"/>
              <a:t>, </a:t>
            </a:r>
            <a:r>
              <a:rPr lang="ko-KR" altLang="en-US" dirty="0"/>
              <a:t>출력으로 사용</a:t>
            </a:r>
            <a:endParaRPr lang="en-US" altLang="ko-KR" dirty="0"/>
          </a:p>
          <a:p>
            <a:r>
              <a:rPr kumimoji="1" lang="ko-KR" altLang="en-US" dirty="0"/>
              <a:t>회로 구성</a:t>
            </a:r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72894F-DA40-0342-BB3F-00170E44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0C58A3E-DEF1-4F2E-B993-47EC091083E3}"/>
              </a:ext>
            </a:extLst>
          </p:cNvPr>
          <p:cNvGrpSpPr/>
          <p:nvPr/>
        </p:nvGrpSpPr>
        <p:grpSpPr>
          <a:xfrm>
            <a:off x="2411760" y="4772883"/>
            <a:ext cx="3793009" cy="1452366"/>
            <a:chOff x="4879279" y="785550"/>
            <a:chExt cx="3793009" cy="1452366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1FB812E3-CD22-49D3-8A34-D32BAB871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6550" y="907086"/>
              <a:ext cx="2744837" cy="133083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59A447-46FC-4ADF-99D2-E4B9FCAE2FF3}"/>
                </a:ext>
              </a:extLst>
            </p:cNvPr>
            <p:cNvSpPr txBox="1"/>
            <p:nvPr/>
          </p:nvSpPr>
          <p:spPr>
            <a:xfrm>
              <a:off x="4879279" y="1583214"/>
              <a:ext cx="700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/>
                <a:t>GPIO6</a:t>
              </a:r>
              <a:endParaRPr kumimoji="1" lang="ko-KR" altLang="en-US" sz="1400" dirty="0"/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9B09AAD2-6F79-4A13-8CFE-126BEC0BF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95013" y="1609196"/>
              <a:ext cx="942809" cy="29576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E5538B-5DFF-447C-9622-AC7D524F8CD6}"/>
                </a:ext>
              </a:extLst>
            </p:cNvPr>
            <p:cNvSpPr txBox="1"/>
            <p:nvPr/>
          </p:nvSpPr>
          <p:spPr>
            <a:xfrm>
              <a:off x="5882111" y="1880612"/>
              <a:ext cx="95571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/>
                <a:t>220</a:t>
              </a:r>
              <a:r>
                <a:rPr kumimoji="1" lang="ko-KR" altLang="en-US" sz="1200"/>
                <a:t>옴 저항</a:t>
              </a:r>
              <a:endParaRPr kumimoji="1" lang="ko-KR" altLang="en-US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F2D1FB0-A9A2-40DE-9EB9-ADDD99B2F21E}"/>
                </a:ext>
              </a:extLst>
            </p:cNvPr>
            <p:cNvSpPr txBox="1"/>
            <p:nvPr/>
          </p:nvSpPr>
          <p:spPr>
            <a:xfrm>
              <a:off x="8179845" y="1191496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/>
                <a:t>LED</a:t>
              </a:r>
              <a:endParaRPr kumimoji="1" lang="ko-KR" altLang="en-US" sz="1400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7B27687-2D1B-4BFD-B98E-E3AC9D27A8C6}"/>
                </a:ext>
              </a:extLst>
            </p:cNvPr>
            <p:cNvSpPr/>
            <p:nvPr/>
          </p:nvSpPr>
          <p:spPr>
            <a:xfrm>
              <a:off x="5566550" y="785550"/>
              <a:ext cx="1489218" cy="7296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E95910B-05FC-4A66-A7A7-71B4D187F493}"/>
                </a:ext>
              </a:extLst>
            </p:cNvPr>
            <p:cNvSpPr txBox="1"/>
            <p:nvPr/>
          </p:nvSpPr>
          <p:spPr>
            <a:xfrm>
              <a:off x="4946209" y="1016888"/>
              <a:ext cx="5774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GND</a:t>
              </a:r>
              <a:endParaRPr kumimoji="1" lang="ko-KR" altLang="en-US" sz="1400" dirty="0"/>
            </a:p>
          </p:txBody>
        </p:sp>
        <p:sp>
          <p:nvSpPr>
            <p:cNvPr id="35" name="모서리가 둥근 직사각형 18">
              <a:extLst>
                <a:ext uri="{FF2B5EF4-FFF2-40B4-BE49-F238E27FC236}">
                  <a16:creationId xmlns:a16="http://schemas.microsoft.com/office/drawing/2014/main" id="{11626AED-0974-4471-BC13-A3E472BCA25D}"/>
                </a:ext>
              </a:extLst>
            </p:cNvPr>
            <p:cNvSpPr/>
            <p:nvPr/>
          </p:nvSpPr>
          <p:spPr>
            <a:xfrm>
              <a:off x="6837822" y="852421"/>
              <a:ext cx="1372756" cy="1046641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7F8771B2-C08A-4FC5-B6C1-15381F82DA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3611" y="1165696"/>
              <a:ext cx="1532157" cy="20405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ED6D51-2F13-4C11-ADA9-AFEB7919E1B1}"/>
                </a:ext>
              </a:extLst>
            </p:cNvPr>
            <p:cNvSpPr txBox="1"/>
            <p:nvPr/>
          </p:nvSpPr>
          <p:spPr>
            <a:xfrm>
              <a:off x="7371775" y="1624495"/>
              <a:ext cx="716543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050"/>
                <a:t>긴다리</a:t>
              </a:r>
              <a:r>
                <a:rPr kumimoji="1" lang="en-US" altLang="ko-KR" sz="1050"/>
                <a:t>(+</a:t>
              </a:r>
              <a:r>
                <a:rPr kumimoji="1" lang="ko-KR" altLang="en-US" sz="1050"/>
                <a:t>극</a:t>
              </a:r>
              <a:r>
                <a:rPr kumimoji="1" lang="en-US" altLang="ko-KR" sz="1050"/>
                <a:t>)</a:t>
              </a:r>
              <a:endParaRPr kumimoji="1" lang="ko-KR" altLang="en-US" sz="1050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DFAE4F2-4A40-467C-AC65-F14F9D2F489F}"/>
                </a:ext>
              </a:extLst>
            </p:cNvPr>
            <p:cNvSpPr/>
            <p:nvPr/>
          </p:nvSpPr>
          <p:spPr>
            <a:xfrm>
              <a:off x="7031348" y="1216109"/>
              <a:ext cx="451395" cy="258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EE29DEA-8E71-4107-9A4B-8EAAB86ECF48}"/>
                </a:ext>
              </a:extLst>
            </p:cNvPr>
            <p:cNvSpPr txBox="1"/>
            <p:nvPr/>
          </p:nvSpPr>
          <p:spPr>
            <a:xfrm>
              <a:off x="7077183" y="951069"/>
              <a:ext cx="811119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050"/>
                <a:t>짧은다리</a:t>
              </a:r>
              <a:r>
                <a:rPr kumimoji="1" lang="en-US" altLang="ko-KR" sz="1050"/>
                <a:t>(-</a:t>
              </a:r>
              <a:r>
                <a:rPr kumimoji="1" lang="ko-KR" altLang="en-US" sz="1050"/>
                <a:t>극</a:t>
              </a:r>
              <a:r>
                <a:rPr kumimoji="1" lang="en-US" altLang="ko-KR" sz="1050"/>
                <a:t>)</a:t>
              </a:r>
              <a:endParaRPr kumimoji="1" lang="ko-KR" alt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413430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A5CF3D-D769-9649-ADEE-9A5AA059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18DD52C-61FE-EC45-B6F0-AD8EB25FF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528" y="103286"/>
            <a:ext cx="8153400" cy="679450"/>
          </a:xfrm>
        </p:spPr>
        <p:txBody>
          <a:bodyPr/>
          <a:lstStyle/>
          <a:p>
            <a:r>
              <a:rPr kumimoji="1" lang="en-US" altLang="ko-KR"/>
              <a:t>LED </a:t>
            </a:r>
            <a:r>
              <a:rPr kumimoji="1" lang="ko-KR" altLang="en-US"/>
              <a:t>실습을 위한 회로구성</a:t>
            </a:r>
            <a:endParaRPr kumimoji="1"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932776A-A699-4F86-B441-0EA4322A5C62}"/>
              </a:ext>
            </a:extLst>
          </p:cNvPr>
          <p:cNvGrpSpPr/>
          <p:nvPr/>
        </p:nvGrpSpPr>
        <p:grpSpPr>
          <a:xfrm>
            <a:off x="4879279" y="785550"/>
            <a:ext cx="3793009" cy="1452366"/>
            <a:chOff x="4879279" y="785550"/>
            <a:chExt cx="3793009" cy="1452366"/>
          </a:xfrm>
        </p:grpSpPr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F3BCF128-53D0-4D25-80B5-1B1CE99A5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6550" y="907086"/>
              <a:ext cx="2744837" cy="133083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E8D0B01-B229-428B-A0D1-A62CEE69CEE0}"/>
                </a:ext>
              </a:extLst>
            </p:cNvPr>
            <p:cNvSpPr txBox="1"/>
            <p:nvPr/>
          </p:nvSpPr>
          <p:spPr>
            <a:xfrm>
              <a:off x="4879279" y="1583214"/>
              <a:ext cx="700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/>
                <a:t>GPIO6</a:t>
              </a:r>
              <a:endParaRPr kumimoji="1" lang="ko-KR" altLang="en-US" sz="1400" dirty="0"/>
            </a:p>
          </p:txBody>
        </p: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774308A0-29A3-4176-9642-C00A479CB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95013" y="1593872"/>
              <a:ext cx="942809" cy="295760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7B8AEEB-5D15-462D-8792-7C667D33CBE4}"/>
                </a:ext>
              </a:extLst>
            </p:cNvPr>
            <p:cNvSpPr txBox="1"/>
            <p:nvPr/>
          </p:nvSpPr>
          <p:spPr>
            <a:xfrm>
              <a:off x="5882111" y="1880612"/>
              <a:ext cx="95571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/>
                <a:t>220</a:t>
              </a:r>
              <a:r>
                <a:rPr kumimoji="1" lang="ko-KR" altLang="en-US" sz="1200"/>
                <a:t>옴 저항</a:t>
              </a:r>
              <a:endParaRPr kumimoji="1" lang="ko-KR" altLang="en-US" sz="12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3675A36-C719-4DCB-91EA-8CE42F2C8CB8}"/>
                </a:ext>
              </a:extLst>
            </p:cNvPr>
            <p:cNvSpPr txBox="1"/>
            <p:nvPr/>
          </p:nvSpPr>
          <p:spPr>
            <a:xfrm>
              <a:off x="8179845" y="1191496"/>
              <a:ext cx="4924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/>
                <a:t>LED</a:t>
              </a:r>
              <a:endParaRPr kumimoji="1" lang="ko-KR" altLang="en-US" sz="1400" dirty="0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00B1D1F-852F-494F-8A74-5EC1C795660B}"/>
                </a:ext>
              </a:extLst>
            </p:cNvPr>
            <p:cNvSpPr/>
            <p:nvPr/>
          </p:nvSpPr>
          <p:spPr>
            <a:xfrm>
              <a:off x="5566550" y="785550"/>
              <a:ext cx="1489218" cy="7296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AC5CCBF-EAD1-4D87-89CC-403C0054F3C8}"/>
                </a:ext>
              </a:extLst>
            </p:cNvPr>
            <p:cNvSpPr txBox="1"/>
            <p:nvPr/>
          </p:nvSpPr>
          <p:spPr>
            <a:xfrm>
              <a:off x="4946209" y="1016888"/>
              <a:ext cx="5774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GND</a:t>
              </a:r>
              <a:endParaRPr kumimoji="1" lang="ko-KR" altLang="en-US" sz="1400" dirty="0"/>
            </a:p>
          </p:txBody>
        </p:sp>
        <p:sp>
          <p:nvSpPr>
            <p:cNvPr id="96" name="모서리가 둥근 직사각형 18">
              <a:extLst>
                <a:ext uri="{FF2B5EF4-FFF2-40B4-BE49-F238E27FC236}">
                  <a16:creationId xmlns:a16="http://schemas.microsoft.com/office/drawing/2014/main" id="{D9368B65-6E99-47E7-8FCB-B483DE2E5961}"/>
                </a:ext>
              </a:extLst>
            </p:cNvPr>
            <p:cNvSpPr/>
            <p:nvPr/>
          </p:nvSpPr>
          <p:spPr>
            <a:xfrm>
              <a:off x="6837822" y="852421"/>
              <a:ext cx="1372756" cy="1046641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337BA3AC-54CB-42AD-830D-28C3E4C8B58B}"/>
                </a:ext>
              </a:extLst>
            </p:cNvPr>
            <p:cNvCxnSpPr>
              <a:cxnSpLocks/>
              <a:stCxn id="95" idx="3"/>
              <a:endCxn id="94" idx="3"/>
            </p:cNvCxnSpPr>
            <p:nvPr/>
          </p:nvCxnSpPr>
          <p:spPr>
            <a:xfrm flipV="1">
              <a:off x="5523611" y="1150372"/>
              <a:ext cx="1532157" cy="20405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3D2B17F-8698-4048-9162-54D810B4915A}"/>
                </a:ext>
              </a:extLst>
            </p:cNvPr>
            <p:cNvSpPr txBox="1"/>
            <p:nvPr/>
          </p:nvSpPr>
          <p:spPr>
            <a:xfrm>
              <a:off x="7371775" y="1624495"/>
              <a:ext cx="716543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050"/>
                <a:t>긴다리</a:t>
              </a:r>
              <a:r>
                <a:rPr kumimoji="1" lang="en-US" altLang="ko-KR" sz="1050"/>
                <a:t>(+</a:t>
              </a:r>
              <a:r>
                <a:rPr kumimoji="1" lang="ko-KR" altLang="en-US" sz="1050"/>
                <a:t>극</a:t>
              </a:r>
              <a:r>
                <a:rPr kumimoji="1" lang="en-US" altLang="ko-KR" sz="1050"/>
                <a:t>)</a:t>
              </a:r>
              <a:endParaRPr kumimoji="1" lang="ko-KR" altLang="en-US" sz="1050" dirty="0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F5D4CE5-EACC-4513-AC28-9B074F367939}"/>
                </a:ext>
              </a:extLst>
            </p:cNvPr>
            <p:cNvSpPr/>
            <p:nvPr/>
          </p:nvSpPr>
          <p:spPr>
            <a:xfrm>
              <a:off x="7031348" y="1216109"/>
              <a:ext cx="451395" cy="258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9F65A74-4F0D-415C-8AE0-9CA2740318CE}"/>
                </a:ext>
              </a:extLst>
            </p:cNvPr>
            <p:cNvSpPr txBox="1"/>
            <p:nvPr/>
          </p:nvSpPr>
          <p:spPr>
            <a:xfrm>
              <a:off x="7077183" y="951069"/>
              <a:ext cx="811119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050"/>
                <a:t>짧은다리</a:t>
              </a:r>
              <a:r>
                <a:rPr kumimoji="1" lang="en-US" altLang="ko-KR" sz="1050"/>
                <a:t>(-</a:t>
              </a:r>
              <a:r>
                <a:rPr kumimoji="1" lang="ko-KR" altLang="en-US" sz="1050"/>
                <a:t>극</a:t>
              </a:r>
              <a:r>
                <a:rPr kumimoji="1" lang="en-US" altLang="ko-KR" sz="1050"/>
                <a:t>)</a:t>
              </a:r>
              <a:endParaRPr kumimoji="1" lang="ko-KR" altLang="en-US" sz="1050" dirty="0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874E6029-4FA0-4750-A458-20100C9CA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3" y="2123784"/>
            <a:ext cx="8827773" cy="36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97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브레드보드, 회로 구성요소, 패시브 회로 부품이(가) 표시된 사진&#10;&#10;자동 생성된 설명">
            <a:extLst>
              <a:ext uri="{FF2B5EF4-FFF2-40B4-BE49-F238E27FC236}">
                <a16:creationId xmlns:a16="http://schemas.microsoft.com/office/drawing/2014/main" id="{327AE914-EB19-77AF-1931-BEA64475E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80" y="1484784"/>
            <a:ext cx="6802488" cy="5102304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B877180-85F5-4B30-9CC0-3963FA29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실제 구성된 회로 사진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403648" y="1916832"/>
            <a:ext cx="3456384" cy="3240360"/>
          </a:xfrm>
          <a:prstGeom prst="roundRect">
            <a:avLst>
              <a:gd name="adj" fmla="val 7119"/>
            </a:avLst>
          </a:prstGeom>
          <a:noFill/>
          <a:ln w="57150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4988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87ED6-2868-BC4A-A62D-CAB58DCB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 dirty="0"/>
              <a:t>예제 </a:t>
            </a:r>
            <a:r>
              <a:rPr kumimoji="1" lang="en-US" altLang="ko-KR" dirty="0"/>
              <a:t>8-1 </a:t>
            </a:r>
            <a:r>
              <a:rPr lang="en-US" altLang="ko-KR" dirty="0"/>
              <a:t>1</a:t>
            </a:r>
            <a:r>
              <a:rPr lang="ko-KR" altLang="en-US" dirty="0"/>
              <a:t>초 간격으로 </a:t>
            </a:r>
            <a:r>
              <a:rPr lang="en-US" altLang="ko-KR" dirty="0"/>
              <a:t>LED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번 깜박이는 파이썬 프로그램 작성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2E4FB1-CDF9-3641-BCED-93F52897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1F23A5-E91C-B949-A2BB-CBF1B03C59B5}"/>
              </a:ext>
            </a:extLst>
          </p:cNvPr>
          <p:cNvSpPr/>
          <p:nvPr/>
        </p:nvSpPr>
        <p:spPr>
          <a:xfrm>
            <a:off x="612648" y="2031806"/>
            <a:ext cx="4823448" cy="4493538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100"/>
              <a:t>import time</a:t>
            </a:r>
          </a:p>
          <a:p>
            <a:pPr defTabSz="180000"/>
            <a:r>
              <a:rPr lang="en-US" altLang="ko-KR" sz="1100"/>
              <a:t>import RPi.GPIO as GPIO</a:t>
            </a:r>
          </a:p>
          <a:p>
            <a:pPr defTabSz="180000"/>
            <a:endParaRPr lang="en-US" altLang="ko-KR" sz="1100"/>
          </a:p>
          <a:p>
            <a:pPr defTabSz="180000"/>
            <a:r>
              <a:rPr lang="en-US" altLang="ko-KR" sz="1100"/>
              <a:t># pin</a:t>
            </a:r>
            <a:r>
              <a:rPr lang="ko-KR" altLang="en-US" sz="1100"/>
              <a:t>에 연결된 </a:t>
            </a:r>
            <a:r>
              <a:rPr lang="en-US" altLang="ko-KR" sz="1100"/>
              <a:t>LED</a:t>
            </a:r>
            <a:r>
              <a:rPr lang="ko-KR" altLang="en-US" sz="1100"/>
              <a:t>에 </a:t>
            </a:r>
            <a:r>
              <a:rPr lang="en-US" altLang="ko-KR" sz="1100"/>
              <a:t>value(0/1) </a:t>
            </a:r>
            <a:r>
              <a:rPr lang="ko-KR" altLang="en-US" sz="1100"/>
              <a:t>값을 출력하여 </a:t>
            </a:r>
            <a:r>
              <a:rPr lang="en-US" altLang="ko-KR" sz="1100"/>
              <a:t>LED</a:t>
            </a:r>
            <a:r>
              <a:rPr lang="ko-KR" altLang="en-US" sz="1100"/>
              <a:t>를 켜거나 끄는 함수</a:t>
            </a:r>
          </a:p>
          <a:p>
            <a:pPr defTabSz="180000"/>
            <a:r>
              <a:rPr lang="en-US" altLang="ko-KR" sz="1100" b="1"/>
              <a:t>def led_on_off(pin, value):</a:t>
            </a:r>
          </a:p>
          <a:p>
            <a:pPr defTabSz="180000"/>
            <a:r>
              <a:rPr lang="en-US" altLang="ko-KR" sz="1100" b="1"/>
              <a:t>	GPIO.output(pin, value)</a:t>
            </a:r>
          </a:p>
          <a:p>
            <a:pPr defTabSz="180000"/>
            <a:endParaRPr lang="en-US" altLang="ko-KR" sz="1100"/>
          </a:p>
          <a:p>
            <a:pPr defTabSz="180000"/>
            <a:r>
              <a:rPr lang="en-US" altLang="ko-KR" sz="1100"/>
              <a:t>GPIO.setmode(GPIO.BCM) # BCM </a:t>
            </a:r>
            <a:r>
              <a:rPr lang="ko-KR" altLang="en-US" sz="1100"/>
              <a:t>모드로 작동</a:t>
            </a:r>
          </a:p>
          <a:p>
            <a:pPr defTabSz="180000"/>
            <a:r>
              <a:rPr lang="en-US" altLang="ko-KR" sz="1100"/>
              <a:t>GPIO.setwarnings(False) # </a:t>
            </a:r>
            <a:r>
              <a:rPr lang="ko-KR" altLang="en-US" sz="1100"/>
              <a:t>경고글이 출력되지 않게 설정</a:t>
            </a:r>
            <a:endParaRPr lang="en-US" altLang="ko-KR" sz="1100"/>
          </a:p>
          <a:p>
            <a:pPr defTabSz="180000"/>
            <a:endParaRPr lang="ko-KR" altLang="en-US" sz="1100"/>
          </a:p>
          <a:p>
            <a:pPr defTabSz="180000"/>
            <a:r>
              <a:rPr lang="en-US" altLang="ko-KR" sz="1100"/>
              <a:t>led = 6 # GPIO6 </a:t>
            </a:r>
            <a:r>
              <a:rPr lang="ko-KR" altLang="en-US" sz="1100"/>
              <a:t>핀</a:t>
            </a:r>
          </a:p>
          <a:p>
            <a:pPr defTabSz="180000"/>
            <a:r>
              <a:rPr lang="en-US" altLang="ko-KR" sz="1100" b="1"/>
              <a:t>GPIO.setup(led, GPIO.OUT) </a:t>
            </a:r>
            <a:r>
              <a:rPr lang="en-US" altLang="ko-KR" sz="1100"/>
              <a:t># GPIO6 </a:t>
            </a:r>
            <a:r>
              <a:rPr lang="ko-KR" altLang="en-US" sz="1100"/>
              <a:t>핀을 출력으로 지정</a:t>
            </a:r>
            <a:endParaRPr lang="en-US" altLang="ko-KR" sz="1100"/>
          </a:p>
          <a:p>
            <a:pPr defTabSz="180000"/>
            <a:endParaRPr lang="ko-KR" altLang="en-US" sz="1100"/>
          </a:p>
          <a:p>
            <a:pPr defTabSz="180000"/>
            <a:r>
              <a:rPr lang="en-US" altLang="ko-KR" sz="1100"/>
              <a:t>on_off = 1 # 1</a:t>
            </a:r>
            <a:r>
              <a:rPr lang="ko-KR" altLang="en-US" sz="1100"/>
              <a:t>은 디지털 출력 값</a:t>
            </a:r>
            <a:r>
              <a:rPr lang="en-US" altLang="ko-KR" sz="1100"/>
              <a:t>. 1 = 5V</a:t>
            </a:r>
          </a:p>
          <a:p>
            <a:pPr defTabSz="180000"/>
            <a:endParaRPr lang="en-US" altLang="ko-KR" sz="1100"/>
          </a:p>
          <a:p>
            <a:pPr defTabSz="180000"/>
            <a:r>
              <a:rPr lang="en-US" altLang="ko-KR" sz="1100"/>
              <a:t>print("LED</a:t>
            </a:r>
            <a:r>
              <a:rPr lang="ko-KR" altLang="en-US" sz="1100"/>
              <a:t>를 지켜 보세요</a:t>
            </a:r>
            <a:r>
              <a:rPr lang="en-US" altLang="ko-KR" sz="1100"/>
              <a:t>.")</a:t>
            </a:r>
          </a:p>
          <a:p>
            <a:pPr defTabSz="180000"/>
            <a:endParaRPr lang="ko-KR" altLang="en-US" sz="1100"/>
          </a:p>
          <a:p>
            <a:pPr defTabSz="180000"/>
            <a:r>
              <a:rPr lang="en-US" altLang="ko-KR" sz="1100"/>
              <a:t># 5</a:t>
            </a:r>
            <a:r>
              <a:rPr lang="ko-KR" altLang="en-US" sz="1100"/>
              <a:t>번 </a:t>
            </a:r>
            <a:r>
              <a:rPr lang="en-US" altLang="ko-KR" sz="1100"/>
              <a:t>LED</a:t>
            </a:r>
            <a:r>
              <a:rPr lang="ko-KR" altLang="en-US" sz="1100"/>
              <a:t>를 깜박임</a:t>
            </a:r>
          </a:p>
          <a:p>
            <a:pPr defTabSz="180000"/>
            <a:r>
              <a:rPr lang="en-US" altLang="ko-KR" sz="1100" b="1"/>
              <a:t>for i in range(5):</a:t>
            </a:r>
          </a:p>
          <a:p>
            <a:pPr defTabSz="180000"/>
            <a:r>
              <a:rPr lang="en-US" altLang="ko-KR" sz="1100"/>
              <a:t>	</a:t>
            </a:r>
            <a:r>
              <a:rPr lang="en-US" altLang="ko-KR" sz="1100" b="1"/>
              <a:t>led_on_off(led, on_off) </a:t>
            </a:r>
            <a:r>
              <a:rPr lang="en-US" altLang="ko-KR" sz="1100"/>
              <a:t># led</a:t>
            </a:r>
            <a:r>
              <a:rPr lang="ko-KR" altLang="en-US" sz="1100"/>
              <a:t>가 연결된 핀에 </a:t>
            </a:r>
            <a:r>
              <a:rPr lang="en-US" altLang="ko-KR" sz="1100"/>
              <a:t>1</a:t>
            </a:r>
            <a:r>
              <a:rPr lang="ko-KR" altLang="en-US" sz="1100"/>
              <a:t>또는 </a:t>
            </a:r>
            <a:r>
              <a:rPr lang="en-US" altLang="ko-KR" sz="1100"/>
              <a:t>0 </a:t>
            </a:r>
            <a:r>
              <a:rPr lang="ko-KR" altLang="en-US" sz="1100"/>
              <a:t>값 출력</a:t>
            </a:r>
          </a:p>
          <a:p>
            <a:pPr defTabSz="180000"/>
            <a:r>
              <a:rPr lang="en-US" altLang="ko-KR" sz="1100"/>
              <a:t>	time.sleep(1) # 1</a:t>
            </a:r>
            <a:r>
              <a:rPr lang="ko-KR" altLang="en-US" sz="1100"/>
              <a:t>초 동안 잠자기</a:t>
            </a:r>
          </a:p>
          <a:p>
            <a:pPr defTabSz="180000"/>
            <a:r>
              <a:rPr lang="en-US" altLang="ko-KR" sz="1100"/>
              <a:t>	print(i, end=' ', flush=True)</a:t>
            </a:r>
          </a:p>
          <a:p>
            <a:pPr defTabSz="180000"/>
            <a:r>
              <a:rPr lang="en-US" altLang="ko-KR" sz="1100"/>
              <a:t>	</a:t>
            </a:r>
            <a:r>
              <a:rPr lang="en-US" altLang="ko-KR" sz="1100" b="1"/>
              <a:t>on_off = 0 if on_off == 1 else 1 </a:t>
            </a:r>
            <a:r>
              <a:rPr lang="en-US" altLang="ko-KR" sz="1100"/>
              <a:t># 0</a:t>
            </a:r>
            <a:r>
              <a:rPr lang="ko-KR" altLang="en-US" sz="1100"/>
              <a:t>과 </a:t>
            </a:r>
            <a:r>
              <a:rPr lang="en-US" altLang="ko-KR" sz="1100"/>
              <a:t>1</a:t>
            </a:r>
            <a:r>
              <a:rPr lang="ko-KR" altLang="en-US" sz="1100"/>
              <a:t>의 토글링</a:t>
            </a:r>
            <a:endParaRPr lang="en-US" altLang="ko-KR" sz="1100"/>
          </a:p>
          <a:p>
            <a:pPr defTabSz="180000"/>
            <a:endParaRPr lang="en-US" altLang="ko-KR" sz="1100"/>
          </a:p>
          <a:p>
            <a:pPr defTabSz="180000"/>
            <a:r>
              <a:rPr lang="en-US" altLang="ko-KR" sz="1100"/>
              <a:t>print()</a:t>
            </a:r>
            <a:endParaRPr lang="ko-KR" altLang="en-US" sz="1100"/>
          </a:p>
          <a:p>
            <a:pPr defTabSz="180000"/>
            <a:r>
              <a:rPr lang="en-US" altLang="ko-KR" sz="1100" b="1"/>
              <a:t>GPIO.cleanup()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509192" y="2028667"/>
            <a:ext cx="3527304" cy="76944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100" b="1"/>
              <a:t>(myenv) pi@pi:~/ch08 $ python 8-1.py</a:t>
            </a:r>
            <a:endParaRPr lang="ko-KR" altLang="en-US" sz="1100" b="1"/>
          </a:p>
          <a:p>
            <a:pPr fontAlgn="base"/>
            <a:r>
              <a:rPr lang="en-US" altLang="ko-KR" sz="1100"/>
              <a:t>LED</a:t>
            </a:r>
            <a:r>
              <a:rPr lang="ko-KR" altLang="en-US" sz="1100"/>
              <a:t>를 지켜보세요</a:t>
            </a:r>
            <a:r>
              <a:rPr lang="en-US" altLang="ko-KR" sz="1100"/>
              <a:t>.</a:t>
            </a:r>
            <a:endParaRPr lang="ko-KR" altLang="en-US" sz="1100"/>
          </a:p>
          <a:p>
            <a:pPr fontAlgn="base"/>
            <a:r>
              <a:rPr lang="en-US" altLang="ko-KR" sz="1100"/>
              <a:t>0 1 2 3 4</a:t>
            </a:r>
            <a:endParaRPr lang="ko-KR" altLang="en-US" sz="1100"/>
          </a:p>
          <a:p>
            <a:pPr fontAlgn="base"/>
            <a:r>
              <a:rPr lang="en-US" altLang="ko-KR" sz="1100" b="1"/>
              <a:t>(myenv) pi@pi:~/ch08 $ </a:t>
            </a:r>
            <a:endParaRPr lang="ko-KR" altLang="en-US" sz="1100" b="1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6ACF67-4B89-4E0D-B5A9-F4931C028224}"/>
              </a:ext>
            </a:extLst>
          </p:cNvPr>
          <p:cNvSpPr/>
          <p:nvPr/>
        </p:nvSpPr>
        <p:spPr>
          <a:xfrm>
            <a:off x="524674" y="1340768"/>
            <a:ext cx="80077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1</a:t>
            </a:r>
            <a:r>
              <a:rPr lang="ko-KR" altLang="en-US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초 간격으로 </a:t>
            </a:r>
            <a:r>
              <a:rPr lang="en-US" altLang="ko-KR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LED</a:t>
            </a:r>
            <a:r>
              <a:rPr lang="ko-KR" altLang="en-US" kern="0" dirty="0" err="1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를</a:t>
            </a:r>
            <a:r>
              <a:rPr lang="ko-KR" altLang="en-US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 </a:t>
            </a:r>
            <a:r>
              <a:rPr lang="en-US" altLang="ko-KR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5</a:t>
            </a:r>
            <a:r>
              <a:rPr lang="ko-KR" altLang="en-US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번 깜박이는 파이썬 프로그램을 작성해보자</a:t>
            </a:r>
            <a:r>
              <a:rPr lang="en-US" altLang="ko-KR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. </a:t>
            </a:r>
            <a:endParaRPr lang="ko-KR" altLang="en-US" kern="0" dirty="0">
              <a:solidFill>
                <a:schemeClr val="accent2">
                  <a:lumMod val="75000"/>
                </a:schemeClr>
              </a:solidFill>
              <a:latin typeface="한컴바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9A3D10-BE7E-48BD-B7C4-CC5910DDEE37}"/>
              </a:ext>
            </a:extLst>
          </p:cNvPr>
          <p:cNvSpPr/>
          <p:nvPr/>
        </p:nvSpPr>
        <p:spPr>
          <a:xfrm>
            <a:off x="539552" y="1728031"/>
            <a:ext cx="6928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400"/>
              <a:t>8-1.py</a:t>
            </a:r>
            <a:endParaRPr lang="ko-KR" altLang="en-US" sz="1400"/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A6BC69F9-3BFC-4D6D-863F-79BC8E53B1CE}"/>
              </a:ext>
            </a:extLst>
          </p:cNvPr>
          <p:cNvSpPr/>
          <p:nvPr/>
        </p:nvSpPr>
        <p:spPr>
          <a:xfrm>
            <a:off x="7164288" y="2277179"/>
            <a:ext cx="1764740" cy="272415"/>
          </a:xfrm>
          <a:prstGeom prst="wedgeRoundRectCallout">
            <a:avLst>
              <a:gd name="adj1" fmla="val -94165"/>
              <a:gd name="adj2" fmla="val 3305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1A1A1A"/>
                </a:solidFill>
                <a:latin typeface="YoonGothicPro730"/>
              </a:rPr>
              <a:t>1</a:t>
            </a:r>
            <a:r>
              <a:rPr lang="ko-KR" altLang="en-US" sz="1000">
                <a:solidFill>
                  <a:srgbClr val="1A1A1A"/>
                </a:solidFill>
                <a:latin typeface="YoonGothicPro730"/>
              </a:rPr>
              <a:t>초 간격으로 </a:t>
            </a:r>
            <a:r>
              <a:rPr lang="en-US" altLang="ko-KR" sz="1000">
                <a:solidFill>
                  <a:srgbClr val="1A1A1A"/>
                </a:solidFill>
                <a:latin typeface="YoonGothicPro730"/>
              </a:rPr>
              <a:t>0 1 2 3 4 </a:t>
            </a:r>
            <a:r>
              <a:rPr lang="ko-KR" altLang="en-US" sz="1000">
                <a:solidFill>
                  <a:srgbClr val="1A1A1A"/>
                </a:solidFill>
                <a:latin typeface="YoonGothicPro730"/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1459438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87ED6-2868-BC4A-A62D-CAB58DCB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altLang="ko-KR"/>
              <a:t>try-except-finally</a:t>
            </a:r>
            <a:r>
              <a:rPr lang="ko-KR" altLang="en-US"/>
              <a:t>를 이용한 예제 </a:t>
            </a:r>
            <a:r>
              <a:rPr lang="en-US" altLang="ko-KR"/>
              <a:t>8-1</a:t>
            </a:r>
            <a:r>
              <a:rPr lang="ko-KR" altLang="en-US"/>
              <a:t>의 바람직한 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A5E976-EA40-44B7-9E05-B96CB2FFC6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091734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ko-KR" altLang="en-US"/>
              <a:t>예제 </a:t>
            </a:r>
            <a:r>
              <a:rPr lang="en-US" altLang="ko-KR"/>
              <a:t>8-1</a:t>
            </a:r>
            <a:r>
              <a:rPr lang="ko-KR" altLang="en-US"/>
              <a:t>의 </a:t>
            </a:r>
            <a:r>
              <a:rPr lang="en-US" altLang="ko-KR"/>
              <a:t>8-1.py</a:t>
            </a:r>
            <a:r>
              <a:rPr lang="ko-KR" altLang="en-US"/>
              <a:t>의 문제점</a:t>
            </a:r>
            <a:endParaRPr lang="en-US" altLang="ko-KR"/>
          </a:p>
          <a:p>
            <a:pPr lvl="1" fontAlgn="base"/>
            <a:r>
              <a:rPr lang="ko-KR" altLang="en-US"/>
              <a:t>실행 도중 사용자가 </a:t>
            </a:r>
            <a:r>
              <a:rPr lang="en-US" altLang="ko-KR"/>
              <a:t>[Ctrl+C] </a:t>
            </a:r>
            <a:r>
              <a:rPr lang="ko-KR" altLang="en-US"/>
              <a:t>키를 입력하여 프로그램을 종료시킬 때</a:t>
            </a:r>
            <a:r>
              <a:rPr lang="en-US" altLang="ko-KR"/>
              <a:t>,</a:t>
            </a:r>
          </a:p>
          <a:p>
            <a:pPr lvl="1" fontAlgn="base"/>
            <a:r>
              <a:rPr lang="en-US" altLang="ko-KR"/>
              <a:t>LED</a:t>
            </a:r>
            <a:r>
              <a:rPr lang="ko-KR" altLang="en-US"/>
              <a:t>를 켠 채 </a:t>
            </a:r>
            <a:r>
              <a:rPr lang="en-US" altLang="ko-KR"/>
              <a:t>1</a:t>
            </a:r>
            <a:r>
              <a:rPr lang="ko-KR" altLang="en-US"/>
              <a:t>초 잠을 자고 있었다면 </a:t>
            </a:r>
            <a:r>
              <a:rPr lang="en-US" altLang="ko-KR"/>
              <a:t>GPIO.cleanup()</a:t>
            </a:r>
            <a:r>
              <a:rPr lang="ko-KR" altLang="en-US"/>
              <a:t>이 실행되지 못하고 종료</a:t>
            </a:r>
            <a:endParaRPr lang="en-US" altLang="ko-KR"/>
          </a:p>
          <a:p>
            <a:pPr lvl="2" fontAlgn="base"/>
            <a:r>
              <a:rPr lang="en-US" altLang="ko-KR"/>
              <a:t>GPIO6 </a:t>
            </a:r>
            <a:r>
              <a:rPr lang="ko-KR" altLang="en-US"/>
              <a:t>핀에 </a:t>
            </a:r>
            <a:r>
              <a:rPr lang="en-US" altLang="ko-KR"/>
              <a:t>5V </a:t>
            </a:r>
            <a:r>
              <a:rPr lang="ko-KR" altLang="en-US"/>
              <a:t>전압이 계속 공급 </a:t>
            </a:r>
            <a:r>
              <a:rPr lang="en-US" altLang="ko-KR"/>
              <a:t>-&gt; LED</a:t>
            </a:r>
            <a:r>
              <a:rPr lang="ko-KR" altLang="en-US"/>
              <a:t>가 켜진 채로 있게 됨</a:t>
            </a:r>
          </a:p>
          <a:p>
            <a:pPr lvl="1" fontAlgn="base"/>
            <a:endParaRPr lang="ko-KR" altLang="en-US"/>
          </a:p>
          <a:p>
            <a:pPr lvl="1" fontAlgn="base"/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2E4FB1-CDF9-3641-BCED-93F52897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1F23A5-E91C-B949-A2BB-CBF1B03C59B5}"/>
              </a:ext>
            </a:extLst>
          </p:cNvPr>
          <p:cNvSpPr/>
          <p:nvPr/>
        </p:nvSpPr>
        <p:spPr>
          <a:xfrm>
            <a:off x="179512" y="2611646"/>
            <a:ext cx="4968552" cy="4154984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100" dirty="0"/>
              <a:t>import time</a:t>
            </a:r>
          </a:p>
          <a:p>
            <a:pPr defTabSz="180000"/>
            <a:r>
              <a:rPr lang="en-US" altLang="ko-KR" sz="1100" dirty="0"/>
              <a:t>import </a:t>
            </a:r>
            <a:r>
              <a:rPr lang="en-US" altLang="ko-KR" sz="1100" dirty="0" err="1"/>
              <a:t>RPi.GPIO</a:t>
            </a:r>
            <a:r>
              <a:rPr lang="en-US" altLang="ko-KR" sz="1100" dirty="0"/>
              <a:t> as GPIO</a:t>
            </a:r>
          </a:p>
          <a:p>
            <a:pPr defTabSz="180000"/>
            <a:endParaRPr lang="en-US" altLang="ko-KR" sz="1100" dirty="0"/>
          </a:p>
          <a:p>
            <a:pPr defTabSz="180000"/>
            <a:r>
              <a:rPr lang="en-US" altLang="ko-KR" sz="1100" b="1" dirty="0"/>
              <a:t>try:</a:t>
            </a:r>
          </a:p>
          <a:p>
            <a:pPr defTabSz="180000"/>
            <a:r>
              <a:rPr lang="en-US" altLang="ko-KR" sz="1100" dirty="0"/>
              <a:t>	# pin</a:t>
            </a:r>
            <a:r>
              <a:rPr lang="ko-KR" altLang="en-US" sz="1100" dirty="0"/>
              <a:t>에 연결된 </a:t>
            </a:r>
            <a:r>
              <a:rPr lang="en-US" altLang="ko-KR" sz="1100" dirty="0"/>
              <a:t>LED</a:t>
            </a:r>
            <a:r>
              <a:rPr lang="ko-KR" altLang="en-US" sz="1100" dirty="0"/>
              <a:t>에 </a:t>
            </a:r>
            <a:r>
              <a:rPr lang="en-US" altLang="ko-KR" sz="1100" dirty="0"/>
              <a:t>value(0/1) </a:t>
            </a:r>
            <a:r>
              <a:rPr lang="ko-KR" altLang="en-US" sz="1100" dirty="0"/>
              <a:t>값을 출력하여 </a:t>
            </a:r>
            <a:r>
              <a:rPr lang="en-US" altLang="ko-KR" sz="1100" dirty="0"/>
              <a:t>LED</a:t>
            </a:r>
            <a:r>
              <a:rPr lang="ko-KR" altLang="en-US" sz="1100" dirty="0"/>
              <a:t>를 켜거나 끄는 함수</a:t>
            </a:r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/>
              <a:t>def </a:t>
            </a:r>
            <a:r>
              <a:rPr lang="en-US" altLang="ko-KR" sz="1100" dirty="0" err="1"/>
              <a:t>led_on_off</a:t>
            </a:r>
            <a:r>
              <a:rPr lang="en-US" altLang="ko-KR" sz="1100" dirty="0"/>
              <a:t>(pin, value):</a:t>
            </a:r>
          </a:p>
          <a:p>
            <a:pPr defTabSz="180000"/>
            <a:r>
              <a:rPr lang="en-US" altLang="ko-KR" sz="1100" dirty="0"/>
              <a:t>		</a:t>
            </a:r>
            <a:r>
              <a:rPr lang="en-US" altLang="ko-KR" sz="1100" dirty="0" err="1"/>
              <a:t>GPIO.output</a:t>
            </a:r>
            <a:r>
              <a:rPr lang="en-US" altLang="ko-KR" sz="1100" dirty="0"/>
              <a:t>(pin, value)</a:t>
            </a:r>
          </a:p>
          <a:p>
            <a:pPr defTabSz="180000"/>
            <a:endParaRPr lang="en-US" altLang="ko-KR" sz="1100" dirty="0"/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dirty="0" err="1"/>
              <a:t>GPIO.setmode</a:t>
            </a:r>
            <a:r>
              <a:rPr lang="en-US" altLang="ko-KR" sz="1100" dirty="0"/>
              <a:t>(GPIO.BCM) # BCM </a:t>
            </a:r>
            <a:r>
              <a:rPr lang="ko-KR" altLang="en-US" sz="1100" dirty="0"/>
              <a:t>모드로 작동</a:t>
            </a:r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 err="1"/>
              <a:t>GPIO.setwarnings</a:t>
            </a:r>
            <a:r>
              <a:rPr lang="en-US" altLang="ko-KR" sz="1100" dirty="0"/>
              <a:t>(False) # </a:t>
            </a:r>
            <a:r>
              <a:rPr lang="ko-KR" altLang="en-US" sz="1100" dirty="0" err="1"/>
              <a:t>경고글이</a:t>
            </a:r>
            <a:r>
              <a:rPr lang="ko-KR" altLang="en-US" sz="1100" dirty="0"/>
              <a:t> 출력되지 않게 설정</a:t>
            </a:r>
            <a:endParaRPr lang="en-US" altLang="ko-KR" sz="1100" dirty="0"/>
          </a:p>
          <a:p>
            <a:pPr defTabSz="180000"/>
            <a:endParaRPr lang="ko-KR" altLang="en-US" sz="1100" dirty="0"/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/>
              <a:t>led = 6 # GPIO6 </a:t>
            </a:r>
            <a:r>
              <a:rPr lang="ko-KR" altLang="en-US" sz="1100" dirty="0"/>
              <a:t>핀</a:t>
            </a:r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 err="1"/>
              <a:t>GPIO.setup</a:t>
            </a:r>
            <a:r>
              <a:rPr lang="en-US" altLang="ko-KR" sz="1100" dirty="0"/>
              <a:t>(led, GPIO.OUT) # GPIO6 </a:t>
            </a:r>
            <a:r>
              <a:rPr lang="ko-KR" altLang="en-US" sz="1100" dirty="0"/>
              <a:t>핀을 출력으로 지정</a:t>
            </a:r>
            <a:endParaRPr lang="en-US" altLang="ko-KR" sz="1100" dirty="0"/>
          </a:p>
          <a:p>
            <a:pPr defTabSz="180000"/>
            <a:endParaRPr lang="ko-KR" altLang="en-US" sz="1100" dirty="0"/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 err="1"/>
              <a:t>on_off</a:t>
            </a:r>
            <a:r>
              <a:rPr lang="en-US" altLang="ko-KR" sz="1100" dirty="0"/>
              <a:t> = 1 # 1</a:t>
            </a:r>
            <a:r>
              <a:rPr lang="ko-KR" altLang="en-US" sz="1100" dirty="0"/>
              <a:t>은 디지털 출력 값</a:t>
            </a:r>
            <a:r>
              <a:rPr lang="en-US" altLang="ko-KR" sz="1100" dirty="0"/>
              <a:t>. 1 = 5V</a:t>
            </a:r>
          </a:p>
          <a:p>
            <a:pPr defTabSz="180000"/>
            <a:r>
              <a:rPr lang="en-US" altLang="ko-KR" sz="1100" dirty="0"/>
              <a:t>	print("LED</a:t>
            </a:r>
            <a:r>
              <a:rPr lang="ko-KR" altLang="en-US" sz="1100" dirty="0"/>
              <a:t>를 지켜보세요</a:t>
            </a:r>
            <a:r>
              <a:rPr lang="en-US" altLang="ko-KR" sz="1100" dirty="0"/>
              <a:t>.")</a:t>
            </a:r>
          </a:p>
          <a:p>
            <a:pPr defTabSz="180000"/>
            <a:endParaRPr lang="ko-KR" altLang="en-US" sz="1100" dirty="0"/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/>
              <a:t># 5</a:t>
            </a:r>
            <a:r>
              <a:rPr lang="ko-KR" altLang="en-US" sz="1100" dirty="0"/>
              <a:t>번 </a:t>
            </a:r>
            <a:r>
              <a:rPr lang="en-US" altLang="ko-KR" sz="1100" dirty="0"/>
              <a:t>LED</a:t>
            </a:r>
            <a:r>
              <a:rPr lang="ko-KR" altLang="en-US" sz="1100" dirty="0"/>
              <a:t>를 깜박임</a:t>
            </a:r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/>
              <a:t>for </a:t>
            </a:r>
            <a:r>
              <a:rPr lang="en-US" altLang="ko-KR" sz="1100" dirty="0" err="1"/>
              <a:t>i</a:t>
            </a:r>
            <a:r>
              <a:rPr lang="en-US" altLang="ko-KR" sz="1100" dirty="0"/>
              <a:t> in range(5):</a:t>
            </a:r>
          </a:p>
          <a:p>
            <a:pPr defTabSz="180000"/>
            <a:r>
              <a:rPr lang="en-US" altLang="ko-KR" sz="1100" dirty="0"/>
              <a:t>		</a:t>
            </a:r>
            <a:r>
              <a:rPr lang="en-US" altLang="ko-KR" sz="1100" dirty="0" err="1"/>
              <a:t>led_on_off</a:t>
            </a:r>
            <a:r>
              <a:rPr lang="en-US" altLang="ko-KR" sz="1100" dirty="0"/>
              <a:t>(led, </a:t>
            </a:r>
            <a:r>
              <a:rPr lang="en-US" altLang="ko-KR" sz="1100" dirty="0" err="1"/>
              <a:t>on_off</a:t>
            </a:r>
            <a:r>
              <a:rPr lang="en-US" altLang="ko-KR" sz="1100" dirty="0"/>
              <a:t>) # led</a:t>
            </a:r>
            <a:r>
              <a:rPr lang="ko-KR" altLang="en-US" sz="1100" dirty="0"/>
              <a:t>가 연결된 핀에 </a:t>
            </a:r>
            <a:r>
              <a:rPr lang="en-US" altLang="ko-KR" sz="1100" dirty="0"/>
              <a:t>1</a:t>
            </a:r>
            <a:r>
              <a:rPr lang="ko-KR" altLang="en-US" sz="1100" dirty="0"/>
              <a:t>또는 </a:t>
            </a:r>
            <a:r>
              <a:rPr lang="en-US" altLang="ko-KR" sz="1100" dirty="0"/>
              <a:t>0 </a:t>
            </a:r>
            <a:r>
              <a:rPr lang="ko-KR" altLang="en-US" sz="1100" dirty="0"/>
              <a:t>값 출력</a:t>
            </a:r>
          </a:p>
          <a:p>
            <a:pPr defTabSz="180000"/>
            <a:r>
              <a:rPr lang="ko-KR" altLang="en-US" sz="1100" dirty="0"/>
              <a:t>		</a:t>
            </a:r>
            <a:r>
              <a:rPr lang="en-US" altLang="ko-KR" sz="1100" dirty="0" err="1"/>
              <a:t>time.sleep</a:t>
            </a:r>
            <a:r>
              <a:rPr lang="en-US" altLang="ko-KR" sz="1100" dirty="0"/>
              <a:t>(1) # 1</a:t>
            </a:r>
            <a:r>
              <a:rPr lang="ko-KR" altLang="en-US" sz="1100" dirty="0"/>
              <a:t>초 동안 잠자기</a:t>
            </a:r>
          </a:p>
          <a:p>
            <a:pPr defTabSz="180000"/>
            <a:r>
              <a:rPr lang="ko-KR" altLang="en-US" sz="1100" dirty="0"/>
              <a:t>		</a:t>
            </a:r>
            <a:r>
              <a:rPr lang="en-US" altLang="ko-KR" sz="1100" dirty="0"/>
              <a:t>print(</a:t>
            </a:r>
            <a:r>
              <a:rPr lang="en-US" altLang="ko-KR" sz="1100" dirty="0" err="1"/>
              <a:t>i</a:t>
            </a:r>
            <a:r>
              <a:rPr lang="en-US" altLang="ko-KR" sz="1100" dirty="0"/>
              <a:t>, end=' ', flush=True)</a:t>
            </a:r>
          </a:p>
          <a:p>
            <a:pPr defTabSz="180000"/>
            <a:r>
              <a:rPr lang="en-US" altLang="ko-KR" sz="1100" dirty="0"/>
              <a:t>		</a:t>
            </a:r>
            <a:r>
              <a:rPr lang="en-US" altLang="ko-KR" sz="1100" dirty="0" err="1"/>
              <a:t>on_off</a:t>
            </a:r>
            <a:r>
              <a:rPr lang="en-US" altLang="ko-KR" sz="1100" dirty="0"/>
              <a:t> = 0 if </a:t>
            </a:r>
            <a:r>
              <a:rPr lang="en-US" altLang="ko-KR" sz="1100" dirty="0" err="1"/>
              <a:t>on_off</a:t>
            </a:r>
            <a:r>
              <a:rPr lang="en-US" altLang="ko-KR" sz="1100" dirty="0"/>
              <a:t> == 1 else 1 # 0</a:t>
            </a:r>
            <a:r>
              <a:rPr lang="ko-KR" altLang="en-US" sz="1100" dirty="0"/>
              <a:t>과 </a:t>
            </a:r>
            <a:r>
              <a:rPr lang="en-US" altLang="ko-KR" sz="1100" dirty="0"/>
              <a:t>1</a:t>
            </a:r>
            <a:r>
              <a:rPr lang="ko-KR" altLang="en-US" sz="1100" dirty="0"/>
              <a:t>의 </a:t>
            </a:r>
            <a:r>
              <a:rPr lang="ko-KR" altLang="en-US" sz="1100" dirty="0" err="1"/>
              <a:t>토글링</a:t>
            </a:r>
            <a:endParaRPr lang="en-US" altLang="ko-KR" sz="1100" dirty="0"/>
          </a:p>
          <a:p>
            <a:pPr defTabSz="180000"/>
            <a:endParaRPr lang="en-US" altLang="ko-KR" sz="1100" dirty="0"/>
          </a:p>
        </p:txBody>
      </p:sp>
      <p:sp>
        <p:nvSpPr>
          <p:cNvPr id="6" name="직사각형 5"/>
          <p:cNvSpPr/>
          <p:nvPr/>
        </p:nvSpPr>
        <p:spPr>
          <a:xfrm>
            <a:off x="5393575" y="5011668"/>
            <a:ext cx="3372473" cy="14465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100" b="1"/>
              <a:t>(myenv) pi@pi:~/ch08 $</a:t>
            </a:r>
            <a:r>
              <a:rPr lang="en-US" altLang="ko-KR" sz="1100"/>
              <a:t> </a:t>
            </a:r>
            <a:r>
              <a:rPr lang="en-US" altLang="ko-KR" sz="1100" b="1"/>
              <a:t>python 8-1-adv.py</a:t>
            </a:r>
            <a:endParaRPr lang="ko-KR" altLang="en-US" sz="1100" b="1"/>
          </a:p>
          <a:p>
            <a:pPr fontAlgn="base"/>
            <a:r>
              <a:rPr lang="en-US" altLang="ko-KR" sz="1100"/>
              <a:t>LED</a:t>
            </a:r>
            <a:r>
              <a:rPr lang="ko-KR" altLang="en-US" sz="1100"/>
              <a:t>를 지켜보세요</a:t>
            </a:r>
            <a:r>
              <a:rPr lang="en-US" altLang="ko-KR" sz="1100"/>
              <a:t>.</a:t>
            </a:r>
            <a:endParaRPr lang="ko-KR" altLang="en-US" sz="1100"/>
          </a:p>
          <a:p>
            <a:pPr fontAlgn="base"/>
            <a:r>
              <a:rPr lang="en-US" altLang="ko-KR" sz="1100"/>
              <a:t>0 1 2 3 4 cleanup</a:t>
            </a:r>
            <a:endParaRPr lang="ko-KR" altLang="en-US" sz="1100"/>
          </a:p>
          <a:p>
            <a:pPr fontAlgn="base"/>
            <a:r>
              <a:rPr lang="en-US" altLang="ko-KR" sz="1100" b="1"/>
              <a:t>(myenv) pi@pi:~/ch08 $ python 8-1-adv.py</a:t>
            </a:r>
            <a:endParaRPr lang="ko-KR" altLang="en-US" sz="1100" b="1"/>
          </a:p>
          <a:p>
            <a:pPr fontAlgn="base"/>
            <a:r>
              <a:rPr lang="en-US" altLang="ko-KR" sz="1100"/>
              <a:t>LED</a:t>
            </a:r>
            <a:r>
              <a:rPr lang="ko-KR" altLang="en-US" sz="1100"/>
              <a:t>를 지켜보세요</a:t>
            </a:r>
            <a:r>
              <a:rPr lang="en-US" altLang="ko-KR" sz="1100"/>
              <a:t>.</a:t>
            </a:r>
            <a:endParaRPr lang="ko-KR" altLang="en-US" sz="1100"/>
          </a:p>
          <a:p>
            <a:pPr fontAlgn="base"/>
            <a:r>
              <a:rPr lang="en-US" altLang="ko-KR" sz="1100"/>
              <a:t>0 1 2 ^CCtrl+C </a:t>
            </a:r>
            <a:r>
              <a:rPr lang="ko-KR" altLang="en-US" sz="1100"/>
              <a:t>종료</a:t>
            </a:r>
          </a:p>
          <a:p>
            <a:pPr fontAlgn="base"/>
            <a:r>
              <a:rPr lang="en-US" altLang="ko-KR" sz="1100"/>
              <a:t>cleanup</a:t>
            </a:r>
            <a:endParaRPr lang="ko-KR" altLang="en-US" sz="1100"/>
          </a:p>
          <a:p>
            <a:pPr fontAlgn="base"/>
            <a:r>
              <a:rPr lang="en-US" altLang="ko-KR" sz="1100" b="1"/>
              <a:t>(myenv) pi@pi:~/ch08 $</a:t>
            </a:r>
            <a:endParaRPr lang="ko-KR" altLang="en-US" sz="1100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E47E19-A288-4509-BF7B-69CFD2864759}"/>
              </a:ext>
            </a:extLst>
          </p:cNvPr>
          <p:cNvSpPr/>
          <p:nvPr/>
        </p:nvSpPr>
        <p:spPr>
          <a:xfrm>
            <a:off x="5393575" y="2611646"/>
            <a:ext cx="3282001" cy="938719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100" b="1" dirty="0">
                <a:solidFill>
                  <a:schemeClr val="dk1"/>
                </a:solidFill>
              </a:rPr>
              <a:t>except </a:t>
            </a:r>
            <a:r>
              <a:rPr lang="en-US" altLang="ko-KR" sz="1100" b="1" dirty="0" err="1">
                <a:solidFill>
                  <a:schemeClr val="dk1"/>
                </a:solidFill>
              </a:rPr>
              <a:t>KeyboardInterrupt</a:t>
            </a:r>
            <a:r>
              <a:rPr lang="en-US" altLang="ko-KR" sz="1100" b="1" dirty="0">
                <a:solidFill>
                  <a:schemeClr val="dk1"/>
                </a:solidFill>
              </a:rPr>
              <a:t>:</a:t>
            </a:r>
          </a:p>
          <a:p>
            <a:pPr defTabSz="180000"/>
            <a:r>
              <a:rPr lang="en-US" altLang="ko-KR" sz="1100" dirty="0">
                <a:solidFill>
                  <a:schemeClr val="dk1"/>
                </a:solidFill>
              </a:rPr>
              <a:t>	print("</a:t>
            </a:r>
            <a:r>
              <a:rPr lang="en-US" altLang="ko-KR" sz="1100" dirty="0" err="1">
                <a:solidFill>
                  <a:schemeClr val="dk1"/>
                </a:solidFill>
              </a:rPr>
              <a:t>Ctrl+C</a:t>
            </a:r>
            <a:r>
              <a:rPr lang="en-US" altLang="ko-KR" sz="1100" dirty="0">
                <a:solidFill>
                  <a:schemeClr val="dk1"/>
                </a:solidFill>
              </a:rPr>
              <a:t> </a:t>
            </a:r>
            <a:r>
              <a:rPr lang="ko-KR" altLang="en-US" sz="1100" dirty="0">
                <a:solidFill>
                  <a:schemeClr val="dk1"/>
                </a:solidFill>
              </a:rPr>
              <a:t>종료</a:t>
            </a:r>
            <a:r>
              <a:rPr lang="en-US" altLang="ko-KR" sz="1100" dirty="0">
                <a:solidFill>
                  <a:schemeClr val="dk1"/>
                </a:solidFill>
              </a:rPr>
              <a:t>")</a:t>
            </a:r>
            <a:endParaRPr lang="ko-KR" altLang="en-US" sz="1100" dirty="0">
              <a:solidFill>
                <a:schemeClr val="dk1"/>
              </a:solidFill>
            </a:endParaRPr>
          </a:p>
          <a:p>
            <a:pPr defTabSz="180000"/>
            <a:r>
              <a:rPr lang="en-US" altLang="ko-KR" sz="1100" b="1" dirty="0">
                <a:solidFill>
                  <a:schemeClr val="dk1"/>
                </a:solidFill>
              </a:rPr>
              <a:t>finally:</a:t>
            </a:r>
          </a:p>
          <a:p>
            <a:pPr defTabSz="180000"/>
            <a:r>
              <a:rPr lang="en-US" altLang="ko-KR" sz="1100" dirty="0">
                <a:solidFill>
                  <a:schemeClr val="dk1"/>
                </a:solidFill>
              </a:rPr>
              <a:t>	print("cleanup")</a:t>
            </a:r>
          </a:p>
          <a:p>
            <a:pPr defTabSz="180000"/>
            <a:r>
              <a:rPr lang="en-US" altLang="ko-KR" sz="1100" dirty="0">
                <a:solidFill>
                  <a:schemeClr val="dk1"/>
                </a:solidFill>
              </a:rPr>
              <a:t>	</a:t>
            </a:r>
            <a:r>
              <a:rPr lang="en-US" altLang="ko-KR" sz="1100" dirty="0" err="1">
                <a:solidFill>
                  <a:schemeClr val="dk1"/>
                </a:solidFill>
              </a:rPr>
              <a:t>GPIO.cleanup</a:t>
            </a:r>
            <a:r>
              <a:rPr lang="en-US" altLang="ko-KR" sz="1100" dirty="0">
                <a:solidFill>
                  <a:schemeClr val="dk1"/>
                </a:solidFill>
              </a:rPr>
              <a:t>()</a:t>
            </a:r>
            <a:endParaRPr lang="ko-KR" altLang="en-US" sz="1100" dirty="0">
              <a:solidFill>
                <a:schemeClr val="dk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CD93E9-E6DD-4F9A-BAE9-B53F1246B27F}"/>
              </a:ext>
            </a:extLst>
          </p:cNvPr>
          <p:cNvSpPr/>
          <p:nvPr/>
        </p:nvSpPr>
        <p:spPr>
          <a:xfrm>
            <a:off x="143955" y="2345798"/>
            <a:ext cx="10429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400"/>
              <a:t>8-1-adv.py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614207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95CEAAD-1D23-4BF7-84B6-D84AD4CD5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18E3867-EFEE-4899-AFD8-DDAADF545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8.3 </a:t>
            </a:r>
            <a:r>
              <a:rPr lang="ko-KR" altLang="en-US"/>
              <a:t>스위치 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1C9298-5794-41CC-B34E-FE32B1BC1B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365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C1F97BF-49DB-411B-85AF-9EC3713F9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스위치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342468-313F-4AEB-84D7-13522743E1C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택트</a:t>
            </a:r>
            <a:r>
              <a:rPr lang="en-US" altLang="ko-KR"/>
              <a:t> </a:t>
            </a:r>
            <a:r>
              <a:rPr lang="ko-KR" altLang="en-US"/>
              <a:t>스위치</a:t>
            </a:r>
            <a:r>
              <a:rPr lang="en-US" altLang="ko-KR"/>
              <a:t>(tack switch)</a:t>
            </a:r>
          </a:p>
          <a:p>
            <a:pPr lvl="1"/>
            <a:r>
              <a:rPr lang="ko-KR" altLang="en-US"/>
              <a:t>흔한 스위치</a:t>
            </a:r>
            <a:r>
              <a:rPr lang="en-US" altLang="ko-KR"/>
              <a:t>, </a:t>
            </a:r>
            <a:r>
              <a:rPr lang="ko-KR" altLang="en-US"/>
              <a:t>가격 저렴</a:t>
            </a:r>
            <a:r>
              <a:rPr lang="en-US" altLang="ko-KR"/>
              <a:t>, </a:t>
            </a:r>
            <a:r>
              <a:rPr lang="ko-KR" altLang="en-US"/>
              <a:t>내부 회로 단순</a:t>
            </a:r>
            <a:endParaRPr lang="en-US" altLang="ko-KR"/>
          </a:p>
          <a:p>
            <a:pPr lvl="2"/>
            <a:r>
              <a:rPr lang="ko-KR" altLang="en-US"/>
              <a:t>누르면 </a:t>
            </a:r>
            <a:r>
              <a:rPr lang="en-US" altLang="ko-KR"/>
              <a:t>On, </a:t>
            </a:r>
            <a:r>
              <a:rPr lang="ko-KR" altLang="en-US"/>
              <a:t>떼면 </a:t>
            </a:r>
            <a:r>
              <a:rPr lang="en-US" altLang="ko-KR"/>
              <a:t>Off</a:t>
            </a:r>
          </a:p>
          <a:p>
            <a:pPr lvl="1"/>
            <a:r>
              <a:rPr lang="ko-KR" altLang="en-US"/>
              <a:t>가로 세로 높이 </a:t>
            </a:r>
            <a:r>
              <a:rPr lang="en-US" altLang="ko-KR"/>
              <a:t>1cm </a:t>
            </a:r>
            <a:r>
              <a:rPr lang="ko-KR" altLang="en-US"/>
              <a:t>내외 작은 크기</a:t>
            </a:r>
            <a:endParaRPr lang="en-US" altLang="ko-KR"/>
          </a:p>
          <a:p>
            <a:pPr lvl="2"/>
            <a:r>
              <a:rPr lang="ko-KR" altLang="en-US"/>
              <a:t>버튼</a:t>
            </a:r>
            <a:r>
              <a:rPr lang="en-US" altLang="ko-KR"/>
              <a:t>, </a:t>
            </a:r>
            <a:r>
              <a:rPr lang="ko-KR" altLang="en-US"/>
              <a:t>키로도 불림</a:t>
            </a:r>
            <a:endParaRPr lang="en-US" altLang="ko-KR"/>
          </a:p>
          <a:p>
            <a:pPr lvl="2"/>
            <a:r>
              <a:rPr lang="ko-KR" altLang="en-US"/>
              <a:t>택타일 스위치</a:t>
            </a:r>
            <a:r>
              <a:rPr lang="en-US" altLang="ko-KR"/>
              <a:t>(tactile switch)</a:t>
            </a:r>
            <a:r>
              <a:rPr lang="ko-KR" altLang="en-US"/>
              <a:t>로도 부름</a:t>
            </a:r>
            <a:endParaRPr lang="en-US" altLang="ko-KR"/>
          </a:p>
          <a:p>
            <a:pPr lvl="1"/>
            <a:r>
              <a:rPr lang="ko-KR" altLang="en-US"/>
              <a:t>휴대폰</a:t>
            </a:r>
            <a:r>
              <a:rPr lang="en-US" altLang="ko-KR"/>
              <a:t>, MP3, </a:t>
            </a:r>
            <a:r>
              <a:rPr lang="ko-KR" altLang="en-US"/>
              <a:t>네비게이션</a:t>
            </a:r>
            <a:r>
              <a:rPr lang="en-US" altLang="ko-KR"/>
              <a:t>, DMB </a:t>
            </a:r>
            <a:r>
              <a:rPr lang="ko-KR" altLang="en-US"/>
              <a:t>등 소형 가전에 많이 사용</a:t>
            </a:r>
            <a:endParaRPr lang="en-US" altLang="ko-KR"/>
          </a:p>
          <a:p>
            <a:pPr lvl="1"/>
            <a:r>
              <a:rPr lang="ko-KR" altLang="en-US"/>
              <a:t>내부 결선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6C2E37-A7E7-4BD9-9F38-74B48E25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7" name="_x442348768" descr="EMB00003c182d0d">
            <a:extLst>
              <a:ext uri="{FF2B5EF4-FFF2-40B4-BE49-F238E27FC236}">
                <a16:creationId xmlns:a16="http://schemas.microsoft.com/office/drawing/2014/main" id="{92073683-AC6C-479A-AE44-201FDA311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412776"/>
            <a:ext cx="1618766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CDAC85B-143E-48F8-B497-CCDDB6A7B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4483358"/>
            <a:ext cx="6947928" cy="214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31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스위치와 풀업</a:t>
            </a:r>
            <a:r>
              <a:rPr lang="en-US" altLang="ko-KR"/>
              <a:t>(pull-up)/</a:t>
            </a:r>
            <a:r>
              <a:rPr lang="ko-KR" altLang="en-US"/>
              <a:t>풀다운</a:t>
            </a:r>
            <a:r>
              <a:rPr lang="en-US" altLang="ko-KR"/>
              <a:t>(pull-down)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479348-92B0-484F-B069-CE425196EA6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7"/>
            <a:ext cx="8153400" cy="2314218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/>
              <a:t>스위치의 입력 신호 상태</a:t>
            </a:r>
          </a:p>
          <a:p>
            <a:pPr lvl="1"/>
            <a:r>
              <a:rPr lang="ko-KR" altLang="en-US"/>
              <a:t>스위치를 누른 경우 </a:t>
            </a:r>
            <a:r>
              <a:rPr lang="en-US" altLang="ko-KR"/>
              <a:t>- GPIO21 </a:t>
            </a:r>
            <a:r>
              <a:rPr lang="ko-KR" altLang="en-US"/>
              <a:t>핀에 </a:t>
            </a:r>
            <a:r>
              <a:rPr lang="en-US" altLang="ko-KR"/>
              <a:t>5V(HIGH)</a:t>
            </a:r>
            <a:r>
              <a:rPr lang="ko-KR" altLang="en-US"/>
              <a:t> 수신</a:t>
            </a:r>
            <a:endParaRPr lang="en-US" altLang="ko-KR"/>
          </a:p>
          <a:p>
            <a:pPr lvl="1"/>
            <a:r>
              <a:rPr lang="ko-KR" altLang="en-US"/>
              <a:t>스위치를 누르지 않은 경우 </a:t>
            </a:r>
            <a:r>
              <a:rPr lang="en-US" altLang="ko-KR"/>
              <a:t>- GPIO21 </a:t>
            </a:r>
            <a:r>
              <a:rPr lang="ko-KR" altLang="en-US"/>
              <a:t>핀의 값 플로팅 상태</a:t>
            </a:r>
            <a:endParaRPr lang="en-US" altLang="ko-KR"/>
          </a:p>
          <a:p>
            <a:r>
              <a:rPr lang="en-US" altLang="ko-KR"/>
              <a:t> </a:t>
            </a:r>
            <a:r>
              <a:rPr lang="ko-KR" altLang="en-US"/>
              <a:t>풀다운</a:t>
            </a:r>
            <a:r>
              <a:rPr lang="en-US" altLang="ko-KR"/>
              <a:t>(pull-down)</a:t>
            </a:r>
          </a:p>
          <a:p>
            <a:pPr lvl="1"/>
            <a:r>
              <a:rPr lang="ko-KR" altLang="en-US"/>
              <a:t>스위치를 누르지 않는 상태에서 입력되는 플로팅 상태를 </a:t>
            </a:r>
            <a:r>
              <a:rPr lang="en-US" altLang="ko-KR"/>
              <a:t>0V </a:t>
            </a:r>
            <a:r>
              <a:rPr lang="ko-KR" altLang="en-US"/>
              <a:t>입력으로 처리</a:t>
            </a:r>
            <a:endParaRPr lang="en-US" altLang="ko-KR"/>
          </a:p>
          <a:p>
            <a:pPr lvl="1"/>
            <a:r>
              <a:rPr lang="en-US" altLang="ko-KR" b="1"/>
              <a:t>GPIO.setup(21, GPIO.IN, GPIO.PUD_DOWN) # GPIO21 </a:t>
            </a:r>
            <a:r>
              <a:rPr lang="ko-KR" altLang="en-US" b="1"/>
              <a:t>핀에 풀다운 효과 지정</a:t>
            </a:r>
            <a:endParaRPr lang="en-US" altLang="ko-KR" b="1"/>
          </a:p>
          <a:p>
            <a:r>
              <a:rPr lang="ko-KR" altLang="en-US"/>
              <a:t>풀업 효과</a:t>
            </a:r>
            <a:r>
              <a:rPr lang="en-US" altLang="ko-KR"/>
              <a:t>(pull-up)</a:t>
            </a:r>
          </a:p>
          <a:p>
            <a:pPr lvl="1"/>
            <a:r>
              <a:rPr lang="ko-KR" altLang="en-US"/>
              <a:t>스위치를 누르지 않는 상태에서 입력되는 플로팅 상태를 </a:t>
            </a:r>
            <a:r>
              <a:rPr lang="en-US" altLang="ko-KR"/>
              <a:t>5V </a:t>
            </a:r>
            <a:r>
              <a:rPr lang="ko-KR" altLang="en-US"/>
              <a:t>입력으로 처리</a:t>
            </a:r>
            <a:endParaRPr lang="en-US" altLang="ko-KR"/>
          </a:p>
          <a:p>
            <a:pPr lvl="1"/>
            <a:r>
              <a:rPr lang="en-US" altLang="ko-KR" b="1"/>
              <a:t>GPIO.setup(21, GPIO.IN, GPIO.PUD_UP) # GPIO21 </a:t>
            </a:r>
            <a:r>
              <a:rPr lang="ko-KR" altLang="en-US" b="1"/>
              <a:t>핀에 풀업 효과 지정</a:t>
            </a:r>
            <a:endParaRPr lang="en-US" altLang="ko-KR" b="1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539FD57-7917-4183-A414-B1E6A23DD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764747"/>
            <a:ext cx="7200800" cy="286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55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BD30D-E8BB-3C43-A3BB-4D974BC9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스위치 제어 실습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397C3-2984-C94A-88D0-CD35BB9F67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2827767"/>
          </a:xfrm>
        </p:spPr>
        <p:txBody>
          <a:bodyPr>
            <a:normAutofit fontScale="92500"/>
          </a:bodyPr>
          <a:lstStyle/>
          <a:p>
            <a:r>
              <a:rPr kumimoji="1" lang="ko-KR" altLang="en-US" dirty="0"/>
              <a:t>실습 내용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스위치의 </a:t>
            </a:r>
            <a:r>
              <a:rPr kumimoji="1" lang="en-US" altLang="ko-KR" dirty="0"/>
              <a:t>on/off</a:t>
            </a:r>
            <a:r>
              <a:rPr kumimoji="1" lang="ko-KR" altLang="en-US" dirty="0"/>
              <a:t>에 따라 </a:t>
            </a:r>
            <a:r>
              <a:rPr kumimoji="1" lang="en-US" altLang="ko-KR" dirty="0"/>
              <a:t>LED</a:t>
            </a:r>
            <a:r>
              <a:rPr kumimoji="1" lang="ko-KR" altLang="en-US" dirty="0"/>
              <a:t>를 켜고 끄기</a:t>
            </a:r>
            <a:endParaRPr kumimoji="1" lang="en-US" altLang="ko-KR" dirty="0"/>
          </a:p>
          <a:p>
            <a:r>
              <a:rPr kumimoji="1" lang="ko-KR" altLang="en-US" dirty="0"/>
              <a:t>부품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LED 1</a:t>
            </a:r>
            <a:r>
              <a:rPr kumimoji="1" lang="ko-KR" altLang="en-US" dirty="0"/>
              <a:t>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저항 </a:t>
            </a:r>
            <a:r>
              <a:rPr kumimoji="1" lang="en-US" altLang="ko-KR" dirty="0"/>
              <a:t>220</a:t>
            </a:r>
            <a:r>
              <a:rPr lang="ko-KR" altLang="ko-KR" kern="0" spc="-60" dirty="0" err="1">
                <a:latin typeface="+mj-ea"/>
              </a:rPr>
              <a:t>Ω</a:t>
            </a:r>
            <a:r>
              <a:rPr lang="ko-KR" altLang="ko-KR" kern="0" spc="-60" dirty="0">
                <a:latin typeface="+mj-ea"/>
              </a:rPr>
              <a:t> </a:t>
            </a:r>
            <a:r>
              <a:rPr lang="en-US" altLang="ko-KR" kern="0" spc="-60" dirty="0">
                <a:latin typeface="+mj-ea"/>
              </a:rPr>
              <a:t>1</a:t>
            </a:r>
            <a:r>
              <a:rPr lang="ko-KR" altLang="en-US" kern="0" spc="-60" dirty="0">
                <a:latin typeface="+mj-ea"/>
              </a:rPr>
              <a:t>개</a:t>
            </a:r>
            <a:r>
              <a:rPr lang="en-US" altLang="ko-KR" kern="0" spc="-60" dirty="0">
                <a:latin typeface="+mj-ea"/>
              </a:rPr>
              <a:t>, </a:t>
            </a:r>
            <a:r>
              <a:rPr lang="ko-KR" altLang="en-US" kern="0" spc="-60" dirty="0" err="1">
                <a:latin typeface="+mj-ea"/>
              </a:rPr>
              <a:t>택트</a:t>
            </a:r>
            <a:r>
              <a:rPr lang="ko-KR" altLang="en-US" kern="0" spc="-60" dirty="0">
                <a:latin typeface="+mj-ea"/>
              </a:rPr>
              <a:t> </a:t>
            </a:r>
            <a:r>
              <a:rPr lang="ko-KR" altLang="en-US" kern="0" spc="-60" dirty="0">
                <a:latin typeface="+mj-ea"/>
                <a:cs typeface="Times New Roman" panose="02020603050405020304" pitchFamily="18" charset="0"/>
              </a:rPr>
              <a:t>스위치 </a:t>
            </a:r>
            <a:r>
              <a:rPr lang="en-US" altLang="ko-KR" kern="0" spc="-60" dirty="0">
                <a:latin typeface="+mj-ea"/>
                <a:cs typeface="Times New Roman" panose="02020603050405020304" pitchFamily="18" charset="0"/>
              </a:rPr>
              <a:t>1</a:t>
            </a:r>
            <a:r>
              <a:rPr lang="ko-KR" altLang="en-US" kern="0" spc="-60" dirty="0">
                <a:latin typeface="+mj-ea"/>
                <a:cs typeface="Times New Roman" panose="02020603050405020304" pitchFamily="18" charset="0"/>
              </a:rPr>
              <a:t>개</a:t>
            </a:r>
            <a:endParaRPr lang="en-US" altLang="ko-KR" kern="0" spc="-60" dirty="0">
              <a:latin typeface="+mj-ea"/>
              <a:cs typeface="Times New Roman" panose="02020603050405020304" pitchFamily="18" charset="0"/>
            </a:endParaRPr>
          </a:p>
          <a:p>
            <a:pPr lvl="1"/>
            <a:r>
              <a:rPr lang="en-US" altLang="ko-KR" kern="100" dirty="0">
                <a:latin typeface="+mj-ea"/>
                <a:cs typeface="Times New Roman" panose="02020603050405020304" pitchFamily="18" charset="0"/>
              </a:rPr>
              <a:t>GPIO6 </a:t>
            </a:r>
            <a:r>
              <a:rPr lang="ko-KR" altLang="en-US" kern="100" dirty="0">
                <a:latin typeface="+mj-ea"/>
                <a:cs typeface="Times New Roman" panose="02020603050405020304" pitchFamily="18" charset="0"/>
              </a:rPr>
              <a:t>핀 </a:t>
            </a:r>
            <a:r>
              <a:rPr lang="en-US" altLang="ko-KR" kern="100" dirty="0">
                <a:latin typeface="+mj-ea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latin typeface="+mj-ea"/>
                <a:cs typeface="Times New Roman" panose="02020603050405020304" pitchFamily="18" charset="0"/>
              </a:rPr>
              <a:t>출력용</a:t>
            </a:r>
            <a:r>
              <a:rPr lang="en-US" altLang="ko-KR" kern="100" dirty="0">
                <a:latin typeface="+mj-ea"/>
                <a:cs typeface="Times New Roman" panose="02020603050405020304" pitchFamily="18" charset="0"/>
              </a:rPr>
              <a:t>) - LED</a:t>
            </a:r>
            <a:r>
              <a:rPr lang="ko-KR" altLang="en-US" kern="100" dirty="0">
                <a:latin typeface="+mj-ea"/>
                <a:cs typeface="Times New Roman" panose="02020603050405020304" pitchFamily="18" charset="0"/>
              </a:rPr>
              <a:t>의 긴 다리에 연결</a:t>
            </a:r>
            <a:r>
              <a:rPr lang="en-US" altLang="ko-KR" kern="100" dirty="0">
                <a:latin typeface="+mj-ea"/>
                <a:cs typeface="Times New Roman" panose="02020603050405020304" pitchFamily="18" charset="0"/>
              </a:rPr>
              <a:t>, </a:t>
            </a:r>
            <a:r>
              <a:rPr lang="ko-KR" altLang="en-US" kern="100" dirty="0">
                <a:latin typeface="+mj-ea"/>
                <a:cs typeface="Times New Roman" panose="02020603050405020304" pitchFamily="18" charset="0"/>
              </a:rPr>
              <a:t>출력으로 사용</a:t>
            </a:r>
            <a:endParaRPr lang="en-US" altLang="ko-KR" kern="100" dirty="0">
              <a:latin typeface="+mj-ea"/>
              <a:cs typeface="Times New Roman" panose="02020603050405020304" pitchFamily="18" charset="0"/>
            </a:endParaRPr>
          </a:p>
          <a:p>
            <a:pPr lvl="1"/>
            <a:r>
              <a:rPr lang="en-US" altLang="ko-KR" kern="100" dirty="0">
                <a:latin typeface="+mj-ea"/>
                <a:cs typeface="Times New Roman" panose="02020603050405020304" pitchFamily="18" charset="0"/>
              </a:rPr>
              <a:t>GPIO21</a:t>
            </a:r>
            <a:r>
              <a:rPr lang="ko-KR" altLang="en-US" kern="100" dirty="0">
                <a:latin typeface="+mj-ea"/>
                <a:cs typeface="Times New Roman" panose="02020603050405020304" pitchFamily="18" charset="0"/>
              </a:rPr>
              <a:t> 핀 </a:t>
            </a:r>
            <a:r>
              <a:rPr lang="en-US" altLang="ko-KR" kern="100" dirty="0">
                <a:latin typeface="+mj-ea"/>
                <a:cs typeface="Times New Roman" panose="02020603050405020304" pitchFamily="18" charset="0"/>
              </a:rPr>
              <a:t>(</a:t>
            </a:r>
            <a:r>
              <a:rPr lang="ko-KR" altLang="en-US" kern="100" dirty="0">
                <a:latin typeface="+mj-ea"/>
                <a:cs typeface="Times New Roman" panose="02020603050405020304" pitchFamily="18" charset="0"/>
              </a:rPr>
              <a:t>입력용</a:t>
            </a:r>
            <a:r>
              <a:rPr lang="en-US" altLang="ko-KR" kern="100" dirty="0">
                <a:latin typeface="+mj-ea"/>
                <a:cs typeface="Times New Roman" panose="02020603050405020304" pitchFamily="18" charset="0"/>
              </a:rPr>
              <a:t>) - </a:t>
            </a:r>
            <a:r>
              <a:rPr lang="ko-KR" altLang="en-US" kern="100" dirty="0" err="1">
                <a:latin typeface="+mj-ea"/>
                <a:cs typeface="Times New Roman" panose="02020603050405020304" pitchFamily="18" charset="0"/>
              </a:rPr>
              <a:t>택트</a:t>
            </a:r>
            <a:r>
              <a:rPr lang="ko-KR" altLang="en-US" kern="100" dirty="0">
                <a:latin typeface="+mj-ea"/>
                <a:cs typeface="Times New Roman" panose="02020603050405020304" pitchFamily="18" charset="0"/>
              </a:rPr>
              <a:t> 스위치 </a:t>
            </a:r>
            <a:r>
              <a:rPr lang="en-US" altLang="ko-KR" kern="100" dirty="0">
                <a:latin typeface="+mj-ea"/>
                <a:cs typeface="Times New Roman" panose="02020603050405020304" pitchFamily="18" charset="0"/>
              </a:rPr>
              <a:t>2</a:t>
            </a:r>
            <a:r>
              <a:rPr lang="ko-KR" altLang="en-US" kern="100" dirty="0">
                <a:latin typeface="+mj-ea"/>
                <a:cs typeface="Times New Roman" panose="02020603050405020304" pitchFamily="18" charset="0"/>
              </a:rPr>
              <a:t>번 다리에 연결</a:t>
            </a:r>
            <a:r>
              <a:rPr lang="en-US" altLang="ko-KR" kern="100" dirty="0">
                <a:latin typeface="+mj-ea"/>
                <a:cs typeface="Times New Roman" panose="02020603050405020304" pitchFamily="18" charset="0"/>
              </a:rPr>
              <a:t>,</a:t>
            </a:r>
            <a:r>
              <a:rPr lang="ko-KR" altLang="en-US" kern="100" dirty="0">
                <a:latin typeface="+mj-ea"/>
                <a:cs typeface="Times New Roman" panose="02020603050405020304" pitchFamily="18" charset="0"/>
              </a:rPr>
              <a:t> 입력으로 사용</a:t>
            </a:r>
            <a:endParaRPr lang="en-US" altLang="ko-KR" kern="100" dirty="0">
              <a:latin typeface="+mj-ea"/>
              <a:cs typeface="Times New Roman" panose="02020603050405020304" pitchFamily="18" charset="0"/>
            </a:endParaRPr>
          </a:p>
          <a:p>
            <a:r>
              <a:rPr lang="ko-KR" altLang="en-US" kern="100" dirty="0">
                <a:latin typeface="+mj-ea"/>
                <a:cs typeface="Times New Roman" panose="02020603050405020304" pitchFamily="18" charset="0"/>
              </a:rPr>
              <a:t>회로 구성</a:t>
            </a:r>
            <a:endParaRPr lang="ko-KR" altLang="ko-KR" kern="100" dirty="0">
              <a:latin typeface="+mj-ea"/>
              <a:cs typeface="Times New Roman" panose="02020603050405020304" pitchFamily="18" charset="0"/>
            </a:endParaRPr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2A494-897F-0544-8297-F5DBBB71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11EA1E5-B4D4-454C-A44D-1026B6D92829}"/>
              </a:ext>
            </a:extLst>
          </p:cNvPr>
          <p:cNvGrpSpPr/>
          <p:nvPr/>
        </p:nvGrpSpPr>
        <p:grpSpPr>
          <a:xfrm>
            <a:off x="1691680" y="4251256"/>
            <a:ext cx="6322314" cy="2531952"/>
            <a:chOff x="1175753" y="27380"/>
            <a:chExt cx="6322314" cy="25319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0F56ED-B83A-4E60-AF1C-FB125F2E58BC}"/>
                </a:ext>
              </a:extLst>
            </p:cNvPr>
            <p:cNvSpPr txBox="1"/>
            <p:nvPr/>
          </p:nvSpPr>
          <p:spPr>
            <a:xfrm>
              <a:off x="1175753" y="27380"/>
              <a:ext cx="80021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dirty="0" err="1"/>
                <a:t>GPIO21</a:t>
              </a:r>
              <a:endParaRPr kumimoji="1" lang="ko-KR" altLang="en-US" sz="1400" dirty="0"/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1000D34-AC2E-4141-B200-5417F690E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18911" y="603345"/>
              <a:ext cx="2744837" cy="133083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839D03-F65F-4A37-8A51-563A5E9E7660}"/>
                </a:ext>
              </a:extLst>
            </p:cNvPr>
            <p:cNvSpPr txBox="1"/>
            <p:nvPr/>
          </p:nvSpPr>
          <p:spPr>
            <a:xfrm>
              <a:off x="1331640" y="1279473"/>
              <a:ext cx="700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/>
                <a:t>GPIO6</a:t>
              </a:r>
              <a:endParaRPr kumimoji="1" lang="ko-KR" altLang="en-US" sz="1400" dirty="0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721CA5F-B4A0-416D-A98C-BA82DFD31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7374" y="1305455"/>
              <a:ext cx="942809" cy="29576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FDCE44-393C-4A29-989C-C54E90B05EEF}"/>
                </a:ext>
              </a:extLst>
            </p:cNvPr>
            <p:cNvSpPr txBox="1"/>
            <p:nvPr/>
          </p:nvSpPr>
          <p:spPr>
            <a:xfrm>
              <a:off x="2334472" y="1576871"/>
              <a:ext cx="95571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/>
                <a:t>220</a:t>
              </a:r>
              <a:r>
                <a:rPr kumimoji="1" lang="ko-KR" altLang="en-US" sz="1200"/>
                <a:t>옴 저항</a:t>
              </a:r>
              <a:endParaRPr kumimoji="1" lang="ko-KR" alt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47B2EC-995D-43E1-ACAF-24A213D0D833}"/>
                </a:ext>
              </a:extLst>
            </p:cNvPr>
            <p:cNvSpPr txBox="1"/>
            <p:nvPr/>
          </p:nvSpPr>
          <p:spPr>
            <a:xfrm>
              <a:off x="4632206" y="887755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 b="1"/>
                <a:t>LED</a:t>
              </a:r>
              <a:endParaRPr kumimoji="1" lang="ko-KR" altLang="en-US" sz="1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981E97-17BA-44A0-BB59-BAE4A18386C1}"/>
                </a:ext>
              </a:extLst>
            </p:cNvPr>
            <p:cNvSpPr txBox="1"/>
            <p:nvPr/>
          </p:nvSpPr>
          <p:spPr>
            <a:xfrm>
              <a:off x="1398570" y="713147"/>
              <a:ext cx="5774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GND</a:t>
              </a:r>
              <a:endParaRPr kumimoji="1" lang="ko-KR" altLang="en-US" sz="1400" dirty="0"/>
            </a:p>
          </p:txBody>
        </p:sp>
        <p:sp>
          <p:nvSpPr>
            <p:cNvPr id="13" name="모서리가 둥근 직사각형 18">
              <a:extLst>
                <a:ext uri="{FF2B5EF4-FFF2-40B4-BE49-F238E27FC236}">
                  <a16:creationId xmlns:a16="http://schemas.microsoft.com/office/drawing/2014/main" id="{5DD9429D-C26F-4F2B-8B0C-CE794E20B194}"/>
                </a:ext>
              </a:extLst>
            </p:cNvPr>
            <p:cNvSpPr/>
            <p:nvPr/>
          </p:nvSpPr>
          <p:spPr>
            <a:xfrm>
              <a:off x="3290183" y="548680"/>
              <a:ext cx="1372756" cy="1046641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078DCC1-9EE8-4FBA-A863-75233F5B22D0}"/>
                </a:ext>
              </a:extLst>
            </p:cNvPr>
            <p:cNvCxnSpPr>
              <a:cxnSpLocks/>
            </p:cNvCxnSpPr>
            <p:nvPr/>
          </p:nvCxnSpPr>
          <p:spPr>
            <a:xfrm>
              <a:off x="1975972" y="856820"/>
              <a:ext cx="1553572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0CB14B-3D3A-4CD2-87DF-A7917BA05904}"/>
                </a:ext>
              </a:extLst>
            </p:cNvPr>
            <p:cNvSpPr txBox="1"/>
            <p:nvPr/>
          </p:nvSpPr>
          <p:spPr>
            <a:xfrm>
              <a:off x="3824136" y="1320754"/>
              <a:ext cx="716543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050"/>
                <a:t>긴다리</a:t>
              </a:r>
              <a:r>
                <a:rPr kumimoji="1" lang="en-US" altLang="ko-KR" sz="1050"/>
                <a:t>(+</a:t>
              </a:r>
              <a:r>
                <a:rPr kumimoji="1" lang="ko-KR" altLang="en-US" sz="1050"/>
                <a:t>극</a:t>
              </a:r>
              <a:r>
                <a:rPr kumimoji="1" lang="en-US" altLang="ko-KR" sz="1050"/>
                <a:t>)</a:t>
              </a:r>
              <a:endParaRPr kumimoji="1" lang="ko-KR" altLang="en-US" sz="1050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C42631E-7ED0-4ACE-A675-3B3C1AB85F24}"/>
                </a:ext>
              </a:extLst>
            </p:cNvPr>
            <p:cNvSpPr/>
            <p:nvPr/>
          </p:nvSpPr>
          <p:spPr>
            <a:xfrm>
              <a:off x="3483709" y="912368"/>
              <a:ext cx="451395" cy="258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595AE61-4861-4B8C-A03B-92D3252A3B44}"/>
                </a:ext>
              </a:extLst>
            </p:cNvPr>
            <p:cNvSpPr txBox="1"/>
            <p:nvPr/>
          </p:nvSpPr>
          <p:spPr>
            <a:xfrm>
              <a:off x="3529544" y="647328"/>
              <a:ext cx="811119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050"/>
                <a:t>짧은다리</a:t>
              </a:r>
              <a:r>
                <a:rPr kumimoji="1" lang="en-US" altLang="ko-KR" sz="1050"/>
                <a:t>(-</a:t>
              </a:r>
              <a:r>
                <a:rPr kumimoji="1" lang="ko-KR" altLang="en-US" sz="1050"/>
                <a:t>극</a:t>
              </a:r>
              <a:r>
                <a:rPr kumimoji="1" lang="en-US" altLang="ko-KR" sz="1050"/>
                <a:t>)</a:t>
              </a:r>
              <a:endParaRPr kumimoji="1" lang="ko-KR" altLang="en-US" sz="105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59A507A-3DE4-4334-B29E-0454D63C3185}"/>
                </a:ext>
              </a:extLst>
            </p:cNvPr>
            <p:cNvSpPr/>
            <p:nvPr/>
          </p:nvSpPr>
          <p:spPr>
            <a:xfrm>
              <a:off x="5735919" y="778191"/>
              <a:ext cx="1008112" cy="936104"/>
            </a:xfrm>
            <a:prstGeom prst="roundRect">
              <a:avLst>
                <a:gd name="adj" fmla="val 4285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2367C40-88F7-4BFE-A02A-150A58CDE7B2}"/>
                </a:ext>
              </a:extLst>
            </p:cNvPr>
            <p:cNvSpPr/>
            <p:nvPr/>
          </p:nvSpPr>
          <p:spPr>
            <a:xfrm>
              <a:off x="6029490" y="1039362"/>
              <a:ext cx="420970" cy="42097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AA0D6F4-FE92-4FB4-B977-5E3AF560FB02}"/>
                </a:ext>
              </a:extLst>
            </p:cNvPr>
            <p:cNvSpPr/>
            <p:nvPr/>
          </p:nvSpPr>
          <p:spPr>
            <a:xfrm>
              <a:off x="6066020" y="1064900"/>
              <a:ext cx="347909" cy="34790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8C378331-49A6-45DA-B913-8A7A5D1CB2B3}"/>
                </a:ext>
              </a:extLst>
            </p:cNvPr>
            <p:cNvGrpSpPr/>
            <p:nvPr/>
          </p:nvGrpSpPr>
          <p:grpSpPr>
            <a:xfrm>
              <a:off x="5854310" y="877060"/>
              <a:ext cx="825195" cy="738366"/>
              <a:chOff x="2182989" y="3815901"/>
              <a:chExt cx="825195" cy="738366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8B084088-4D74-417D-A6D8-7135EF90428F}"/>
                  </a:ext>
                </a:extLst>
              </p:cNvPr>
              <p:cNvSpPr/>
              <p:nvPr/>
            </p:nvSpPr>
            <p:spPr>
              <a:xfrm>
                <a:off x="2182989" y="3815901"/>
                <a:ext cx="162302" cy="1623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844ADC00-DAB8-4C67-9F11-EF7EFB8F6A22}"/>
                  </a:ext>
                </a:extLst>
              </p:cNvPr>
              <p:cNvSpPr/>
              <p:nvPr/>
            </p:nvSpPr>
            <p:spPr>
              <a:xfrm>
                <a:off x="2842471" y="3815901"/>
                <a:ext cx="162302" cy="1623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881ED96A-94C9-411C-86BB-2B40841829C0}"/>
                  </a:ext>
                </a:extLst>
              </p:cNvPr>
              <p:cNvSpPr/>
              <p:nvPr/>
            </p:nvSpPr>
            <p:spPr>
              <a:xfrm>
                <a:off x="2186400" y="4391965"/>
                <a:ext cx="162302" cy="1623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6E3458CC-4EB8-4394-AD12-F9BF2C6E643E}"/>
                  </a:ext>
                </a:extLst>
              </p:cNvPr>
              <p:cNvSpPr/>
              <p:nvPr/>
            </p:nvSpPr>
            <p:spPr>
              <a:xfrm>
                <a:off x="2845882" y="4391965"/>
                <a:ext cx="162302" cy="1623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4358B3E-57ED-4643-90C4-E5C77DCC010C}"/>
                </a:ext>
              </a:extLst>
            </p:cNvPr>
            <p:cNvGrpSpPr/>
            <p:nvPr/>
          </p:nvGrpSpPr>
          <p:grpSpPr>
            <a:xfrm>
              <a:off x="5846693" y="863232"/>
              <a:ext cx="825195" cy="738366"/>
              <a:chOff x="4612911" y="4077072"/>
              <a:chExt cx="825195" cy="738366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C6932C8D-1E31-4ECE-B237-0272B9E5570E}"/>
                  </a:ext>
                </a:extLst>
              </p:cNvPr>
              <p:cNvSpPr/>
              <p:nvPr/>
            </p:nvSpPr>
            <p:spPr>
              <a:xfrm>
                <a:off x="4612911" y="4077072"/>
                <a:ext cx="162302" cy="1623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BEE63BE2-96A0-4886-B42B-F4738C1C5FC0}"/>
                  </a:ext>
                </a:extLst>
              </p:cNvPr>
              <p:cNvSpPr/>
              <p:nvPr/>
            </p:nvSpPr>
            <p:spPr>
              <a:xfrm>
                <a:off x="5272393" y="4077072"/>
                <a:ext cx="162302" cy="1623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BC54B2D2-539F-4604-8D1F-7218538B0C2B}"/>
                  </a:ext>
                </a:extLst>
              </p:cNvPr>
              <p:cNvSpPr/>
              <p:nvPr/>
            </p:nvSpPr>
            <p:spPr>
              <a:xfrm>
                <a:off x="4616322" y="4653136"/>
                <a:ext cx="162302" cy="1623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057A921E-A170-419A-9466-3A9C37B50500}"/>
                  </a:ext>
                </a:extLst>
              </p:cNvPr>
              <p:cNvSpPr/>
              <p:nvPr/>
            </p:nvSpPr>
            <p:spPr>
              <a:xfrm>
                <a:off x="5275804" y="4653136"/>
                <a:ext cx="162302" cy="1623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2356131-6B02-4938-9677-FE2524CBAABC}"/>
                </a:ext>
              </a:extLst>
            </p:cNvPr>
            <p:cNvSpPr/>
            <p:nvPr/>
          </p:nvSpPr>
          <p:spPr>
            <a:xfrm>
              <a:off x="5854310" y="1709291"/>
              <a:ext cx="97633" cy="28626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CF770F2-DD7E-4F2F-8B3C-C4757D959D7B}"/>
                </a:ext>
              </a:extLst>
            </p:cNvPr>
            <p:cNvSpPr/>
            <p:nvPr/>
          </p:nvSpPr>
          <p:spPr>
            <a:xfrm>
              <a:off x="6566918" y="1709291"/>
              <a:ext cx="97633" cy="28626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D5A740F-8453-4334-AF29-D135EDB1F07D}"/>
                </a:ext>
              </a:extLst>
            </p:cNvPr>
            <p:cNvSpPr/>
            <p:nvPr/>
          </p:nvSpPr>
          <p:spPr>
            <a:xfrm>
              <a:off x="5846693" y="490558"/>
              <a:ext cx="97633" cy="28626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24CCA52-1255-43DE-9FBD-2DDE5E8F7642}"/>
                </a:ext>
              </a:extLst>
            </p:cNvPr>
            <p:cNvSpPr/>
            <p:nvPr/>
          </p:nvSpPr>
          <p:spPr>
            <a:xfrm>
              <a:off x="6559301" y="490558"/>
              <a:ext cx="97633" cy="28626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25CC6B0-9DBC-480F-B76E-D341F3F70C31}"/>
                </a:ext>
              </a:extLst>
            </p:cNvPr>
            <p:cNvSpPr/>
            <p:nvPr/>
          </p:nvSpPr>
          <p:spPr>
            <a:xfrm>
              <a:off x="5902816" y="1722037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>
                  <a:solidFill>
                    <a:srgbClr val="C00000"/>
                  </a:solidFill>
                </a:rPr>
                <a:t>①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FCF9223-3075-4C1C-91DC-D7FFBCB654E9}"/>
                </a:ext>
              </a:extLst>
            </p:cNvPr>
            <p:cNvSpPr/>
            <p:nvPr/>
          </p:nvSpPr>
          <p:spPr>
            <a:xfrm>
              <a:off x="5908760" y="344593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>
                  <a:solidFill>
                    <a:srgbClr val="C00000"/>
                  </a:solidFill>
                </a:rPr>
                <a:t>②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8E6FCF2-F01C-4917-AB88-A57B494410D5}"/>
                </a:ext>
              </a:extLst>
            </p:cNvPr>
            <p:cNvSpPr/>
            <p:nvPr/>
          </p:nvSpPr>
          <p:spPr>
            <a:xfrm>
              <a:off x="6612435" y="1722037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>
                  <a:solidFill>
                    <a:srgbClr val="00B0F0"/>
                  </a:solidFill>
                </a:rPr>
                <a:t>③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E5F66719-B689-43AA-98D3-096E303054B9}"/>
                </a:ext>
              </a:extLst>
            </p:cNvPr>
            <p:cNvSpPr/>
            <p:nvPr/>
          </p:nvSpPr>
          <p:spPr>
            <a:xfrm>
              <a:off x="6628985" y="336993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>
                  <a:solidFill>
                    <a:srgbClr val="00B0F0"/>
                  </a:solidFill>
                </a:rPr>
                <a:t>④</a:t>
              </a:r>
            </a:p>
          </p:txBody>
        </p:sp>
        <p:cxnSp>
          <p:nvCxnSpPr>
            <p:cNvPr id="31" name="꺾인 연결선 28">
              <a:extLst>
                <a:ext uri="{FF2B5EF4-FFF2-40B4-BE49-F238E27FC236}">
                  <a16:creationId xmlns:a16="http://schemas.microsoft.com/office/drawing/2014/main" id="{3A003E69-F984-40F7-82A3-4E658E1498C6}"/>
                </a:ext>
              </a:extLst>
            </p:cNvPr>
            <p:cNvCxnSpPr>
              <a:cxnSpLocks/>
              <a:stCxn id="25" idx="0"/>
              <a:endCxn id="6" idx="3"/>
            </p:cNvCxnSpPr>
            <p:nvPr/>
          </p:nvCxnSpPr>
          <p:spPr>
            <a:xfrm rot="16200000" flipV="1">
              <a:off x="3781097" y="-1623855"/>
              <a:ext cx="309289" cy="3919538"/>
            </a:xfrm>
            <a:prstGeom prst="bentConnector2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70C0CFE-EF2F-4E50-AE34-7E2F8AD6D84D}"/>
                </a:ext>
              </a:extLst>
            </p:cNvPr>
            <p:cNvSpPr txBox="1"/>
            <p:nvPr/>
          </p:nvSpPr>
          <p:spPr>
            <a:xfrm>
              <a:off x="1331640" y="2251555"/>
              <a:ext cx="3978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400"/>
                <a:t>5V</a:t>
              </a:r>
              <a:endParaRPr kumimoji="1" lang="ko-KR" altLang="en-US" sz="1400" dirty="0"/>
            </a:p>
          </p:txBody>
        </p:sp>
        <p:cxnSp>
          <p:nvCxnSpPr>
            <p:cNvPr id="33" name="꺾인 연결선 28">
              <a:extLst>
                <a:ext uri="{FF2B5EF4-FFF2-40B4-BE49-F238E27FC236}">
                  <a16:creationId xmlns:a16="http://schemas.microsoft.com/office/drawing/2014/main" id="{3A74D182-28C2-40AE-97B2-5BE982A722EC}"/>
                </a:ext>
              </a:extLst>
            </p:cNvPr>
            <p:cNvCxnSpPr>
              <a:cxnSpLocks/>
              <a:stCxn id="24" idx="2"/>
              <a:endCxn id="32" idx="3"/>
            </p:cNvCxnSpPr>
            <p:nvPr/>
          </p:nvCxnSpPr>
          <p:spPr>
            <a:xfrm rot="5400000">
              <a:off x="3967678" y="-242614"/>
              <a:ext cx="409887" cy="4886229"/>
            </a:xfrm>
            <a:prstGeom prst="bentConnector2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D8AA79E-A26B-4E47-BF5D-502875466AC5}"/>
                </a:ext>
              </a:extLst>
            </p:cNvPr>
            <p:cNvSpPr txBox="1"/>
            <p:nvPr/>
          </p:nvSpPr>
          <p:spPr>
            <a:xfrm>
              <a:off x="6774792" y="1041643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400" b="1"/>
                <a:t>스위치</a:t>
              </a:r>
              <a:endParaRPr kumimoji="1"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811755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75B83-4D16-4643-AFC8-E22F925F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스위치 실습을 위한 회로 구성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D6B57-C34B-FE4E-9DC7-AB8F721E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30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2DB16E-A662-4556-A390-12935BD5D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1" y="2314534"/>
            <a:ext cx="8821677" cy="36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7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전자 공학, 회로 구성요소, 브레드보드, 전자제품이(가) 표시된 사진&#10;&#10;자동 생성된 설명">
            <a:extLst>
              <a:ext uri="{FF2B5EF4-FFF2-40B4-BE49-F238E27FC236}">
                <a16:creationId xmlns:a16="http://schemas.microsoft.com/office/drawing/2014/main" id="{ABBFE368-F7C7-BDC7-1275-090DDC2B5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1" y="1484784"/>
            <a:ext cx="6720747" cy="503969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CCE81A3-B237-4E9B-A94E-6EDC98DC5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스위치 실습을 위해 구성된 실제 회로 사진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3131840" y="2636912"/>
            <a:ext cx="2844744" cy="3168352"/>
          </a:xfrm>
          <a:prstGeom prst="roundRect">
            <a:avLst>
              <a:gd name="adj" fmla="val 7119"/>
            </a:avLst>
          </a:prstGeom>
          <a:noFill/>
          <a:ln w="57150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6072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390DD-3B78-0944-AC6B-6995FEB0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/>
              <a:t>예제 </a:t>
            </a:r>
            <a:r>
              <a:rPr kumimoji="1" lang="en-US" altLang="ko-KR"/>
              <a:t>8-2 </a:t>
            </a:r>
            <a:r>
              <a:rPr lang="ko-KR" altLang="en-US"/>
              <a:t>스위치를 누르고 있는 동안 </a:t>
            </a:r>
            <a:r>
              <a:rPr lang="en-US" altLang="ko-KR"/>
              <a:t>LED</a:t>
            </a:r>
            <a:r>
              <a:rPr lang="ko-KR" altLang="en-US"/>
              <a:t>에 불을 켜는 프로그램 작성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920CA5-A194-F040-A2C3-2F9AD23F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EEDC86-D0E7-714F-9FA5-F26036F0050D}"/>
              </a:ext>
            </a:extLst>
          </p:cNvPr>
          <p:cNvSpPr/>
          <p:nvPr/>
        </p:nvSpPr>
        <p:spPr>
          <a:xfrm>
            <a:off x="612648" y="2492891"/>
            <a:ext cx="7127704" cy="3816429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100" dirty="0"/>
              <a:t>import time</a:t>
            </a:r>
          </a:p>
          <a:p>
            <a:pPr defTabSz="180000" fontAlgn="base" latinLnBrk="0"/>
            <a:r>
              <a:rPr lang="en-US" altLang="ko-KR" sz="1100" dirty="0"/>
              <a:t>import </a:t>
            </a:r>
            <a:r>
              <a:rPr lang="en-US" altLang="ko-KR" sz="1100" dirty="0" err="1"/>
              <a:t>RPi.GPIO</a:t>
            </a:r>
            <a:r>
              <a:rPr lang="en-US" altLang="ko-KR" sz="1100" dirty="0"/>
              <a:t> as GPIO</a:t>
            </a:r>
          </a:p>
          <a:p>
            <a:pPr defTabSz="180000" fontAlgn="base" latinLnBrk="0"/>
            <a:endParaRPr lang="en-US" altLang="ko-KR" sz="1100" dirty="0"/>
          </a:p>
          <a:p>
            <a:pPr defTabSz="180000" fontAlgn="base" latinLnBrk="0"/>
            <a:r>
              <a:rPr lang="en-US" altLang="ko-KR" sz="1100" dirty="0"/>
              <a:t># pin</a:t>
            </a:r>
            <a:r>
              <a:rPr lang="ko-KR" altLang="en-US" sz="1100" dirty="0"/>
              <a:t>에 연결된 </a:t>
            </a:r>
            <a:r>
              <a:rPr lang="en-US" altLang="ko-KR" sz="1100" dirty="0"/>
              <a:t>LED</a:t>
            </a:r>
            <a:r>
              <a:rPr lang="ko-KR" altLang="en-US" sz="1100" dirty="0"/>
              <a:t>에 </a:t>
            </a:r>
            <a:r>
              <a:rPr lang="en-US" altLang="ko-KR" sz="1100" dirty="0"/>
              <a:t>value(0/1) </a:t>
            </a:r>
            <a:r>
              <a:rPr lang="ko-KR" altLang="en-US" sz="1100" dirty="0"/>
              <a:t>값을 출력하여 </a:t>
            </a:r>
            <a:r>
              <a:rPr lang="en-US" altLang="ko-KR" sz="1100" dirty="0"/>
              <a:t>LED</a:t>
            </a:r>
            <a:r>
              <a:rPr lang="ko-KR" altLang="en-US" sz="1100" dirty="0"/>
              <a:t>를 켜거나 끄는 함수</a:t>
            </a:r>
          </a:p>
          <a:p>
            <a:pPr defTabSz="180000" fontAlgn="base" latinLnBrk="0"/>
            <a:r>
              <a:rPr lang="en-US" altLang="ko-KR" sz="1100" dirty="0"/>
              <a:t>def </a:t>
            </a:r>
            <a:r>
              <a:rPr lang="en-US" altLang="ko-KR" sz="1100" dirty="0" err="1"/>
              <a:t>led_on_off</a:t>
            </a:r>
            <a:r>
              <a:rPr lang="en-US" altLang="ko-KR" sz="1100" dirty="0"/>
              <a:t>(pin, value):</a:t>
            </a:r>
          </a:p>
          <a:p>
            <a:pPr defTabSz="180000" fontAlgn="base" latinLnBrk="0"/>
            <a:r>
              <a:rPr lang="en-US" altLang="ko-KR" sz="1100" dirty="0"/>
              <a:t>	</a:t>
            </a:r>
            <a:r>
              <a:rPr lang="en-US" altLang="ko-KR" sz="1100" dirty="0" err="1"/>
              <a:t>GPIO.output</a:t>
            </a:r>
            <a:r>
              <a:rPr lang="en-US" altLang="ko-KR" sz="1100" dirty="0"/>
              <a:t>(pin, value)</a:t>
            </a:r>
          </a:p>
          <a:p>
            <a:pPr defTabSz="180000" fontAlgn="base" latinLnBrk="0"/>
            <a:endParaRPr lang="en-US" altLang="ko-KR" sz="1100" dirty="0"/>
          </a:p>
          <a:p>
            <a:pPr defTabSz="180000" fontAlgn="base" latinLnBrk="0"/>
            <a:r>
              <a:rPr lang="en-US" altLang="ko-KR" sz="1100" b="1" dirty="0" err="1"/>
              <a:t>GPIO.setmode</a:t>
            </a:r>
            <a:r>
              <a:rPr lang="en-US" altLang="ko-KR" sz="1100" b="1" dirty="0"/>
              <a:t>(GPIO.BCM) </a:t>
            </a:r>
            <a:r>
              <a:rPr lang="en-US" altLang="ko-KR" sz="1100" dirty="0"/>
              <a:t># BCM </a:t>
            </a:r>
            <a:r>
              <a:rPr lang="ko-KR" altLang="en-US" sz="1100" dirty="0"/>
              <a:t>모드로 작동</a:t>
            </a:r>
          </a:p>
          <a:p>
            <a:pPr defTabSz="180000" fontAlgn="base" latinLnBrk="0"/>
            <a:r>
              <a:rPr lang="en-US" altLang="ko-KR" sz="1100" dirty="0" err="1"/>
              <a:t>GPIO.setwarnings</a:t>
            </a:r>
            <a:r>
              <a:rPr lang="en-US" altLang="ko-KR" sz="1100" dirty="0"/>
              <a:t>(False) # </a:t>
            </a:r>
            <a:r>
              <a:rPr lang="ko-KR" altLang="en-US" sz="1100" dirty="0" err="1"/>
              <a:t>경고글이</a:t>
            </a:r>
            <a:r>
              <a:rPr lang="ko-KR" altLang="en-US" sz="1100" dirty="0"/>
              <a:t> 출력되지 않게 설정</a:t>
            </a:r>
            <a:endParaRPr lang="en-US" altLang="ko-KR" sz="1100" dirty="0"/>
          </a:p>
          <a:p>
            <a:pPr defTabSz="180000" fontAlgn="base" latinLnBrk="0"/>
            <a:endParaRPr lang="ko-KR" altLang="en-US" sz="1100" dirty="0"/>
          </a:p>
          <a:p>
            <a:pPr defTabSz="180000" fontAlgn="base" latinLnBrk="0"/>
            <a:r>
              <a:rPr lang="en-US" altLang="ko-KR" sz="1100" dirty="0"/>
              <a:t>led = 6 # GPIO6 </a:t>
            </a:r>
            <a:r>
              <a:rPr lang="ko-KR" altLang="en-US" sz="1100" dirty="0"/>
              <a:t>핀</a:t>
            </a:r>
          </a:p>
          <a:p>
            <a:pPr defTabSz="180000" fontAlgn="base" latinLnBrk="0"/>
            <a:r>
              <a:rPr lang="en-US" altLang="ko-KR" sz="1100" b="1" dirty="0" err="1"/>
              <a:t>GPIO.setup</a:t>
            </a:r>
            <a:r>
              <a:rPr lang="en-US" altLang="ko-KR" sz="1100" b="1" dirty="0"/>
              <a:t>(led, GPIO.OUT) </a:t>
            </a:r>
            <a:r>
              <a:rPr lang="en-US" altLang="ko-KR" sz="1100" dirty="0"/>
              <a:t># GPIO6 </a:t>
            </a:r>
            <a:r>
              <a:rPr lang="ko-KR" altLang="en-US" sz="1100" dirty="0"/>
              <a:t>핀을 출력으로 지정</a:t>
            </a:r>
            <a:endParaRPr lang="en-US" altLang="ko-KR" sz="1100" dirty="0"/>
          </a:p>
          <a:p>
            <a:pPr defTabSz="180000" fontAlgn="base" latinLnBrk="0"/>
            <a:endParaRPr lang="ko-KR" altLang="en-US" sz="1100" dirty="0"/>
          </a:p>
          <a:p>
            <a:pPr defTabSz="180000" fontAlgn="base" latinLnBrk="0"/>
            <a:r>
              <a:rPr lang="en-US" altLang="ko-KR" sz="1100" dirty="0"/>
              <a:t>button = 21 # GPIO21 </a:t>
            </a:r>
            <a:r>
              <a:rPr lang="ko-KR" altLang="en-US" sz="1100" dirty="0"/>
              <a:t>핀</a:t>
            </a:r>
          </a:p>
          <a:p>
            <a:pPr defTabSz="180000" fontAlgn="base" latinLnBrk="0"/>
            <a:r>
              <a:rPr lang="en-US" altLang="ko-KR" sz="1100" b="1" dirty="0" err="1"/>
              <a:t>GPIO.setup</a:t>
            </a:r>
            <a:r>
              <a:rPr lang="en-US" altLang="ko-KR" sz="1100" b="1" dirty="0"/>
              <a:t>(button, GPIO.IN, GPIO.PUD_DOWN) </a:t>
            </a:r>
            <a:r>
              <a:rPr lang="en-US" altLang="ko-KR" sz="1100" dirty="0"/>
              <a:t># GPIO21 </a:t>
            </a:r>
            <a:r>
              <a:rPr lang="ko-KR" altLang="en-US" sz="1100" dirty="0"/>
              <a:t>핀을 입력으로 지정하고 </a:t>
            </a:r>
            <a:r>
              <a:rPr lang="ko-KR" altLang="en-US" sz="1100" dirty="0" err="1"/>
              <a:t>풀다운</a:t>
            </a:r>
            <a:r>
              <a:rPr lang="ko-KR" altLang="en-US" sz="1100" dirty="0"/>
              <a:t> 효과 지정</a:t>
            </a:r>
            <a:endParaRPr lang="en-US" altLang="ko-KR" sz="1100" dirty="0"/>
          </a:p>
          <a:p>
            <a:pPr defTabSz="180000" fontAlgn="base" latinLnBrk="0"/>
            <a:endParaRPr lang="ko-KR" altLang="en-US" sz="1100" dirty="0"/>
          </a:p>
          <a:p>
            <a:pPr defTabSz="180000" fontAlgn="base" latinLnBrk="0"/>
            <a:r>
              <a:rPr lang="en-US" altLang="ko-KR" sz="1100" dirty="0"/>
              <a:t>print("</a:t>
            </a:r>
            <a:r>
              <a:rPr lang="ko-KR" altLang="en-US" sz="1100" dirty="0"/>
              <a:t>스위치를 누르고 있는 동안 </a:t>
            </a:r>
            <a:r>
              <a:rPr lang="en-US" altLang="ko-KR" sz="1100" dirty="0"/>
              <a:t>LED</a:t>
            </a:r>
            <a:r>
              <a:rPr lang="ko-KR" altLang="en-US" sz="1100" dirty="0"/>
              <a:t>가 켜지고 놓으면 꺼집니다</a:t>
            </a:r>
            <a:r>
              <a:rPr lang="en-US" altLang="ko-KR" sz="1100" dirty="0"/>
              <a:t>.")</a:t>
            </a:r>
            <a:endParaRPr lang="ko-KR" altLang="en-US" sz="1100" dirty="0"/>
          </a:p>
          <a:p>
            <a:pPr defTabSz="180000" fontAlgn="base" latinLnBrk="0"/>
            <a:r>
              <a:rPr lang="en-US" altLang="ko-KR" sz="1100" dirty="0"/>
              <a:t>while True :</a:t>
            </a:r>
          </a:p>
          <a:p>
            <a:pPr defTabSz="180000" fontAlgn="base" latinLnBrk="0"/>
            <a:r>
              <a:rPr lang="en-US" altLang="ko-KR" sz="1100" dirty="0"/>
              <a:t>	</a:t>
            </a:r>
            <a:r>
              <a:rPr lang="en-US" altLang="ko-KR" sz="1100" b="1" dirty="0"/>
              <a:t>status = </a:t>
            </a:r>
            <a:r>
              <a:rPr lang="en-US" altLang="ko-KR" sz="1100" b="1" dirty="0" err="1"/>
              <a:t>GPIO.input</a:t>
            </a:r>
            <a:r>
              <a:rPr lang="en-US" altLang="ko-KR" sz="1100" b="1" dirty="0"/>
              <a:t>(button) </a:t>
            </a:r>
            <a:r>
              <a:rPr lang="en-US" altLang="ko-KR" sz="1100" dirty="0"/>
              <a:t># GPIO21 </a:t>
            </a:r>
            <a:r>
              <a:rPr lang="ko-KR" altLang="en-US" sz="1100" dirty="0" err="1"/>
              <a:t>핀로부터</a:t>
            </a:r>
            <a:r>
              <a:rPr lang="ko-KR" altLang="en-US" sz="1100" dirty="0"/>
              <a:t> 디지털 값</a:t>
            </a:r>
            <a:r>
              <a:rPr lang="en-US" altLang="ko-KR" sz="1100" dirty="0"/>
              <a:t>(0/1) </a:t>
            </a:r>
            <a:r>
              <a:rPr lang="ko-KR" altLang="en-US" sz="1100" dirty="0"/>
              <a:t>읽기</a:t>
            </a:r>
          </a:p>
          <a:p>
            <a:pPr defTabSz="180000" fontAlgn="base" latinLnBrk="0"/>
            <a:r>
              <a:rPr lang="ko-KR" altLang="en-US" sz="1100" dirty="0"/>
              <a:t>	</a:t>
            </a:r>
            <a:r>
              <a:rPr lang="en-US" altLang="ko-KR" sz="1100" b="1" dirty="0" err="1"/>
              <a:t>led_on_off</a:t>
            </a:r>
            <a:r>
              <a:rPr lang="en-US" altLang="ko-KR" sz="1100" b="1" dirty="0"/>
              <a:t>(led, status) </a:t>
            </a:r>
            <a:r>
              <a:rPr lang="en-US" altLang="ko-KR" sz="1100" dirty="0"/>
              <a:t># </a:t>
            </a:r>
            <a:r>
              <a:rPr lang="ko-KR" altLang="en-US" sz="1100" dirty="0"/>
              <a:t>읽은 값</a:t>
            </a:r>
            <a:r>
              <a:rPr lang="en-US" altLang="ko-KR" sz="1100" dirty="0"/>
              <a:t>(0/1)</a:t>
            </a:r>
            <a:r>
              <a:rPr lang="ko-KR" altLang="en-US" sz="1100" dirty="0"/>
              <a:t>을 </a:t>
            </a:r>
            <a:r>
              <a:rPr lang="en-US" altLang="ko-KR" sz="1100" dirty="0"/>
              <a:t>led(GPIO6 </a:t>
            </a:r>
            <a:r>
              <a:rPr lang="ko-KR" altLang="en-US" sz="1100" dirty="0"/>
              <a:t>핀</a:t>
            </a:r>
            <a:r>
              <a:rPr lang="en-US" altLang="ko-KR" sz="1100" dirty="0"/>
              <a:t>)</a:t>
            </a:r>
            <a:r>
              <a:rPr lang="ko-KR" altLang="en-US" sz="1100" dirty="0"/>
              <a:t>로 출력</a:t>
            </a:r>
            <a:endParaRPr lang="en-US" altLang="ko-KR" sz="1100" dirty="0"/>
          </a:p>
          <a:p>
            <a:pPr defTabSz="180000" fontAlgn="base" latinLnBrk="0"/>
            <a:endParaRPr lang="ko-KR" altLang="en-US" sz="1100" dirty="0"/>
          </a:p>
          <a:p>
            <a:pPr defTabSz="180000" fontAlgn="base" latinLnBrk="0"/>
            <a:r>
              <a:rPr lang="en-US" altLang="ko-KR" sz="1100" dirty="0" err="1"/>
              <a:t>GPIO.cleanup</a:t>
            </a:r>
            <a:r>
              <a:rPr lang="en-US" altLang="ko-KR" sz="1100" dirty="0"/>
              <a:t>()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283968" y="2234756"/>
            <a:ext cx="4537592" cy="46166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/>
              <a:t>(myenv) pi@pi:~/ch08 $ python 8-2.py</a:t>
            </a:r>
            <a:endParaRPr lang="ko-KR" altLang="en-US" sz="1200" b="1"/>
          </a:p>
          <a:p>
            <a:pPr fontAlgn="base"/>
            <a:r>
              <a:rPr lang="ko-KR" altLang="en-US" sz="1200"/>
              <a:t>스위치를 누르고 있는 동안 </a:t>
            </a:r>
            <a:r>
              <a:rPr lang="en-US" altLang="ko-KR" sz="1200"/>
              <a:t>LED</a:t>
            </a:r>
            <a:r>
              <a:rPr lang="ko-KR" altLang="en-US" sz="1200"/>
              <a:t>가 켜지고 놓으면 꺼집니다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C9B565-C5C8-421C-B463-99F0083C49A7}"/>
              </a:ext>
            </a:extLst>
          </p:cNvPr>
          <p:cNvSpPr/>
          <p:nvPr/>
        </p:nvSpPr>
        <p:spPr>
          <a:xfrm>
            <a:off x="612648" y="1412776"/>
            <a:ext cx="8063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스위치를 누르고 있는 동안 </a:t>
            </a:r>
            <a:r>
              <a:rPr lang="en-US" altLang="ko-KR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LED</a:t>
            </a:r>
            <a:r>
              <a:rPr lang="ko-KR" altLang="en-US" kern="0" dirty="0" err="1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에</a:t>
            </a:r>
            <a:r>
              <a:rPr lang="ko-KR" altLang="en-US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 불이 켜지고 스위치를 놓으면 불이 꺼지도록 하는 파이썬 프로그램을 작성하라</a:t>
            </a:r>
            <a:r>
              <a:rPr lang="en-US" altLang="ko-KR" kern="0" dirty="0">
                <a:solidFill>
                  <a:schemeClr val="accent2">
                    <a:lumMod val="75000"/>
                  </a:schemeClr>
                </a:solidFill>
                <a:latin typeface="한컴바탕"/>
                <a:ea typeface="한컴바탕"/>
              </a:rPr>
              <a:t>.</a:t>
            </a:r>
            <a:endParaRPr lang="ko-KR" altLang="en-US" kern="0" dirty="0">
              <a:solidFill>
                <a:schemeClr val="accent2">
                  <a:lumMod val="75000"/>
                </a:schemeClr>
              </a:solidFill>
              <a:latin typeface="한컴바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BAE7DE-31EB-4B52-81E9-35CCC5F176CC}"/>
              </a:ext>
            </a:extLst>
          </p:cNvPr>
          <p:cNvSpPr/>
          <p:nvPr/>
        </p:nvSpPr>
        <p:spPr>
          <a:xfrm>
            <a:off x="524675" y="2209935"/>
            <a:ext cx="6928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400"/>
              <a:t>8-2.py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809975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3E499-601D-3045-96EC-2165667B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/>
              <a:t>스위치 바운스</a:t>
            </a:r>
            <a:r>
              <a:rPr kumimoji="1" lang="en-US" altLang="ko-KR"/>
              <a:t>(bounce)</a:t>
            </a:r>
            <a:r>
              <a:rPr kumimoji="1" lang="ko-KR" altLang="en-US"/>
              <a:t>와 디바운스</a:t>
            </a:r>
            <a:r>
              <a:rPr kumimoji="1" lang="en-US" altLang="ko-KR"/>
              <a:t>(debounce)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A5D4EE-7111-8849-90EC-15F7074516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2640172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kumimoji="1" lang="ko-KR" altLang="en-US"/>
              <a:t>바운스</a:t>
            </a:r>
            <a:endParaRPr kumimoji="1" lang="en-US" altLang="ko-KR"/>
          </a:p>
          <a:p>
            <a:pPr lvl="2"/>
            <a:r>
              <a:rPr kumimoji="1" lang="ko-KR" altLang="en-US"/>
              <a:t>눌러지는 순간</a:t>
            </a:r>
            <a:r>
              <a:rPr kumimoji="1" lang="en-US" altLang="ko-KR"/>
              <a:t>/</a:t>
            </a:r>
            <a:r>
              <a:rPr kumimoji="1" lang="ko-KR" altLang="en-US"/>
              <a:t>떼어지는 순간</a:t>
            </a:r>
            <a:r>
              <a:rPr kumimoji="1" lang="en-US" altLang="ko-KR"/>
              <a:t>, </a:t>
            </a:r>
            <a:r>
              <a:rPr kumimoji="1" lang="ko-KR" altLang="en-US"/>
              <a:t>스위치에 많은 접촉 발생</a:t>
            </a:r>
            <a:endParaRPr kumimoji="1" lang="en-US" altLang="ko-KR"/>
          </a:p>
          <a:p>
            <a:pPr lvl="2"/>
            <a:r>
              <a:rPr kumimoji="1" lang="en-US" altLang="ko-KR"/>
              <a:t>10~100</a:t>
            </a:r>
            <a:r>
              <a:rPr kumimoji="1" lang="ko-KR" altLang="en-US"/>
              <a:t>회 정도</a:t>
            </a:r>
            <a:r>
              <a:rPr kumimoji="1" lang="en-US" altLang="ko-KR"/>
              <a:t>, </a:t>
            </a:r>
            <a:r>
              <a:rPr kumimoji="1" lang="ko-KR" altLang="en-US"/>
              <a:t>몇십 마이크로초</a:t>
            </a:r>
            <a:r>
              <a:rPr kumimoji="1" lang="en-US" altLang="ko-KR"/>
              <a:t>~5ms </a:t>
            </a:r>
            <a:r>
              <a:rPr kumimoji="1" lang="ko-KR" altLang="en-US"/>
              <a:t>사이</a:t>
            </a:r>
            <a:r>
              <a:rPr kumimoji="1" lang="en-US" altLang="ko-KR"/>
              <a:t> </a:t>
            </a:r>
          </a:p>
          <a:p>
            <a:pPr lvl="2"/>
            <a:r>
              <a:rPr kumimoji="1" lang="ko-KR" altLang="en-US"/>
              <a:t>모든 기계식 장치에서 발생</a:t>
            </a:r>
            <a:endParaRPr kumimoji="1" lang="en-US" altLang="ko-KR" dirty="0"/>
          </a:p>
          <a:p>
            <a:pPr lvl="1"/>
            <a:r>
              <a:rPr kumimoji="1" lang="ko-KR" altLang="en-US"/>
              <a:t>디바운스</a:t>
            </a:r>
            <a:endParaRPr kumimoji="1" lang="en-US" altLang="ko-KR"/>
          </a:p>
          <a:p>
            <a:pPr lvl="2"/>
            <a:r>
              <a:rPr kumimoji="1" lang="ko-KR" altLang="en-US"/>
              <a:t>스위치 바운스 문제 해결 방법</a:t>
            </a:r>
            <a:endParaRPr kumimoji="1" lang="en-US" altLang="ko-KR"/>
          </a:p>
          <a:p>
            <a:pPr lvl="2"/>
            <a:r>
              <a:rPr kumimoji="1" lang="ko-KR" altLang="en-US"/>
              <a:t>하드웨어적 방법 </a:t>
            </a:r>
            <a:r>
              <a:rPr kumimoji="1" lang="en-US" altLang="ko-KR"/>
              <a:t>- </a:t>
            </a:r>
            <a:r>
              <a:rPr kumimoji="1" lang="ko-KR" altLang="en-US"/>
              <a:t>스위치 주변에 바운스 제거 회로 추가</a:t>
            </a:r>
            <a:endParaRPr kumimoji="1" lang="en-US" altLang="ko-KR"/>
          </a:p>
          <a:p>
            <a:pPr lvl="2"/>
            <a:r>
              <a:rPr kumimoji="1" lang="ko-KR" altLang="en-US"/>
              <a:t>소프트웨어적 방법 </a:t>
            </a:r>
            <a:r>
              <a:rPr kumimoji="1" lang="en-US" altLang="ko-KR"/>
              <a:t>- </a:t>
            </a:r>
            <a:r>
              <a:rPr kumimoji="1" lang="ko-KR" altLang="en-US"/>
              <a:t>바운스가 끝날 때까지 대기 후 스위치 값 읽기</a:t>
            </a:r>
            <a:endParaRPr kumimoji="1" lang="en-US" altLang="ko-KR"/>
          </a:p>
          <a:p>
            <a:pPr lvl="3"/>
            <a:r>
              <a:rPr kumimoji="1" lang="ko-KR" altLang="en-US"/>
              <a:t>디바운스 시간은 몇 십 </a:t>
            </a:r>
            <a:r>
              <a:rPr kumimoji="1" lang="en-US" altLang="ko-KR"/>
              <a:t>ms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1C7D84-CDEC-6546-8002-E24FD87E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33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DB14D9-E2FE-448A-B47E-EE288663E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80" y="4060537"/>
            <a:ext cx="7596336" cy="256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67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3E499-601D-3045-96EC-2165667B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rising edge(</a:t>
            </a:r>
            <a:r>
              <a:rPr kumimoji="1" lang="ko-KR" altLang="en-US"/>
              <a:t>엣지</a:t>
            </a:r>
            <a:r>
              <a:rPr kumimoji="1" lang="en-US" altLang="ko-KR"/>
              <a:t>)</a:t>
            </a:r>
            <a:r>
              <a:rPr kumimoji="1" lang="ko-KR" altLang="en-US"/>
              <a:t>와 </a:t>
            </a:r>
            <a:r>
              <a:rPr kumimoji="1" lang="en-US" altLang="ko-KR"/>
              <a:t>falling edge(</a:t>
            </a:r>
            <a:r>
              <a:rPr kumimoji="1" lang="ko-KR" altLang="en-US"/>
              <a:t>엣지</a:t>
            </a:r>
            <a:r>
              <a:rPr kumimoji="1" lang="en-US" altLang="ko-KR"/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A5D4EE-7111-8849-90EC-15F7074516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>
            <a:normAutofit/>
          </a:bodyPr>
          <a:lstStyle/>
          <a:p>
            <a:r>
              <a:rPr kumimoji="1" lang="en-US" altLang="ko-KR"/>
              <a:t>rising edge</a:t>
            </a:r>
          </a:p>
          <a:p>
            <a:pPr lvl="1"/>
            <a:r>
              <a:rPr kumimoji="1" lang="ko-KR" altLang="en-US"/>
              <a:t>전기 신호가 </a:t>
            </a:r>
            <a:r>
              <a:rPr kumimoji="1" lang="en-US" altLang="ko-KR"/>
              <a:t>LOW(0) -&gt; HIGH(1)</a:t>
            </a:r>
            <a:r>
              <a:rPr kumimoji="1" lang="ko-KR" altLang="en-US"/>
              <a:t>로 바뀌는 상황</a:t>
            </a:r>
            <a:endParaRPr kumimoji="1" lang="en-US" altLang="ko-KR"/>
          </a:p>
          <a:p>
            <a:pPr lvl="2"/>
            <a:r>
              <a:rPr kumimoji="1" lang="en-US" altLang="ko-KR"/>
              <a:t>GPIO </a:t>
            </a:r>
            <a:r>
              <a:rPr kumimoji="1" lang="ko-KR" altLang="en-US"/>
              <a:t>라이브러리에서는 </a:t>
            </a:r>
            <a:r>
              <a:rPr kumimoji="1" lang="en-US" altLang="ko-KR" b="1"/>
              <a:t>GPIO.RISING </a:t>
            </a:r>
            <a:r>
              <a:rPr kumimoji="1" lang="ko-KR" altLang="en-US"/>
              <a:t>이벤트로 표현</a:t>
            </a:r>
            <a:endParaRPr kumimoji="1" lang="en-US" altLang="ko-KR"/>
          </a:p>
          <a:p>
            <a:r>
              <a:rPr kumimoji="1" lang="en-US" altLang="ko-KR"/>
              <a:t>falling edge</a:t>
            </a:r>
          </a:p>
          <a:p>
            <a:pPr lvl="1"/>
            <a:r>
              <a:rPr kumimoji="1" lang="ko-KR" altLang="en-US"/>
              <a:t>전기 신호가 </a:t>
            </a:r>
            <a:r>
              <a:rPr kumimoji="1" lang="en-US" altLang="ko-KR"/>
              <a:t>HIGH(1) -&gt; LOW(0)</a:t>
            </a:r>
            <a:r>
              <a:rPr kumimoji="1" lang="ko-KR" altLang="en-US"/>
              <a:t>로 바뀌는 상황</a:t>
            </a:r>
            <a:endParaRPr kumimoji="1" lang="en-US" altLang="ko-KR"/>
          </a:p>
          <a:p>
            <a:pPr lvl="2"/>
            <a:r>
              <a:rPr kumimoji="1" lang="en-US" altLang="ko-KR"/>
              <a:t>GPIO </a:t>
            </a:r>
            <a:r>
              <a:rPr kumimoji="1" lang="ko-KR" altLang="en-US"/>
              <a:t>라이브러리에서는 </a:t>
            </a:r>
            <a:r>
              <a:rPr kumimoji="1" lang="en-US" altLang="ko-KR" b="1"/>
              <a:t>GPIO.FALLING </a:t>
            </a:r>
            <a:r>
              <a:rPr kumimoji="1" lang="ko-KR" altLang="en-US"/>
              <a:t>이벤트로 표현</a:t>
            </a:r>
            <a:endParaRPr kumimoji="1"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1C7D84-CDEC-6546-8002-E24FD87E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9308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EC610A7-704A-47B6-BD21-0A81370A9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/>
              <a:t>스위치 </a:t>
            </a:r>
            <a:r>
              <a:rPr kumimoji="1" lang="en-US" altLang="ko-KR"/>
              <a:t>ON</a:t>
            </a:r>
            <a:r>
              <a:rPr kumimoji="1" lang="ko-KR" altLang="en-US"/>
              <a:t>을 기다리는 폴링 방법</a:t>
            </a:r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D137F3-C9DC-4501-B2F0-5DC5871E439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kumimoji="1" lang="ko-KR" altLang="en-US"/>
              <a:t>스위치가 연결된 </a:t>
            </a:r>
            <a:r>
              <a:rPr kumimoji="1" lang="en-US" altLang="ko-KR"/>
              <a:t>GPIO </a:t>
            </a:r>
            <a:r>
              <a:rPr kumimoji="1" lang="ko-KR" altLang="en-US"/>
              <a:t>핀</a:t>
            </a:r>
            <a:r>
              <a:rPr kumimoji="1" lang="en-US" altLang="ko-KR"/>
              <a:t>(swtich_pin)</a:t>
            </a:r>
            <a:r>
              <a:rPr kumimoji="1" lang="ko-KR" altLang="en-US"/>
              <a:t>으로부터 읽은 값이 </a:t>
            </a:r>
            <a:r>
              <a:rPr kumimoji="1" lang="en-US" altLang="ko-KR"/>
              <a:t>LOW</a:t>
            </a:r>
            <a:r>
              <a:rPr kumimoji="1" lang="ko-KR" altLang="en-US"/>
              <a:t>에서 </a:t>
            </a:r>
            <a:r>
              <a:rPr kumimoji="1" lang="en-US" altLang="ko-KR"/>
              <a:t>HIGH</a:t>
            </a:r>
            <a:r>
              <a:rPr kumimoji="1" lang="ko-KR" altLang="en-US"/>
              <a:t>로 바뀔 때까지 </a:t>
            </a:r>
            <a:r>
              <a:rPr kumimoji="1" lang="en-US" altLang="ko-KR"/>
              <a:t>10ms </a:t>
            </a:r>
            <a:r>
              <a:rPr kumimoji="1" lang="ko-KR" altLang="en-US"/>
              <a:t>주기로 루프를 도는 방법</a:t>
            </a:r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endParaRPr kumimoji="1" lang="en-US" altLang="ko-KR"/>
          </a:p>
          <a:p>
            <a:pPr lvl="1"/>
            <a:r>
              <a:rPr kumimoji="1" lang="en-US" altLang="ko-KR"/>
              <a:t>CPU </a:t>
            </a:r>
            <a:r>
              <a:rPr kumimoji="1" lang="ko-KR" altLang="en-US"/>
              <a:t>시간을 계속 사용하므로 비효율적</a:t>
            </a:r>
            <a:endParaRPr kumimoji="1"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857526-F183-44BE-839B-D94592B3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F92B87-3514-45F0-88F3-1B06B8683E8D}"/>
              </a:ext>
            </a:extLst>
          </p:cNvPr>
          <p:cNvSpPr/>
          <p:nvPr/>
        </p:nvSpPr>
        <p:spPr>
          <a:xfrm>
            <a:off x="1304972" y="2204864"/>
            <a:ext cx="6768752" cy="1169551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b="1">
                <a:solidFill>
                  <a:schemeClr val="dk1"/>
                </a:solidFill>
              </a:rPr>
              <a:t>while GPIO.input(switch_pin) == GPIO.LOW:</a:t>
            </a:r>
          </a:p>
          <a:p>
            <a:pPr defTabSz="180000" fontAlgn="base" latinLnBrk="0"/>
            <a:r>
              <a:rPr lang="en-US" altLang="ko-KR" sz="1400" b="1">
                <a:solidFill>
                  <a:schemeClr val="dk1"/>
                </a:solidFill>
              </a:rPr>
              <a:t>	time.sleep(0.01) </a:t>
            </a:r>
            <a:r>
              <a:rPr lang="en-US" altLang="ko-KR" sz="1400">
                <a:solidFill>
                  <a:schemeClr val="dk1"/>
                </a:solidFill>
              </a:rPr>
              <a:t># 10ms </a:t>
            </a:r>
            <a:r>
              <a:rPr lang="ko-KR" altLang="en-US" sz="1400">
                <a:solidFill>
                  <a:schemeClr val="dk1"/>
                </a:solidFill>
              </a:rPr>
              <a:t>대기</a:t>
            </a:r>
            <a:endParaRPr lang="en-US" altLang="ko-KR" sz="1400">
              <a:solidFill>
                <a:schemeClr val="dk1"/>
              </a:solidFill>
            </a:endParaRPr>
          </a:p>
          <a:p>
            <a:pPr defTabSz="180000" fontAlgn="base" latinLnBrk="0"/>
            <a:endParaRPr lang="ko-KR" altLang="en-US" sz="140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400">
                <a:solidFill>
                  <a:schemeClr val="dk1"/>
                </a:solidFill>
              </a:rPr>
              <a:t># while </a:t>
            </a:r>
            <a:r>
              <a:rPr lang="ko-KR" altLang="en-US" sz="1400">
                <a:solidFill>
                  <a:schemeClr val="dk1"/>
                </a:solidFill>
              </a:rPr>
              <a:t>문을 벗어난 상태는 </a:t>
            </a:r>
            <a:r>
              <a:rPr lang="en-US" altLang="ko-KR" sz="1400">
                <a:solidFill>
                  <a:schemeClr val="dk1"/>
                </a:solidFill>
              </a:rPr>
              <a:t>GPIO.input(switch_pin)</a:t>
            </a:r>
            <a:r>
              <a:rPr lang="ko-KR" altLang="en-US" sz="1400">
                <a:solidFill>
                  <a:schemeClr val="dk1"/>
                </a:solidFill>
              </a:rPr>
              <a:t>이 </a:t>
            </a:r>
            <a:r>
              <a:rPr lang="en-US" altLang="ko-KR" sz="1400">
                <a:solidFill>
                  <a:schemeClr val="dk1"/>
                </a:solidFill>
              </a:rPr>
              <a:t>GPIO.HIGH</a:t>
            </a:r>
            <a:r>
              <a:rPr lang="ko-KR" altLang="en-US" sz="1400">
                <a:solidFill>
                  <a:schemeClr val="dk1"/>
                </a:solidFill>
              </a:rPr>
              <a:t>를 리턴한 경우</a:t>
            </a:r>
            <a:endParaRPr lang="en-US" altLang="ko-KR" sz="140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400"/>
              <a:t>...</a:t>
            </a:r>
            <a:endParaRPr lang="ko-KR" altLang="en-US" sz="14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088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3E499-601D-3045-96EC-2165667B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/>
            <a:r>
              <a:rPr lang="en-US" altLang="ko-KR"/>
              <a:t>GPIO</a:t>
            </a:r>
            <a:r>
              <a:rPr lang="ko-KR" altLang="en-US"/>
              <a:t>의 스위치 값을 읽는 인터럽트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A5D4EE-7111-8849-90EC-15F70745169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sz="2000"/>
              <a:t>GPIO </a:t>
            </a:r>
            <a:r>
              <a:rPr lang="ko-KR" altLang="en-US" sz="2000"/>
              <a:t>인터럽트</a:t>
            </a:r>
            <a:endParaRPr lang="en-US" altLang="ko-KR" sz="2000"/>
          </a:p>
          <a:p>
            <a:pPr lvl="2"/>
            <a:r>
              <a:rPr lang="ko-KR" altLang="en-US" sz="1600"/>
              <a:t>폴링의 소모적인 </a:t>
            </a:r>
            <a:r>
              <a:rPr lang="en-US" altLang="ko-KR" sz="1600"/>
              <a:t>CPU </a:t>
            </a:r>
            <a:r>
              <a:rPr lang="ko-KR" altLang="en-US" sz="1600"/>
              <a:t>사용을 줄임</a:t>
            </a:r>
            <a:endParaRPr lang="en-US" altLang="ko-KR" sz="1600"/>
          </a:p>
          <a:p>
            <a:pPr lvl="1"/>
            <a:r>
              <a:rPr lang="ko-KR" altLang="en-US" sz="1800"/>
              <a:t>기본 개념</a:t>
            </a:r>
            <a:endParaRPr lang="en-US" altLang="ko-KR" sz="1800"/>
          </a:p>
          <a:p>
            <a:pPr lvl="2"/>
            <a:r>
              <a:rPr lang="ko-KR" altLang="en-US" sz="1600"/>
              <a:t>프로그램이 다른 작업을 수행하고 있을 때</a:t>
            </a:r>
            <a:r>
              <a:rPr lang="en-US" altLang="ko-KR" sz="1600"/>
              <a:t>, </a:t>
            </a:r>
            <a:r>
              <a:rPr lang="ko-KR" altLang="en-US" sz="1600"/>
              <a:t>스위치에 </a:t>
            </a:r>
            <a:r>
              <a:rPr lang="en-US" altLang="ko-KR" sz="1600"/>
              <a:t>rising edge</a:t>
            </a:r>
            <a:r>
              <a:rPr lang="ko-KR" altLang="en-US" sz="1600"/>
              <a:t>나 </a:t>
            </a:r>
            <a:r>
              <a:rPr lang="en-US" altLang="ko-KR" sz="1600"/>
              <a:t>falling edge</a:t>
            </a:r>
            <a:r>
              <a:rPr lang="ko-KR" altLang="en-US" sz="1600"/>
              <a:t>의 이벤트가 발생하면</a:t>
            </a:r>
            <a:r>
              <a:rPr lang="en-US" altLang="ko-KR" sz="1600"/>
              <a:t>, </a:t>
            </a:r>
            <a:r>
              <a:rPr lang="ko-KR" altLang="en-US" sz="1600"/>
              <a:t>인터럽트를 통해 프로그램에게 이벤트 발생을 알려줌</a:t>
            </a:r>
            <a:endParaRPr lang="en-US" altLang="ko-KR" sz="1600"/>
          </a:p>
          <a:p>
            <a:pPr lvl="2"/>
            <a:r>
              <a:rPr lang="ko-KR" altLang="en-US" sz="1600"/>
              <a:t>프로그램은 인터럽트가 발생하면 그 때 스위치 값을 읽으면 됨</a:t>
            </a:r>
            <a:endParaRPr lang="en-US" altLang="ko-KR" sz="1600"/>
          </a:p>
          <a:p>
            <a:pPr lvl="2"/>
            <a:r>
              <a:rPr lang="ko-KR" altLang="en-US" sz="1600"/>
              <a:t>프로그램은 폴링없이 다른 작업을 수행할 수 있음</a:t>
            </a:r>
            <a:endParaRPr lang="en-US" altLang="ko-KR" sz="1600"/>
          </a:p>
          <a:p>
            <a:r>
              <a:rPr lang="en-US" altLang="ko-KR" sz="2000"/>
              <a:t>GPIO </a:t>
            </a:r>
            <a:r>
              <a:rPr lang="ko-KR" altLang="en-US" sz="2000"/>
              <a:t>라이브러리에서 </a:t>
            </a:r>
            <a:r>
              <a:rPr lang="en-US" altLang="ko-KR" sz="2000"/>
              <a:t>GPIO </a:t>
            </a:r>
            <a:r>
              <a:rPr lang="ko-KR" altLang="en-US" sz="2000"/>
              <a:t>인터럽트 활용 </a:t>
            </a:r>
            <a:r>
              <a:rPr lang="en-US" altLang="ko-KR" sz="2000"/>
              <a:t>3</a:t>
            </a:r>
            <a:r>
              <a:rPr lang="ko-KR" altLang="en-US" sz="2000"/>
              <a:t>가지 방법 제공</a:t>
            </a:r>
            <a:endParaRPr lang="en-US" altLang="ko-KR" sz="2000"/>
          </a:p>
          <a:p>
            <a:pPr lvl="1"/>
            <a:r>
              <a:rPr lang="en-US" altLang="ko-KR" sz="1800"/>
              <a:t>GPIO.wait_for_edge() </a:t>
            </a:r>
            <a:r>
              <a:rPr lang="ko-KR" altLang="en-US" sz="1800"/>
              <a:t>함수 활용</a:t>
            </a:r>
            <a:endParaRPr lang="en-US" altLang="ko-KR" sz="1800"/>
          </a:p>
          <a:p>
            <a:pPr lvl="1"/>
            <a:r>
              <a:rPr lang="en-US" altLang="ko-KR" sz="1800"/>
              <a:t>GPIO.add_event_detect()</a:t>
            </a:r>
            <a:r>
              <a:rPr lang="ko-KR" altLang="en-US" sz="1800"/>
              <a:t>와 </a:t>
            </a:r>
            <a:r>
              <a:rPr lang="en-US" altLang="ko-KR" sz="1800"/>
              <a:t>GPIO.event_detected() </a:t>
            </a:r>
            <a:r>
              <a:rPr lang="ko-KR" altLang="en-US" sz="1800"/>
              <a:t>함수 활용</a:t>
            </a:r>
            <a:endParaRPr lang="en-US" altLang="ko-KR" sz="1800"/>
          </a:p>
          <a:p>
            <a:pPr lvl="1"/>
            <a:r>
              <a:rPr lang="en-US" altLang="ko-KR" sz="1800" b="1"/>
              <a:t>add_event_detect() </a:t>
            </a:r>
            <a:r>
              <a:rPr lang="ko-KR" altLang="en-US" sz="1800" b="1"/>
              <a:t>함수와 콜백 활용</a:t>
            </a:r>
            <a:endParaRPr lang="en-US" altLang="ko-KR" sz="1800" b="1"/>
          </a:p>
          <a:p>
            <a:pPr lvl="2"/>
            <a:r>
              <a:rPr lang="ko-KR" altLang="en-US" sz="1600">
                <a:solidFill>
                  <a:srgbClr val="C00000"/>
                </a:solidFill>
              </a:rPr>
              <a:t>이 책에서는 이 방법만 다룸</a:t>
            </a:r>
          </a:p>
          <a:p>
            <a:pPr lvl="2"/>
            <a:endParaRPr lang="en-US" altLang="ko-KR"/>
          </a:p>
          <a:p>
            <a:pPr lvl="2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1C7D84-CDEC-6546-8002-E24FD87E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5629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3E499-601D-3045-96EC-2165667B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/>
            <a:r>
              <a:rPr lang="en-US" altLang="ko-KR"/>
              <a:t>add_event_detect()</a:t>
            </a:r>
            <a:r>
              <a:rPr lang="ko-KR" altLang="en-US"/>
              <a:t>와 콜백을 활용하여 스위치 눌러짐 탐지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A5D4EE-7111-8849-90EC-15F70745169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ko-KR" altLang="en-US"/>
              <a:t>명료하고 짧은 코드로 바운스 문제 해결</a:t>
            </a:r>
            <a:endParaRPr lang="en-US" altLang="ko-KR"/>
          </a:p>
          <a:p>
            <a:pPr lvl="1" fontAlgn="base"/>
            <a:r>
              <a:rPr lang="en-US" altLang="ko-KR"/>
              <a:t>add_event_detect() </a:t>
            </a:r>
            <a:r>
              <a:rPr lang="ko-KR" altLang="en-US"/>
              <a:t>함수의 </a:t>
            </a:r>
            <a:r>
              <a:rPr lang="en-US" altLang="ko-KR"/>
              <a:t>callback</a:t>
            </a:r>
            <a:r>
              <a:rPr lang="ko-KR" altLang="en-US"/>
              <a:t>과 </a:t>
            </a:r>
            <a:r>
              <a:rPr lang="en-US" altLang="ko-KR"/>
              <a:t>bouncetime </a:t>
            </a:r>
            <a:r>
              <a:rPr lang="ko-KR" altLang="en-US"/>
              <a:t>매개변수 활용</a:t>
            </a:r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endParaRPr lang="en-US" altLang="ko-KR"/>
          </a:p>
          <a:p>
            <a:pPr lvl="1" fontAlgn="base"/>
            <a:r>
              <a:rPr lang="ko-KR" altLang="en-US"/>
              <a:t>실행 과정</a:t>
            </a:r>
            <a:endParaRPr lang="en-US" altLang="ko-KR"/>
          </a:p>
          <a:p>
            <a:pPr lvl="2" fontAlgn="base"/>
            <a:r>
              <a:rPr lang="en-US" altLang="ko-KR"/>
              <a:t>add_event_detect()</a:t>
            </a:r>
            <a:r>
              <a:rPr lang="ko-KR" altLang="en-US"/>
              <a:t>로부터 리턴한 후</a:t>
            </a:r>
            <a:endParaRPr lang="en-US" altLang="ko-KR"/>
          </a:p>
          <a:p>
            <a:pPr lvl="2" fontAlgn="base"/>
            <a:r>
              <a:rPr lang="ko-KR" altLang="en-US"/>
              <a:t>어떤 시점에 </a:t>
            </a:r>
            <a:r>
              <a:rPr lang="en-US" altLang="ko-KR"/>
              <a:t>event</a:t>
            </a:r>
            <a:r>
              <a:rPr lang="ko-KR" altLang="en-US"/>
              <a:t>가 발생하면</a:t>
            </a:r>
            <a:r>
              <a:rPr lang="en-US" altLang="ko-KR"/>
              <a:t>, GPIO </a:t>
            </a:r>
            <a:r>
              <a:rPr lang="ko-KR" altLang="en-US"/>
              <a:t>라이브러리는 스레드 생성</a:t>
            </a:r>
            <a:endParaRPr lang="en-US" altLang="ko-KR"/>
          </a:p>
          <a:p>
            <a:pPr lvl="3" fontAlgn="base"/>
            <a:r>
              <a:rPr lang="ko-KR" altLang="en-US"/>
              <a:t>생성된 스레드가 </a:t>
            </a:r>
            <a:r>
              <a:rPr lang="en-US" altLang="ko-KR"/>
              <a:t>callback </a:t>
            </a:r>
            <a:r>
              <a:rPr lang="ko-KR" altLang="en-US"/>
              <a:t>매개변수에 지정된 함수 실행</a:t>
            </a:r>
            <a:endParaRPr lang="en-US" altLang="ko-KR"/>
          </a:p>
          <a:p>
            <a:pPr lvl="2" fontAlgn="base"/>
            <a:r>
              <a:rPr lang="ko-KR" altLang="en-US"/>
              <a:t>응용프로그램은 </a:t>
            </a:r>
            <a:r>
              <a:rPr lang="en-US" altLang="ko-KR"/>
              <a:t>add_event_detect() </a:t>
            </a:r>
            <a:r>
              <a:rPr lang="ko-KR" altLang="en-US"/>
              <a:t>함수 호출 뒤</a:t>
            </a:r>
            <a:r>
              <a:rPr lang="en-US" altLang="ko-KR"/>
              <a:t>, </a:t>
            </a:r>
            <a:r>
              <a:rPr lang="ko-KR" altLang="en-US"/>
              <a:t>다른 작업 실행</a:t>
            </a:r>
            <a:endParaRPr lang="en-US" altLang="ko-KR"/>
          </a:p>
          <a:p>
            <a:pPr lvl="3" fontAlgn="base"/>
            <a:r>
              <a:rPr lang="ko-KR" altLang="en-US"/>
              <a:t>이벤트 발생시 생성된 스레드가 스위치 값을 읽음</a:t>
            </a:r>
            <a:endParaRPr lang="en-US" altLang="ko-KR"/>
          </a:p>
          <a:p>
            <a:pPr lvl="1" fontAlgn="base"/>
            <a:r>
              <a:rPr lang="ko-KR" altLang="en-US"/>
              <a:t>바운스 문제 해결</a:t>
            </a:r>
            <a:endParaRPr lang="en-US" altLang="ko-KR"/>
          </a:p>
          <a:p>
            <a:pPr lvl="2" fontAlgn="base"/>
            <a:r>
              <a:rPr lang="en-US" altLang="ko-KR"/>
              <a:t>bouncetime </a:t>
            </a:r>
            <a:r>
              <a:rPr lang="ko-KR" altLang="en-US"/>
              <a:t>매개변수에 디바운스 시간 지정</a:t>
            </a:r>
            <a:r>
              <a:rPr lang="en-US" altLang="ko-KR"/>
              <a:t>, </a:t>
            </a:r>
            <a:r>
              <a:rPr lang="ko-KR" altLang="en-US"/>
              <a:t>디폴트는 </a:t>
            </a:r>
            <a:r>
              <a:rPr lang="en-US" altLang="ko-KR"/>
              <a:t>200(ms)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1C7D84-CDEC-6546-8002-E24FD87E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4F9F3F-3AA5-4379-81A5-C823F25DD097}"/>
              </a:ext>
            </a:extLst>
          </p:cNvPr>
          <p:cNvSpPr/>
          <p:nvPr/>
        </p:nvSpPr>
        <p:spPr>
          <a:xfrm>
            <a:off x="1331640" y="1988840"/>
            <a:ext cx="7040872" cy="17851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100" b="1"/>
              <a:t>add_event_detect(</a:t>
            </a:r>
          </a:p>
          <a:p>
            <a:pPr defTabSz="180000"/>
            <a:r>
              <a:rPr lang="en-US" altLang="ko-KR" sz="1100"/>
              <a:t>	channel,							# channel</a:t>
            </a:r>
            <a:r>
              <a:rPr lang="ko-KR" altLang="en-US" sz="1100"/>
              <a:t>에 핀 번호 지정</a:t>
            </a:r>
          </a:p>
          <a:p>
            <a:pPr defTabSz="180000"/>
            <a:r>
              <a:rPr lang="ko-KR" altLang="en-US" sz="1100"/>
              <a:t>	</a:t>
            </a:r>
            <a:r>
              <a:rPr lang="en-US" altLang="ko-KR" sz="1100"/>
              <a:t>event, 							# </a:t>
            </a:r>
            <a:r>
              <a:rPr lang="ko-KR" altLang="en-US" sz="1100"/>
              <a:t>기다리는 이벤트 지정</a:t>
            </a:r>
            <a:r>
              <a:rPr lang="en-US" altLang="ko-KR" sz="1100"/>
              <a:t>. GPIO.RISING, GPIO.FALLING, GPIO.BOTH </a:t>
            </a:r>
            <a:r>
              <a:rPr lang="ko-KR" altLang="en-US" sz="1100"/>
              <a:t>중 하나</a:t>
            </a:r>
          </a:p>
          <a:p>
            <a:pPr defTabSz="180000"/>
            <a:r>
              <a:rPr lang="ko-KR" altLang="en-US" sz="1100"/>
              <a:t>	</a:t>
            </a:r>
            <a:r>
              <a:rPr lang="en-US" altLang="ko-KR" sz="1100" b="1"/>
              <a:t>callback=my_callback</a:t>
            </a:r>
            <a:r>
              <a:rPr lang="en-US" altLang="ko-KR" sz="1100"/>
              <a:t>, 	# my_callback</a:t>
            </a:r>
            <a:r>
              <a:rPr lang="ko-KR" altLang="en-US" sz="1100"/>
              <a:t>은 이벤트가 발생할 때 호출될 함수 이름</a:t>
            </a:r>
          </a:p>
          <a:p>
            <a:pPr defTabSz="180000"/>
            <a:r>
              <a:rPr lang="ko-KR" altLang="en-US" sz="1100"/>
              <a:t>	</a:t>
            </a:r>
            <a:r>
              <a:rPr lang="en-US" altLang="ko-KR" sz="1100" b="1"/>
              <a:t>bouncetime=200</a:t>
            </a:r>
            <a:r>
              <a:rPr lang="en-US" altLang="ko-KR" sz="1100"/>
              <a:t>			# </a:t>
            </a:r>
            <a:r>
              <a:rPr lang="ko-KR" altLang="en-US" sz="1100"/>
              <a:t>디바운스를 위해 무시할 바운스 시간</a:t>
            </a:r>
            <a:r>
              <a:rPr lang="en-US" altLang="ko-KR" sz="1100"/>
              <a:t>(ms)</a:t>
            </a:r>
          </a:p>
          <a:p>
            <a:pPr defTabSz="180000"/>
            <a:r>
              <a:rPr lang="en-US" altLang="ko-KR" sz="1100"/>
              <a:t>)</a:t>
            </a:r>
          </a:p>
          <a:p>
            <a:pPr defTabSz="180000"/>
            <a:endParaRPr lang="en-US" altLang="ko-KR" sz="1100"/>
          </a:p>
          <a:p>
            <a:pPr defTabSz="180000"/>
            <a:r>
              <a:rPr lang="en-US" altLang="ko-KR" sz="1100"/>
              <a:t># </a:t>
            </a:r>
            <a:r>
              <a:rPr lang="ko-KR" altLang="en-US" sz="1100"/>
              <a:t>사용자가 작성해야 하는 콜백 함수</a:t>
            </a:r>
            <a:endParaRPr lang="en-US" altLang="ko-KR" sz="1100"/>
          </a:p>
          <a:p>
            <a:pPr defTabSz="180000"/>
            <a:r>
              <a:rPr lang="en-US" altLang="ko-KR" sz="1100"/>
              <a:t>def my_callback(channel)	 : # channel : </a:t>
            </a:r>
            <a:r>
              <a:rPr lang="ko-KR" altLang="en-US" sz="1100"/>
              <a:t>이벤트가 발생한 핀 번호</a:t>
            </a:r>
            <a:endParaRPr lang="en-US" altLang="ko-KR" sz="1100"/>
          </a:p>
          <a:p>
            <a:pPr defTabSz="180000"/>
            <a:r>
              <a:rPr lang="en-US" altLang="ko-KR" sz="1100"/>
              <a:t>	... # </a:t>
            </a:r>
            <a:r>
              <a:rPr lang="ko-KR" altLang="en-US" sz="1100"/>
              <a:t>이벤트가 발생할 때 처리하는 코드 작성</a:t>
            </a:r>
          </a:p>
        </p:txBody>
      </p:sp>
    </p:spTree>
    <p:extLst>
      <p:ext uri="{BB962C8B-B14F-4D97-AF65-F5344CB8AC3E}">
        <p14:creationId xmlns:p14="http://schemas.microsoft.com/office/powerpoint/2010/main" val="25464093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0870B-7C48-407F-BADB-CB42CF44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예제 </a:t>
            </a:r>
            <a:r>
              <a:rPr lang="en-US" altLang="ko-KR"/>
              <a:t>8-3 add_event_detect()</a:t>
            </a:r>
            <a:r>
              <a:rPr lang="ko-KR" altLang="en-US"/>
              <a:t>의 바운스 시간과 콜백 함수를 활용하여 스위치 눌러짐 탐지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AEB4041-143C-429D-AFD1-EEB08852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C029D4-F99B-47FF-A544-41643AB83FDE}"/>
              </a:ext>
            </a:extLst>
          </p:cNvPr>
          <p:cNvSpPr/>
          <p:nvPr/>
        </p:nvSpPr>
        <p:spPr>
          <a:xfrm>
            <a:off x="539220" y="1412776"/>
            <a:ext cx="79932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add_event_detect()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바운스 시간과 콜백 함수를 활용하여 스위치의 눌러짐을 탐지해보자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회로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8–14)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GPIO21 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핀에 연결된 스위치가 눌러지면 “스위치 눌러짐”을 출력하고 종료하는 프로그램을 작성하라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sz="1400" kern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fontAlgn="base"/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 kern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386787-237C-4E5A-A3E0-CF647F5EDFCC}"/>
              </a:ext>
            </a:extLst>
          </p:cNvPr>
          <p:cNvSpPr/>
          <p:nvPr/>
        </p:nvSpPr>
        <p:spPr>
          <a:xfrm>
            <a:off x="305272" y="2676976"/>
            <a:ext cx="6066928" cy="3231654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dirty="0">
                <a:solidFill>
                  <a:schemeClr val="dk1"/>
                </a:solidFill>
              </a:rPr>
              <a:t>import </a:t>
            </a:r>
            <a:r>
              <a:rPr lang="en-US" altLang="ko-KR" sz="1200" dirty="0" err="1">
                <a:solidFill>
                  <a:schemeClr val="dk1"/>
                </a:solidFill>
              </a:rPr>
              <a:t>RPi.GPIO</a:t>
            </a:r>
            <a:r>
              <a:rPr lang="en-US" altLang="ko-KR" sz="1200" dirty="0">
                <a:solidFill>
                  <a:schemeClr val="dk1"/>
                </a:solidFill>
              </a:rPr>
              <a:t> as GPIO</a:t>
            </a:r>
          </a:p>
          <a:p>
            <a:pPr defTabSz="180000" fontAlgn="base" latinLnBrk="0"/>
            <a:r>
              <a:rPr lang="en-US" altLang="ko-KR" sz="1200" dirty="0">
                <a:solidFill>
                  <a:schemeClr val="dk1"/>
                </a:solidFill>
              </a:rPr>
              <a:t>import time</a:t>
            </a:r>
          </a:p>
          <a:p>
            <a:pPr defTabSz="180000" fontAlgn="base" latinLnBrk="0"/>
            <a:endParaRPr lang="en-US" altLang="ko-KR" sz="120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200" dirty="0">
                <a:solidFill>
                  <a:schemeClr val="dk1"/>
                </a:solidFill>
              </a:rPr>
              <a:t># button</a:t>
            </a:r>
            <a:r>
              <a:rPr lang="ko-KR" altLang="en-US" sz="1200" dirty="0">
                <a:solidFill>
                  <a:schemeClr val="dk1"/>
                </a:solidFill>
              </a:rPr>
              <a:t>이 눌러질 때 호출되는 </a:t>
            </a:r>
            <a:r>
              <a:rPr lang="ko-KR" altLang="en-US" sz="1200" dirty="0" err="1">
                <a:solidFill>
                  <a:schemeClr val="dk1"/>
                </a:solidFill>
              </a:rPr>
              <a:t>콜백</a:t>
            </a:r>
            <a:r>
              <a:rPr lang="ko-KR" altLang="en-US" sz="1200" dirty="0">
                <a:solidFill>
                  <a:schemeClr val="dk1"/>
                </a:solidFill>
              </a:rPr>
              <a:t> 함수</a:t>
            </a:r>
          </a:p>
          <a:p>
            <a:pPr defTabSz="180000" fontAlgn="base" latinLnBrk="0"/>
            <a:r>
              <a:rPr lang="en-US" altLang="ko-KR" sz="1200" b="1" dirty="0">
                <a:solidFill>
                  <a:schemeClr val="dk1"/>
                </a:solidFill>
              </a:rPr>
              <a:t>def </a:t>
            </a:r>
            <a:r>
              <a:rPr lang="en-US" altLang="ko-KR" sz="1200" b="1" dirty="0" err="1">
                <a:solidFill>
                  <a:schemeClr val="dk1"/>
                </a:solidFill>
              </a:rPr>
              <a:t>button_pressed</a:t>
            </a:r>
            <a:r>
              <a:rPr lang="en-US" altLang="ko-KR" sz="1200" b="1" dirty="0">
                <a:solidFill>
                  <a:schemeClr val="dk1"/>
                </a:solidFill>
              </a:rPr>
              <a:t>(channel):</a:t>
            </a:r>
          </a:p>
          <a:p>
            <a:pPr defTabSz="180000" fontAlgn="base" latinLnBrk="0"/>
            <a:r>
              <a:rPr lang="en-US" altLang="ko-KR" sz="1200" b="1" dirty="0">
                <a:solidFill>
                  <a:schemeClr val="dk1"/>
                </a:solidFill>
              </a:rPr>
              <a:t>	print("%d </a:t>
            </a:r>
            <a:r>
              <a:rPr lang="ko-KR" altLang="en-US" sz="1200" b="1" dirty="0">
                <a:solidFill>
                  <a:schemeClr val="dk1"/>
                </a:solidFill>
              </a:rPr>
              <a:t>핀에 연결된 스위치 </a:t>
            </a:r>
            <a:r>
              <a:rPr lang="ko-KR" altLang="en-US" sz="1200" b="1" dirty="0" err="1">
                <a:solidFill>
                  <a:schemeClr val="dk1"/>
                </a:solidFill>
              </a:rPr>
              <a:t>눌러짐</a:t>
            </a:r>
            <a:r>
              <a:rPr lang="en-US" altLang="ko-KR" sz="1200" b="1" dirty="0">
                <a:solidFill>
                  <a:schemeClr val="dk1"/>
                </a:solidFill>
              </a:rPr>
              <a:t>" % channel)</a:t>
            </a:r>
          </a:p>
          <a:p>
            <a:pPr defTabSz="180000" fontAlgn="base" latinLnBrk="0"/>
            <a:endParaRPr lang="en-US" altLang="ko-KR" sz="120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200" dirty="0" err="1">
                <a:solidFill>
                  <a:schemeClr val="dk1"/>
                </a:solidFill>
              </a:rPr>
              <a:t>GPIO.setmode</a:t>
            </a:r>
            <a:r>
              <a:rPr lang="en-US" altLang="ko-KR" sz="1200" dirty="0">
                <a:solidFill>
                  <a:schemeClr val="dk1"/>
                </a:solidFill>
              </a:rPr>
              <a:t>(GPIO.BCM)</a:t>
            </a:r>
          </a:p>
          <a:p>
            <a:pPr defTabSz="180000" fontAlgn="base" latinLnBrk="0"/>
            <a:r>
              <a:rPr lang="en-US" altLang="ko-KR" sz="1200" dirty="0" err="1">
                <a:solidFill>
                  <a:schemeClr val="dk1"/>
                </a:solidFill>
              </a:rPr>
              <a:t>GPIO.setwarnings</a:t>
            </a:r>
            <a:r>
              <a:rPr lang="en-US" altLang="ko-KR" sz="1200" dirty="0">
                <a:solidFill>
                  <a:schemeClr val="dk1"/>
                </a:solidFill>
              </a:rPr>
              <a:t>(False)</a:t>
            </a:r>
          </a:p>
          <a:p>
            <a:pPr defTabSz="180000" fontAlgn="base" latinLnBrk="0"/>
            <a:endParaRPr lang="en-US" altLang="ko-KR" sz="120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200" dirty="0">
                <a:solidFill>
                  <a:schemeClr val="dk1"/>
                </a:solidFill>
              </a:rPr>
              <a:t>button = 21 # GPIO21</a:t>
            </a:r>
          </a:p>
          <a:p>
            <a:pPr defTabSz="180000" fontAlgn="base" latinLnBrk="0"/>
            <a:r>
              <a:rPr lang="en-US" altLang="ko-KR" sz="1200" dirty="0" err="1">
                <a:solidFill>
                  <a:schemeClr val="dk1"/>
                </a:solidFill>
              </a:rPr>
              <a:t>GPIO.setup</a:t>
            </a:r>
            <a:r>
              <a:rPr lang="en-US" altLang="ko-KR" sz="1200" dirty="0">
                <a:solidFill>
                  <a:schemeClr val="dk1"/>
                </a:solidFill>
              </a:rPr>
              <a:t>(button, GPIO.IN, GPIO.PUD_DOWN)</a:t>
            </a:r>
          </a:p>
          <a:p>
            <a:pPr defTabSz="180000" fontAlgn="base" latinLnBrk="0"/>
            <a:endParaRPr lang="en-US" altLang="ko-KR" sz="120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200" dirty="0">
                <a:solidFill>
                  <a:schemeClr val="dk1"/>
                </a:solidFill>
              </a:rPr>
              <a:t># button</a:t>
            </a:r>
            <a:r>
              <a:rPr lang="ko-KR" altLang="en-US" sz="1200" dirty="0">
                <a:solidFill>
                  <a:schemeClr val="dk1"/>
                </a:solidFill>
              </a:rPr>
              <a:t>을 누르면 </a:t>
            </a:r>
            <a:r>
              <a:rPr lang="en-US" altLang="ko-KR" sz="1200" dirty="0">
                <a:solidFill>
                  <a:schemeClr val="dk1"/>
                </a:solidFill>
              </a:rPr>
              <a:t>100ms</a:t>
            </a:r>
            <a:r>
              <a:rPr lang="ko-KR" altLang="en-US" sz="1200" dirty="0">
                <a:solidFill>
                  <a:schemeClr val="dk1"/>
                </a:solidFill>
              </a:rPr>
              <a:t>의 </a:t>
            </a:r>
            <a:r>
              <a:rPr lang="ko-KR" altLang="en-US" sz="1200" dirty="0" err="1">
                <a:solidFill>
                  <a:schemeClr val="dk1"/>
                </a:solidFill>
              </a:rPr>
              <a:t>디바운스</a:t>
            </a:r>
            <a:r>
              <a:rPr lang="ko-KR" altLang="en-US" sz="1200" dirty="0">
                <a:solidFill>
                  <a:schemeClr val="dk1"/>
                </a:solidFill>
              </a:rPr>
              <a:t> 후 </a:t>
            </a:r>
            <a:r>
              <a:rPr lang="en-US" altLang="ko-KR" sz="1200" dirty="0" err="1">
                <a:solidFill>
                  <a:schemeClr val="dk1"/>
                </a:solidFill>
              </a:rPr>
              <a:t>button_pressed</a:t>
            </a:r>
            <a:r>
              <a:rPr lang="en-US" altLang="ko-KR" sz="1200" dirty="0">
                <a:solidFill>
                  <a:schemeClr val="dk1"/>
                </a:solidFill>
              </a:rPr>
              <a:t>()</a:t>
            </a:r>
            <a:r>
              <a:rPr lang="ko-KR" altLang="en-US" sz="1200" dirty="0">
                <a:solidFill>
                  <a:schemeClr val="dk1"/>
                </a:solidFill>
              </a:rPr>
              <a:t>가 호출되도록 설정</a:t>
            </a:r>
          </a:p>
          <a:p>
            <a:pPr defTabSz="180000" fontAlgn="base" latinLnBrk="0"/>
            <a:r>
              <a:rPr lang="en-US" altLang="ko-KR" sz="1200" b="1" dirty="0" err="1">
                <a:solidFill>
                  <a:schemeClr val="dk1"/>
                </a:solidFill>
              </a:rPr>
              <a:t>GPIO.add_event_detect</a:t>
            </a:r>
            <a:r>
              <a:rPr lang="en-US" altLang="ko-KR" sz="1200" b="1" dirty="0">
                <a:solidFill>
                  <a:schemeClr val="dk1"/>
                </a:solidFill>
              </a:rPr>
              <a:t>(button, GPIO.RISING, </a:t>
            </a:r>
            <a:r>
              <a:rPr lang="en-US" altLang="ko-KR" sz="1200" b="1" dirty="0" err="1">
                <a:solidFill>
                  <a:schemeClr val="dk1"/>
                </a:solidFill>
              </a:rPr>
              <a:t>button_pressed</a:t>
            </a:r>
            <a:r>
              <a:rPr lang="en-US" altLang="ko-KR" sz="1200" b="1" dirty="0">
                <a:solidFill>
                  <a:schemeClr val="dk1"/>
                </a:solidFill>
              </a:rPr>
              <a:t>, </a:t>
            </a:r>
            <a:r>
              <a:rPr lang="en-US" altLang="ko-KR" sz="1200" b="1" dirty="0" err="1">
                <a:solidFill>
                  <a:schemeClr val="dk1"/>
                </a:solidFill>
              </a:rPr>
              <a:t>bouncetime</a:t>
            </a:r>
            <a:r>
              <a:rPr lang="en-US" altLang="ko-KR" sz="1200" b="1" dirty="0">
                <a:solidFill>
                  <a:schemeClr val="dk1"/>
                </a:solidFill>
              </a:rPr>
              <a:t>=100)</a:t>
            </a:r>
          </a:p>
          <a:p>
            <a:pPr defTabSz="180000" fontAlgn="base" latinLnBrk="0"/>
            <a:r>
              <a:rPr lang="en-US" altLang="ko-KR" sz="1200" dirty="0">
                <a:solidFill>
                  <a:schemeClr val="dk1"/>
                </a:solidFill>
              </a:rPr>
              <a:t>while True:</a:t>
            </a:r>
          </a:p>
          <a:p>
            <a:pPr defTabSz="180000" fontAlgn="base" latinLnBrk="0"/>
            <a:r>
              <a:rPr lang="en-US" altLang="ko-KR" sz="1200" dirty="0">
                <a:solidFill>
                  <a:schemeClr val="dk1"/>
                </a:solidFill>
              </a:rPr>
              <a:t>	pass # </a:t>
            </a:r>
            <a:r>
              <a:rPr lang="ko-KR" altLang="en-US" sz="1200" dirty="0">
                <a:solidFill>
                  <a:schemeClr val="dk1"/>
                </a:solidFill>
              </a:rPr>
              <a:t>사용자는 필요한 다른 작업을 이곳에 작성한다</a:t>
            </a:r>
            <a:r>
              <a:rPr lang="en-US" altLang="ko-KR" sz="1200" dirty="0">
                <a:solidFill>
                  <a:schemeClr val="dk1"/>
                </a:solidFill>
              </a:rPr>
              <a:t>.</a:t>
            </a:r>
            <a:endParaRPr lang="ko-KR" altLang="en-US" sz="1200" dirty="0">
              <a:solidFill>
                <a:schemeClr val="dk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CA9F30-665E-44BA-B26F-5CA9A03E10AF}"/>
              </a:ext>
            </a:extLst>
          </p:cNvPr>
          <p:cNvSpPr/>
          <p:nvPr/>
        </p:nvSpPr>
        <p:spPr>
          <a:xfrm>
            <a:off x="5580112" y="2348880"/>
            <a:ext cx="3096344" cy="230832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/>
              <a:t>(myenv) pi@pi:~/ch08 $ python 8-3.py</a:t>
            </a:r>
            <a:endParaRPr lang="ko-KR" altLang="en-US" sz="1200" b="1"/>
          </a:p>
          <a:p>
            <a:pPr fontAlgn="base"/>
            <a:r>
              <a:rPr lang="en-US" altLang="ko-KR" sz="1200"/>
              <a:t>21 </a:t>
            </a:r>
            <a:r>
              <a:rPr lang="ko-KR" altLang="en-US" sz="1200"/>
              <a:t>핀에 연결된 스위치 눌러짐</a:t>
            </a:r>
          </a:p>
          <a:p>
            <a:pPr fontAlgn="base"/>
            <a:r>
              <a:rPr lang="en-US" altLang="ko-KR" sz="1200"/>
              <a:t>21 </a:t>
            </a:r>
            <a:r>
              <a:rPr lang="ko-KR" altLang="en-US" sz="1200"/>
              <a:t>핀에 연결된 스위치 눌러짐</a:t>
            </a:r>
          </a:p>
          <a:p>
            <a:pPr fontAlgn="base"/>
            <a:r>
              <a:rPr lang="en-US" altLang="ko-KR" sz="1200"/>
              <a:t>21 </a:t>
            </a:r>
            <a:r>
              <a:rPr lang="ko-KR" altLang="en-US" sz="1200"/>
              <a:t>핀에 연결된 스위치 눌러짐</a:t>
            </a:r>
          </a:p>
          <a:p>
            <a:pPr fontAlgn="base"/>
            <a:r>
              <a:rPr lang="en-US" altLang="ko-KR" sz="1200"/>
              <a:t>21 </a:t>
            </a:r>
            <a:r>
              <a:rPr lang="ko-KR" altLang="en-US" sz="1200"/>
              <a:t>핀에 연결된 스위치 눌러짐</a:t>
            </a:r>
          </a:p>
          <a:p>
            <a:pPr fontAlgn="base"/>
            <a:r>
              <a:rPr lang="en-US" altLang="ko-KR" sz="1200"/>
              <a:t>^CTraceback (most recent call last):</a:t>
            </a:r>
            <a:endParaRPr lang="ko-KR" altLang="en-US" sz="1200"/>
          </a:p>
          <a:p>
            <a:pPr fontAlgn="base"/>
            <a:r>
              <a:rPr lang="en-US" altLang="ko-KR" sz="1200"/>
              <a:t>File "/home/pi/ch08/8-3.py", line 15, in &lt;module&gt;</a:t>
            </a:r>
            <a:endParaRPr lang="ko-KR" altLang="en-US" sz="1200"/>
          </a:p>
          <a:p>
            <a:pPr fontAlgn="base"/>
            <a:r>
              <a:rPr lang="en-US" altLang="ko-KR" sz="1200"/>
              <a:t>pass # </a:t>
            </a:r>
            <a:r>
              <a:rPr lang="ko-KR" altLang="en-US" sz="1200"/>
              <a:t>사용자는 필요한 다른 작업을 이곳에 작성한다</a:t>
            </a:r>
            <a:r>
              <a:rPr lang="en-US" altLang="ko-KR" sz="1200"/>
              <a:t>.</a:t>
            </a:r>
            <a:endParaRPr lang="ko-KR" altLang="en-US" sz="1200"/>
          </a:p>
          <a:p>
            <a:pPr fontAlgn="base"/>
            <a:r>
              <a:rPr lang="en-US" altLang="ko-KR" sz="1200"/>
              <a:t>KeyboardInterrupt</a:t>
            </a:r>
            <a:endParaRPr lang="ko-KR" altLang="en-US" sz="1200"/>
          </a:p>
          <a:p>
            <a:pPr fontAlgn="base"/>
            <a:r>
              <a:rPr lang="en-US" altLang="ko-KR" sz="1200" b="1"/>
              <a:t>(myenv) pi@pi:~/ch08 $</a:t>
            </a:r>
            <a:endParaRPr lang="ko-KR" altLang="en-US" sz="1200" b="1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58C7A5-0FC4-47A9-B939-5D09430E2550}"/>
              </a:ext>
            </a:extLst>
          </p:cNvPr>
          <p:cNvSpPr/>
          <p:nvPr/>
        </p:nvSpPr>
        <p:spPr>
          <a:xfrm>
            <a:off x="257020" y="2397773"/>
            <a:ext cx="6928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400"/>
              <a:t>8-3.py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928959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0870B-7C48-407F-BADB-CB42CF44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예제 </a:t>
            </a:r>
            <a:r>
              <a:rPr lang="en-US" altLang="ko-KR"/>
              <a:t>8-4(</a:t>
            </a:r>
            <a:r>
              <a:rPr lang="ko-KR" altLang="en-US"/>
              <a:t>응용</a:t>
            </a:r>
            <a:r>
              <a:rPr lang="en-US" altLang="ko-KR"/>
              <a:t>) </a:t>
            </a:r>
            <a:r>
              <a:rPr lang="ko-KR" altLang="en-US"/>
              <a:t>버튼을 누를 때마다 </a:t>
            </a:r>
            <a:r>
              <a:rPr lang="en-US" altLang="ko-KR"/>
              <a:t>LED</a:t>
            </a:r>
            <a:r>
              <a:rPr lang="ko-KR" altLang="en-US"/>
              <a:t>를 켜고 끄는 토글 스위치 만들기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AEB4041-143C-429D-AFD1-EEB08852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A95CD8-A985-4041-8EC0-82FFB95FC5DC}"/>
              </a:ext>
            </a:extLst>
          </p:cNvPr>
          <p:cNvSpPr/>
          <p:nvPr/>
        </p:nvSpPr>
        <p:spPr>
          <a:xfrm>
            <a:off x="467544" y="1340768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회로를 그대로 활용하여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스위치 버튼을 처음 누르면 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켜고 다시 누르면 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LED 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끄기를 반복하는 프로그램을 작성하라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add_event_detect()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콜백 함수를 이용하라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kern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781450-3A4D-48FF-9BD4-F92A5DB6D47D}"/>
              </a:ext>
            </a:extLst>
          </p:cNvPr>
          <p:cNvSpPr/>
          <p:nvPr/>
        </p:nvSpPr>
        <p:spPr>
          <a:xfrm>
            <a:off x="723053" y="1916832"/>
            <a:ext cx="5073083" cy="4778231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import time</a:t>
            </a: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import </a:t>
            </a:r>
            <a:r>
              <a:rPr lang="en-US" altLang="ko-KR" sz="1050" dirty="0" err="1">
                <a:solidFill>
                  <a:schemeClr val="dk1"/>
                </a:solidFill>
              </a:rPr>
              <a:t>RPi.GPIO</a:t>
            </a:r>
            <a:r>
              <a:rPr lang="en-US" altLang="ko-KR" sz="1050" dirty="0">
                <a:solidFill>
                  <a:schemeClr val="dk1"/>
                </a:solidFill>
              </a:rPr>
              <a:t> as GPIO</a:t>
            </a:r>
          </a:p>
          <a:p>
            <a:pPr defTabSz="180000" fontAlgn="base" latinLnBrk="0"/>
            <a:endParaRPr lang="en-US" altLang="ko-KR" sz="105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# pin</a:t>
            </a:r>
            <a:r>
              <a:rPr lang="ko-KR" altLang="en-US" sz="1050" dirty="0">
                <a:solidFill>
                  <a:schemeClr val="dk1"/>
                </a:solidFill>
              </a:rPr>
              <a:t>에 연결된 </a:t>
            </a:r>
            <a:r>
              <a:rPr lang="en-US" altLang="ko-KR" sz="1050" dirty="0">
                <a:solidFill>
                  <a:schemeClr val="dk1"/>
                </a:solidFill>
              </a:rPr>
              <a:t>LED</a:t>
            </a:r>
            <a:r>
              <a:rPr lang="ko-KR" altLang="en-US" sz="1050" dirty="0">
                <a:solidFill>
                  <a:schemeClr val="dk1"/>
                </a:solidFill>
              </a:rPr>
              <a:t>에 </a:t>
            </a:r>
            <a:r>
              <a:rPr lang="en-US" altLang="ko-KR" sz="1050" dirty="0">
                <a:solidFill>
                  <a:schemeClr val="dk1"/>
                </a:solidFill>
              </a:rPr>
              <a:t>value(0/1) </a:t>
            </a:r>
            <a:r>
              <a:rPr lang="ko-KR" altLang="en-US" sz="1050" dirty="0">
                <a:solidFill>
                  <a:schemeClr val="dk1"/>
                </a:solidFill>
              </a:rPr>
              <a:t>값을 출력하여 </a:t>
            </a:r>
            <a:r>
              <a:rPr lang="en-US" altLang="ko-KR" sz="1050" dirty="0">
                <a:solidFill>
                  <a:schemeClr val="dk1"/>
                </a:solidFill>
              </a:rPr>
              <a:t>LED</a:t>
            </a:r>
            <a:r>
              <a:rPr lang="ko-KR" altLang="en-US" sz="1050" dirty="0">
                <a:solidFill>
                  <a:schemeClr val="dk1"/>
                </a:solidFill>
              </a:rPr>
              <a:t>를 켜거나 끄는 함수</a:t>
            </a:r>
          </a:p>
          <a:p>
            <a:pPr defTabSz="180000" fontAlgn="base" latinLnBrk="0"/>
            <a:r>
              <a:rPr lang="en-US" altLang="ko-KR" sz="1050" b="1" dirty="0">
                <a:solidFill>
                  <a:schemeClr val="dk1"/>
                </a:solidFill>
              </a:rPr>
              <a:t>def </a:t>
            </a:r>
            <a:r>
              <a:rPr lang="en-US" altLang="ko-KR" sz="1050" b="1" dirty="0" err="1">
                <a:solidFill>
                  <a:schemeClr val="dk1"/>
                </a:solidFill>
              </a:rPr>
              <a:t>led_on_off</a:t>
            </a:r>
            <a:r>
              <a:rPr lang="en-US" altLang="ko-KR" sz="1050" b="1" dirty="0">
                <a:solidFill>
                  <a:schemeClr val="dk1"/>
                </a:solidFill>
              </a:rPr>
              <a:t>(pin, value):</a:t>
            </a: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	</a:t>
            </a:r>
            <a:r>
              <a:rPr lang="en-US" altLang="ko-KR" sz="1050" b="1" dirty="0" err="1">
                <a:solidFill>
                  <a:schemeClr val="dk1"/>
                </a:solidFill>
              </a:rPr>
              <a:t>GPIO.output</a:t>
            </a:r>
            <a:r>
              <a:rPr lang="en-US" altLang="ko-KR" sz="1050" b="1" dirty="0">
                <a:solidFill>
                  <a:schemeClr val="dk1"/>
                </a:solidFill>
              </a:rPr>
              <a:t>(pin, value)</a:t>
            </a:r>
          </a:p>
          <a:p>
            <a:pPr defTabSz="180000" fontAlgn="base" latinLnBrk="0"/>
            <a:endParaRPr lang="en-US" altLang="ko-KR" sz="105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# button</a:t>
            </a:r>
            <a:r>
              <a:rPr lang="ko-KR" altLang="en-US" sz="1050" dirty="0">
                <a:solidFill>
                  <a:schemeClr val="dk1"/>
                </a:solidFill>
              </a:rPr>
              <a:t>이 눌러질 때 호출되는 </a:t>
            </a:r>
            <a:r>
              <a:rPr lang="ko-KR" altLang="en-US" sz="1050" dirty="0" err="1">
                <a:solidFill>
                  <a:schemeClr val="dk1"/>
                </a:solidFill>
              </a:rPr>
              <a:t>콜백</a:t>
            </a:r>
            <a:r>
              <a:rPr lang="ko-KR" altLang="en-US" sz="1050" dirty="0">
                <a:solidFill>
                  <a:schemeClr val="dk1"/>
                </a:solidFill>
              </a:rPr>
              <a:t> 함수</a:t>
            </a:r>
          </a:p>
          <a:p>
            <a:pPr defTabSz="180000" fontAlgn="base" latinLnBrk="0"/>
            <a:r>
              <a:rPr lang="en-US" altLang="ko-KR" sz="1050" b="1" dirty="0">
                <a:solidFill>
                  <a:schemeClr val="dk1"/>
                </a:solidFill>
              </a:rPr>
              <a:t>def </a:t>
            </a:r>
            <a:r>
              <a:rPr lang="en-US" altLang="ko-KR" sz="1050" b="1" dirty="0" err="1">
                <a:solidFill>
                  <a:schemeClr val="dk1"/>
                </a:solidFill>
              </a:rPr>
              <a:t>button_pressed</a:t>
            </a:r>
            <a:r>
              <a:rPr lang="en-US" altLang="ko-KR" sz="1050" b="1" dirty="0">
                <a:solidFill>
                  <a:schemeClr val="dk1"/>
                </a:solidFill>
              </a:rPr>
              <a:t>(pin):</a:t>
            </a: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	global </a:t>
            </a:r>
            <a:r>
              <a:rPr lang="en-US" altLang="ko-KR" sz="1050" dirty="0" err="1">
                <a:solidFill>
                  <a:schemeClr val="dk1"/>
                </a:solidFill>
              </a:rPr>
              <a:t>btn_status</a:t>
            </a:r>
            <a:r>
              <a:rPr lang="en-US" altLang="ko-KR" sz="1050" dirty="0">
                <a:solidFill>
                  <a:schemeClr val="dk1"/>
                </a:solidFill>
              </a:rPr>
              <a:t> # </a:t>
            </a:r>
            <a:r>
              <a:rPr lang="en-US" altLang="ko-KR" sz="1050" dirty="0" err="1">
                <a:solidFill>
                  <a:schemeClr val="dk1"/>
                </a:solidFill>
              </a:rPr>
              <a:t>btn_status</a:t>
            </a:r>
            <a:r>
              <a:rPr lang="ko-KR" altLang="en-US" sz="1050" dirty="0">
                <a:solidFill>
                  <a:schemeClr val="dk1"/>
                </a:solidFill>
              </a:rPr>
              <a:t>는 전역 변수임</a:t>
            </a: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	global led # led</a:t>
            </a:r>
            <a:r>
              <a:rPr lang="ko-KR" altLang="en-US" sz="1050" dirty="0">
                <a:solidFill>
                  <a:schemeClr val="dk1"/>
                </a:solidFill>
              </a:rPr>
              <a:t>는 전역 변수임</a:t>
            </a: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	</a:t>
            </a:r>
            <a:r>
              <a:rPr lang="en-US" altLang="ko-KR" sz="1050" dirty="0" err="1">
                <a:solidFill>
                  <a:schemeClr val="dk1"/>
                </a:solidFill>
              </a:rPr>
              <a:t>btn_status</a:t>
            </a:r>
            <a:r>
              <a:rPr lang="en-US" altLang="ko-KR" sz="1050" dirty="0">
                <a:solidFill>
                  <a:schemeClr val="dk1"/>
                </a:solidFill>
              </a:rPr>
              <a:t> = 0 if </a:t>
            </a:r>
            <a:r>
              <a:rPr lang="en-US" altLang="ko-KR" sz="1050" dirty="0" err="1">
                <a:solidFill>
                  <a:schemeClr val="dk1"/>
                </a:solidFill>
              </a:rPr>
              <a:t>btn_status</a:t>
            </a:r>
            <a:r>
              <a:rPr lang="en-US" altLang="ko-KR" sz="1050" dirty="0">
                <a:solidFill>
                  <a:schemeClr val="dk1"/>
                </a:solidFill>
              </a:rPr>
              <a:t> == 1 else 1</a:t>
            </a: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	</a:t>
            </a:r>
            <a:r>
              <a:rPr lang="en-US" altLang="ko-KR" sz="1050" dirty="0" err="1">
                <a:solidFill>
                  <a:schemeClr val="dk1"/>
                </a:solidFill>
              </a:rPr>
              <a:t>led_on_off</a:t>
            </a:r>
            <a:r>
              <a:rPr lang="en-US" altLang="ko-KR" sz="1050" dirty="0">
                <a:solidFill>
                  <a:schemeClr val="dk1"/>
                </a:solidFill>
              </a:rPr>
              <a:t>(led, </a:t>
            </a:r>
            <a:r>
              <a:rPr lang="en-US" altLang="ko-KR" sz="1050" dirty="0" err="1">
                <a:solidFill>
                  <a:schemeClr val="dk1"/>
                </a:solidFill>
              </a:rPr>
              <a:t>btn_status</a:t>
            </a:r>
            <a:r>
              <a:rPr lang="en-US" altLang="ko-KR" sz="1050" dirty="0">
                <a:solidFill>
                  <a:schemeClr val="dk1"/>
                </a:solidFill>
              </a:rPr>
              <a:t>)</a:t>
            </a:r>
          </a:p>
          <a:p>
            <a:pPr defTabSz="180000" fontAlgn="base" latinLnBrk="0"/>
            <a:endParaRPr lang="en-US" altLang="ko-KR" sz="105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led = 6 # GPIO6</a:t>
            </a: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button = 21 # GPIO21</a:t>
            </a:r>
          </a:p>
          <a:p>
            <a:pPr defTabSz="180000" fontAlgn="base" latinLnBrk="0"/>
            <a:r>
              <a:rPr lang="en-US" altLang="ko-KR" sz="1050" dirty="0" err="1">
                <a:solidFill>
                  <a:schemeClr val="dk1"/>
                </a:solidFill>
              </a:rPr>
              <a:t>btn_status</a:t>
            </a:r>
            <a:r>
              <a:rPr lang="en-US" altLang="ko-KR" sz="1050" dirty="0">
                <a:solidFill>
                  <a:schemeClr val="dk1"/>
                </a:solidFill>
              </a:rPr>
              <a:t> = 0 # </a:t>
            </a:r>
            <a:r>
              <a:rPr lang="ko-KR" altLang="en-US" sz="1050" dirty="0">
                <a:solidFill>
                  <a:schemeClr val="dk1"/>
                </a:solidFill>
              </a:rPr>
              <a:t>현재 버튼이 눌러진 상태</a:t>
            </a:r>
            <a:r>
              <a:rPr lang="en-US" altLang="ko-KR" sz="1050" dirty="0">
                <a:solidFill>
                  <a:schemeClr val="dk1"/>
                </a:solidFill>
              </a:rPr>
              <a:t>. 1</a:t>
            </a:r>
            <a:r>
              <a:rPr lang="ko-KR" altLang="en-US" sz="1050" dirty="0">
                <a:solidFill>
                  <a:schemeClr val="dk1"/>
                </a:solidFill>
              </a:rPr>
              <a:t>이면 눌러져 있음</a:t>
            </a:r>
          </a:p>
          <a:p>
            <a:pPr defTabSz="180000" fontAlgn="base" latinLnBrk="0"/>
            <a:endParaRPr lang="en-US" altLang="ko-KR" sz="105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050" dirty="0" err="1">
                <a:solidFill>
                  <a:schemeClr val="dk1"/>
                </a:solidFill>
              </a:rPr>
              <a:t>GPIO.setmode</a:t>
            </a:r>
            <a:r>
              <a:rPr lang="en-US" altLang="ko-KR" sz="1050" dirty="0">
                <a:solidFill>
                  <a:schemeClr val="dk1"/>
                </a:solidFill>
              </a:rPr>
              <a:t>(GPIO.BCM)</a:t>
            </a:r>
          </a:p>
          <a:p>
            <a:pPr defTabSz="180000" fontAlgn="base" latinLnBrk="0"/>
            <a:r>
              <a:rPr lang="en-US" altLang="ko-KR" sz="1050" dirty="0" err="1">
                <a:solidFill>
                  <a:schemeClr val="dk1"/>
                </a:solidFill>
              </a:rPr>
              <a:t>GPIO.setwarnings</a:t>
            </a:r>
            <a:r>
              <a:rPr lang="en-US" altLang="ko-KR" sz="1050" dirty="0">
                <a:solidFill>
                  <a:schemeClr val="dk1"/>
                </a:solidFill>
              </a:rPr>
              <a:t>(False)</a:t>
            </a:r>
          </a:p>
          <a:p>
            <a:pPr defTabSz="180000" fontAlgn="base" latinLnBrk="0"/>
            <a:r>
              <a:rPr lang="en-US" altLang="ko-KR" sz="1050" dirty="0" err="1">
                <a:solidFill>
                  <a:schemeClr val="dk1"/>
                </a:solidFill>
              </a:rPr>
              <a:t>GPIO.setup</a:t>
            </a:r>
            <a:r>
              <a:rPr lang="en-US" altLang="ko-KR" sz="1050" dirty="0">
                <a:solidFill>
                  <a:schemeClr val="dk1"/>
                </a:solidFill>
              </a:rPr>
              <a:t>(led, GPIO.OUT) # led </a:t>
            </a:r>
            <a:r>
              <a:rPr lang="ko-KR" altLang="en-US" sz="1050" dirty="0">
                <a:solidFill>
                  <a:schemeClr val="dk1"/>
                </a:solidFill>
              </a:rPr>
              <a:t>핀을 출력으로 지정</a:t>
            </a:r>
          </a:p>
          <a:p>
            <a:pPr defTabSz="180000" fontAlgn="base" latinLnBrk="0"/>
            <a:r>
              <a:rPr lang="en-US" altLang="ko-KR" sz="1050" dirty="0" err="1">
                <a:solidFill>
                  <a:schemeClr val="dk1"/>
                </a:solidFill>
              </a:rPr>
              <a:t>GPIO.setup</a:t>
            </a:r>
            <a:r>
              <a:rPr lang="en-US" altLang="ko-KR" sz="1050" dirty="0">
                <a:solidFill>
                  <a:schemeClr val="dk1"/>
                </a:solidFill>
              </a:rPr>
              <a:t>(button, GPIO.IN, GPIO.PUD_DOWN) # button </a:t>
            </a:r>
            <a:r>
              <a:rPr lang="ko-KR" altLang="en-US" sz="1050" dirty="0">
                <a:solidFill>
                  <a:schemeClr val="dk1"/>
                </a:solidFill>
              </a:rPr>
              <a:t>핀을 입력으로 지정</a:t>
            </a:r>
          </a:p>
          <a:p>
            <a:pPr defTabSz="180000" fontAlgn="base" latinLnBrk="0"/>
            <a:endParaRPr lang="en-US" altLang="ko-KR" sz="105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# button</a:t>
            </a:r>
            <a:r>
              <a:rPr lang="ko-KR" altLang="en-US" sz="1050" dirty="0">
                <a:solidFill>
                  <a:schemeClr val="dk1"/>
                </a:solidFill>
              </a:rPr>
              <a:t>을 누르면 </a:t>
            </a:r>
            <a:r>
              <a:rPr lang="en-US" altLang="ko-KR" sz="1050" dirty="0">
                <a:solidFill>
                  <a:schemeClr val="dk1"/>
                </a:solidFill>
              </a:rPr>
              <a:t>100ms</a:t>
            </a:r>
            <a:r>
              <a:rPr lang="ko-KR" altLang="en-US" sz="1050" dirty="0">
                <a:solidFill>
                  <a:schemeClr val="dk1"/>
                </a:solidFill>
              </a:rPr>
              <a:t>의 </a:t>
            </a:r>
            <a:r>
              <a:rPr lang="ko-KR" altLang="en-US" sz="1050" dirty="0" err="1">
                <a:solidFill>
                  <a:schemeClr val="dk1"/>
                </a:solidFill>
              </a:rPr>
              <a:t>디바운스</a:t>
            </a:r>
            <a:r>
              <a:rPr lang="ko-KR" altLang="en-US" sz="1050" dirty="0">
                <a:solidFill>
                  <a:schemeClr val="dk1"/>
                </a:solidFill>
              </a:rPr>
              <a:t> 후 </a:t>
            </a:r>
            <a:r>
              <a:rPr lang="en-US" altLang="ko-KR" sz="1050" dirty="0" err="1">
                <a:solidFill>
                  <a:schemeClr val="dk1"/>
                </a:solidFill>
              </a:rPr>
              <a:t>button_pressed</a:t>
            </a:r>
            <a:r>
              <a:rPr lang="en-US" altLang="ko-KR" sz="1050" dirty="0">
                <a:solidFill>
                  <a:schemeClr val="dk1"/>
                </a:solidFill>
              </a:rPr>
              <a:t>()</a:t>
            </a:r>
            <a:r>
              <a:rPr lang="ko-KR" altLang="en-US" sz="1050" dirty="0">
                <a:solidFill>
                  <a:schemeClr val="dk1"/>
                </a:solidFill>
              </a:rPr>
              <a:t>가 호출되도록 설정</a:t>
            </a:r>
          </a:p>
          <a:p>
            <a:pPr defTabSz="180000" fontAlgn="base" latinLnBrk="0"/>
            <a:r>
              <a:rPr lang="en-US" altLang="ko-KR" sz="1050" b="1" dirty="0" err="1">
                <a:solidFill>
                  <a:schemeClr val="dk1"/>
                </a:solidFill>
              </a:rPr>
              <a:t>GPIO.add_event_detect</a:t>
            </a:r>
            <a:r>
              <a:rPr lang="en-US" altLang="ko-KR" sz="1050" b="1" dirty="0">
                <a:solidFill>
                  <a:schemeClr val="dk1"/>
                </a:solidFill>
              </a:rPr>
              <a:t>(button, GPIO.RISING, </a:t>
            </a:r>
            <a:r>
              <a:rPr lang="en-US" altLang="ko-KR" sz="1050" b="1" dirty="0" err="1">
                <a:solidFill>
                  <a:schemeClr val="dk1"/>
                </a:solidFill>
              </a:rPr>
              <a:t>button_pressed</a:t>
            </a:r>
            <a:r>
              <a:rPr lang="en-US" altLang="ko-KR" sz="1050" b="1" dirty="0">
                <a:solidFill>
                  <a:schemeClr val="dk1"/>
                </a:solidFill>
              </a:rPr>
              <a:t>, 100)</a:t>
            </a:r>
          </a:p>
          <a:p>
            <a:pPr defTabSz="180000" fontAlgn="base" latinLnBrk="0"/>
            <a:endParaRPr lang="en-US" altLang="ko-KR" sz="105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050" dirty="0">
                <a:solidFill>
                  <a:schemeClr val="dk1"/>
                </a:solidFill>
              </a:rPr>
              <a:t>print("</a:t>
            </a:r>
            <a:r>
              <a:rPr lang="ko-KR" altLang="en-US" sz="1050" dirty="0">
                <a:solidFill>
                  <a:schemeClr val="dk1"/>
                </a:solidFill>
              </a:rPr>
              <a:t>스위치를 누르면 </a:t>
            </a:r>
            <a:r>
              <a:rPr lang="en-US" altLang="ko-KR" sz="1050" dirty="0">
                <a:solidFill>
                  <a:schemeClr val="dk1"/>
                </a:solidFill>
              </a:rPr>
              <a:t>LED</a:t>
            </a:r>
            <a:r>
              <a:rPr lang="ko-KR" altLang="en-US" sz="1050" dirty="0">
                <a:solidFill>
                  <a:schemeClr val="dk1"/>
                </a:solidFill>
              </a:rPr>
              <a:t>가 </a:t>
            </a:r>
            <a:r>
              <a:rPr lang="en-US" altLang="ko-KR" sz="1050" dirty="0">
                <a:solidFill>
                  <a:schemeClr val="dk1"/>
                </a:solidFill>
              </a:rPr>
              <a:t>On</a:t>
            </a:r>
            <a:r>
              <a:rPr lang="ko-KR" altLang="en-US" sz="1050" dirty="0">
                <a:solidFill>
                  <a:schemeClr val="dk1"/>
                </a:solidFill>
              </a:rPr>
              <a:t>되고 다시 누르면 </a:t>
            </a:r>
            <a:r>
              <a:rPr lang="en-US" altLang="ko-KR" sz="1050" dirty="0">
                <a:solidFill>
                  <a:schemeClr val="dk1"/>
                </a:solidFill>
              </a:rPr>
              <a:t>Off </a:t>
            </a:r>
            <a:r>
              <a:rPr lang="ko-KR" altLang="en-US" sz="1050" dirty="0">
                <a:solidFill>
                  <a:schemeClr val="dk1"/>
                </a:solidFill>
              </a:rPr>
              <a:t>됩니다</a:t>
            </a:r>
            <a:r>
              <a:rPr lang="en-US" altLang="ko-KR" sz="1050" dirty="0">
                <a:solidFill>
                  <a:schemeClr val="dk1"/>
                </a:solidFill>
              </a:rPr>
              <a:t>")</a:t>
            </a:r>
            <a:endParaRPr lang="ko-KR" altLang="en-US" sz="1050" dirty="0">
              <a:solidFill>
                <a:schemeClr val="dk1"/>
              </a:solidFill>
            </a:endParaRPr>
          </a:p>
          <a:p>
            <a:pPr defTabSz="180000" fontAlgn="base" latinLnBrk="0"/>
            <a:r>
              <a:rPr lang="en-US" altLang="ko-KR" sz="1050" b="1" dirty="0">
                <a:solidFill>
                  <a:schemeClr val="dk1"/>
                </a:solidFill>
              </a:rPr>
              <a:t>while True:</a:t>
            </a:r>
          </a:p>
          <a:p>
            <a:pPr defTabSz="180000" fontAlgn="base" latinLnBrk="0"/>
            <a:r>
              <a:rPr lang="en-US" altLang="ko-KR" sz="1050" b="1" dirty="0">
                <a:solidFill>
                  <a:schemeClr val="dk1"/>
                </a:solidFill>
              </a:rPr>
              <a:t>	pass </a:t>
            </a:r>
            <a:r>
              <a:rPr lang="en-US" altLang="ko-KR" sz="1050" dirty="0">
                <a:solidFill>
                  <a:schemeClr val="dk1"/>
                </a:solidFill>
              </a:rPr>
              <a:t># </a:t>
            </a:r>
            <a:r>
              <a:rPr lang="ko-KR" altLang="en-US" sz="1050" dirty="0">
                <a:solidFill>
                  <a:schemeClr val="dk1"/>
                </a:solidFill>
              </a:rPr>
              <a:t>사용자는 필요한 다른 작업</a:t>
            </a:r>
            <a:r>
              <a:rPr lang="ko-KR" altLang="en-US" sz="1050" dirty="0"/>
              <a:t>이 있으면 </a:t>
            </a:r>
            <a:r>
              <a:rPr lang="ko-KR" altLang="en-US" sz="1050" dirty="0">
                <a:solidFill>
                  <a:schemeClr val="dk1"/>
                </a:solidFill>
              </a:rPr>
              <a:t>이곳에 작성한다</a:t>
            </a:r>
            <a:r>
              <a:rPr lang="en-US" altLang="ko-KR" sz="1050" dirty="0">
                <a:solidFill>
                  <a:schemeClr val="dk1"/>
                </a:solidFill>
              </a:rPr>
              <a:t>.</a:t>
            </a:r>
            <a:endParaRPr lang="ko-KR" altLang="en-US" sz="1050" dirty="0">
              <a:solidFill>
                <a:schemeClr val="dk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E27DF6-C96A-46D7-A9ED-08B9E5820DE6}"/>
              </a:ext>
            </a:extLst>
          </p:cNvPr>
          <p:cNvSpPr/>
          <p:nvPr/>
        </p:nvSpPr>
        <p:spPr>
          <a:xfrm>
            <a:off x="5146075" y="3212976"/>
            <a:ext cx="3890421" cy="132343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100" b="1"/>
              <a:t>(myenv) pi@pi:~/ch08 $ python 8-4.py</a:t>
            </a:r>
          </a:p>
          <a:p>
            <a:pPr fontAlgn="base"/>
            <a:r>
              <a:rPr lang="ko-KR" altLang="en-US" sz="1100"/>
              <a:t>스위치를 누르면 </a:t>
            </a:r>
            <a:r>
              <a:rPr lang="en-US" altLang="ko-KR" sz="1100"/>
              <a:t>LED</a:t>
            </a:r>
            <a:r>
              <a:rPr lang="ko-KR" altLang="en-US" sz="1100"/>
              <a:t>가 </a:t>
            </a:r>
            <a:r>
              <a:rPr lang="en-US" altLang="ko-KR" sz="1100"/>
              <a:t>On</a:t>
            </a:r>
            <a:r>
              <a:rPr lang="ko-KR" altLang="en-US" sz="1100"/>
              <a:t>되고 다시 누르면 </a:t>
            </a:r>
            <a:r>
              <a:rPr lang="en-US" altLang="ko-KR" sz="1100"/>
              <a:t>Off </a:t>
            </a:r>
            <a:r>
              <a:rPr lang="ko-KR" altLang="en-US" sz="1100"/>
              <a:t>됩니다</a:t>
            </a:r>
          </a:p>
          <a:p>
            <a:pPr fontAlgn="base"/>
            <a:r>
              <a:rPr lang="en-US" altLang="ko-KR" sz="1100"/>
              <a:t>^CTraceback (most recent call last):</a:t>
            </a:r>
          </a:p>
          <a:p>
            <a:pPr fontAlgn="base"/>
            <a:r>
              <a:rPr lang="en-US" altLang="ko-KR" sz="1100"/>
              <a:t>File "/home/pi/ch08/8-4.py", line 29, in &lt;module&gt;</a:t>
            </a:r>
          </a:p>
          <a:p>
            <a:pPr fontAlgn="base"/>
            <a:r>
              <a:rPr lang="en-US" altLang="ko-KR" sz="1100"/>
              <a:t>pass # </a:t>
            </a:r>
            <a:r>
              <a:rPr lang="ko-KR" altLang="en-US" sz="1100"/>
              <a:t>사용자는 필요한 다른 작업을 이곳에 작성한다</a:t>
            </a:r>
            <a:r>
              <a:rPr lang="en-US" altLang="ko-KR" sz="1100"/>
              <a:t>.</a:t>
            </a:r>
            <a:endParaRPr lang="ko-KR" altLang="en-US" sz="1100"/>
          </a:p>
          <a:p>
            <a:pPr fontAlgn="base"/>
            <a:r>
              <a:rPr lang="en-US" altLang="ko-KR" sz="1100"/>
              <a:t>KeyboardInterrupt</a:t>
            </a:r>
          </a:p>
          <a:p>
            <a:pPr fontAlgn="base"/>
            <a:r>
              <a:rPr lang="en-US" altLang="ko-KR" sz="1100" b="1"/>
              <a:t>(myenv) pi@pi:~/ch08 $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273875-63ED-4F8B-986C-D060384D29CD}"/>
              </a:ext>
            </a:extLst>
          </p:cNvPr>
          <p:cNvSpPr/>
          <p:nvPr/>
        </p:nvSpPr>
        <p:spPr>
          <a:xfrm>
            <a:off x="60798" y="1832854"/>
            <a:ext cx="6928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400"/>
              <a:t>8-4.py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2620187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74970-4128-1648-B833-F6AD903B6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PWM </a:t>
            </a:r>
            <a:r>
              <a:rPr kumimoji="1" lang="ko-KR" altLang="en-US"/>
              <a:t>제어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35DC50-0B33-7E47-8AB2-3621626E440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9559" y="1340768"/>
            <a:ext cx="8153400" cy="5040560"/>
          </a:xfrm>
        </p:spPr>
        <p:txBody>
          <a:bodyPr/>
          <a:lstStyle/>
          <a:p>
            <a:r>
              <a:rPr kumimoji="1" lang="en-US" altLang="ko-KR" dirty="0"/>
              <a:t>PWM(Pulse Width Modulation)</a:t>
            </a:r>
          </a:p>
          <a:p>
            <a:pPr lvl="1"/>
            <a:r>
              <a:rPr kumimoji="1" lang="ko-KR" altLang="en-US"/>
              <a:t>디지털 신호의 파형 폭을 조절하여 전압이나 전력 제어 방법</a:t>
            </a:r>
            <a:endParaRPr kumimoji="1" lang="en-US" altLang="ko-KR"/>
          </a:p>
          <a:p>
            <a:pPr lvl="2"/>
            <a:r>
              <a:rPr kumimoji="1" lang="ko-KR" altLang="en-US"/>
              <a:t>디지털 출력으로 아날로그 회로를 제어할 때 주로 사용</a:t>
            </a:r>
            <a:endParaRPr kumimoji="1" lang="en-US" altLang="ko-KR"/>
          </a:p>
          <a:p>
            <a:endParaRPr kumimoji="1" lang="en-US" altLang="ko-KR"/>
          </a:p>
          <a:p>
            <a:r>
              <a:rPr kumimoji="1" lang="ko-KR" altLang="en-US"/>
              <a:t>디지털 파형</a:t>
            </a:r>
            <a:r>
              <a:rPr kumimoji="1" lang="en-US" altLang="ko-KR"/>
              <a:t>(pulse, </a:t>
            </a:r>
            <a:r>
              <a:rPr kumimoji="1" lang="ko-KR" altLang="en-US"/>
              <a:t>펄스</a:t>
            </a:r>
            <a:r>
              <a:rPr kumimoji="1" lang="en-US" altLang="ko-KR"/>
              <a:t>)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High-&gt;Low-&gt;High-&gt;Low</a:t>
            </a:r>
            <a:r>
              <a:rPr kumimoji="1" lang="mr-IN" altLang="ko-KR" dirty="0"/>
              <a:t>…</a:t>
            </a:r>
            <a:r>
              <a:rPr kumimoji="1" lang="en-US" altLang="ko-KR" dirty="0"/>
              <a:t> </a:t>
            </a:r>
            <a:r>
              <a:rPr kumimoji="1" lang="ko-KR" altLang="en-US" dirty="0"/>
              <a:t>로 </a:t>
            </a:r>
            <a:r>
              <a:rPr kumimoji="1" lang="ko-KR" altLang="en-US"/>
              <a:t>이어지는 모양의 디지털 신호</a:t>
            </a:r>
            <a:endParaRPr kumimoji="1" lang="en-US" altLang="ko-KR"/>
          </a:p>
          <a:p>
            <a:pPr lvl="2"/>
            <a:r>
              <a:rPr kumimoji="1" lang="ko-KR" altLang="en-US"/>
              <a:t>구형파</a:t>
            </a:r>
            <a:r>
              <a:rPr kumimoji="1" lang="en-US" altLang="ko-KR"/>
              <a:t>, </a:t>
            </a:r>
            <a:r>
              <a:rPr kumimoji="1" lang="ko-KR" altLang="en-US"/>
              <a:t>사각파라고 부름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A05D6B-96EC-0041-8591-CCEA845EA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40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331CE6-AD3C-4B63-A09D-8D1558A3D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4327504"/>
            <a:ext cx="5940152" cy="204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726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054472F-EDFF-4C1A-A4FD-7FE72D205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듀티 사이클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A0E912-5EE6-405D-A550-CC740A40FD3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2304256"/>
          </a:xfrm>
        </p:spPr>
        <p:txBody>
          <a:bodyPr>
            <a:normAutofit lnSpcReduction="10000"/>
          </a:bodyPr>
          <a:lstStyle/>
          <a:p>
            <a:r>
              <a:rPr lang="ko-KR" altLang="en-US"/>
              <a:t>듀티 사이클</a:t>
            </a:r>
            <a:r>
              <a:rPr lang="en-US" altLang="ko-KR"/>
              <a:t>(Duty</a:t>
            </a:r>
            <a:r>
              <a:rPr lang="ko-KR" altLang="en-US"/>
              <a:t> </a:t>
            </a:r>
            <a:r>
              <a:rPr lang="en-US" altLang="ko-KR"/>
              <a:t>Cycle)</a:t>
            </a:r>
          </a:p>
          <a:p>
            <a:pPr lvl="1"/>
            <a:r>
              <a:rPr lang="ko-KR" altLang="en-US"/>
              <a:t>파형의 전체 시간에 대한 </a:t>
            </a:r>
            <a:r>
              <a:rPr lang="en-US" altLang="ko-KR"/>
              <a:t>High </a:t>
            </a:r>
            <a:r>
              <a:rPr lang="ko-KR" altLang="en-US"/>
              <a:t>시간의 비율</a:t>
            </a:r>
            <a:r>
              <a:rPr lang="en-US" altLang="ko-KR"/>
              <a:t>(%)</a:t>
            </a:r>
          </a:p>
          <a:p>
            <a:pPr lvl="2"/>
            <a:r>
              <a:rPr lang="en-US" altLang="ko-KR"/>
              <a:t>High</a:t>
            </a:r>
            <a:r>
              <a:rPr lang="ko-KR" altLang="en-US"/>
              <a:t>가 작동 상황을 나타낸다고 할 때</a:t>
            </a:r>
            <a:r>
              <a:rPr lang="en-US" altLang="ko-KR"/>
              <a:t>, </a:t>
            </a:r>
            <a:r>
              <a:rPr lang="ko-KR" altLang="en-US"/>
              <a:t>신호나 시스템이 활성화된 시간의 비율</a:t>
            </a:r>
            <a:endParaRPr lang="en-US" altLang="ko-KR"/>
          </a:p>
          <a:p>
            <a:pPr lvl="1"/>
            <a:r>
              <a:rPr lang="ko-KR" altLang="en-US"/>
              <a:t>듀티 사이클이 큰 신호일수도록</a:t>
            </a:r>
            <a:r>
              <a:rPr lang="en-US" altLang="ko-KR"/>
              <a:t>, </a:t>
            </a:r>
          </a:p>
          <a:p>
            <a:pPr lvl="2"/>
            <a:r>
              <a:rPr lang="ko-KR" altLang="en-US"/>
              <a:t>신호 수신 측의 </a:t>
            </a:r>
            <a:r>
              <a:rPr lang="en-US" altLang="ko-KR"/>
              <a:t>High(5V) </a:t>
            </a:r>
            <a:r>
              <a:rPr lang="ko-KR" altLang="en-US"/>
              <a:t>시간 율 증가 </a:t>
            </a:r>
            <a:r>
              <a:rPr lang="en-US" altLang="ko-KR"/>
              <a:t>-&gt; </a:t>
            </a:r>
            <a:r>
              <a:rPr lang="ko-KR" altLang="en-US"/>
              <a:t>평균적으로 더 높은 전압 전달 </a:t>
            </a:r>
            <a:r>
              <a:rPr lang="en-US" altLang="ko-KR"/>
              <a:t>-&gt; </a:t>
            </a:r>
            <a:r>
              <a:rPr lang="ko-KR" altLang="en-US"/>
              <a:t>수신 측에 </a:t>
            </a:r>
            <a:r>
              <a:rPr lang="en-US" altLang="ko-KR"/>
              <a:t>LED</a:t>
            </a:r>
            <a:r>
              <a:rPr lang="ko-KR" altLang="en-US"/>
              <a:t>가 있다면</a:t>
            </a:r>
            <a:r>
              <a:rPr lang="en-US" altLang="ko-KR"/>
              <a:t>, </a:t>
            </a:r>
            <a:r>
              <a:rPr lang="ko-KR" altLang="en-US"/>
              <a:t>더 밝음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C8A64-5A71-421E-949B-8ABD3D17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6B0BEF9-FCFD-467C-8630-D156AEDD9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824630"/>
            <a:ext cx="6336704" cy="280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96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101B1-D6A9-374A-81B5-BEFAF1E7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PWM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D9768A-4EE6-5341-966D-7EE0F70FB9E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ko-KR" altLang="en-US"/>
              <a:t>파형 폭</a:t>
            </a:r>
            <a:r>
              <a:rPr kumimoji="1" lang="en-US" altLang="ko-KR"/>
              <a:t>(PW,</a:t>
            </a:r>
            <a:r>
              <a:rPr kumimoji="1" lang="ko-KR" altLang="en-US"/>
              <a:t> </a:t>
            </a:r>
            <a:r>
              <a:rPr kumimoji="1" lang="en-US" altLang="ko-KR"/>
              <a:t>Pulse</a:t>
            </a:r>
            <a:r>
              <a:rPr kumimoji="1" lang="ko-KR" altLang="en-US"/>
              <a:t> </a:t>
            </a:r>
            <a:r>
              <a:rPr kumimoji="1" lang="en-US" altLang="ko-KR"/>
              <a:t>Width)</a:t>
            </a:r>
          </a:p>
          <a:p>
            <a:pPr lvl="1"/>
            <a:r>
              <a:rPr kumimoji="1" lang="ko-KR" altLang="en-US"/>
              <a:t>파형의 </a:t>
            </a:r>
            <a:r>
              <a:rPr kumimoji="1" lang="en-US" altLang="ko-KR"/>
              <a:t>High </a:t>
            </a:r>
            <a:r>
              <a:rPr kumimoji="1" lang="ko-KR" altLang="en-US"/>
              <a:t>길이</a:t>
            </a:r>
            <a:endParaRPr kumimoji="1" lang="en-US" altLang="ko-KR"/>
          </a:p>
          <a:p>
            <a:r>
              <a:rPr kumimoji="1" lang="en-US" altLang="ko-KR"/>
              <a:t>PWM</a:t>
            </a:r>
          </a:p>
          <a:p>
            <a:pPr lvl="1"/>
            <a:r>
              <a:rPr kumimoji="1" lang="ko-KR" altLang="en-US"/>
              <a:t>파형 폭의 크기를 조절하여 평균 전압을 조절하는 기법</a:t>
            </a:r>
            <a:endParaRPr kumimoji="1" lang="en-US" altLang="ko-KR"/>
          </a:p>
          <a:p>
            <a:pPr lvl="2"/>
            <a:r>
              <a:rPr kumimoji="1" lang="ko-KR" altLang="en-US"/>
              <a:t>듀티 사이클을 조절하여 평균 전압 조절</a:t>
            </a:r>
            <a:endParaRPr kumimoji="1" lang="en-US" altLang="ko-KR"/>
          </a:p>
          <a:p>
            <a:r>
              <a:rPr kumimoji="1" lang="en-US" altLang="ko-KR"/>
              <a:t>GPIO PWM </a:t>
            </a:r>
            <a:r>
              <a:rPr kumimoji="1" lang="ko-KR" altLang="en-US"/>
              <a:t>제어 함수들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GPIO.PWM(pin, frequency)</a:t>
            </a:r>
          </a:p>
          <a:p>
            <a:pPr lvl="2"/>
            <a:r>
              <a:rPr kumimoji="1" lang="en-US" altLang="ko-KR" dirty="0" err="1"/>
              <a:t>pwm</a:t>
            </a:r>
            <a:r>
              <a:rPr kumimoji="1" lang="en-US" altLang="ko-KR" dirty="0"/>
              <a:t> </a:t>
            </a:r>
            <a:r>
              <a:rPr kumimoji="1" lang="ko-KR" altLang="en-US" dirty="0"/>
              <a:t>객체 생성</a:t>
            </a:r>
            <a:endParaRPr kumimoji="1" lang="en-US" altLang="ko-KR" dirty="0"/>
          </a:p>
          <a:p>
            <a:pPr lvl="2"/>
            <a:r>
              <a:rPr kumimoji="1" lang="en-US" altLang="ko-KR" dirty="0"/>
              <a:t>frequency</a:t>
            </a:r>
            <a:r>
              <a:rPr kumimoji="1" lang="ko-KR" altLang="en-US"/>
              <a:t>가 크면</a:t>
            </a:r>
            <a:r>
              <a:rPr kumimoji="1" lang="en-US" altLang="ko-KR"/>
              <a:t>, </a:t>
            </a:r>
            <a:r>
              <a:rPr kumimoji="1" lang="ko-KR" altLang="en-US"/>
              <a:t>주기는 </a:t>
            </a:r>
            <a:r>
              <a:rPr kumimoji="1" lang="ko-KR" altLang="en-US" dirty="0"/>
              <a:t>짧아지고 깜박 꺼림이 </a:t>
            </a:r>
            <a:r>
              <a:rPr kumimoji="1" lang="ko-KR" altLang="en-US" dirty="0" err="1"/>
              <a:t>빨라짐</a:t>
            </a:r>
            <a:endParaRPr kumimoji="1" lang="en-US" altLang="ko-KR" dirty="0"/>
          </a:p>
          <a:p>
            <a:pPr lvl="2"/>
            <a:r>
              <a:rPr kumimoji="1" lang="en-US" altLang="ko-KR" dirty="0"/>
              <a:t>frequency</a:t>
            </a:r>
            <a:r>
              <a:rPr kumimoji="1" lang="ko-KR" altLang="en-US"/>
              <a:t>가 작으면</a:t>
            </a:r>
            <a:r>
              <a:rPr kumimoji="1" lang="en-US" altLang="ko-KR"/>
              <a:t>, </a:t>
            </a:r>
            <a:r>
              <a:rPr kumimoji="1" lang="ko-KR" altLang="en-US"/>
              <a:t>주기는 </a:t>
            </a:r>
            <a:r>
              <a:rPr kumimoji="1" lang="ko-KR" altLang="en-US" dirty="0"/>
              <a:t>길어지고 깜박 </a:t>
            </a:r>
            <a:r>
              <a:rPr kumimoji="1" lang="ko-KR" altLang="en-US"/>
              <a:t>꺼림이 느려짐</a:t>
            </a:r>
            <a:endParaRPr kumimoji="1" lang="en-US" altLang="ko-KR"/>
          </a:p>
          <a:p>
            <a:pPr lvl="2"/>
            <a:r>
              <a:rPr kumimoji="1" lang="ko-KR" altLang="en-US"/>
              <a:t>예</a:t>
            </a:r>
            <a:r>
              <a:rPr kumimoji="1" lang="en-US" altLang="ko-KR"/>
              <a:t>) </a:t>
            </a:r>
            <a:r>
              <a:rPr lang="en" altLang="ko-KR" b="1">
                <a:solidFill>
                  <a:srgbClr val="000000"/>
                </a:solidFill>
              </a:rPr>
              <a:t>pwm = GPIO.PWM(6, 50) </a:t>
            </a:r>
          </a:p>
          <a:p>
            <a:pPr lvl="3"/>
            <a:r>
              <a:rPr kumimoji="1" lang="en-US" altLang="ko-KR"/>
              <a:t>GPIO 6</a:t>
            </a:r>
            <a:r>
              <a:rPr kumimoji="1" lang="ko-KR" altLang="en-US"/>
              <a:t>번 핀에 </a:t>
            </a:r>
            <a:r>
              <a:rPr kumimoji="1" lang="en-US" altLang="ko-KR"/>
              <a:t>50Hz</a:t>
            </a:r>
            <a:r>
              <a:rPr kumimoji="1" lang="ko-KR" altLang="en-US"/>
              <a:t>의 파형을 발생시킬 수 있는 </a:t>
            </a:r>
            <a:r>
              <a:rPr kumimoji="1" lang="en-US" altLang="ko-KR"/>
              <a:t>PWM </a:t>
            </a:r>
            <a:r>
              <a:rPr kumimoji="1" lang="ko-KR" altLang="en-US"/>
              <a:t>객체</a:t>
            </a:r>
            <a:r>
              <a:rPr kumimoji="1" lang="en-US" altLang="ko-KR"/>
              <a:t> </a:t>
            </a:r>
            <a:r>
              <a:rPr kumimoji="1" lang="ko-KR" altLang="en-US"/>
              <a:t>생성</a:t>
            </a:r>
            <a:endParaRPr kumimoji="1" lang="en-US" altLang="ko-KR"/>
          </a:p>
          <a:p>
            <a:pPr lvl="1"/>
            <a:r>
              <a:rPr kumimoji="1" lang="en-US" altLang="ko-KR"/>
              <a:t>PWM</a:t>
            </a:r>
            <a:r>
              <a:rPr kumimoji="1" lang="en-US" altLang="ko-KR" dirty="0" err="1"/>
              <a:t>.</a:t>
            </a:r>
            <a:r>
              <a:rPr kumimoji="1" lang="en-US" altLang="ko-KR" err="1"/>
              <a:t>start</a:t>
            </a:r>
            <a:r>
              <a:rPr kumimoji="1" lang="en-US" altLang="ko-KR"/>
              <a:t>(d)</a:t>
            </a:r>
            <a:endParaRPr kumimoji="1" lang="en-US" altLang="ko-KR" dirty="0"/>
          </a:p>
          <a:p>
            <a:pPr lvl="2"/>
            <a:r>
              <a:rPr kumimoji="1" lang="en-US" altLang="ko-KR" err="1"/>
              <a:t>PWM</a:t>
            </a:r>
            <a:r>
              <a:rPr kumimoji="1" lang="en-US" altLang="ko-KR"/>
              <a:t> </a:t>
            </a:r>
            <a:r>
              <a:rPr kumimoji="1" lang="ko-KR" altLang="en-US"/>
              <a:t>시작</a:t>
            </a:r>
            <a:r>
              <a:rPr kumimoji="1" lang="en-US" altLang="ko-KR"/>
              <a:t>, d</a:t>
            </a:r>
            <a:r>
              <a:rPr kumimoji="1" lang="ko-KR" altLang="en-US"/>
              <a:t>의 </a:t>
            </a:r>
            <a:r>
              <a:rPr kumimoji="1" lang="en-US" altLang="ko-KR"/>
              <a:t>duty cycle</a:t>
            </a:r>
            <a:r>
              <a:rPr kumimoji="1" lang="ko-KR" altLang="en-US"/>
              <a:t>로 반복하여 펄스 발생</a:t>
            </a:r>
            <a:endParaRPr kumimoji="1" lang="en-US" altLang="ko-KR"/>
          </a:p>
          <a:p>
            <a:pPr lvl="2"/>
            <a:r>
              <a:rPr kumimoji="1" lang="ko-KR" altLang="en-US"/>
              <a:t>예</a:t>
            </a:r>
            <a:r>
              <a:rPr kumimoji="1" lang="en-US" altLang="ko-KR"/>
              <a:t>) </a:t>
            </a:r>
            <a:r>
              <a:rPr kumimoji="1" lang="en-US" altLang="ko-KR" b="1"/>
              <a:t>pwm.start(30)</a:t>
            </a:r>
          </a:p>
          <a:p>
            <a:pPr lvl="3"/>
            <a:r>
              <a:rPr kumimoji="1" lang="en-US" altLang="ko-KR"/>
              <a:t>pwm </a:t>
            </a:r>
            <a:r>
              <a:rPr kumimoji="1" lang="ko-KR" altLang="en-US"/>
              <a:t>객체에서 </a:t>
            </a:r>
            <a:r>
              <a:rPr kumimoji="1" lang="en-US" altLang="ko-KR"/>
              <a:t>50Hz</a:t>
            </a:r>
            <a:r>
              <a:rPr kumimoji="1" lang="ko-KR" altLang="en-US"/>
              <a:t>의 주기로 </a:t>
            </a:r>
            <a:r>
              <a:rPr kumimoji="1" lang="en-US" altLang="ko-KR"/>
              <a:t>30%</a:t>
            </a:r>
            <a:r>
              <a:rPr kumimoji="1" lang="ko-KR" altLang="en-US"/>
              <a:t>의 듀티 사이클의 파형 발생 지시</a:t>
            </a:r>
            <a:r>
              <a:rPr kumimoji="1" lang="en-US" altLang="ko-KR"/>
              <a:t>. </a:t>
            </a:r>
            <a:r>
              <a:rPr kumimoji="1" lang="ko-KR" altLang="en-US"/>
              <a:t>파형 발생 시작됨</a:t>
            </a:r>
            <a:endParaRPr kumimoji="1" lang="en-US" altLang="ko-KR" dirty="0"/>
          </a:p>
          <a:p>
            <a:pPr lvl="1"/>
            <a:r>
              <a:rPr kumimoji="1" lang="en-US" altLang="ko-KR" dirty="0" err="1"/>
              <a:t>PWM.ChangeDutyCycle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dutyCycle</a:t>
            </a:r>
            <a:r>
              <a:rPr kumimoji="1" lang="en-US" altLang="ko-KR" dirty="0"/>
              <a:t>)</a:t>
            </a:r>
          </a:p>
          <a:p>
            <a:pPr lvl="2"/>
            <a:r>
              <a:rPr kumimoji="1" lang="en-US" altLang="ko-KR" dirty="0"/>
              <a:t>duty cycle(%) </a:t>
            </a:r>
            <a:r>
              <a:rPr kumimoji="1" lang="ko-KR" altLang="en-US" dirty="0"/>
              <a:t>변경</a:t>
            </a:r>
            <a:endParaRPr kumimoji="1" lang="en-US" altLang="ko-KR" dirty="0"/>
          </a:p>
          <a:p>
            <a:pPr lvl="2"/>
            <a:r>
              <a:rPr kumimoji="1" lang="en-US" altLang="ko-KR" dirty="0" err="1"/>
              <a:t>dutyCycle</a:t>
            </a:r>
            <a:r>
              <a:rPr kumimoji="1" lang="ko-KR" altLang="en-US" dirty="0"/>
              <a:t>에 </a:t>
            </a:r>
            <a:r>
              <a:rPr kumimoji="1" lang="en-US" altLang="ko-KR" dirty="0"/>
              <a:t>100</a:t>
            </a:r>
            <a:r>
              <a:rPr kumimoji="1" lang="ko-KR" altLang="en-US" dirty="0"/>
              <a:t>을</a:t>
            </a:r>
            <a:r>
              <a:rPr kumimoji="1" lang="en-US" altLang="ko-KR" dirty="0"/>
              <a:t> </a:t>
            </a:r>
            <a:r>
              <a:rPr kumimoji="1" lang="ko-KR" altLang="en-US" dirty="0"/>
              <a:t>기준으로 하는 </a:t>
            </a:r>
            <a:r>
              <a:rPr kumimoji="1" lang="ko-KR" altLang="en-US"/>
              <a:t>숫자 전달</a:t>
            </a:r>
            <a:endParaRPr kumimoji="1" lang="en-US" altLang="ko-KR"/>
          </a:p>
          <a:p>
            <a:pPr lvl="2"/>
            <a:r>
              <a:rPr kumimoji="1" lang="ko-KR" altLang="en-US"/>
              <a:t>예</a:t>
            </a:r>
            <a:r>
              <a:rPr kumimoji="1" lang="en-US" altLang="ko-KR"/>
              <a:t>) </a:t>
            </a:r>
            <a:r>
              <a:rPr kumimoji="1" lang="en-US" altLang="ko-KR" b="1"/>
              <a:t>pwm.ChangeDutyCycle(60)</a:t>
            </a:r>
          </a:p>
          <a:p>
            <a:pPr lvl="3"/>
            <a:r>
              <a:rPr kumimoji="1" lang="ko-KR" altLang="en-US"/>
              <a:t>듀티 사이클을 </a:t>
            </a:r>
            <a:r>
              <a:rPr kumimoji="1" lang="en-US" altLang="ko-KR"/>
              <a:t>60%</a:t>
            </a:r>
            <a:r>
              <a:rPr kumimoji="1" lang="ko-KR" altLang="en-US"/>
              <a:t>로 변경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1C22D9-B3C7-3D4A-A99F-9B2B3F2D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42</a:t>
            </a:fld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8430D4-904C-4546-B795-1CBEE5B21641}"/>
              </a:ext>
            </a:extLst>
          </p:cNvPr>
          <p:cNvSpPr/>
          <p:nvPr/>
        </p:nvSpPr>
        <p:spPr>
          <a:xfrm>
            <a:off x="4208030" y="155248"/>
            <a:ext cx="457200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/>
            <a:r>
              <a:rPr lang="en-US" altLang="ko-KR" sz="1200"/>
              <a:t>PWM( # PWM </a:t>
            </a:r>
            <a:r>
              <a:rPr lang="ko-KR" altLang="en-US" sz="1200"/>
              <a:t>객체를 생성하여 리턴</a:t>
            </a:r>
          </a:p>
          <a:p>
            <a:pPr defTabSz="180000"/>
            <a:r>
              <a:rPr lang="en-US" altLang="ko-KR" sz="1200"/>
              <a:t>	pin, # </a:t>
            </a:r>
            <a:r>
              <a:rPr lang="ko-KR" altLang="en-US" sz="1200"/>
              <a:t>핀 번호 지정</a:t>
            </a:r>
          </a:p>
          <a:p>
            <a:pPr defTabSz="180000"/>
            <a:r>
              <a:rPr lang="en-US" altLang="ko-KR" sz="1200"/>
              <a:t>	frequency # </a:t>
            </a:r>
            <a:r>
              <a:rPr lang="ko-KR" altLang="en-US" sz="1200"/>
              <a:t>파형의 주기</a:t>
            </a:r>
            <a:r>
              <a:rPr lang="en-US" altLang="ko-KR" sz="1200"/>
              <a:t>(</a:t>
            </a:r>
            <a:r>
              <a:rPr lang="ko-KR" altLang="en-US" sz="1200"/>
              <a:t>단위 </a:t>
            </a:r>
            <a:r>
              <a:rPr lang="en-US" altLang="ko-KR" sz="1200"/>
              <a:t>Hz). </a:t>
            </a:r>
            <a:r>
              <a:rPr lang="ko-KR" altLang="en-US" sz="1200"/>
              <a:t>초당 파형의 개수</a:t>
            </a:r>
          </a:p>
          <a:p>
            <a:pPr defTabSz="180000"/>
            <a:r>
              <a:rPr lang="en-US" altLang="ko-KR" sz="1200"/>
              <a:t>)</a:t>
            </a:r>
          </a:p>
          <a:p>
            <a:pPr defTabSz="180000"/>
            <a:r>
              <a:rPr lang="en-US" altLang="ko-KR" sz="1200"/>
              <a:t>PWM.start( # </a:t>
            </a:r>
            <a:r>
              <a:rPr lang="ko-KR" altLang="en-US" sz="1200"/>
              <a:t>주어진 듀티 사이클의 파형 발생</a:t>
            </a:r>
          </a:p>
          <a:p>
            <a:pPr defTabSz="180000"/>
            <a:r>
              <a:rPr lang="en-US" altLang="ko-KR" sz="1200"/>
              <a:t>	dutycycle # </a:t>
            </a:r>
            <a:r>
              <a:rPr lang="ko-KR" altLang="en-US" sz="1200"/>
              <a:t>듀티 사이클 값</a:t>
            </a:r>
            <a:r>
              <a:rPr lang="en-US" altLang="ko-KR" sz="1200"/>
              <a:t>(</a:t>
            </a:r>
            <a:r>
              <a:rPr lang="ko-KR" altLang="en-US" sz="1200"/>
              <a:t>단위 </a:t>
            </a:r>
            <a:r>
              <a:rPr lang="en-US" altLang="ko-KR" sz="1200"/>
              <a:t>%)</a:t>
            </a:r>
          </a:p>
          <a:p>
            <a:pPr defTabSz="180000"/>
            <a:r>
              <a:rPr lang="en-US" altLang="ko-KR" sz="1200"/>
              <a:t>)</a:t>
            </a:r>
          </a:p>
          <a:p>
            <a:pPr defTabSz="180000"/>
            <a:r>
              <a:rPr lang="en-US" altLang="ko-KR" sz="1200"/>
              <a:t>PWM.ChangeDutyCycle( # dutycycle </a:t>
            </a:r>
            <a:r>
              <a:rPr lang="ko-KR" altLang="en-US" sz="1200"/>
              <a:t>변경</a:t>
            </a:r>
          </a:p>
          <a:p>
            <a:pPr defTabSz="180000"/>
            <a:r>
              <a:rPr lang="en-US" altLang="ko-KR" sz="1200"/>
              <a:t>	ductycycle # </a:t>
            </a:r>
            <a:r>
              <a:rPr lang="ko-KR" altLang="en-US" sz="1200"/>
              <a:t>듀티 사이클 값</a:t>
            </a:r>
            <a:r>
              <a:rPr lang="en-US" altLang="ko-KR" sz="1200"/>
              <a:t>(</a:t>
            </a:r>
            <a:r>
              <a:rPr lang="ko-KR" altLang="en-US" sz="1200"/>
              <a:t>단위 </a:t>
            </a:r>
            <a:r>
              <a:rPr lang="en-US" altLang="ko-KR" sz="1200"/>
              <a:t>%)</a:t>
            </a:r>
          </a:p>
          <a:p>
            <a:pPr defTabSz="180000"/>
            <a:r>
              <a:rPr lang="en-US" altLang="ko-KR" sz="1200"/>
              <a:t>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5889002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A4E27-6EF2-EC42-BA85-5EDD5AD3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/>
              <a:t>예제 </a:t>
            </a:r>
            <a:r>
              <a:rPr kumimoji="1" lang="en-US" altLang="ko-KR"/>
              <a:t>8-5 </a:t>
            </a:r>
            <a:r>
              <a:rPr kumimoji="1" lang="en-US" altLang="ko-KR" dirty="0" err="1"/>
              <a:t>PWM</a:t>
            </a:r>
            <a:r>
              <a:rPr kumimoji="1" lang="ko-KR" altLang="en-US" dirty="0"/>
              <a:t>을 이용한 </a:t>
            </a:r>
            <a:r>
              <a:rPr kumimoji="1" lang="en-US" altLang="ko-KR" dirty="0"/>
              <a:t>LED </a:t>
            </a:r>
            <a:r>
              <a:rPr kumimoji="1" lang="ko-KR" altLang="en-US" dirty="0"/>
              <a:t>밝기 조정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8F1F89-3C17-214B-A3F9-DE97692F41F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95536" y="1938326"/>
            <a:ext cx="3301280" cy="116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1400"/>
              <a:t>0.05</a:t>
            </a:r>
            <a:r>
              <a:rPr kumimoji="1" lang="ko-KR" altLang="en-US" sz="1400"/>
              <a:t>초 간격으로 듀티 사이클을 </a:t>
            </a:r>
            <a:r>
              <a:rPr kumimoji="1" lang="en-US" altLang="ko-KR" sz="1400"/>
              <a:t>0~99</a:t>
            </a:r>
            <a:r>
              <a:rPr kumimoji="1" lang="ko-KR" altLang="en-US" sz="1400"/>
              <a:t>까지 변경하고</a:t>
            </a:r>
            <a:r>
              <a:rPr kumimoji="1" lang="en-US" altLang="ko-KR" sz="1400"/>
              <a:t>, </a:t>
            </a:r>
            <a:r>
              <a:rPr kumimoji="1" lang="ko-KR" altLang="en-US" sz="1400"/>
              <a:t>다시 </a:t>
            </a:r>
            <a:r>
              <a:rPr kumimoji="1" lang="en-US" altLang="ko-KR" sz="1400"/>
              <a:t>0.05</a:t>
            </a:r>
            <a:r>
              <a:rPr kumimoji="1" lang="ko-KR" altLang="en-US" sz="1400"/>
              <a:t>초 간격으로 듀티 사이클을 </a:t>
            </a:r>
            <a:r>
              <a:rPr kumimoji="1" lang="en-US" altLang="ko-KR" sz="1400"/>
              <a:t>99~0</a:t>
            </a:r>
            <a:r>
              <a:rPr kumimoji="1" lang="ko-KR" altLang="en-US" sz="1400"/>
              <a:t>으로 변경하는 과정 반복</a:t>
            </a:r>
            <a:endParaRPr kumimoji="1"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3C462-BD55-DE43-A61B-3F2F0373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CF32B9-C4C0-3B41-A475-A4F4EA6CBB6D}"/>
              </a:ext>
            </a:extLst>
          </p:cNvPr>
          <p:cNvSpPr/>
          <p:nvPr/>
        </p:nvSpPr>
        <p:spPr>
          <a:xfrm>
            <a:off x="3635896" y="1934537"/>
            <a:ext cx="5211244" cy="4662815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100" dirty="0"/>
              <a:t>import time</a:t>
            </a:r>
          </a:p>
          <a:p>
            <a:pPr defTabSz="180000" fontAlgn="base" latinLnBrk="0"/>
            <a:r>
              <a:rPr lang="en-US" altLang="ko-KR" sz="1100" dirty="0"/>
              <a:t>import </a:t>
            </a:r>
            <a:r>
              <a:rPr lang="en-US" altLang="ko-KR" sz="1100" dirty="0" err="1"/>
              <a:t>RPi.GPIO</a:t>
            </a:r>
            <a:r>
              <a:rPr lang="en-US" altLang="ko-KR" sz="1100" dirty="0"/>
              <a:t> as GPIO</a:t>
            </a:r>
          </a:p>
          <a:p>
            <a:pPr defTabSz="180000" fontAlgn="base" latinLnBrk="0"/>
            <a:endParaRPr lang="en-US" altLang="ko-KR" sz="1100" b="1" dirty="0"/>
          </a:p>
          <a:p>
            <a:pPr defTabSz="180000" fontAlgn="base" latinLnBrk="0"/>
            <a:r>
              <a:rPr lang="en-US" altLang="ko-KR" sz="1100" b="1" dirty="0"/>
              <a:t>def increase(</a:t>
            </a:r>
            <a:r>
              <a:rPr lang="en-US" altLang="ko-KR" sz="1100" b="1" dirty="0" err="1"/>
              <a:t>pwm</a:t>
            </a:r>
            <a:r>
              <a:rPr lang="en-US" altLang="ko-KR" sz="1100" b="1" dirty="0"/>
              <a:t>):</a:t>
            </a:r>
          </a:p>
          <a:p>
            <a:pPr defTabSz="180000" fontAlgn="base" latinLnBrk="0"/>
            <a:r>
              <a:rPr lang="en-US" altLang="ko-KR" sz="1100" dirty="0"/>
              <a:t>	print("increase the light")</a:t>
            </a:r>
          </a:p>
          <a:p>
            <a:pPr defTabSz="180000" fontAlgn="base" latinLnBrk="0"/>
            <a:r>
              <a:rPr lang="en-US" altLang="ko-KR" sz="1100" dirty="0"/>
              <a:t>	for value in range(0, 100): # 5</a:t>
            </a:r>
            <a:r>
              <a:rPr lang="ko-KR" altLang="en-US" sz="1100" dirty="0"/>
              <a:t>초 동안 루프</a:t>
            </a:r>
          </a:p>
          <a:p>
            <a:pPr defTabSz="180000" fontAlgn="base" latinLnBrk="0"/>
            <a:r>
              <a:rPr lang="ko-KR" altLang="en-US" sz="1100" dirty="0"/>
              <a:t>		</a:t>
            </a:r>
            <a:r>
              <a:rPr lang="en-US" altLang="ko-KR" sz="1100" dirty="0" err="1"/>
              <a:t>pwm.ChangeDutyCycle</a:t>
            </a:r>
            <a:r>
              <a:rPr lang="en-US" altLang="ko-KR" sz="1100" dirty="0"/>
              <a:t>(value)</a:t>
            </a:r>
          </a:p>
          <a:p>
            <a:pPr defTabSz="180000" fontAlgn="base" latinLnBrk="0"/>
            <a:r>
              <a:rPr lang="en-US" altLang="ko-KR" sz="1100" dirty="0"/>
              <a:t>		</a:t>
            </a:r>
            <a:r>
              <a:rPr lang="en-US" altLang="ko-KR" sz="1100" dirty="0" err="1"/>
              <a:t>time.sleep</a:t>
            </a:r>
            <a:r>
              <a:rPr lang="en-US" altLang="ko-KR" sz="1100" dirty="0"/>
              <a:t>(0.05)</a:t>
            </a:r>
          </a:p>
          <a:p>
            <a:pPr defTabSz="180000" fontAlgn="base" latinLnBrk="0"/>
            <a:endParaRPr lang="en-US" altLang="ko-KR" sz="1100" dirty="0"/>
          </a:p>
          <a:p>
            <a:pPr defTabSz="180000" fontAlgn="base" latinLnBrk="0"/>
            <a:r>
              <a:rPr lang="en-US" altLang="ko-KR" sz="1100" b="1" dirty="0"/>
              <a:t>def decrease(</a:t>
            </a:r>
            <a:r>
              <a:rPr lang="en-US" altLang="ko-KR" sz="1100" b="1" dirty="0" err="1"/>
              <a:t>pwm</a:t>
            </a:r>
            <a:r>
              <a:rPr lang="en-US" altLang="ko-KR" sz="1100" b="1" dirty="0"/>
              <a:t>):</a:t>
            </a:r>
          </a:p>
          <a:p>
            <a:pPr defTabSz="180000" fontAlgn="base" latinLnBrk="0"/>
            <a:r>
              <a:rPr lang="en-US" altLang="ko-KR" sz="1100" dirty="0"/>
              <a:t>	print("decrease the light")</a:t>
            </a:r>
          </a:p>
          <a:p>
            <a:pPr defTabSz="180000" fontAlgn="base" latinLnBrk="0"/>
            <a:r>
              <a:rPr lang="en-US" altLang="ko-KR" sz="1100" dirty="0"/>
              <a:t>	for value in range(99, -1, -1): # 5</a:t>
            </a:r>
            <a:r>
              <a:rPr lang="ko-KR" altLang="en-US" sz="1100" dirty="0"/>
              <a:t>초 동안 루프</a:t>
            </a:r>
          </a:p>
          <a:p>
            <a:pPr defTabSz="180000" fontAlgn="base" latinLnBrk="0"/>
            <a:r>
              <a:rPr lang="ko-KR" altLang="en-US" sz="1100" dirty="0"/>
              <a:t>		</a:t>
            </a:r>
            <a:r>
              <a:rPr lang="en-US" altLang="ko-KR" sz="1100" dirty="0" err="1"/>
              <a:t>pwm.ChangeDutyCycle</a:t>
            </a:r>
            <a:r>
              <a:rPr lang="en-US" altLang="ko-KR" sz="1100" dirty="0"/>
              <a:t>(value)</a:t>
            </a:r>
          </a:p>
          <a:p>
            <a:pPr defTabSz="180000" fontAlgn="base" latinLnBrk="0"/>
            <a:r>
              <a:rPr lang="en-US" altLang="ko-KR" sz="1100" dirty="0"/>
              <a:t>		</a:t>
            </a:r>
            <a:r>
              <a:rPr lang="en-US" altLang="ko-KR" sz="1100" dirty="0" err="1"/>
              <a:t>time.sleep</a:t>
            </a:r>
            <a:r>
              <a:rPr lang="en-US" altLang="ko-KR" sz="1100" dirty="0"/>
              <a:t>(0.05)</a:t>
            </a:r>
          </a:p>
          <a:p>
            <a:pPr defTabSz="180000" fontAlgn="base" latinLnBrk="0"/>
            <a:endParaRPr lang="en-US" altLang="ko-KR" sz="1100" b="1" dirty="0"/>
          </a:p>
          <a:p>
            <a:pPr defTabSz="180000" fontAlgn="base" latinLnBrk="0"/>
            <a:r>
              <a:rPr lang="en-US" altLang="ko-KR" sz="1100" dirty="0" err="1"/>
              <a:t>GPIO.setmode</a:t>
            </a:r>
            <a:r>
              <a:rPr lang="en-US" altLang="ko-KR" sz="1100" dirty="0"/>
              <a:t>(GPIO.BCM)</a:t>
            </a:r>
          </a:p>
          <a:p>
            <a:pPr defTabSz="180000" fontAlgn="base" latinLnBrk="0"/>
            <a:r>
              <a:rPr lang="en-US" altLang="ko-KR" sz="1100" dirty="0" err="1"/>
              <a:t>GPIO.setwarnings</a:t>
            </a:r>
            <a:r>
              <a:rPr lang="en-US" altLang="ko-KR" sz="1100" dirty="0"/>
              <a:t>(False)</a:t>
            </a:r>
          </a:p>
          <a:p>
            <a:pPr defTabSz="180000" fontAlgn="base" latinLnBrk="0"/>
            <a:endParaRPr lang="en-US" altLang="ko-KR" sz="1100" dirty="0"/>
          </a:p>
          <a:p>
            <a:pPr defTabSz="180000" fontAlgn="base" latinLnBrk="0"/>
            <a:r>
              <a:rPr lang="en-US" altLang="ko-KR" sz="1100" dirty="0"/>
              <a:t>led = 6 # GPIO6 </a:t>
            </a:r>
            <a:r>
              <a:rPr lang="ko-KR" altLang="en-US" sz="1100" dirty="0"/>
              <a:t>핀에 </a:t>
            </a:r>
            <a:r>
              <a:rPr lang="en-US" altLang="ko-KR" sz="1100" dirty="0"/>
              <a:t>LED </a:t>
            </a:r>
            <a:r>
              <a:rPr lang="ko-KR" altLang="en-US" sz="1100" dirty="0"/>
              <a:t>연결</a:t>
            </a:r>
          </a:p>
          <a:p>
            <a:pPr defTabSz="180000" fontAlgn="base" latinLnBrk="0"/>
            <a:r>
              <a:rPr lang="en-US" altLang="ko-KR" sz="1100" dirty="0" err="1"/>
              <a:t>GPIO.setup</a:t>
            </a:r>
            <a:r>
              <a:rPr lang="en-US" altLang="ko-KR" sz="1100" dirty="0"/>
              <a:t>(led, GPIO.OUT) # GPIO6 </a:t>
            </a:r>
            <a:r>
              <a:rPr lang="ko-KR" altLang="en-US" sz="1100" dirty="0"/>
              <a:t>핀을 출력으로 지정</a:t>
            </a:r>
          </a:p>
          <a:p>
            <a:pPr defTabSz="180000" fontAlgn="base" latinLnBrk="0"/>
            <a:endParaRPr lang="en-US" altLang="ko-KR" sz="1100" dirty="0"/>
          </a:p>
          <a:p>
            <a:pPr defTabSz="180000" fontAlgn="base" latinLnBrk="0"/>
            <a:r>
              <a:rPr lang="en-US" altLang="ko-KR" sz="1100" dirty="0" err="1"/>
              <a:t>GPIO.output</a:t>
            </a:r>
            <a:r>
              <a:rPr lang="en-US" altLang="ko-KR" sz="1100" dirty="0"/>
              <a:t>(led, GPIO.LOW) # GPIO6 </a:t>
            </a:r>
            <a:r>
              <a:rPr lang="ko-KR" altLang="en-US" sz="1100" dirty="0"/>
              <a:t>핀에 </a:t>
            </a:r>
            <a:r>
              <a:rPr lang="en-US" altLang="ko-KR" sz="1100" dirty="0"/>
              <a:t>0V </a:t>
            </a:r>
            <a:r>
              <a:rPr lang="ko-KR" altLang="en-US" sz="1100" dirty="0"/>
              <a:t>출력</a:t>
            </a:r>
            <a:endParaRPr lang="en-US" altLang="ko-KR" sz="1100" dirty="0"/>
          </a:p>
          <a:p>
            <a:pPr defTabSz="180000" fontAlgn="base" latinLnBrk="0"/>
            <a:r>
              <a:rPr lang="en-US" altLang="ko-KR" sz="1100" b="1" dirty="0" err="1"/>
              <a:t>pwm</a:t>
            </a:r>
            <a:r>
              <a:rPr lang="en-US" altLang="ko-KR" sz="1100" b="1" dirty="0"/>
              <a:t> = GPIO.PWM(led, 100) </a:t>
            </a:r>
            <a:r>
              <a:rPr lang="en-US" altLang="ko-KR" sz="1100" dirty="0"/>
              <a:t># GPIO6 </a:t>
            </a:r>
            <a:r>
              <a:rPr lang="ko-KR" altLang="en-US" sz="1100" dirty="0"/>
              <a:t>핀에 </a:t>
            </a:r>
            <a:r>
              <a:rPr lang="en-US" altLang="ko-KR" sz="1100" dirty="0"/>
              <a:t>100Hz</a:t>
            </a:r>
            <a:r>
              <a:rPr lang="ko-KR" altLang="en-US" sz="1100" dirty="0"/>
              <a:t>의 신호를 발생하도록 설정</a:t>
            </a:r>
          </a:p>
          <a:p>
            <a:pPr defTabSz="180000" fontAlgn="base" latinLnBrk="0"/>
            <a:r>
              <a:rPr lang="en-US" altLang="ko-KR" sz="1100" b="1" dirty="0" err="1"/>
              <a:t>pwm.start</a:t>
            </a:r>
            <a:r>
              <a:rPr lang="en-US" altLang="ko-KR" sz="1100" b="1" dirty="0"/>
              <a:t>(0) </a:t>
            </a:r>
            <a:r>
              <a:rPr lang="en-US" altLang="ko-KR" sz="1100" dirty="0"/>
              <a:t># GPIO6 </a:t>
            </a:r>
            <a:r>
              <a:rPr lang="ko-KR" altLang="en-US" sz="1100" dirty="0"/>
              <a:t>핀에 </a:t>
            </a:r>
            <a:r>
              <a:rPr lang="ko-KR" altLang="en-US" sz="1100" dirty="0" err="1"/>
              <a:t>듀티</a:t>
            </a:r>
            <a:r>
              <a:rPr lang="ko-KR" altLang="en-US" sz="1100" dirty="0"/>
              <a:t> 사이클 </a:t>
            </a:r>
            <a:r>
              <a:rPr lang="en-US" altLang="ko-KR" sz="1100" dirty="0"/>
              <a:t>0%, 100Hz</a:t>
            </a:r>
            <a:r>
              <a:rPr lang="ko-KR" altLang="en-US" sz="1100" dirty="0"/>
              <a:t>의 신호 발생 시작</a:t>
            </a:r>
          </a:p>
          <a:p>
            <a:pPr defTabSz="180000" fontAlgn="base" latinLnBrk="0"/>
            <a:r>
              <a:rPr lang="en-US" altLang="ko-KR" sz="1100" b="1" dirty="0"/>
              <a:t>while True:</a:t>
            </a:r>
          </a:p>
          <a:p>
            <a:pPr defTabSz="180000" fontAlgn="base" latinLnBrk="0"/>
            <a:r>
              <a:rPr lang="en-US" altLang="ko-KR" sz="1100" dirty="0"/>
              <a:t>	increase(</a:t>
            </a:r>
            <a:r>
              <a:rPr lang="en-US" altLang="ko-KR" sz="1100" dirty="0" err="1"/>
              <a:t>pwm</a:t>
            </a:r>
            <a:r>
              <a:rPr lang="en-US" altLang="ko-KR" sz="1100" dirty="0"/>
              <a:t>) # 5</a:t>
            </a:r>
            <a:r>
              <a:rPr lang="ko-KR" altLang="en-US" sz="1100" dirty="0" err="1"/>
              <a:t>초동안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듀티</a:t>
            </a:r>
            <a:r>
              <a:rPr lang="ko-KR" altLang="en-US" sz="1100" dirty="0"/>
              <a:t> 사이클 증가</a:t>
            </a:r>
            <a:r>
              <a:rPr lang="en-US" altLang="ko-KR" sz="1100" dirty="0"/>
              <a:t>. LED</a:t>
            </a:r>
            <a:r>
              <a:rPr lang="ko-KR" altLang="en-US" sz="1100" dirty="0"/>
              <a:t>를 점점 밝게</a:t>
            </a:r>
          </a:p>
          <a:p>
            <a:pPr defTabSz="180000" fontAlgn="base" latinLnBrk="0"/>
            <a:r>
              <a:rPr lang="ko-KR" altLang="en-US" sz="1100" dirty="0"/>
              <a:t>	</a:t>
            </a:r>
            <a:r>
              <a:rPr lang="en-US" altLang="ko-KR" sz="1100" dirty="0"/>
              <a:t>decrease(</a:t>
            </a:r>
            <a:r>
              <a:rPr lang="en-US" altLang="ko-KR" sz="1100" dirty="0" err="1"/>
              <a:t>pwm</a:t>
            </a:r>
            <a:r>
              <a:rPr lang="en-US" altLang="ko-KR" sz="1100" dirty="0"/>
              <a:t>) # 5</a:t>
            </a:r>
            <a:r>
              <a:rPr lang="ko-KR" altLang="en-US" sz="1100" dirty="0" err="1"/>
              <a:t>초동안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듀티</a:t>
            </a:r>
            <a:r>
              <a:rPr lang="ko-KR" altLang="en-US" sz="1100" dirty="0"/>
              <a:t> 사이클 감소</a:t>
            </a:r>
            <a:r>
              <a:rPr lang="en-US" altLang="ko-KR" sz="1100" dirty="0"/>
              <a:t>. LED</a:t>
            </a:r>
            <a:r>
              <a:rPr lang="ko-KR" altLang="en-US" sz="1100" dirty="0"/>
              <a:t>를 점점 어둡게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95536" y="4655799"/>
            <a:ext cx="3054796" cy="193899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/>
              <a:t>(myenv) </a:t>
            </a:r>
            <a:r>
              <a:rPr lang="fi-FI" altLang="ko-KR" sz="1200" b="1"/>
              <a:t>pi@pi:~/ch08 $ python 8-5.py</a:t>
            </a:r>
          </a:p>
          <a:p>
            <a:r>
              <a:rPr lang="ko-KR" altLang="en-US" sz="1200"/>
              <a:t>increase </a:t>
            </a:r>
            <a:r>
              <a:rPr lang="ko-KR" altLang="en-US" sz="1200" dirty="0" err="1"/>
              <a:t>the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light</a:t>
            </a:r>
            <a:endParaRPr lang="ko-KR" altLang="en-US" sz="1200" dirty="0"/>
          </a:p>
          <a:p>
            <a:r>
              <a:rPr lang="ko-KR" altLang="en-US" sz="1200" dirty="0" err="1"/>
              <a:t>decrease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the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light</a:t>
            </a:r>
            <a:endParaRPr lang="ko-KR" altLang="en-US" sz="1200" dirty="0"/>
          </a:p>
          <a:p>
            <a:r>
              <a:rPr lang="ko-KR" altLang="en-US" sz="1200" dirty="0" err="1"/>
              <a:t>increase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the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light</a:t>
            </a:r>
            <a:endParaRPr lang="ko-KR" altLang="en-US" sz="1200" dirty="0"/>
          </a:p>
          <a:p>
            <a:r>
              <a:rPr lang="ko-KR" altLang="en-US" sz="1200" dirty="0" err="1"/>
              <a:t>decrease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the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light</a:t>
            </a:r>
            <a:endParaRPr lang="ko-KR" altLang="en-US" sz="1200" dirty="0"/>
          </a:p>
          <a:p>
            <a:r>
              <a:rPr lang="ko-KR" altLang="en-US" sz="1200" dirty="0" err="1"/>
              <a:t>increase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the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light</a:t>
            </a:r>
            <a:endParaRPr lang="ko-KR" altLang="en-US" sz="1200" dirty="0"/>
          </a:p>
          <a:p>
            <a:r>
              <a:rPr lang="ko-KR" altLang="en-US" sz="1200" dirty="0" err="1"/>
              <a:t>decrease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the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light</a:t>
            </a:r>
            <a:endParaRPr lang="ko-KR" altLang="en-US" sz="1200" dirty="0"/>
          </a:p>
          <a:p>
            <a:r>
              <a:rPr lang="ko-KR" altLang="en-US" sz="1200" dirty="0" err="1"/>
              <a:t>increase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the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light</a:t>
            </a:r>
            <a:endParaRPr lang="ko-KR" altLang="en-US" sz="1200" dirty="0"/>
          </a:p>
          <a:p>
            <a:r>
              <a:rPr lang="ko-KR" altLang="en-US" sz="1200" dirty="0" err="1"/>
              <a:t>decrease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the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light</a:t>
            </a:r>
            <a:endParaRPr lang="ko-KR" altLang="en-US" sz="1200" dirty="0"/>
          </a:p>
          <a:p>
            <a:r>
              <a:rPr lang="ko-KR" altLang="en-US" sz="1200" dirty="0" err="1"/>
              <a:t>increase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the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light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493631-F329-4E4D-BA36-BA00D9F3B752}"/>
              </a:ext>
            </a:extLst>
          </p:cNvPr>
          <p:cNvSpPr/>
          <p:nvPr/>
        </p:nvSpPr>
        <p:spPr>
          <a:xfrm>
            <a:off x="493134" y="1342358"/>
            <a:ext cx="82729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회로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8–14)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그대로 활용하여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5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동안 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점점 밝아지다고 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동안 점점 어두워지기를 반복하는 코드를 작성하라</a:t>
            </a:r>
            <a:r>
              <a:rPr lang="en-US" altLang="ko-KR" sz="14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kern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06D222-8E75-4CC3-9602-9256C64FEF03}"/>
              </a:ext>
            </a:extLst>
          </p:cNvPr>
          <p:cNvSpPr/>
          <p:nvPr/>
        </p:nvSpPr>
        <p:spPr>
          <a:xfrm>
            <a:off x="3563888" y="1594175"/>
            <a:ext cx="6928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400"/>
              <a:t>8-5.py</a:t>
            </a:r>
            <a:endParaRPr lang="ko-KR" altLang="en-US" sz="1400"/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7F545B84-421C-4DF5-8F00-932F53BE46BC}"/>
              </a:ext>
            </a:extLst>
          </p:cNvPr>
          <p:cNvSpPr/>
          <p:nvPr/>
        </p:nvSpPr>
        <p:spPr>
          <a:xfrm>
            <a:off x="1979712" y="5445224"/>
            <a:ext cx="1584176" cy="612934"/>
          </a:xfrm>
          <a:prstGeom prst="wedgeRoundRectCallout">
            <a:avLst>
              <a:gd name="adj1" fmla="val -60604"/>
              <a:gd name="adj2" fmla="val -1865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1A1A1A"/>
                </a:solidFill>
                <a:latin typeface="YoonGothicPro730"/>
              </a:rPr>
              <a:t>5</a:t>
            </a:r>
            <a:r>
              <a:rPr lang="ko-KR" altLang="en-US" sz="1000">
                <a:solidFill>
                  <a:srgbClr val="1A1A1A"/>
                </a:solidFill>
                <a:latin typeface="YoonGothicPro730"/>
              </a:rPr>
              <a:t>초 간격으로 </a:t>
            </a:r>
            <a:r>
              <a:rPr lang="en-US" altLang="ko-KR" sz="1000">
                <a:solidFill>
                  <a:srgbClr val="1A1A1A"/>
                </a:solidFill>
                <a:latin typeface="YoonGothicPro730"/>
              </a:rPr>
              <a:t>LED</a:t>
            </a:r>
            <a:r>
              <a:rPr lang="ko-KR" altLang="en-US" sz="1000">
                <a:solidFill>
                  <a:srgbClr val="1A1A1A"/>
                </a:solidFill>
                <a:latin typeface="YoonGothicPro730"/>
              </a:rPr>
              <a:t>가 </a:t>
            </a:r>
            <a:endParaRPr lang="en-US" altLang="ko-KR" sz="1000">
              <a:solidFill>
                <a:srgbClr val="1A1A1A"/>
              </a:solidFill>
              <a:latin typeface="YoonGothicPro730"/>
            </a:endParaRPr>
          </a:p>
          <a:p>
            <a:r>
              <a:rPr lang="ko-KR" altLang="en-US" sz="1000">
                <a:solidFill>
                  <a:srgbClr val="1A1A1A"/>
                </a:solidFill>
                <a:latin typeface="YoonGothicPro730"/>
              </a:rPr>
              <a:t>밝아졌다가 어두워지기를 반복한다</a:t>
            </a:r>
            <a:r>
              <a:rPr lang="en-US" altLang="ko-KR" sz="1000">
                <a:solidFill>
                  <a:srgbClr val="1A1A1A"/>
                </a:solidFill>
                <a:latin typeface="YoonGothicPro730"/>
              </a:rPr>
              <a:t>.</a:t>
            </a:r>
            <a:endParaRPr lang="ko-KR" altLang="en-US" sz="1000">
              <a:solidFill>
                <a:srgbClr val="1A1A1A"/>
              </a:solidFill>
              <a:latin typeface="YoonGothicPro730"/>
            </a:endParaRPr>
          </a:p>
        </p:txBody>
      </p:sp>
    </p:spTree>
    <p:extLst>
      <p:ext uri="{BB962C8B-B14F-4D97-AF65-F5344CB8AC3E}">
        <p14:creationId xmlns:p14="http://schemas.microsoft.com/office/powerpoint/2010/main" val="644853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A6EF14D-7A26-405D-8086-59505B4EF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28066CB-2580-4685-884C-2F77251D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8.4 </a:t>
            </a:r>
            <a:r>
              <a:rPr lang="ko-KR" altLang="en-US"/>
              <a:t>초음파 센서 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42AFA9-9431-4C0A-B2B2-DB0601C33C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019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7C3A1-2F76-B34F-9174-01030346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초음파 센서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F07828-60D3-414C-8325-660BF3FFE1F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2413781"/>
          </a:xfrm>
        </p:spPr>
        <p:txBody>
          <a:bodyPr>
            <a:normAutofit fontScale="92500" lnSpcReduction="10000"/>
          </a:bodyPr>
          <a:lstStyle/>
          <a:p>
            <a:r>
              <a:rPr kumimoji="1" lang="ko-KR" altLang="en-US"/>
              <a:t>초음파 센서</a:t>
            </a:r>
            <a:r>
              <a:rPr kumimoji="1" lang="en-US" altLang="ko-KR"/>
              <a:t>(Ultrasonic</a:t>
            </a:r>
            <a:r>
              <a:rPr kumimoji="1" lang="ko-KR" altLang="en-US"/>
              <a:t> </a:t>
            </a:r>
            <a:r>
              <a:rPr kumimoji="1" lang="en-US" altLang="ko-KR"/>
              <a:t>Sensor)</a:t>
            </a:r>
            <a:endParaRPr kumimoji="1" lang="en-US" altLang="ko-KR" dirty="0"/>
          </a:p>
          <a:p>
            <a:pPr lvl="1"/>
            <a:r>
              <a:rPr lang="ko-KR" altLang="en-US"/>
              <a:t>초음파를 발사하고 발사된 초음파가 물체에 부딪쳐 되돌아오는 것을 감지하는 센서</a:t>
            </a:r>
            <a:endParaRPr lang="en-US" altLang="ko-KR"/>
          </a:p>
          <a:p>
            <a:pPr lvl="1"/>
            <a:r>
              <a:rPr lang="ko-KR" altLang="en-US"/>
              <a:t>활용</a:t>
            </a:r>
            <a:endParaRPr lang="en-US" altLang="ko-KR"/>
          </a:p>
          <a:p>
            <a:pPr lvl="2"/>
            <a:r>
              <a:rPr lang="ko-KR" altLang="en-US"/>
              <a:t>초음파 발사 </a:t>
            </a:r>
            <a:r>
              <a:rPr lang="ko-KR" altLang="en-US" dirty="0"/>
              <a:t>후 되돌아 온 시간을 </a:t>
            </a:r>
            <a:r>
              <a:rPr lang="ko-KR" altLang="en-US"/>
              <a:t>측정하여 물체까지 거리 계산</a:t>
            </a:r>
            <a:endParaRPr lang="en-US" altLang="ko-KR" dirty="0"/>
          </a:p>
          <a:p>
            <a:r>
              <a:rPr kumimoji="1" lang="ko-KR" altLang="en-US"/>
              <a:t>초음파 센서 구조 </a:t>
            </a:r>
            <a:endParaRPr kumimoji="1" lang="en-US" altLang="ko-KR"/>
          </a:p>
          <a:p>
            <a:pPr lvl="1"/>
            <a:r>
              <a:rPr kumimoji="1" lang="ko-KR" altLang="en-US"/>
              <a:t>발생기와 </a:t>
            </a:r>
            <a:r>
              <a:rPr kumimoji="1" lang="ko-KR" altLang="en-US" dirty="0"/>
              <a:t>수신기로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B347-DE19-1B46-9B1D-769C1BFF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45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991824-93E7-4DF1-9855-6A40B01DD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767353"/>
            <a:ext cx="5967744" cy="281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218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85E6A59D-5155-4611-BF9F-C842D0AEA8CE}"/>
              </a:ext>
            </a:extLst>
          </p:cNvPr>
          <p:cNvGrpSpPr/>
          <p:nvPr/>
        </p:nvGrpSpPr>
        <p:grpSpPr>
          <a:xfrm>
            <a:off x="719051" y="1916832"/>
            <a:ext cx="8046997" cy="4323630"/>
            <a:chOff x="-234637" y="2132856"/>
            <a:chExt cx="8046997" cy="4323630"/>
          </a:xfrm>
        </p:grpSpPr>
        <p:pic>
          <p:nvPicPr>
            <p:cNvPr id="1026" name="Picture 2" descr="distance, arduino, component, Modul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7904" y="2132856"/>
              <a:ext cx="4104456" cy="41044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744D4B-B316-4210-B270-1BA316E6A38C}"/>
                </a:ext>
              </a:extLst>
            </p:cNvPr>
            <p:cNvSpPr txBox="1"/>
            <p:nvPr/>
          </p:nvSpPr>
          <p:spPr>
            <a:xfrm>
              <a:off x="663011" y="3687246"/>
              <a:ext cx="1589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Vcc,</a:t>
              </a:r>
              <a:r>
                <a:rPr lang="ko-KR" altLang="en-US"/>
                <a:t>전원 입력</a:t>
              </a: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420110A-0A5C-49D4-9882-F882849F033B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 flipV="1">
              <a:off x="2252292" y="3871912"/>
              <a:ext cx="2437616" cy="1221106"/>
            </a:xfrm>
            <a:prstGeom prst="line">
              <a:avLst/>
            </a:prstGeom>
            <a:ln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5446EA-FE40-4E0A-8639-26DBB7868E81}"/>
                </a:ext>
              </a:extLst>
            </p:cNvPr>
            <p:cNvSpPr txBox="1"/>
            <p:nvPr/>
          </p:nvSpPr>
          <p:spPr>
            <a:xfrm>
              <a:off x="341210" y="6087154"/>
              <a:ext cx="23920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GNC, GND</a:t>
              </a:r>
              <a:r>
                <a:rPr lang="ko-KR" altLang="en-US"/>
                <a:t> 신호 연결</a:t>
              </a: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86F39EA-B8A9-4E2A-810E-61D50057C98D}"/>
                </a:ext>
              </a:extLst>
            </p:cNvPr>
            <p:cNvCxnSpPr>
              <a:cxnSpLocks/>
              <a:endCxn id="21" idx="3"/>
            </p:cNvCxnSpPr>
            <p:nvPr/>
          </p:nvCxnSpPr>
          <p:spPr>
            <a:xfrm flipH="1">
              <a:off x="2733211" y="5488873"/>
              <a:ext cx="2456956" cy="782947"/>
            </a:xfrm>
            <a:prstGeom prst="line">
              <a:avLst/>
            </a:prstGeom>
            <a:ln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DA219B-C2AD-431B-AEA4-ECE4B83D14B1}"/>
                </a:ext>
              </a:extLst>
            </p:cNvPr>
            <p:cNvSpPr txBox="1"/>
            <p:nvPr/>
          </p:nvSpPr>
          <p:spPr>
            <a:xfrm>
              <a:off x="221615" y="4347296"/>
              <a:ext cx="224529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Trig,</a:t>
              </a:r>
              <a:r>
                <a:rPr lang="ko-KR" altLang="en-US"/>
                <a:t> 초음파 발사는 </a:t>
              </a:r>
              <a:endParaRPr lang="en-US" altLang="ko-KR"/>
            </a:p>
            <a:p>
              <a:r>
                <a:rPr lang="ko-KR" altLang="en-US"/>
                <a:t>지시하는 용도</a:t>
              </a: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67CD508B-A06E-41AE-918A-3296C7B35092}"/>
                </a:ext>
              </a:extLst>
            </p:cNvPr>
            <p:cNvCxnSpPr>
              <a:cxnSpLocks/>
              <a:endCxn id="25" idx="3"/>
            </p:cNvCxnSpPr>
            <p:nvPr/>
          </p:nvCxnSpPr>
          <p:spPr>
            <a:xfrm flipH="1" flipV="1">
              <a:off x="2466910" y="4670462"/>
              <a:ext cx="2363217" cy="547705"/>
            </a:xfrm>
            <a:prstGeom prst="line">
              <a:avLst/>
            </a:prstGeom>
            <a:ln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96CBFB-159C-4C63-BF2F-5D0C1027D01F}"/>
                </a:ext>
              </a:extLst>
            </p:cNvPr>
            <p:cNvSpPr txBox="1"/>
            <p:nvPr/>
          </p:nvSpPr>
          <p:spPr>
            <a:xfrm>
              <a:off x="-234637" y="5136413"/>
              <a:ext cx="28264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/>
                <a:t>Echo, </a:t>
              </a:r>
              <a:r>
                <a:rPr lang="ko-KR" altLang="en-US"/>
                <a:t>되돌아온 초음파의 </a:t>
              </a:r>
              <a:endParaRPr lang="en-US" altLang="ko-KR"/>
            </a:p>
            <a:p>
              <a:r>
                <a:rPr lang="ko-KR" altLang="en-US"/>
                <a:t>수신을 알리는 용도</a:t>
              </a: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63C887B1-7CAC-422D-8B55-A10909B81D9F}"/>
                </a:ext>
              </a:extLst>
            </p:cNvPr>
            <p:cNvCxnSpPr>
              <a:cxnSpLocks/>
              <a:endCxn id="29" idx="3"/>
            </p:cNvCxnSpPr>
            <p:nvPr/>
          </p:nvCxnSpPr>
          <p:spPr>
            <a:xfrm flipH="1">
              <a:off x="2591778" y="5370749"/>
              <a:ext cx="2382365" cy="8883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C2430D-B55A-4074-A7D4-7E2D9813E6C3}"/>
                </a:ext>
              </a:extLst>
            </p:cNvPr>
            <p:cNvSpPr txBox="1"/>
            <p:nvPr/>
          </p:nvSpPr>
          <p:spPr>
            <a:xfrm>
              <a:off x="3203848" y="4941168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>
                  <a:solidFill>
                    <a:srgbClr val="C00000"/>
                  </a:solidFill>
                </a:rPr>
                <a:t>출력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9EA37A4-ADA4-4523-8C0E-D9D30AB81552}"/>
                </a:ext>
              </a:extLst>
            </p:cNvPr>
            <p:cNvSpPr txBox="1"/>
            <p:nvPr/>
          </p:nvSpPr>
          <p:spPr>
            <a:xfrm>
              <a:off x="3272066" y="550574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>
                  <a:solidFill>
                    <a:srgbClr val="C00000"/>
                  </a:solidFill>
                </a:rPr>
                <a:t>입력</a:t>
              </a: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2BBE3485-E970-E041-9626-4F64868E0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초음파 센서</a:t>
            </a:r>
            <a:r>
              <a:rPr kumimoji="1" lang="en-US" altLang="ko-KR"/>
              <a:t>, HC-SR04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6672C6-CBB7-BE46-8B72-B60CE96C7CC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/>
              <a:t>초음파 센서</a:t>
            </a:r>
            <a:r>
              <a:rPr kumimoji="1" lang="en-US" altLang="ko-KR"/>
              <a:t>, HC-SR04</a:t>
            </a:r>
            <a:endParaRPr kumimoji="1" lang="en-US" altLang="ko-KR" dirty="0"/>
          </a:p>
          <a:p>
            <a:pPr lvl="1"/>
            <a:r>
              <a:rPr kumimoji="1" lang="ko-KR" altLang="en-US"/>
              <a:t>저렴하고 실습에 많이 사용하는 초음파 센서</a:t>
            </a:r>
            <a:endParaRPr kumimoji="1" lang="en-US" altLang="ko-KR" dirty="0"/>
          </a:p>
          <a:p>
            <a:pPr lvl="1"/>
            <a:r>
              <a:rPr kumimoji="1" lang="en-US" altLang="ko-KR"/>
              <a:t>4</a:t>
            </a:r>
            <a:r>
              <a:rPr kumimoji="1" lang="ko-KR" altLang="en-US"/>
              <a:t>개의 입출력 핀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286DDB-7751-A149-BA8C-84472797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66703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BD30D-E8BB-3C43-A3BB-4D974BC9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초음파 센서 제어 실습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397C3-2984-C94A-88D0-CD35BB9F67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2088232"/>
          </a:xfrm>
        </p:spPr>
        <p:txBody>
          <a:bodyPr>
            <a:normAutofit fontScale="77500" lnSpcReduction="20000"/>
          </a:bodyPr>
          <a:lstStyle/>
          <a:p>
            <a:r>
              <a:rPr kumimoji="1" lang="ko-KR" altLang="en-US"/>
              <a:t>실습 내용</a:t>
            </a:r>
            <a:endParaRPr kumimoji="1" lang="en-US" altLang="ko-KR" dirty="0"/>
          </a:p>
          <a:p>
            <a:pPr lvl="1"/>
            <a:r>
              <a:rPr kumimoji="1" lang="ko-KR" altLang="en-US"/>
              <a:t>초음파 센서를 활용하여 물체와의 거리 계산</a:t>
            </a:r>
            <a:endParaRPr kumimoji="1" lang="en-US" altLang="ko-KR"/>
          </a:p>
          <a:p>
            <a:r>
              <a:rPr kumimoji="1" lang="ko-KR" altLang="en-US"/>
              <a:t>부품</a:t>
            </a:r>
            <a:endParaRPr kumimoji="1" lang="en-US" altLang="ko-KR"/>
          </a:p>
          <a:p>
            <a:pPr lvl="1"/>
            <a:r>
              <a:rPr kumimoji="1" lang="ko-KR" altLang="en-US"/>
              <a:t>초음파 센서</a:t>
            </a:r>
            <a:r>
              <a:rPr kumimoji="1" lang="en-US" altLang="ko-KR"/>
              <a:t>(HC-SR04) 1</a:t>
            </a:r>
            <a:r>
              <a:rPr kumimoji="1" lang="ko-KR" altLang="en-US"/>
              <a:t>개</a:t>
            </a:r>
            <a:endParaRPr lang="ko-KR" altLang="ko-KR" kern="100">
              <a:latin typeface="+mj-ea"/>
              <a:cs typeface="Times New Roman" panose="02020603050405020304" pitchFamily="18" charset="0"/>
            </a:endParaRPr>
          </a:p>
          <a:p>
            <a:pPr lvl="1"/>
            <a:r>
              <a:rPr lang="en-US" altLang="ko-KR" kern="100">
                <a:latin typeface="+mj-ea"/>
                <a:cs typeface="Times New Roman" panose="02020603050405020304" pitchFamily="18" charset="0"/>
              </a:rPr>
              <a:t>GPIO20 </a:t>
            </a:r>
            <a:r>
              <a:rPr lang="ko-KR" altLang="en-US" kern="100">
                <a:latin typeface="+mj-ea"/>
                <a:cs typeface="Times New Roman" panose="02020603050405020304" pitchFamily="18" charset="0"/>
              </a:rPr>
              <a:t>핀 </a:t>
            </a:r>
            <a:r>
              <a:rPr lang="en-US" altLang="ko-KR" kern="100">
                <a:latin typeface="+mj-ea"/>
                <a:cs typeface="Times New Roman" panose="02020603050405020304" pitchFamily="18" charset="0"/>
              </a:rPr>
              <a:t>(</a:t>
            </a:r>
            <a:r>
              <a:rPr lang="ko-KR" altLang="en-US" kern="100">
                <a:latin typeface="+mj-ea"/>
                <a:cs typeface="Times New Roman" panose="02020603050405020304" pitchFamily="18" charset="0"/>
              </a:rPr>
              <a:t>출력용</a:t>
            </a:r>
            <a:r>
              <a:rPr lang="en-US" altLang="ko-KR" kern="100">
                <a:latin typeface="+mj-ea"/>
                <a:cs typeface="Times New Roman" panose="02020603050405020304" pitchFamily="18" charset="0"/>
              </a:rPr>
              <a:t>) - </a:t>
            </a:r>
            <a:r>
              <a:rPr lang="ko-KR" altLang="en-US" kern="100">
                <a:latin typeface="+mj-ea"/>
                <a:cs typeface="Times New Roman" panose="02020603050405020304" pitchFamily="18" charset="0"/>
              </a:rPr>
              <a:t>초음파 센서의 </a:t>
            </a:r>
            <a:r>
              <a:rPr lang="en-US" altLang="ko-KR" kern="100">
                <a:latin typeface="+mj-ea"/>
                <a:cs typeface="Times New Roman" panose="02020603050405020304" pitchFamily="18" charset="0"/>
              </a:rPr>
              <a:t>Trig </a:t>
            </a:r>
            <a:r>
              <a:rPr lang="ko-KR" altLang="en-US" kern="100">
                <a:latin typeface="+mj-ea"/>
                <a:cs typeface="Times New Roman" panose="02020603050405020304" pitchFamily="18" charset="0"/>
              </a:rPr>
              <a:t>핀에 연결</a:t>
            </a:r>
            <a:r>
              <a:rPr lang="en-US" altLang="ko-KR" kern="100">
                <a:latin typeface="+mj-ea"/>
                <a:cs typeface="Times New Roman" panose="02020603050405020304" pitchFamily="18" charset="0"/>
              </a:rPr>
              <a:t>, </a:t>
            </a:r>
            <a:r>
              <a:rPr lang="ko-KR" altLang="en-US" kern="100">
                <a:latin typeface="+mj-ea"/>
                <a:cs typeface="Times New Roman" panose="02020603050405020304" pitchFamily="18" charset="0"/>
              </a:rPr>
              <a:t>초음파 발사 지시</a:t>
            </a:r>
            <a:endParaRPr lang="en-US" altLang="ko-KR" kern="100">
              <a:latin typeface="+mj-ea"/>
              <a:cs typeface="Times New Roman" panose="02020603050405020304" pitchFamily="18" charset="0"/>
            </a:endParaRPr>
          </a:p>
          <a:p>
            <a:pPr lvl="1"/>
            <a:r>
              <a:rPr lang="en-US" altLang="ko-KR" kern="100">
                <a:latin typeface="+mj-ea"/>
                <a:cs typeface="Times New Roman" panose="02020603050405020304" pitchFamily="18" charset="0"/>
              </a:rPr>
              <a:t>GPIO16</a:t>
            </a:r>
            <a:r>
              <a:rPr lang="ko-KR" altLang="en-US" kern="100">
                <a:latin typeface="+mj-ea"/>
                <a:cs typeface="Times New Roman" panose="02020603050405020304" pitchFamily="18" charset="0"/>
              </a:rPr>
              <a:t> 핀 </a:t>
            </a:r>
            <a:r>
              <a:rPr lang="en-US" altLang="ko-KR" kern="100">
                <a:latin typeface="+mj-ea"/>
                <a:cs typeface="Times New Roman" panose="02020603050405020304" pitchFamily="18" charset="0"/>
              </a:rPr>
              <a:t>(</a:t>
            </a:r>
            <a:r>
              <a:rPr lang="ko-KR" altLang="en-US" kern="100">
                <a:latin typeface="+mj-ea"/>
                <a:cs typeface="Times New Roman" panose="02020603050405020304" pitchFamily="18" charset="0"/>
              </a:rPr>
              <a:t>입력용</a:t>
            </a:r>
            <a:r>
              <a:rPr lang="en-US" altLang="ko-KR" kern="100">
                <a:latin typeface="+mj-ea"/>
                <a:cs typeface="Times New Roman" panose="02020603050405020304" pitchFamily="18" charset="0"/>
              </a:rPr>
              <a:t>) - </a:t>
            </a:r>
            <a:r>
              <a:rPr lang="ko-KR" altLang="en-US" kern="100">
                <a:latin typeface="+mj-ea"/>
                <a:cs typeface="Times New Roman" panose="02020603050405020304" pitchFamily="18" charset="0"/>
              </a:rPr>
              <a:t>초음파 센서의 </a:t>
            </a:r>
            <a:r>
              <a:rPr lang="en-US" altLang="ko-KR" kern="100">
                <a:latin typeface="+mj-ea"/>
                <a:cs typeface="Times New Roman" panose="02020603050405020304" pitchFamily="18" charset="0"/>
              </a:rPr>
              <a:t>Echo </a:t>
            </a:r>
            <a:r>
              <a:rPr lang="ko-KR" altLang="en-US" kern="100">
                <a:latin typeface="+mj-ea"/>
                <a:cs typeface="Times New Roman" panose="02020603050405020304" pitchFamily="18" charset="0"/>
              </a:rPr>
              <a:t>핀에 연결</a:t>
            </a:r>
            <a:r>
              <a:rPr lang="en-US" altLang="ko-KR" kern="100">
                <a:latin typeface="+mj-ea"/>
                <a:cs typeface="Times New Roman" panose="02020603050405020304" pitchFamily="18" charset="0"/>
              </a:rPr>
              <a:t>, </a:t>
            </a:r>
            <a:r>
              <a:rPr lang="ko-KR" altLang="en-US" kern="100">
                <a:latin typeface="+mj-ea"/>
                <a:cs typeface="Times New Roman" panose="02020603050405020304" pitchFamily="18" charset="0"/>
              </a:rPr>
              <a:t>초음파 수신 여부 입력</a:t>
            </a:r>
            <a:endParaRPr lang="en-US" altLang="ko-KR" kern="100">
              <a:latin typeface="+mj-ea"/>
              <a:cs typeface="Times New Roman" panose="02020603050405020304" pitchFamily="18" charset="0"/>
            </a:endParaRPr>
          </a:p>
          <a:p>
            <a:r>
              <a:rPr lang="ko-KR" altLang="en-US" kern="100">
                <a:latin typeface="+mj-ea"/>
                <a:cs typeface="Times New Roman" panose="02020603050405020304" pitchFamily="18" charset="0"/>
              </a:rPr>
              <a:t>실습 회로 구성</a:t>
            </a:r>
            <a:endParaRPr lang="ko-KR" altLang="ko-KR" kern="100" dirty="0">
              <a:latin typeface="+mj-ea"/>
              <a:cs typeface="Times New Roman" panose="02020603050405020304" pitchFamily="18" charset="0"/>
            </a:endParaRPr>
          </a:p>
          <a:p>
            <a:pPr lvl="1"/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2A494-897F-0544-8297-F5DBBB71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47</a:t>
            </a:fld>
            <a:endParaRPr lang="ko-KR" altLang="en-US" dirty="0"/>
          </a:p>
        </p:txBody>
      </p:sp>
      <p:pic>
        <p:nvPicPr>
          <p:cNvPr id="43" name="Picture 2" descr="distance, arduino, component, Module">
            <a:extLst>
              <a:ext uri="{FF2B5EF4-FFF2-40B4-BE49-F238E27FC236}">
                <a16:creationId xmlns:a16="http://schemas.microsoft.com/office/drawing/2014/main" id="{4F159388-55CC-49C2-8D89-513E9AA2A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70" y="3391279"/>
            <a:ext cx="2571236" cy="257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059BEB90-02B6-4A70-A3EE-D909B7A13D4E}"/>
              </a:ext>
            </a:extLst>
          </p:cNvPr>
          <p:cNvGrpSpPr/>
          <p:nvPr/>
        </p:nvGrpSpPr>
        <p:grpSpPr>
          <a:xfrm>
            <a:off x="4932040" y="3212976"/>
            <a:ext cx="3744414" cy="3024336"/>
            <a:chOff x="4932042" y="3501008"/>
            <a:chExt cx="3744414" cy="3024336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6F239E91-4A91-4DAA-81BE-62BD2BF8036E}"/>
                </a:ext>
              </a:extLst>
            </p:cNvPr>
            <p:cNvGrpSpPr/>
            <p:nvPr/>
          </p:nvGrpSpPr>
          <p:grpSpPr>
            <a:xfrm>
              <a:off x="5015056" y="3681262"/>
              <a:ext cx="3362042" cy="2738442"/>
              <a:chOff x="4470539" y="2708920"/>
              <a:chExt cx="3879281" cy="3325251"/>
            </a:xfrm>
          </p:grpSpPr>
          <p:pic>
            <p:nvPicPr>
              <p:cNvPr id="46" name="그림 45">
                <a:extLst>
                  <a:ext uri="{FF2B5EF4-FFF2-40B4-BE49-F238E27FC236}">
                    <a16:creationId xmlns:a16="http://schemas.microsoft.com/office/drawing/2014/main" id="{B5D4FB2C-3DE0-4CF5-8BB7-210F9A82F6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2040" y="2708920"/>
                <a:ext cx="3227468" cy="1575382"/>
              </a:xfrm>
              <a:prstGeom prst="rect">
                <a:avLst/>
              </a:prstGeom>
            </p:spPr>
          </p:pic>
          <p:cxnSp>
            <p:nvCxnSpPr>
              <p:cNvPr id="47" name="꺾인 연결선 7">
                <a:extLst>
                  <a:ext uri="{FF2B5EF4-FFF2-40B4-BE49-F238E27FC236}">
                    <a16:creationId xmlns:a16="http://schemas.microsoft.com/office/drawing/2014/main" id="{54D504E1-9D93-4111-B4BF-99E144CE8DE8}"/>
                  </a:ext>
                </a:extLst>
              </p:cNvPr>
              <p:cNvCxnSpPr>
                <a:endCxn id="48" idx="0"/>
              </p:cNvCxnSpPr>
              <p:nvPr/>
            </p:nvCxnSpPr>
            <p:spPr>
              <a:xfrm rot="16200000" flipH="1">
                <a:off x="6703831" y="4317106"/>
                <a:ext cx="1262323" cy="1061490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64DD0D9-9C62-4DC2-8555-53440FCF8A21}"/>
                  </a:ext>
                </a:extLst>
              </p:cNvPr>
              <p:cNvSpPr txBox="1"/>
              <p:nvPr/>
            </p:nvSpPr>
            <p:spPr>
              <a:xfrm>
                <a:off x="7381655" y="5479013"/>
                <a:ext cx="968165" cy="3737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dirty="0"/>
                  <a:t>5V(VCC)</a:t>
                </a:r>
                <a:endParaRPr kumimoji="1" lang="ko-KR" altLang="en-US" sz="1400" dirty="0"/>
              </a:p>
            </p:txBody>
          </p:sp>
          <p:cxnSp>
            <p:nvCxnSpPr>
              <p:cNvPr id="49" name="꺾인 연결선 12">
                <a:extLst>
                  <a:ext uri="{FF2B5EF4-FFF2-40B4-BE49-F238E27FC236}">
                    <a16:creationId xmlns:a16="http://schemas.microsoft.com/office/drawing/2014/main" id="{84B0AEC8-86F5-404F-B841-EA07E0D3CB2B}"/>
                  </a:ext>
                </a:extLst>
              </p:cNvPr>
              <p:cNvCxnSpPr>
                <a:cxnSpLocks/>
                <a:endCxn id="50" idx="0"/>
              </p:cNvCxnSpPr>
              <p:nvPr/>
            </p:nvCxnSpPr>
            <p:spPr>
              <a:xfrm rot="5400000">
                <a:off x="5894407" y="4971542"/>
                <a:ext cx="1509703" cy="1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1DC942D-E3EF-49BC-85CD-67DB7202609A}"/>
                  </a:ext>
                </a:extLst>
              </p:cNvPr>
              <p:cNvSpPr txBox="1"/>
              <p:nvPr/>
            </p:nvSpPr>
            <p:spPr>
              <a:xfrm>
                <a:off x="6126645" y="5726394"/>
                <a:ext cx="10452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400" dirty="0" err="1"/>
                  <a:t>GPIO20</a:t>
                </a:r>
                <a:endParaRPr kumimoji="1" lang="ko-KR" altLang="en-US" sz="1400" dirty="0"/>
              </a:p>
            </p:txBody>
          </p:sp>
          <p:cxnSp>
            <p:nvCxnSpPr>
              <p:cNvPr id="51" name="꺾인 연결선 15">
                <a:extLst>
                  <a:ext uri="{FF2B5EF4-FFF2-40B4-BE49-F238E27FC236}">
                    <a16:creationId xmlns:a16="http://schemas.microsoft.com/office/drawing/2014/main" id="{8FC7CDB0-3F88-4716-B985-BBED00CC9329}"/>
                  </a:ext>
                </a:extLst>
              </p:cNvPr>
              <p:cNvCxnSpPr>
                <a:endCxn id="52" idx="0"/>
              </p:cNvCxnSpPr>
              <p:nvPr/>
            </p:nvCxnSpPr>
            <p:spPr>
              <a:xfrm rot="5400000">
                <a:off x="5445592" y="4403562"/>
                <a:ext cx="1402340" cy="626611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1908272-FF30-4759-AC08-B1C998BA73CD}"/>
                  </a:ext>
                </a:extLst>
              </p:cNvPr>
              <p:cNvSpPr txBox="1"/>
              <p:nvPr/>
            </p:nvSpPr>
            <p:spPr>
              <a:xfrm>
                <a:off x="5433346" y="5418037"/>
                <a:ext cx="80021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400" dirty="0" err="1"/>
                  <a:t>GPIO16</a:t>
                </a:r>
                <a:endParaRPr kumimoji="1" lang="ko-KR" altLang="en-US" sz="1400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4721BB-5FF5-4F6C-872F-7DA573F4B0DF}"/>
                  </a:ext>
                </a:extLst>
              </p:cNvPr>
              <p:cNvSpPr txBox="1"/>
              <p:nvPr/>
            </p:nvSpPr>
            <p:spPr>
              <a:xfrm>
                <a:off x="4470539" y="5294346"/>
                <a:ext cx="104522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400" dirty="0" err="1"/>
                  <a:t>GND</a:t>
                </a:r>
                <a:r>
                  <a:rPr kumimoji="1" lang="en-US" altLang="ko-KR" sz="1400" dirty="0"/>
                  <a:t>(</a:t>
                </a:r>
                <a:r>
                  <a:rPr kumimoji="1" lang="en-US" altLang="ko-KR" sz="1400" dirty="0" err="1"/>
                  <a:t>0V</a:t>
                </a:r>
                <a:r>
                  <a:rPr kumimoji="1" lang="en-US" altLang="ko-KR" sz="1400" dirty="0"/>
                  <a:t>)</a:t>
                </a:r>
                <a:endParaRPr kumimoji="1" lang="ko-KR" altLang="en-US" sz="1400" dirty="0"/>
              </a:p>
            </p:txBody>
          </p:sp>
          <p:cxnSp>
            <p:nvCxnSpPr>
              <p:cNvPr id="54" name="꺾인 연결선 31">
                <a:extLst>
                  <a:ext uri="{FF2B5EF4-FFF2-40B4-BE49-F238E27FC236}">
                    <a16:creationId xmlns:a16="http://schemas.microsoft.com/office/drawing/2014/main" id="{F997621B-20E7-4554-97F6-1F856335BDE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003937" y="4134287"/>
                <a:ext cx="1254152" cy="1238163"/>
              </a:xfrm>
              <a:prstGeom prst="bentConnector3">
                <a:avLst>
                  <a:gd name="adj1" fmla="val 36626"/>
                </a:avLst>
              </a:prstGeom>
              <a:ln w="19050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1D17B51C-8A23-4F8F-AAA1-677C83CC81C4}"/>
                </a:ext>
              </a:extLst>
            </p:cNvPr>
            <p:cNvSpPr/>
            <p:nvPr/>
          </p:nvSpPr>
          <p:spPr>
            <a:xfrm>
              <a:off x="4932042" y="3501008"/>
              <a:ext cx="3744414" cy="302433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F5275C33-9CF4-4F34-AB34-2A3012D78898}"/>
              </a:ext>
            </a:extLst>
          </p:cNvPr>
          <p:cNvSpPr txBox="1"/>
          <p:nvPr/>
        </p:nvSpPr>
        <p:spPr>
          <a:xfrm>
            <a:off x="1300569" y="6152985"/>
            <a:ext cx="2351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/>
              <a:t>HC-SR04 </a:t>
            </a:r>
            <a:r>
              <a:rPr lang="ko-KR" altLang="en-US" sz="1400"/>
              <a:t>초음파 센서 앞면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2A2036-AF88-4BE6-B07C-5302930169B6}"/>
              </a:ext>
            </a:extLst>
          </p:cNvPr>
          <p:cNvSpPr txBox="1"/>
          <p:nvPr/>
        </p:nvSpPr>
        <p:spPr>
          <a:xfrm>
            <a:off x="6300192" y="6287149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실습 회로 구성</a:t>
            </a:r>
          </a:p>
        </p:txBody>
      </p:sp>
    </p:spTree>
    <p:extLst>
      <p:ext uri="{BB962C8B-B14F-4D97-AF65-F5344CB8AC3E}">
        <p14:creationId xmlns:p14="http://schemas.microsoft.com/office/powerpoint/2010/main" val="13849709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0D6C6E-C94F-8E41-A0B8-361C5D814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/>
              <a:t>초음파 센서 실험을 위한 회로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702C9F-FF6E-BE41-A735-795D129E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48</a:t>
            </a:fld>
            <a:endParaRPr lang="ko-KR" altLang="en-US" dirty="0"/>
          </a:p>
        </p:txBody>
      </p:sp>
      <p:pic>
        <p:nvPicPr>
          <p:cNvPr id="1025" name="_x474971056" descr="EMB000010bc2c1c">
            <a:extLst>
              <a:ext uri="{FF2B5EF4-FFF2-40B4-BE49-F238E27FC236}">
                <a16:creationId xmlns:a16="http://schemas.microsoft.com/office/drawing/2014/main" id="{AB5C0ADC-FEF0-4E9B-B83F-D413BEBD1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75" y="1854863"/>
            <a:ext cx="8192636" cy="396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2134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전기 배선, 전자 공학, 회로 구성요소, 전자제품이(가) 표시된 사진&#10;&#10;자동 생성된 설명">
            <a:extLst>
              <a:ext uri="{FF2B5EF4-FFF2-40B4-BE49-F238E27FC236}">
                <a16:creationId xmlns:a16="http://schemas.microsoft.com/office/drawing/2014/main" id="{D8261D1F-224C-33B8-C603-BA8035CAFB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40192" y="1484784"/>
            <a:ext cx="6492213" cy="48691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3D160FE-D010-4688-AFB6-E0783049B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구성된 회로 사진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4572000" y="2348880"/>
            <a:ext cx="2232248" cy="2880320"/>
          </a:xfrm>
          <a:prstGeom prst="roundRect">
            <a:avLst>
              <a:gd name="adj" fmla="val 7119"/>
            </a:avLst>
          </a:prstGeom>
          <a:noFill/>
          <a:ln w="57150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0097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2AF20-DE93-7D49-95D2-958265C83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ko-KR" altLang="en-US"/>
              <a:t>예제 </a:t>
            </a:r>
            <a:r>
              <a:rPr kumimoji="1" lang="en-US" altLang="ko-KR"/>
              <a:t>8-6 </a:t>
            </a:r>
            <a:r>
              <a:rPr kumimoji="1" lang="ko-KR" altLang="en-US"/>
              <a:t>초음파 센서를 이용한 물체와의 거리 측정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319B53-2CE6-2744-BFAC-C8C18051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9AD8C0-72B6-6D4E-A457-442F863BBA65}"/>
              </a:ext>
            </a:extLst>
          </p:cNvPr>
          <p:cNvSpPr/>
          <p:nvPr/>
        </p:nvSpPr>
        <p:spPr>
          <a:xfrm>
            <a:off x="3851920" y="1281336"/>
            <a:ext cx="5112568" cy="5424562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050" dirty="0"/>
              <a:t>import time</a:t>
            </a:r>
          </a:p>
          <a:p>
            <a:pPr defTabSz="180000" fontAlgn="base" latinLnBrk="0"/>
            <a:r>
              <a:rPr lang="en-US" altLang="ko-KR" sz="1050" dirty="0"/>
              <a:t>import </a:t>
            </a:r>
            <a:r>
              <a:rPr lang="en-US" altLang="ko-KR" sz="1050" dirty="0" err="1"/>
              <a:t>RPi.GPIO</a:t>
            </a:r>
            <a:r>
              <a:rPr lang="en-US" altLang="ko-KR" sz="1050" dirty="0"/>
              <a:t> as GPIO</a:t>
            </a:r>
          </a:p>
          <a:p>
            <a:pPr defTabSz="180000" fontAlgn="base" latinLnBrk="0"/>
            <a:endParaRPr lang="en-US" altLang="ko-KR" sz="1050" dirty="0"/>
          </a:p>
          <a:p>
            <a:pPr defTabSz="180000" fontAlgn="base" latinLnBrk="0"/>
            <a:r>
              <a:rPr lang="en-US" altLang="ko-KR" sz="1050" b="1" dirty="0"/>
              <a:t>def </a:t>
            </a:r>
            <a:r>
              <a:rPr lang="en-US" altLang="ko-KR" sz="1050" b="1" dirty="0" err="1"/>
              <a:t>measureDistance</a:t>
            </a:r>
            <a:r>
              <a:rPr lang="en-US" altLang="ko-KR" sz="1050" b="1" dirty="0"/>
              <a:t>(trig, echo):</a:t>
            </a:r>
          </a:p>
          <a:p>
            <a:pPr defTabSz="180000" fontAlgn="base" latinLnBrk="0"/>
            <a:r>
              <a:rPr lang="en-US" altLang="ko-KR" sz="1050" dirty="0"/>
              <a:t>	</a:t>
            </a:r>
            <a:r>
              <a:rPr lang="en-US" altLang="ko-KR" sz="1050" dirty="0" err="1"/>
              <a:t>time.sleep</a:t>
            </a:r>
            <a:r>
              <a:rPr lang="en-US" altLang="ko-KR" sz="1050" dirty="0"/>
              <a:t>(0.2) # </a:t>
            </a:r>
            <a:r>
              <a:rPr lang="ko-KR" altLang="en-US" sz="1050" dirty="0"/>
              <a:t>초음파 센서의 준비 시간을 위해 필연적인 </a:t>
            </a:r>
            <a:r>
              <a:rPr lang="en-US" altLang="ko-KR" sz="1050" dirty="0"/>
              <a:t>200</a:t>
            </a:r>
            <a:r>
              <a:rPr lang="ko-KR" altLang="en-US" sz="1050" dirty="0" err="1"/>
              <a:t>밀리초</a:t>
            </a:r>
            <a:r>
              <a:rPr lang="ko-KR" altLang="en-US" sz="1050" dirty="0"/>
              <a:t> 지연</a:t>
            </a:r>
          </a:p>
          <a:p>
            <a:pPr defTabSz="180000" fontAlgn="base" latinLnBrk="0"/>
            <a:r>
              <a:rPr lang="en-US" altLang="ko-KR" sz="1050" dirty="0"/>
              <a:t>	</a:t>
            </a:r>
            <a:r>
              <a:rPr lang="en-US" altLang="ko-KR" sz="1050" dirty="0" err="1"/>
              <a:t>GPIO.output</a:t>
            </a:r>
            <a:r>
              <a:rPr lang="en-US" altLang="ko-KR" sz="1050" dirty="0"/>
              <a:t>(trig, 1) # trig </a:t>
            </a:r>
            <a:r>
              <a:rPr lang="ko-KR" altLang="en-US" sz="1050" dirty="0"/>
              <a:t>핀에 </a:t>
            </a:r>
            <a:r>
              <a:rPr lang="en-US" altLang="ko-KR" sz="1050" dirty="0"/>
              <a:t>1(High) </a:t>
            </a:r>
            <a:r>
              <a:rPr lang="ko-KR" altLang="en-US" sz="1050" dirty="0"/>
              <a:t>출력</a:t>
            </a:r>
            <a:endParaRPr lang="en-US" altLang="ko-KR" sz="1050" dirty="0"/>
          </a:p>
          <a:p>
            <a:pPr defTabSz="180000" fontAlgn="base" latinLnBrk="0"/>
            <a:r>
              <a:rPr lang="en-US" altLang="ko-KR" sz="1050" dirty="0"/>
              <a:t>	</a:t>
            </a:r>
            <a:r>
              <a:rPr lang="en-US" altLang="ko-KR" sz="1050" dirty="0" err="1"/>
              <a:t>time.sleep</a:t>
            </a:r>
            <a:r>
              <a:rPr lang="en-US" altLang="ko-KR" sz="1050" dirty="0"/>
              <a:t>(0.01) # </a:t>
            </a:r>
            <a:r>
              <a:rPr lang="ko-KR" altLang="en-US" sz="1050" dirty="0"/>
              <a:t>신호 </a:t>
            </a:r>
            <a:r>
              <a:rPr lang="en-US" altLang="ko-KR" sz="1050" dirty="0"/>
              <a:t>1(High)</a:t>
            </a:r>
            <a:r>
              <a:rPr lang="ko-KR" altLang="en-US" sz="1050" dirty="0"/>
              <a:t>을 </a:t>
            </a:r>
            <a:r>
              <a:rPr lang="en-US" altLang="ko-KR" sz="1050" dirty="0"/>
              <a:t>0.01</a:t>
            </a:r>
            <a:r>
              <a:rPr lang="ko-KR" altLang="en-US" sz="1050" dirty="0"/>
              <a:t>초 동안 유지</a:t>
            </a:r>
            <a:endParaRPr lang="en-US" altLang="ko-KR" sz="1050" dirty="0"/>
          </a:p>
          <a:p>
            <a:pPr defTabSz="180000" fontAlgn="base" latinLnBrk="0"/>
            <a:r>
              <a:rPr lang="en-US" altLang="ko-KR" sz="1050" dirty="0"/>
              <a:t>	</a:t>
            </a:r>
            <a:r>
              <a:rPr lang="en-US" altLang="ko-KR" sz="1050" dirty="0" err="1"/>
              <a:t>GPIO.output</a:t>
            </a:r>
            <a:r>
              <a:rPr lang="en-US" altLang="ko-KR" sz="1050" dirty="0"/>
              <a:t>(trig, 0) # trig </a:t>
            </a:r>
            <a:r>
              <a:rPr lang="ko-KR" altLang="en-US" sz="1050" dirty="0"/>
              <a:t>핀 신호 </a:t>
            </a:r>
            <a:r>
              <a:rPr lang="en-US" altLang="ko-KR" sz="1050" dirty="0"/>
              <a:t>High-&gt;Low. </a:t>
            </a:r>
            <a:r>
              <a:rPr lang="ko-KR" altLang="en-US" sz="1050" dirty="0" err="1"/>
              <a:t>초음사</a:t>
            </a:r>
            <a:r>
              <a:rPr lang="ko-KR" altLang="en-US" sz="1050" dirty="0"/>
              <a:t> 발사 지시</a:t>
            </a:r>
            <a:endParaRPr lang="en-US" altLang="ko-KR" sz="1050" dirty="0"/>
          </a:p>
          <a:p>
            <a:pPr defTabSz="180000" fontAlgn="base" latinLnBrk="0"/>
            <a:r>
              <a:rPr lang="en-US" altLang="ko-KR" sz="1050" dirty="0"/>
              <a:t>	</a:t>
            </a:r>
          </a:p>
          <a:p>
            <a:pPr defTabSz="180000" fontAlgn="base" latinLnBrk="0"/>
            <a:r>
              <a:rPr lang="en-US" altLang="ko-KR" sz="1050" dirty="0"/>
              <a:t>	while(</a:t>
            </a:r>
            <a:r>
              <a:rPr lang="en-US" altLang="ko-KR" sz="1050" dirty="0" err="1"/>
              <a:t>GPIO.input</a:t>
            </a:r>
            <a:r>
              <a:rPr lang="en-US" altLang="ko-KR" sz="1050" dirty="0"/>
              <a:t>(echo) == 0): # echo </a:t>
            </a:r>
            <a:r>
              <a:rPr lang="ko-KR" altLang="en-US" sz="1050" dirty="0"/>
              <a:t>핀 값이 </a:t>
            </a:r>
            <a:r>
              <a:rPr lang="en-US" altLang="ko-KR" sz="1050" dirty="0"/>
              <a:t>0-&gt;1</a:t>
            </a:r>
            <a:r>
              <a:rPr lang="ko-KR" altLang="en-US" sz="1050" dirty="0"/>
              <a:t>로 바뀔 때까지 루프</a:t>
            </a:r>
            <a:endParaRPr lang="en-US" altLang="ko-KR" sz="1050" dirty="0"/>
          </a:p>
          <a:p>
            <a:pPr defTabSz="180000" fontAlgn="base" latinLnBrk="0"/>
            <a:r>
              <a:rPr lang="en-US" altLang="ko-KR" sz="1050" dirty="0"/>
              <a:t>		pass</a:t>
            </a:r>
            <a:endParaRPr lang="ko-KR" altLang="en-US" sz="1050" dirty="0"/>
          </a:p>
          <a:p>
            <a:pPr defTabSz="180000" fontAlgn="base" latinLnBrk="0"/>
            <a:endParaRPr lang="en-US" altLang="ko-KR" sz="1050" dirty="0"/>
          </a:p>
          <a:p>
            <a:pPr defTabSz="180000" fontAlgn="base" latinLnBrk="0"/>
            <a:r>
              <a:rPr lang="en-US" altLang="ko-KR" sz="1050" dirty="0"/>
              <a:t>	# echo </a:t>
            </a:r>
            <a:r>
              <a:rPr lang="ko-KR" altLang="en-US" sz="1050" dirty="0"/>
              <a:t>핀 값이 </a:t>
            </a:r>
            <a:r>
              <a:rPr lang="en-US" altLang="ko-KR" sz="1050" dirty="0"/>
              <a:t>1</a:t>
            </a:r>
            <a:r>
              <a:rPr lang="ko-KR" altLang="en-US" sz="1050" dirty="0"/>
              <a:t>이면 초음파가 발사되었음</a:t>
            </a:r>
          </a:p>
          <a:p>
            <a:pPr defTabSz="180000" fontAlgn="base" latinLnBrk="0"/>
            <a:r>
              <a:rPr lang="en-US" altLang="ko-KR" sz="1050" dirty="0"/>
              <a:t>	</a:t>
            </a:r>
            <a:r>
              <a:rPr lang="en-US" altLang="ko-KR" sz="1050" dirty="0" err="1"/>
              <a:t>pulse_start</a:t>
            </a:r>
            <a:r>
              <a:rPr lang="en-US" altLang="ko-KR" sz="1050" dirty="0"/>
              <a:t> = </a:t>
            </a:r>
            <a:r>
              <a:rPr lang="en-US" altLang="ko-KR" sz="1050" dirty="0" err="1"/>
              <a:t>time.time</a:t>
            </a:r>
            <a:r>
              <a:rPr lang="en-US" altLang="ko-KR" sz="1050" dirty="0"/>
              <a:t>() # </a:t>
            </a:r>
            <a:r>
              <a:rPr lang="ko-KR" altLang="en-US" sz="1050" dirty="0"/>
              <a:t>초음파 발사 시간 기록</a:t>
            </a:r>
          </a:p>
          <a:p>
            <a:pPr defTabSz="180000" fontAlgn="base" latinLnBrk="0"/>
            <a:r>
              <a:rPr lang="en-US" altLang="ko-KR" sz="1050" dirty="0"/>
              <a:t>	while(</a:t>
            </a:r>
            <a:r>
              <a:rPr lang="en-US" altLang="ko-KR" sz="1050" dirty="0" err="1"/>
              <a:t>GPIO.input</a:t>
            </a:r>
            <a:r>
              <a:rPr lang="en-US" altLang="ko-KR" sz="1050" dirty="0"/>
              <a:t>(echo) == 1): # echo </a:t>
            </a:r>
            <a:r>
              <a:rPr lang="ko-KR" altLang="en-US" sz="1050" dirty="0"/>
              <a:t>핀 값이 </a:t>
            </a:r>
            <a:r>
              <a:rPr lang="en-US" altLang="ko-KR" sz="1050" dirty="0"/>
              <a:t>1-&gt;0</a:t>
            </a:r>
            <a:r>
              <a:rPr lang="ko-KR" altLang="en-US" sz="1050" dirty="0" err="1"/>
              <a:t>으로</a:t>
            </a:r>
            <a:r>
              <a:rPr lang="ko-KR" altLang="en-US" sz="1050" dirty="0"/>
              <a:t> 바뀔 때까지 루프</a:t>
            </a:r>
          </a:p>
          <a:p>
            <a:pPr defTabSz="180000" fontAlgn="base" latinLnBrk="0"/>
            <a:r>
              <a:rPr lang="en-US" altLang="ko-KR" sz="1050" dirty="0"/>
              <a:t>		pass</a:t>
            </a:r>
          </a:p>
          <a:p>
            <a:pPr defTabSz="180000" fontAlgn="base" latinLnBrk="0"/>
            <a:endParaRPr lang="en-US" altLang="ko-KR" sz="1050" dirty="0"/>
          </a:p>
          <a:p>
            <a:pPr defTabSz="180000" fontAlgn="base" latinLnBrk="0"/>
            <a:r>
              <a:rPr lang="en-US" altLang="ko-KR" sz="1050" dirty="0"/>
              <a:t>	# echo </a:t>
            </a:r>
            <a:r>
              <a:rPr lang="ko-KR" altLang="en-US" sz="1050" dirty="0"/>
              <a:t>핀 값이 </a:t>
            </a:r>
            <a:r>
              <a:rPr lang="en-US" altLang="ko-KR" sz="1050" dirty="0"/>
              <a:t>0</a:t>
            </a:r>
            <a:r>
              <a:rPr lang="ko-KR" altLang="en-US" sz="1050" dirty="0"/>
              <a:t>이 되면 초음파 수신하였음</a:t>
            </a:r>
          </a:p>
          <a:p>
            <a:pPr defTabSz="180000" fontAlgn="base" latinLnBrk="0"/>
            <a:r>
              <a:rPr lang="en-US" altLang="ko-KR" sz="1050" dirty="0"/>
              <a:t>	</a:t>
            </a:r>
            <a:r>
              <a:rPr lang="en-US" altLang="ko-KR" sz="1050" dirty="0" err="1"/>
              <a:t>pulse_end</a:t>
            </a:r>
            <a:r>
              <a:rPr lang="en-US" altLang="ko-KR" sz="1050" dirty="0"/>
              <a:t> = </a:t>
            </a:r>
            <a:r>
              <a:rPr lang="en-US" altLang="ko-KR" sz="1050" dirty="0" err="1"/>
              <a:t>time.time</a:t>
            </a:r>
            <a:r>
              <a:rPr lang="en-US" altLang="ko-KR" sz="1050" dirty="0"/>
              <a:t>() # </a:t>
            </a:r>
            <a:r>
              <a:rPr lang="ko-KR" altLang="en-US" sz="1050" dirty="0"/>
              <a:t>초음파가 되돌아 온 시간 기록</a:t>
            </a:r>
          </a:p>
          <a:p>
            <a:pPr defTabSz="180000" fontAlgn="base" latinLnBrk="0"/>
            <a:r>
              <a:rPr lang="en-US" altLang="ko-KR" sz="1050" dirty="0"/>
              <a:t>	</a:t>
            </a:r>
            <a:r>
              <a:rPr lang="en-US" altLang="ko-KR" sz="1050" dirty="0" err="1"/>
              <a:t>pulse_duration</a:t>
            </a:r>
            <a:r>
              <a:rPr lang="en-US" altLang="ko-KR" sz="1050" dirty="0"/>
              <a:t> = </a:t>
            </a:r>
            <a:r>
              <a:rPr lang="en-US" altLang="ko-KR" sz="1050" dirty="0" err="1"/>
              <a:t>pulse_end</a:t>
            </a:r>
            <a:r>
              <a:rPr lang="en-US" altLang="ko-KR" sz="1050" dirty="0"/>
              <a:t> - </a:t>
            </a:r>
            <a:r>
              <a:rPr lang="en-US" altLang="ko-KR" sz="1050" dirty="0" err="1"/>
              <a:t>pulse_start</a:t>
            </a:r>
            <a:r>
              <a:rPr lang="en-US" altLang="ko-KR" sz="1050" dirty="0"/>
              <a:t> # </a:t>
            </a:r>
            <a:r>
              <a:rPr lang="ko-KR" altLang="en-US" sz="1050" dirty="0"/>
              <a:t>경과 시간 계산</a:t>
            </a:r>
          </a:p>
          <a:p>
            <a:pPr defTabSz="180000" fontAlgn="base" latinLnBrk="0"/>
            <a:r>
              <a:rPr lang="en-US" altLang="ko-KR" sz="1050" dirty="0"/>
              <a:t>	return </a:t>
            </a:r>
            <a:r>
              <a:rPr lang="en-US" altLang="ko-KR" sz="1050" dirty="0" err="1"/>
              <a:t>pulse_duration</a:t>
            </a:r>
            <a:r>
              <a:rPr lang="en-US" altLang="ko-KR" sz="1050" dirty="0"/>
              <a:t>*340*100/2 # </a:t>
            </a:r>
            <a:r>
              <a:rPr lang="ko-KR" altLang="en-US" sz="1050" dirty="0"/>
              <a:t>거리 계산하여 리턴</a:t>
            </a:r>
            <a:r>
              <a:rPr lang="en-US" altLang="ko-KR" sz="1050" dirty="0"/>
              <a:t>(</a:t>
            </a:r>
            <a:r>
              <a:rPr lang="ko-KR" altLang="en-US" sz="1050" dirty="0"/>
              <a:t>단위 </a:t>
            </a:r>
            <a:r>
              <a:rPr lang="en-US" altLang="ko-KR" sz="1050" dirty="0"/>
              <a:t>cm)</a:t>
            </a:r>
            <a:endParaRPr lang="ko-KR" altLang="en-US" sz="1050" dirty="0"/>
          </a:p>
          <a:p>
            <a:pPr defTabSz="180000" fontAlgn="base" latinLnBrk="0"/>
            <a:endParaRPr lang="ko-KR" altLang="en-US" sz="1050" dirty="0"/>
          </a:p>
          <a:p>
            <a:pPr defTabSz="180000" fontAlgn="base" latinLnBrk="0"/>
            <a:r>
              <a:rPr lang="en-US" altLang="ko-KR" sz="1050" b="1" dirty="0"/>
              <a:t>trig = 20 </a:t>
            </a:r>
            <a:r>
              <a:rPr lang="en-US" altLang="ko-KR" sz="1050" dirty="0"/>
              <a:t># GPIO20</a:t>
            </a:r>
            <a:r>
              <a:rPr lang="ko-KR" altLang="en-US" sz="1050" dirty="0"/>
              <a:t> </a:t>
            </a:r>
            <a:endParaRPr lang="en-US" altLang="ko-KR" sz="1050" dirty="0"/>
          </a:p>
          <a:p>
            <a:pPr defTabSz="180000" fontAlgn="base" latinLnBrk="0"/>
            <a:r>
              <a:rPr lang="en-US" altLang="ko-KR" sz="1050" b="1" dirty="0"/>
              <a:t>echo = 16</a:t>
            </a:r>
            <a:r>
              <a:rPr lang="en-US" altLang="ko-KR" sz="1050" dirty="0"/>
              <a:t> # GPIO16</a:t>
            </a:r>
          </a:p>
          <a:p>
            <a:pPr defTabSz="180000" fontAlgn="base" latinLnBrk="0"/>
            <a:r>
              <a:rPr lang="en-US" altLang="ko-KR" sz="1050" dirty="0" err="1"/>
              <a:t>GPIO.setmode</a:t>
            </a:r>
            <a:r>
              <a:rPr lang="en-US" altLang="ko-KR" sz="1050" dirty="0"/>
              <a:t>(GPIO.BCM)</a:t>
            </a:r>
          </a:p>
          <a:p>
            <a:pPr defTabSz="180000" fontAlgn="base" latinLnBrk="0"/>
            <a:r>
              <a:rPr lang="en-US" altLang="ko-KR" sz="1050" dirty="0" err="1"/>
              <a:t>GPIO.setwarnings</a:t>
            </a:r>
            <a:r>
              <a:rPr lang="en-US" altLang="ko-KR" sz="1050" dirty="0"/>
              <a:t>(False)</a:t>
            </a:r>
          </a:p>
          <a:p>
            <a:pPr defTabSz="180000" fontAlgn="base" latinLnBrk="0"/>
            <a:r>
              <a:rPr lang="en-US" altLang="ko-KR" sz="1050" dirty="0" err="1"/>
              <a:t>GPIO.setup</a:t>
            </a:r>
            <a:r>
              <a:rPr lang="en-US" altLang="ko-KR" sz="1050" dirty="0"/>
              <a:t>(trig, GPIO.OUT)</a:t>
            </a:r>
          </a:p>
          <a:p>
            <a:pPr defTabSz="180000" fontAlgn="base" latinLnBrk="0"/>
            <a:r>
              <a:rPr lang="en-US" altLang="ko-KR" sz="1050" dirty="0" err="1"/>
              <a:t>GPIO.setup</a:t>
            </a:r>
            <a:r>
              <a:rPr lang="en-US" altLang="ko-KR" sz="1050" dirty="0"/>
              <a:t>(echo, GPIO.IN)</a:t>
            </a:r>
          </a:p>
          <a:p>
            <a:pPr defTabSz="180000" fontAlgn="base" latinLnBrk="0"/>
            <a:endParaRPr lang="en-US" altLang="ko-KR" sz="1050" dirty="0"/>
          </a:p>
          <a:p>
            <a:pPr defTabSz="180000" fontAlgn="base" latinLnBrk="0"/>
            <a:r>
              <a:rPr lang="en-US" altLang="ko-KR" sz="1050" dirty="0"/>
              <a:t>while True:</a:t>
            </a:r>
          </a:p>
          <a:p>
            <a:pPr defTabSz="180000" fontAlgn="base" latinLnBrk="0"/>
            <a:r>
              <a:rPr lang="en-US" altLang="ko-KR" sz="1050" dirty="0"/>
              <a:t>	</a:t>
            </a:r>
            <a:r>
              <a:rPr lang="en-US" altLang="ko-KR" sz="1050" b="1" dirty="0"/>
              <a:t>distance = </a:t>
            </a:r>
            <a:r>
              <a:rPr lang="en-US" altLang="ko-KR" sz="1050" b="1" dirty="0" err="1"/>
              <a:t>measureDistance</a:t>
            </a:r>
            <a:r>
              <a:rPr lang="en-US" altLang="ko-KR" sz="1050" b="1" dirty="0"/>
              <a:t>(trig, echo)</a:t>
            </a:r>
          </a:p>
          <a:p>
            <a:pPr defTabSz="180000" fontAlgn="base" latinLnBrk="0"/>
            <a:r>
              <a:rPr lang="en-US" altLang="ko-KR" sz="1050" dirty="0"/>
              <a:t>	print("</a:t>
            </a:r>
            <a:r>
              <a:rPr lang="ko-KR" altLang="en-US" sz="1050" dirty="0"/>
              <a:t>물체와의 거리는 </a:t>
            </a:r>
            <a:r>
              <a:rPr lang="en-US" altLang="ko-KR" sz="1050" dirty="0"/>
              <a:t>%</a:t>
            </a:r>
            <a:r>
              <a:rPr lang="en-US" altLang="ko-KR" sz="1050" dirty="0" err="1"/>
              <a:t>fcm</a:t>
            </a:r>
            <a:r>
              <a:rPr lang="en-US" altLang="ko-KR" sz="1050" dirty="0"/>
              <a:t> </a:t>
            </a:r>
            <a:r>
              <a:rPr lang="ko-KR" altLang="en-US" sz="1050" dirty="0"/>
              <a:t>입니다</a:t>
            </a:r>
            <a:r>
              <a:rPr lang="en-US" altLang="ko-KR" sz="1050" dirty="0"/>
              <a:t>." % distance)</a:t>
            </a:r>
          </a:p>
          <a:p>
            <a:pPr defTabSz="180000" fontAlgn="base" latinLnBrk="0"/>
            <a:r>
              <a:rPr lang="en-US" altLang="ko-KR" sz="1050" dirty="0"/>
              <a:t>	</a:t>
            </a:r>
            <a:r>
              <a:rPr lang="en-US" altLang="ko-KR" sz="1050" dirty="0" err="1"/>
              <a:t>time.sleep</a:t>
            </a:r>
            <a:r>
              <a:rPr lang="en-US" altLang="ko-KR" sz="1050" dirty="0"/>
              <a:t>(0.5) # 0.5</a:t>
            </a:r>
            <a:r>
              <a:rPr lang="ko-KR" altLang="en-US" sz="1050" dirty="0"/>
              <a:t>초 간격으로 거리 측정</a:t>
            </a:r>
            <a:r>
              <a:rPr lang="en-US" altLang="ko-KR" sz="1050" dirty="0"/>
              <a:t>(0.3</a:t>
            </a:r>
            <a:r>
              <a:rPr lang="ko-KR" altLang="en-US" sz="1050" dirty="0" err="1"/>
              <a:t>으로</a:t>
            </a:r>
            <a:r>
              <a:rPr lang="ko-KR" altLang="en-US" sz="1050" dirty="0"/>
              <a:t> 하면 정확</a:t>
            </a:r>
            <a:r>
              <a:rPr lang="en-US" altLang="ko-KR" sz="1050" dirty="0"/>
              <a:t>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13810" y="2565285"/>
            <a:ext cx="3240360" cy="138499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/>
              <a:t>(myenv) pi@pi:~/ch08 $ python 8-6.py</a:t>
            </a:r>
            <a:endParaRPr lang="ko-KR" altLang="en-US" sz="1200" b="1"/>
          </a:p>
          <a:p>
            <a:pPr fontAlgn="base"/>
            <a:r>
              <a:rPr lang="ko-KR" altLang="en-US" sz="1200"/>
              <a:t>물체와의 거리는 </a:t>
            </a:r>
            <a:r>
              <a:rPr lang="en-US" altLang="ko-KR" sz="1200"/>
              <a:t>3.769398cm </a:t>
            </a:r>
            <a:r>
              <a:rPr lang="ko-KR" altLang="en-US" sz="1200"/>
              <a:t>입니다</a:t>
            </a:r>
            <a:r>
              <a:rPr lang="en-US" altLang="ko-KR" sz="1200"/>
              <a:t>.</a:t>
            </a:r>
            <a:endParaRPr lang="ko-KR" altLang="en-US" sz="1200"/>
          </a:p>
          <a:p>
            <a:pPr fontAlgn="base"/>
            <a:r>
              <a:rPr lang="ko-KR" altLang="en-US" sz="1200"/>
              <a:t>물체와의 거리는 </a:t>
            </a:r>
            <a:r>
              <a:rPr lang="en-US" altLang="ko-KR" sz="1200"/>
              <a:t>7.607698cm </a:t>
            </a:r>
            <a:r>
              <a:rPr lang="ko-KR" altLang="en-US" sz="1200"/>
              <a:t>입니다</a:t>
            </a:r>
            <a:r>
              <a:rPr lang="en-US" altLang="ko-KR" sz="1200"/>
              <a:t>.</a:t>
            </a:r>
            <a:endParaRPr lang="ko-KR" altLang="en-US" sz="1200"/>
          </a:p>
          <a:p>
            <a:pPr fontAlgn="base"/>
            <a:r>
              <a:rPr lang="ko-KR" altLang="en-US" sz="1200"/>
              <a:t>물체와의 거리는 </a:t>
            </a:r>
            <a:r>
              <a:rPr lang="en-US" altLang="ko-KR" sz="1200"/>
              <a:t>10.323286cm </a:t>
            </a:r>
            <a:r>
              <a:rPr lang="ko-KR" altLang="en-US" sz="1200"/>
              <a:t>입니다</a:t>
            </a:r>
            <a:r>
              <a:rPr lang="en-US" altLang="ko-KR" sz="1200"/>
              <a:t>.</a:t>
            </a:r>
            <a:endParaRPr lang="ko-KR" altLang="en-US" sz="1200"/>
          </a:p>
          <a:p>
            <a:pPr fontAlgn="base"/>
            <a:r>
              <a:rPr lang="ko-KR" altLang="en-US" sz="1200"/>
              <a:t>물체와의 거리는 </a:t>
            </a:r>
            <a:r>
              <a:rPr lang="en-US" altLang="ko-KR" sz="1200"/>
              <a:t>10.262489cm </a:t>
            </a:r>
            <a:r>
              <a:rPr lang="ko-KR" altLang="en-US" sz="1200"/>
              <a:t>입니다</a:t>
            </a:r>
            <a:r>
              <a:rPr lang="en-US" altLang="ko-KR" sz="1200"/>
              <a:t>.</a:t>
            </a:r>
            <a:endParaRPr lang="ko-KR" altLang="en-US" sz="1200"/>
          </a:p>
          <a:p>
            <a:pPr fontAlgn="base"/>
            <a:r>
              <a:rPr lang="ko-KR" altLang="en-US" sz="1200"/>
              <a:t>물체와의 거리는 </a:t>
            </a:r>
            <a:r>
              <a:rPr lang="en-US" altLang="ko-KR" sz="1200"/>
              <a:t>10.752916cm </a:t>
            </a:r>
            <a:r>
              <a:rPr lang="ko-KR" altLang="en-US" sz="1200"/>
              <a:t>입니다</a:t>
            </a:r>
            <a:r>
              <a:rPr lang="en-US" altLang="ko-KR" sz="1200"/>
              <a:t>.</a:t>
            </a:r>
            <a:endParaRPr lang="ko-KR" altLang="en-US" sz="1200"/>
          </a:p>
          <a:p>
            <a:endParaRPr lang="ko-KR" altLang="en-US" sz="1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120E46-D7AF-467A-9A11-1A01FF2C8EDB}"/>
              </a:ext>
            </a:extLst>
          </p:cNvPr>
          <p:cNvSpPr/>
          <p:nvPr/>
        </p:nvSpPr>
        <p:spPr>
          <a:xfrm>
            <a:off x="288068" y="1321504"/>
            <a:ext cx="34918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6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초음파 센서를 이용하여 약 </a:t>
            </a:r>
            <a:r>
              <a:rPr lang="en-US" altLang="ko-KR" sz="16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0.5</a:t>
            </a:r>
            <a:r>
              <a:rPr lang="ko-KR" altLang="en-US" sz="16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간격으로 물체와의 거리를 측정하여 출력하는 프로그램을 작성하라</a:t>
            </a:r>
            <a:r>
              <a:rPr lang="en-US" altLang="ko-KR" sz="1600" kern="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 kern="0">
              <a:solidFill>
                <a:schemeClr val="accent2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7E82C0-784A-4A25-8A8F-16556F6DCB85}"/>
              </a:ext>
            </a:extLst>
          </p:cNvPr>
          <p:cNvSpPr/>
          <p:nvPr/>
        </p:nvSpPr>
        <p:spPr>
          <a:xfrm>
            <a:off x="3768128" y="829341"/>
            <a:ext cx="6928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400"/>
              <a:t>8-6.py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8926769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54471</TotalTime>
  <Words>4706</Words>
  <Application>Microsoft Office PowerPoint</Application>
  <PresentationFormat>화면 슬라이드 쇼(4:3)</PresentationFormat>
  <Paragraphs>742</Paragraphs>
  <Slides>50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8" baseType="lpstr">
      <vt:lpstr>HY나무L</vt:lpstr>
      <vt:lpstr>YoonGothicPro730</vt:lpstr>
      <vt:lpstr>맑은 고딕</vt:lpstr>
      <vt:lpstr>한컴바탕</vt:lpstr>
      <vt:lpstr>휴먼편지체</vt:lpstr>
      <vt:lpstr>Wingdings</vt:lpstr>
      <vt:lpstr>Wingdings 2</vt:lpstr>
      <vt:lpstr>가을</vt:lpstr>
      <vt:lpstr>8장 GPIO와 LED, 스위치, 초음파 센서 다루기</vt:lpstr>
      <vt:lpstr>강의 목표</vt:lpstr>
      <vt:lpstr>들어가기 전에</vt:lpstr>
      <vt:lpstr>8.1 라즈베리파이와 GPIO</vt:lpstr>
      <vt:lpstr>GPIO</vt:lpstr>
      <vt:lpstr>임베디드 컨트롤러의 GPIO 사례</vt:lpstr>
      <vt:lpstr>라즈베리파이4 모델 B/B+의 GPIO 핀 40개</vt:lpstr>
      <vt:lpstr>소프트웨어로 GPIO 핀 제어</vt:lpstr>
      <vt:lpstr>rpi-lgpio 라이브러리 활용</vt:lpstr>
      <vt:lpstr>RPi.GPIO 모듈의 함수들</vt:lpstr>
      <vt:lpstr>GPIO 핀 번호 매기는 방법</vt:lpstr>
      <vt:lpstr>GPIO 핀 사용하기(1)</vt:lpstr>
      <vt:lpstr>GPIO 핀 사용하기(2)</vt:lpstr>
      <vt:lpstr>경고 메시지 출력 막기</vt:lpstr>
      <vt:lpstr>바람직한 GPIO 응용프로그램의 구성</vt:lpstr>
      <vt:lpstr>라즈베리파이 외부로 GPIO 핀 확장</vt:lpstr>
      <vt:lpstr>브레드보드</vt:lpstr>
      <vt:lpstr>GPIO핀과 브레드보드의 연결</vt:lpstr>
      <vt:lpstr>8.2 LED 제어</vt:lpstr>
      <vt:lpstr>LED</vt:lpstr>
      <vt:lpstr>LED 제어 실습</vt:lpstr>
      <vt:lpstr>LED 실습을 위한 회로구성</vt:lpstr>
      <vt:lpstr>실제 구성된 회로 사진</vt:lpstr>
      <vt:lpstr>예제 8-1 1초 간격으로 LED를 5번 깜박이는 파이썬 프로그램 작성</vt:lpstr>
      <vt:lpstr>try-except-finally를 이용한 예제 8-1의 바람직한 코드</vt:lpstr>
      <vt:lpstr>8.3 스위치 제어</vt:lpstr>
      <vt:lpstr>스위치</vt:lpstr>
      <vt:lpstr>스위치와 풀업(pull-up)/풀다운(pull-down)</vt:lpstr>
      <vt:lpstr>스위치 제어 실습</vt:lpstr>
      <vt:lpstr>스위치 실습을 위한 회로 구성</vt:lpstr>
      <vt:lpstr>스위치 실습을 위해 구성된 실제 회로 사진</vt:lpstr>
      <vt:lpstr>예제 8-2 스위치를 누르고 있는 동안 LED에 불을 켜는 프로그램 작성</vt:lpstr>
      <vt:lpstr>스위치 바운스(bounce)와 디바운스(debounce)</vt:lpstr>
      <vt:lpstr>rising edge(엣지)와 falling edge(엣지)</vt:lpstr>
      <vt:lpstr>스위치 ON을 기다리는 폴링 방법</vt:lpstr>
      <vt:lpstr>GPIO의 스위치 값을 읽는 인터럽트 방법</vt:lpstr>
      <vt:lpstr>add_event_detect()와 콜백을 활용하여 스위치 눌러짐 탐지</vt:lpstr>
      <vt:lpstr>예제 8-3 add_event_detect()의 바운스 시간과 콜백 함수를 활용하여 스위치 눌러짐 탐지</vt:lpstr>
      <vt:lpstr>예제 8-4(응용) 버튼을 누를 때마다 LED를 켜고 끄는 토글 스위치 만들기</vt:lpstr>
      <vt:lpstr>PWM 제어</vt:lpstr>
      <vt:lpstr>듀티 사이클</vt:lpstr>
      <vt:lpstr>PWM</vt:lpstr>
      <vt:lpstr>예제 8-5 PWM을 이용한 LED 밝기 조정</vt:lpstr>
      <vt:lpstr>8.4 초음파 센서 제어</vt:lpstr>
      <vt:lpstr>초음파 센서</vt:lpstr>
      <vt:lpstr>초음파 센서, HC-SR04</vt:lpstr>
      <vt:lpstr>초음파 센서 제어 실습</vt:lpstr>
      <vt:lpstr>초음파 센서 실험을 위한 회로 구성</vt:lpstr>
      <vt:lpstr>구성된 회로 사진</vt:lpstr>
      <vt:lpstr>예제 8-6 초음파 센서를 이용한 물체와의 거리 측정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이지형</cp:lastModifiedBy>
  <cp:revision>1104</cp:revision>
  <cp:lastPrinted>2016-11-15T04:04:12Z</cp:lastPrinted>
  <dcterms:created xsi:type="dcterms:W3CDTF">2011-08-27T14:53:28Z</dcterms:created>
  <dcterms:modified xsi:type="dcterms:W3CDTF">2026-10-28T08:06:56Z</dcterms:modified>
</cp:coreProperties>
</file>